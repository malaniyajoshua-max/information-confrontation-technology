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1"/>
  </p:notesMasterIdLst>
  <p:handoutMasterIdLst>
    <p:handoutMasterId r:id="rId122"/>
  </p:handoutMasterIdLst>
  <p:sldIdLst>
    <p:sldId id="294" r:id="rId2"/>
    <p:sldId id="258" r:id="rId3"/>
    <p:sldId id="407"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408" r:id="rId24"/>
    <p:sldId id="315"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37" r:id="rId47"/>
    <p:sldId id="409" r:id="rId48"/>
    <p:sldId id="338" r:id="rId49"/>
    <p:sldId id="339" r:id="rId50"/>
    <p:sldId id="340" r:id="rId51"/>
    <p:sldId id="341" r:id="rId52"/>
    <p:sldId id="342" r:id="rId53"/>
    <p:sldId id="343" r:id="rId54"/>
    <p:sldId id="344" r:id="rId55"/>
    <p:sldId id="345" r:id="rId56"/>
    <p:sldId id="346" r:id="rId57"/>
    <p:sldId id="347" r:id="rId58"/>
    <p:sldId id="410" r:id="rId59"/>
    <p:sldId id="348" r:id="rId60"/>
    <p:sldId id="349" r:id="rId61"/>
    <p:sldId id="350" r:id="rId62"/>
    <p:sldId id="351" r:id="rId63"/>
    <p:sldId id="352" r:id="rId64"/>
    <p:sldId id="353" r:id="rId65"/>
    <p:sldId id="354" r:id="rId66"/>
    <p:sldId id="355" r:id="rId67"/>
    <p:sldId id="412" r:id="rId68"/>
    <p:sldId id="356" r:id="rId69"/>
    <p:sldId id="357" r:id="rId70"/>
    <p:sldId id="358" r:id="rId71"/>
    <p:sldId id="359" r:id="rId72"/>
    <p:sldId id="360" r:id="rId73"/>
    <p:sldId id="361" r:id="rId74"/>
    <p:sldId id="362" r:id="rId75"/>
    <p:sldId id="363" r:id="rId76"/>
    <p:sldId id="364" r:id="rId77"/>
    <p:sldId id="365" r:id="rId78"/>
    <p:sldId id="366" r:id="rId79"/>
    <p:sldId id="367" r:id="rId80"/>
    <p:sldId id="368" r:id="rId81"/>
    <p:sldId id="369" r:id="rId82"/>
    <p:sldId id="370" r:id="rId83"/>
    <p:sldId id="371" r:id="rId84"/>
    <p:sldId id="372" r:id="rId85"/>
    <p:sldId id="373" r:id="rId86"/>
    <p:sldId id="374" r:id="rId87"/>
    <p:sldId id="375" r:id="rId88"/>
    <p:sldId id="376" r:id="rId89"/>
    <p:sldId id="377" r:id="rId90"/>
    <p:sldId id="378" r:id="rId91"/>
    <p:sldId id="379" r:id="rId92"/>
    <p:sldId id="380" r:id="rId93"/>
    <p:sldId id="381" r:id="rId94"/>
    <p:sldId id="382" r:id="rId95"/>
    <p:sldId id="383" r:id="rId96"/>
    <p:sldId id="384" r:id="rId97"/>
    <p:sldId id="385" r:id="rId98"/>
    <p:sldId id="386" r:id="rId99"/>
    <p:sldId id="387" r:id="rId100"/>
    <p:sldId id="388" r:id="rId101"/>
    <p:sldId id="389" r:id="rId102"/>
    <p:sldId id="390" r:id="rId103"/>
    <p:sldId id="391" r:id="rId104"/>
    <p:sldId id="392" r:id="rId105"/>
    <p:sldId id="393" r:id="rId106"/>
    <p:sldId id="394" r:id="rId107"/>
    <p:sldId id="395" r:id="rId108"/>
    <p:sldId id="396" r:id="rId109"/>
    <p:sldId id="397" r:id="rId110"/>
    <p:sldId id="411" r:id="rId111"/>
    <p:sldId id="398" r:id="rId112"/>
    <p:sldId id="399" r:id="rId113"/>
    <p:sldId id="400" r:id="rId114"/>
    <p:sldId id="401" r:id="rId115"/>
    <p:sldId id="402" r:id="rId116"/>
    <p:sldId id="403" r:id="rId117"/>
    <p:sldId id="404" r:id="rId118"/>
    <p:sldId id="405" r:id="rId119"/>
    <p:sldId id="406" r:id="rId120"/>
  </p:sldIdLst>
  <p:sldSz cx="12192000" cy="6858000"/>
  <p:notesSz cx="6858000" cy="9144000"/>
  <p:custDataLst>
    <p:tags r:id="rId1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E3C9F7"/>
    <a:srgbClr val="6E0876"/>
    <a:srgbClr val="731AB6"/>
    <a:srgbClr val="740A47"/>
    <a:srgbClr val="720C4E"/>
    <a:srgbClr val="700E54"/>
    <a:srgbClr val="881DB3"/>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82" d="100"/>
          <a:sy n="82" d="100"/>
        </p:scale>
        <p:origin x="426" y="96"/>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23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47</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80000"/>
              </a:lnSpc>
              <a:buNone/>
            </a:pPr>
            <a:r>
              <a:rPr lang="en-US" altLang="zh-CN" b="1" dirty="0">
                <a:latin typeface="黑体" panose="02010609060101010101" pitchFamily="49" charset="-122"/>
                <a:ea typeface="黑体" panose="02010609060101010101" pitchFamily="49" charset="-122"/>
              </a:rPr>
              <a:t>(1) </a:t>
            </a:r>
            <a:r>
              <a:rPr lang="zh-CN" altLang="en-US" b="1" dirty="0">
                <a:latin typeface="黑体" panose="02010609060101010101" pitchFamily="49" charset="-122"/>
                <a:ea typeface="黑体" panose="02010609060101010101" pitchFamily="49" charset="-122"/>
              </a:rPr>
              <a:t>客户端准备。首先通过网络安全扫描器客户端连接到网络安全扫描器服务器端。</a:t>
            </a:r>
          </a:p>
          <a:p>
            <a:pPr algn="just" eaLnBrk="1" hangingPunct="1">
              <a:lnSpc>
                <a:spcPct val="80000"/>
              </a:lnSpc>
              <a:buNone/>
            </a:pPr>
            <a:r>
              <a:rPr lang="en-US" altLang="zh-CN" b="1" dirty="0">
                <a:latin typeface="黑体" panose="02010609060101010101" pitchFamily="49" charset="-122"/>
                <a:ea typeface="黑体" panose="02010609060101010101" pitchFamily="49" charset="-122"/>
              </a:rPr>
              <a:t>(2) </a:t>
            </a:r>
            <a:r>
              <a:rPr lang="zh-CN" altLang="en-US" b="1" dirty="0">
                <a:latin typeface="黑体" panose="02010609060101010101" pitchFamily="49" charset="-122"/>
                <a:ea typeface="黑体" panose="02010609060101010101" pitchFamily="49" charset="-122"/>
              </a:rPr>
              <a:t>进行用户认证。因为扫描器是通过模拟攻击来检测网络系统的脆弱性，只能由管理员或授权用户才能实施。同时这也给后面所提到的灵活的配置奠定了基础。</a:t>
            </a:r>
          </a:p>
          <a:p>
            <a:pPr algn="just" eaLnBrk="1" hangingPunct="1">
              <a:lnSpc>
                <a:spcPct val="80000"/>
              </a:lnSpc>
              <a:buNone/>
            </a:pPr>
            <a:r>
              <a:rPr lang="en-US" altLang="zh-CN" b="1" dirty="0">
                <a:latin typeface="黑体" panose="02010609060101010101" pitchFamily="49" charset="-122"/>
                <a:ea typeface="黑体" panose="02010609060101010101" pitchFamily="49" charset="-122"/>
              </a:rPr>
              <a:t>(3) </a:t>
            </a:r>
            <a:r>
              <a:rPr lang="zh-CN" altLang="en-US" b="1" dirty="0">
                <a:latin typeface="黑体" panose="02010609060101010101" pitchFamily="49" charset="-122"/>
                <a:ea typeface="黑体" panose="02010609060101010101" pitchFamily="49" charset="-122"/>
              </a:rPr>
              <a:t>客户端发起扫描。实际过程中可以选择相应的扫描方案进行扫描，并且可以是定时扫描。</a:t>
            </a:r>
            <a:r>
              <a:rPr lang="zh-CN" altLang="en-US" dirty="0">
                <a:latin typeface="黑体" panose="02010609060101010101" pitchFamily="49" charset="-122"/>
                <a:ea typeface="黑体" panose="02010609060101010101" pitchFamily="49" charset="-122"/>
              </a:rPr>
              <a:t> </a:t>
            </a:r>
          </a:p>
          <a:p>
            <a:pPr eaLnBrk="1" hangingPunct="1">
              <a:buNone/>
            </a:pPr>
            <a:r>
              <a:rPr lang="en-US" altLang="zh-CN" b="1" dirty="0">
                <a:latin typeface="黑体" panose="02010609060101010101" pitchFamily="49" charset="-122"/>
                <a:ea typeface="黑体" panose="02010609060101010101" pitchFamily="49" charset="-122"/>
              </a:rPr>
              <a:t>(4) </a:t>
            </a:r>
            <a:r>
              <a:rPr lang="zh-CN" altLang="en-US" b="1" dirty="0">
                <a:latin typeface="黑体" panose="02010609060101010101" pitchFamily="49" charset="-122"/>
                <a:ea typeface="黑体" panose="02010609060101010101" pitchFamily="49" charset="-122"/>
              </a:rPr>
              <a:t>服务器端实施安全检测，并把检测结果及补救措施通过各种形式报表返回给客户端用户。</a:t>
            </a:r>
          </a:p>
          <a:p>
            <a:pPr eaLnBrk="1" hangingPunct="1">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用户按照步骤封堵漏洞，如需要，可到服务器端或直接到相关站点获取对应补丁。</a:t>
            </a:r>
            <a:r>
              <a:rPr lang="zh-CN" altLang="en-US" dirty="0">
                <a:latin typeface="黑体" panose="02010609060101010101" pitchFamily="49" charset="-122"/>
                <a:ea typeface="黑体" panose="02010609060101010101" pitchFamily="49" charset="-122"/>
              </a:rPr>
              <a:t> </a:t>
            </a:r>
          </a:p>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55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58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t>110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t>119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itle">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101" name="标题 4100"/>
          <p:cNvSpPr>
            <a:spLocks noGrp="1"/>
          </p:cNvSpPr>
          <p:nvPr>
            <p:ph type="ctrTitle" sz="quarter"/>
          </p:nvPr>
        </p:nvSpPr>
        <p:spPr>
          <a:xfrm>
            <a:off x="1725084" y="762000"/>
            <a:ext cx="10363200" cy="1143000"/>
          </a:xfrm>
          <a:prstGeom prst="rect">
            <a:avLst/>
          </a:prstGeom>
          <a:noFill/>
          <a:ln w="9525">
            <a:noFill/>
          </a:ln>
        </p:spPr>
        <p:txBody>
          <a:bodyPr lIns="92075" tIns="46038" rIns="92075" bIns="46038" anchor="b"/>
          <a:lstStyle>
            <a:lvl1pPr lvl="0">
              <a:defRPr/>
            </a:lvl1pPr>
          </a:lstStyle>
          <a:p>
            <a:pPr lvl="0" fontAlgn="base"/>
            <a:r>
              <a:rPr lang="zh-CN" altLang="en-US" strike="noStrike" noProof="1"/>
              <a:t>单击此处编辑母版标题样式</a:t>
            </a:r>
          </a:p>
        </p:txBody>
      </p:sp>
      <p:sp>
        <p:nvSpPr>
          <p:cNvPr id="4102" name="副标题 4101"/>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fontAlgn="base"/>
            <a:r>
              <a:rPr lang="zh-CN" altLang="en-US" strike="noStrike" noProof="1"/>
              <a:t>单击此处编辑母版副标题样式</a:t>
            </a:r>
          </a:p>
        </p:txBody>
      </p:sp>
      <p:sp>
        <p:nvSpPr>
          <p:cNvPr id="4103" name="日期占位符 4102"/>
          <p:cNvSpPr>
            <a:spLocks noGrp="1"/>
          </p:cNvSpPr>
          <p:nvPr>
            <p:ph type="dt" sz="quarter" idx="2"/>
          </p:nvPr>
        </p:nvSpPr>
        <p:spPr>
          <a:xfrm>
            <a:off x="914400" y="6248400"/>
            <a:ext cx="2540000" cy="457200"/>
          </a:xfrm>
          <a:prstGeom prst="rect">
            <a:avLst/>
          </a:prstGeom>
          <a:noFill/>
          <a:ln w="9525">
            <a:noFill/>
          </a:ln>
        </p:spPr>
        <p:txBody>
          <a:bodyPr lIns="92075" tIns="46038" rIns="92075" bIns="46038"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ea"/>
              </a:rPr>
              <a:t>2026/5/12</a:t>
            </a:fld>
            <a:endParaRPr lang="zh-CN" altLang="en-US" strike="noStrike" noProof="1"/>
          </a:p>
        </p:txBody>
      </p:sp>
      <p:sp>
        <p:nvSpPr>
          <p:cNvPr id="4104" name="页脚占位符 4103"/>
          <p:cNvSpPr>
            <a:spLocks noGrp="1"/>
          </p:cNvSpPr>
          <p:nvPr>
            <p:ph type="ftr" sz="quarter" idx="3"/>
          </p:nvPr>
        </p:nvSpPr>
        <p:spPr>
          <a:xfrm>
            <a:off x="4165600" y="6248400"/>
            <a:ext cx="3860800" cy="457200"/>
          </a:xfrm>
          <a:prstGeom prst="rect">
            <a:avLst/>
          </a:prstGeom>
          <a:noFill/>
          <a:ln w="9525">
            <a:noFill/>
          </a:ln>
        </p:spPr>
        <p:txBody>
          <a:bodyPr lIns="92075" tIns="46038" rIns="92075" bIns="46038" anchor="ctr"/>
          <a:lstStyle/>
          <a:p>
            <a:pPr fontAlgn="base"/>
            <a:endParaRPr lang="zh-CN" strike="noStrike" noProof="1"/>
          </a:p>
        </p:txBody>
      </p:sp>
      <p:sp>
        <p:nvSpPr>
          <p:cNvPr id="4105" name="灯片编号占位符 4104"/>
          <p:cNvSpPr>
            <a:spLocks noGrp="1"/>
          </p:cNvSpPr>
          <p:nvPr>
            <p:ph type="sldNum" sz="quarter" idx="4"/>
          </p:nvPr>
        </p:nvSpPr>
        <p:spPr>
          <a:xfrm>
            <a:off x="8737600" y="6248400"/>
            <a:ext cx="2540000" cy="457200"/>
          </a:xfrm>
          <a:prstGeom prst="rect">
            <a:avLst/>
          </a:prstGeom>
          <a:noFill/>
          <a:ln w="9525">
            <a:noFill/>
          </a:ln>
        </p:spPr>
        <p:txBody>
          <a:bodyPr lIns="92075" tIns="46038" rIns="92075" bIns="46038" anchor="ctr"/>
          <a:lstStyle/>
          <a:p>
            <a:pPr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lvl1pPr>
              <a:defRPr sz="36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914400" y="1981200"/>
            <a:ext cx="10363200" cy="4114800"/>
          </a:xfrm>
          <a:prstGeom prst="rect">
            <a:avLst/>
          </a:prstGeo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a:xfrm>
            <a:off x="914400" y="6248400"/>
            <a:ext cx="2540000" cy="457200"/>
          </a:xfrm>
          <a:prstGeom prst="rect">
            <a:avLst/>
          </a:prstGeom>
          <a:noFill/>
          <a:ln w="9525">
            <a:noFill/>
          </a:ln>
        </p:spPr>
        <p:txBody>
          <a:bodyPr lIns="92075" tIns="46038" rIns="92075" bIns="46038" anchor="ctr"/>
          <a:lstStyle/>
          <a:p>
            <a:pPr lvl="0" fontAlgn="base"/>
            <a:endParaRPr lang="zh-CN" altLang="en-US" strike="noStrike" noProof="1"/>
          </a:p>
        </p:txBody>
      </p:sp>
      <p:sp>
        <p:nvSpPr>
          <p:cNvPr id="5" name="页脚占位符 4"/>
          <p:cNvSpPr>
            <a:spLocks noGrp="1"/>
          </p:cNvSpPr>
          <p:nvPr>
            <p:ph type="ftr" sz="quarter" idx="11"/>
          </p:nvPr>
        </p:nvSpPr>
        <p:spPr>
          <a:xfrm>
            <a:off x="4165600" y="6248400"/>
            <a:ext cx="3860800" cy="457200"/>
          </a:xfrm>
          <a:prstGeom prst="rect">
            <a:avLst/>
          </a:prstGeom>
          <a:noFill/>
          <a:ln w="9525">
            <a:noFill/>
          </a:ln>
        </p:spPr>
        <p:txBody>
          <a:bodyPr lIns="92075" tIns="46038" rIns="92075" bIns="46038" anchor="ctr"/>
          <a:lstStyle/>
          <a:p>
            <a:pPr lvl="0" fontAlgn="base"/>
            <a:endParaRPr lang="zh-CN" strike="noStrike" noProof="1"/>
          </a:p>
        </p:txBody>
      </p:sp>
      <p:sp>
        <p:nvSpPr>
          <p:cNvPr id="6" name="灯片编号占位符 5"/>
          <p:cNvSpPr>
            <a:spLocks noGrp="1"/>
          </p:cNvSpPr>
          <p:nvPr>
            <p:ph type="sldNum" sz="quarter" idx="12"/>
          </p:nvPr>
        </p:nvSpPr>
        <p:spPr>
          <a:xfrm>
            <a:off x="8737600" y="6248400"/>
            <a:ext cx="2540000" cy="457200"/>
          </a:xfrm>
          <a:prstGeom prst="rect">
            <a:avLst/>
          </a:prstGeom>
          <a:noFill/>
          <a:ln w="9525">
            <a:noFill/>
          </a:ln>
        </p:spPr>
        <p:txBody>
          <a:bodyPr lIns="92075" tIns="46038" rIns="92075" bIns="46038" anchor="ct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914400" y="1981200"/>
            <a:ext cx="10363200" cy="4114800"/>
          </a:xfrm>
          <a:prstGeom prst="rect">
            <a:avLst/>
          </a:prstGeo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a:pPr>
            <a:endParaRPr kumimoji="0" lang="zh-CN" altLang="en-US" sz="3200" b="0" i="0" u="none" strike="noStrike" kern="1200" cap="none" spc="0" normalizeH="0" baseline="0" noProof="1">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a:xfrm>
            <a:off x="914400" y="6248400"/>
            <a:ext cx="2540000" cy="457200"/>
          </a:xfrm>
          <a:prstGeom prst="rect">
            <a:avLst/>
          </a:prstGeom>
        </p:spPr>
        <p:txBody>
          <a:bodyPr/>
          <a:lstStyle/>
          <a:p>
            <a:pPr fontAlgn="base">
              <a:spcBef>
                <a:spcPct val="0"/>
              </a:spcBef>
              <a:spcAft>
                <a:spcPct val="0"/>
              </a:spcAft>
              <a:defRPr/>
            </a:pPr>
            <a:fld id="{BB962C8B-B14F-4D97-AF65-F5344CB8AC3E}" type="datetime1">
              <a:rPr lang="zh-CN" altLang="en-US" sz="1400" noProof="1" smtClean="0">
                <a:ea typeface="宋体" panose="02010600030101010101" pitchFamily="2" charset="-122"/>
                <a:cs typeface="+mn-ea"/>
              </a:rPr>
              <a:t>2026/5/12</a:t>
            </a:fld>
            <a:endParaRPr lang="zh-CN" altLang="en-US" sz="1400" noProof="1">
              <a:ea typeface="宋体" panose="02010600030101010101" pitchFamily="2" charset="-122"/>
              <a:cs typeface="+mn-ea"/>
            </a:endParaRPr>
          </a:p>
        </p:txBody>
      </p:sp>
      <p:sp>
        <p:nvSpPr>
          <p:cNvPr id="5" name="页脚占位符 4"/>
          <p:cNvSpPr>
            <a:spLocks noGrp="1"/>
          </p:cNvSpPr>
          <p:nvPr>
            <p:ph type="ftr" sz="quarter" idx="11"/>
          </p:nvPr>
        </p:nvSpPr>
        <p:spPr>
          <a:xfrm>
            <a:off x="4165600" y="6248400"/>
            <a:ext cx="3860800" cy="457200"/>
          </a:xfrm>
          <a:prstGeom prst="rect">
            <a:avLst/>
          </a:prstGeom>
        </p:spPr>
        <p:txBody>
          <a:bodyPr/>
          <a:lstStyle/>
          <a:p>
            <a:pPr algn="ctr" fontAlgn="base">
              <a:spcBef>
                <a:spcPct val="0"/>
              </a:spcBef>
              <a:spcAft>
                <a:spcPct val="0"/>
              </a:spcAft>
              <a:defRPr/>
            </a:pPr>
            <a:endParaRPr lang="zh-CN" altLang="en-US" sz="1400" noProof="1">
              <a:ea typeface="宋体" panose="02010600030101010101" pitchFamily="2" charset="-122"/>
            </a:endParaRPr>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p>
            <a:pPr lvl="0" eaLnBrk="1" fontAlgn="base" hangingPunct="1"/>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13.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hyperlink" Target="https://gitlab.com/l0phtcrack/l0phtcrack/-/releases" TargetMode="External"/><Relationship Id="rId2" Type="http://schemas.openxmlformats.org/officeDocument/2006/relationships/hyperlink" Target="https://l0phtcrack.gitlab.io/releases/7.2.0/lc7setup_v7.2.0_Win64.exe" TargetMode="External"/><Relationship Id="rId1" Type="http://schemas.openxmlformats.org/officeDocument/2006/relationships/slideLayout" Target="../slideLayouts/slideLayout5.xml"/><Relationship Id="rId4" Type="http://schemas.openxmlformats.org/officeDocument/2006/relationships/hyperlink" Target="https://www.l0phtcrack.com/" TargetMode="Externa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ctrTitle" sz="quarter"/>
          </p:nvPr>
        </p:nvSpPr>
        <p:spPr>
          <a:xfrm>
            <a:off x="2209008" y="1526000"/>
            <a:ext cx="7772400" cy="1143000"/>
          </a:xfrm>
        </p:spPr>
        <p:txBody>
          <a:bodyPr vert="horz" wrap="square" lIns="92075" tIns="46038" rIns="92075" bIns="46038" numCol="1" anchor="b" anchorCtr="0" compatLnSpc="1"/>
          <a:lstStyle/>
          <a:p>
            <a:pPr algn="ctr" fontAlgn="base">
              <a:lnSpc>
                <a:spcPct val="100000"/>
              </a:lnSpc>
              <a:spcAft>
                <a:spcPct val="0"/>
              </a:spcAft>
              <a:defRPr/>
            </a:pPr>
            <a:r>
              <a:rPr lang="zh-CN" altLang="en-US" sz="4800" b="1" dirty="0">
                <a:solidFill>
                  <a:schemeClr val="tx2"/>
                </a:solidFill>
                <a:effectLst>
                  <a:outerShdw blurRad="38100" dist="38100" dir="2700000" algn="tl">
                    <a:srgbClr val="000000"/>
                  </a:outerShdw>
                </a:effectLst>
                <a:latin typeface="黑体" panose="02010609060101010101" pitchFamily="49" charset="-122"/>
                <a:ea typeface="黑体" panose="02010609060101010101" pitchFamily="49" charset="-122"/>
              </a:rPr>
              <a:t>第</a:t>
            </a:r>
            <a:r>
              <a:rPr lang="en-US" altLang="zh-CN" sz="4800" b="1" dirty="0">
                <a:solidFill>
                  <a:schemeClr val="tx2"/>
                </a:solidFill>
                <a:effectLst>
                  <a:outerShdw blurRad="38100" dist="38100" dir="2700000" algn="tl">
                    <a:srgbClr val="000000"/>
                  </a:outerShdw>
                </a:effectLst>
                <a:latin typeface="黑体" panose="02010609060101010101" pitchFamily="49" charset="-122"/>
                <a:ea typeface="黑体" panose="02010609060101010101" pitchFamily="49" charset="-122"/>
              </a:rPr>
              <a:t>4</a:t>
            </a:r>
            <a:r>
              <a:rPr lang="zh-CN" altLang="en-US" sz="4800" b="1" dirty="0">
                <a:solidFill>
                  <a:schemeClr val="tx2"/>
                </a:solidFill>
                <a:effectLst>
                  <a:outerShdw blurRad="38100" dist="38100" dir="2700000" algn="tl">
                    <a:srgbClr val="000000"/>
                  </a:outerShdw>
                </a:effectLst>
                <a:latin typeface="黑体" panose="02010609060101010101" pitchFamily="49" charset="-122"/>
                <a:ea typeface="黑体" panose="02010609060101010101" pitchFamily="49" charset="-122"/>
              </a:rPr>
              <a:t>章 网络攻击 </a:t>
            </a:r>
          </a:p>
        </p:txBody>
      </p:sp>
      <p:sp>
        <p:nvSpPr>
          <p:cNvPr id="13314" name="文本框 88067"/>
          <p:cNvSpPr txBox="1"/>
          <p:nvPr/>
        </p:nvSpPr>
        <p:spPr>
          <a:xfrm>
            <a:off x="4536919" y="4041776"/>
            <a:ext cx="3116580" cy="1814830"/>
          </a:xfrm>
          <a:prstGeom prst="rect">
            <a:avLst/>
          </a:prstGeom>
          <a:noFill/>
          <a:ln w="9525">
            <a:noFill/>
          </a:ln>
        </p:spPr>
        <p:txBody>
          <a:bodyPr wrap="none" anchor="t">
            <a:spAutoFit/>
          </a:bodyPr>
          <a:lstStyle/>
          <a:p>
            <a:pPr algn="ctr"/>
            <a:r>
              <a:rPr lang="zh-CN" altLang="en-US" sz="2800" dirty="0">
                <a:latin typeface="Times New Roman" panose="02020603050405020304" pitchFamily="18" charset="0"/>
                <a:ea typeface="华文行楷" panose="02010800040101010101" pitchFamily="2" charset="-122"/>
              </a:rPr>
              <a:t>李朝晖</a:t>
            </a:r>
          </a:p>
          <a:p>
            <a:pPr algn="ctr"/>
            <a:r>
              <a:rPr lang="zh-CN" altLang="en-US" sz="2800" dirty="0">
                <a:latin typeface="Times New Roman" panose="02020603050405020304" pitchFamily="18" charset="0"/>
                <a:ea typeface="华文行楷" panose="02010800040101010101" pitchFamily="2" charset="-122"/>
              </a:rPr>
              <a:t>南开大学 网安学院</a:t>
            </a:r>
          </a:p>
          <a:p>
            <a:pPr algn="ctr"/>
            <a:endParaRPr lang="zh-CN" altLang="en-US" sz="2800" dirty="0">
              <a:latin typeface="Times New Roman" panose="02020603050405020304" pitchFamily="18" charset="0"/>
              <a:ea typeface="宋体" panose="02010600030101010101" pitchFamily="2" charset="-122"/>
            </a:endParaRPr>
          </a:p>
          <a:p>
            <a:pPr algn="ctr"/>
            <a:r>
              <a:rPr lang="en-US" altLang="zh-CN" sz="2800" dirty="0">
                <a:latin typeface="Times New Roman" panose="02020603050405020304" pitchFamily="18" charset="0"/>
              </a:rPr>
              <a:t>2026</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7"/>
          <p:cNvSpPr txBox="1"/>
          <p:nvPr/>
        </p:nvSpPr>
        <p:spPr>
          <a:xfrm>
            <a:off x="946485" y="3394542"/>
            <a:ext cx="4314580" cy="748666"/>
          </a:xfrm>
          <a:prstGeom prst="rect">
            <a:avLst/>
          </a:prstGeom>
          <a:noFill/>
        </p:spPr>
        <p:txBody>
          <a:bodyPr wrap="square">
            <a:spAutoFit/>
          </a:bodyPr>
          <a:lstStyle/>
          <a:p>
            <a:pPr marR="0" defTabSz="1217930" fontAlgn="auto">
              <a:buClrTx/>
              <a:buSzTx/>
              <a:buFont typeface="Arial" panose="020B0604020202020204" pitchFamily="34" charset="0"/>
              <a:defRPr/>
            </a:pPr>
            <a:r>
              <a:rPr kumimoji="0" lang="zh-CN" altLang="en-US" sz="4265"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rPr>
              <a:t>第</a:t>
            </a:r>
            <a:r>
              <a:rPr kumimoji="0" lang="en-US" altLang="zh-CN" sz="4265"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rPr>
              <a:t>4</a:t>
            </a:r>
            <a:r>
              <a:rPr kumimoji="0" lang="zh-CN" altLang="en-US" sz="4265" kern="1200" cap="none" spc="0" normalizeH="0" baseline="0" noProof="1">
                <a:solidFill>
                  <a:srgbClr val="002060"/>
                </a:solidFill>
                <a:latin typeface="思源黑体 CN Heavy" panose="020B0A00000000000000" pitchFamily="34" charset="-122"/>
                <a:ea typeface="思源黑体 CN Heavy" panose="020B0A00000000000000" pitchFamily="34" charset="-122"/>
                <a:cs typeface="+mn-ea"/>
                <a:sym typeface="+mn-ea"/>
              </a:rPr>
              <a:t>章 网络攻击</a:t>
            </a:r>
          </a:p>
        </p:txBody>
      </p:sp>
      <p:grpSp>
        <p:nvGrpSpPr>
          <p:cNvPr id="20" name="组合 19"/>
          <p:cNvGrpSpPr/>
          <p:nvPr/>
        </p:nvGrpSpPr>
        <p:grpSpPr>
          <a:xfrm>
            <a:off x="2576451" y="1645590"/>
            <a:ext cx="1622688" cy="1622688"/>
            <a:chOff x="882649" y="2219325"/>
            <a:chExt cx="2070101" cy="2070101"/>
          </a:xfrm>
        </p:grpSpPr>
        <p:sp>
          <p:nvSpPr>
            <p:cNvPr id="21" name="椭圆 20"/>
            <p:cNvSpPr/>
            <p:nvPr/>
          </p:nvSpPr>
          <p:spPr>
            <a:xfrm>
              <a:off x="1019174" y="2355850"/>
              <a:ext cx="1797050" cy="1797050"/>
            </a:xfrm>
            <a:prstGeom prst="ellipse">
              <a:avLst/>
            </a:prstGeom>
            <a:noFill/>
            <a:ln>
              <a:solidFill>
                <a:srgbClr val="0F73E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accent5">
                      <a:lumMod val="50000"/>
                    </a:schemeClr>
                  </a:solidFill>
                  <a:effectLst/>
                  <a:latin typeface="+mj-lt"/>
                  <a:ea typeface="微软雅黑 Light" panose="020B0502040204020203" pitchFamily="34" charset="-122"/>
                  <a:cs typeface="+mn-ea"/>
                  <a:sym typeface="+mn-lt"/>
                </a:rPr>
                <a:t>01</a:t>
              </a:r>
              <a:endParaRPr lang="en-US" sz="4000" b="1" dirty="0">
                <a:solidFill>
                  <a:schemeClr val="accent5">
                    <a:lumMod val="50000"/>
                  </a:schemeClr>
                </a:solidFill>
                <a:effectLst/>
                <a:latin typeface="+mj-lt"/>
                <a:cs typeface="+mn-ea"/>
                <a:sym typeface="+mn-lt"/>
              </a:endParaRPr>
            </a:p>
          </p:txBody>
        </p:sp>
        <p:sp>
          <p:nvSpPr>
            <p:cNvPr id="22" name="空心弧 21"/>
            <p:cNvSpPr/>
            <p:nvPr/>
          </p:nvSpPr>
          <p:spPr>
            <a:xfrm rot="7613872">
              <a:off x="882649" y="2219325"/>
              <a:ext cx="2070101" cy="2070101"/>
            </a:xfrm>
            <a:prstGeom prst="blockArc">
              <a:avLst>
                <a:gd name="adj1" fmla="val 10800000"/>
                <a:gd name="adj2" fmla="val 3959450"/>
                <a:gd name="adj3" fmla="val 6684"/>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mn-ea"/>
                <a:sym typeface="+mn-lt"/>
              </a:endParaRPr>
            </a:p>
          </p:txBody>
        </p:sp>
      </p:grpSp>
      <p:grpSp>
        <p:nvGrpSpPr>
          <p:cNvPr id="38" name="组合 37"/>
          <p:cNvGrpSpPr/>
          <p:nvPr/>
        </p:nvGrpSpPr>
        <p:grpSpPr>
          <a:xfrm>
            <a:off x="5562189" y="600837"/>
            <a:ext cx="4963698" cy="617070"/>
            <a:chOff x="5493750" y="892151"/>
            <a:chExt cx="4963698" cy="617070"/>
          </a:xfrm>
        </p:grpSpPr>
        <p:sp>
          <p:nvSpPr>
            <p:cNvPr id="23" name="矩形: 圆角 22"/>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12"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7" name="矩形: 圆角 36"/>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ea typeface="+mj-ea"/>
                  <a:cs typeface="+mn-ea"/>
                  <a:sym typeface="+mn-lt"/>
                </a:rPr>
                <a:t>4.1</a:t>
              </a:r>
              <a:r>
                <a:rPr lang="zh-CN" altLang="en-US" sz="2400" b="1" dirty="0">
                  <a:solidFill>
                    <a:schemeClr val="tx1"/>
                  </a:solidFill>
                  <a:latin typeface="黑体" panose="02010609060101010101" pitchFamily="49" charset="-122"/>
                  <a:ea typeface="黑体" panose="02010609060101010101" pitchFamily="49" charset="-122"/>
                </a:rPr>
                <a:t>网络攻击概论 </a:t>
              </a:r>
            </a:p>
          </p:txBody>
        </p:sp>
      </p:grpSp>
      <p:grpSp>
        <p:nvGrpSpPr>
          <p:cNvPr id="67" name="组合 66"/>
          <p:cNvGrpSpPr/>
          <p:nvPr/>
        </p:nvGrpSpPr>
        <p:grpSpPr>
          <a:xfrm>
            <a:off x="5562189" y="1344388"/>
            <a:ext cx="4963698" cy="617070"/>
            <a:chOff x="5493750" y="892151"/>
            <a:chExt cx="4963698" cy="617070"/>
          </a:xfrm>
        </p:grpSpPr>
        <p:sp>
          <p:nvSpPr>
            <p:cNvPr id="68" name="矩形: 圆角 67"/>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69"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0" name="矩形: 圆角 69"/>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ea typeface="+mj-ea"/>
                  <a:cs typeface="+mn-ea"/>
                  <a:sym typeface="+mn-lt"/>
                </a:rPr>
                <a:t>4.2</a:t>
              </a:r>
              <a:r>
                <a:rPr lang="zh-CN" altLang="en-US" sz="2400" b="1" dirty="0">
                  <a:solidFill>
                    <a:schemeClr val="tx1"/>
                  </a:solidFill>
                  <a:latin typeface="黑体" panose="02010609060101010101" pitchFamily="49" charset="-122"/>
                  <a:ea typeface="黑体" panose="02010609060101010101" pitchFamily="49" charset="-122"/>
                </a:rPr>
                <a:t>网络探测类攻击 </a:t>
              </a:r>
            </a:p>
          </p:txBody>
        </p:sp>
      </p:grpSp>
      <p:grpSp>
        <p:nvGrpSpPr>
          <p:cNvPr id="71" name="组合 70"/>
          <p:cNvGrpSpPr/>
          <p:nvPr/>
        </p:nvGrpSpPr>
        <p:grpSpPr>
          <a:xfrm>
            <a:off x="5562189" y="2087939"/>
            <a:ext cx="4963698" cy="617070"/>
            <a:chOff x="5493750" y="892151"/>
            <a:chExt cx="4963698" cy="617070"/>
          </a:xfrm>
        </p:grpSpPr>
        <p:sp>
          <p:nvSpPr>
            <p:cNvPr id="72" name="矩形: 圆角 71"/>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73"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4" name="矩形: 圆角 73"/>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ea typeface="+mj-ea"/>
                  <a:cs typeface="+mn-ea"/>
                  <a:sym typeface="+mn-lt"/>
                </a:rPr>
                <a:t>4.3</a:t>
              </a:r>
              <a:r>
                <a:rPr lang="zh-CN" altLang="en-US" sz="2400" b="1" dirty="0">
                  <a:solidFill>
                    <a:schemeClr val="tx1"/>
                  </a:solidFill>
                  <a:latin typeface="黑体" panose="02010609060101010101" pitchFamily="49" charset="-122"/>
                  <a:ea typeface="黑体" panose="02010609060101010101" pitchFamily="49" charset="-122"/>
                </a:rPr>
                <a:t>漏洞的检测与安全扫描器 </a:t>
              </a:r>
            </a:p>
          </p:txBody>
        </p:sp>
      </p:grpSp>
      <p:grpSp>
        <p:nvGrpSpPr>
          <p:cNvPr id="75" name="组合 74"/>
          <p:cNvGrpSpPr/>
          <p:nvPr/>
        </p:nvGrpSpPr>
        <p:grpSpPr>
          <a:xfrm>
            <a:off x="5562189" y="2831490"/>
            <a:ext cx="4963698" cy="617070"/>
            <a:chOff x="5493750" y="892151"/>
            <a:chExt cx="4963698" cy="617070"/>
          </a:xfrm>
        </p:grpSpPr>
        <p:sp>
          <p:nvSpPr>
            <p:cNvPr id="76" name="矩形: 圆角 75"/>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77"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78" name="矩形: 圆角 77"/>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ea typeface="+mj-ea"/>
                  <a:cs typeface="+mn-ea"/>
                  <a:sym typeface="+mn-lt"/>
                </a:rPr>
                <a:t>4.4</a:t>
              </a:r>
              <a:r>
                <a:rPr lang="zh-CN" altLang="en-US" sz="2400" b="1" dirty="0">
                  <a:solidFill>
                    <a:schemeClr val="tx1"/>
                  </a:solidFill>
                  <a:latin typeface="黑体" panose="02010609060101010101" pitchFamily="49" charset="-122"/>
                  <a:ea typeface="黑体" panose="02010609060101010101" pitchFamily="49" charset="-122"/>
                </a:rPr>
                <a:t>侵入类攻击 </a:t>
              </a:r>
            </a:p>
          </p:txBody>
        </p:sp>
      </p:grpSp>
      <p:grpSp>
        <p:nvGrpSpPr>
          <p:cNvPr id="79" name="组合 78"/>
          <p:cNvGrpSpPr/>
          <p:nvPr/>
        </p:nvGrpSpPr>
        <p:grpSpPr>
          <a:xfrm>
            <a:off x="5562189" y="3575041"/>
            <a:ext cx="4963698" cy="617070"/>
            <a:chOff x="5493750" y="892151"/>
            <a:chExt cx="4963698" cy="617070"/>
          </a:xfrm>
        </p:grpSpPr>
        <p:sp>
          <p:nvSpPr>
            <p:cNvPr id="80" name="矩形: 圆角 79"/>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81"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82" name="矩形: 圆角 81"/>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ea typeface="+mj-ea"/>
                  <a:cs typeface="+mn-ea"/>
                  <a:sym typeface="+mn-lt"/>
                </a:rPr>
                <a:t>4.5</a:t>
              </a:r>
              <a:r>
                <a:rPr lang="zh-CN" altLang="en-US" sz="2400" b="1" dirty="0">
                  <a:solidFill>
                    <a:schemeClr val="tx1"/>
                  </a:solidFill>
                  <a:latin typeface="黑体" panose="02010609060101010101" pitchFamily="49" charset="-122"/>
                  <a:ea typeface="黑体" panose="02010609060101010101" pitchFamily="49" charset="-122"/>
                </a:rPr>
                <a:t>权限提升 </a:t>
              </a:r>
            </a:p>
          </p:txBody>
        </p:sp>
      </p:grpSp>
      <p:grpSp>
        <p:nvGrpSpPr>
          <p:cNvPr id="83" name="组合 82"/>
          <p:cNvGrpSpPr/>
          <p:nvPr/>
        </p:nvGrpSpPr>
        <p:grpSpPr>
          <a:xfrm>
            <a:off x="5562189" y="4318592"/>
            <a:ext cx="4963698" cy="617070"/>
            <a:chOff x="5493750" y="892151"/>
            <a:chExt cx="4963698" cy="617070"/>
          </a:xfrm>
        </p:grpSpPr>
        <p:sp>
          <p:nvSpPr>
            <p:cNvPr id="84" name="矩形: 圆角 83"/>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85"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86" name="矩形: 圆角 85"/>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lt"/>
                </a:rPr>
                <a:t>4.6 控制利用类攻击</a:t>
              </a:r>
              <a:endParaRPr lang="zh-CN" altLang="en-US" sz="2400" b="1" dirty="0">
                <a:solidFill>
                  <a:schemeClr val="tx1"/>
                </a:solidFill>
                <a:highlight>
                  <a:srgbClr val="00FFFF"/>
                </a:highlight>
                <a:latin typeface="黑体" panose="02010609060101010101" pitchFamily="49" charset="-122"/>
                <a:ea typeface="黑体" panose="02010609060101010101" pitchFamily="49" charset="-122"/>
                <a:sym typeface="+mn-lt"/>
              </a:endParaRPr>
            </a:p>
          </p:txBody>
        </p:sp>
      </p:grpSp>
      <p:grpSp>
        <p:nvGrpSpPr>
          <p:cNvPr id="30" name="组合 29"/>
          <p:cNvGrpSpPr/>
          <p:nvPr/>
        </p:nvGrpSpPr>
        <p:grpSpPr>
          <a:xfrm>
            <a:off x="5562189" y="5062143"/>
            <a:ext cx="4963698" cy="617070"/>
            <a:chOff x="5493750" y="892151"/>
            <a:chExt cx="4963698" cy="617070"/>
          </a:xfrm>
        </p:grpSpPr>
        <p:sp>
          <p:nvSpPr>
            <p:cNvPr id="31" name="矩形: 圆角 83"/>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32"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3" name="矩形: 圆角 85"/>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lt"/>
                </a:rPr>
                <a:t>4.7</a:t>
              </a:r>
              <a:r>
                <a:rPr lang="en-US" altLang="zh-CN" sz="2400" b="1" dirty="0">
                  <a:solidFill>
                    <a:srgbClr val="0070C0"/>
                  </a:solidFill>
                  <a:latin typeface="黑体" panose="02010609060101010101" pitchFamily="49" charset="-122"/>
                  <a:ea typeface="黑体" panose="02010609060101010101" pitchFamily="49" charset="-122"/>
                  <a:sym typeface="+mn-lt"/>
                </a:rPr>
                <a:t> </a:t>
              </a:r>
              <a:r>
                <a:rPr lang="zh-CN" altLang="en-US" sz="2400" b="1" dirty="0">
                  <a:solidFill>
                    <a:srgbClr val="0070C0"/>
                  </a:solidFill>
                  <a:latin typeface="黑体" panose="02010609060101010101" pitchFamily="49" charset="-122"/>
                  <a:ea typeface="黑体" panose="02010609060101010101" pitchFamily="49" charset="-122"/>
                  <a:sym typeface="+mn-lt"/>
                </a:rPr>
                <a:t>软破坏类攻击</a:t>
              </a:r>
            </a:p>
          </p:txBody>
        </p:sp>
      </p:grpSp>
      <p:grpSp>
        <p:nvGrpSpPr>
          <p:cNvPr id="34" name="组合 33"/>
          <p:cNvGrpSpPr/>
          <p:nvPr/>
        </p:nvGrpSpPr>
        <p:grpSpPr>
          <a:xfrm>
            <a:off x="5562189" y="5805691"/>
            <a:ext cx="4963698" cy="617070"/>
            <a:chOff x="5493750" y="892151"/>
            <a:chExt cx="4963698" cy="617070"/>
          </a:xfrm>
        </p:grpSpPr>
        <p:sp>
          <p:nvSpPr>
            <p:cNvPr id="35" name="矩形: 圆角 83"/>
            <p:cNvSpPr/>
            <p:nvPr/>
          </p:nvSpPr>
          <p:spPr>
            <a:xfrm>
              <a:off x="5493750" y="892151"/>
              <a:ext cx="4949067" cy="617070"/>
            </a:xfrm>
            <a:prstGeom prst="roundRect">
              <a:avLst>
                <a:gd name="adj" fmla="val 14295"/>
              </a:avLst>
            </a:prstGeom>
            <a:solidFill>
              <a:srgbClr val="0F73EE">
                <a:alpha val="14902"/>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cs typeface="+mn-ea"/>
                <a:sym typeface="+mn-lt"/>
              </a:endParaRPr>
            </a:p>
          </p:txBody>
        </p:sp>
        <p:sp>
          <p:nvSpPr>
            <p:cNvPr id="36" name="human-head-silhouette-with-cogwheels_31441"/>
            <p:cNvSpPr>
              <a:spLocks noChangeAspect="1"/>
            </p:cNvSpPr>
            <p:nvPr/>
          </p:nvSpPr>
          <p:spPr bwMode="auto">
            <a:xfrm>
              <a:off x="5632235" y="1103269"/>
              <a:ext cx="322881" cy="405952"/>
            </a:xfrm>
            <a:custGeom>
              <a:avLst/>
              <a:gdLst>
                <a:gd name="connsiteX0" fmla="*/ 332813 w 483894"/>
                <a:gd name="connsiteY0" fmla="*/ 285272 h 608391"/>
                <a:gd name="connsiteX1" fmla="*/ 370636 w 483894"/>
                <a:gd name="connsiteY1" fmla="*/ 323201 h 608391"/>
                <a:gd name="connsiteX2" fmla="*/ 332813 w 483894"/>
                <a:gd name="connsiteY2" fmla="*/ 361130 h 608391"/>
                <a:gd name="connsiteX3" fmla="*/ 294990 w 483894"/>
                <a:gd name="connsiteY3" fmla="*/ 323201 h 608391"/>
                <a:gd name="connsiteX4" fmla="*/ 332813 w 483894"/>
                <a:gd name="connsiteY4" fmla="*/ 285272 h 608391"/>
                <a:gd name="connsiteX5" fmla="*/ 329299 w 483894"/>
                <a:gd name="connsiteY5" fmla="*/ 254544 h 608391"/>
                <a:gd name="connsiteX6" fmla="*/ 308471 w 483894"/>
                <a:gd name="connsiteY6" fmla="*/ 258937 h 608391"/>
                <a:gd name="connsiteX7" fmla="*/ 311405 w 483894"/>
                <a:gd name="connsiteY7" fmla="*/ 272119 h 608391"/>
                <a:gd name="connsiteX8" fmla="*/ 292924 w 483894"/>
                <a:gd name="connsiteY8" fmla="*/ 284422 h 608391"/>
                <a:gd name="connsiteX9" fmla="*/ 281776 w 483894"/>
                <a:gd name="connsiteY9" fmla="*/ 277099 h 608391"/>
                <a:gd name="connsiteX10" fmla="*/ 270042 w 483894"/>
                <a:gd name="connsiteY10" fmla="*/ 294967 h 608391"/>
                <a:gd name="connsiteX11" fmla="*/ 281483 w 483894"/>
                <a:gd name="connsiteY11" fmla="*/ 302290 h 608391"/>
                <a:gd name="connsiteX12" fmla="*/ 277376 w 483894"/>
                <a:gd name="connsiteY12" fmla="*/ 323966 h 608391"/>
                <a:gd name="connsiteX13" fmla="*/ 264175 w 483894"/>
                <a:gd name="connsiteY13" fmla="*/ 326895 h 608391"/>
                <a:gd name="connsiteX14" fmla="*/ 268282 w 483894"/>
                <a:gd name="connsiteY14" fmla="*/ 347399 h 608391"/>
                <a:gd name="connsiteX15" fmla="*/ 281483 w 483894"/>
                <a:gd name="connsiteY15" fmla="*/ 344763 h 608391"/>
                <a:gd name="connsiteX16" fmla="*/ 294097 w 483894"/>
                <a:gd name="connsiteY16" fmla="*/ 363217 h 608391"/>
                <a:gd name="connsiteX17" fmla="*/ 286763 w 483894"/>
                <a:gd name="connsiteY17" fmla="*/ 374348 h 608391"/>
                <a:gd name="connsiteX18" fmla="*/ 304364 w 483894"/>
                <a:gd name="connsiteY18" fmla="*/ 385772 h 608391"/>
                <a:gd name="connsiteX19" fmla="*/ 311698 w 483894"/>
                <a:gd name="connsiteY19" fmla="*/ 374641 h 608391"/>
                <a:gd name="connsiteX20" fmla="*/ 333699 w 483894"/>
                <a:gd name="connsiteY20" fmla="*/ 378742 h 608391"/>
                <a:gd name="connsiteX21" fmla="*/ 336633 w 483894"/>
                <a:gd name="connsiteY21" fmla="*/ 391923 h 608391"/>
                <a:gd name="connsiteX22" fmla="*/ 357167 w 483894"/>
                <a:gd name="connsiteY22" fmla="*/ 387529 h 608391"/>
                <a:gd name="connsiteX23" fmla="*/ 354527 w 483894"/>
                <a:gd name="connsiteY23" fmla="*/ 374348 h 608391"/>
                <a:gd name="connsiteX24" fmla="*/ 372715 w 483894"/>
                <a:gd name="connsiteY24" fmla="*/ 362045 h 608391"/>
                <a:gd name="connsiteX25" fmla="*/ 384155 w 483894"/>
                <a:gd name="connsiteY25" fmla="*/ 369368 h 608391"/>
                <a:gd name="connsiteX26" fmla="*/ 395596 w 483894"/>
                <a:gd name="connsiteY26" fmla="*/ 351500 h 608391"/>
                <a:gd name="connsiteX27" fmla="*/ 384449 w 483894"/>
                <a:gd name="connsiteY27" fmla="*/ 344177 h 608391"/>
                <a:gd name="connsiteX28" fmla="*/ 388556 w 483894"/>
                <a:gd name="connsiteY28" fmla="*/ 322208 h 608391"/>
                <a:gd name="connsiteX29" fmla="*/ 401756 w 483894"/>
                <a:gd name="connsiteY29" fmla="*/ 319572 h 608391"/>
                <a:gd name="connsiteX30" fmla="*/ 397356 w 483894"/>
                <a:gd name="connsiteY30" fmla="*/ 299068 h 608391"/>
                <a:gd name="connsiteX31" fmla="*/ 384155 w 483894"/>
                <a:gd name="connsiteY31" fmla="*/ 301704 h 608391"/>
                <a:gd name="connsiteX32" fmla="*/ 371541 w 483894"/>
                <a:gd name="connsiteY32" fmla="*/ 283250 h 608391"/>
                <a:gd name="connsiteX33" fmla="*/ 378875 w 483894"/>
                <a:gd name="connsiteY33" fmla="*/ 272119 h 608391"/>
                <a:gd name="connsiteX34" fmla="*/ 361274 w 483894"/>
                <a:gd name="connsiteY34" fmla="*/ 260695 h 608391"/>
                <a:gd name="connsiteX35" fmla="*/ 353940 w 483894"/>
                <a:gd name="connsiteY35" fmla="*/ 271826 h 608391"/>
                <a:gd name="connsiteX36" fmla="*/ 331939 w 483894"/>
                <a:gd name="connsiteY36" fmla="*/ 267725 h 608391"/>
                <a:gd name="connsiteX37" fmla="*/ 302012 w 483894"/>
                <a:gd name="connsiteY37" fmla="*/ 100461 h 608391"/>
                <a:gd name="connsiteX38" fmla="*/ 360970 w 483894"/>
                <a:gd name="connsiteY38" fmla="*/ 159348 h 608391"/>
                <a:gd name="connsiteX39" fmla="*/ 302012 w 483894"/>
                <a:gd name="connsiteY39" fmla="*/ 218235 h 608391"/>
                <a:gd name="connsiteX40" fmla="*/ 243054 w 483894"/>
                <a:gd name="connsiteY40" fmla="*/ 159348 h 608391"/>
                <a:gd name="connsiteX41" fmla="*/ 302012 w 483894"/>
                <a:gd name="connsiteY41" fmla="*/ 100461 h 608391"/>
                <a:gd name="connsiteX42" fmla="*/ 309644 w 483894"/>
                <a:gd name="connsiteY42" fmla="*/ 52722 h 608391"/>
                <a:gd name="connsiteX43" fmla="*/ 304951 w 483894"/>
                <a:gd name="connsiteY43" fmla="*/ 72933 h 608391"/>
                <a:gd name="connsiteX44" fmla="*/ 270922 w 483894"/>
                <a:gd name="connsiteY44" fmla="*/ 78792 h 608391"/>
                <a:gd name="connsiteX45" fmla="*/ 259775 w 483894"/>
                <a:gd name="connsiteY45" fmla="*/ 60924 h 608391"/>
                <a:gd name="connsiteX46" fmla="*/ 231907 w 483894"/>
                <a:gd name="connsiteY46" fmla="*/ 78499 h 608391"/>
                <a:gd name="connsiteX47" fmla="*/ 243054 w 483894"/>
                <a:gd name="connsiteY47" fmla="*/ 96074 h 608391"/>
                <a:gd name="connsiteX48" fmla="*/ 222813 w 483894"/>
                <a:gd name="connsiteY48" fmla="*/ 124487 h 608391"/>
                <a:gd name="connsiteX49" fmla="*/ 202278 w 483894"/>
                <a:gd name="connsiteY49" fmla="*/ 119508 h 608391"/>
                <a:gd name="connsiteX50" fmla="*/ 194945 w 483894"/>
                <a:gd name="connsiteY50" fmla="*/ 151729 h 608391"/>
                <a:gd name="connsiteX51" fmla="*/ 215479 w 483894"/>
                <a:gd name="connsiteY51" fmla="*/ 156416 h 608391"/>
                <a:gd name="connsiteX52" fmla="*/ 221346 w 483894"/>
                <a:gd name="connsiteY52" fmla="*/ 190394 h 608391"/>
                <a:gd name="connsiteX53" fmla="*/ 203452 w 483894"/>
                <a:gd name="connsiteY53" fmla="*/ 201525 h 608391"/>
                <a:gd name="connsiteX54" fmla="*/ 220759 w 483894"/>
                <a:gd name="connsiteY54" fmla="*/ 229353 h 608391"/>
                <a:gd name="connsiteX55" fmla="*/ 238654 w 483894"/>
                <a:gd name="connsiteY55" fmla="*/ 218222 h 608391"/>
                <a:gd name="connsiteX56" fmla="*/ 266815 w 483894"/>
                <a:gd name="connsiteY56" fmla="*/ 238433 h 608391"/>
                <a:gd name="connsiteX57" fmla="*/ 262122 w 483894"/>
                <a:gd name="connsiteY57" fmla="*/ 258645 h 608391"/>
                <a:gd name="connsiteX58" fmla="*/ 294097 w 483894"/>
                <a:gd name="connsiteY58" fmla="*/ 265968 h 608391"/>
                <a:gd name="connsiteX59" fmla="*/ 298791 w 483894"/>
                <a:gd name="connsiteY59" fmla="*/ 245756 h 608391"/>
                <a:gd name="connsiteX60" fmla="*/ 333112 w 483894"/>
                <a:gd name="connsiteY60" fmla="*/ 239898 h 608391"/>
                <a:gd name="connsiteX61" fmla="*/ 343966 w 483894"/>
                <a:gd name="connsiteY61" fmla="*/ 257766 h 608391"/>
                <a:gd name="connsiteX62" fmla="*/ 371835 w 483894"/>
                <a:gd name="connsiteY62" fmla="*/ 240191 h 608391"/>
                <a:gd name="connsiteX63" fmla="*/ 360687 w 483894"/>
                <a:gd name="connsiteY63" fmla="*/ 222615 h 608391"/>
                <a:gd name="connsiteX64" fmla="*/ 380928 w 483894"/>
                <a:gd name="connsiteY64" fmla="*/ 194495 h 608391"/>
                <a:gd name="connsiteX65" fmla="*/ 401463 w 483894"/>
                <a:gd name="connsiteY65" fmla="*/ 199182 h 608391"/>
                <a:gd name="connsiteX66" fmla="*/ 408797 w 483894"/>
                <a:gd name="connsiteY66" fmla="*/ 167254 h 608391"/>
                <a:gd name="connsiteX67" fmla="*/ 388262 w 483894"/>
                <a:gd name="connsiteY67" fmla="*/ 162567 h 608391"/>
                <a:gd name="connsiteX68" fmla="*/ 382689 w 483894"/>
                <a:gd name="connsiteY68" fmla="*/ 128295 h 608391"/>
                <a:gd name="connsiteX69" fmla="*/ 400290 w 483894"/>
                <a:gd name="connsiteY69" fmla="*/ 117164 h 608391"/>
                <a:gd name="connsiteX70" fmla="*/ 382982 w 483894"/>
                <a:gd name="connsiteY70" fmla="*/ 89337 h 608391"/>
                <a:gd name="connsiteX71" fmla="*/ 365088 w 483894"/>
                <a:gd name="connsiteY71" fmla="*/ 100468 h 608391"/>
                <a:gd name="connsiteX72" fmla="*/ 336926 w 483894"/>
                <a:gd name="connsiteY72" fmla="*/ 80549 h 608391"/>
                <a:gd name="connsiteX73" fmla="*/ 341620 w 483894"/>
                <a:gd name="connsiteY73" fmla="*/ 60045 h 608391"/>
                <a:gd name="connsiteX74" fmla="*/ 227919 w 483894"/>
                <a:gd name="connsiteY74" fmla="*/ 591 h 608391"/>
                <a:gd name="connsiteX75" fmla="*/ 306124 w 483894"/>
                <a:gd name="connsiteY75" fmla="*/ 3804 h 608391"/>
                <a:gd name="connsiteX76" fmla="*/ 483308 w 483894"/>
                <a:gd name="connsiteY76" fmla="*/ 197717 h 608391"/>
                <a:gd name="connsiteX77" fmla="*/ 387382 w 483894"/>
                <a:gd name="connsiteY77" fmla="*/ 442305 h 608391"/>
                <a:gd name="connsiteX78" fmla="*/ 483894 w 483894"/>
                <a:gd name="connsiteY78" fmla="*/ 608391 h 608391"/>
                <a:gd name="connsiteX79" fmla="*/ 143902 w 483894"/>
                <a:gd name="connsiteY79" fmla="*/ 608391 h 608391"/>
                <a:gd name="connsiteX80" fmla="*/ 181744 w 483894"/>
                <a:gd name="connsiteY80" fmla="*/ 512899 h 608391"/>
                <a:gd name="connsiteX81" fmla="*/ 108993 w 483894"/>
                <a:gd name="connsiteY81" fmla="*/ 524909 h 608391"/>
                <a:gd name="connsiteX82" fmla="*/ 54137 w 483894"/>
                <a:gd name="connsiteY82" fmla="*/ 498839 h 608391"/>
                <a:gd name="connsiteX83" fmla="*/ 57657 w 483894"/>
                <a:gd name="connsiteY83" fmla="*/ 454022 h 608391"/>
                <a:gd name="connsiteX84" fmla="*/ 38589 w 483894"/>
                <a:gd name="connsiteY84" fmla="*/ 405690 h 608391"/>
                <a:gd name="connsiteX85" fmla="*/ 42109 w 483894"/>
                <a:gd name="connsiteY85" fmla="*/ 376984 h 608391"/>
                <a:gd name="connsiteX86" fmla="*/ 160 w 483894"/>
                <a:gd name="connsiteY86" fmla="*/ 355308 h 608391"/>
                <a:gd name="connsiteX87" fmla="*/ 52670 w 483894"/>
                <a:gd name="connsiteY87" fmla="*/ 255130 h 608391"/>
                <a:gd name="connsiteX88" fmla="*/ 38003 w 483894"/>
                <a:gd name="connsiteY88" fmla="*/ 222908 h 608391"/>
                <a:gd name="connsiteX89" fmla="*/ 74378 w 483894"/>
                <a:gd name="connsiteY89" fmla="*/ 82893 h 608391"/>
                <a:gd name="connsiteX90" fmla="*/ 227919 w 483894"/>
                <a:gd name="connsiteY90" fmla="*/ 591 h 608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483894" h="608391">
                  <a:moveTo>
                    <a:pt x="332813" y="285272"/>
                  </a:moveTo>
                  <a:cubicBezTo>
                    <a:pt x="353702" y="285272"/>
                    <a:pt x="370636" y="302253"/>
                    <a:pt x="370636" y="323201"/>
                  </a:cubicBezTo>
                  <a:cubicBezTo>
                    <a:pt x="370636" y="344149"/>
                    <a:pt x="353702" y="361130"/>
                    <a:pt x="332813" y="361130"/>
                  </a:cubicBezTo>
                  <a:cubicBezTo>
                    <a:pt x="311924" y="361130"/>
                    <a:pt x="294990" y="344149"/>
                    <a:pt x="294990" y="323201"/>
                  </a:cubicBezTo>
                  <a:cubicBezTo>
                    <a:pt x="294990" y="302253"/>
                    <a:pt x="311924" y="285272"/>
                    <a:pt x="332813" y="285272"/>
                  </a:cubicBezTo>
                  <a:close/>
                  <a:moveTo>
                    <a:pt x="329299" y="254544"/>
                  </a:moveTo>
                  <a:lnTo>
                    <a:pt x="308471" y="258937"/>
                  </a:lnTo>
                  <a:lnTo>
                    <a:pt x="311405" y="272119"/>
                  </a:lnTo>
                  <a:cubicBezTo>
                    <a:pt x="304364" y="275048"/>
                    <a:pt x="298204" y="279149"/>
                    <a:pt x="292924" y="284422"/>
                  </a:cubicBezTo>
                  <a:lnTo>
                    <a:pt x="281776" y="277099"/>
                  </a:lnTo>
                  <a:lnTo>
                    <a:pt x="270042" y="294967"/>
                  </a:lnTo>
                  <a:lnTo>
                    <a:pt x="281483" y="302290"/>
                  </a:lnTo>
                  <a:cubicBezTo>
                    <a:pt x="278549" y="309027"/>
                    <a:pt x="277083" y="316350"/>
                    <a:pt x="277376" y="323966"/>
                  </a:cubicBezTo>
                  <a:lnTo>
                    <a:pt x="264175" y="326895"/>
                  </a:lnTo>
                  <a:lnTo>
                    <a:pt x="268282" y="347399"/>
                  </a:lnTo>
                  <a:lnTo>
                    <a:pt x="281483" y="344763"/>
                  </a:lnTo>
                  <a:cubicBezTo>
                    <a:pt x="284416" y="351793"/>
                    <a:pt x="288817" y="357944"/>
                    <a:pt x="294097" y="363217"/>
                  </a:cubicBezTo>
                  <a:lnTo>
                    <a:pt x="286763" y="374348"/>
                  </a:lnTo>
                  <a:lnTo>
                    <a:pt x="304364" y="385772"/>
                  </a:lnTo>
                  <a:lnTo>
                    <a:pt x="311698" y="374641"/>
                  </a:lnTo>
                  <a:cubicBezTo>
                    <a:pt x="318738" y="377570"/>
                    <a:pt x="326072" y="378742"/>
                    <a:pt x="333699" y="378742"/>
                  </a:cubicBezTo>
                  <a:lnTo>
                    <a:pt x="336633" y="391923"/>
                  </a:lnTo>
                  <a:lnTo>
                    <a:pt x="357167" y="387529"/>
                  </a:lnTo>
                  <a:lnTo>
                    <a:pt x="354527" y="374348"/>
                  </a:lnTo>
                  <a:cubicBezTo>
                    <a:pt x="361274" y="371419"/>
                    <a:pt x="367728" y="367318"/>
                    <a:pt x="372715" y="362045"/>
                  </a:cubicBezTo>
                  <a:lnTo>
                    <a:pt x="384155" y="369368"/>
                  </a:lnTo>
                  <a:lnTo>
                    <a:pt x="395596" y="351500"/>
                  </a:lnTo>
                  <a:lnTo>
                    <a:pt x="384449" y="344177"/>
                  </a:lnTo>
                  <a:cubicBezTo>
                    <a:pt x="387089" y="337440"/>
                    <a:pt x="388556" y="330117"/>
                    <a:pt x="388556" y="322208"/>
                  </a:cubicBezTo>
                  <a:lnTo>
                    <a:pt x="401756" y="319572"/>
                  </a:lnTo>
                  <a:lnTo>
                    <a:pt x="397356" y="299068"/>
                  </a:lnTo>
                  <a:lnTo>
                    <a:pt x="384155" y="301704"/>
                  </a:lnTo>
                  <a:cubicBezTo>
                    <a:pt x="381222" y="294674"/>
                    <a:pt x="376822" y="288522"/>
                    <a:pt x="371541" y="283250"/>
                  </a:cubicBezTo>
                  <a:lnTo>
                    <a:pt x="378875" y="272119"/>
                  </a:lnTo>
                  <a:lnTo>
                    <a:pt x="361274" y="260695"/>
                  </a:lnTo>
                  <a:lnTo>
                    <a:pt x="353940" y="271826"/>
                  </a:lnTo>
                  <a:cubicBezTo>
                    <a:pt x="347193" y="268897"/>
                    <a:pt x="339566" y="267432"/>
                    <a:pt x="331939" y="267725"/>
                  </a:cubicBezTo>
                  <a:close/>
                  <a:moveTo>
                    <a:pt x="302012" y="100461"/>
                  </a:moveTo>
                  <a:cubicBezTo>
                    <a:pt x="334574" y="100461"/>
                    <a:pt x="360970" y="126826"/>
                    <a:pt x="360970" y="159348"/>
                  </a:cubicBezTo>
                  <a:cubicBezTo>
                    <a:pt x="360970" y="191870"/>
                    <a:pt x="334574" y="218235"/>
                    <a:pt x="302012" y="218235"/>
                  </a:cubicBezTo>
                  <a:cubicBezTo>
                    <a:pt x="269450" y="218235"/>
                    <a:pt x="243054" y="191870"/>
                    <a:pt x="243054" y="159348"/>
                  </a:cubicBezTo>
                  <a:cubicBezTo>
                    <a:pt x="243054" y="126826"/>
                    <a:pt x="269450" y="100461"/>
                    <a:pt x="302012" y="100461"/>
                  </a:cubicBezTo>
                  <a:close/>
                  <a:moveTo>
                    <a:pt x="309644" y="52722"/>
                  </a:moveTo>
                  <a:lnTo>
                    <a:pt x="304951" y="72933"/>
                  </a:lnTo>
                  <a:cubicBezTo>
                    <a:pt x="293510" y="72640"/>
                    <a:pt x="282070" y="74398"/>
                    <a:pt x="270922" y="78792"/>
                  </a:cubicBezTo>
                  <a:lnTo>
                    <a:pt x="259775" y="60924"/>
                  </a:lnTo>
                  <a:lnTo>
                    <a:pt x="231907" y="78499"/>
                  </a:lnTo>
                  <a:lnTo>
                    <a:pt x="243054" y="96074"/>
                  </a:lnTo>
                  <a:cubicBezTo>
                    <a:pt x="234254" y="104276"/>
                    <a:pt x="227507" y="113942"/>
                    <a:pt x="222813" y="124487"/>
                  </a:cubicBezTo>
                  <a:lnTo>
                    <a:pt x="202278" y="119508"/>
                  </a:lnTo>
                  <a:lnTo>
                    <a:pt x="194945" y="151729"/>
                  </a:lnTo>
                  <a:lnTo>
                    <a:pt x="215479" y="156416"/>
                  </a:lnTo>
                  <a:cubicBezTo>
                    <a:pt x="214892" y="167839"/>
                    <a:pt x="216946" y="179263"/>
                    <a:pt x="221346" y="190394"/>
                  </a:cubicBezTo>
                  <a:lnTo>
                    <a:pt x="203452" y="201525"/>
                  </a:lnTo>
                  <a:lnTo>
                    <a:pt x="220759" y="229353"/>
                  </a:lnTo>
                  <a:lnTo>
                    <a:pt x="238654" y="218222"/>
                  </a:lnTo>
                  <a:cubicBezTo>
                    <a:pt x="246574" y="227009"/>
                    <a:pt x="256255" y="233746"/>
                    <a:pt x="266815" y="238433"/>
                  </a:cubicBezTo>
                  <a:lnTo>
                    <a:pt x="262122" y="258645"/>
                  </a:lnTo>
                  <a:lnTo>
                    <a:pt x="294097" y="265968"/>
                  </a:lnTo>
                  <a:lnTo>
                    <a:pt x="298791" y="245756"/>
                  </a:lnTo>
                  <a:cubicBezTo>
                    <a:pt x="310231" y="246049"/>
                    <a:pt x="321965" y="244292"/>
                    <a:pt x="333112" y="239898"/>
                  </a:cubicBezTo>
                  <a:lnTo>
                    <a:pt x="343966" y="257766"/>
                  </a:lnTo>
                  <a:lnTo>
                    <a:pt x="371835" y="240191"/>
                  </a:lnTo>
                  <a:lnTo>
                    <a:pt x="360687" y="222615"/>
                  </a:lnTo>
                  <a:cubicBezTo>
                    <a:pt x="369488" y="214414"/>
                    <a:pt x="376235" y="204747"/>
                    <a:pt x="380928" y="194495"/>
                  </a:cubicBezTo>
                  <a:lnTo>
                    <a:pt x="401463" y="199182"/>
                  </a:lnTo>
                  <a:lnTo>
                    <a:pt x="408797" y="167254"/>
                  </a:lnTo>
                  <a:lnTo>
                    <a:pt x="388262" y="162567"/>
                  </a:lnTo>
                  <a:cubicBezTo>
                    <a:pt x="388849" y="151143"/>
                    <a:pt x="386795" y="139426"/>
                    <a:pt x="382689" y="128295"/>
                  </a:cubicBezTo>
                  <a:lnTo>
                    <a:pt x="400290" y="117164"/>
                  </a:lnTo>
                  <a:lnTo>
                    <a:pt x="382982" y="89337"/>
                  </a:lnTo>
                  <a:lnTo>
                    <a:pt x="365088" y="100468"/>
                  </a:lnTo>
                  <a:cubicBezTo>
                    <a:pt x="357167" y="91973"/>
                    <a:pt x="347487" y="84943"/>
                    <a:pt x="336926" y="80549"/>
                  </a:cubicBezTo>
                  <a:lnTo>
                    <a:pt x="341620" y="60045"/>
                  </a:lnTo>
                  <a:close/>
                  <a:moveTo>
                    <a:pt x="227919" y="591"/>
                  </a:moveTo>
                  <a:cubicBezTo>
                    <a:pt x="252020" y="-809"/>
                    <a:pt x="278183" y="289"/>
                    <a:pt x="306124" y="3804"/>
                  </a:cubicBezTo>
                  <a:cubicBezTo>
                    <a:pt x="417597" y="17864"/>
                    <a:pt x="483014" y="130053"/>
                    <a:pt x="483308" y="197717"/>
                  </a:cubicBezTo>
                  <a:cubicBezTo>
                    <a:pt x="483894" y="332167"/>
                    <a:pt x="388556" y="393974"/>
                    <a:pt x="387382" y="442305"/>
                  </a:cubicBezTo>
                  <a:cubicBezTo>
                    <a:pt x="385329" y="529010"/>
                    <a:pt x="483894" y="608391"/>
                    <a:pt x="483894" y="608391"/>
                  </a:cubicBezTo>
                  <a:lnTo>
                    <a:pt x="143902" y="608391"/>
                  </a:lnTo>
                  <a:cubicBezTo>
                    <a:pt x="143902" y="608391"/>
                    <a:pt x="208439" y="575877"/>
                    <a:pt x="181744" y="512899"/>
                  </a:cubicBezTo>
                  <a:cubicBezTo>
                    <a:pt x="169717" y="514950"/>
                    <a:pt x="135688" y="521394"/>
                    <a:pt x="108993" y="524909"/>
                  </a:cubicBezTo>
                  <a:cubicBezTo>
                    <a:pt x="82298" y="528424"/>
                    <a:pt x="59124" y="512313"/>
                    <a:pt x="54137" y="498839"/>
                  </a:cubicBezTo>
                  <a:cubicBezTo>
                    <a:pt x="49443" y="485658"/>
                    <a:pt x="63817" y="461638"/>
                    <a:pt x="57657" y="454022"/>
                  </a:cubicBezTo>
                  <a:cubicBezTo>
                    <a:pt x="51790" y="446406"/>
                    <a:pt x="31549" y="424437"/>
                    <a:pt x="38589" y="405690"/>
                  </a:cubicBezTo>
                  <a:cubicBezTo>
                    <a:pt x="45630" y="386651"/>
                    <a:pt x="42109" y="376984"/>
                    <a:pt x="42109" y="376984"/>
                  </a:cubicBezTo>
                  <a:cubicBezTo>
                    <a:pt x="42109" y="376984"/>
                    <a:pt x="3681" y="369368"/>
                    <a:pt x="160" y="355308"/>
                  </a:cubicBezTo>
                  <a:cubicBezTo>
                    <a:pt x="-3360" y="341248"/>
                    <a:pt x="52670" y="255130"/>
                    <a:pt x="52670" y="255130"/>
                  </a:cubicBezTo>
                  <a:cubicBezTo>
                    <a:pt x="52670" y="255130"/>
                    <a:pt x="40936" y="234332"/>
                    <a:pt x="38003" y="222908"/>
                  </a:cubicBezTo>
                  <a:cubicBezTo>
                    <a:pt x="35362" y="211777"/>
                    <a:pt x="38003" y="151436"/>
                    <a:pt x="74378" y="82893"/>
                  </a:cubicBezTo>
                  <a:cubicBezTo>
                    <a:pt x="101880" y="31485"/>
                    <a:pt x="155618" y="4793"/>
                    <a:pt x="227919" y="591"/>
                  </a:cubicBezTo>
                  <a:close/>
                </a:path>
              </a:pathLst>
            </a:custGeom>
            <a:solidFill>
              <a:srgbClr val="0F73EE"/>
            </a:solidFill>
            <a:ln>
              <a:noFill/>
            </a:ln>
          </p:spPr>
        </p:sp>
        <p:sp>
          <p:nvSpPr>
            <p:cNvPr id="39" name="矩形: 圆角 85"/>
            <p:cNvSpPr/>
            <p:nvPr/>
          </p:nvSpPr>
          <p:spPr>
            <a:xfrm>
              <a:off x="6096000" y="892151"/>
              <a:ext cx="4361448" cy="617070"/>
            </a:xfrm>
            <a:prstGeom prst="roundRect">
              <a:avLst>
                <a:gd name="adj" fmla="val 14295"/>
              </a:avLst>
            </a:prstGeom>
            <a:solidFill>
              <a:schemeClr val="bg1">
                <a:alpha val="70000"/>
              </a:schemeClr>
            </a:solidFill>
            <a:ln w="127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sym typeface="+mn-lt"/>
                </a:rPr>
                <a:t>4.8 消除入侵踪迹</a:t>
              </a:r>
              <a:endParaRPr lang="zh-CN" altLang="en-US" sz="2400" b="1" dirty="0">
                <a:solidFill>
                  <a:schemeClr val="tx1"/>
                </a:solidFill>
                <a:latin typeface="黑体" panose="02010609060101010101" pitchFamily="49" charset="-122"/>
                <a:ea typeface="黑体" panose="02010609060101010101" pitchFamily="49" charset="-122"/>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750" fill="hold"/>
                                        <p:tgtEl>
                                          <p:spTgt spid="20"/>
                                        </p:tgtEl>
                                        <p:attrNameLst>
                                          <p:attrName>ppt_w</p:attrName>
                                        </p:attrNameLst>
                                      </p:cBhvr>
                                      <p:tavLst>
                                        <p:tav tm="0">
                                          <p:val>
                                            <p:fltVal val="0"/>
                                          </p:val>
                                        </p:tav>
                                        <p:tav tm="100000">
                                          <p:val>
                                            <p:strVal val="#ppt_w"/>
                                          </p:val>
                                        </p:tav>
                                      </p:tavLst>
                                    </p:anim>
                                    <p:anim calcmode="lin" valueType="num">
                                      <p:cBhvr>
                                        <p:cTn id="8" dur="750" fill="hold"/>
                                        <p:tgtEl>
                                          <p:spTgt spid="20"/>
                                        </p:tgtEl>
                                        <p:attrNameLst>
                                          <p:attrName>ppt_h</p:attrName>
                                        </p:attrNameLst>
                                      </p:cBhvr>
                                      <p:tavLst>
                                        <p:tav tm="0">
                                          <p:val>
                                            <p:fltVal val="0"/>
                                          </p:val>
                                        </p:tav>
                                        <p:tav tm="100000">
                                          <p:val>
                                            <p:strVal val="#ppt_h"/>
                                          </p:val>
                                        </p:tav>
                                      </p:tavLst>
                                    </p:anim>
                                    <p:animEffect transition="in" filter="fade">
                                      <p:cBhvr>
                                        <p:cTn id="9" dur="750"/>
                                        <p:tgtEl>
                                          <p:spTgt spid="20"/>
                                        </p:tgtEl>
                                      </p:cBhvr>
                                    </p:animEffect>
                                  </p:childTnLst>
                                </p:cTn>
                              </p:par>
                              <p:par>
                                <p:cTn id="10" presetID="22" presetClass="entr" presetSubtype="8" fill="hold" grpId="0" nodeType="withEffect">
                                  <p:stCondLst>
                                    <p:cond delay="30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1000"/>
                            </p:stCondLst>
                            <p:childTnLst>
                              <p:par>
                                <p:cTn id="14" presetID="17" presetClass="entr" presetSubtype="8" fill="hold" nodeType="afterEffect">
                                  <p:stCondLst>
                                    <p:cond delay="0"/>
                                  </p:stCondLst>
                                  <p:childTnLst>
                                    <p:set>
                                      <p:cBhvr>
                                        <p:cTn id="15" dur="1" fill="hold">
                                          <p:stCondLst>
                                            <p:cond delay="0"/>
                                          </p:stCondLst>
                                        </p:cTn>
                                        <p:tgtEl>
                                          <p:spTgt spid="38"/>
                                        </p:tgtEl>
                                        <p:attrNameLst>
                                          <p:attrName>style.visibility</p:attrName>
                                        </p:attrNameLst>
                                      </p:cBhvr>
                                      <p:to>
                                        <p:strVal val="visible"/>
                                      </p:to>
                                    </p:set>
                                    <p:anim calcmode="lin" valueType="num">
                                      <p:cBhvr>
                                        <p:cTn id="16" dur="500" fill="hold"/>
                                        <p:tgtEl>
                                          <p:spTgt spid="38"/>
                                        </p:tgtEl>
                                        <p:attrNameLst>
                                          <p:attrName>ppt_x</p:attrName>
                                        </p:attrNameLst>
                                      </p:cBhvr>
                                      <p:tavLst>
                                        <p:tav tm="0">
                                          <p:val>
                                            <p:strVal val="#ppt_x-#ppt_w/2"/>
                                          </p:val>
                                        </p:tav>
                                        <p:tav tm="100000">
                                          <p:val>
                                            <p:strVal val="#ppt_x"/>
                                          </p:val>
                                        </p:tav>
                                      </p:tavLst>
                                    </p:anim>
                                    <p:anim calcmode="lin" valueType="num">
                                      <p:cBhvr>
                                        <p:cTn id="17" dur="500" fill="hold"/>
                                        <p:tgtEl>
                                          <p:spTgt spid="38"/>
                                        </p:tgtEl>
                                        <p:attrNameLst>
                                          <p:attrName>ppt_y</p:attrName>
                                        </p:attrNameLst>
                                      </p:cBhvr>
                                      <p:tavLst>
                                        <p:tav tm="0">
                                          <p:val>
                                            <p:strVal val="#ppt_y"/>
                                          </p:val>
                                        </p:tav>
                                        <p:tav tm="100000">
                                          <p:val>
                                            <p:strVal val="#ppt_y"/>
                                          </p:val>
                                        </p:tav>
                                      </p:tavLst>
                                    </p:anim>
                                    <p:anim calcmode="lin" valueType="num">
                                      <p:cBhvr>
                                        <p:cTn id="18" dur="500" fill="hold"/>
                                        <p:tgtEl>
                                          <p:spTgt spid="38"/>
                                        </p:tgtEl>
                                        <p:attrNameLst>
                                          <p:attrName>ppt_w</p:attrName>
                                        </p:attrNameLst>
                                      </p:cBhvr>
                                      <p:tavLst>
                                        <p:tav tm="0">
                                          <p:val>
                                            <p:fltVal val="0"/>
                                          </p:val>
                                        </p:tav>
                                        <p:tav tm="100000">
                                          <p:val>
                                            <p:strVal val="#ppt_w"/>
                                          </p:val>
                                        </p:tav>
                                      </p:tavLst>
                                    </p:anim>
                                    <p:anim calcmode="lin" valueType="num">
                                      <p:cBhvr>
                                        <p:cTn id="19" dur="500" fill="hold"/>
                                        <p:tgtEl>
                                          <p:spTgt spid="38"/>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8"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 calcmode="lin" valueType="num">
                                      <p:cBhvr>
                                        <p:cTn id="23" dur="500" fill="hold"/>
                                        <p:tgtEl>
                                          <p:spTgt spid="67"/>
                                        </p:tgtEl>
                                        <p:attrNameLst>
                                          <p:attrName>ppt_x</p:attrName>
                                        </p:attrNameLst>
                                      </p:cBhvr>
                                      <p:tavLst>
                                        <p:tav tm="0">
                                          <p:val>
                                            <p:strVal val="#ppt_x-#ppt_w/2"/>
                                          </p:val>
                                        </p:tav>
                                        <p:tav tm="100000">
                                          <p:val>
                                            <p:strVal val="#ppt_x"/>
                                          </p:val>
                                        </p:tav>
                                      </p:tavLst>
                                    </p:anim>
                                    <p:anim calcmode="lin" valueType="num">
                                      <p:cBhvr>
                                        <p:cTn id="24" dur="500" fill="hold"/>
                                        <p:tgtEl>
                                          <p:spTgt spid="67"/>
                                        </p:tgtEl>
                                        <p:attrNameLst>
                                          <p:attrName>ppt_y</p:attrName>
                                        </p:attrNameLst>
                                      </p:cBhvr>
                                      <p:tavLst>
                                        <p:tav tm="0">
                                          <p:val>
                                            <p:strVal val="#ppt_y"/>
                                          </p:val>
                                        </p:tav>
                                        <p:tav tm="100000">
                                          <p:val>
                                            <p:strVal val="#ppt_y"/>
                                          </p:val>
                                        </p:tav>
                                      </p:tavLst>
                                    </p:anim>
                                    <p:anim calcmode="lin" valueType="num">
                                      <p:cBhvr>
                                        <p:cTn id="25" dur="500" fill="hold"/>
                                        <p:tgtEl>
                                          <p:spTgt spid="67"/>
                                        </p:tgtEl>
                                        <p:attrNameLst>
                                          <p:attrName>ppt_w</p:attrName>
                                        </p:attrNameLst>
                                      </p:cBhvr>
                                      <p:tavLst>
                                        <p:tav tm="0">
                                          <p:val>
                                            <p:fltVal val="0"/>
                                          </p:val>
                                        </p:tav>
                                        <p:tav tm="100000">
                                          <p:val>
                                            <p:strVal val="#ppt_w"/>
                                          </p:val>
                                        </p:tav>
                                      </p:tavLst>
                                    </p:anim>
                                    <p:anim calcmode="lin" valueType="num">
                                      <p:cBhvr>
                                        <p:cTn id="26" dur="500" fill="hold"/>
                                        <p:tgtEl>
                                          <p:spTgt spid="67"/>
                                        </p:tgtEl>
                                        <p:attrNameLst>
                                          <p:attrName>ppt_h</p:attrName>
                                        </p:attrNameLst>
                                      </p:cBhvr>
                                      <p:tavLst>
                                        <p:tav tm="0">
                                          <p:val>
                                            <p:strVal val="#ppt_h"/>
                                          </p:val>
                                        </p:tav>
                                        <p:tav tm="100000">
                                          <p:val>
                                            <p:strVal val="#ppt_h"/>
                                          </p:val>
                                        </p:tav>
                                      </p:tavLst>
                                    </p:anim>
                                  </p:childTnLst>
                                </p:cTn>
                              </p:par>
                            </p:childTnLst>
                          </p:cTn>
                        </p:par>
                        <p:par>
                          <p:cTn id="27" fill="hold">
                            <p:stCondLst>
                              <p:cond delay="2000"/>
                            </p:stCondLst>
                            <p:childTnLst>
                              <p:par>
                                <p:cTn id="28" presetID="17" presetClass="entr" presetSubtype="8" fill="hold" nodeType="afterEffect">
                                  <p:stCondLst>
                                    <p:cond delay="0"/>
                                  </p:stCondLst>
                                  <p:childTnLst>
                                    <p:set>
                                      <p:cBhvr>
                                        <p:cTn id="29" dur="1" fill="hold">
                                          <p:stCondLst>
                                            <p:cond delay="0"/>
                                          </p:stCondLst>
                                        </p:cTn>
                                        <p:tgtEl>
                                          <p:spTgt spid="71"/>
                                        </p:tgtEl>
                                        <p:attrNameLst>
                                          <p:attrName>style.visibility</p:attrName>
                                        </p:attrNameLst>
                                      </p:cBhvr>
                                      <p:to>
                                        <p:strVal val="visible"/>
                                      </p:to>
                                    </p:set>
                                    <p:anim calcmode="lin" valueType="num">
                                      <p:cBhvr>
                                        <p:cTn id="30" dur="500" fill="hold"/>
                                        <p:tgtEl>
                                          <p:spTgt spid="71"/>
                                        </p:tgtEl>
                                        <p:attrNameLst>
                                          <p:attrName>ppt_x</p:attrName>
                                        </p:attrNameLst>
                                      </p:cBhvr>
                                      <p:tavLst>
                                        <p:tav tm="0">
                                          <p:val>
                                            <p:strVal val="#ppt_x-#ppt_w/2"/>
                                          </p:val>
                                        </p:tav>
                                        <p:tav tm="100000">
                                          <p:val>
                                            <p:strVal val="#ppt_x"/>
                                          </p:val>
                                        </p:tav>
                                      </p:tavLst>
                                    </p:anim>
                                    <p:anim calcmode="lin" valueType="num">
                                      <p:cBhvr>
                                        <p:cTn id="31" dur="500" fill="hold"/>
                                        <p:tgtEl>
                                          <p:spTgt spid="71"/>
                                        </p:tgtEl>
                                        <p:attrNameLst>
                                          <p:attrName>ppt_y</p:attrName>
                                        </p:attrNameLst>
                                      </p:cBhvr>
                                      <p:tavLst>
                                        <p:tav tm="0">
                                          <p:val>
                                            <p:strVal val="#ppt_y"/>
                                          </p:val>
                                        </p:tav>
                                        <p:tav tm="100000">
                                          <p:val>
                                            <p:strVal val="#ppt_y"/>
                                          </p:val>
                                        </p:tav>
                                      </p:tavLst>
                                    </p:anim>
                                    <p:anim calcmode="lin" valueType="num">
                                      <p:cBhvr>
                                        <p:cTn id="32" dur="500" fill="hold"/>
                                        <p:tgtEl>
                                          <p:spTgt spid="71"/>
                                        </p:tgtEl>
                                        <p:attrNameLst>
                                          <p:attrName>ppt_w</p:attrName>
                                        </p:attrNameLst>
                                      </p:cBhvr>
                                      <p:tavLst>
                                        <p:tav tm="0">
                                          <p:val>
                                            <p:fltVal val="0"/>
                                          </p:val>
                                        </p:tav>
                                        <p:tav tm="100000">
                                          <p:val>
                                            <p:strVal val="#ppt_w"/>
                                          </p:val>
                                        </p:tav>
                                      </p:tavLst>
                                    </p:anim>
                                    <p:anim calcmode="lin" valueType="num">
                                      <p:cBhvr>
                                        <p:cTn id="33" dur="500" fill="hold"/>
                                        <p:tgtEl>
                                          <p:spTgt spid="71"/>
                                        </p:tgtEl>
                                        <p:attrNameLst>
                                          <p:attrName>ppt_h</p:attrName>
                                        </p:attrNameLst>
                                      </p:cBhvr>
                                      <p:tavLst>
                                        <p:tav tm="0">
                                          <p:val>
                                            <p:strVal val="#ppt_h"/>
                                          </p:val>
                                        </p:tav>
                                        <p:tav tm="100000">
                                          <p:val>
                                            <p:strVal val="#ppt_h"/>
                                          </p:val>
                                        </p:tav>
                                      </p:tavLst>
                                    </p:anim>
                                  </p:childTnLst>
                                </p:cTn>
                              </p:par>
                            </p:childTnLst>
                          </p:cTn>
                        </p:par>
                        <p:par>
                          <p:cTn id="34" fill="hold">
                            <p:stCondLst>
                              <p:cond delay="2500"/>
                            </p:stCondLst>
                            <p:childTnLst>
                              <p:par>
                                <p:cTn id="35" presetID="17" presetClass="entr" presetSubtype="8" fill="hold" nodeType="afterEffect">
                                  <p:stCondLst>
                                    <p:cond delay="0"/>
                                  </p:stCondLst>
                                  <p:childTnLst>
                                    <p:set>
                                      <p:cBhvr>
                                        <p:cTn id="36" dur="1" fill="hold">
                                          <p:stCondLst>
                                            <p:cond delay="0"/>
                                          </p:stCondLst>
                                        </p:cTn>
                                        <p:tgtEl>
                                          <p:spTgt spid="75"/>
                                        </p:tgtEl>
                                        <p:attrNameLst>
                                          <p:attrName>style.visibility</p:attrName>
                                        </p:attrNameLst>
                                      </p:cBhvr>
                                      <p:to>
                                        <p:strVal val="visible"/>
                                      </p:to>
                                    </p:set>
                                    <p:anim calcmode="lin" valueType="num">
                                      <p:cBhvr>
                                        <p:cTn id="37" dur="500" fill="hold"/>
                                        <p:tgtEl>
                                          <p:spTgt spid="75"/>
                                        </p:tgtEl>
                                        <p:attrNameLst>
                                          <p:attrName>ppt_x</p:attrName>
                                        </p:attrNameLst>
                                      </p:cBhvr>
                                      <p:tavLst>
                                        <p:tav tm="0">
                                          <p:val>
                                            <p:strVal val="#ppt_x-#ppt_w/2"/>
                                          </p:val>
                                        </p:tav>
                                        <p:tav tm="100000">
                                          <p:val>
                                            <p:strVal val="#ppt_x"/>
                                          </p:val>
                                        </p:tav>
                                      </p:tavLst>
                                    </p:anim>
                                    <p:anim calcmode="lin" valueType="num">
                                      <p:cBhvr>
                                        <p:cTn id="38" dur="500" fill="hold"/>
                                        <p:tgtEl>
                                          <p:spTgt spid="75"/>
                                        </p:tgtEl>
                                        <p:attrNameLst>
                                          <p:attrName>ppt_y</p:attrName>
                                        </p:attrNameLst>
                                      </p:cBhvr>
                                      <p:tavLst>
                                        <p:tav tm="0">
                                          <p:val>
                                            <p:strVal val="#ppt_y"/>
                                          </p:val>
                                        </p:tav>
                                        <p:tav tm="100000">
                                          <p:val>
                                            <p:strVal val="#ppt_y"/>
                                          </p:val>
                                        </p:tav>
                                      </p:tavLst>
                                    </p:anim>
                                    <p:anim calcmode="lin" valueType="num">
                                      <p:cBhvr>
                                        <p:cTn id="39" dur="500" fill="hold"/>
                                        <p:tgtEl>
                                          <p:spTgt spid="75"/>
                                        </p:tgtEl>
                                        <p:attrNameLst>
                                          <p:attrName>ppt_w</p:attrName>
                                        </p:attrNameLst>
                                      </p:cBhvr>
                                      <p:tavLst>
                                        <p:tav tm="0">
                                          <p:val>
                                            <p:fltVal val="0"/>
                                          </p:val>
                                        </p:tav>
                                        <p:tav tm="100000">
                                          <p:val>
                                            <p:strVal val="#ppt_w"/>
                                          </p:val>
                                        </p:tav>
                                      </p:tavLst>
                                    </p:anim>
                                    <p:anim calcmode="lin" valueType="num">
                                      <p:cBhvr>
                                        <p:cTn id="40" dur="500" fill="hold"/>
                                        <p:tgtEl>
                                          <p:spTgt spid="75"/>
                                        </p:tgtEl>
                                        <p:attrNameLst>
                                          <p:attrName>ppt_h</p:attrName>
                                        </p:attrNameLst>
                                      </p:cBhvr>
                                      <p:tavLst>
                                        <p:tav tm="0">
                                          <p:val>
                                            <p:strVal val="#ppt_h"/>
                                          </p:val>
                                        </p:tav>
                                        <p:tav tm="100000">
                                          <p:val>
                                            <p:strVal val="#ppt_h"/>
                                          </p:val>
                                        </p:tav>
                                      </p:tavLst>
                                    </p:anim>
                                  </p:childTnLst>
                                </p:cTn>
                              </p:par>
                            </p:childTnLst>
                          </p:cTn>
                        </p:par>
                        <p:par>
                          <p:cTn id="41" fill="hold">
                            <p:stCondLst>
                              <p:cond delay="3000"/>
                            </p:stCondLst>
                            <p:childTnLst>
                              <p:par>
                                <p:cTn id="42" presetID="17" presetClass="entr" presetSubtype="8" fill="hold" nodeType="afterEffect">
                                  <p:stCondLst>
                                    <p:cond delay="0"/>
                                  </p:stCondLst>
                                  <p:childTnLst>
                                    <p:set>
                                      <p:cBhvr>
                                        <p:cTn id="43" dur="1" fill="hold">
                                          <p:stCondLst>
                                            <p:cond delay="0"/>
                                          </p:stCondLst>
                                        </p:cTn>
                                        <p:tgtEl>
                                          <p:spTgt spid="79"/>
                                        </p:tgtEl>
                                        <p:attrNameLst>
                                          <p:attrName>style.visibility</p:attrName>
                                        </p:attrNameLst>
                                      </p:cBhvr>
                                      <p:to>
                                        <p:strVal val="visible"/>
                                      </p:to>
                                    </p:set>
                                    <p:anim calcmode="lin" valueType="num">
                                      <p:cBhvr>
                                        <p:cTn id="44" dur="500" fill="hold"/>
                                        <p:tgtEl>
                                          <p:spTgt spid="79"/>
                                        </p:tgtEl>
                                        <p:attrNameLst>
                                          <p:attrName>ppt_x</p:attrName>
                                        </p:attrNameLst>
                                      </p:cBhvr>
                                      <p:tavLst>
                                        <p:tav tm="0">
                                          <p:val>
                                            <p:strVal val="#ppt_x-#ppt_w/2"/>
                                          </p:val>
                                        </p:tav>
                                        <p:tav tm="100000">
                                          <p:val>
                                            <p:strVal val="#ppt_x"/>
                                          </p:val>
                                        </p:tav>
                                      </p:tavLst>
                                    </p:anim>
                                    <p:anim calcmode="lin" valueType="num">
                                      <p:cBhvr>
                                        <p:cTn id="45" dur="500" fill="hold"/>
                                        <p:tgtEl>
                                          <p:spTgt spid="79"/>
                                        </p:tgtEl>
                                        <p:attrNameLst>
                                          <p:attrName>ppt_y</p:attrName>
                                        </p:attrNameLst>
                                      </p:cBhvr>
                                      <p:tavLst>
                                        <p:tav tm="0">
                                          <p:val>
                                            <p:strVal val="#ppt_y"/>
                                          </p:val>
                                        </p:tav>
                                        <p:tav tm="100000">
                                          <p:val>
                                            <p:strVal val="#ppt_y"/>
                                          </p:val>
                                        </p:tav>
                                      </p:tavLst>
                                    </p:anim>
                                    <p:anim calcmode="lin" valueType="num">
                                      <p:cBhvr>
                                        <p:cTn id="46" dur="500" fill="hold"/>
                                        <p:tgtEl>
                                          <p:spTgt spid="79"/>
                                        </p:tgtEl>
                                        <p:attrNameLst>
                                          <p:attrName>ppt_w</p:attrName>
                                        </p:attrNameLst>
                                      </p:cBhvr>
                                      <p:tavLst>
                                        <p:tav tm="0">
                                          <p:val>
                                            <p:fltVal val="0"/>
                                          </p:val>
                                        </p:tav>
                                        <p:tav tm="100000">
                                          <p:val>
                                            <p:strVal val="#ppt_w"/>
                                          </p:val>
                                        </p:tav>
                                      </p:tavLst>
                                    </p:anim>
                                    <p:anim calcmode="lin" valueType="num">
                                      <p:cBhvr>
                                        <p:cTn id="47" dur="500" fill="hold"/>
                                        <p:tgtEl>
                                          <p:spTgt spid="79"/>
                                        </p:tgtEl>
                                        <p:attrNameLst>
                                          <p:attrName>ppt_h</p:attrName>
                                        </p:attrNameLst>
                                      </p:cBhvr>
                                      <p:tavLst>
                                        <p:tav tm="0">
                                          <p:val>
                                            <p:strVal val="#ppt_h"/>
                                          </p:val>
                                        </p:tav>
                                        <p:tav tm="100000">
                                          <p:val>
                                            <p:strVal val="#ppt_h"/>
                                          </p:val>
                                        </p:tav>
                                      </p:tavLst>
                                    </p:anim>
                                  </p:childTnLst>
                                </p:cTn>
                              </p:par>
                            </p:childTnLst>
                          </p:cTn>
                        </p:par>
                        <p:par>
                          <p:cTn id="48" fill="hold">
                            <p:stCondLst>
                              <p:cond delay="3500"/>
                            </p:stCondLst>
                            <p:childTnLst>
                              <p:par>
                                <p:cTn id="49" presetID="17" presetClass="entr" presetSubtype="8" fill="hold" nodeType="afterEffect">
                                  <p:stCondLst>
                                    <p:cond delay="0"/>
                                  </p:stCondLst>
                                  <p:childTnLst>
                                    <p:set>
                                      <p:cBhvr>
                                        <p:cTn id="50" dur="1" fill="hold">
                                          <p:stCondLst>
                                            <p:cond delay="0"/>
                                          </p:stCondLst>
                                        </p:cTn>
                                        <p:tgtEl>
                                          <p:spTgt spid="83"/>
                                        </p:tgtEl>
                                        <p:attrNameLst>
                                          <p:attrName>style.visibility</p:attrName>
                                        </p:attrNameLst>
                                      </p:cBhvr>
                                      <p:to>
                                        <p:strVal val="visible"/>
                                      </p:to>
                                    </p:set>
                                    <p:anim calcmode="lin" valueType="num">
                                      <p:cBhvr>
                                        <p:cTn id="51" dur="500" fill="hold"/>
                                        <p:tgtEl>
                                          <p:spTgt spid="83"/>
                                        </p:tgtEl>
                                        <p:attrNameLst>
                                          <p:attrName>ppt_x</p:attrName>
                                        </p:attrNameLst>
                                      </p:cBhvr>
                                      <p:tavLst>
                                        <p:tav tm="0">
                                          <p:val>
                                            <p:strVal val="#ppt_x-#ppt_w/2"/>
                                          </p:val>
                                        </p:tav>
                                        <p:tav tm="100000">
                                          <p:val>
                                            <p:strVal val="#ppt_x"/>
                                          </p:val>
                                        </p:tav>
                                      </p:tavLst>
                                    </p:anim>
                                    <p:anim calcmode="lin" valueType="num">
                                      <p:cBhvr>
                                        <p:cTn id="52" dur="500" fill="hold"/>
                                        <p:tgtEl>
                                          <p:spTgt spid="83"/>
                                        </p:tgtEl>
                                        <p:attrNameLst>
                                          <p:attrName>ppt_y</p:attrName>
                                        </p:attrNameLst>
                                      </p:cBhvr>
                                      <p:tavLst>
                                        <p:tav tm="0">
                                          <p:val>
                                            <p:strVal val="#ppt_y"/>
                                          </p:val>
                                        </p:tav>
                                        <p:tav tm="100000">
                                          <p:val>
                                            <p:strVal val="#ppt_y"/>
                                          </p:val>
                                        </p:tav>
                                      </p:tavLst>
                                    </p:anim>
                                    <p:anim calcmode="lin" valueType="num">
                                      <p:cBhvr>
                                        <p:cTn id="53" dur="500" fill="hold"/>
                                        <p:tgtEl>
                                          <p:spTgt spid="83"/>
                                        </p:tgtEl>
                                        <p:attrNameLst>
                                          <p:attrName>ppt_w</p:attrName>
                                        </p:attrNameLst>
                                      </p:cBhvr>
                                      <p:tavLst>
                                        <p:tav tm="0">
                                          <p:val>
                                            <p:fltVal val="0"/>
                                          </p:val>
                                        </p:tav>
                                        <p:tav tm="100000">
                                          <p:val>
                                            <p:strVal val="#ppt_w"/>
                                          </p:val>
                                        </p:tav>
                                      </p:tavLst>
                                    </p:anim>
                                    <p:anim calcmode="lin" valueType="num">
                                      <p:cBhvr>
                                        <p:cTn id="54" dur="500" fill="hold"/>
                                        <p:tgtEl>
                                          <p:spTgt spid="83"/>
                                        </p:tgtEl>
                                        <p:attrNameLst>
                                          <p:attrName>ppt_h</p:attrName>
                                        </p:attrNameLst>
                                      </p:cBhvr>
                                      <p:tavLst>
                                        <p:tav tm="0">
                                          <p:val>
                                            <p:strVal val="#ppt_h"/>
                                          </p:val>
                                        </p:tav>
                                        <p:tav tm="100000">
                                          <p:val>
                                            <p:strVal val="#ppt_h"/>
                                          </p:val>
                                        </p:tav>
                                      </p:tavLst>
                                    </p:anim>
                                  </p:childTnLst>
                                </p:cTn>
                              </p:par>
                            </p:childTnLst>
                          </p:cTn>
                        </p:par>
                        <p:par>
                          <p:cTn id="55" fill="hold">
                            <p:stCondLst>
                              <p:cond delay="4000"/>
                            </p:stCondLst>
                            <p:childTnLst>
                              <p:par>
                                <p:cTn id="56" presetID="17" presetClass="entr" presetSubtype="8" fill="hold" nodeType="afterEffect">
                                  <p:stCondLst>
                                    <p:cond delay="0"/>
                                  </p:stCondLst>
                                  <p:childTnLst>
                                    <p:set>
                                      <p:cBhvr>
                                        <p:cTn id="57" dur="1" fill="hold">
                                          <p:stCondLst>
                                            <p:cond delay="0"/>
                                          </p:stCondLst>
                                        </p:cTn>
                                        <p:tgtEl>
                                          <p:spTgt spid="30"/>
                                        </p:tgtEl>
                                        <p:attrNameLst>
                                          <p:attrName>style.visibility</p:attrName>
                                        </p:attrNameLst>
                                      </p:cBhvr>
                                      <p:to>
                                        <p:strVal val="visible"/>
                                      </p:to>
                                    </p:set>
                                    <p:anim calcmode="lin" valueType="num">
                                      <p:cBhvr>
                                        <p:cTn id="58" dur="500" fill="hold"/>
                                        <p:tgtEl>
                                          <p:spTgt spid="30"/>
                                        </p:tgtEl>
                                        <p:attrNameLst>
                                          <p:attrName>ppt_x</p:attrName>
                                        </p:attrNameLst>
                                      </p:cBhvr>
                                      <p:tavLst>
                                        <p:tav tm="0">
                                          <p:val>
                                            <p:strVal val="#ppt_x-#ppt_w/2"/>
                                          </p:val>
                                        </p:tav>
                                        <p:tav tm="100000">
                                          <p:val>
                                            <p:strVal val="#ppt_x"/>
                                          </p:val>
                                        </p:tav>
                                      </p:tavLst>
                                    </p:anim>
                                    <p:anim calcmode="lin" valueType="num">
                                      <p:cBhvr>
                                        <p:cTn id="59" dur="500" fill="hold"/>
                                        <p:tgtEl>
                                          <p:spTgt spid="30"/>
                                        </p:tgtEl>
                                        <p:attrNameLst>
                                          <p:attrName>ppt_y</p:attrName>
                                        </p:attrNameLst>
                                      </p:cBhvr>
                                      <p:tavLst>
                                        <p:tav tm="0">
                                          <p:val>
                                            <p:strVal val="#ppt_y"/>
                                          </p:val>
                                        </p:tav>
                                        <p:tav tm="100000">
                                          <p:val>
                                            <p:strVal val="#ppt_y"/>
                                          </p:val>
                                        </p:tav>
                                      </p:tavLst>
                                    </p:anim>
                                    <p:anim calcmode="lin" valueType="num">
                                      <p:cBhvr>
                                        <p:cTn id="60" dur="500" fill="hold"/>
                                        <p:tgtEl>
                                          <p:spTgt spid="30"/>
                                        </p:tgtEl>
                                        <p:attrNameLst>
                                          <p:attrName>ppt_w</p:attrName>
                                        </p:attrNameLst>
                                      </p:cBhvr>
                                      <p:tavLst>
                                        <p:tav tm="0">
                                          <p:val>
                                            <p:fltVal val="0"/>
                                          </p:val>
                                        </p:tav>
                                        <p:tav tm="100000">
                                          <p:val>
                                            <p:strVal val="#ppt_w"/>
                                          </p:val>
                                        </p:tav>
                                      </p:tavLst>
                                    </p:anim>
                                    <p:anim calcmode="lin" valueType="num">
                                      <p:cBhvr>
                                        <p:cTn id="61" dur="500" fill="hold"/>
                                        <p:tgtEl>
                                          <p:spTgt spid="30"/>
                                        </p:tgtEl>
                                        <p:attrNameLst>
                                          <p:attrName>ppt_h</p:attrName>
                                        </p:attrNameLst>
                                      </p:cBhvr>
                                      <p:tavLst>
                                        <p:tav tm="0">
                                          <p:val>
                                            <p:strVal val="#ppt_h"/>
                                          </p:val>
                                        </p:tav>
                                        <p:tav tm="100000">
                                          <p:val>
                                            <p:strVal val="#ppt_h"/>
                                          </p:val>
                                        </p:tav>
                                      </p:tavLst>
                                    </p:anim>
                                  </p:childTnLst>
                                </p:cTn>
                              </p:par>
                            </p:childTnLst>
                          </p:cTn>
                        </p:par>
                        <p:par>
                          <p:cTn id="62" fill="hold">
                            <p:stCondLst>
                              <p:cond delay="4500"/>
                            </p:stCondLst>
                            <p:childTnLst>
                              <p:par>
                                <p:cTn id="63" presetID="17" presetClass="entr" presetSubtype="8" fill="hold" nodeType="afterEffect">
                                  <p:stCondLst>
                                    <p:cond delay="0"/>
                                  </p:stCondLst>
                                  <p:childTnLst>
                                    <p:set>
                                      <p:cBhvr>
                                        <p:cTn id="64" dur="1" fill="hold">
                                          <p:stCondLst>
                                            <p:cond delay="0"/>
                                          </p:stCondLst>
                                        </p:cTn>
                                        <p:tgtEl>
                                          <p:spTgt spid="34"/>
                                        </p:tgtEl>
                                        <p:attrNameLst>
                                          <p:attrName>style.visibility</p:attrName>
                                        </p:attrNameLst>
                                      </p:cBhvr>
                                      <p:to>
                                        <p:strVal val="visible"/>
                                      </p:to>
                                    </p:set>
                                    <p:anim calcmode="lin" valueType="num">
                                      <p:cBhvr>
                                        <p:cTn id="65" dur="500" fill="hold"/>
                                        <p:tgtEl>
                                          <p:spTgt spid="34"/>
                                        </p:tgtEl>
                                        <p:attrNameLst>
                                          <p:attrName>ppt_x</p:attrName>
                                        </p:attrNameLst>
                                      </p:cBhvr>
                                      <p:tavLst>
                                        <p:tav tm="0">
                                          <p:val>
                                            <p:strVal val="#ppt_x-#ppt_w/2"/>
                                          </p:val>
                                        </p:tav>
                                        <p:tav tm="100000">
                                          <p:val>
                                            <p:strVal val="#ppt_x"/>
                                          </p:val>
                                        </p:tav>
                                      </p:tavLst>
                                    </p:anim>
                                    <p:anim calcmode="lin" valueType="num">
                                      <p:cBhvr>
                                        <p:cTn id="66" dur="500" fill="hold"/>
                                        <p:tgtEl>
                                          <p:spTgt spid="34"/>
                                        </p:tgtEl>
                                        <p:attrNameLst>
                                          <p:attrName>ppt_y</p:attrName>
                                        </p:attrNameLst>
                                      </p:cBhvr>
                                      <p:tavLst>
                                        <p:tav tm="0">
                                          <p:val>
                                            <p:strVal val="#ppt_y"/>
                                          </p:val>
                                        </p:tav>
                                        <p:tav tm="100000">
                                          <p:val>
                                            <p:strVal val="#ppt_y"/>
                                          </p:val>
                                        </p:tav>
                                      </p:tavLst>
                                    </p:anim>
                                    <p:anim calcmode="lin" valueType="num">
                                      <p:cBhvr>
                                        <p:cTn id="67" dur="500" fill="hold"/>
                                        <p:tgtEl>
                                          <p:spTgt spid="34"/>
                                        </p:tgtEl>
                                        <p:attrNameLst>
                                          <p:attrName>ppt_w</p:attrName>
                                        </p:attrNameLst>
                                      </p:cBhvr>
                                      <p:tavLst>
                                        <p:tav tm="0">
                                          <p:val>
                                            <p:fltVal val="0"/>
                                          </p:val>
                                        </p:tav>
                                        <p:tav tm="100000">
                                          <p:val>
                                            <p:strVal val="#ppt_w"/>
                                          </p:val>
                                        </p:tav>
                                      </p:tavLst>
                                    </p:anim>
                                    <p:anim calcmode="lin" valueType="num">
                                      <p:cBhvr>
                                        <p:cTn id="68" dur="5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b="1" noProof="1">
                <a:solidFill>
                  <a:schemeClr val="tx2"/>
                </a:solidFill>
                <a:effectLst>
                  <a:outerShdw blurRad="38100" dist="38100" dir="2700000">
                    <a:srgbClr val="000000"/>
                  </a:outerShdw>
                </a:effectLst>
                <a:ea typeface="黑体" panose="02010609060101010101" pitchFamily="49" charset="-122"/>
              </a:rPr>
              <a:t>4.1 </a:t>
            </a:r>
            <a:r>
              <a:rPr lang="zh-CN" altLang="en-US" sz="4000" b="1" noProof="1">
                <a:solidFill>
                  <a:schemeClr val="tx2"/>
                </a:solidFill>
                <a:effectLst>
                  <a:outerShdw blurRad="38100" dist="38100" dir="2700000">
                    <a:srgbClr val="000000"/>
                  </a:outerShdw>
                </a:effectLst>
                <a:ea typeface="黑体" panose="02010609060101010101" pitchFamily="49" charset="-122"/>
              </a:rPr>
              <a:t>网络攻击概论</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文本占位符 31746"/>
          <p:cNvSpPr>
            <a:spLocks noGrp="1"/>
          </p:cNvSpPr>
          <p:nvPr>
            <p:ph idx="1"/>
          </p:nvPr>
        </p:nvSpPr>
        <p:spPr>
          <a:xfrm>
            <a:off x="2351088" y="2276476"/>
            <a:ext cx="7772400" cy="3243263"/>
          </a:xfrm>
        </p:spPr>
        <p:txBody>
          <a:bodyPr vert="horz" wrap="square" lIns="91440" tIns="45720" rIns="91440" bIns="45720" anchor="t"/>
          <a:lstStyle/>
          <a:p>
            <a:pPr marL="571500" indent="-571500" eaLnBrk="1" hangingPunct="1">
              <a:buFont typeface="Wingdings" panose="05000000000000000000" pitchFamily="2" charset="2"/>
              <a:buChar char="ü"/>
            </a:pPr>
            <a:r>
              <a:rPr lang="zh-CN" altLang="en-US" sz="3600" b="1" dirty="0">
                <a:latin typeface="黑体" panose="02010609060101010101" pitchFamily="49" charset="-122"/>
                <a:ea typeface="黑体" panose="02010609060101010101" pitchFamily="49" charset="-122"/>
              </a:rPr>
              <a:t>网络空间的构成与对抗模型 </a:t>
            </a:r>
          </a:p>
          <a:p>
            <a:pPr marL="571500" indent="-571500" eaLnBrk="1" hangingPunct="1">
              <a:buFont typeface="Wingdings" panose="05000000000000000000" pitchFamily="2" charset="2"/>
              <a:buChar char="ü"/>
            </a:pPr>
            <a:r>
              <a:rPr lang="zh-CN" altLang="en-US" sz="3600" b="1" dirty="0">
                <a:latin typeface="黑体" panose="02010609060101010101" pitchFamily="49" charset="-122"/>
                <a:ea typeface="黑体" panose="02010609060101010101" pitchFamily="49" charset="-122"/>
              </a:rPr>
              <a:t>可用的网络信息战手段探讨 </a:t>
            </a:r>
          </a:p>
          <a:p>
            <a:pPr marL="571500" indent="-571500" eaLnBrk="1" hangingPunct="1">
              <a:buFont typeface="Wingdings" panose="05000000000000000000" pitchFamily="2" charset="2"/>
              <a:buChar char="ü"/>
            </a:pPr>
            <a:r>
              <a:rPr lang="zh-CN" altLang="en-US" sz="3600" b="1" dirty="0">
                <a:latin typeface="黑体" panose="02010609060101010101" pitchFamily="49" charset="-122"/>
                <a:ea typeface="黑体" panose="02010609060101010101" pitchFamily="49" charset="-122"/>
              </a:rPr>
              <a:t>用于网络信息战的工具系列 </a:t>
            </a:r>
          </a:p>
          <a:p>
            <a:pPr marL="571500" indent="-571500" eaLnBrk="1" hangingPunct="1">
              <a:buFont typeface="Wingdings" panose="05000000000000000000" pitchFamily="2" charset="2"/>
              <a:buChar char="ü"/>
            </a:pPr>
            <a:r>
              <a:rPr lang="zh-CN" altLang="en-US" sz="3600" b="1" dirty="0">
                <a:latin typeface="黑体" panose="02010609060101010101" pitchFamily="49" charset="-122"/>
                <a:ea typeface="黑体" panose="02010609060101010101" pitchFamily="49" charset="-122"/>
              </a:rPr>
              <a:t>网络攻击基本过程</a:t>
            </a:r>
            <a:endParaRPr lang="en-US" altLang="zh-CN" sz="3600" b="1" dirty="0">
              <a:latin typeface="黑体" panose="02010609060101010101" pitchFamily="49" charset="-122"/>
              <a:ea typeface="黑体" panose="02010609060101010101" pitchFamily="49" charset="-122"/>
            </a:endParaRPr>
          </a:p>
          <a:p>
            <a:pPr marL="571500" indent="-571500" eaLnBrk="1" hangingPunct="1">
              <a:buFont typeface="Wingdings" panose="05000000000000000000" pitchFamily="2" charset="2"/>
              <a:buChar char="ü"/>
            </a:pPr>
            <a:r>
              <a:rPr lang="zh-CN" altLang="en-US" sz="3600" b="1" dirty="0">
                <a:latin typeface="黑体" panose="02010609060101010101" pitchFamily="49" charset="-122"/>
                <a:ea typeface="黑体" panose="02010609060101010101" pitchFamily="49" charset="-122"/>
              </a:rPr>
              <a:t>网络黑色产业链 </a:t>
            </a:r>
          </a:p>
        </p:txBody>
      </p:sp>
      <p:sp>
        <p:nvSpPr>
          <p:cNvPr id="2" name="文本框 1"/>
          <p:cNvSpPr txBox="1"/>
          <p:nvPr/>
        </p:nvSpPr>
        <p:spPr>
          <a:xfrm>
            <a:off x="2636322" y="1389413"/>
            <a:ext cx="3877985" cy="830997"/>
          </a:xfrm>
          <a:prstGeom prst="rect">
            <a:avLst/>
          </a:prstGeom>
          <a:noFill/>
        </p:spPr>
        <p:txBody>
          <a:bodyPr wrap="none" rtlCol="0">
            <a:spAutoFit/>
          </a:bodyPr>
          <a:lstStyle/>
          <a:p>
            <a:r>
              <a:rPr lang="zh-CN" altLang="en-US" sz="4800" dirty="0"/>
              <a:t>本节主要内容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占位符 32770"/>
          <p:cNvSpPr>
            <a:spLocks noGrp="1"/>
          </p:cNvSpPr>
          <p:nvPr>
            <p:ph idx="1"/>
          </p:nvPr>
        </p:nvSpPr>
        <p:spPr>
          <a:xfrm>
            <a:off x="1154243" y="1606446"/>
            <a:ext cx="7360170" cy="4114800"/>
          </a:xfrm>
        </p:spPr>
        <p:txBody>
          <a:bodyPr vert="horz" wrap="square" lIns="91440" tIns="45720" rIns="91440" bIns="45720" anchor="t"/>
          <a:lstStyle/>
          <a:p>
            <a:pPr eaLnBrk="1" hangingPunct="1">
              <a:lnSpc>
                <a:spcPct val="90000"/>
              </a:lnSpc>
            </a:pPr>
            <a:r>
              <a:rPr lang="zh-CN" altLang="en-US" b="1" dirty="0">
                <a:latin typeface="黑体" panose="02010609060101010101" pitchFamily="49" charset="-122"/>
                <a:ea typeface="黑体" panose="02010609060101010101" pitchFamily="49" charset="-122"/>
              </a:rPr>
              <a:t>战略级网络的组成与信息保障</a:t>
            </a:r>
          </a:p>
          <a:p>
            <a:pPr lvl="1" eaLnBrk="1" hangingPunct="1">
              <a:lnSpc>
                <a:spcPct val="90000"/>
              </a:lnSpc>
              <a:buChar char="Ø"/>
            </a:pPr>
            <a:r>
              <a:rPr lang="zh-CN" altLang="en-US" b="1" dirty="0">
                <a:latin typeface="黑体" panose="02010609060101010101" pitchFamily="49" charset="-122"/>
                <a:ea typeface="黑体" panose="02010609060101010101" pitchFamily="49" charset="-122"/>
              </a:rPr>
              <a:t>	本地计算环境</a:t>
            </a:r>
            <a:r>
              <a:rPr lang="zh-CN" altLang="en-US" dirty="0">
                <a:latin typeface="黑体" panose="02010609060101010101" pitchFamily="49" charset="-122"/>
                <a:ea typeface="黑体" panose="02010609060101010101" pitchFamily="49" charset="-122"/>
              </a:rPr>
              <a:t> </a:t>
            </a:r>
          </a:p>
          <a:p>
            <a:pPr lvl="1" eaLnBrk="1" hangingPunct="1">
              <a:lnSpc>
                <a:spcPct val="90000"/>
              </a:lnSpc>
              <a:buChar char="Ø"/>
            </a:pPr>
            <a:r>
              <a:rPr lang="zh-CN" altLang="en-US" b="1" dirty="0">
                <a:latin typeface="黑体" panose="02010609060101010101" pitchFamily="49" charset="-122"/>
                <a:ea typeface="黑体" panose="02010609060101010101" pitchFamily="49" charset="-122"/>
              </a:rPr>
              <a:t>	飞地边界</a:t>
            </a:r>
            <a:r>
              <a:rPr lang="zh-CN" altLang="en-US" dirty="0">
                <a:latin typeface="黑体" panose="02010609060101010101" pitchFamily="49" charset="-122"/>
                <a:ea typeface="黑体" panose="02010609060101010101" pitchFamily="49" charset="-122"/>
              </a:rPr>
              <a:t> </a:t>
            </a:r>
          </a:p>
          <a:p>
            <a:pPr lvl="1" eaLnBrk="1" hangingPunct="1">
              <a:lnSpc>
                <a:spcPct val="90000"/>
              </a:lnSpc>
              <a:buChar char="Ø"/>
            </a:pPr>
            <a:r>
              <a:rPr lang="zh-CN" altLang="en-US" b="1" dirty="0">
                <a:latin typeface="黑体" panose="02010609060101010101" pitchFamily="49" charset="-122"/>
                <a:ea typeface="黑体" panose="02010609060101010101" pitchFamily="49" charset="-122"/>
              </a:rPr>
              <a:t>	网络及其基础设施</a:t>
            </a:r>
            <a:r>
              <a:rPr lang="zh-CN" altLang="en-US" dirty="0">
                <a:latin typeface="黑体" panose="02010609060101010101" pitchFamily="49" charset="-122"/>
                <a:ea typeface="黑体" panose="02010609060101010101" pitchFamily="49" charset="-122"/>
              </a:rPr>
              <a:t> </a:t>
            </a:r>
          </a:p>
          <a:p>
            <a:pPr lvl="1" eaLnBrk="1" hangingPunct="1">
              <a:lnSpc>
                <a:spcPct val="90000"/>
              </a:lnSpc>
              <a:buChar char="Ø"/>
            </a:pPr>
            <a:r>
              <a:rPr lang="zh-CN" altLang="en-US" b="1" dirty="0">
                <a:latin typeface="黑体" panose="02010609060101010101" pitchFamily="49" charset="-122"/>
                <a:ea typeface="黑体" panose="02010609060101010101" pitchFamily="49" charset="-122"/>
              </a:rPr>
              <a:t>	基础设施的支撑</a:t>
            </a:r>
            <a:r>
              <a:rPr lang="zh-CN" altLang="en-US" dirty="0">
                <a:latin typeface="黑体" panose="02010609060101010101" pitchFamily="49" charset="-122"/>
                <a:ea typeface="黑体" panose="02010609060101010101" pitchFamily="49" charset="-122"/>
              </a:rPr>
              <a:t> </a:t>
            </a:r>
            <a:endParaRPr lang="zh-CN" altLang="en-US" b="1" dirty="0">
              <a:latin typeface="黑体" panose="02010609060101010101" pitchFamily="49" charset="-122"/>
              <a:ea typeface="黑体" panose="02010609060101010101" pitchFamily="49" charset="-122"/>
            </a:endParaRPr>
          </a:p>
          <a:p>
            <a:pPr eaLnBrk="1" hangingPunct="1">
              <a:lnSpc>
                <a:spcPct val="90000"/>
              </a:lnSpc>
            </a:pPr>
            <a:r>
              <a:rPr lang="zh-CN" altLang="en-US" b="1" dirty="0">
                <a:latin typeface="黑体" panose="02010609060101010101" pitchFamily="49" charset="-122"/>
                <a:ea typeface="黑体" panose="02010609060101010101" pitchFamily="49" charset="-122"/>
              </a:rPr>
              <a:t>战略级网络的纵深防御  </a:t>
            </a:r>
          </a:p>
          <a:p>
            <a:pPr eaLnBrk="1" hangingPunct="1">
              <a:lnSpc>
                <a:spcPct val="90000"/>
              </a:lnSpc>
            </a:pPr>
            <a:r>
              <a:rPr lang="zh-CN" altLang="en-US" b="1" dirty="0">
                <a:latin typeface="黑体" panose="02010609060101010101" pitchFamily="49" charset="-122"/>
                <a:ea typeface="黑体" panose="02010609060101010101" pitchFamily="49" charset="-122"/>
              </a:rPr>
              <a:t>战术互联网的组成与设备 </a:t>
            </a:r>
          </a:p>
          <a:p>
            <a:pPr eaLnBrk="1" hangingPunct="1">
              <a:lnSpc>
                <a:spcPct val="90000"/>
              </a:lnSpc>
            </a:pPr>
            <a:r>
              <a:rPr lang="zh-CN" altLang="en-US" b="1" dirty="0">
                <a:latin typeface="黑体" panose="02010609060101010101" pitchFamily="49" charset="-122"/>
                <a:ea typeface="黑体" panose="02010609060101010101" pitchFamily="49" charset="-122"/>
              </a:rPr>
              <a:t>网络空间对抗模型</a:t>
            </a:r>
          </a:p>
        </p:txBody>
      </p:sp>
      <p:grpSp>
        <p:nvGrpSpPr>
          <p:cNvPr id="4" name="组合 3"/>
          <p:cNvGrpSpPr/>
          <p:nvPr/>
        </p:nvGrpSpPr>
        <p:grpSpPr>
          <a:xfrm>
            <a:off x="2905591" y="421514"/>
            <a:ext cx="6380818" cy="791052"/>
            <a:chOff x="824072" y="1564267"/>
            <a:chExt cx="6380818" cy="791052"/>
          </a:xfrm>
        </p:grpSpPr>
        <p:sp>
          <p:nvSpPr>
            <p:cNvPr id="5" name="矩形: 圆角 16"/>
            <p:cNvSpPr/>
            <p:nvPr/>
          </p:nvSpPr>
          <p:spPr>
            <a:xfrm>
              <a:off x="824072" y="1740416"/>
              <a:ext cx="6380818"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357557" cy="480131"/>
            </a:xfrm>
            <a:prstGeom prst="rect">
              <a:avLst/>
            </a:prstGeom>
          </p:spPr>
          <p:txBody>
            <a:bodyPr wrap="none">
              <a:spAutoFit/>
            </a:bodyPr>
            <a:lstStyle/>
            <a:p>
              <a:pPr>
                <a:lnSpc>
                  <a:spcPct val="90000"/>
                </a:lnSpc>
              </a:pPr>
              <a:r>
                <a:rPr lang="en-US" altLang="zh-CN" sz="2800" noProof="1">
                  <a:solidFill>
                    <a:schemeClr val="bg1"/>
                  </a:solidFill>
                  <a:latin typeface="+mj-ea"/>
                </a:rPr>
                <a:t>4.1.1 </a:t>
              </a:r>
              <a:r>
                <a:rPr lang="zh-CN" altLang="en-US" sz="2800" noProof="1">
                  <a:solidFill>
                    <a:schemeClr val="bg1"/>
                  </a:solidFill>
                  <a:latin typeface="+mj-ea"/>
                </a:rPr>
                <a:t>网络空间的组成与对抗模型</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
        <p:nvSpPr>
          <p:cNvPr id="2" name="文本框 1"/>
          <p:cNvSpPr txBox="1"/>
          <p:nvPr/>
        </p:nvSpPr>
        <p:spPr>
          <a:xfrm>
            <a:off x="6388735" y="3048000"/>
            <a:ext cx="5080000" cy="1814830"/>
          </a:xfrm>
          <a:prstGeom prst="rect">
            <a:avLst/>
          </a:prstGeom>
        </p:spPr>
        <p:txBody>
          <a:bodyPr>
            <a:spAutoFit/>
          </a:bodyPr>
          <a:lstStyle/>
          <a:p>
            <a:pPr marL="0" indent="0"/>
            <a:r>
              <a:rPr lang="zh-CN" altLang="en-US" sz="1600" b="0" i="0">
                <a:solidFill>
                  <a:srgbClr val="333333"/>
                </a:solidFill>
                <a:latin typeface="Helvetica Neue"/>
                <a:ea typeface="Helvetica Neue"/>
              </a:rPr>
              <a:t>信息保障技术框架（</a:t>
            </a:r>
            <a:r>
              <a:rPr lang="en-US" altLang="zh-CN" sz="1600" b="0" i="0">
                <a:solidFill>
                  <a:srgbClr val="333333"/>
                </a:solidFill>
                <a:latin typeface="Helvetica Neue"/>
                <a:ea typeface="Helvetica Neue"/>
              </a:rPr>
              <a:t>IATF</a:t>
            </a:r>
            <a:r>
              <a:rPr lang="zh-CN" altLang="en-US" sz="1600" b="0" i="0">
                <a:solidFill>
                  <a:srgbClr val="333333"/>
                </a:solidFill>
                <a:latin typeface="Helvetica Neue"/>
                <a:ea typeface="Helvetica Neue"/>
              </a:rPr>
              <a:t>），英文全称</a:t>
            </a:r>
            <a:r>
              <a:rPr lang="en-US" altLang="zh-CN" sz="1600" b="0" i="0">
                <a:solidFill>
                  <a:srgbClr val="333333"/>
                </a:solidFill>
                <a:latin typeface="Helvetica Neue"/>
                <a:ea typeface="Helvetica Neue"/>
              </a:rPr>
              <a:t>Information Assurance Technical Framework</a:t>
            </a:r>
            <a:r>
              <a:rPr lang="zh-CN" altLang="en-US" sz="1600" b="0" i="0">
                <a:solidFill>
                  <a:srgbClr val="333333"/>
                </a:solidFill>
                <a:latin typeface="Helvetica Neue"/>
                <a:ea typeface="Helvetica Neue"/>
              </a:rPr>
              <a:t>，由美国国家安全局（</a:t>
            </a:r>
            <a:r>
              <a:rPr lang="en-US" altLang="zh-CN" sz="1600" b="0" i="0">
                <a:solidFill>
                  <a:srgbClr val="333333"/>
                </a:solidFill>
                <a:latin typeface="Helvetica Neue"/>
                <a:ea typeface="Helvetica Neue"/>
              </a:rPr>
              <a:t>NSA</a:t>
            </a:r>
            <a:r>
              <a:rPr lang="zh-CN" altLang="en-US" sz="1600" b="0" i="0">
                <a:solidFill>
                  <a:srgbClr val="333333"/>
                </a:solidFill>
                <a:latin typeface="Helvetica Neue"/>
                <a:ea typeface="Helvetica Neue"/>
              </a:rPr>
              <a:t>）制定并公开发布，是指导信息安全防护与系统保障的技术指南。该框架以纵深防御为核心思想，提出通过人、操作和技术三个核心要素构建层次化防护体系，覆盖网络和基础设施、区域边界、计算环境及支撑基础设施四大焦点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占位符 33794"/>
          <p:cNvSpPr>
            <a:spLocks noGrp="1"/>
          </p:cNvSpPr>
          <p:nvPr>
            <p:ph idx="1"/>
          </p:nvPr>
        </p:nvSpPr>
        <p:spPr>
          <a:xfrm>
            <a:off x="1730375" y="1981200"/>
            <a:ext cx="8447088" cy="4114800"/>
          </a:xfrm>
        </p:spPr>
        <p:txBody>
          <a:bodyPr vert="horz" wrap="square" lIns="91440" tIns="45720" rIns="91440" bIns="45720" anchor="t"/>
          <a:lstStyle/>
          <a:p>
            <a:pPr algn="just" eaLnBrk="1" hangingPunct="1">
              <a:buNone/>
            </a:pPr>
            <a:r>
              <a:rPr lang="zh-CN" altLang="en-US" sz="3600" b="1" dirty="0">
                <a:latin typeface="黑体" panose="02010609060101010101" pitchFamily="49" charset="-122"/>
                <a:ea typeface="黑体" panose="02010609060101010101" pitchFamily="49" charset="-122"/>
              </a:rPr>
              <a:t>    战略级网络的组成结构与信息保障措施在美国国家安全局</a:t>
            </a:r>
            <a:r>
              <a:rPr lang="en-US" altLang="zh-CN" sz="3600" b="1" dirty="0">
                <a:latin typeface="黑体" panose="02010609060101010101" pitchFamily="49" charset="-122"/>
                <a:ea typeface="黑体" panose="02010609060101010101" pitchFamily="49" charset="-122"/>
              </a:rPr>
              <a:t>NSA</a:t>
            </a:r>
            <a:r>
              <a:rPr lang="en-US" altLang="zh-CN" sz="1800" b="1" dirty="0">
                <a:solidFill>
                  <a:schemeClr val="folHlink"/>
                </a:solidFill>
              </a:rPr>
              <a:t>(National Security Agency</a:t>
            </a:r>
            <a:r>
              <a:rPr lang="zh-CN" altLang="en-US" sz="1800" b="1" dirty="0">
                <a:solidFill>
                  <a:schemeClr val="folHlink"/>
                </a:solidFill>
              </a:rPr>
              <a:t> </a:t>
            </a:r>
            <a:r>
              <a:rPr lang="en-US" altLang="zh-CN" sz="1800" b="1" dirty="0">
                <a:solidFill>
                  <a:schemeClr val="folHlink"/>
                </a:solidFill>
              </a:rPr>
              <a:t>)</a:t>
            </a:r>
            <a:r>
              <a:rPr lang="zh-CN" altLang="en-US" sz="3600" b="1" dirty="0">
                <a:latin typeface="黑体" panose="02010609060101010101" pitchFamily="49" charset="-122"/>
                <a:ea typeface="黑体" panose="02010609060101010101" pitchFamily="49" charset="-122"/>
              </a:rPr>
              <a:t>提出的</a:t>
            </a:r>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信息保障技术框架</a:t>
            </a:r>
            <a:r>
              <a:rPr lang="en-US" altLang="zh-CN" sz="3600" b="1" dirty="0">
                <a:latin typeface="黑体" panose="02010609060101010101" pitchFamily="49" charset="-122"/>
                <a:ea typeface="黑体" panose="02010609060101010101" pitchFamily="49" charset="-122"/>
              </a:rPr>
              <a:t>》IATF</a:t>
            </a:r>
            <a:r>
              <a:rPr lang="zh-CN" altLang="zh-CN" sz="2000" b="1" dirty="0">
                <a:solidFill>
                  <a:schemeClr val="folHlink"/>
                </a:solidFill>
              </a:rPr>
              <a:t>(Information Assurance Technical Framework )</a:t>
            </a:r>
            <a:r>
              <a:rPr lang="zh-CN" altLang="en-US" sz="3600" b="1" dirty="0">
                <a:latin typeface="黑体" panose="02010609060101010101" pitchFamily="49" charset="-122"/>
                <a:ea typeface="黑体" panose="02010609060101010101" pitchFamily="49" charset="-122"/>
              </a:rPr>
              <a:t>有详细地论述。</a:t>
            </a:r>
            <a:endParaRPr lang="en-US" altLang="zh-CN" sz="3600" b="1" dirty="0">
              <a:latin typeface="黑体" panose="02010609060101010101" pitchFamily="49" charset="-122"/>
              <a:ea typeface="黑体" panose="02010609060101010101" pitchFamily="49" charset="-122"/>
            </a:endParaRPr>
          </a:p>
        </p:txBody>
      </p:sp>
      <p:grpSp>
        <p:nvGrpSpPr>
          <p:cNvPr id="4" name="组合 3"/>
          <p:cNvGrpSpPr/>
          <p:nvPr/>
        </p:nvGrpSpPr>
        <p:grpSpPr>
          <a:xfrm>
            <a:off x="1082203" y="1021412"/>
            <a:ext cx="5816007" cy="840284"/>
            <a:chOff x="3135993" y="1051060"/>
            <a:chExt cx="5816007" cy="840284"/>
          </a:xfrm>
        </p:grpSpPr>
        <p:sp>
          <p:nvSpPr>
            <p:cNvPr id="5" name="矩形: 圆角 6"/>
            <p:cNvSpPr/>
            <p:nvPr/>
          </p:nvSpPr>
          <p:spPr>
            <a:xfrm>
              <a:off x="3839426" y="1280937"/>
              <a:ext cx="5112574"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852610"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战略级网络的组成与信息保障</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4817"/>
          <p:cNvSpPr>
            <a:spLocks noGrp="1"/>
          </p:cNvSpPr>
          <p:nvPr>
            <p:ph type="title"/>
          </p:nvPr>
        </p:nvSpPr>
        <p:spPr>
          <a:xfrm>
            <a:off x="1524000" y="476250"/>
            <a:ext cx="9144000" cy="1143000"/>
          </a:xfrm>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latin typeface="黑体" panose="02010609060101010101" pitchFamily="49" charset="-122"/>
                <a:ea typeface="黑体" panose="02010609060101010101" pitchFamily="49" charset="-122"/>
              </a:rPr>
              <a:t>（１）本地计算环境</a:t>
            </a:r>
          </a:p>
        </p:txBody>
      </p:sp>
      <p:sp>
        <p:nvSpPr>
          <p:cNvPr id="18434" name="文本占位符 34818"/>
          <p:cNvSpPr>
            <a:spLocks noGrp="1"/>
          </p:cNvSpPr>
          <p:nvPr>
            <p:ph idx="1"/>
          </p:nvPr>
        </p:nvSpPr>
        <p:spPr>
          <a:xfrm>
            <a:off x="1768839" y="1981200"/>
            <a:ext cx="8679306" cy="4114800"/>
          </a:xfrm>
        </p:spPr>
        <p:txBody>
          <a:bodyPr vert="horz" wrap="square" lIns="91440" tIns="45720" rIns="91440" bIns="45720" anchor="t"/>
          <a:lstStyle/>
          <a:p>
            <a:pPr algn="just" eaLnBrk="1" hangingPunct="1">
              <a:buNone/>
            </a:pPr>
            <a:r>
              <a:rPr lang="zh-CN" altLang="en-US" sz="3600"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典型地包括服务器、客户机以及安装在它们里面的应用软件。在重要或大型部门的计算环境中，通常使用小型机作为服务器，操作系统也多为</a:t>
            </a:r>
            <a:r>
              <a:rPr lang="en-US" altLang="zh-CN" b="1" dirty="0">
                <a:ea typeface="黑体" panose="02010609060101010101" pitchFamily="49" charset="-122"/>
              </a:rPr>
              <a:t>UNIX</a:t>
            </a:r>
            <a:r>
              <a:rPr lang="zh-CN" altLang="en-US" b="1" dirty="0">
                <a:latin typeface="黑体" panose="02010609060101010101" pitchFamily="49" charset="-122"/>
                <a:ea typeface="黑体" panose="02010609060101010101" pitchFamily="49" charset="-122"/>
              </a:rPr>
              <a:t>系统，而在大多数较小单位中则使用运行微软操作系统的</a:t>
            </a:r>
            <a:r>
              <a:rPr lang="en-US" altLang="zh-CN" b="1" dirty="0">
                <a:latin typeface="黑体" panose="02010609060101010101" pitchFamily="49" charset="-122"/>
                <a:ea typeface="黑体" panose="02010609060101010101" pitchFamily="49" charset="-122"/>
              </a:rPr>
              <a:t>PC</a:t>
            </a:r>
            <a:r>
              <a:rPr lang="zh-CN" altLang="en-US" b="1" dirty="0">
                <a:latin typeface="黑体" panose="02010609060101010101" pitchFamily="49" charset="-122"/>
                <a:ea typeface="黑体" panose="02010609060101010101" pitchFamily="49" charset="-122"/>
              </a:rPr>
              <a:t>机服务器。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5841"/>
          <p:cNvSpPr>
            <a:spLocks noGrp="1"/>
          </p:cNvSpPr>
          <p:nvPr>
            <p:ph type="title"/>
          </p:nvPr>
        </p:nvSpPr>
        <p:spPr>
          <a:xfrm>
            <a:off x="1524000" y="476250"/>
            <a:ext cx="9144000" cy="1143000"/>
          </a:xfrm>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latin typeface="黑体" panose="02010609060101010101" pitchFamily="49" charset="-122"/>
                <a:ea typeface="黑体" panose="02010609060101010101" pitchFamily="49" charset="-122"/>
              </a:rPr>
              <a:t>（２）飞地边界</a:t>
            </a:r>
          </a:p>
        </p:txBody>
      </p:sp>
      <p:sp>
        <p:nvSpPr>
          <p:cNvPr id="19458" name="文本占位符 35842"/>
          <p:cNvSpPr>
            <a:spLocks noGrp="1"/>
          </p:cNvSpPr>
          <p:nvPr>
            <p:ph idx="1"/>
          </p:nvPr>
        </p:nvSpPr>
        <p:spPr>
          <a:xfrm>
            <a:off x="1721922" y="1981200"/>
            <a:ext cx="8704613" cy="4114800"/>
          </a:xfrm>
        </p:spPr>
        <p:txBody>
          <a:bodyPr vert="horz" wrap="square" lIns="91440" tIns="45720" rIns="91440" bIns="45720" anchor="t"/>
          <a:lstStyle/>
          <a:p>
            <a:pPr algn="just" eaLnBrk="1" hangingPunct="1">
              <a:buNone/>
            </a:pPr>
            <a:r>
              <a:rPr lang="zh-CN" altLang="en-US" b="1" dirty="0">
                <a:latin typeface="黑体" panose="02010609060101010101" pitchFamily="49" charset="-122"/>
                <a:ea typeface="黑体" panose="02010609060101010101" pitchFamily="49" charset="-122"/>
              </a:rPr>
              <a:t>    指围绕本地计算环境的边界。对一个飞地内设备的本地和远程访问必须满足该飞地的安全策略。飞地分为与内部网连接的内部飞地、与专用网连接的专用飞地和与</a:t>
            </a:r>
            <a:r>
              <a:rPr lang="en-US" altLang="zh-CN" b="1" dirty="0">
                <a:latin typeface="黑体" panose="02010609060101010101" pitchFamily="49" charset="-122"/>
                <a:ea typeface="黑体" panose="02010609060101010101" pitchFamily="49" charset="-122"/>
              </a:rPr>
              <a:t>Internet</a:t>
            </a:r>
            <a:r>
              <a:rPr lang="zh-CN" altLang="en-US" b="1" dirty="0">
                <a:latin typeface="黑体" panose="02010609060101010101" pitchFamily="49" charset="-122"/>
                <a:ea typeface="黑体" panose="02010609060101010101" pitchFamily="49" charset="-122"/>
              </a:rPr>
              <a:t>连接的公众飞地。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36865"/>
          <p:cNvSpPr>
            <a:spLocks noGrp="1"/>
          </p:cNvSpPr>
          <p:nvPr>
            <p:ph type="title"/>
          </p:nvPr>
        </p:nvSpPr>
        <p:spPr>
          <a:xfrm>
            <a:off x="1524000" y="620713"/>
            <a:ext cx="9144000" cy="1143000"/>
          </a:xfrm>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latin typeface="黑体" panose="02010609060101010101" pitchFamily="49" charset="-122"/>
                <a:ea typeface="黑体" panose="02010609060101010101" pitchFamily="49" charset="-122"/>
              </a:rPr>
              <a:t>（３）网络及其基础设施</a:t>
            </a:r>
          </a:p>
        </p:txBody>
      </p:sp>
      <p:sp>
        <p:nvSpPr>
          <p:cNvPr id="20482" name="文本占位符 36866"/>
          <p:cNvSpPr>
            <a:spLocks noGrp="1"/>
          </p:cNvSpPr>
          <p:nvPr>
            <p:ph idx="1"/>
          </p:nvPr>
        </p:nvSpPr>
        <p:spPr>
          <a:xfrm>
            <a:off x="1733796" y="1981200"/>
            <a:ext cx="8799617" cy="4114800"/>
          </a:xfrm>
        </p:spPr>
        <p:txBody>
          <a:bodyPr vert="horz" wrap="square" lIns="91440" tIns="45720" rIns="91440" bIns="45720" anchor="t"/>
          <a:lstStyle/>
          <a:p>
            <a:pPr algn="just" eaLnBrk="1" hangingPunct="1">
              <a:buNone/>
            </a:pPr>
            <a:r>
              <a:rPr lang="zh-CN" altLang="en-US" sz="3600" b="1" dirty="0">
                <a:latin typeface="黑体" panose="02010609060101010101" pitchFamily="49" charset="-122"/>
                <a:ea typeface="黑体" panose="02010609060101010101" pitchFamily="49" charset="-122"/>
              </a:rPr>
              <a:t>   </a:t>
            </a:r>
            <a:r>
              <a:rPr lang="zh-CN" altLang="en-US" b="1" dirty="0">
                <a:ea typeface="黑体" panose="02010609060101010101" pitchFamily="49" charset="-122"/>
              </a:rPr>
              <a:t>提供了飞地之间的连接能力，包括可运作区域网络（</a:t>
            </a:r>
            <a:r>
              <a:rPr lang="en-US" altLang="zh-CN" b="1" dirty="0">
                <a:ea typeface="黑体" panose="02010609060101010101" pitchFamily="49" charset="-122"/>
              </a:rPr>
              <a:t>Operational Area Networks</a:t>
            </a:r>
            <a:r>
              <a:rPr lang="zh-CN" altLang="en-US" b="1" dirty="0">
                <a:ea typeface="黑体" panose="02010609060101010101" pitchFamily="49" charset="-122"/>
              </a:rPr>
              <a:t>，</a:t>
            </a:r>
            <a:r>
              <a:rPr lang="en-US" altLang="zh-CN" b="1" dirty="0">
                <a:ea typeface="黑体" panose="02010609060101010101" pitchFamily="49" charset="-122"/>
              </a:rPr>
              <a:t>OAN</a:t>
            </a:r>
            <a:r>
              <a:rPr lang="zh-CN" altLang="en-US" b="1" dirty="0">
                <a:ea typeface="黑体" panose="02010609060101010101" pitchFamily="49" charset="-122"/>
              </a:rPr>
              <a:t>）、城域网（</a:t>
            </a:r>
            <a:r>
              <a:rPr lang="en-US" altLang="zh-CN" b="1" dirty="0">
                <a:ea typeface="黑体" panose="02010609060101010101" pitchFamily="49" charset="-122"/>
              </a:rPr>
              <a:t>MAN</a:t>
            </a:r>
            <a:r>
              <a:rPr lang="zh-CN" altLang="en-US" b="1" dirty="0">
                <a:ea typeface="黑体" panose="02010609060101010101" pitchFamily="49" charset="-122"/>
              </a:rPr>
              <a:t>）、校园网（</a:t>
            </a:r>
            <a:r>
              <a:rPr lang="en-US" altLang="zh-CN" b="1" dirty="0">
                <a:ea typeface="黑体" panose="02010609060101010101" pitchFamily="49" charset="-122"/>
              </a:rPr>
              <a:t>CAN</a:t>
            </a:r>
            <a:r>
              <a:rPr lang="zh-CN" altLang="en-US" b="1" dirty="0">
                <a:ea typeface="黑体" panose="02010609060101010101" pitchFamily="49" charset="-122"/>
              </a:rPr>
              <a:t>）和局域网（</a:t>
            </a:r>
            <a:r>
              <a:rPr lang="en-US" altLang="zh-CN" b="1" dirty="0">
                <a:ea typeface="黑体" panose="02010609060101010101" pitchFamily="49" charset="-122"/>
              </a:rPr>
              <a:t>LAN</a:t>
            </a:r>
            <a:r>
              <a:rPr lang="zh-CN" altLang="en-US" b="1" dirty="0">
                <a:ea typeface="黑体" panose="02010609060101010101" pitchFamily="49" charset="-122"/>
              </a:rPr>
              <a:t>），其中也包括专用网、</a:t>
            </a:r>
            <a:r>
              <a:rPr lang="en-US" altLang="zh-CN" b="1" dirty="0">
                <a:ea typeface="黑体" panose="02010609060101010101" pitchFamily="49" charset="-122"/>
              </a:rPr>
              <a:t>Internet</a:t>
            </a:r>
            <a:r>
              <a:rPr lang="zh-CN" altLang="en-US" b="1" dirty="0">
                <a:ea typeface="黑体" panose="02010609060101010101" pitchFamily="49" charset="-122"/>
              </a:rPr>
              <a:t>和公用电话网及其它们的基础设施 </a:t>
            </a:r>
            <a:r>
              <a:rPr lang="zh-CN" altLang="en-US" sz="3600" b="1" dirty="0">
                <a:ea typeface="黑体" panose="02010609060101010101" pitchFamily="49"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7889"/>
          <p:cNvSpPr>
            <a:spLocks noGrp="1"/>
          </p:cNvSpPr>
          <p:nvPr>
            <p:ph type="title"/>
          </p:nvPr>
        </p:nvSpPr>
        <p:spPr>
          <a:xfrm>
            <a:off x="1524000" y="485775"/>
            <a:ext cx="9144000" cy="1143000"/>
          </a:xfrm>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latin typeface="黑体" panose="02010609060101010101" pitchFamily="49" charset="-122"/>
                <a:ea typeface="黑体" panose="02010609060101010101" pitchFamily="49" charset="-122"/>
              </a:rPr>
              <a:t>（４）基础设施的支撑</a:t>
            </a:r>
          </a:p>
        </p:txBody>
      </p:sp>
      <p:sp>
        <p:nvSpPr>
          <p:cNvPr id="21506" name="文本占位符 37890"/>
          <p:cNvSpPr>
            <a:spLocks noGrp="1"/>
          </p:cNvSpPr>
          <p:nvPr>
            <p:ph idx="1"/>
          </p:nvPr>
        </p:nvSpPr>
        <p:spPr>
          <a:xfrm>
            <a:off x="1745672" y="1981200"/>
            <a:ext cx="8680863" cy="4114800"/>
          </a:xfrm>
        </p:spPr>
        <p:txBody>
          <a:bodyPr vert="horz" wrap="square" lIns="91440" tIns="45720" rIns="91440" bIns="45720" anchor="t"/>
          <a:lstStyle/>
          <a:p>
            <a:pPr algn="just" eaLnBrk="1" hangingPunct="1">
              <a:lnSpc>
                <a:spcPct val="90000"/>
              </a:lnSpc>
              <a:buNone/>
            </a:pPr>
            <a:r>
              <a:rPr lang="zh-CN" altLang="en-US" b="1" dirty="0">
                <a:latin typeface="黑体" panose="02010609060101010101" pitchFamily="49" charset="-122"/>
                <a:ea typeface="黑体" panose="02010609060101010101" pitchFamily="49" charset="-122"/>
              </a:rPr>
              <a:t>    </a:t>
            </a:r>
            <a:r>
              <a:rPr lang="zh-CN" altLang="en-US" b="1" dirty="0">
                <a:ea typeface="黑体" panose="02010609060101010101" pitchFamily="49" charset="-122"/>
              </a:rPr>
              <a:t>提供了能应用信息保障机制的基础设施。支撑基础设施为网络、终端用户工作站、</a:t>
            </a:r>
            <a:r>
              <a:rPr lang="en-US" altLang="zh-CN" b="1" dirty="0">
                <a:ea typeface="黑体" panose="02010609060101010101" pitchFamily="49" charset="-122"/>
              </a:rPr>
              <a:t>Web</a:t>
            </a:r>
            <a:r>
              <a:rPr lang="zh-CN" altLang="en-US" b="1" dirty="0">
                <a:ea typeface="黑体" panose="02010609060101010101" pitchFamily="49" charset="-122"/>
              </a:rPr>
              <a:t>服务器、文件服务器等提供了安全服务。在</a:t>
            </a:r>
            <a:r>
              <a:rPr lang="en-US" altLang="zh-CN" b="1" dirty="0">
                <a:ea typeface="黑体" panose="02010609060101010101" pitchFamily="49" charset="-122"/>
              </a:rPr>
              <a:t>IATF</a:t>
            </a:r>
            <a:r>
              <a:rPr lang="zh-CN" altLang="en-US" b="1" dirty="0">
                <a:ea typeface="黑体" panose="02010609060101010101" pitchFamily="49" charset="-122"/>
              </a:rPr>
              <a:t>中，支撑基础设施主要包括两个方面：</a:t>
            </a:r>
          </a:p>
          <a:p>
            <a:pPr algn="just" eaLnBrk="1" hangingPunct="1">
              <a:lnSpc>
                <a:spcPct val="90000"/>
              </a:lnSpc>
              <a:buNone/>
            </a:pPr>
            <a:r>
              <a:rPr lang="zh-CN" altLang="en-US" b="1" dirty="0">
                <a:ea typeface="黑体" panose="02010609060101010101" pitchFamily="49" charset="-122"/>
              </a:rPr>
              <a:t>      一是密钥管理基础设施（</a:t>
            </a:r>
            <a:r>
              <a:rPr lang="en-US" altLang="zh-CN" b="1" dirty="0">
                <a:ea typeface="黑体" panose="02010609060101010101" pitchFamily="49" charset="-122"/>
              </a:rPr>
              <a:t>KMI</a:t>
            </a:r>
            <a:r>
              <a:rPr lang="zh-CN" altLang="en-US" b="1" dirty="0">
                <a:ea typeface="黑体" panose="02010609060101010101" pitchFamily="49" charset="-122"/>
              </a:rPr>
              <a:t>），包括公开密钥基础设施（</a:t>
            </a:r>
            <a:r>
              <a:rPr lang="en-US" altLang="zh-CN" b="1" dirty="0">
                <a:ea typeface="黑体" panose="02010609060101010101" pitchFamily="49" charset="-122"/>
              </a:rPr>
              <a:t>PKI</a:t>
            </a:r>
            <a:r>
              <a:rPr lang="zh-CN" altLang="en-US" b="1" dirty="0">
                <a:ea typeface="黑体" panose="02010609060101010101" pitchFamily="49" charset="-122"/>
              </a:rPr>
              <a:t>）；</a:t>
            </a:r>
          </a:p>
          <a:p>
            <a:pPr algn="just" eaLnBrk="1" hangingPunct="1">
              <a:lnSpc>
                <a:spcPct val="90000"/>
              </a:lnSpc>
              <a:buNone/>
            </a:pPr>
            <a:r>
              <a:rPr lang="zh-CN" altLang="en-US" b="1" dirty="0">
                <a:ea typeface="黑体" panose="02010609060101010101" pitchFamily="49" charset="-122"/>
              </a:rPr>
              <a:t>      二是检测与响应基础设施。</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占位符 38914"/>
          <p:cNvSpPr>
            <a:spLocks noGrp="1"/>
          </p:cNvSpPr>
          <p:nvPr>
            <p:ph idx="1"/>
          </p:nvPr>
        </p:nvSpPr>
        <p:spPr>
          <a:xfrm>
            <a:off x="1224255" y="1803518"/>
            <a:ext cx="9688583" cy="4114800"/>
          </a:xfrm>
        </p:spPr>
        <p:txBody>
          <a:bodyPr vert="horz" wrap="square" lIns="91440" tIns="45720" rIns="91440" bIns="45720" anchor="t"/>
          <a:lstStyle/>
          <a:p>
            <a:pPr algn="just" eaLnBrk="1" hangingPunct="1">
              <a:lnSpc>
                <a:spcPct val="90000"/>
              </a:lnSpc>
              <a:buNone/>
            </a:pPr>
            <a:r>
              <a:rPr lang="en-US" altLang="zh-CN" b="1" dirty="0">
                <a:latin typeface="黑体" panose="02010609060101010101" pitchFamily="49" charset="-122"/>
                <a:ea typeface="黑体" panose="02010609060101010101" pitchFamily="49" charset="-122"/>
              </a:rPr>
              <a:t>  </a:t>
            </a:r>
            <a:r>
              <a:rPr lang="en-US" altLang="zh-CN" b="1" dirty="0">
                <a:ea typeface="黑体" panose="02010609060101010101" pitchFamily="49" charset="-122"/>
              </a:rPr>
              <a:t>    IATF</a:t>
            </a:r>
            <a:r>
              <a:rPr lang="zh-CN" altLang="en-US" b="1" dirty="0">
                <a:ea typeface="黑体" panose="02010609060101010101" pitchFamily="49" charset="-122"/>
              </a:rPr>
              <a:t>提出的纵深防御安全策略，可以用来获得高效的信息保障态势。纵深防御的目标就是要解决</a:t>
            </a:r>
            <a:r>
              <a:rPr lang="en-US" altLang="zh-CN" b="1" dirty="0">
                <a:ea typeface="黑体" panose="02010609060101010101" pitchFamily="49" charset="-122"/>
              </a:rPr>
              <a:t>IA</a:t>
            </a:r>
            <a:r>
              <a:rPr lang="zh-CN" altLang="en-US" b="1" dirty="0">
                <a:ea typeface="黑体" panose="02010609060101010101" pitchFamily="49" charset="-122"/>
              </a:rPr>
              <a:t>框架中四个领域中目标的防御问题。首先根据用户计算信息安全性等级的高低，将用户计算环境划分为</a:t>
            </a:r>
            <a:r>
              <a:rPr lang="zh-CN" altLang="en-US" b="1" dirty="0">
                <a:solidFill>
                  <a:schemeClr val="folHlink"/>
                </a:solidFill>
                <a:ea typeface="黑体" panose="02010609060101010101" pitchFamily="49" charset="-122"/>
              </a:rPr>
              <a:t>绝密飞地、机密飞地、秘密飞地、无密飞地和公共飞地非敏感区</a:t>
            </a:r>
            <a:r>
              <a:rPr lang="zh-CN" altLang="en-US" b="1" dirty="0">
                <a:ea typeface="黑体" panose="02010609060101010101" pitchFamily="49" charset="-122"/>
              </a:rPr>
              <a:t>等区域，然后分别为这些飞地提供相应安全等级的网络信道。</a:t>
            </a:r>
          </a:p>
        </p:txBody>
      </p:sp>
      <p:grpSp>
        <p:nvGrpSpPr>
          <p:cNvPr id="4" name="组合 3"/>
          <p:cNvGrpSpPr/>
          <p:nvPr/>
        </p:nvGrpSpPr>
        <p:grpSpPr>
          <a:xfrm>
            <a:off x="1064480" y="637786"/>
            <a:ext cx="4781685" cy="840284"/>
            <a:chOff x="3135993" y="1051060"/>
            <a:chExt cx="4781685" cy="840284"/>
          </a:xfrm>
        </p:grpSpPr>
        <p:sp>
          <p:nvSpPr>
            <p:cNvPr id="5" name="矩形: 圆角 6"/>
            <p:cNvSpPr/>
            <p:nvPr/>
          </p:nvSpPr>
          <p:spPr>
            <a:xfrm>
              <a:off x="3839425" y="1280937"/>
              <a:ext cx="4078253"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775393"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战略级网络的纵深防御</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占位符 39938"/>
          <p:cNvSpPr>
            <a:spLocks noGrp="1"/>
          </p:cNvSpPr>
          <p:nvPr>
            <p:ph idx="1"/>
          </p:nvPr>
        </p:nvSpPr>
        <p:spPr>
          <a:xfrm>
            <a:off x="1259349" y="1767581"/>
            <a:ext cx="9773411" cy="4681537"/>
          </a:xfrm>
        </p:spPr>
        <p:txBody>
          <a:bodyPr vert="horz" wrap="square" lIns="91440" tIns="45720" rIns="91440" bIns="45720" anchor="t"/>
          <a:lstStyle/>
          <a:p>
            <a:pPr algn="just" eaLnBrk="1" hangingPunct="1">
              <a:lnSpc>
                <a:spcPct val="150000"/>
              </a:lnSpc>
              <a:buNone/>
            </a:pPr>
            <a:r>
              <a:rPr lang="zh-CN" altLang="en-US" b="1" dirty="0">
                <a:latin typeface="黑体" panose="02010609060101010101" pitchFamily="49" charset="-122"/>
                <a:ea typeface="黑体" panose="02010609060101010101" pitchFamily="49" charset="-122"/>
              </a:rPr>
              <a:t>    在某种程度上讲，战术互联网属于上面讲的</a:t>
            </a:r>
            <a:r>
              <a:rPr lang="zh-CN" altLang="en-US" b="1" dirty="0">
                <a:solidFill>
                  <a:schemeClr val="folHlink"/>
                </a:solidFill>
                <a:latin typeface="黑体" panose="02010609060101010101" pitchFamily="49" charset="-122"/>
                <a:ea typeface="黑体" panose="02010609060101010101" pitchFamily="49" charset="-122"/>
              </a:rPr>
              <a:t>本地计算环境</a:t>
            </a:r>
            <a:r>
              <a:rPr lang="zh-CN" altLang="en-US" b="1" dirty="0">
                <a:latin typeface="黑体" panose="02010609060101010101" pitchFamily="49" charset="-122"/>
                <a:ea typeface="黑体" panose="02010609060101010101" pitchFamily="49" charset="-122"/>
              </a:rPr>
              <a:t>，相当于</a:t>
            </a:r>
            <a:r>
              <a:rPr lang="zh-CN" altLang="en-US" b="1" dirty="0">
                <a:solidFill>
                  <a:schemeClr val="folHlink"/>
                </a:solidFill>
                <a:latin typeface="黑体" panose="02010609060101010101" pitchFamily="49" charset="-122"/>
                <a:ea typeface="黑体" panose="02010609060101010101" pitchFamily="49" charset="-122"/>
              </a:rPr>
              <a:t>民用园区网</a:t>
            </a:r>
            <a:r>
              <a:rPr lang="zh-CN" altLang="en-US" b="1" dirty="0">
                <a:latin typeface="黑体" panose="02010609060101010101" pitchFamily="49" charset="-122"/>
                <a:ea typeface="黑体" panose="02010609060101010101" pitchFamily="49" charset="-122"/>
              </a:rPr>
              <a:t>或</a:t>
            </a:r>
            <a:r>
              <a:rPr lang="zh-CN" altLang="en-US" b="1" dirty="0">
                <a:solidFill>
                  <a:schemeClr val="folHlink"/>
                </a:solidFill>
                <a:latin typeface="黑体" panose="02010609060101010101" pitchFamily="49" charset="-122"/>
                <a:ea typeface="黑体" panose="02010609060101010101" pitchFamily="49" charset="-122"/>
              </a:rPr>
              <a:t>某个单位的内部网</a:t>
            </a:r>
            <a:r>
              <a:rPr lang="zh-CN" altLang="en-US" b="1" dirty="0">
                <a:latin typeface="黑体" panose="02010609060101010101" pitchFamily="49" charset="-122"/>
                <a:ea typeface="黑体" panose="02010609060101010101" pitchFamily="49" charset="-122"/>
              </a:rPr>
              <a:t>。战术互联网是指在野战环境下，连接师、旅及其以下各级作战分队的指挥车与包括坦克、装甲车、直升飞机在内的各种武器平台以及武装士兵在内的计算机网络，其网络体系结构与</a:t>
            </a:r>
            <a:r>
              <a:rPr lang="en-US" altLang="zh-CN" b="1" dirty="0">
                <a:latin typeface="黑体" panose="02010609060101010101" pitchFamily="49" charset="-122"/>
                <a:ea typeface="黑体" panose="02010609060101010101" pitchFamily="49" charset="-122"/>
              </a:rPr>
              <a:t>Intranet</a:t>
            </a:r>
            <a:r>
              <a:rPr lang="zh-CN" altLang="en-US" b="1" dirty="0">
                <a:latin typeface="黑体" panose="02010609060101010101" pitchFamily="49" charset="-122"/>
                <a:ea typeface="黑体" panose="02010609060101010101" pitchFamily="49" charset="-122"/>
              </a:rPr>
              <a:t>相似。网络使用的信道是数字无线信道和卫星信道，形成立体通信体系。由战术互联网支撑的战场称为数字化战场。</a:t>
            </a:r>
          </a:p>
        </p:txBody>
      </p:sp>
      <p:grpSp>
        <p:nvGrpSpPr>
          <p:cNvPr id="4" name="组合 3"/>
          <p:cNvGrpSpPr/>
          <p:nvPr/>
        </p:nvGrpSpPr>
        <p:grpSpPr>
          <a:xfrm>
            <a:off x="1069350" y="637786"/>
            <a:ext cx="5097989" cy="840284"/>
            <a:chOff x="3135993" y="1051060"/>
            <a:chExt cx="5097989" cy="840284"/>
          </a:xfrm>
        </p:grpSpPr>
        <p:sp>
          <p:nvSpPr>
            <p:cNvPr id="5" name="矩形: 圆角 6"/>
            <p:cNvSpPr/>
            <p:nvPr/>
          </p:nvSpPr>
          <p:spPr>
            <a:xfrm>
              <a:off x="3839426" y="1280937"/>
              <a:ext cx="4394556"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261103"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战术互联网的组成与设备</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3</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140188" y="2470068"/>
            <a:ext cx="4179549" cy="2303813"/>
          </a:xfrm>
          <a:prstGeom prst="roundRect">
            <a:avLst/>
          </a:prstGeom>
          <a:solidFill>
            <a:schemeClr val="accent4">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78" name="文本占位符 40962"/>
          <p:cNvSpPr>
            <a:spLocks noGrp="1"/>
          </p:cNvSpPr>
          <p:nvPr>
            <p:ph idx="1"/>
          </p:nvPr>
        </p:nvSpPr>
        <p:spPr>
          <a:xfrm>
            <a:off x="1259350" y="1628776"/>
            <a:ext cx="9737201" cy="4392613"/>
          </a:xfrm>
        </p:spPr>
        <p:txBody>
          <a:bodyPr vert="horz" wrap="square" lIns="91440" tIns="45720" rIns="91440" bIns="45720" anchor="t"/>
          <a:lstStyle/>
          <a:p>
            <a:pPr algn="just" eaLnBrk="1" hangingPunct="1">
              <a:lnSpc>
                <a:spcPct val="90000"/>
              </a:lnSpc>
              <a:buNone/>
            </a:pPr>
            <a:r>
              <a:rPr lang="zh-CN" altLang="en-US" b="1" dirty="0">
                <a:latin typeface="黑体" panose="02010609060101010101" pitchFamily="49" charset="-122"/>
                <a:ea typeface="黑体" panose="02010609060101010101" pitchFamily="49" charset="-122"/>
              </a:rPr>
              <a:t>    </a:t>
            </a:r>
            <a:r>
              <a:rPr lang="zh-CN" altLang="en-US" b="1" dirty="0">
                <a:ea typeface="黑体" panose="02010609060101010101" pitchFamily="49" charset="-122"/>
              </a:rPr>
              <a:t>参照</a:t>
            </a:r>
            <a:r>
              <a:rPr lang="en-US" altLang="zh-CN" b="1" dirty="0">
                <a:ea typeface="黑体" panose="02010609060101010101" pitchFamily="49" charset="-122"/>
              </a:rPr>
              <a:t>IATF</a:t>
            </a:r>
            <a:r>
              <a:rPr lang="zh-CN" altLang="en-US" b="1" dirty="0">
                <a:ea typeface="黑体" panose="02010609060101010101" pitchFamily="49" charset="-122"/>
              </a:rPr>
              <a:t>中的概念，把对抗双方的网络空间划分为</a:t>
            </a:r>
            <a:r>
              <a:rPr lang="en-US" altLang="zh-CN" b="1" dirty="0">
                <a:ea typeface="黑体" panose="02010609060101010101" pitchFamily="49" charset="-122"/>
              </a:rPr>
              <a:t>:</a:t>
            </a:r>
          </a:p>
          <a:p>
            <a:pPr algn="just" eaLnBrk="1" hangingPunct="1">
              <a:lnSpc>
                <a:spcPct val="90000"/>
              </a:lnSpc>
              <a:buNone/>
            </a:pPr>
            <a:endParaRPr lang="zh-CN" altLang="en-US" b="1" dirty="0">
              <a:ea typeface="黑体" panose="02010609060101010101" pitchFamily="49" charset="-122"/>
            </a:endParaRPr>
          </a:p>
          <a:p>
            <a:pPr algn="just" eaLnBrk="1" hangingPunct="1">
              <a:lnSpc>
                <a:spcPct val="90000"/>
              </a:lnSpc>
            </a:pPr>
            <a:r>
              <a:rPr lang="zh-CN" altLang="en-US" b="1" dirty="0">
                <a:ea typeface="黑体" panose="02010609060101010101" pitchFamily="49" charset="-122"/>
              </a:rPr>
              <a:t>公众电话网和</a:t>
            </a:r>
            <a:r>
              <a:rPr lang="en-US" altLang="zh-CN" b="1" dirty="0">
                <a:ea typeface="黑体" panose="02010609060101010101" pitchFamily="49" charset="-122"/>
              </a:rPr>
              <a:t>Internet</a:t>
            </a:r>
            <a:r>
              <a:rPr lang="zh-CN" altLang="en-US" b="1" dirty="0">
                <a:ea typeface="黑体" panose="02010609060101010101" pitchFamily="49" charset="-122"/>
              </a:rPr>
              <a:t>、</a:t>
            </a:r>
          </a:p>
          <a:p>
            <a:pPr algn="just" eaLnBrk="1" hangingPunct="1">
              <a:lnSpc>
                <a:spcPct val="90000"/>
              </a:lnSpc>
            </a:pPr>
            <a:r>
              <a:rPr lang="zh-CN" altLang="en-US" b="1" dirty="0">
                <a:ea typeface="黑体" panose="02010609060101010101" pitchFamily="49" charset="-122"/>
              </a:rPr>
              <a:t>专用网、</a:t>
            </a:r>
          </a:p>
          <a:p>
            <a:pPr algn="just" eaLnBrk="1" hangingPunct="1">
              <a:lnSpc>
                <a:spcPct val="90000"/>
              </a:lnSpc>
            </a:pPr>
            <a:r>
              <a:rPr lang="zh-CN" altLang="en-US" b="1" dirty="0">
                <a:ea typeface="黑体" panose="02010609060101010101" pitchFamily="49" charset="-122"/>
              </a:rPr>
              <a:t>核心网、</a:t>
            </a:r>
          </a:p>
          <a:p>
            <a:pPr algn="just" eaLnBrk="1" hangingPunct="1">
              <a:lnSpc>
                <a:spcPct val="90000"/>
              </a:lnSpc>
            </a:pPr>
            <a:r>
              <a:rPr lang="zh-CN" altLang="en-US" b="1" dirty="0">
                <a:ea typeface="黑体" panose="02010609060101010101" pitchFamily="49" charset="-122"/>
              </a:rPr>
              <a:t>飞地网域</a:t>
            </a:r>
            <a:endParaRPr lang="en-US" altLang="zh-CN" b="1" dirty="0">
              <a:ea typeface="黑体" panose="02010609060101010101" pitchFamily="49" charset="-122"/>
            </a:endParaRPr>
          </a:p>
          <a:p>
            <a:pPr algn="just" eaLnBrk="1" hangingPunct="1">
              <a:lnSpc>
                <a:spcPct val="90000"/>
              </a:lnSpc>
            </a:pPr>
            <a:endParaRPr lang="zh-CN" altLang="en-US" b="1" dirty="0">
              <a:ea typeface="黑体" panose="02010609060101010101" pitchFamily="49" charset="-122"/>
            </a:endParaRPr>
          </a:p>
          <a:p>
            <a:pPr algn="just" eaLnBrk="1" hangingPunct="1">
              <a:lnSpc>
                <a:spcPct val="90000"/>
              </a:lnSpc>
              <a:buNone/>
            </a:pPr>
            <a:r>
              <a:rPr lang="zh-CN" altLang="en-US" b="1" dirty="0">
                <a:ea typeface="黑体" panose="02010609060101010101" pitchFamily="49" charset="-122"/>
              </a:rPr>
              <a:t>  四个层次。最上面部分（标记红方与蓝方的区域）是作战双方的战场空间，双方都希望能够全面获取战场态势信息（情报），并能够准确打击对方的目标。</a:t>
            </a:r>
          </a:p>
        </p:txBody>
      </p:sp>
      <p:grpSp>
        <p:nvGrpSpPr>
          <p:cNvPr id="4" name="组合 3"/>
          <p:cNvGrpSpPr/>
          <p:nvPr/>
        </p:nvGrpSpPr>
        <p:grpSpPr>
          <a:xfrm>
            <a:off x="1049490" y="637786"/>
            <a:ext cx="4013294" cy="840284"/>
            <a:chOff x="3135993" y="1051060"/>
            <a:chExt cx="4013294" cy="840284"/>
          </a:xfrm>
        </p:grpSpPr>
        <p:sp>
          <p:nvSpPr>
            <p:cNvPr id="5" name="矩形: 圆角 6"/>
            <p:cNvSpPr/>
            <p:nvPr/>
          </p:nvSpPr>
          <p:spPr>
            <a:xfrm>
              <a:off x="3839426" y="1280937"/>
              <a:ext cx="330986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3057247"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网络空间对抗模型</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4</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占位符 43010"/>
          <p:cNvSpPr>
            <a:spLocks noGrp="1"/>
          </p:cNvSpPr>
          <p:nvPr>
            <p:ph idx="1"/>
          </p:nvPr>
        </p:nvSpPr>
        <p:spPr>
          <a:xfrm>
            <a:off x="2209799" y="1826779"/>
            <a:ext cx="7772400" cy="2662238"/>
          </a:xfrm>
        </p:spPr>
        <p:txBody>
          <a:bodyPr vert="horz" wrap="square" lIns="91440" tIns="45720" rIns="91440" bIns="45720" anchor="t"/>
          <a:lstStyle/>
          <a:p>
            <a:pPr algn="just" eaLnBrk="1" hangingPunct="1"/>
            <a:r>
              <a:rPr lang="zh-CN" altLang="en-US" sz="3600" b="1" dirty="0">
                <a:solidFill>
                  <a:schemeClr val="folHlink"/>
                </a:solidFill>
                <a:latin typeface="黑体" panose="02010609060101010101" pitchFamily="49" charset="-122"/>
                <a:ea typeface="黑体" panose="02010609060101010101" pitchFamily="49" charset="-122"/>
              </a:rPr>
              <a:t>战略级</a:t>
            </a:r>
            <a:r>
              <a:rPr lang="zh-CN" altLang="en-US" sz="3600" b="1" dirty="0">
                <a:latin typeface="黑体" panose="02010609060101010101" pitchFamily="49" charset="-122"/>
                <a:ea typeface="黑体" panose="02010609060101010101" pitchFamily="49" charset="-122"/>
              </a:rPr>
              <a:t>网络空间的安全缺陷与信息战手段分析 </a:t>
            </a:r>
          </a:p>
          <a:p>
            <a:pPr algn="just" eaLnBrk="1" hangingPunct="1">
              <a:buNone/>
            </a:pPr>
            <a:endParaRPr lang="zh-CN" altLang="en-US" sz="3600" b="1" dirty="0">
              <a:latin typeface="黑体" panose="02010609060101010101" pitchFamily="49" charset="-122"/>
              <a:ea typeface="黑体" panose="02010609060101010101" pitchFamily="49" charset="-122"/>
            </a:endParaRPr>
          </a:p>
          <a:p>
            <a:pPr algn="just" eaLnBrk="1" hangingPunct="1"/>
            <a:r>
              <a:rPr lang="zh-CN" altLang="en-US" sz="3600" b="1" dirty="0">
                <a:solidFill>
                  <a:schemeClr val="folHlink"/>
                </a:solidFill>
                <a:latin typeface="黑体" panose="02010609060101010101" pitchFamily="49" charset="-122"/>
                <a:ea typeface="黑体" panose="02010609060101010101" pitchFamily="49" charset="-122"/>
              </a:rPr>
              <a:t>战术级</a:t>
            </a:r>
            <a:r>
              <a:rPr lang="zh-CN" altLang="en-US" sz="3600" b="1" dirty="0">
                <a:latin typeface="黑体" panose="02010609060101010101" pitchFamily="49" charset="-122"/>
                <a:ea typeface="黑体" panose="02010609060101010101" pitchFamily="49" charset="-122"/>
              </a:rPr>
              <a:t>网络的信息战手段 </a:t>
            </a:r>
          </a:p>
        </p:txBody>
      </p:sp>
      <p:grpSp>
        <p:nvGrpSpPr>
          <p:cNvPr id="4" name="组合 3"/>
          <p:cNvGrpSpPr/>
          <p:nvPr/>
        </p:nvGrpSpPr>
        <p:grpSpPr>
          <a:xfrm>
            <a:off x="2978496" y="433000"/>
            <a:ext cx="6235008" cy="791052"/>
            <a:chOff x="824071" y="1564267"/>
            <a:chExt cx="6235008" cy="791052"/>
          </a:xfrm>
        </p:grpSpPr>
        <p:sp>
          <p:nvSpPr>
            <p:cNvPr id="5" name="矩形: 圆角 16"/>
            <p:cNvSpPr/>
            <p:nvPr/>
          </p:nvSpPr>
          <p:spPr>
            <a:xfrm>
              <a:off x="824071" y="1740416"/>
              <a:ext cx="623500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5357557" cy="480131"/>
            </a:xfrm>
            <a:prstGeom prst="rect">
              <a:avLst/>
            </a:prstGeom>
          </p:spPr>
          <p:txBody>
            <a:bodyPr wrap="none">
              <a:spAutoFit/>
            </a:bodyPr>
            <a:lstStyle/>
            <a:p>
              <a:pPr>
                <a:lnSpc>
                  <a:spcPct val="90000"/>
                </a:lnSpc>
              </a:pPr>
              <a:r>
                <a:rPr lang="en-US" altLang="zh-CN" sz="2800" noProof="1">
                  <a:solidFill>
                    <a:schemeClr val="bg1"/>
                  </a:solidFill>
                  <a:latin typeface="+mj-ea"/>
                </a:rPr>
                <a:t>4.1.2 </a:t>
              </a:r>
              <a:r>
                <a:rPr lang="zh-CN" altLang="en-US" sz="2800" noProof="1">
                  <a:solidFill>
                    <a:schemeClr val="bg1"/>
                  </a:solidFill>
                  <a:latin typeface="+mj-ea"/>
                </a:rPr>
                <a:t>可用的网络信息战手段探讨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占位符 44034"/>
          <p:cNvSpPr>
            <a:spLocks noGrp="1"/>
          </p:cNvSpPr>
          <p:nvPr>
            <p:ph idx="1"/>
          </p:nvPr>
        </p:nvSpPr>
        <p:spPr>
          <a:xfrm>
            <a:off x="2221675" y="1969283"/>
            <a:ext cx="7772400" cy="3321050"/>
          </a:xfrm>
        </p:spPr>
        <p:txBody>
          <a:bodyPr vert="horz" wrap="square" lIns="91440" tIns="45720" rIns="91440" bIns="45720" anchor="t"/>
          <a:lstStyle/>
          <a:p>
            <a:pPr algn="just" eaLnBrk="1" hangingPunct="1"/>
            <a:r>
              <a:rPr lang="zh-CN" altLang="en-US" sz="3600" b="1" dirty="0">
                <a:latin typeface="黑体" panose="02010609060101010101" pitchFamily="49" charset="-122"/>
                <a:ea typeface="黑体" panose="02010609060101010101" pitchFamily="49" charset="-122"/>
              </a:rPr>
              <a:t>物理层</a:t>
            </a:r>
          </a:p>
          <a:p>
            <a:pPr algn="just" eaLnBrk="1" hangingPunct="1"/>
            <a:r>
              <a:rPr lang="zh-CN" altLang="en-US" sz="3600" b="1" dirty="0">
                <a:latin typeface="黑体" panose="02010609060101010101" pitchFamily="49" charset="-122"/>
                <a:ea typeface="黑体" panose="02010609060101010101" pitchFamily="49" charset="-122"/>
              </a:rPr>
              <a:t>协议层 </a:t>
            </a:r>
          </a:p>
          <a:p>
            <a:pPr algn="just" eaLnBrk="1" hangingPunct="1"/>
            <a:r>
              <a:rPr lang="zh-CN" altLang="en-US" sz="3600" b="1" dirty="0">
                <a:latin typeface="黑体" panose="02010609060101010101" pitchFamily="49" charset="-122"/>
                <a:ea typeface="黑体" panose="02010609060101010101" pitchFamily="49" charset="-122"/>
              </a:rPr>
              <a:t>操作系统层 </a:t>
            </a:r>
          </a:p>
          <a:p>
            <a:pPr algn="just" eaLnBrk="1" hangingPunct="1"/>
            <a:r>
              <a:rPr lang="zh-CN" altLang="en-US" sz="3600" b="1" dirty="0">
                <a:latin typeface="黑体" panose="02010609060101010101" pitchFamily="49" charset="-122"/>
                <a:ea typeface="黑体" panose="02010609060101010101" pitchFamily="49" charset="-122"/>
              </a:rPr>
              <a:t>应用层 </a:t>
            </a:r>
          </a:p>
          <a:p>
            <a:pPr algn="just" eaLnBrk="1" hangingPunct="1"/>
            <a:r>
              <a:rPr lang="zh-CN" altLang="en-US" sz="3600" b="1" dirty="0">
                <a:latin typeface="黑体" panose="02010609060101010101" pitchFamily="49" charset="-122"/>
                <a:ea typeface="黑体" panose="02010609060101010101" pitchFamily="49" charset="-122"/>
              </a:rPr>
              <a:t>网络边界层 </a:t>
            </a:r>
          </a:p>
        </p:txBody>
      </p:sp>
      <p:grpSp>
        <p:nvGrpSpPr>
          <p:cNvPr id="4" name="组合 3"/>
          <p:cNvGrpSpPr/>
          <p:nvPr/>
        </p:nvGrpSpPr>
        <p:grpSpPr>
          <a:xfrm>
            <a:off x="1081225" y="637786"/>
            <a:ext cx="8288406" cy="840284"/>
            <a:chOff x="3135993" y="1051060"/>
            <a:chExt cx="8288406" cy="840284"/>
          </a:xfrm>
        </p:grpSpPr>
        <p:sp>
          <p:nvSpPr>
            <p:cNvPr id="5" name="矩形: 圆角 6"/>
            <p:cNvSpPr/>
            <p:nvPr/>
          </p:nvSpPr>
          <p:spPr>
            <a:xfrm>
              <a:off x="3839426" y="1280937"/>
              <a:ext cx="7584973"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7366119"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战略级网络空间的安全缺陷与信息战手段分析</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占位符 45058"/>
          <p:cNvSpPr>
            <a:spLocks noGrp="1"/>
          </p:cNvSpPr>
          <p:nvPr>
            <p:ph idx="1"/>
          </p:nvPr>
        </p:nvSpPr>
        <p:spPr>
          <a:xfrm>
            <a:off x="1981200" y="1700214"/>
            <a:ext cx="8229600" cy="4752975"/>
          </a:xfrm>
        </p:spPr>
        <p:txBody>
          <a:bodyPr vert="horz" wrap="square" lIns="91440" tIns="45720" rIns="91440" bIns="45720" anchor="t"/>
          <a:lstStyle/>
          <a:p>
            <a:pPr algn="just" eaLnBrk="1" hangingPunct="1">
              <a:lnSpc>
                <a:spcPct val="140000"/>
              </a:lnSpc>
            </a:pPr>
            <a:r>
              <a:rPr lang="en-US" altLang="zh-CN" sz="3600" b="1" dirty="0">
                <a:latin typeface="黑体" panose="02010609060101010101" pitchFamily="49" charset="-122"/>
                <a:ea typeface="黑体" panose="02010609060101010101" pitchFamily="49" charset="-122"/>
              </a:rPr>
              <a:t>1.</a:t>
            </a:r>
            <a:r>
              <a:rPr lang="zh-CN" altLang="en-US" sz="3600" b="1" dirty="0">
                <a:latin typeface="黑体" panose="02010609060101010101" pitchFamily="49" charset="-122"/>
                <a:ea typeface="黑体" panose="02010609060101010101" pitchFamily="49" charset="-122"/>
              </a:rPr>
              <a:t>降低敌方信息获取能力</a:t>
            </a:r>
          </a:p>
          <a:p>
            <a:pPr algn="just" eaLnBrk="1" hangingPunct="1">
              <a:lnSpc>
                <a:spcPct val="140000"/>
              </a:lnSpc>
            </a:pPr>
            <a:r>
              <a:rPr lang="en-US" altLang="zh-CN" sz="3600" b="1" dirty="0">
                <a:latin typeface="黑体" panose="02010609060101010101" pitchFamily="49" charset="-122"/>
                <a:ea typeface="黑体" panose="02010609060101010101" pitchFamily="49" charset="-122"/>
              </a:rPr>
              <a:t>2.</a:t>
            </a:r>
            <a:r>
              <a:rPr lang="zh-CN" altLang="en-US" sz="3600" b="1" dirty="0">
                <a:latin typeface="黑体" panose="02010609060101010101" pitchFamily="49" charset="-122"/>
                <a:ea typeface="黑体" panose="02010609060101010101" pitchFamily="49" charset="-122"/>
              </a:rPr>
              <a:t>破坏对方的通信与网络结点 </a:t>
            </a:r>
          </a:p>
          <a:p>
            <a:pPr algn="just" eaLnBrk="1" hangingPunct="1">
              <a:lnSpc>
                <a:spcPct val="140000"/>
              </a:lnSpc>
            </a:pPr>
            <a:r>
              <a:rPr lang="en-US" altLang="zh-CN" sz="3600" b="1" dirty="0">
                <a:latin typeface="黑体" panose="02010609060101010101" pitchFamily="49" charset="-122"/>
                <a:ea typeface="黑体" panose="02010609060101010101" pitchFamily="49" charset="-122"/>
              </a:rPr>
              <a:t>3.</a:t>
            </a:r>
            <a:r>
              <a:rPr lang="zh-CN" altLang="en-US" sz="3600" b="1" dirty="0">
                <a:latin typeface="黑体" panose="02010609060101010101" pitchFamily="49" charset="-122"/>
                <a:ea typeface="黑体" panose="02010609060101010101" pitchFamily="49" charset="-122"/>
              </a:rPr>
              <a:t>干扰信道 </a:t>
            </a:r>
          </a:p>
          <a:p>
            <a:pPr algn="just" eaLnBrk="1" hangingPunct="1">
              <a:lnSpc>
                <a:spcPct val="140000"/>
              </a:lnSpc>
            </a:pPr>
            <a:r>
              <a:rPr lang="en-US" altLang="zh-CN" sz="3600" b="1" dirty="0">
                <a:latin typeface="黑体" panose="02010609060101010101" pitchFamily="49" charset="-122"/>
                <a:ea typeface="黑体" panose="02010609060101010101" pitchFamily="49" charset="-122"/>
              </a:rPr>
              <a:t>4.</a:t>
            </a:r>
            <a:r>
              <a:rPr lang="zh-CN" altLang="en-US" sz="3600" b="1" dirty="0">
                <a:latin typeface="黑体" panose="02010609060101010101" pitchFamily="49" charset="-122"/>
                <a:ea typeface="黑体" panose="02010609060101010101" pitchFamily="49" charset="-122"/>
              </a:rPr>
              <a:t>监听截获</a:t>
            </a:r>
            <a:endParaRPr lang="en-US" altLang="zh-CN" dirty="0"/>
          </a:p>
        </p:txBody>
      </p:sp>
      <p:grpSp>
        <p:nvGrpSpPr>
          <p:cNvPr id="4" name="组合 3"/>
          <p:cNvGrpSpPr/>
          <p:nvPr/>
        </p:nvGrpSpPr>
        <p:grpSpPr>
          <a:xfrm>
            <a:off x="1064480" y="637786"/>
            <a:ext cx="5105823" cy="840284"/>
            <a:chOff x="3135993" y="1051060"/>
            <a:chExt cx="5105823" cy="840284"/>
          </a:xfrm>
        </p:grpSpPr>
        <p:sp>
          <p:nvSpPr>
            <p:cNvPr id="5" name="矩形: 圆角 6"/>
            <p:cNvSpPr/>
            <p:nvPr/>
          </p:nvSpPr>
          <p:spPr>
            <a:xfrm>
              <a:off x="3839425" y="1280937"/>
              <a:ext cx="440239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4134465"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战术级网络的信息战手段</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2</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46081"/>
          <p:cNvSpPr>
            <a:spLocks noGrp="1"/>
          </p:cNvSpPr>
          <p:nvPr>
            <p:ph type="title"/>
          </p:nvPr>
        </p:nvSpPr>
        <p:spPr>
          <a:xfrm>
            <a:off x="1774825" y="228600"/>
            <a:ext cx="8713788" cy="1143000"/>
          </a:xfrm>
        </p:spPr>
        <p:txBody>
          <a:bodyPr lIns="92075" tIns="46038" rIns="92075" bIns="46038" anchor="ctr"/>
          <a:lstStyle/>
          <a:p>
            <a:pPr algn="ctr" fontAlgn="base">
              <a:lnSpc>
                <a:spcPct val="100000"/>
              </a:lnSpc>
              <a:spcAft>
                <a:spcPct val="0"/>
              </a:spcAft>
              <a:defRPr/>
            </a:pPr>
            <a:r>
              <a:rPr lang="zh-CN" altLang="en-US" sz="4600" b="1" noProof="1">
                <a:solidFill>
                  <a:schemeClr val="tx2"/>
                </a:solidFill>
                <a:effectLst>
                  <a:outerShdw blurRad="38100" dist="38100" dir="2700000">
                    <a:srgbClr val="000000"/>
                  </a:outerShdw>
                </a:effectLst>
                <a:ea typeface="黑体" panose="02010609060101010101" pitchFamily="49" charset="-122"/>
              </a:rPr>
              <a:t>战术级网络的信息战手段（续）</a:t>
            </a:r>
          </a:p>
        </p:txBody>
      </p:sp>
      <p:sp>
        <p:nvSpPr>
          <p:cNvPr id="28674" name="文本占位符 46082"/>
          <p:cNvSpPr>
            <a:spLocks noGrp="1"/>
          </p:cNvSpPr>
          <p:nvPr>
            <p:ph idx="1"/>
          </p:nvPr>
        </p:nvSpPr>
        <p:spPr>
          <a:xfrm>
            <a:off x="1311910" y="1700530"/>
            <a:ext cx="9716135" cy="4752975"/>
          </a:xfrm>
        </p:spPr>
        <p:txBody>
          <a:bodyPr vert="horz" wrap="square" lIns="91440" tIns="45720" rIns="91440" bIns="45720" anchor="t"/>
          <a:lstStyle/>
          <a:p>
            <a:pPr algn="just" eaLnBrk="1" hangingPunct="1">
              <a:lnSpc>
                <a:spcPct val="140000"/>
              </a:lnSpc>
            </a:pPr>
            <a:r>
              <a:rPr lang="en-US" altLang="zh-CN" sz="3600" b="1" dirty="0">
                <a:latin typeface="黑体" panose="02010609060101010101" pitchFamily="49" charset="-122"/>
                <a:ea typeface="黑体" panose="02010609060101010101" pitchFamily="49" charset="-122"/>
              </a:rPr>
              <a:t>5.</a:t>
            </a:r>
            <a:r>
              <a:rPr lang="zh-CN" altLang="en-US" sz="3600" b="1" dirty="0">
                <a:latin typeface="黑体" panose="02010609060101010101" pitchFamily="49" charset="-122"/>
                <a:ea typeface="黑体" panose="02010609060101010101" pitchFamily="49" charset="-122"/>
              </a:rPr>
              <a:t>俘获网络结点 </a:t>
            </a:r>
          </a:p>
          <a:p>
            <a:pPr algn="just" eaLnBrk="1" hangingPunct="1">
              <a:lnSpc>
                <a:spcPct val="140000"/>
              </a:lnSpc>
            </a:pPr>
            <a:r>
              <a:rPr lang="en-US" altLang="zh-CN" sz="3600" b="1" dirty="0">
                <a:latin typeface="黑体" panose="02010609060101010101" pitchFamily="49" charset="-122"/>
                <a:ea typeface="黑体" panose="02010609060101010101" pitchFamily="49" charset="-122"/>
              </a:rPr>
              <a:t>6.</a:t>
            </a:r>
            <a:r>
              <a:rPr lang="zh-CN" altLang="en-US" sz="3600" b="1" dirty="0">
                <a:latin typeface="黑体" panose="02010609060101010101" pitchFamily="49" charset="-122"/>
                <a:ea typeface="黑体" panose="02010609060101010101" pitchFamily="49" charset="-122"/>
              </a:rPr>
              <a:t>瘫痪敌战场广播服务器或广播卫星</a:t>
            </a:r>
          </a:p>
          <a:p>
            <a:pPr algn="just" eaLnBrk="1" hangingPunct="1">
              <a:lnSpc>
                <a:spcPct val="140000"/>
              </a:lnSpc>
            </a:pPr>
            <a:r>
              <a:rPr lang="en-US" altLang="zh-CN" sz="3600" b="1" dirty="0">
                <a:latin typeface="黑体" panose="02010609060101010101" pitchFamily="49" charset="-122"/>
                <a:ea typeface="黑体" panose="02010609060101010101" pitchFamily="49" charset="-122"/>
              </a:rPr>
              <a:t>7.</a:t>
            </a:r>
            <a:r>
              <a:rPr lang="zh-CN" altLang="en-US" sz="3600" b="1" dirty="0">
                <a:latin typeface="黑体" panose="02010609060101010101" pitchFamily="49" charset="-122"/>
                <a:ea typeface="黑体" panose="02010609060101010101" pitchFamily="49" charset="-122"/>
              </a:rPr>
              <a:t>通过敌方战略级计算机网进入敌方战术互联网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47106"/>
          <p:cNvSpPr>
            <a:spLocks noGrp="1"/>
          </p:cNvSpPr>
          <p:nvPr>
            <p:ph idx="1"/>
          </p:nvPr>
        </p:nvSpPr>
        <p:spPr>
          <a:xfrm>
            <a:off x="1981201" y="1600200"/>
            <a:ext cx="3827463" cy="4852988"/>
          </a:xfrm>
        </p:spPr>
        <p:txBody>
          <a:bodyPr vert="horz" wrap="square" lIns="91440" tIns="45720" rIns="91440" bIns="45720" anchor="t"/>
          <a:lstStyle/>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探测类工具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突破类工具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信道对抗类工具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情报获取类工具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软破坏类工具 </a:t>
            </a:r>
          </a:p>
        </p:txBody>
      </p:sp>
      <p:sp>
        <p:nvSpPr>
          <p:cNvPr id="29699" name="矩形 47107"/>
          <p:cNvSpPr/>
          <p:nvPr/>
        </p:nvSpPr>
        <p:spPr>
          <a:xfrm>
            <a:off x="5808663" y="1600200"/>
            <a:ext cx="4248150" cy="4852988"/>
          </a:xfrm>
          <a:prstGeom prst="rect">
            <a:avLst/>
          </a:prstGeom>
          <a:noFill/>
          <a:ln w="9525">
            <a:noFill/>
          </a:ln>
        </p:spPr>
        <p:txBody>
          <a:bodyPr anchor="t"/>
          <a:lstStyle/>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latin typeface="黑体" panose="02010609060101010101" pitchFamily="49" charset="-122"/>
                <a:ea typeface="黑体" panose="02010609060101010101" pitchFamily="49" charset="-122"/>
              </a:rPr>
              <a:t>硬破坏类工具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highlight>
                  <a:srgbClr val="00FF00"/>
                </a:highlight>
                <a:latin typeface="黑体" panose="02010609060101010101" pitchFamily="49" charset="-122"/>
                <a:ea typeface="黑体" panose="02010609060101010101" pitchFamily="49" charset="-122"/>
              </a:rPr>
              <a:t>防护类工具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highlight>
                  <a:srgbClr val="00FF00"/>
                </a:highlight>
                <a:latin typeface="黑体" panose="02010609060101010101" pitchFamily="49" charset="-122"/>
                <a:ea typeface="黑体" panose="02010609060101010101" pitchFamily="49" charset="-122"/>
              </a:rPr>
              <a:t>扫描类工具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highlight>
                  <a:srgbClr val="00FF00"/>
                </a:highlight>
                <a:latin typeface="黑体" panose="02010609060101010101" pitchFamily="49" charset="-122"/>
                <a:ea typeface="黑体" panose="02010609060101010101" pitchFamily="49" charset="-122"/>
              </a:rPr>
              <a:t>应急响应类工具 </a:t>
            </a:r>
          </a:p>
          <a:p>
            <a:pPr marL="342900" indent="-342900">
              <a:lnSpc>
                <a:spcPct val="130000"/>
              </a:lnSpc>
              <a:spcBef>
                <a:spcPct val="20000"/>
              </a:spcBef>
              <a:buClr>
                <a:schemeClr val="accent2"/>
              </a:buClr>
              <a:buSzPct val="80000"/>
              <a:buFont typeface="Wingdings" panose="05000000000000000000" pitchFamily="2" charset="2"/>
              <a:buChar char="l"/>
            </a:pPr>
            <a:r>
              <a:rPr lang="zh-CN" altLang="en-US" sz="3200" b="1" dirty="0">
                <a:highlight>
                  <a:srgbClr val="00FF00"/>
                </a:highlight>
                <a:latin typeface="黑体" panose="02010609060101010101" pitchFamily="49" charset="-122"/>
                <a:ea typeface="黑体" panose="02010609060101010101" pitchFamily="49" charset="-122"/>
              </a:rPr>
              <a:t>备份恢复类工具</a:t>
            </a:r>
            <a:r>
              <a:rPr lang="zh-CN" altLang="en-US" sz="3200" b="1" dirty="0">
                <a:latin typeface="黑体" panose="02010609060101010101" pitchFamily="49" charset="-122"/>
                <a:ea typeface="黑体" panose="02010609060101010101" pitchFamily="49" charset="-122"/>
              </a:rPr>
              <a:t> </a:t>
            </a:r>
          </a:p>
        </p:txBody>
      </p:sp>
      <p:grpSp>
        <p:nvGrpSpPr>
          <p:cNvPr id="5" name="组合 4"/>
          <p:cNvGrpSpPr/>
          <p:nvPr/>
        </p:nvGrpSpPr>
        <p:grpSpPr>
          <a:xfrm>
            <a:off x="2913083" y="391533"/>
            <a:ext cx="6235008" cy="791052"/>
            <a:chOff x="824071" y="1564267"/>
            <a:chExt cx="6235008" cy="791052"/>
          </a:xfrm>
        </p:grpSpPr>
        <p:sp>
          <p:nvSpPr>
            <p:cNvPr id="6" name="矩形: 圆角 16"/>
            <p:cNvSpPr/>
            <p:nvPr/>
          </p:nvSpPr>
          <p:spPr>
            <a:xfrm>
              <a:off x="824071" y="1740416"/>
              <a:ext cx="623500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5357557" cy="480131"/>
            </a:xfrm>
            <a:prstGeom prst="rect">
              <a:avLst/>
            </a:prstGeom>
          </p:spPr>
          <p:txBody>
            <a:bodyPr wrap="none">
              <a:spAutoFit/>
            </a:bodyPr>
            <a:lstStyle/>
            <a:p>
              <a:pPr>
                <a:lnSpc>
                  <a:spcPct val="90000"/>
                </a:lnSpc>
              </a:pPr>
              <a:r>
                <a:rPr lang="en-US" altLang="zh-CN" sz="2800" noProof="1">
                  <a:solidFill>
                    <a:schemeClr val="bg1"/>
                  </a:solidFill>
                  <a:latin typeface="+mj-ea"/>
                </a:rPr>
                <a:t>4.1.3 </a:t>
              </a:r>
              <a:r>
                <a:rPr lang="zh-CN" altLang="en-US" sz="2800" noProof="1">
                  <a:solidFill>
                    <a:schemeClr val="bg1"/>
                  </a:solidFill>
                  <a:latin typeface="+mj-ea"/>
                </a:rPr>
                <a:t>用于网络信息战的工具系列</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占位符 49154"/>
          <p:cNvSpPr>
            <a:spLocks noGrp="1"/>
          </p:cNvSpPr>
          <p:nvPr>
            <p:ph idx="1"/>
          </p:nvPr>
        </p:nvSpPr>
        <p:spPr>
          <a:xfrm>
            <a:off x="1377538" y="1600200"/>
            <a:ext cx="9595262" cy="4852988"/>
          </a:xfrm>
        </p:spPr>
        <p:txBody>
          <a:bodyPr vert="horz" wrap="square" lIns="91440" tIns="45720" rIns="91440" bIns="45720" anchor="t"/>
          <a:lstStyle/>
          <a:p>
            <a:pPr eaLnBrk="1" hangingPunct="1">
              <a:buNone/>
            </a:pPr>
            <a:r>
              <a:rPr lang="zh-CN" altLang="en-US" b="1" dirty="0">
                <a:latin typeface="黑体" panose="02010609060101010101" pitchFamily="49" charset="-122"/>
                <a:ea typeface="黑体" panose="02010609060101010101" pitchFamily="49" charset="-122"/>
              </a:rPr>
              <a:t>    网络攻击是网络信息战中的主动行为，目标是为了获取网络空间的控制权。</a:t>
            </a:r>
            <a:r>
              <a:rPr lang="zh-CN" altLang="en-US" b="1" dirty="0">
                <a:solidFill>
                  <a:schemeClr val="folHlink"/>
                </a:solidFill>
                <a:latin typeface="黑体" panose="02010609060101010101" pitchFamily="49" charset="-122"/>
                <a:ea typeface="黑体" panose="02010609060101010101" pitchFamily="49" charset="-122"/>
              </a:rPr>
              <a:t>网络攻击</a:t>
            </a:r>
            <a:r>
              <a:rPr lang="zh-CN" altLang="en-US" b="1" dirty="0">
                <a:latin typeface="黑体" panose="02010609060101010101" pitchFamily="49" charset="-122"/>
                <a:ea typeface="黑体" panose="02010609060101010101" pitchFamily="49" charset="-122"/>
              </a:rPr>
              <a:t>是</a:t>
            </a:r>
            <a:r>
              <a:rPr lang="zh-CN" altLang="en-US" b="1" dirty="0">
                <a:solidFill>
                  <a:srgbClr val="0F73EE"/>
                </a:solidFill>
                <a:latin typeface="黑体" panose="02010609060101010101" pitchFamily="49" charset="-122"/>
                <a:ea typeface="黑体" panose="02010609060101010101" pitchFamily="49" charset="-122"/>
              </a:rPr>
              <a:t>利用</a:t>
            </a:r>
            <a:r>
              <a:rPr lang="zh-CN" altLang="en-US" b="1" dirty="0">
                <a:latin typeface="黑体" panose="02010609060101010101" pitchFamily="49" charset="-122"/>
                <a:ea typeface="黑体" panose="02010609060101010101" pitchFamily="49" charset="-122"/>
              </a:rPr>
              <a:t>目前网络通信协议自身存在的或因配置不当而产生的安全</a:t>
            </a:r>
            <a:r>
              <a:rPr lang="zh-CN" altLang="en-US" b="1" dirty="0">
                <a:solidFill>
                  <a:schemeClr val="folHlink"/>
                </a:solidFill>
                <a:latin typeface="黑体" panose="02010609060101010101" pitchFamily="49" charset="-122"/>
                <a:ea typeface="黑体" panose="02010609060101010101" pitchFamily="49" charset="-122"/>
              </a:rPr>
              <a:t>漏洞</a:t>
            </a:r>
            <a:r>
              <a:rPr lang="zh-CN" altLang="en-US" b="1" dirty="0">
                <a:latin typeface="黑体" panose="02010609060101010101" pitchFamily="49" charset="-122"/>
                <a:ea typeface="黑体" panose="02010609060101010101" pitchFamily="49" charset="-122"/>
              </a:rPr>
              <a:t>、用户使用的操作系统内在</a:t>
            </a:r>
            <a:r>
              <a:rPr lang="zh-CN" altLang="en-US" b="1" dirty="0">
                <a:solidFill>
                  <a:schemeClr val="folHlink"/>
                </a:solidFill>
                <a:latin typeface="黑体" panose="02010609060101010101" pitchFamily="49" charset="-122"/>
                <a:ea typeface="黑体" panose="02010609060101010101" pitchFamily="49" charset="-122"/>
              </a:rPr>
              <a:t>缺陷</a:t>
            </a:r>
            <a:r>
              <a:rPr lang="zh-CN" altLang="en-US" b="1" dirty="0">
                <a:latin typeface="黑体" panose="02010609060101010101" pitchFamily="49" charset="-122"/>
                <a:ea typeface="黑体" panose="02010609060101010101" pitchFamily="49" charset="-122"/>
              </a:rPr>
              <a:t>或者用户使用的</a:t>
            </a:r>
            <a:r>
              <a:rPr lang="zh-CN" altLang="en-US" b="1" dirty="0">
                <a:solidFill>
                  <a:schemeClr val="folHlink"/>
                </a:solidFill>
                <a:latin typeface="黑体" panose="02010609060101010101" pitchFamily="49" charset="-122"/>
                <a:ea typeface="黑体" panose="02010609060101010101" pitchFamily="49" charset="-122"/>
              </a:rPr>
              <a:t>程序语言本身</a:t>
            </a:r>
            <a:r>
              <a:rPr lang="zh-CN" altLang="en-US" b="1" dirty="0">
                <a:latin typeface="黑体" panose="02010609060101010101" pitchFamily="49" charset="-122"/>
                <a:ea typeface="黑体" panose="02010609060101010101" pitchFamily="49" charset="-122"/>
              </a:rPr>
              <a:t>所具有的安全</a:t>
            </a:r>
            <a:r>
              <a:rPr lang="zh-CN" altLang="en-US" b="1" dirty="0">
                <a:solidFill>
                  <a:schemeClr val="folHlink"/>
                </a:solidFill>
                <a:latin typeface="黑体" panose="02010609060101010101" pitchFamily="49" charset="-122"/>
                <a:ea typeface="黑体" panose="02010609060101010101" pitchFamily="49" charset="-122"/>
              </a:rPr>
              <a:t>隐患</a:t>
            </a:r>
            <a:r>
              <a:rPr lang="zh-CN" altLang="en-US" b="1" dirty="0">
                <a:latin typeface="黑体" panose="02010609060101010101" pitchFamily="49" charset="-122"/>
                <a:ea typeface="黑体" panose="02010609060101010101" pitchFamily="49" charset="-122"/>
              </a:rPr>
              <a:t>等，</a:t>
            </a:r>
            <a:r>
              <a:rPr lang="zh-CN" altLang="en-US" b="1" dirty="0">
                <a:solidFill>
                  <a:srgbClr val="0F73EE"/>
                </a:solidFill>
                <a:latin typeface="黑体" panose="02010609060101010101" pitchFamily="49" charset="-122"/>
                <a:ea typeface="黑体" panose="02010609060101010101" pitchFamily="49" charset="-122"/>
              </a:rPr>
              <a:t>使用</a:t>
            </a:r>
            <a:r>
              <a:rPr lang="zh-CN" altLang="en-US" b="1" dirty="0">
                <a:latin typeface="黑体" panose="02010609060101010101" pitchFamily="49" charset="-122"/>
                <a:ea typeface="黑体" panose="02010609060101010101" pitchFamily="49" charset="-122"/>
              </a:rPr>
              <a:t>网络</a:t>
            </a:r>
            <a:r>
              <a:rPr lang="zh-CN" altLang="en-US" b="1" dirty="0">
                <a:solidFill>
                  <a:schemeClr val="folHlink"/>
                </a:solidFill>
                <a:latin typeface="黑体" panose="02010609060101010101" pitchFamily="49" charset="-122"/>
                <a:ea typeface="黑体" panose="02010609060101010101" pitchFamily="49" charset="-122"/>
              </a:rPr>
              <a:t>命令</a:t>
            </a:r>
            <a:r>
              <a:rPr lang="zh-CN" altLang="en-US" b="1" dirty="0">
                <a:latin typeface="黑体" panose="02010609060101010101" pitchFamily="49" charset="-122"/>
                <a:ea typeface="黑体" panose="02010609060101010101" pitchFamily="49" charset="-122"/>
              </a:rPr>
              <a:t>，或者从</a:t>
            </a:r>
            <a:r>
              <a:rPr lang="en-US" altLang="zh-CN" b="1" dirty="0">
                <a:latin typeface="黑体" panose="02010609060101010101" pitchFamily="49" charset="-122"/>
                <a:ea typeface="黑体" panose="02010609060101010101" pitchFamily="49" charset="-122"/>
              </a:rPr>
              <a:t>Internet</a:t>
            </a:r>
            <a:r>
              <a:rPr lang="zh-CN" altLang="en-US" b="1" dirty="0">
                <a:latin typeface="黑体" panose="02010609060101010101" pitchFamily="49" charset="-122"/>
                <a:ea typeface="黑体" panose="02010609060101010101" pitchFamily="49" charset="-122"/>
              </a:rPr>
              <a:t>上下载的专用攻击</a:t>
            </a:r>
            <a:r>
              <a:rPr lang="zh-CN" altLang="en-US" b="1" dirty="0">
                <a:solidFill>
                  <a:schemeClr val="folHlink"/>
                </a:solidFill>
                <a:latin typeface="黑体" panose="02010609060101010101" pitchFamily="49" charset="-122"/>
                <a:ea typeface="黑体" panose="02010609060101010101" pitchFamily="49" charset="-122"/>
              </a:rPr>
              <a:t>工具</a:t>
            </a:r>
            <a:r>
              <a:rPr lang="zh-CN" altLang="en-US" b="1" dirty="0">
                <a:latin typeface="黑体" panose="02010609060101010101" pitchFamily="49" charset="-122"/>
                <a:ea typeface="黑体" panose="02010609060101010101" pitchFamily="49" charset="-122"/>
              </a:rPr>
              <a:t>，或者攻击者自己编写的攻击</a:t>
            </a:r>
            <a:r>
              <a:rPr lang="zh-CN" altLang="en-US" b="1" dirty="0">
                <a:solidFill>
                  <a:schemeClr val="folHlink"/>
                </a:solidFill>
                <a:latin typeface="黑体" panose="02010609060101010101" pitchFamily="49" charset="-122"/>
                <a:ea typeface="黑体" panose="02010609060101010101" pitchFamily="49" charset="-122"/>
              </a:rPr>
              <a:t>程序</a:t>
            </a:r>
            <a:r>
              <a:rPr lang="zh-CN" altLang="en-US" b="1" dirty="0">
                <a:latin typeface="黑体" panose="02010609060101010101" pitchFamily="49" charset="-122"/>
                <a:ea typeface="黑体" panose="02010609060101010101" pitchFamily="49" charset="-122"/>
              </a:rPr>
              <a:t>，</a:t>
            </a:r>
            <a:r>
              <a:rPr lang="zh-CN" altLang="en-US" b="1" dirty="0">
                <a:solidFill>
                  <a:srgbClr val="0F73EE"/>
                </a:solidFill>
                <a:latin typeface="黑体" panose="02010609060101010101" pitchFamily="49" charset="-122"/>
                <a:ea typeface="黑体" panose="02010609060101010101" pitchFamily="49" charset="-122"/>
              </a:rPr>
              <a:t>攻击</a:t>
            </a:r>
            <a:r>
              <a:rPr lang="zh-CN" altLang="en-US" b="1" dirty="0">
                <a:latin typeface="黑体" panose="02010609060101010101" pitchFamily="49" charset="-122"/>
                <a:ea typeface="黑体" panose="02010609060101010101" pitchFamily="49" charset="-122"/>
              </a:rPr>
              <a:t>目标主机使其无法正常工作，或者通过非法进入本地或者远程用户主机系统，非法获得、修改、删除用户系统的信息以及在用户系统上添加各种恶意信息等</a:t>
            </a:r>
            <a:r>
              <a:rPr lang="zh-CN" altLang="en-US" b="1" dirty="0">
                <a:solidFill>
                  <a:schemeClr val="folHlink"/>
                </a:solidFill>
                <a:latin typeface="黑体" panose="02010609060101010101" pitchFamily="49" charset="-122"/>
                <a:ea typeface="黑体" panose="02010609060101010101" pitchFamily="49" charset="-122"/>
              </a:rPr>
              <a:t>一系列过程的总称</a:t>
            </a:r>
            <a:r>
              <a:rPr lang="zh-CN" altLang="en-US" b="1" dirty="0">
                <a:latin typeface="黑体" panose="02010609060101010101" pitchFamily="49" charset="-122"/>
                <a:ea typeface="黑体" panose="02010609060101010101" pitchFamily="49" charset="-122"/>
              </a:rPr>
              <a:t>。</a:t>
            </a:r>
          </a:p>
        </p:txBody>
      </p:sp>
      <p:grpSp>
        <p:nvGrpSpPr>
          <p:cNvPr id="4" name="组合 3"/>
          <p:cNvGrpSpPr/>
          <p:nvPr/>
        </p:nvGrpSpPr>
        <p:grpSpPr>
          <a:xfrm>
            <a:off x="3497699" y="391533"/>
            <a:ext cx="4878866" cy="791052"/>
            <a:chOff x="824072" y="1564267"/>
            <a:chExt cx="4878866" cy="791052"/>
          </a:xfrm>
        </p:grpSpPr>
        <p:sp>
          <p:nvSpPr>
            <p:cNvPr id="5" name="矩形: 圆角 16"/>
            <p:cNvSpPr/>
            <p:nvPr/>
          </p:nvSpPr>
          <p:spPr>
            <a:xfrm>
              <a:off x="824072" y="1740416"/>
              <a:ext cx="4878866"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001416" cy="480131"/>
            </a:xfrm>
            <a:prstGeom prst="rect">
              <a:avLst/>
            </a:prstGeom>
          </p:spPr>
          <p:txBody>
            <a:bodyPr wrap="none">
              <a:spAutoFit/>
            </a:bodyPr>
            <a:lstStyle/>
            <a:p>
              <a:pPr>
                <a:lnSpc>
                  <a:spcPct val="90000"/>
                </a:lnSpc>
              </a:pPr>
              <a:r>
                <a:rPr lang="en-US" altLang="zh-CN" sz="2800" dirty="0">
                  <a:solidFill>
                    <a:schemeClr val="bg1"/>
                  </a:solidFill>
                  <a:latin typeface="+mj-ea"/>
                </a:rPr>
                <a:t>4.1.4 </a:t>
              </a:r>
              <a:r>
                <a:rPr lang="zh-CN" altLang="en-US" sz="2800" dirty="0">
                  <a:solidFill>
                    <a:schemeClr val="bg1"/>
                  </a:solidFill>
                  <a:latin typeface="+mj-ea"/>
                </a:rPr>
                <a:t>网络攻击基本过程 </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矩形 138243"/>
          <p:cNvSpPr/>
          <p:nvPr/>
        </p:nvSpPr>
        <p:spPr>
          <a:xfrm>
            <a:off x="2063751" y="908051"/>
            <a:ext cx="8062913" cy="5300663"/>
          </a:xfrm>
          <a:prstGeom prst="rect">
            <a:avLst/>
          </a:prstGeom>
          <a:noFill/>
          <a:ln w="9525">
            <a:noFill/>
          </a:ln>
        </p:spPr>
        <p:txBody>
          <a:bodyPr lIns="92075" tIns="46038" rIns="92075" bIns="46038" anchor="ctr"/>
          <a:lstStyle/>
          <a:p>
            <a:pPr fontAlgn="base">
              <a:spcBef>
                <a:spcPct val="0"/>
              </a:spcBef>
              <a:spcAft>
                <a:spcPct val="0"/>
              </a:spcAft>
              <a:defRPr/>
            </a:pP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1.</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目标探测</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通过网络</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通过电信</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2.</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定位</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3.</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获取一般用户访问权</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4.</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提升访问权</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5.</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获取目标主机上的信息</a:t>
            </a:r>
            <a:b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br>
            <a:r>
              <a:rPr lang="en-US" altLang="zh-CN"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6.</a:t>
            </a:r>
            <a:r>
              <a:rPr lang="zh-CN" altLang="en-US" sz="40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rPr>
              <a:t>扩展攻击效果与消除入侵踪迹</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45409"/>
          <p:cNvSpPr>
            <a:spLocks noGrp="1"/>
          </p:cNvSpPr>
          <p:nvPr>
            <p:ph type="title"/>
          </p:nvPr>
        </p:nvSpPr>
        <p:spPr>
          <a:xfrm>
            <a:off x="2208213" y="333375"/>
            <a:ext cx="7772400" cy="1143000"/>
          </a:xfrm>
        </p:spPr>
        <p:txBody>
          <a:bodyPr lIns="92075" tIns="46038" rIns="92075" bIns="46038" anchor="ctr"/>
          <a:lstStyle/>
          <a:p>
            <a:pPr algn="ctr" fontAlgn="base">
              <a:lnSpc>
                <a:spcPct val="100000"/>
              </a:lnSpc>
              <a:spcAft>
                <a:spcPct val="0"/>
              </a:spcAft>
              <a:defRPr/>
            </a:pPr>
            <a:r>
              <a:rPr lang="en-US" altLang="zh-CN" sz="4400" noProof="1">
                <a:solidFill>
                  <a:schemeClr val="accent1"/>
                </a:solidFill>
                <a:effectLst>
                  <a:outerShdw blurRad="38100" dist="38100" dir="2700000">
                    <a:srgbClr val="000000"/>
                  </a:outerShdw>
                </a:effectLst>
              </a:rPr>
              <a:t>X-Scan</a:t>
            </a:r>
          </a:p>
        </p:txBody>
      </p:sp>
      <p:pic>
        <p:nvPicPr>
          <p:cNvPr id="32770" name="文本占位符 145410"/>
          <p:cNvPicPr>
            <a:picLocks noGrp="1" noChangeAspect="1"/>
          </p:cNvPicPr>
          <p:nvPr>
            <p:ph idx="1"/>
          </p:nvPr>
        </p:nvPicPr>
        <p:blipFill>
          <a:blip r:embed="rId2"/>
          <a:stretch>
            <a:fillRect/>
          </a:stretch>
        </p:blipFill>
        <p:spPr>
          <a:xfrm>
            <a:off x="2209800" y="1341438"/>
            <a:ext cx="7772400" cy="5256212"/>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46433"/>
          <p:cNvSpPr>
            <a:spLocks noGrp="1"/>
          </p:cNvSpPr>
          <p:nvPr>
            <p:ph type="title"/>
          </p:nvPr>
        </p:nvSpPr>
        <p:spPr>
          <a:xfrm>
            <a:off x="7824789" y="-90487"/>
            <a:ext cx="2157413" cy="1143000"/>
          </a:xfrm>
        </p:spPr>
        <p:txBody>
          <a:bodyPr lIns="92075" tIns="46038" rIns="92075" bIns="46038" anchor="ctr"/>
          <a:lstStyle/>
          <a:p>
            <a:pPr algn="ctr" fontAlgn="base">
              <a:lnSpc>
                <a:spcPct val="100000"/>
              </a:lnSpc>
              <a:spcAft>
                <a:spcPct val="0"/>
              </a:spcAft>
              <a:defRPr/>
            </a:pPr>
            <a:r>
              <a:rPr lang="en-US" altLang="zh-CN" sz="4400" noProof="1">
                <a:solidFill>
                  <a:schemeClr val="accent1"/>
                </a:solidFill>
                <a:effectLst>
                  <a:outerShdw blurRad="38100" dist="38100" dir="2700000">
                    <a:srgbClr val="000000"/>
                  </a:outerShdw>
                </a:effectLst>
              </a:rPr>
              <a:t>X-Scan</a:t>
            </a:r>
            <a:endParaRPr lang="zh-CN" altLang="en-US" sz="4400" noProof="1">
              <a:solidFill>
                <a:schemeClr val="accent1"/>
              </a:solidFill>
              <a:effectLst>
                <a:outerShdw blurRad="38100" dist="38100" dir="2700000">
                  <a:srgbClr val="000000"/>
                </a:outerShdw>
              </a:effectLst>
            </a:endParaRPr>
          </a:p>
        </p:txBody>
      </p:sp>
      <p:pic>
        <p:nvPicPr>
          <p:cNvPr id="33795" name="图片 146435"/>
          <p:cNvPicPr>
            <a:picLocks noChangeAspect="1"/>
          </p:cNvPicPr>
          <p:nvPr/>
        </p:nvPicPr>
        <p:blipFill>
          <a:blip r:embed="rId2"/>
          <a:stretch>
            <a:fillRect/>
          </a:stretch>
        </p:blipFill>
        <p:spPr>
          <a:xfrm>
            <a:off x="1709739" y="0"/>
            <a:ext cx="6257925" cy="6724650"/>
          </a:xfrm>
          <a:prstGeom prst="rect">
            <a:avLst/>
          </a:prstGeom>
          <a:noFill/>
          <a:ln w="9525">
            <a:noFill/>
          </a:ln>
        </p:spPr>
      </p:pic>
      <p:pic>
        <p:nvPicPr>
          <p:cNvPr id="33796" name="图片 146438"/>
          <p:cNvPicPr>
            <a:picLocks noChangeAspect="1"/>
          </p:cNvPicPr>
          <p:nvPr/>
        </p:nvPicPr>
        <p:blipFill>
          <a:blip r:embed="rId3"/>
          <a:srcRect r="18480"/>
          <a:stretch>
            <a:fillRect/>
          </a:stretch>
        </p:blipFill>
        <p:spPr>
          <a:xfrm>
            <a:off x="5565775" y="752476"/>
            <a:ext cx="4922838" cy="610552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noProof="1">
                <a:solidFill>
                  <a:srgbClr val="002060"/>
                </a:solidFill>
                <a:latin typeface="思源黑体 CN Heavy" panose="020B0A00000000000000" pitchFamily="34" charset="-122"/>
                <a:ea typeface="思源黑体 CN Heavy" panose="020B0A00000000000000" pitchFamily="34" charset="-122"/>
                <a:cs typeface="+mn-ea"/>
              </a:rPr>
              <a:t>4.2 </a:t>
            </a:r>
            <a:r>
              <a:rPr lang="zh-CN" altLang="en-US" sz="4000" noProof="1">
                <a:solidFill>
                  <a:srgbClr val="002060"/>
                </a:solidFill>
                <a:latin typeface="思源黑体 CN Heavy" panose="020B0A00000000000000" pitchFamily="34" charset="-122"/>
                <a:ea typeface="思源黑体 CN Heavy" panose="020B0A00000000000000" pitchFamily="34" charset="-122"/>
                <a:cs typeface="+mn-ea"/>
              </a:rPr>
              <a:t>网络探测类攻击</a:t>
            </a:r>
            <a:endPar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占位符 51202"/>
          <p:cNvSpPr>
            <a:spLocks noGrp="1"/>
          </p:cNvSpPr>
          <p:nvPr>
            <p:ph idx="1"/>
          </p:nvPr>
        </p:nvSpPr>
        <p:spPr>
          <a:xfrm>
            <a:off x="2203554" y="1981200"/>
            <a:ext cx="7495082" cy="4114800"/>
          </a:xfrm>
        </p:spPr>
        <p:txBody>
          <a:bodyPr vert="horz" wrap="square" lIns="91440" tIns="45720" rIns="91440" bIns="45720" anchor="t"/>
          <a:lstStyle/>
          <a:p>
            <a:pPr eaLnBrk="1" hangingPunct="1"/>
            <a:r>
              <a:rPr lang="zh-CN" altLang="en-US" sz="3600" b="1" dirty="0">
                <a:latin typeface="黑体" panose="02010609060101010101" pitchFamily="49" charset="-122"/>
                <a:ea typeface="黑体" panose="02010609060101010101" pitchFamily="49" charset="-122"/>
              </a:rPr>
              <a:t>基本概念</a:t>
            </a:r>
          </a:p>
          <a:p>
            <a:pPr eaLnBrk="1" hangingPunct="1"/>
            <a:r>
              <a:rPr lang="zh-CN" altLang="en-US" sz="3600" b="1" dirty="0">
                <a:latin typeface="黑体" panose="02010609060101010101" pitchFamily="49" charset="-122"/>
                <a:ea typeface="黑体" panose="02010609060101010101" pitchFamily="49" charset="-122"/>
              </a:rPr>
              <a:t>端口和服务检测 </a:t>
            </a:r>
          </a:p>
          <a:p>
            <a:pPr eaLnBrk="1" hangingPunct="1"/>
            <a:r>
              <a:rPr lang="zh-CN" altLang="en-US" sz="3600" b="1" dirty="0">
                <a:latin typeface="黑体" panose="02010609060101010101" pitchFamily="49" charset="-122"/>
                <a:ea typeface="黑体" panose="02010609060101010101" pitchFamily="49" charset="-122"/>
              </a:rPr>
              <a:t>操作系统和应用系统识别 </a:t>
            </a:r>
          </a:p>
          <a:p>
            <a:pPr eaLnBrk="1" hangingPunct="1"/>
            <a:r>
              <a:rPr lang="zh-CN" altLang="en-US" sz="3600" b="1" dirty="0">
                <a:latin typeface="黑体" panose="02010609060101010101" pitchFamily="49" charset="-122"/>
                <a:ea typeface="黑体" panose="02010609060101010101" pitchFamily="49" charset="-122"/>
              </a:rPr>
              <a:t>基于协议栈指纹的操作系统识别 </a:t>
            </a:r>
          </a:p>
          <a:p>
            <a:pPr eaLnBrk="1" hangingPunct="1"/>
            <a:r>
              <a:rPr lang="zh-CN" altLang="en-US" sz="3600" b="1" dirty="0">
                <a:latin typeface="黑体" panose="02010609060101010101" pitchFamily="49" charset="-122"/>
                <a:ea typeface="黑体" panose="02010609060101010101" pitchFamily="49" charset="-122"/>
              </a:rPr>
              <a:t>网络窃听</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文本占位符 52226"/>
          <p:cNvSpPr>
            <a:spLocks noGrp="1"/>
          </p:cNvSpPr>
          <p:nvPr>
            <p:ph idx="1"/>
          </p:nvPr>
        </p:nvSpPr>
        <p:spPr>
          <a:xfrm>
            <a:off x="1081790" y="1726368"/>
            <a:ext cx="10028419" cy="4114800"/>
          </a:xfrm>
        </p:spPr>
        <p:txBody>
          <a:bodyPr vert="horz" wrap="square" lIns="91440" tIns="45720" rIns="91440" bIns="45720" anchor="t"/>
          <a:lstStyle/>
          <a:p>
            <a:pPr algn="just" eaLnBrk="1" hangingPunct="1">
              <a:buNone/>
            </a:pPr>
            <a:r>
              <a:rPr lang="zh-CN" altLang="en-US" dirty="0">
                <a:latin typeface="黑体" panose="02010609060101010101" pitchFamily="49" charset="-122"/>
                <a:ea typeface="黑体" panose="02010609060101010101" pitchFamily="49" charset="-122"/>
              </a:rPr>
              <a:t>    最简单的获取目标系统相关信息的手段是操作系统内置的那些网络命令，比如：</a:t>
            </a:r>
            <a:r>
              <a:rPr lang="en-US" altLang="zh-CN" dirty="0">
                <a:latin typeface="黑体" panose="02010609060101010101" pitchFamily="49" charset="-122"/>
                <a:ea typeface="黑体" panose="02010609060101010101" pitchFamily="49" charset="-122"/>
              </a:rPr>
              <a:t>ping</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finger</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r-</a:t>
            </a:r>
            <a:r>
              <a:rPr lang="zh-CN" altLang="en-US" dirty="0">
                <a:latin typeface="黑体" panose="02010609060101010101" pitchFamily="49" charset="-122"/>
                <a:ea typeface="黑体" panose="02010609060101010101" pitchFamily="49" charset="-122"/>
              </a:rPr>
              <a:t>命令、</a:t>
            </a:r>
            <a:r>
              <a:rPr lang="en-US" altLang="zh-CN" dirty="0">
                <a:latin typeface="黑体" panose="02010609060101010101" pitchFamily="49" charset="-122"/>
                <a:ea typeface="黑体" panose="02010609060101010101" pitchFamily="49" charset="-122"/>
              </a:rPr>
              <a:t>whois</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traceroute</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DNS lookup</a:t>
            </a:r>
            <a:r>
              <a:rPr lang="zh-CN" altLang="en-US" dirty="0">
                <a:latin typeface="黑体" panose="02010609060101010101" pitchFamily="49" charset="-122"/>
                <a:ea typeface="黑体" panose="02010609060101010101" pitchFamily="49" charset="-122"/>
              </a:rPr>
              <a:t>等等。它们的使用方法只需根据相应的帮助信息即可，这里我们不再详细讨论。另外，还可以利用网络信息探测软件或技术来探测目标系统相关安全信息，包括：端口和服务扫描、操作系统和应用系统识别、网络安全扫描等等。 </a:t>
            </a:r>
          </a:p>
        </p:txBody>
      </p:sp>
      <p:grpSp>
        <p:nvGrpSpPr>
          <p:cNvPr id="4" name="组合 3"/>
          <p:cNvGrpSpPr/>
          <p:nvPr/>
        </p:nvGrpSpPr>
        <p:grpSpPr>
          <a:xfrm>
            <a:off x="4359637" y="451494"/>
            <a:ext cx="3472726" cy="791052"/>
            <a:chOff x="824072" y="1564267"/>
            <a:chExt cx="3472726" cy="791052"/>
          </a:xfrm>
        </p:grpSpPr>
        <p:sp>
          <p:nvSpPr>
            <p:cNvPr id="5" name="矩形: 圆角 16"/>
            <p:cNvSpPr/>
            <p:nvPr/>
          </p:nvSpPr>
          <p:spPr>
            <a:xfrm>
              <a:off x="824072" y="1740416"/>
              <a:ext cx="3472726"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484976" cy="480131"/>
            </a:xfrm>
            <a:prstGeom prst="rect">
              <a:avLst/>
            </a:prstGeom>
          </p:spPr>
          <p:txBody>
            <a:bodyPr wrap="none">
              <a:spAutoFit/>
            </a:bodyPr>
            <a:lstStyle/>
            <a:p>
              <a:pPr>
                <a:lnSpc>
                  <a:spcPct val="90000"/>
                </a:lnSpc>
              </a:pPr>
              <a:r>
                <a:rPr lang="en-US" altLang="zh-CN" sz="2800" noProof="1">
                  <a:solidFill>
                    <a:schemeClr val="bg1"/>
                  </a:solidFill>
                  <a:latin typeface="+mj-ea"/>
                </a:rPr>
                <a:t>4.2.1 </a:t>
              </a:r>
              <a:r>
                <a:rPr lang="zh-CN" altLang="en-US" sz="2800" noProof="1">
                  <a:solidFill>
                    <a:schemeClr val="bg1"/>
                  </a:solidFill>
                  <a:latin typeface="+mj-ea"/>
                </a:rPr>
                <a:t>基本概念</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42337"/>
          <p:cNvSpPr>
            <a:spLocks noGrp="1"/>
          </p:cNvSpPr>
          <p:nvPr>
            <p:ph type="title"/>
          </p:nvPr>
        </p:nvSpPr>
        <p:spPr>
          <a:xfrm>
            <a:off x="2209800" y="333375"/>
            <a:ext cx="7772400" cy="1143000"/>
          </a:xfrm>
        </p:spPr>
        <p:txBody>
          <a:bodyPr lIns="92075" tIns="46038" rIns="92075" bIns="46038" anchor="ctr"/>
          <a:lstStyle/>
          <a:p>
            <a:pPr algn="ctr" fontAlgn="base">
              <a:lnSpc>
                <a:spcPct val="100000"/>
              </a:lnSpc>
              <a:spcAft>
                <a:spcPct val="0"/>
              </a:spcAft>
              <a:defRPr/>
            </a:pPr>
            <a:r>
              <a:rPr lang="en-US" altLang="zh-CN" sz="4400" noProof="1">
                <a:solidFill>
                  <a:schemeClr val="accent1"/>
                </a:solidFill>
                <a:effectLst>
                  <a:outerShdw blurRad="38100" dist="38100" dir="2700000">
                    <a:srgbClr val="000000"/>
                  </a:outerShdw>
                </a:effectLst>
              </a:rPr>
              <a:t>Windows</a:t>
            </a:r>
            <a:r>
              <a:rPr lang="zh-CN" altLang="en-US" sz="4400" noProof="1">
                <a:solidFill>
                  <a:schemeClr val="accent1"/>
                </a:solidFill>
                <a:effectLst>
                  <a:outerShdw blurRad="38100" dist="38100" dir="2700000">
                    <a:srgbClr val="000000"/>
                  </a:outerShdw>
                </a:effectLst>
              </a:rPr>
              <a:t>的一些网络命令</a:t>
            </a:r>
          </a:p>
        </p:txBody>
      </p:sp>
      <p:sp>
        <p:nvSpPr>
          <p:cNvPr id="36866" name="文本占位符 142338"/>
          <p:cNvSpPr>
            <a:spLocks noGrp="1"/>
          </p:cNvSpPr>
          <p:nvPr>
            <p:ph idx="1"/>
          </p:nvPr>
        </p:nvSpPr>
        <p:spPr>
          <a:xfrm>
            <a:off x="1919289" y="1497014"/>
            <a:ext cx="8353425" cy="4751387"/>
          </a:xfrm>
        </p:spPr>
        <p:txBody>
          <a:bodyPr vert="horz" wrap="square" lIns="91440" tIns="45720" rIns="91440" bIns="45720" anchor="t"/>
          <a:lstStyle/>
          <a:p>
            <a:pPr eaLnBrk="1" hangingPunct="1">
              <a:lnSpc>
                <a:spcPct val="80000"/>
              </a:lnSpc>
              <a:buNone/>
            </a:pPr>
            <a:r>
              <a:rPr lang="en-US" altLang="zh-CN" sz="2400" dirty="0"/>
              <a:t>1.</a:t>
            </a:r>
            <a:r>
              <a:rPr lang="zh-CN" altLang="en-US" sz="2400" dirty="0"/>
              <a:t>最基本，最常用的，测试物理网络的 </a:t>
            </a:r>
            <a:br>
              <a:rPr lang="zh-CN" altLang="en-US" sz="2400" dirty="0"/>
            </a:br>
            <a:r>
              <a:rPr lang="en-US" altLang="zh-CN" sz="2400" dirty="0">
                <a:solidFill>
                  <a:schemeClr val="folHlink"/>
                </a:solidFill>
              </a:rPr>
              <a:t>ping</a:t>
            </a:r>
            <a:r>
              <a:rPr lang="en-US" altLang="zh-CN" sz="2400" dirty="0"/>
              <a:t> 192.168.10.88 </a:t>
            </a:r>
            <a:r>
              <a:rPr lang="zh-CN" altLang="en-US" sz="2400" dirty="0"/>
              <a:t>－</a:t>
            </a:r>
            <a:r>
              <a:rPr lang="en-US" altLang="zh-CN" sz="2400" dirty="0"/>
              <a:t>t </a:t>
            </a:r>
            <a:r>
              <a:rPr lang="zh-CN" altLang="en-US" sz="2400" dirty="0"/>
              <a:t>，参数－</a:t>
            </a:r>
            <a:r>
              <a:rPr lang="en-US" altLang="zh-CN" sz="2400" dirty="0"/>
              <a:t>t</a:t>
            </a:r>
            <a:r>
              <a:rPr lang="zh-CN" altLang="en-US" sz="2400" dirty="0"/>
              <a:t>是等待用户去中断测试 </a:t>
            </a:r>
          </a:p>
          <a:p>
            <a:pPr eaLnBrk="1" hangingPunct="1">
              <a:lnSpc>
                <a:spcPct val="80000"/>
              </a:lnSpc>
              <a:buNone/>
            </a:pPr>
            <a:r>
              <a:rPr lang="en-US" altLang="zh-CN" sz="2400" dirty="0"/>
              <a:t>2.</a:t>
            </a:r>
            <a:r>
              <a:rPr lang="zh-CN" altLang="en-US" sz="2400" dirty="0"/>
              <a:t>查看</a:t>
            </a:r>
            <a:r>
              <a:rPr lang="en-US" altLang="zh-CN" sz="2400" dirty="0"/>
              <a:t>DNS</a:t>
            </a:r>
            <a:r>
              <a:rPr lang="zh-CN" altLang="en-US" sz="2400" dirty="0"/>
              <a:t>、</a:t>
            </a:r>
            <a:r>
              <a:rPr lang="en-US" altLang="zh-CN" sz="2400" dirty="0"/>
              <a:t>IP</a:t>
            </a:r>
            <a:r>
              <a:rPr lang="zh-CN" altLang="en-US" sz="2400" dirty="0"/>
              <a:t>、</a:t>
            </a:r>
            <a:r>
              <a:rPr lang="en-US" altLang="zh-CN" sz="2400" dirty="0"/>
              <a:t>Mac</a:t>
            </a:r>
            <a:r>
              <a:rPr lang="zh-CN" altLang="en-US" sz="2400" dirty="0"/>
              <a:t>等 </a:t>
            </a:r>
            <a:br>
              <a:rPr lang="zh-CN" altLang="en-US" sz="2400" dirty="0"/>
            </a:br>
            <a:r>
              <a:rPr lang="en-US" altLang="zh-CN" sz="2400" dirty="0"/>
              <a:t>A.Win98</a:t>
            </a:r>
            <a:r>
              <a:rPr lang="zh-CN" altLang="en-US" sz="2400" dirty="0"/>
              <a:t>：</a:t>
            </a:r>
            <a:r>
              <a:rPr lang="en-US" altLang="zh-CN" sz="2400" dirty="0"/>
              <a:t>winipcfg </a:t>
            </a:r>
            <a:br>
              <a:rPr lang="en-US" altLang="zh-CN" sz="2400" dirty="0"/>
            </a:br>
            <a:r>
              <a:rPr lang="en-US" altLang="zh-CN" sz="2400" dirty="0"/>
              <a:t>B.Win2000</a:t>
            </a:r>
            <a:r>
              <a:rPr lang="zh-CN" altLang="en-US" sz="2400" dirty="0"/>
              <a:t>以上：</a:t>
            </a:r>
            <a:r>
              <a:rPr lang="en-US" altLang="zh-CN" sz="2400" dirty="0" err="1">
                <a:solidFill>
                  <a:schemeClr val="folHlink"/>
                </a:solidFill>
              </a:rPr>
              <a:t>ipconfig</a:t>
            </a:r>
            <a:r>
              <a:rPr lang="en-US" altLang="zh-CN" sz="2400" dirty="0"/>
              <a:t>/all </a:t>
            </a:r>
            <a:br>
              <a:rPr lang="en-US" altLang="zh-CN" sz="2400" dirty="0"/>
            </a:br>
            <a:r>
              <a:rPr lang="en-US" altLang="zh-CN" sz="2400" dirty="0"/>
              <a:t>C.NSLOOKUP</a:t>
            </a:r>
            <a:r>
              <a:rPr lang="zh-CN" altLang="en-US" sz="2400" dirty="0"/>
              <a:t>：如查看河北的</a:t>
            </a:r>
            <a:r>
              <a:rPr lang="en-US" altLang="zh-CN" sz="2400" dirty="0"/>
              <a:t>DNS </a:t>
            </a:r>
            <a:br>
              <a:rPr lang="en-US" altLang="zh-CN" sz="2400" dirty="0"/>
            </a:br>
            <a:r>
              <a:rPr lang="en-US" altLang="zh-CN" sz="2400" dirty="0"/>
              <a:t>C:\&gt;</a:t>
            </a:r>
            <a:r>
              <a:rPr lang="en-US" altLang="zh-CN" sz="2400" dirty="0">
                <a:solidFill>
                  <a:schemeClr val="folHlink"/>
                </a:solidFill>
              </a:rPr>
              <a:t>nslookup</a:t>
            </a:r>
            <a:r>
              <a:rPr lang="en-US" altLang="zh-CN" sz="2400" dirty="0"/>
              <a:t> </a:t>
            </a:r>
            <a:br>
              <a:rPr lang="en-US" altLang="zh-CN" sz="2400" dirty="0"/>
            </a:br>
            <a:r>
              <a:rPr lang="en-US" altLang="zh-CN" sz="2400" dirty="0"/>
              <a:t>Default Server: ns.hesjptt.net.cn </a:t>
            </a:r>
            <a:br>
              <a:rPr lang="en-US" altLang="zh-CN" sz="2400" dirty="0"/>
            </a:br>
            <a:r>
              <a:rPr lang="en-US" altLang="zh-CN" sz="2400" dirty="0"/>
              <a:t>Address: 202.99.160.68 </a:t>
            </a:r>
            <a:br>
              <a:rPr lang="en-US" altLang="zh-CN" sz="2400" dirty="0"/>
            </a:br>
            <a:r>
              <a:rPr lang="en-US" altLang="zh-CN" sz="2400" dirty="0"/>
              <a:t>&gt;server 202.99.41.2 </a:t>
            </a:r>
            <a:r>
              <a:rPr lang="zh-CN" altLang="en-US" sz="2400" dirty="0"/>
              <a:t>则将</a:t>
            </a:r>
            <a:r>
              <a:rPr lang="en-US" altLang="zh-CN" sz="2400" dirty="0"/>
              <a:t>DNS</a:t>
            </a:r>
            <a:r>
              <a:rPr lang="zh-CN" altLang="en-US" sz="2400" dirty="0"/>
              <a:t>改为了</a:t>
            </a:r>
            <a:r>
              <a:rPr lang="en-US" altLang="zh-CN" sz="2400" dirty="0"/>
              <a:t>41.2 </a:t>
            </a:r>
            <a:br>
              <a:rPr lang="en-US" altLang="zh-CN" sz="2400" dirty="0"/>
            </a:br>
            <a:r>
              <a:rPr lang="en-US" altLang="zh-CN" sz="2400" dirty="0"/>
              <a:t>&gt; pop.pcpop.com </a:t>
            </a:r>
            <a:br>
              <a:rPr lang="en-US" altLang="zh-CN" sz="2400" dirty="0"/>
            </a:br>
            <a:r>
              <a:rPr lang="en-US" altLang="zh-CN" sz="2400" dirty="0"/>
              <a:t>Server: ns.hesjptt.net.cn </a:t>
            </a:r>
            <a:br>
              <a:rPr lang="en-US" altLang="zh-CN" sz="2400" dirty="0"/>
            </a:br>
            <a:r>
              <a:rPr lang="en-US" altLang="zh-CN" sz="2400" dirty="0"/>
              <a:t>Address: 202.99.160.68 </a:t>
            </a:r>
            <a:br>
              <a:rPr lang="en-US" altLang="zh-CN" sz="2400" dirty="0"/>
            </a:br>
            <a:r>
              <a:rPr lang="en-US" altLang="zh-CN" sz="2400" dirty="0"/>
              <a:t>Non-authoritative answer: </a:t>
            </a:r>
            <a:br>
              <a:rPr lang="en-US" altLang="zh-CN" sz="2400" dirty="0"/>
            </a:br>
            <a:r>
              <a:rPr lang="en-US" altLang="zh-CN" sz="2400" dirty="0"/>
              <a:t>Name: pop.pcpop.com </a:t>
            </a:r>
            <a:br>
              <a:rPr lang="en-US" altLang="zh-CN" sz="2400" dirty="0"/>
            </a:br>
            <a:r>
              <a:rPr lang="en-US" altLang="zh-CN" sz="2400" dirty="0"/>
              <a:t>Address: 202.99.160.212</a:t>
            </a:r>
            <a:endParaRPr lang="zh-CN"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占位符 143362"/>
          <p:cNvSpPr>
            <a:spLocks noGrp="1"/>
          </p:cNvSpPr>
          <p:nvPr>
            <p:ph idx="1"/>
          </p:nvPr>
        </p:nvSpPr>
        <p:spPr>
          <a:xfrm>
            <a:off x="2209800" y="692151"/>
            <a:ext cx="7772400" cy="5832475"/>
          </a:xfrm>
        </p:spPr>
        <p:txBody>
          <a:bodyPr vert="horz" wrap="square" lIns="91440" tIns="45720" rIns="91440" bIns="45720" anchor="t"/>
          <a:lstStyle/>
          <a:p>
            <a:pPr eaLnBrk="1" hangingPunct="1">
              <a:lnSpc>
                <a:spcPct val="80000"/>
              </a:lnSpc>
              <a:buNone/>
            </a:pPr>
            <a:r>
              <a:rPr lang="en-US" altLang="zh-CN" sz="2000" dirty="0"/>
              <a:t>3.</a:t>
            </a:r>
            <a:r>
              <a:rPr lang="zh-CN" altLang="en-US" sz="2000" dirty="0"/>
              <a:t>网络信使 </a:t>
            </a:r>
            <a:br>
              <a:rPr lang="zh-CN" altLang="en-US" sz="2000" dirty="0"/>
            </a:br>
            <a:r>
              <a:rPr lang="en-US" altLang="zh-CN" sz="2000" dirty="0">
                <a:solidFill>
                  <a:schemeClr val="folHlink"/>
                </a:solidFill>
              </a:rPr>
              <a:t>Net send</a:t>
            </a:r>
            <a:r>
              <a:rPr lang="en-US" altLang="zh-CN" sz="2000" dirty="0"/>
              <a:t> </a:t>
            </a:r>
            <a:r>
              <a:rPr lang="zh-CN" altLang="en-US" sz="2000" dirty="0"/>
              <a:t>计算机名</a:t>
            </a:r>
            <a:r>
              <a:rPr lang="en-US" altLang="zh-CN" sz="2000" dirty="0"/>
              <a:t>/IP|* (</a:t>
            </a:r>
            <a:r>
              <a:rPr lang="zh-CN" altLang="en-US" sz="2000" dirty="0"/>
              <a:t>广播</a:t>
            </a:r>
            <a:r>
              <a:rPr lang="en-US" altLang="zh-CN" sz="2000" dirty="0"/>
              <a:t>) </a:t>
            </a:r>
            <a:r>
              <a:rPr lang="zh-CN" altLang="en-US" sz="2000" dirty="0"/>
              <a:t>传送内容，注意不能跨网段 </a:t>
            </a:r>
            <a:br>
              <a:rPr lang="zh-CN" altLang="en-US" sz="2000" dirty="0"/>
            </a:br>
            <a:r>
              <a:rPr lang="en-US" altLang="zh-CN" sz="2000" dirty="0"/>
              <a:t>net stop messenger </a:t>
            </a:r>
            <a:r>
              <a:rPr lang="zh-CN" altLang="en-US" sz="2000" dirty="0"/>
              <a:t>停止信使服务，也可以在面板－服务修改 </a:t>
            </a:r>
            <a:br>
              <a:rPr lang="zh-CN" altLang="en-US" sz="2000" dirty="0"/>
            </a:br>
            <a:r>
              <a:rPr lang="en-US" altLang="zh-CN" sz="2000" dirty="0"/>
              <a:t>net start messenger </a:t>
            </a:r>
            <a:r>
              <a:rPr lang="zh-CN" altLang="en-US" sz="2000" dirty="0"/>
              <a:t>开始信使服务 </a:t>
            </a:r>
          </a:p>
          <a:p>
            <a:pPr eaLnBrk="1" hangingPunct="1">
              <a:lnSpc>
                <a:spcPct val="80000"/>
              </a:lnSpc>
              <a:buNone/>
            </a:pPr>
            <a:r>
              <a:rPr lang="en-US" altLang="zh-CN" sz="2000" dirty="0"/>
              <a:t>4.</a:t>
            </a:r>
            <a:r>
              <a:rPr lang="zh-CN" altLang="en-US" sz="2000" dirty="0"/>
              <a:t>探测对方对方计算机名，所在的组、域及当前用户名 </a:t>
            </a:r>
            <a:br>
              <a:rPr lang="zh-CN" altLang="en-US" sz="2000" dirty="0"/>
            </a:br>
            <a:r>
              <a:rPr lang="en-US" altLang="zh-CN" sz="2000" dirty="0"/>
              <a:t>ping </a:t>
            </a:r>
            <a:r>
              <a:rPr lang="zh-CN" altLang="en-US" sz="2000" dirty="0"/>
              <a:t>－</a:t>
            </a:r>
            <a:r>
              <a:rPr lang="en-US" altLang="zh-CN" sz="2000" dirty="0"/>
              <a:t>a IP </a:t>
            </a:r>
            <a:r>
              <a:rPr lang="zh-CN" altLang="en-US" sz="2000" dirty="0"/>
              <a:t>－</a:t>
            </a:r>
            <a:r>
              <a:rPr lang="en-US" altLang="zh-CN" sz="2000" dirty="0"/>
              <a:t>t </a:t>
            </a:r>
            <a:r>
              <a:rPr lang="zh-CN" altLang="en-US" sz="2000" dirty="0"/>
              <a:t>，只显示</a:t>
            </a:r>
            <a:r>
              <a:rPr lang="en-US" altLang="zh-CN" sz="2000" dirty="0"/>
              <a:t>NetBios</a:t>
            </a:r>
            <a:r>
              <a:rPr lang="zh-CN" altLang="en-US" sz="2000" dirty="0"/>
              <a:t>名 </a:t>
            </a:r>
            <a:br>
              <a:rPr lang="zh-CN" altLang="en-US" sz="2000" dirty="0"/>
            </a:br>
            <a:r>
              <a:rPr lang="en-US" altLang="zh-CN" sz="2000" dirty="0"/>
              <a:t>nbtstat -a 192.168.10.146 </a:t>
            </a:r>
            <a:r>
              <a:rPr lang="zh-CN" altLang="en-US" sz="2000" dirty="0"/>
              <a:t>比较全的 </a:t>
            </a:r>
          </a:p>
          <a:p>
            <a:pPr eaLnBrk="1" hangingPunct="1">
              <a:lnSpc>
                <a:spcPct val="80000"/>
              </a:lnSpc>
              <a:buNone/>
            </a:pPr>
            <a:r>
              <a:rPr lang="en-US" altLang="zh-CN" sz="2000" dirty="0"/>
              <a:t>5.</a:t>
            </a:r>
            <a:r>
              <a:rPr lang="en-US" altLang="zh-CN" sz="2000" dirty="0">
                <a:solidFill>
                  <a:schemeClr val="folHlink"/>
                </a:solidFill>
              </a:rPr>
              <a:t>netstat </a:t>
            </a:r>
            <a:r>
              <a:rPr lang="en-US" altLang="zh-CN" sz="2000" dirty="0"/>
              <a:t>-a </a:t>
            </a:r>
            <a:r>
              <a:rPr lang="zh-CN" altLang="en-US" sz="2000" dirty="0"/>
              <a:t>显示出你的计算机当前所开放的所有端口 </a:t>
            </a:r>
            <a:br>
              <a:rPr lang="zh-CN" altLang="en-US" sz="2000" dirty="0"/>
            </a:br>
            <a:r>
              <a:rPr lang="en-US" altLang="zh-CN" sz="2000" dirty="0"/>
              <a:t>netstat -s -e </a:t>
            </a:r>
            <a:r>
              <a:rPr lang="zh-CN" altLang="en-US" sz="2000" dirty="0"/>
              <a:t>比较详细的显示你的网络资料，包括</a:t>
            </a:r>
            <a:r>
              <a:rPr lang="en-US" altLang="zh-CN" sz="2000" dirty="0"/>
              <a:t>TCP</a:t>
            </a:r>
            <a:r>
              <a:rPr lang="zh-CN" altLang="en-US" sz="2000" dirty="0"/>
              <a:t>、</a:t>
            </a:r>
            <a:r>
              <a:rPr lang="en-US" altLang="zh-CN" sz="2000" dirty="0"/>
              <a:t>UDP</a:t>
            </a:r>
            <a:r>
              <a:rPr lang="zh-CN" altLang="en-US" sz="2000" dirty="0"/>
              <a:t>、</a:t>
            </a:r>
            <a:r>
              <a:rPr lang="en-US" altLang="zh-CN" sz="2000" dirty="0"/>
              <a:t>ICMP </a:t>
            </a:r>
            <a:r>
              <a:rPr lang="zh-CN" altLang="en-US" sz="2000" dirty="0"/>
              <a:t>和 </a:t>
            </a:r>
            <a:r>
              <a:rPr lang="en-US" altLang="zh-CN" sz="2000" dirty="0"/>
              <a:t>IP</a:t>
            </a:r>
            <a:r>
              <a:rPr lang="zh-CN" altLang="en-US" sz="2000" dirty="0"/>
              <a:t>的统计等 </a:t>
            </a:r>
          </a:p>
          <a:p>
            <a:pPr eaLnBrk="1" hangingPunct="1">
              <a:lnSpc>
                <a:spcPct val="80000"/>
              </a:lnSpc>
              <a:buNone/>
            </a:pPr>
            <a:r>
              <a:rPr lang="en-US" altLang="zh-CN" sz="2000" dirty="0"/>
              <a:t>6.</a:t>
            </a:r>
            <a:r>
              <a:rPr lang="zh-CN" altLang="en-US" sz="2000" dirty="0"/>
              <a:t>探测</a:t>
            </a:r>
            <a:r>
              <a:rPr lang="en-US" altLang="zh-CN" sz="2000" dirty="0"/>
              <a:t>arp</a:t>
            </a:r>
            <a:r>
              <a:rPr lang="zh-CN" altLang="en-US" sz="2000" dirty="0"/>
              <a:t>绑定（动态和静态）列表，显示所有连接了我的计算机，显示对方</a:t>
            </a:r>
            <a:r>
              <a:rPr lang="en-US" altLang="zh-CN" sz="2000" dirty="0"/>
              <a:t>IP</a:t>
            </a:r>
            <a:r>
              <a:rPr lang="zh-CN" altLang="en-US" sz="2000" dirty="0"/>
              <a:t>和</a:t>
            </a:r>
            <a:r>
              <a:rPr lang="en-US" altLang="zh-CN" sz="2000" dirty="0"/>
              <a:t>MAC</a:t>
            </a:r>
            <a:r>
              <a:rPr lang="zh-CN" altLang="en-US" sz="2000" dirty="0"/>
              <a:t>地址 </a:t>
            </a:r>
            <a:br>
              <a:rPr lang="zh-CN" altLang="en-US" sz="2000" dirty="0"/>
            </a:br>
            <a:r>
              <a:rPr lang="en-US" altLang="zh-CN" sz="2000" dirty="0">
                <a:solidFill>
                  <a:schemeClr val="folHlink"/>
                </a:solidFill>
              </a:rPr>
              <a:t>arp</a:t>
            </a:r>
            <a:r>
              <a:rPr lang="en-US" altLang="zh-CN" sz="2000" dirty="0"/>
              <a:t> -a </a:t>
            </a:r>
          </a:p>
          <a:p>
            <a:pPr eaLnBrk="1" hangingPunct="1">
              <a:lnSpc>
                <a:spcPct val="80000"/>
              </a:lnSpc>
              <a:buNone/>
            </a:pPr>
            <a:r>
              <a:rPr lang="en-US" altLang="zh-CN" sz="2000" dirty="0"/>
              <a:t>7.</a:t>
            </a:r>
            <a:r>
              <a:rPr lang="zh-CN" altLang="en-US" sz="2000" dirty="0"/>
              <a:t>在代理服务器端 </a:t>
            </a:r>
            <a:br>
              <a:rPr lang="zh-CN" altLang="en-US" sz="2000" dirty="0"/>
            </a:br>
            <a:r>
              <a:rPr lang="zh-CN" altLang="en-US" sz="2000" dirty="0"/>
              <a:t>捆绑</a:t>
            </a:r>
            <a:r>
              <a:rPr lang="en-US" altLang="zh-CN" sz="2000" dirty="0"/>
              <a:t>IP</a:t>
            </a:r>
            <a:r>
              <a:rPr lang="zh-CN" altLang="en-US" sz="2000" dirty="0"/>
              <a:t>和</a:t>
            </a:r>
            <a:r>
              <a:rPr lang="en-US" altLang="zh-CN" sz="2000" dirty="0"/>
              <a:t>MAC</a:t>
            </a:r>
            <a:r>
              <a:rPr lang="zh-CN" altLang="en-US" sz="2000" dirty="0"/>
              <a:t>地址，解决局域网内盗用</a:t>
            </a:r>
            <a:r>
              <a:rPr lang="en-US" altLang="zh-CN" sz="2000" dirty="0"/>
              <a:t>IP</a:t>
            </a:r>
            <a:r>
              <a:rPr lang="zh-CN" altLang="en-US" sz="2000" dirty="0"/>
              <a:t>： </a:t>
            </a:r>
            <a:br>
              <a:rPr lang="zh-CN" altLang="en-US" sz="2000" dirty="0"/>
            </a:br>
            <a:r>
              <a:rPr lang="en-US" altLang="zh-CN" sz="2000" dirty="0"/>
              <a:t>ARP </a:t>
            </a:r>
            <a:r>
              <a:rPr lang="zh-CN" altLang="en-US" sz="2000" dirty="0"/>
              <a:t>－</a:t>
            </a:r>
            <a:r>
              <a:rPr lang="en-US" altLang="zh-CN" sz="2000" dirty="0"/>
              <a:t>s 192.168.10.59 00</a:t>
            </a:r>
            <a:r>
              <a:rPr lang="zh-CN" altLang="en-US" sz="2000" dirty="0"/>
              <a:t>－</a:t>
            </a:r>
            <a:r>
              <a:rPr lang="en-US" altLang="zh-CN" sz="2000" dirty="0"/>
              <a:t>50</a:t>
            </a:r>
            <a:r>
              <a:rPr lang="zh-CN" altLang="en-US" sz="2000" dirty="0"/>
              <a:t>－</a:t>
            </a:r>
            <a:r>
              <a:rPr lang="en-US" altLang="zh-CN" sz="2000" dirty="0"/>
              <a:t>ff</a:t>
            </a:r>
            <a:r>
              <a:rPr lang="zh-CN" altLang="en-US" sz="2000" dirty="0"/>
              <a:t>－</a:t>
            </a:r>
            <a:r>
              <a:rPr lang="en-US" altLang="zh-CN" sz="2000" dirty="0"/>
              <a:t>6c</a:t>
            </a:r>
            <a:r>
              <a:rPr lang="zh-CN" altLang="en-US" sz="2000" dirty="0"/>
              <a:t>－</a:t>
            </a:r>
            <a:r>
              <a:rPr lang="en-US" altLang="zh-CN" sz="2000" dirty="0"/>
              <a:t>08</a:t>
            </a:r>
            <a:r>
              <a:rPr lang="zh-CN" altLang="en-US" sz="2000" dirty="0"/>
              <a:t>－</a:t>
            </a:r>
            <a:r>
              <a:rPr lang="en-US" altLang="zh-CN" sz="2000" dirty="0"/>
              <a:t>75 </a:t>
            </a:r>
            <a:br>
              <a:rPr lang="en-US" altLang="zh-CN" sz="2000" dirty="0"/>
            </a:br>
            <a:r>
              <a:rPr lang="zh-CN" altLang="en-US" sz="2000" dirty="0"/>
              <a:t>解除网卡的</a:t>
            </a:r>
            <a:r>
              <a:rPr lang="en-US" altLang="zh-CN" sz="2000" dirty="0"/>
              <a:t>IP</a:t>
            </a:r>
            <a:r>
              <a:rPr lang="zh-CN" altLang="en-US" sz="2000" dirty="0"/>
              <a:t>与</a:t>
            </a:r>
            <a:r>
              <a:rPr lang="en-US" altLang="zh-CN" sz="2000" dirty="0"/>
              <a:t>MAC</a:t>
            </a:r>
            <a:r>
              <a:rPr lang="zh-CN" altLang="en-US" sz="2000" dirty="0"/>
              <a:t>地址的绑定： </a:t>
            </a:r>
            <a:br>
              <a:rPr lang="zh-CN" altLang="en-US" sz="2000" dirty="0"/>
            </a:br>
            <a:r>
              <a:rPr lang="en-US" altLang="zh-CN" sz="2000" dirty="0"/>
              <a:t>arp -d </a:t>
            </a:r>
            <a:r>
              <a:rPr lang="zh-CN" altLang="en-US" sz="2000" dirty="0"/>
              <a:t>网卡</a:t>
            </a:r>
            <a:r>
              <a:rPr lang="en-US" altLang="zh-CN" sz="2000" dirty="0"/>
              <a:t>IP</a:t>
            </a:r>
          </a:p>
          <a:p>
            <a:pPr eaLnBrk="1" hangingPunct="1">
              <a:lnSpc>
                <a:spcPct val="80000"/>
              </a:lnSpc>
              <a:buNone/>
            </a:pPr>
            <a:r>
              <a:rPr lang="en-US" altLang="zh-CN" sz="2000" dirty="0"/>
              <a:t>8.</a:t>
            </a:r>
            <a:r>
              <a:rPr lang="zh-CN" altLang="en-US" sz="2000" dirty="0"/>
              <a:t>在网络邻居上隐藏你的计算机 </a:t>
            </a:r>
            <a:br>
              <a:rPr lang="zh-CN" altLang="en-US" sz="2000" dirty="0"/>
            </a:br>
            <a:r>
              <a:rPr lang="en-US" altLang="zh-CN" sz="2000" dirty="0">
                <a:solidFill>
                  <a:schemeClr val="folHlink"/>
                </a:solidFill>
              </a:rPr>
              <a:t>net config server /hidden:yes </a:t>
            </a:r>
            <a:br>
              <a:rPr lang="en-US" altLang="zh-CN" sz="2000" dirty="0">
                <a:solidFill>
                  <a:schemeClr val="folHlink"/>
                </a:solidFill>
              </a:rPr>
            </a:br>
            <a:r>
              <a:rPr lang="en-US" altLang="zh-CN" sz="2000" dirty="0"/>
              <a:t>net config server /hidden:no </a:t>
            </a:r>
            <a:r>
              <a:rPr lang="zh-CN" altLang="en-US" sz="2000" dirty="0"/>
              <a:t>则为开启</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占位符 144386"/>
          <p:cNvSpPr>
            <a:spLocks noGrp="1"/>
          </p:cNvSpPr>
          <p:nvPr>
            <p:ph idx="1"/>
          </p:nvPr>
        </p:nvSpPr>
        <p:spPr>
          <a:xfrm>
            <a:off x="2209800" y="333375"/>
            <a:ext cx="7918450" cy="6191250"/>
          </a:xfrm>
        </p:spPr>
        <p:txBody>
          <a:bodyPr vert="horz" wrap="square" lIns="91440" tIns="45720" rIns="91440" bIns="45720" anchor="t"/>
          <a:lstStyle/>
          <a:p>
            <a:pPr eaLnBrk="1" hangingPunct="1">
              <a:lnSpc>
                <a:spcPct val="80000"/>
              </a:lnSpc>
              <a:buNone/>
            </a:pPr>
            <a:r>
              <a:rPr lang="en-US" altLang="zh-CN" sz="2000" dirty="0"/>
              <a:t>9.</a:t>
            </a:r>
            <a:r>
              <a:rPr lang="zh-CN" altLang="en-US" sz="2000" dirty="0"/>
              <a:t>几个</a:t>
            </a:r>
            <a:r>
              <a:rPr lang="en-US" altLang="zh-CN" sz="2000" dirty="0"/>
              <a:t>net</a:t>
            </a:r>
            <a:r>
              <a:rPr lang="zh-CN" altLang="en-US" sz="2000" dirty="0"/>
              <a:t>命令 </a:t>
            </a:r>
            <a:br>
              <a:rPr lang="zh-CN" altLang="en-US" sz="2000" dirty="0"/>
            </a:br>
            <a:r>
              <a:rPr lang="en-US" altLang="zh-CN" sz="2000" dirty="0"/>
              <a:t>A.</a:t>
            </a:r>
            <a:r>
              <a:rPr lang="zh-CN" altLang="en-US" sz="2000" dirty="0"/>
              <a:t>显示当前工作组服务器列表 </a:t>
            </a:r>
            <a:r>
              <a:rPr lang="en-US" altLang="zh-CN" sz="2000" dirty="0"/>
              <a:t>net view</a:t>
            </a:r>
            <a:r>
              <a:rPr lang="zh-CN" altLang="en-US" sz="2000" dirty="0"/>
              <a:t>，当不带选项使用本命令时，它就会显示当前域或网络上的计算机上的列表。 </a:t>
            </a:r>
            <a:br>
              <a:rPr lang="zh-CN" altLang="en-US" sz="2000" dirty="0"/>
            </a:br>
            <a:r>
              <a:rPr lang="zh-CN" altLang="en-US" sz="2000" dirty="0"/>
              <a:t>比如：查看这个</a:t>
            </a:r>
            <a:r>
              <a:rPr lang="en-US" altLang="zh-CN" sz="2000" dirty="0"/>
              <a:t>IP</a:t>
            </a:r>
            <a:r>
              <a:rPr lang="zh-CN" altLang="en-US" sz="2000" dirty="0"/>
              <a:t>上的共享资源，就可以 </a:t>
            </a:r>
            <a:br>
              <a:rPr lang="zh-CN" altLang="en-US" sz="2000" dirty="0"/>
            </a:br>
            <a:r>
              <a:rPr lang="en-US" altLang="zh-CN" sz="2000" dirty="0"/>
              <a:t>C:\&gt;</a:t>
            </a:r>
            <a:r>
              <a:rPr lang="en-US" altLang="zh-CN" sz="2000" dirty="0">
                <a:solidFill>
                  <a:schemeClr val="folHlink"/>
                </a:solidFill>
              </a:rPr>
              <a:t>net view 192.168.10.8</a:t>
            </a:r>
            <a:r>
              <a:rPr lang="en-US" altLang="zh-CN" sz="2000" dirty="0"/>
              <a:t> </a:t>
            </a:r>
            <a:br>
              <a:rPr lang="en-US" altLang="zh-CN" sz="2000" dirty="0"/>
            </a:br>
            <a:r>
              <a:rPr lang="zh-CN" altLang="en-US" sz="2000" dirty="0"/>
              <a:t>在 </a:t>
            </a:r>
            <a:r>
              <a:rPr lang="en-US" altLang="zh-CN" sz="2000" dirty="0"/>
              <a:t>192.168.10.8 </a:t>
            </a:r>
            <a:r>
              <a:rPr lang="zh-CN" altLang="en-US" sz="2000" dirty="0"/>
              <a:t>的共享资源 </a:t>
            </a:r>
            <a:br>
              <a:rPr lang="zh-CN" altLang="en-US" sz="2000" dirty="0"/>
            </a:br>
            <a:r>
              <a:rPr lang="zh-CN" altLang="en-US" sz="2000" dirty="0"/>
              <a:t>资源共享名类型用途注释 </a:t>
            </a:r>
            <a:br>
              <a:rPr lang="zh-CN" altLang="en-US" sz="2000" dirty="0"/>
            </a:br>
            <a:r>
              <a:rPr lang="zh-CN" altLang="en-US" sz="2000" dirty="0"/>
              <a:t>网站服务 </a:t>
            </a:r>
            <a:r>
              <a:rPr lang="en-US" altLang="zh-CN" sz="2000" dirty="0"/>
              <a:t>Disk </a:t>
            </a:r>
            <a:br>
              <a:rPr lang="en-US" altLang="zh-CN" sz="2000" dirty="0"/>
            </a:br>
            <a:r>
              <a:rPr lang="zh-CN" altLang="en-US" sz="2000" dirty="0"/>
              <a:t>命令成功完成。 </a:t>
            </a:r>
            <a:br>
              <a:rPr lang="zh-CN" altLang="en-US" sz="2000" dirty="0"/>
            </a:br>
            <a:r>
              <a:rPr lang="en-US" altLang="zh-CN" sz="2000" dirty="0"/>
              <a:t>B.</a:t>
            </a:r>
            <a:r>
              <a:rPr lang="zh-CN" altLang="en-US" sz="2000" dirty="0"/>
              <a:t>查看计算机上的用户帐号列表 </a:t>
            </a:r>
            <a:r>
              <a:rPr lang="en-US" altLang="zh-CN" sz="2000" dirty="0">
                <a:solidFill>
                  <a:schemeClr val="folHlink"/>
                </a:solidFill>
              </a:rPr>
              <a:t>net user</a:t>
            </a:r>
            <a:r>
              <a:rPr lang="en-US" altLang="zh-CN" sz="2000" dirty="0"/>
              <a:t> </a:t>
            </a:r>
            <a:br>
              <a:rPr lang="en-US" altLang="zh-CN" sz="2000" dirty="0"/>
            </a:br>
            <a:r>
              <a:rPr lang="en-US" altLang="zh-CN" sz="2000" dirty="0"/>
              <a:t>C.</a:t>
            </a:r>
            <a:r>
              <a:rPr lang="zh-CN" altLang="en-US" sz="2000" dirty="0"/>
              <a:t>查看网络链接 </a:t>
            </a:r>
            <a:r>
              <a:rPr lang="en-US" altLang="zh-CN" sz="2000" dirty="0"/>
              <a:t>net use </a:t>
            </a:r>
            <a:br>
              <a:rPr lang="en-US" altLang="zh-CN" sz="2000" dirty="0"/>
            </a:br>
            <a:r>
              <a:rPr lang="zh-CN" altLang="en-US" sz="2000" dirty="0"/>
              <a:t>例如：</a:t>
            </a:r>
            <a:r>
              <a:rPr lang="en-US" altLang="zh-CN" sz="2000" dirty="0"/>
              <a:t>net use z: \\192.168.10.8\movie </a:t>
            </a:r>
            <a:r>
              <a:rPr lang="zh-CN" altLang="en-US" sz="2000" dirty="0"/>
              <a:t>将这个</a:t>
            </a:r>
            <a:r>
              <a:rPr lang="en-US" altLang="zh-CN" sz="2000" dirty="0"/>
              <a:t>IP</a:t>
            </a:r>
            <a:r>
              <a:rPr lang="zh-CN" altLang="en-US" sz="2000" dirty="0"/>
              <a:t>的</a:t>
            </a:r>
            <a:r>
              <a:rPr lang="en-US" altLang="zh-CN" sz="2000" dirty="0"/>
              <a:t>movie</a:t>
            </a:r>
            <a:r>
              <a:rPr lang="zh-CN" altLang="en-US" sz="2000" dirty="0"/>
              <a:t>共享目录映射为本地的</a:t>
            </a:r>
            <a:r>
              <a:rPr lang="en-US" altLang="zh-CN" sz="2000" dirty="0"/>
              <a:t>Z</a:t>
            </a:r>
            <a:r>
              <a:rPr lang="zh-CN" altLang="en-US" sz="2000" dirty="0"/>
              <a:t>盘 </a:t>
            </a:r>
            <a:br>
              <a:rPr lang="zh-CN" altLang="en-US" sz="2000" dirty="0"/>
            </a:br>
            <a:r>
              <a:rPr lang="en-US" altLang="zh-CN" sz="2000" dirty="0"/>
              <a:t>D.</a:t>
            </a:r>
            <a:r>
              <a:rPr lang="zh-CN" altLang="en-US" sz="2000" dirty="0"/>
              <a:t>记录链接 </a:t>
            </a:r>
            <a:r>
              <a:rPr lang="en-US" altLang="zh-CN" sz="2000" dirty="0"/>
              <a:t>net session </a:t>
            </a:r>
            <a:br>
              <a:rPr lang="en-US" altLang="zh-CN" sz="2000" dirty="0"/>
            </a:br>
            <a:r>
              <a:rPr lang="zh-CN" altLang="en-US" sz="2000" dirty="0"/>
              <a:t>例如： </a:t>
            </a:r>
            <a:br>
              <a:rPr lang="zh-CN" altLang="en-US" sz="2000" dirty="0"/>
            </a:br>
            <a:r>
              <a:rPr lang="en-US" altLang="zh-CN" sz="2000" dirty="0"/>
              <a:t>C:\&gt;</a:t>
            </a:r>
            <a:r>
              <a:rPr lang="en-US" altLang="zh-CN" sz="2000" dirty="0">
                <a:solidFill>
                  <a:schemeClr val="folHlink"/>
                </a:solidFill>
              </a:rPr>
              <a:t>net session</a:t>
            </a:r>
            <a:r>
              <a:rPr lang="en-US" altLang="zh-CN" sz="2000" dirty="0"/>
              <a:t> </a:t>
            </a:r>
            <a:br>
              <a:rPr lang="en-US" altLang="zh-CN" sz="2000" dirty="0"/>
            </a:br>
            <a:r>
              <a:rPr lang="zh-CN" altLang="en-US" sz="2000" dirty="0"/>
              <a:t>计算机用户名客户类型打开空闲时间 </a:t>
            </a:r>
            <a:br>
              <a:rPr lang="zh-CN" altLang="en-US" sz="2000" dirty="0"/>
            </a:br>
            <a:r>
              <a:rPr lang="en-US" altLang="zh-CN" sz="2000" dirty="0"/>
              <a:t>\\192.168.10.110 ROME Windows 2000 2195 0 00:03:12 </a:t>
            </a:r>
            <a:br>
              <a:rPr lang="en-US" altLang="zh-CN" sz="2000" dirty="0"/>
            </a:br>
            <a:r>
              <a:rPr lang="en-US" altLang="zh-CN" sz="2000" dirty="0"/>
              <a:t>\\192.168.10.51 ROME Windows 2000 2195 0 00:00:39 </a:t>
            </a:r>
            <a:br>
              <a:rPr lang="en-US" altLang="zh-CN" sz="2000" dirty="0"/>
            </a:br>
            <a:r>
              <a:rPr lang="zh-CN" altLang="en-US" sz="2000" dirty="0"/>
              <a:t>命令成功完成。 </a:t>
            </a:r>
          </a:p>
          <a:p>
            <a:pPr eaLnBrk="1" hangingPunct="1">
              <a:lnSpc>
                <a:spcPct val="80000"/>
              </a:lnSpc>
              <a:buNone/>
            </a:pPr>
            <a:r>
              <a:rPr lang="en-US" altLang="zh-CN" sz="2000" dirty="0"/>
              <a:t>10.</a:t>
            </a:r>
            <a:r>
              <a:rPr lang="zh-CN" altLang="en-US" sz="2000" dirty="0"/>
              <a:t>路由跟踪命令</a:t>
            </a:r>
          </a:p>
          <a:p>
            <a:pPr eaLnBrk="1" hangingPunct="1">
              <a:lnSpc>
                <a:spcPct val="80000"/>
              </a:lnSpc>
              <a:buNone/>
            </a:pPr>
            <a:r>
              <a:rPr lang="en-US" altLang="zh-CN" sz="2000" dirty="0">
                <a:solidFill>
                  <a:schemeClr val="folHlink"/>
                </a:solidFill>
              </a:rPr>
              <a:t>      A.tracert pop.pcpop.com</a:t>
            </a:r>
            <a:r>
              <a:rPr lang="en-US" altLang="zh-CN" sz="2000" dirty="0"/>
              <a:t> </a:t>
            </a:r>
            <a:br>
              <a:rPr lang="en-US" altLang="zh-CN" sz="2000" dirty="0"/>
            </a:br>
            <a:r>
              <a:rPr lang="en-US" altLang="zh-CN" sz="2000" dirty="0">
                <a:solidFill>
                  <a:schemeClr val="folHlink"/>
                </a:solidFill>
              </a:rPr>
              <a:t>B.pathping pop.pcpop.com</a:t>
            </a:r>
            <a:r>
              <a:rPr lang="en-US" altLang="zh-CN" sz="2000" dirty="0"/>
              <a:t> </a:t>
            </a:r>
            <a:r>
              <a:rPr lang="zh-CN" altLang="en-US" sz="2000" dirty="0"/>
              <a:t>除了显示路由外，还提供</a:t>
            </a:r>
            <a:r>
              <a:rPr lang="en-US" altLang="zh-CN" sz="2000" dirty="0"/>
              <a:t>325S</a:t>
            </a:r>
            <a:r>
              <a:rPr lang="zh-CN" altLang="en-US" sz="2000" dirty="0"/>
              <a:t>的分析，计算丢失包的％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占位符 147458"/>
          <p:cNvSpPr>
            <a:spLocks noGrp="1"/>
          </p:cNvSpPr>
          <p:nvPr>
            <p:ph idx="1"/>
          </p:nvPr>
        </p:nvSpPr>
        <p:spPr>
          <a:xfrm>
            <a:off x="2208213" y="549276"/>
            <a:ext cx="7772400" cy="5903913"/>
          </a:xfrm>
        </p:spPr>
        <p:txBody>
          <a:bodyPr vert="horz" wrap="square" lIns="91440" tIns="45720" rIns="91440" bIns="45720" anchor="t"/>
          <a:lstStyle/>
          <a:p>
            <a:pPr eaLnBrk="1" hangingPunct="1">
              <a:lnSpc>
                <a:spcPct val="80000"/>
              </a:lnSpc>
              <a:buNone/>
            </a:pPr>
            <a:r>
              <a:rPr lang="en-US" altLang="zh-CN" sz="2000" dirty="0"/>
              <a:t>11.</a:t>
            </a:r>
            <a:r>
              <a:rPr lang="zh-CN" altLang="en-US" sz="2000" dirty="0"/>
              <a:t>关于共享安全的几个命令 </a:t>
            </a:r>
            <a:br>
              <a:rPr lang="zh-CN" altLang="en-US" sz="2000" dirty="0"/>
            </a:br>
            <a:r>
              <a:rPr lang="en-US" altLang="zh-CN" sz="2000" dirty="0"/>
              <a:t>A.</a:t>
            </a:r>
            <a:r>
              <a:rPr lang="zh-CN" altLang="en-US" sz="2000" dirty="0"/>
              <a:t>查看你机器的共享资源 </a:t>
            </a:r>
            <a:r>
              <a:rPr lang="en-US" altLang="zh-CN" sz="2000" dirty="0">
                <a:solidFill>
                  <a:schemeClr val="folHlink"/>
                </a:solidFill>
              </a:rPr>
              <a:t>net share </a:t>
            </a:r>
            <a:br>
              <a:rPr lang="en-US" altLang="zh-CN" sz="2000" dirty="0">
                <a:solidFill>
                  <a:schemeClr val="folHlink"/>
                </a:solidFill>
              </a:rPr>
            </a:br>
            <a:r>
              <a:rPr lang="en-US" altLang="zh-CN" sz="2000" dirty="0"/>
              <a:t>B.</a:t>
            </a:r>
            <a:r>
              <a:rPr lang="zh-CN" altLang="en-US" sz="2000" dirty="0"/>
              <a:t>手工删除共享 </a:t>
            </a:r>
            <a:br>
              <a:rPr lang="zh-CN" altLang="en-US" sz="2000" dirty="0"/>
            </a:br>
            <a:r>
              <a:rPr lang="en-US" altLang="zh-CN" sz="2000" dirty="0"/>
              <a:t>net share c$ /d </a:t>
            </a:r>
            <a:br>
              <a:rPr lang="en-US" altLang="zh-CN" sz="2000" dirty="0"/>
            </a:br>
            <a:r>
              <a:rPr lang="en-US" altLang="zh-CN" sz="2000" dirty="0"/>
              <a:t>net share d$ /d </a:t>
            </a:r>
            <a:br>
              <a:rPr lang="en-US" altLang="zh-CN" sz="2000" dirty="0"/>
            </a:br>
            <a:r>
              <a:rPr lang="en-US" altLang="zh-CN" sz="2000" dirty="0"/>
              <a:t>net share ipc$ /d </a:t>
            </a:r>
            <a:br>
              <a:rPr lang="en-US" altLang="zh-CN" sz="2000" dirty="0"/>
            </a:br>
            <a:r>
              <a:rPr lang="en-US" altLang="zh-CN" sz="2000" dirty="0"/>
              <a:t>net share admin$ /d </a:t>
            </a:r>
            <a:br>
              <a:rPr lang="en-US" altLang="zh-CN" sz="2000" dirty="0"/>
            </a:br>
            <a:r>
              <a:rPr lang="zh-CN" altLang="en-US" sz="2000" dirty="0"/>
              <a:t>注意</a:t>
            </a:r>
            <a:r>
              <a:rPr lang="en-US" altLang="zh-CN" sz="2000" dirty="0"/>
              <a:t>$</a:t>
            </a:r>
            <a:r>
              <a:rPr lang="zh-CN" altLang="en-US" sz="2000" dirty="0"/>
              <a:t>后有空格。 </a:t>
            </a:r>
            <a:br>
              <a:rPr lang="zh-CN" altLang="en-US" sz="2000" dirty="0"/>
            </a:br>
            <a:r>
              <a:rPr lang="en-US" altLang="zh-CN" sz="2000" dirty="0"/>
              <a:t>C.</a:t>
            </a:r>
            <a:r>
              <a:rPr lang="zh-CN" altLang="en-US" sz="2000" dirty="0"/>
              <a:t>增加一个共享： </a:t>
            </a:r>
            <a:br>
              <a:rPr lang="zh-CN" altLang="en-US" sz="2000" dirty="0"/>
            </a:br>
            <a:r>
              <a:rPr lang="en-US" altLang="zh-CN" sz="2000" dirty="0"/>
              <a:t>c:\net share mymovie=e:\downloads\movie /users:1 </a:t>
            </a:r>
            <a:br>
              <a:rPr lang="en-US" altLang="zh-CN" sz="2000" dirty="0"/>
            </a:br>
            <a:r>
              <a:rPr lang="en-US" altLang="zh-CN" sz="2000" dirty="0"/>
              <a:t>mymovie </a:t>
            </a:r>
            <a:r>
              <a:rPr lang="zh-CN" altLang="en-US" sz="2000" dirty="0"/>
              <a:t>共享成功。 </a:t>
            </a:r>
            <a:br>
              <a:rPr lang="zh-CN" altLang="en-US" sz="2000" dirty="0"/>
            </a:br>
            <a:r>
              <a:rPr lang="zh-CN" altLang="en-US" sz="2000" dirty="0"/>
              <a:t>同时限制链接用户数为</a:t>
            </a:r>
            <a:r>
              <a:rPr lang="en-US" altLang="zh-CN" sz="2000" dirty="0"/>
              <a:t>1</a:t>
            </a:r>
            <a:r>
              <a:rPr lang="zh-CN" altLang="en-US" sz="2000" dirty="0"/>
              <a:t>人。 </a:t>
            </a:r>
          </a:p>
          <a:p>
            <a:pPr eaLnBrk="1" hangingPunct="1">
              <a:lnSpc>
                <a:spcPct val="80000"/>
              </a:lnSpc>
              <a:buNone/>
            </a:pPr>
            <a:r>
              <a:rPr lang="en-US" altLang="zh-CN" sz="2000" dirty="0"/>
              <a:t>12.</a:t>
            </a:r>
            <a:r>
              <a:rPr lang="zh-CN" altLang="en-US" sz="2000" dirty="0"/>
              <a:t>在</a:t>
            </a:r>
            <a:r>
              <a:rPr lang="en-US" altLang="zh-CN" sz="2000" dirty="0"/>
              <a:t>DOS</a:t>
            </a:r>
            <a:r>
              <a:rPr lang="zh-CN" altLang="en-US" sz="2000" dirty="0"/>
              <a:t>行下设置静态</a:t>
            </a:r>
            <a:r>
              <a:rPr lang="en-US" altLang="zh-CN" sz="2000" dirty="0"/>
              <a:t>IP </a:t>
            </a:r>
            <a:br>
              <a:rPr lang="en-US" altLang="zh-CN" sz="2000" dirty="0"/>
            </a:br>
            <a:r>
              <a:rPr lang="en-US" altLang="zh-CN" sz="2000" dirty="0"/>
              <a:t>A.</a:t>
            </a:r>
            <a:r>
              <a:rPr lang="zh-CN" altLang="en-US" sz="2000" dirty="0"/>
              <a:t>设置静态</a:t>
            </a:r>
            <a:r>
              <a:rPr lang="en-US" altLang="zh-CN" sz="2000" dirty="0"/>
              <a:t>IP </a:t>
            </a:r>
            <a:br>
              <a:rPr lang="en-US" altLang="zh-CN" sz="2000" dirty="0"/>
            </a:br>
            <a:r>
              <a:rPr lang="en-US" altLang="zh-CN" sz="2000" dirty="0"/>
              <a:t>CMD </a:t>
            </a:r>
            <a:br>
              <a:rPr lang="en-US" altLang="zh-CN" sz="2000" dirty="0"/>
            </a:br>
            <a:r>
              <a:rPr lang="en-US" altLang="zh-CN" sz="2000" dirty="0"/>
              <a:t>netsh </a:t>
            </a:r>
            <a:br>
              <a:rPr lang="en-US" altLang="zh-CN" sz="2000" dirty="0"/>
            </a:br>
            <a:r>
              <a:rPr lang="en-US" altLang="zh-CN" sz="2000" dirty="0"/>
              <a:t>netsh&gt;int </a:t>
            </a:r>
            <a:br>
              <a:rPr lang="en-US" altLang="zh-CN" sz="2000" dirty="0"/>
            </a:br>
            <a:r>
              <a:rPr lang="en-US" altLang="zh-CN" sz="2000" dirty="0"/>
              <a:t>interface&gt;ip </a:t>
            </a:r>
            <a:br>
              <a:rPr lang="en-US" altLang="zh-CN" sz="2000" dirty="0"/>
            </a:br>
            <a:r>
              <a:rPr lang="en-US" altLang="zh-CN" sz="2000" dirty="0"/>
              <a:t>interface ip&gt;set add "</a:t>
            </a:r>
            <a:r>
              <a:rPr lang="zh-CN" altLang="en-US" sz="2000" dirty="0"/>
              <a:t>本地链接</a:t>
            </a:r>
            <a:r>
              <a:rPr lang="en-US" altLang="zh-CN" sz="2000" dirty="0"/>
              <a:t>" static IP</a:t>
            </a:r>
            <a:r>
              <a:rPr lang="zh-CN" altLang="en-US" sz="2000" dirty="0"/>
              <a:t>地址 </a:t>
            </a:r>
            <a:r>
              <a:rPr lang="en-US" altLang="zh-CN" sz="2000" dirty="0"/>
              <a:t>mask gateway </a:t>
            </a:r>
            <a:br>
              <a:rPr lang="en-US" altLang="zh-CN" sz="2000" dirty="0"/>
            </a:br>
            <a:r>
              <a:rPr lang="en-US" altLang="zh-CN" sz="2000" dirty="0"/>
              <a:t>B.</a:t>
            </a:r>
            <a:r>
              <a:rPr lang="zh-CN" altLang="en-US" sz="2000" dirty="0"/>
              <a:t>查看</a:t>
            </a:r>
            <a:r>
              <a:rPr lang="en-US" altLang="zh-CN" sz="2000" dirty="0"/>
              <a:t>IP</a:t>
            </a:r>
            <a:r>
              <a:rPr lang="zh-CN" altLang="en-US" sz="2000" dirty="0"/>
              <a:t>设置 </a:t>
            </a:r>
            <a:br>
              <a:rPr lang="zh-CN" altLang="en-US" sz="2000" dirty="0"/>
            </a:br>
            <a:r>
              <a:rPr lang="en-US" altLang="zh-CN" sz="2000" dirty="0">
                <a:solidFill>
                  <a:schemeClr val="folHlink"/>
                </a:solidFill>
              </a:rPr>
              <a:t>interface</a:t>
            </a:r>
            <a:r>
              <a:rPr lang="en-US" altLang="zh-CN" sz="2000" dirty="0"/>
              <a:t> ip&gt;show address </a:t>
            </a:r>
            <a:br>
              <a:rPr lang="en-US" altLang="zh-CN" sz="2000" dirty="0"/>
            </a:br>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占位符 53250"/>
          <p:cNvSpPr>
            <a:spLocks noGrp="1"/>
          </p:cNvSpPr>
          <p:nvPr>
            <p:ph idx="1"/>
          </p:nvPr>
        </p:nvSpPr>
        <p:spPr>
          <a:xfrm>
            <a:off x="1981200" y="1841500"/>
            <a:ext cx="8229600" cy="4611688"/>
          </a:xfrm>
        </p:spPr>
        <p:txBody>
          <a:bodyPr vert="horz" wrap="square" lIns="91440" tIns="45720" rIns="91440" bIns="45720" anchor="t"/>
          <a:lstStyle/>
          <a:p>
            <a:pPr algn="just" eaLnBrk="1" hangingPunct="1">
              <a:buNone/>
            </a:pPr>
            <a:r>
              <a:rPr lang="zh-CN" altLang="en-US" b="1" dirty="0">
                <a:ea typeface="黑体" panose="02010609060101010101" pitchFamily="49" charset="-122"/>
              </a:rPr>
              <a:t>        端口和服务扫描的目的是找出目标系统上开放的端口和提供的服务列表</a:t>
            </a:r>
            <a:r>
              <a:rPr lang="zh-CN" altLang="en-US" dirty="0">
                <a:ea typeface="黑体" panose="02010609060101010101" pitchFamily="49" charset="-122"/>
              </a:rPr>
              <a:t> </a:t>
            </a:r>
            <a:endParaRPr lang="zh-CN" altLang="en-US" b="1" dirty="0">
              <a:ea typeface="黑体" panose="02010609060101010101" pitchFamily="49" charset="-122"/>
            </a:endParaRPr>
          </a:p>
          <a:p>
            <a:pPr algn="just" eaLnBrk="1" hangingPunct="1">
              <a:buNone/>
            </a:pPr>
            <a:r>
              <a:rPr lang="zh-CN" altLang="en-US" b="1" dirty="0">
                <a:ea typeface="黑体" panose="02010609060101010101" pitchFamily="49" charset="-122"/>
              </a:rPr>
              <a:t>        端口扫描程序通过尝试与所有的</a:t>
            </a:r>
            <a:r>
              <a:rPr lang="en-US" altLang="zh-CN" b="1" dirty="0">
                <a:ea typeface="黑体" panose="02010609060101010101" pitchFamily="49" charset="-122"/>
              </a:rPr>
              <a:t>TCP/UDP</a:t>
            </a:r>
            <a:r>
              <a:rPr lang="zh-CN" altLang="en-US" b="1" dirty="0">
                <a:ea typeface="黑体" panose="02010609060101010101" pitchFamily="49" charset="-122"/>
              </a:rPr>
              <a:t>端口连接或发送数据包，然后根据周知端口与服务的对应关系，结合服务器端的响应来推断目标系统上是否运行了某项服务；通过这些服务，攻击者可能获得关于目标系统的进一步的知识或通往目标系统的途径</a:t>
            </a:r>
          </a:p>
        </p:txBody>
      </p:sp>
      <p:grpSp>
        <p:nvGrpSpPr>
          <p:cNvPr id="4" name="组合 3"/>
          <p:cNvGrpSpPr/>
          <p:nvPr/>
        </p:nvGrpSpPr>
        <p:grpSpPr>
          <a:xfrm>
            <a:off x="3876178" y="466484"/>
            <a:ext cx="4439644" cy="791052"/>
            <a:chOff x="824072" y="1564267"/>
            <a:chExt cx="4439644" cy="791052"/>
          </a:xfrm>
        </p:grpSpPr>
        <p:sp>
          <p:nvSpPr>
            <p:cNvPr id="5" name="矩形: 圆角 16"/>
            <p:cNvSpPr/>
            <p:nvPr/>
          </p:nvSpPr>
          <p:spPr>
            <a:xfrm>
              <a:off x="824072" y="1740416"/>
              <a:ext cx="4439644"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562194" cy="480131"/>
            </a:xfrm>
            <a:prstGeom prst="rect">
              <a:avLst/>
            </a:prstGeom>
          </p:spPr>
          <p:txBody>
            <a:bodyPr wrap="none">
              <a:spAutoFit/>
            </a:bodyPr>
            <a:lstStyle/>
            <a:p>
              <a:pPr>
                <a:lnSpc>
                  <a:spcPct val="90000"/>
                </a:lnSpc>
              </a:pPr>
              <a:r>
                <a:rPr lang="en-US" altLang="zh-CN" sz="2800" noProof="1">
                  <a:solidFill>
                    <a:schemeClr val="bg1"/>
                  </a:solidFill>
                  <a:latin typeface="+mj-ea"/>
                </a:rPr>
                <a:t>4.2.2 </a:t>
              </a:r>
              <a:r>
                <a:rPr lang="zh-CN" altLang="en-US" sz="2800" noProof="1">
                  <a:solidFill>
                    <a:schemeClr val="bg1"/>
                  </a:solidFill>
                  <a:latin typeface="+mj-ea"/>
                </a:rPr>
                <a:t>端口和服务检测</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占位符 54274"/>
          <p:cNvSpPr>
            <a:spLocks noGrp="1"/>
          </p:cNvSpPr>
          <p:nvPr>
            <p:ph idx="1"/>
          </p:nvPr>
        </p:nvSpPr>
        <p:spPr>
          <a:xfrm>
            <a:off x="2135188" y="2276475"/>
            <a:ext cx="7772400" cy="4114800"/>
          </a:xfrm>
        </p:spPr>
        <p:txBody>
          <a:bodyPr vert="horz" wrap="square" lIns="91440" tIns="45720" rIns="91440" bIns="45720" anchor="t"/>
          <a:lstStyle/>
          <a:p>
            <a:pPr algn="just" eaLnBrk="1" hangingPunct="1">
              <a:buNone/>
            </a:pPr>
            <a:r>
              <a:rPr lang="zh-CN" altLang="en-US" sz="3600" b="1" dirty="0">
                <a:latin typeface="黑体" panose="02010609060101010101" pitchFamily="49" charset="-122"/>
                <a:ea typeface="黑体" panose="02010609060101010101" pitchFamily="49" charset="-122"/>
              </a:rPr>
              <a:t>    识别操作系统和应用系统的目的是为</a:t>
            </a:r>
            <a:r>
              <a:rPr lang="zh-CN" altLang="en-US" sz="3600" b="1" dirty="0">
                <a:solidFill>
                  <a:srgbClr val="FF0000"/>
                </a:solidFill>
                <a:latin typeface="黑体" panose="02010609060101010101" pitchFamily="49" charset="-122"/>
                <a:ea typeface="黑体" panose="02010609060101010101" pitchFamily="49" charset="-122"/>
              </a:rPr>
              <a:t>远程攻击</a:t>
            </a:r>
            <a:r>
              <a:rPr lang="zh-CN" altLang="en-US" sz="3600" b="1" dirty="0">
                <a:latin typeface="黑体" panose="02010609060101010101" pitchFamily="49" charset="-122"/>
                <a:ea typeface="黑体" panose="02010609060101010101" pitchFamily="49" charset="-122"/>
              </a:rPr>
              <a:t>作准备 </a:t>
            </a:r>
          </a:p>
          <a:p>
            <a:pPr algn="just" eaLnBrk="1" hangingPunct="1"/>
            <a:endParaRPr lang="zh-CN" altLang="en-US" sz="3600" b="1" dirty="0">
              <a:latin typeface="黑体" panose="02010609060101010101" pitchFamily="49" charset="-122"/>
              <a:ea typeface="黑体" panose="02010609060101010101" pitchFamily="49" charset="-122"/>
            </a:endParaRPr>
          </a:p>
          <a:p>
            <a:pPr algn="just" eaLnBrk="1" hangingPunct="1">
              <a:buNone/>
            </a:pPr>
            <a:r>
              <a:rPr lang="zh-CN" altLang="en-US" sz="3600" b="1" dirty="0">
                <a:latin typeface="黑体" panose="02010609060101010101" pitchFamily="49" charset="-122"/>
                <a:ea typeface="黑体" panose="02010609060101010101" pitchFamily="49" charset="-122"/>
              </a:rPr>
              <a:t>    知道了目标系统上的应用系统也可以作进一步的攻击</a:t>
            </a:r>
          </a:p>
        </p:txBody>
      </p:sp>
      <p:grpSp>
        <p:nvGrpSpPr>
          <p:cNvPr id="4" name="组合 3"/>
          <p:cNvGrpSpPr/>
          <p:nvPr/>
        </p:nvGrpSpPr>
        <p:grpSpPr>
          <a:xfrm>
            <a:off x="3029258" y="444876"/>
            <a:ext cx="5984260" cy="791052"/>
            <a:chOff x="824072" y="1564267"/>
            <a:chExt cx="5984260" cy="791052"/>
          </a:xfrm>
        </p:grpSpPr>
        <p:sp>
          <p:nvSpPr>
            <p:cNvPr id="5" name="矩形: 圆角 16"/>
            <p:cNvSpPr/>
            <p:nvPr/>
          </p:nvSpPr>
          <p:spPr>
            <a:xfrm>
              <a:off x="824072" y="1740416"/>
              <a:ext cx="598426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998484" cy="480131"/>
            </a:xfrm>
            <a:prstGeom prst="rect">
              <a:avLst/>
            </a:prstGeom>
          </p:spPr>
          <p:txBody>
            <a:bodyPr wrap="none">
              <a:spAutoFit/>
            </a:bodyPr>
            <a:lstStyle/>
            <a:p>
              <a:pPr>
                <a:lnSpc>
                  <a:spcPct val="90000"/>
                </a:lnSpc>
              </a:pPr>
              <a:r>
                <a:rPr lang="en-US" altLang="zh-CN" sz="2800" noProof="1">
                  <a:solidFill>
                    <a:schemeClr val="bg1"/>
                  </a:solidFill>
                  <a:latin typeface="+mj-ea"/>
                </a:rPr>
                <a:t>4.2.3 </a:t>
              </a:r>
              <a:r>
                <a:rPr lang="zh-CN" altLang="en-US" sz="2800" noProof="1">
                  <a:solidFill>
                    <a:schemeClr val="bg1"/>
                  </a:solidFill>
                  <a:latin typeface="+mj-ea"/>
                </a:rPr>
                <a:t>操作系统和应用系统识别</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矩形 55299"/>
          <p:cNvSpPr/>
          <p:nvPr/>
        </p:nvSpPr>
        <p:spPr>
          <a:xfrm>
            <a:off x="6523501" y="1906588"/>
            <a:ext cx="4246563" cy="4114800"/>
          </a:xfrm>
          <a:prstGeom prst="rect">
            <a:avLst/>
          </a:prstGeom>
          <a:noFill/>
          <a:ln w="9525">
            <a:noFill/>
          </a:ln>
        </p:spPr>
        <p:txBody>
          <a:bodyPr anchor="t"/>
          <a:lstStyle/>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TCP</a:t>
            </a:r>
            <a:r>
              <a:rPr lang="zh-CN" altLang="en-US" sz="2800" b="1" dirty="0">
                <a:ea typeface="黑体" panose="02010609060101010101" pitchFamily="49" charset="-122"/>
              </a:rPr>
              <a:t>初始化“窗口” </a:t>
            </a:r>
          </a:p>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ACK</a:t>
            </a:r>
            <a:r>
              <a:rPr lang="zh-CN" altLang="en-US" sz="2800" b="1" dirty="0">
                <a:ea typeface="黑体" panose="02010609060101010101" pitchFamily="49" charset="-122"/>
              </a:rPr>
              <a:t>值 </a:t>
            </a:r>
          </a:p>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ICMP</a:t>
            </a:r>
            <a:r>
              <a:rPr lang="zh-CN" altLang="en-US" sz="2800" b="1" dirty="0">
                <a:ea typeface="黑体" panose="02010609060101010101" pitchFamily="49" charset="-122"/>
              </a:rPr>
              <a:t>出错信息 </a:t>
            </a:r>
          </a:p>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TCP</a:t>
            </a:r>
            <a:r>
              <a:rPr lang="zh-CN" altLang="en-US" sz="2800" b="1" dirty="0">
                <a:ea typeface="黑体" panose="02010609060101010101" pitchFamily="49" charset="-122"/>
              </a:rPr>
              <a:t>选项 </a:t>
            </a:r>
          </a:p>
        </p:txBody>
      </p:sp>
      <p:grpSp>
        <p:nvGrpSpPr>
          <p:cNvPr id="5" name="组合 4"/>
          <p:cNvGrpSpPr/>
          <p:nvPr/>
        </p:nvGrpSpPr>
        <p:grpSpPr>
          <a:xfrm>
            <a:off x="2532267" y="409250"/>
            <a:ext cx="7124291" cy="791052"/>
            <a:chOff x="824071" y="1564267"/>
            <a:chExt cx="7124291" cy="791052"/>
          </a:xfrm>
        </p:grpSpPr>
        <p:sp>
          <p:nvSpPr>
            <p:cNvPr id="6" name="矩形: 圆角 16"/>
            <p:cNvSpPr/>
            <p:nvPr/>
          </p:nvSpPr>
          <p:spPr>
            <a:xfrm>
              <a:off x="824071" y="1740416"/>
              <a:ext cx="712429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6075702" cy="480131"/>
            </a:xfrm>
            <a:prstGeom prst="rect">
              <a:avLst/>
            </a:prstGeom>
          </p:spPr>
          <p:txBody>
            <a:bodyPr wrap="none">
              <a:spAutoFit/>
            </a:bodyPr>
            <a:lstStyle/>
            <a:p>
              <a:pPr>
                <a:lnSpc>
                  <a:spcPct val="90000"/>
                </a:lnSpc>
              </a:pPr>
              <a:r>
                <a:rPr lang="en-US" altLang="zh-CN" sz="2800" noProof="1">
                  <a:solidFill>
                    <a:schemeClr val="bg1"/>
                  </a:solidFill>
                  <a:latin typeface="+mj-ea"/>
                </a:rPr>
                <a:t>4.2.4 </a:t>
              </a:r>
              <a:r>
                <a:rPr lang="zh-CN" altLang="en-US" sz="2800" noProof="1">
                  <a:solidFill>
                    <a:schemeClr val="bg1"/>
                  </a:solidFill>
                  <a:latin typeface="+mj-ea"/>
                </a:rPr>
                <a:t>基于协议栈指纹的操作系统识别</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
        <p:nvSpPr>
          <p:cNvPr id="9" name="矩形 55299"/>
          <p:cNvSpPr/>
          <p:nvPr/>
        </p:nvSpPr>
        <p:spPr>
          <a:xfrm>
            <a:off x="1890145" y="1906588"/>
            <a:ext cx="4246563" cy="4114800"/>
          </a:xfrm>
          <a:prstGeom prst="rect">
            <a:avLst/>
          </a:prstGeom>
          <a:noFill/>
          <a:ln w="9525">
            <a:noFill/>
          </a:ln>
        </p:spPr>
        <p:txBody>
          <a:bodyPr anchor="t"/>
          <a:lstStyle/>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FIN</a:t>
            </a:r>
            <a:r>
              <a:rPr lang="zh-CN" altLang="en-US" sz="2800" b="1" dirty="0">
                <a:ea typeface="黑体" panose="02010609060101010101" pitchFamily="49" charset="-122"/>
              </a:rPr>
              <a:t>探测</a:t>
            </a:r>
          </a:p>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BOGUS</a:t>
            </a:r>
            <a:r>
              <a:rPr lang="zh-CN" altLang="en-US" sz="2800" b="1" dirty="0">
                <a:ea typeface="黑体" panose="02010609060101010101" pitchFamily="49" charset="-122"/>
              </a:rPr>
              <a:t>标记探测</a:t>
            </a:r>
          </a:p>
          <a:p>
            <a:pPr marL="457200" indent="-457200">
              <a:lnSpc>
                <a:spcPct val="140000"/>
              </a:lnSpc>
              <a:spcBef>
                <a:spcPts val="1000"/>
              </a:spcBef>
              <a:buClr>
                <a:schemeClr val="accent2"/>
              </a:buClr>
              <a:buSzPct val="80000"/>
              <a:buFont typeface="Wingdings" panose="05000000000000000000" pitchFamily="2" charset="2"/>
              <a:buChar char="l"/>
            </a:pPr>
            <a:r>
              <a:rPr lang="en-US" altLang="zh-CN" sz="2800" b="1" dirty="0">
                <a:ea typeface="黑体" panose="02010609060101010101" pitchFamily="49" charset="-122"/>
              </a:rPr>
              <a:t>TCP ISN</a:t>
            </a:r>
            <a:r>
              <a:rPr lang="zh-CN" altLang="en-US" sz="2800" b="1" dirty="0">
                <a:ea typeface="黑体" panose="02010609060101010101" pitchFamily="49" charset="-122"/>
              </a:rPr>
              <a:t>取样</a:t>
            </a:r>
            <a:r>
              <a:rPr lang="zh-CN" altLang="en-US" sz="2800" dirty="0">
                <a:ea typeface="黑体" panose="02010609060101010101" pitchFamily="49" charset="-122"/>
              </a:rPr>
              <a:t> </a:t>
            </a:r>
          </a:p>
          <a:p>
            <a:pPr marL="457200" indent="-457200">
              <a:lnSpc>
                <a:spcPct val="140000"/>
              </a:lnSpc>
              <a:spcBef>
                <a:spcPts val="1000"/>
              </a:spcBef>
              <a:buClr>
                <a:schemeClr val="accent2"/>
              </a:buClr>
              <a:buSzPct val="80000"/>
              <a:buFont typeface="Wingdings" panose="05000000000000000000" pitchFamily="2" charset="2"/>
              <a:buChar char="l"/>
            </a:pPr>
            <a:r>
              <a:rPr lang="zh-CN" altLang="en-US" sz="2800" b="1" dirty="0">
                <a:ea typeface="黑体" panose="02010609060101010101" pitchFamily="49" charset="-122"/>
              </a:rPr>
              <a:t>“无碎片”标记位</a:t>
            </a:r>
            <a:endParaRPr lang="zh-CN" altLang="en-US" sz="2800"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57345"/>
          <p:cNvSpPr>
            <a:spLocks noGrp="1"/>
          </p:cNvSpPr>
          <p:nvPr>
            <p:ph type="title"/>
          </p:nvPr>
        </p:nvSpPr>
        <p:spPr>
          <a:xfrm>
            <a:off x="1522413" y="397133"/>
            <a:ext cx="9144000" cy="1143000"/>
          </a:xfrm>
        </p:spPr>
        <p:txBody>
          <a:bodyPr lIns="92075" tIns="46038" rIns="92075" bIns="46038" anchor="ctr"/>
          <a:lstStyle/>
          <a:p>
            <a:pPr algn="ctr" fontAlgn="base">
              <a:lnSpc>
                <a:spcPct val="100000"/>
              </a:lnSpc>
              <a:spcAft>
                <a:spcPct val="0"/>
              </a:spcAft>
              <a:defRPr/>
            </a:pPr>
            <a:r>
              <a:rPr lang="en-US" altLang="zh-CN" sz="4800" b="1" noProof="1">
                <a:solidFill>
                  <a:schemeClr val="tx2"/>
                </a:solidFill>
                <a:effectLst>
                  <a:outerShdw blurRad="38100" dist="38100" dir="2700000">
                    <a:srgbClr val="000000"/>
                  </a:outerShdw>
                </a:effectLst>
                <a:ea typeface="黑体" panose="02010609060101010101" pitchFamily="49" charset="-122"/>
              </a:rPr>
              <a:t>FIN</a:t>
            </a:r>
            <a:r>
              <a:rPr lang="zh-CN" altLang="en-US" sz="4800" b="1" noProof="1">
                <a:solidFill>
                  <a:schemeClr val="tx2"/>
                </a:solidFill>
                <a:effectLst>
                  <a:outerShdw blurRad="38100" dist="38100" dir="2700000">
                    <a:srgbClr val="000000"/>
                  </a:outerShdw>
                </a:effectLst>
                <a:ea typeface="黑体" panose="02010609060101010101" pitchFamily="49" charset="-122"/>
              </a:rPr>
              <a:t>探测</a:t>
            </a:r>
          </a:p>
        </p:txBody>
      </p:sp>
      <p:sp>
        <p:nvSpPr>
          <p:cNvPr id="44034" name="文本占位符 57346"/>
          <p:cNvSpPr>
            <a:spLocks noGrp="1"/>
          </p:cNvSpPr>
          <p:nvPr>
            <p:ph idx="1"/>
          </p:nvPr>
        </p:nvSpPr>
        <p:spPr>
          <a:xfrm>
            <a:off x="2208213" y="1628775"/>
            <a:ext cx="7772400" cy="4114800"/>
          </a:xfrm>
        </p:spPr>
        <p:txBody>
          <a:bodyPr vert="horz" wrap="square" lIns="91440" tIns="45720" rIns="91440" bIns="45720" anchor="t"/>
          <a:lstStyle/>
          <a:p>
            <a:pPr algn="just" eaLnBrk="1" hangingPunct="1">
              <a:lnSpc>
                <a:spcPct val="90000"/>
              </a:lnSpc>
              <a:buNone/>
            </a:pPr>
            <a:r>
              <a:rPr lang="zh-CN" altLang="en-US" b="1" dirty="0">
                <a:ea typeface="黑体" panose="02010609060101010101" pitchFamily="49" charset="-122"/>
              </a:rPr>
              <a:t>        该方法基于某些操作系统对到达的</a:t>
            </a:r>
            <a:r>
              <a:rPr lang="en-US" altLang="zh-CN" b="1" dirty="0">
                <a:ea typeface="黑体" panose="02010609060101010101" pitchFamily="49" charset="-122"/>
              </a:rPr>
              <a:t>FIN</a:t>
            </a:r>
            <a:r>
              <a:rPr lang="zh-CN" altLang="en-US" b="1" dirty="0">
                <a:ea typeface="黑体" panose="02010609060101010101" pitchFamily="49" charset="-122"/>
              </a:rPr>
              <a:t>包会有不同的响应。通过</a:t>
            </a:r>
            <a:r>
              <a:rPr lang="zh-CN" altLang="en-US" b="1" dirty="0">
                <a:solidFill>
                  <a:schemeClr val="folHlink"/>
                </a:solidFill>
                <a:ea typeface="黑体" panose="02010609060101010101" pitchFamily="49" charset="-122"/>
              </a:rPr>
              <a:t>发送一个</a:t>
            </a:r>
            <a:r>
              <a:rPr lang="en-US" altLang="zh-CN" b="1" dirty="0">
                <a:solidFill>
                  <a:schemeClr val="folHlink"/>
                </a:solidFill>
                <a:ea typeface="黑体" panose="02010609060101010101" pitchFamily="49" charset="-122"/>
              </a:rPr>
              <a:t>FIN</a:t>
            </a:r>
            <a:r>
              <a:rPr lang="zh-CN" altLang="en-US" b="1" dirty="0">
                <a:solidFill>
                  <a:schemeClr val="folHlink"/>
                </a:solidFill>
                <a:ea typeface="黑体" panose="02010609060101010101" pitchFamily="49" charset="-122"/>
              </a:rPr>
              <a:t>数据包</a:t>
            </a:r>
            <a:r>
              <a:rPr lang="zh-CN" altLang="en-US" b="1" dirty="0">
                <a:ea typeface="黑体" panose="02010609060101010101" pitchFamily="49" charset="-122"/>
              </a:rPr>
              <a:t>（或者任何未设置</a:t>
            </a:r>
            <a:r>
              <a:rPr lang="en-US" altLang="zh-CN" b="1" dirty="0">
                <a:ea typeface="黑体" panose="02010609060101010101" pitchFamily="49" charset="-122"/>
              </a:rPr>
              <a:t>ACK</a:t>
            </a:r>
            <a:r>
              <a:rPr lang="zh-CN" altLang="en-US" b="1" dirty="0">
                <a:ea typeface="黑体" panose="02010609060101010101" pitchFamily="49" charset="-122"/>
              </a:rPr>
              <a:t>或</a:t>
            </a:r>
            <a:r>
              <a:rPr lang="en-US" altLang="zh-CN" b="1" dirty="0">
                <a:ea typeface="黑体" panose="02010609060101010101" pitchFamily="49" charset="-122"/>
              </a:rPr>
              <a:t>SYN</a:t>
            </a:r>
            <a:r>
              <a:rPr lang="zh-CN" altLang="en-US" b="1" dirty="0">
                <a:ea typeface="黑体" panose="02010609060101010101" pitchFamily="49" charset="-122"/>
              </a:rPr>
              <a:t>标记位的数据包）到一个打开的端口，并等待响应。</a:t>
            </a:r>
            <a:r>
              <a:rPr lang="en-US" altLang="zh-CN" b="1" dirty="0">
                <a:ea typeface="黑体" panose="02010609060101010101" pitchFamily="49" charset="-122"/>
              </a:rPr>
              <a:t>RFC793</a:t>
            </a:r>
            <a:r>
              <a:rPr lang="zh-CN" altLang="en-US" b="1" dirty="0">
                <a:ea typeface="黑体" panose="02010609060101010101" pitchFamily="49" charset="-122"/>
              </a:rPr>
              <a:t>定义的标准行为是</a:t>
            </a:r>
            <a:r>
              <a:rPr lang="zh-CN" altLang="en-US" b="1" dirty="0">
                <a:solidFill>
                  <a:srgbClr val="0F73EE"/>
                </a:solidFill>
                <a:ea typeface="黑体" panose="02010609060101010101" pitchFamily="49" charset="-122"/>
              </a:rPr>
              <a:t>不响应</a:t>
            </a:r>
            <a:r>
              <a:rPr lang="zh-CN" altLang="en-US" b="1" dirty="0">
                <a:ea typeface="黑体" panose="02010609060101010101" pitchFamily="49" charset="-122"/>
              </a:rPr>
              <a:t>，但诸如</a:t>
            </a:r>
            <a:r>
              <a:rPr lang="en-US" altLang="zh-CN" b="1" dirty="0">
                <a:ea typeface="黑体" panose="02010609060101010101" pitchFamily="49" charset="-122"/>
              </a:rPr>
              <a:t>Windows</a:t>
            </a:r>
            <a:r>
              <a:rPr lang="zh-CN" altLang="en-US" b="1" dirty="0">
                <a:ea typeface="黑体" panose="02010609060101010101" pitchFamily="49" charset="-122"/>
              </a:rPr>
              <a:t>、</a:t>
            </a:r>
            <a:r>
              <a:rPr lang="en-US" altLang="zh-CN" b="1" dirty="0">
                <a:ea typeface="黑体" panose="02010609060101010101" pitchFamily="49" charset="-122"/>
              </a:rPr>
              <a:t>BSD</a:t>
            </a:r>
            <a:r>
              <a:rPr lang="zh-CN" altLang="en-US" b="1" dirty="0">
                <a:ea typeface="黑体" panose="02010609060101010101" pitchFamily="49" charset="-122"/>
              </a:rPr>
              <a:t>、</a:t>
            </a:r>
            <a:r>
              <a:rPr lang="en-US" altLang="zh-CN" b="1" dirty="0">
                <a:ea typeface="黑体" panose="02010609060101010101" pitchFamily="49" charset="-122"/>
              </a:rPr>
              <a:t>Cisco ISO</a:t>
            </a:r>
            <a:r>
              <a:rPr lang="zh-CN" altLang="en-US" b="1" dirty="0">
                <a:ea typeface="黑体" panose="02010609060101010101" pitchFamily="49" charset="-122"/>
              </a:rPr>
              <a:t>、</a:t>
            </a:r>
            <a:r>
              <a:rPr lang="en-US" altLang="zh-CN" b="1" dirty="0">
                <a:ea typeface="黑体" panose="02010609060101010101" pitchFamily="49" charset="-122"/>
              </a:rPr>
              <a:t>HP UX</a:t>
            </a:r>
            <a:r>
              <a:rPr lang="zh-CN" altLang="en-US" b="1" dirty="0">
                <a:ea typeface="黑体" panose="02010609060101010101" pitchFamily="49" charset="-122"/>
              </a:rPr>
              <a:t>、</a:t>
            </a:r>
            <a:r>
              <a:rPr lang="en-US" altLang="zh-CN" b="1" dirty="0">
                <a:ea typeface="黑体" panose="02010609060101010101" pitchFamily="49" charset="-122"/>
              </a:rPr>
              <a:t>MVS</a:t>
            </a:r>
            <a:r>
              <a:rPr lang="zh-CN" altLang="en-US" b="1" dirty="0">
                <a:ea typeface="黑体" panose="02010609060101010101" pitchFamily="49" charset="-122"/>
              </a:rPr>
              <a:t>和</a:t>
            </a:r>
            <a:r>
              <a:rPr lang="en-US" altLang="zh-CN" b="1" dirty="0">
                <a:ea typeface="黑体" panose="02010609060101010101" pitchFamily="49" charset="-122"/>
              </a:rPr>
              <a:t>IRIX</a:t>
            </a:r>
            <a:r>
              <a:rPr lang="zh-CN" altLang="en-US" b="1" dirty="0">
                <a:ea typeface="黑体" panose="02010609060101010101" pitchFamily="49" charset="-122"/>
              </a:rPr>
              <a:t>等操作系统会</a:t>
            </a:r>
            <a:r>
              <a:rPr lang="zh-CN" altLang="en-US" b="1" dirty="0">
                <a:solidFill>
                  <a:schemeClr val="folHlink"/>
                </a:solidFill>
                <a:ea typeface="黑体" panose="02010609060101010101" pitchFamily="49" charset="-122"/>
              </a:rPr>
              <a:t>回应一个</a:t>
            </a:r>
            <a:r>
              <a:rPr lang="en-US" altLang="zh-CN" b="1" dirty="0">
                <a:solidFill>
                  <a:schemeClr val="folHlink"/>
                </a:solidFill>
                <a:ea typeface="黑体" panose="02010609060101010101" pitchFamily="49" charset="-122"/>
              </a:rPr>
              <a:t>RESET</a:t>
            </a:r>
            <a:r>
              <a:rPr lang="zh-CN" altLang="en-US" b="1" dirty="0">
                <a:solidFill>
                  <a:schemeClr val="folHlink"/>
                </a:solidFill>
                <a:ea typeface="黑体" panose="02010609060101010101" pitchFamily="49" charset="-122"/>
              </a:rPr>
              <a:t>包</a:t>
            </a:r>
            <a:r>
              <a:rPr lang="zh-CN" altLang="en-US" b="1" dirty="0">
                <a:ea typeface="黑体" panose="02010609060101010101" pitchFamily="49" charset="-122"/>
              </a:rPr>
              <a:t>。大多数的探测器都使用了这项技术。</a:t>
            </a:r>
            <a:r>
              <a:rPr lang="zh-CN" altLang="en-US" dirty="0">
                <a:ea typeface="黑体" panose="02010609060101010101" pitchFamily="49" charset="-122"/>
              </a:rPr>
              <a:t> </a:t>
            </a:r>
          </a:p>
        </p:txBody>
      </p:sp>
      <p:sp>
        <p:nvSpPr>
          <p:cNvPr id="44035" name="矩形 57347"/>
          <p:cNvSpPr/>
          <p:nvPr/>
        </p:nvSpPr>
        <p:spPr>
          <a:xfrm>
            <a:off x="2279651" y="5920859"/>
            <a:ext cx="6102953" cy="369332"/>
          </a:xfrm>
          <a:prstGeom prst="rect">
            <a:avLst/>
          </a:prstGeom>
          <a:noFill/>
          <a:ln w="9525">
            <a:noFill/>
          </a:ln>
        </p:spPr>
        <p:txBody>
          <a:bodyPr wrap="none" anchor="ctr">
            <a:spAutoFit/>
          </a:bodyPr>
          <a:lstStyle/>
          <a:p>
            <a:pPr indent="152400"/>
            <a:r>
              <a:rPr lang="en-US" altLang="zh-CN" dirty="0">
                <a:solidFill>
                  <a:srgbClr val="99FF99"/>
                </a:solidFill>
                <a:latin typeface="Times New Roman" panose="02020603050405020304" pitchFamily="18" charset="0"/>
              </a:rPr>
              <a:t>SYN</a:t>
            </a:r>
            <a:r>
              <a:rPr lang="en-US" altLang="zh-CN" dirty="0">
                <a:latin typeface="Times New Roman" panose="02020603050405020304" pitchFamily="18" charset="0"/>
              </a:rPr>
              <a:t>(synchronous)</a:t>
            </a:r>
            <a:r>
              <a:rPr lang="zh-CN" altLang="en-US" dirty="0">
                <a:latin typeface="Times New Roman" panose="02020603050405020304" pitchFamily="18" charset="0"/>
                <a:ea typeface="宋体" panose="02010600030101010101" pitchFamily="2" charset="-122"/>
              </a:rPr>
              <a:t>是</a:t>
            </a:r>
            <a:r>
              <a:rPr lang="en-US" altLang="zh-CN" dirty="0">
                <a:latin typeface="Times New Roman" panose="02020603050405020304" pitchFamily="18" charset="0"/>
              </a:rPr>
              <a:t>TCP/IP</a:t>
            </a:r>
            <a:r>
              <a:rPr lang="zh-CN" altLang="en-US" dirty="0">
                <a:latin typeface="Times New Roman" panose="02020603050405020304" pitchFamily="18" charset="0"/>
                <a:ea typeface="宋体" panose="02010600030101010101" pitchFamily="2" charset="-122"/>
              </a:rPr>
              <a:t>建立连接时使用的握手信号。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58369"/>
          <p:cNvSpPr>
            <a:spLocks noGrp="1"/>
          </p:cNvSpPr>
          <p:nvPr>
            <p:ph type="title"/>
          </p:nvPr>
        </p:nvSpPr>
        <p:spPr>
          <a:xfrm>
            <a:off x="1524000" y="620713"/>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BOGUS</a:t>
            </a:r>
            <a:r>
              <a:rPr lang="zh-CN" altLang="en-US" sz="4400" b="1" noProof="1">
                <a:solidFill>
                  <a:schemeClr val="tx2"/>
                </a:solidFill>
                <a:effectLst>
                  <a:outerShdw blurRad="38100" dist="38100" dir="2700000">
                    <a:srgbClr val="000000"/>
                  </a:outerShdw>
                </a:effectLst>
                <a:ea typeface="黑体" panose="02010609060101010101" pitchFamily="49" charset="-122"/>
              </a:rPr>
              <a:t>标记探测</a:t>
            </a:r>
          </a:p>
        </p:txBody>
      </p:sp>
      <p:sp>
        <p:nvSpPr>
          <p:cNvPr id="45058" name="文本占位符 58370"/>
          <p:cNvSpPr>
            <a:spLocks noGrp="1"/>
          </p:cNvSpPr>
          <p:nvPr>
            <p:ph idx="1"/>
          </p:nvPr>
        </p:nvSpPr>
        <p:spPr>
          <a:xfrm>
            <a:off x="1056904" y="1981200"/>
            <a:ext cx="10082151" cy="4114800"/>
          </a:xfrm>
        </p:spPr>
        <p:txBody>
          <a:bodyPr vert="horz" wrap="square" lIns="91440" tIns="45720" rIns="91440" bIns="45720" anchor="t"/>
          <a:lstStyle/>
          <a:p>
            <a:pPr algn="just" eaLnBrk="1" hangingPunct="1">
              <a:lnSpc>
                <a:spcPct val="90000"/>
              </a:lnSpc>
              <a:buNone/>
            </a:pPr>
            <a:r>
              <a:rPr lang="en-US" altLang="zh-CN" b="1" dirty="0">
                <a:ea typeface="黑体" panose="02010609060101010101" pitchFamily="49" charset="-122"/>
              </a:rPr>
              <a:t>        </a:t>
            </a:r>
            <a:r>
              <a:rPr lang="en-US" altLang="zh-CN" b="1" dirty="0" err="1">
                <a:ea typeface="黑体" panose="02010609060101010101" pitchFamily="49" charset="-122"/>
              </a:rPr>
              <a:t>Queos</a:t>
            </a:r>
            <a:r>
              <a:rPr lang="zh-CN" altLang="en-US" b="1" dirty="0">
                <a:ea typeface="黑体" panose="02010609060101010101" pitchFamily="49" charset="-122"/>
              </a:rPr>
              <a:t>是最先采用这种技术的探测器。其原理是在一个</a:t>
            </a:r>
            <a:r>
              <a:rPr lang="en-US" altLang="zh-CN" b="1" dirty="0">
                <a:ea typeface="黑体" panose="02010609060101010101" pitchFamily="49" charset="-122"/>
              </a:rPr>
              <a:t>SYN</a:t>
            </a:r>
            <a:r>
              <a:rPr lang="zh-CN" altLang="en-US" b="1" dirty="0">
                <a:ea typeface="黑体" panose="02010609060101010101" pitchFamily="49" charset="-122"/>
              </a:rPr>
              <a:t>数据包</a:t>
            </a:r>
            <a:r>
              <a:rPr lang="en-US" altLang="zh-CN" b="1" dirty="0">
                <a:ea typeface="黑体" panose="02010609060101010101" pitchFamily="49" charset="-122"/>
              </a:rPr>
              <a:t>TCP</a:t>
            </a:r>
            <a:r>
              <a:rPr lang="zh-CN" altLang="en-US" b="1" dirty="0">
                <a:ea typeface="黑体" panose="02010609060101010101" pitchFamily="49" charset="-122"/>
              </a:rPr>
              <a:t>头中设置未定义的</a:t>
            </a:r>
            <a:r>
              <a:rPr lang="en-US" altLang="zh-CN" b="1" dirty="0">
                <a:ea typeface="黑体" panose="02010609060101010101" pitchFamily="49" charset="-122"/>
              </a:rPr>
              <a:t>TCP“</a:t>
            </a:r>
            <a:r>
              <a:rPr lang="zh-CN" altLang="en-US" b="1" dirty="0">
                <a:ea typeface="黑体" panose="02010609060101010101" pitchFamily="49" charset="-122"/>
              </a:rPr>
              <a:t>标记”（</a:t>
            </a:r>
            <a:r>
              <a:rPr lang="en-US" altLang="zh-CN" b="1" dirty="0">
                <a:ea typeface="黑体" panose="02010609060101010101" pitchFamily="49" charset="-122"/>
              </a:rPr>
              <a:t>64</a:t>
            </a:r>
            <a:r>
              <a:rPr lang="zh-CN" altLang="en-US" b="1" dirty="0">
                <a:ea typeface="黑体" panose="02010609060101010101" pitchFamily="49" charset="-122"/>
              </a:rPr>
              <a:t>或</a:t>
            </a:r>
            <a:r>
              <a:rPr lang="en-US" altLang="zh-CN" b="1" dirty="0">
                <a:ea typeface="黑体" panose="02010609060101010101" pitchFamily="49" charset="-122"/>
              </a:rPr>
              <a:t>128</a:t>
            </a:r>
            <a:r>
              <a:rPr lang="zh-CN" altLang="en-US" b="1" dirty="0">
                <a:ea typeface="黑体" panose="02010609060101010101" pitchFamily="49" charset="-122"/>
              </a:rPr>
              <a:t>）。低于</a:t>
            </a:r>
            <a:r>
              <a:rPr lang="en-US" altLang="zh-CN" b="1" dirty="0">
                <a:ea typeface="黑体" panose="02010609060101010101" pitchFamily="49" charset="-122"/>
              </a:rPr>
              <a:t>2.0.35</a:t>
            </a:r>
            <a:r>
              <a:rPr lang="zh-CN" altLang="en-US" b="1" dirty="0">
                <a:ea typeface="黑体" panose="02010609060101010101" pitchFamily="49" charset="-122"/>
              </a:rPr>
              <a:t>版本的</a:t>
            </a:r>
            <a:r>
              <a:rPr lang="en-US" altLang="zh-CN" b="1" dirty="0">
                <a:ea typeface="黑体" panose="02010609060101010101" pitchFamily="49" charset="-122"/>
              </a:rPr>
              <a:t>Linux</a:t>
            </a:r>
            <a:r>
              <a:rPr lang="zh-CN" altLang="en-US" b="1" dirty="0">
                <a:ea typeface="黑体" panose="02010609060101010101" pitchFamily="49" charset="-122"/>
              </a:rPr>
              <a:t>内核会</a:t>
            </a:r>
            <a:r>
              <a:rPr lang="zh-CN" altLang="en-US" b="1" dirty="0">
                <a:solidFill>
                  <a:schemeClr val="folHlink"/>
                </a:solidFill>
                <a:ea typeface="黑体" panose="02010609060101010101" pitchFamily="49" charset="-122"/>
              </a:rPr>
              <a:t>在回应数据包中保持这个标记</a:t>
            </a:r>
            <a:r>
              <a:rPr lang="zh-CN" altLang="en-US" b="1" dirty="0">
                <a:ea typeface="黑体" panose="02010609060101010101" pitchFamily="49" charset="-122"/>
              </a:rPr>
              <a:t>，而其他操作系统都不会。另外，有些操作系统当</a:t>
            </a:r>
            <a:r>
              <a:rPr lang="zh-CN" altLang="en-US" b="1" dirty="0">
                <a:solidFill>
                  <a:schemeClr val="folHlink"/>
                </a:solidFill>
                <a:ea typeface="黑体" panose="02010609060101010101" pitchFamily="49" charset="-122"/>
              </a:rPr>
              <a:t>收到一个</a:t>
            </a:r>
            <a:r>
              <a:rPr lang="en-US" altLang="zh-CN" b="1" dirty="0">
                <a:solidFill>
                  <a:schemeClr val="folHlink"/>
                </a:solidFill>
                <a:ea typeface="黑体" panose="02010609060101010101" pitchFamily="49" charset="-122"/>
              </a:rPr>
              <a:t>SYN+BOGUS</a:t>
            </a:r>
            <a:r>
              <a:rPr lang="zh-CN" altLang="en-US" b="1" dirty="0">
                <a:solidFill>
                  <a:schemeClr val="folHlink"/>
                </a:solidFill>
                <a:ea typeface="黑体" panose="02010609060101010101" pitchFamily="49" charset="-122"/>
              </a:rPr>
              <a:t>数据包时会复位连接</a:t>
            </a:r>
            <a:r>
              <a:rPr lang="zh-CN" altLang="en-US" b="1" dirty="0">
                <a:ea typeface="黑体" panose="02010609060101010101" pitchFamily="49" charset="-122"/>
              </a:rPr>
              <a:t>。因此这种方法能够比较有效地识别不同的操作系统。</a:t>
            </a:r>
            <a:r>
              <a:rPr lang="zh-CN" altLang="en-US" dirty="0">
                <a:ea typeface="黑体" panose="02010609060101010101" pitchFamily="49" charset="-122"/>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59393"/>
          <p:cNvSpPr>
            <a:spLocks noGrp="1"/>
          </p:cNvSpPr>
          <p:nvPr>
            <p:ph type="title"/>
          </p:nvPr>
        </p:nvSpPr>
        <p:spPr>
          <a:xfrm>
            <a:off x="1524000" y="620713"/>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TCP ISN</a:t>
            </a:r>
            <a:r>
              <a:rPr lang="zh-CN" altLang="en-US" sz="4400" b="1" noProof="1">
                <a:solidFill>
                  <a:schemeClr val="tx2"/>
                </a:solidFill>
                <a:effectLst>
                  <a:outerShdw blurRad="38100" dist="38100" dir="2700000">
                    <a:srgbClr val="000000"/>
                  </a:outerShdw>
                </a:effectLst>
                <a:ea typeface="黑体" panose="02010609060101010101" pitchFamily="49" charset="-122"/>
              </a:rPr>
              <a:t>取样</a:t>
            </a:r>
          </a:p>
        </p:txBody>
      </p:sp>
      <p:sp>
        <p:nvSpPr>
          <p:cNvPr id="46082" name="文本占位符 59394"/>
          <p:cNvSpPr>
            <a:spLocks noGrp="1"/>
          </p:cNvSpPr>
          <p:nvPr>
            <p:ph idx="1"/>
          </p:nvPr>
        </p:nvSpPr>
        <p:spPr>
          <a:xfrm>
            <a:off x="1092530" y="1981200"/>
            <a:ext cx="10022774" cy="4114800"/>
          </a:xfrm>
        </p:spPr>
        <p:txBody>
          <a:bodyPr vert="horz" wrap="square" lIns="91440" tIns="45720" rIns="91440" bIns="45720" anchor="t"/>
          <a:lstStyle/>
          <a:p>
            <a:pPr algn="just" eaLnBrk="1" hangingPunct="1">
              <a:buNone/>
            </a:pPr>
            <a:r>
              <a:rPr lang="en-US" altLang="zh-CN" b="1" dirty="0">
                <a:ea typeface="黑体" panose="02010609060101010101" pitchFamily="49" charset="-122"/>
              </a:rPr>
              <a:t>         ISN</a:t>
            </a:r>
            <a:r>
              <a:rPr lang="zh-CN" altLang="en-US" b="1" dirty="0">
                <a:solidFill>
                  <a:schemeClr val="folHlink"/>
                </a:solidFill>
                <a:ea typeface="黑体" panose="02010609060101010101" pitchFamily="49" charset="-122"/>
              </a:rPr>
              <a:t>（</a:t>
            </a:r>
            <a:r>
              <a:rPr lang="en-US" altLang="zh-CN" b="1" dirty="0">
                <a:solidFill>
                  <a:schemeClr val="folHlink"/>
                </a:solidFill>
              </a:rPr>
              <a:t>Initial Sequence Number</a:t>
            </a:r>
            <a:r>
              <a:rPr lang="zh-CN" altLang="en-US" b="1" dirty="0">
                <a:solidFill>
                  <a:schemeClr val="folHlink"/>
                </a:solidFill>
                <a:ea typeface="黑体" panose="02010609060101010101" pitchFamily="49" charset="-122"/>
              </a:rPr>
              <a:t>）</a:t>
            </a:r>
            <a:r>
              <a:rPr lang="zh-CN" altLang="en-US" b="1" dirty="0">
                <a:ea typeface="黑体" panose="02010609060101010101" pitchFamily="49" charset="-122"/>
              </a:rPr>
              <a:t>的含义是初始化序列号，即建立</a:t>
            </a:r>
            <a:r>
              <a:rPr lang="en-US" altLang="zh-CN" b="1" dirty="0">
                <a:ea typeface="黑体" panose="02010609060101010101" pitchFamily="49" charset="-122"/>
              </a:rPr>
              <a:t>TCP</a:t>
            </a:r>
            <a:r>
              <a:rPr lang="zh-CN" altLang="en-US" b="1" dirty="0">
                <a:ea typeface="黑体" panose="02010609060101010101" pitchFamily="49" charset="-122"/>
              </a:rPr>
              <a:t>连接时第一个</a:t>
            </a:r>
            <a:r>
              <a:rPr lang="en-US" altLang="zh-CN" b="1" dirty="0">
                <a:ea typeface="黑体" panose="02010609060101010101" pitchFamily="49" charset="-122"/>
              </a:rPr>
              <a:t>TCP</a:t>
            </a:r>
            <a:r>
              <a:rPr lang="zh-CN" altLang="en-US" b="1" dirty="0">
                <a:ea typeface="黑体" panose="02010609060101010101" pitchFamily="49" charset="-122"/>
              </a:rPr>
              <a:t>包中的序列号字段。这种探测的原理是</a:t>
            </a:r>
            <a:r>
              <a:rPr lang="zh-CN" altLang="en-US" b="1" dirty="0">
                <a:solidFill>
                  <a:srgbClr val="0F73EE"/>
                </a:solidFill>
                <a:ea typeface="黑体" panose="02010609060101010101" pitchFamily="49" charset="-122"/>
              </a:rPr>
              <a:t>通过在操作系统对连接请求的响应中寻找</a:t>
            </a:r>
            <a:r>
              <a:rPr lang="en-US" altLang="zh-CN" b="1" dirty="0">
                <a:solidFill>
                  <a:srgbClr val="0F73EE"/>
                </a:solidFill>
                <a:ea typeface="黑体" panose="02010609060101010101" pitchFamily="49" charset="-122"/>
              </a:rPr>
              <a:t>TCP</a:t>
            </a:r>
            <a:r>
              <a:rPr lang="zh-CN" altLang="en-US" b="1" dirty="0">
                <a:solidFill>
                  <a:srgbClr val="0F73EE"/>
                </a:solidFill>
                <a:ea typeface="黑体" panose="02010609060101010101" pitchFamily="49" charset="-122"/>
              </a:rPr>
              <a:t>连接初始化序列号的特征</a:t>
            </a:r>
            <a:r>
              <a:rPr lang="zh-CN" altLang="en-US" b="1" dirty="0">
                <a:ea typeface="黑体" panose="02010609060101010101" pitchFamily="49" charset="-122"/>
              </a:rPr>
              <a:t>来判断操作系统类型。</a:t>
            </a:r>
            <a:r>
              <a:rPr lang="zh-CN" altLang="en-US" dirty="0">
                <a:ea typeface="黑体" panose="02010609060101010101" pitchFamily="49" charset="-122"/>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a:xfrm>
            <a:off x="1524000" y="549275"/>
            <a:ext cx="9144000" cy="1143000"/>
          </a:xfrm>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ea typeface="黑体" panose="02010609060101010101" pitchFamily="49" charset="-122"/>
              </a:rPr>
              <a:t>“无碎片”标记位</a:t>
            </a:r>
            <a:endParaRPr lang="zh-CN" altLang="en-US" sz="4400" noProof="1">
              <a:solidFill>
                <a:schemeClr val="tx2"/>
              </a:solidFill>
              <a:effectLst>
                <a:outerShdw blurRad="38100" dist="38100" dir="2700000">
                  <a:srgbClr val="000000"/>
                </a:outerShdw>
              </a:effectLst>
              <a:ea typeface="黑体" panose="02010609060101010101" pitchFamily="49" charset="-122"/>
            </a:endParaRPr>
          </a:p>
        </p:txBody>
      </p:sp>
      <p:sp>
        <p:nvSpPr>
          <p:cNvPr id="47106" name="文本占位符 60418"/>
          <p:cNvSpPr>
            <a:spLocks noGrp="1"/>
          </p:cNvSpPr>
          <p:nvPr>
            <p:ph idx="1"/>
          </p:nvPr>
        </p:nvSpPr>
        <p:spPr>
          <a:xfrm>
            <a:off x="1128156" y="1981200"/>
            <a:ext cx="9975273" cy="4114800"/>
          </a:xfrm>
        </p:spPr>
        <p:txBody>
          <a:bodyPr vert="horz" wrap="square" lIns="91440" tIns="45720" rIns="91440" bIns="45720" anchor="t"/>
          <a:lstStyle/>
          <a:p>
            <a:pPr algn="just" eaLnBrk="1" hangingPunct="1">
              <a:buNone/>
            </a:pPr>
            <a:r>
              <a:rPr lang="zh-CN" altLang="en-US" b="1" dirty="0">
                <a:ea typeface="黑体" panose="02010609060101010101" pitchFamily="49" charset="-122"/>
              </a:rPr>
              <a:t>        许多操作系统逐渐开始在它们发送的数据包中</a:t>
            </a:r>
            <a:r>
              <a:rPr lang="zh-CN" altLang="en-US" b="1" dirty="0">
                <a:solidFill>
                  <a:srgbClr val="0F73EE"/>
                </a:solidFill>
                <a:ea typeface="黑体" panose="02010609060101010101" pitchFamily="49" charset="-122"/>
              </a:rPr>
              <a:t>设置</a:t>
            </a:r>
            <a:r>
              <a:rPr lang="en-US" altLang="zh-CN" b="1" dirty="0">
                <a:solidFill>
                  <a:srgbClr val="0F73EE"/>
                </a:solidFill>
                <a:ea typeface="黑体" panose="02010609060101010101" pitchFamily="49" charset="-122"/>
              </a:rPr>
              <a:t>IP“</a:t>
            </a:r>
            <a:r>
              <a:rPr lang="zh-CN" altLang="en-US" b="1" dirty="0">
                <a:solidFill>
                  <a:srgbClr val="0F73EE"/>
                </a:solidFill>
                <a:ea typeface="黑体" panose="02010609060101010101" pitchFamily="49" charset="-122"/>
              </a:rPr>
              <a:t>不分片”位</a:t>
            </a:r>
            <a:r>
              <a:rPr lang="zh-CN" altLang="en-US" b="1" dirty="0">
                <a:ea typeface="黑体" panose="02010609060101010101" pitchFamily="49" charset="-122"/>
              </a:rPr>
              <a:t>。这对于提高传输性能有好处，这也是为什么</a:t>
            </a:r>
            <a:r>
              <a:rPr lang="en-US" altLang="zh-CN" b="1" dirty="0">
                <a:ea typeface="黑体" panose="02010609060101010101" pitchFamily="49" charset="-122"/>
              </a:rPr>
              <a:t>Nmap</a:t>
            </a:r>
            <a:r>
              <a:rPr lang="zh-CN" altLang="en-US" b="1" dirty="0">
                <a:ea typeface="黑体" panose="02010609060101010101" pitchFamily="49" charset="-122"/>
              </a:rPr>
              <a:t>不对</a:t>
            </a:r>
            <a:r>
              <a:rPr lang="en-US" altLang="zh-CN" b="1" dirty="0">
                <a:ea typeface="黑体" panose="02010609060101010101" pitchFamily="49" charset="-122"/>
              </a:rPr>
              <a:t>Solaris</a:t>
            </a:r>
            <a:r>
              <a:rPr lang="zh-CN" altLang="en-US" b="1" dirty="0">
                <a:ea typeface="黑体" panose="02010609060101010101" pitchFamily="49" charset="-122"/>
              </a:rPr>
              <a:t>系统进行碎片探测的原因。但</a:t>
            </a:r>
            <a:r>
              <a:rPr lang="zh-CN" altLang="en-US" b="1" dirty="0">
                <a:solidFill>
                  <a:srgbClr val="0F73EE"/>
                </a:solidFill>
                <a:ea typeface="黑体" panose="02010609060101010101" pitchFamily="49" charset="-122"/>
              </a:rPr>
              <a:t>并不是所有操作系统都有这个设置</a:t>
            </a:r>
            <a:r>
              <a:rPr lang="zh-CN" altLang="en-US" b="1" dirty="0">
                <a:ea typeface="黑体" panose="02010609060101010101" pitchFamily="49" charset="-122"/>
              </a:rPr>
              <a:t>，或许并不总是使用这个设置，因此</a:t>
            </a:r>
            <a:r>
              <a:rPr lang="zh-CN" altLang="en-US" b="1" dirty="0">
                <a:solidFill>
                  <a:schemeClr val="accent1"/>
                </a:solidFill>
                <a:ea typeface="黑体" panose="02010609060101010101" pitchFamily="49" charset="-122"/>
              </a:rPr>
              <a:t>通过这个标记位的设置可以收集到关于目标主机操作系统的更多有用信息</a:t>
            </a:r>
            <a:r>
              <a:rPr lang="zh-CN" altLang="en-US" b="1" dirty="0">
                <a:ea typeface="黑体" panose="02010609060101010101" pitchFamily="49" charset="-122"/>
              </a:rPr>
              <a:t>。</a:t>
            </a:r>
            <a:r>
              <a:rPr lang="zh-CN" altLang="en-US" dirty="0">
                <a:ea typeface="黑体" panose="02010609060101010101" pitchFamily="49" charset="-122"/>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p:cNvSpPr>
          <p:nvPr>
            <p:ph type="title"/>
          </p:nvPr>
        </p:nvSpPr>
        <p:spPr>
          <a:xfrm>
            <a:off x="1524000" y="228600"/>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TCP</a:t>
            </a:r>
            <a:r>
              <a:rPr lang="zh-CN" altLang="en-US" sz="4400" b="1" noProof="1">
                <a:solidFill>
                  <a:schemeClr val="tx2"/>
                </a:solidFill>
                <a:effectLst>
                  <a:outerShdw blurRad="38100" dist="38100" dir="2700000">
                    <a:srgbClr val="000000"/>
                  </a:outerShdw>
                </a:effectLst>
                <a:ea typeface="黑体" panose="02010609060101010101" pitchFamily="49" charset="-122"/>
              </a:rPr>
              <a:t>初始化“窗口”</a:t>
            </a:r>
          </a:p>
        </p:txBody>
      </p:sp>
      <p:sp>
        <p:nvSpPr>
          <p:cNvPr id="48130" name="文本占位符 61442"/>
          <p:cNvSpPr>
            <a:spLocks noGrp="1"/>
          </p:cNvSpPr>
          <p:nvPr>
            <p:ph idx="1"/>
          </p:nvPr>
        </p:nvSpPr>
        <p:spPr>
          <a:xfrm>
            <a:off x="1524000" y="1599156"/>
            <a:ext cx="9318171" cy="4681537"/>
          </a:xfrm>
        </p:spPr>
        <p:txBody>
          <a:bodyPr vert="horz" wrap="square" lIns="91440" tIns="45720" rIns="91440" bIns="45720" anchor="t"/>
          <a:lstStyle/>
          <a:p>
            <a:pPr algn="just" eaLnBrk="1" hangingPunct="1">
              <a:lnSpc>
                <a:spcPct val="90000"/>
              </a:lnSpc>
              <a:buNone/>
            </a:pPr>
            <a:r>
              <a:rPr lang="zh-CN" altLang="en-US" b="1" dirty="0">
                <a:ea typeface="黑体" panose="02010609060101010101" pitchFamily="49" charset="-122"/>
              </a:rPr>
              <a:t>        以前的探测器仅仅通过</a:t>
            </a:r>
            <a:r>
              <a:rPr lang="en-US" altLang="zh-CN" b="1" dirty="0">
                <a:ea typeface="黑体" panose="02010609060101010101" pitchFamily="49" charset="-122"/>
              </a:rPr>
              <a:t>RST</a:t>
            </a:r>
            <a:r>
              <a:rPr lang="zh-CN" altLang="en-US" b="1" dirty="0">
                <a:ea typeface="黑体" panose="02010609060101010101" pitchFamily="49" charset="-122"/>
              </a:rPr>
              <a:t>数据包的非零“窗口”值就可以确定操作系统为</a:t>
            </a:r>
            <a:r>
              <a:rPr lang="en-US" altLang="zh-CN" b="1" dirty="0">
                <a:ea typeface="黑体" panose="02010609060101010101" pitchFamily="49" charset="-122"/>
              </a:rPr>
              <a:t>BSD 4.4</a:t>
            </a:r>
            <a:r>
              <a:rPr lang="zh-CN" altLang="en-US" b="1" dirty="0">
                <a:ea typeface="黑体" panose="02010609060101010101" pitchFamily="49" charset="-122"/>
              </a:rPr>
              <a:t>。而像</a:t>
            </a:r>
            <a:r>
              <a:rPr lang="en-US" altLang="zh-CN" b="1" dirty="0">
                <a:ea typeface="黑体" panose="02010609060101010101" pitchFamily="49" charset="-122"/>
              </a:rPr>
              <a:t>queos</a:t>
            </a:r>
            <a:r>
              <a:rPr lang="zh-CN" altLang="en-US" b="1" dirty="0">
                <a:ea typeface="黑体" panose="02010609060101010101" pitchFamily="49" charset="-122"/>
              </a:rPr>
              <a:t>和</a:t>
            </a:r>
            <a:r>
              <a:rPr lang="en-US" altLang="zh-CN" b="1" dirty="0">
                <a:ea typeface="黑体" panose="02010609060101010101" pitchFamily="49" charset="-122"/>
              </a:rPr>
              <a:t>nmap</a:t>
            </a:r>
            <a:r>
              <a:rPr lang="zh-CN" altLang="en-US" b="1" dirty="0">
                <a:ea typeface="黑体" panose="02010609060101010101" pitchFamily="49" charset="-122"/>
              </a:rPr>
              <a:t>这些新的探测器会记录确切的窗口值，因为该窗口随操作系统类型有</a:t>
            </a:r>
            <a:r>
              <a:rPr lang="zh-CN" altLang="en-US" b="1" dirty="0">
                <a:solidFill>
                  <a:schemeClr val="hlink"/>
                </a:solidFill>
                <a:ea typeface="黑体" panose="02010609060101010101" pitchFamily="49" charset="-122"/>
              </a:rPr>
              <a:t>较</a:t>
            </a:r>
            <a:r>
              <a:rPr lang="zh-CN" altLang="en-US" b="1" dirty="0">
                <a:ea typeface="黑体" panose="02010609060101010101" pitchFamily="49" charset="-122"/>
              </a:rPr>
              <a:t>为稳定的数值。这种探测能够提供许多有用的信息，因为</a:t>
            </a:r>
            <a:r>
              <a:rPr lang="zh-CN" altLang="en-US" b="1" dirty="0">
                <a:solidFill>
                  <a:schemeClr val="accent1"/>
                </a:solidFill>
                <a:ea typeface="黑体" panose="02010609060101010101" pitchFamily="49" charset="-122"/>
              </a:rPr>
              <a:t>某些系统总是使用比较特殊的窗口值</a:t>
            </a:r>
            <a:r>
              <a:rPr lang="zh-CN" altLang="en-US" b="1" dirty="0">
                <a:ea typeface="黑体" panose="02010609060101010101" pitchFamily="49" charset="-122"/>
              </a:rPr>
              <a:t>，例如，</a:t>
            </a:r>
            <a:r>
              <a:rPr lang="en-US" altLang="zh-CN" b="1" dirty="0">
                <a:ea typeface="黑体" panose="02010609060101010101" pitchFamily="49" charset="-122"/>
              </a:rPr>
              <a:t>AIX</a:t>
            </a:r>
            <a:r>
              <a:rPr lang="zh-CN" altLang="en-US" b="1" dirty="0">
                <a:ea typeface="黑体" panose="02010609060101010101" pitchFamily="49" charset="-122"/>
              </a:rPr>
              <a:t>是惟一使用</a:t>
            </a:r>
            <a:r>
              <a:rPr lang="en-US" altLang="zh-CN" b="1" dirty="0">
                <a:ea typeface="黑体" panose="02010609060101010101" pitchFamily="49" charset="-122"/>
              </a:rPr>
              <a:t>0x3F25</a:t>
            </a:r>
            <a:r>
              <a:rPr lang="zh-CN" altLang="en-US" b="1" dirty="0">
                <a:ea typeface="黑体" panose="02010609060101010101" pitchFamily="49" charset="-122"/>
              </a:rPr>
              <a:t>窗口值的操作系统。而在声称“完全重写”的</a:t>
            </a:r>
            <a:r>
              <a:rPr lang="en-US" altLang="zh-CN" b="1" dirty="0">
                <a:ea typeface="黑体" panose="02010609060101010101" pitchFamily="49" charset="-122"/>
              </a:rPr>
              <a:t>NT5</a:t>
            </a:r>
            <a:r>
              <a:rPr lang="zh-CN" altLang="en-US" b="1" dirty="0">
                <a:ea typeface="黑体" panose="02010609060101010101" pitchFamily="49" charset="-122"/>
              </a:rPr>
              <a:t>的</a:t>
            </a:r>
            <a:r>
              <a:rPr lang="en-US" altLang="zh-CN" b="1" dirty="0">
                <a:ea typeface="黑体" panose="02010609060101010101" pitchFamily="49" charset="-122"/>
              </a:rPr>
              <a:t>TCP</a:t>
            </a:r>
            <a:r>
              <a:rPr lang="zh-CN" altLang="en-US" b="1" dirty="0">
                <a:ea typeface="黑体" panose="02010609060101010101" pitchFamily="49" charset="-122"/>
              </a:rPr>
              <a:t>堆栈中，微软使用的窗口值总是</a:t>
            </a:r>
            <a:r>
              <a:rPr lang="en-US" altLang="zh-CN" b="1" dirty="0">
                <a:ea typeface="黑体" panose="02010609060101010101" pitchFamily="49" charset="-122"/>
              </a:rPr>
              <a:t>0x402E</a:t>
            </a:r>
            <a:r>
              <a:rPr lang="zh-CN" altLang="en-US" b="1" dirty="0">
                <a:ea typeface="黑体" panose="02010609060101010101" pitchFamily="49" charset="-122"/>
              </a:rPr>
              <a:t>。更有趣的是，这个数值同时也被</a:t>
            </a:r>
            <a:r>
              <a:rPr lang="en-US" altLang="zh-CN" b="1" dirty="0">
                <a:ea typeface="黑体" panose="02010609060101010101" pitchFamily="49" charset="-122"/>
              </a:rPr>
              <a:t>Open BSD</a:t>
            </a:r>
            <a:r>
              <a:rPr lang="zh-CN" altLang="en-US" b="1" dirty="0">
                <a:ea typeface="黑体" panose="02010609060101010101" pitchFamily="49" charset="-122"/>
              </a:rPr>
              <a:t>和</a:t>
            </a:r>
            <a:r>
              <a:rPr lang="en-US" altLang="zh-CN" b="1" dirty="0">
                <a:ea typeface="黑体" panose="02010609060101010101" pitchFamily="49" charset="-122"/>
              </a:rPr>
              <a:t>Free BSD</a:t>
            </a:r>
            <a:r>
              <a:rPr lang="zh-CN" altLang="en-US" b="1" dirty="0">
                <a:ea typeface="黑体" panose="02010609060101010101" pitchFamily="49" charset="-122"/>
              </a:rPr>
              <a:t>使用。 </a:t>
            </a:r>
          </a:p>
        </p:txBody>
      </p:sp>
      <p:sp>
        <p:nvSpPr>
          <p:cNvPr id="48131" name="矩形 61443"/>
          <p:cNvSpPr/>
          <p:nvPr/>
        </p:nvSpPr>
        <p:spPr>
          <a:xfrm>
            <a:off x="1992314" y="5373689"/>
            <a:ext cx="7920037" cy="646331"/>
          </a:xfrm>
          <a:prstGeom prst="rect">
            <a:avLst/>
          </a:prstGeom>
          <a:noFill/>
          <a:ln w="9525">
            <a:noFill/>
          </a:ln>
        </p:spPr>
        <p:txBody>
          <a:bodyPr anchor="t">
            <a:spAutoFit/>
          </a:bodyPr>
          <a:lstStyle/>
          <a:p>
            <a:r>
              <a:rPr lang="en-US" altLang="zh-CN" dirty="0">
                <a:solidFill>
                  <a:schemeClr val="folHlink"/>
                </a:solidFill>
                <a:latin typeface="Times New Roman" panose="02020603050405020304" pitchFamily="18" charset="0"/>
              </a:rPr>
              <a:t>BSD </a:t>
            </a:r>
            <a:r>
              <a:rPr lang="en-US" altLang="zh-CN" dirty="0">
                <a:latin typeface="Times New Roman" panose="02020603050405020304" pitchFamily="18" charset="0"/>
              </a:rPr>
              <a:t>(Berkeley Software Distribution</a:t>
            </a:r>
            <a:r>
              <a:rPr lang="zh-CN" altLang="en-US" dirty="0">
                <a:latin typeface="Times New Roman" panose="02020603050405020304" pitchFamily="18" charset="0"/>
                <a:ea typeface="宋体" panose="02010600030101010101" pitchFamily="2" charset="-122"/>
              </a:rPr>
              <a:t>，伯克利软件套件</a:t>
            </a:r>
            <a:r>
              <a:rPr lang="en-US" altLang="zh-CN" dirty="0">
                <a:latin typeface="Times New Roman" panose="02020603050405020304" pitchFamily="18" charset="0"/>
              </a:rPr>
              <a:t>)</a:t>
            </a:r>
            <a:r>
              <a:rPr lang="zh-CN" altLang="en-US" dirty="0">
                <a:latin typeface="Times New Roman" panose="02020603050405020304" pitchFamily="18" charset="0"/>
                <a:ea typeface="宋体" panose="02010600030101010101" pitchFamily="2" charset="-122"/>
              </a:rPr>
              <a:t>是</a:t>
            </a:r>
            <a:r>
              <a:rPr lang="en-US" altLang="zh-CN" dirty="0">
                <a:latin typeface="Times New Roman" panose="02020603050405020304" pitchFamily="18" charset="0"/>
              </a:rPr>
              <a:t>Unix</a:t>
            </a:r>
            <a:r>
              <a:rPr lang="zh-CN" altLang="en-US" dirty="0">
                <a:latin typeface="Times New Roman" panose="02020603050405020304" pitchFamily="18" charset="0"/>
                <a:ea typeface="宋体" panose="02010600030101010101" pitchFamily="2" charset="-122"/>
              </a:rPr>
              <a:t>的衍生系统，在</a:t>
            </a:r>
            <a:r>
              <a:rPr lang="en-US" altLang="zh-CN" dirty="0">
                <a:latin typeface="Times New Roman" panose="02020603050405020304" pitchFamily="18" charset="0"/>
              </a:rPr>
              <a:t>1977</a:t>
            </a:r>
            <a:r>
              <a:rPr lang="zh-CN" altLang="en-US" dirty="0">
                <a:latin typeface="Times New Roman" panose="02020603050405020304" pitchFamily="18" charset="0"/>
                <a:ea typeface="宋体" panose="02010600030101010101" pitchFamily="2" charset="-122"/>
              </a:rPr>
              <a:t>至</a:t>
            </a:r>
            <a:r>
              <a:rPr lang="en-US" altLang="zh-CN" dirty="0">
                <a:latin typeface="Times New Roman" panose="02020603050405020304" pitchFamily="18" charset="0"/>
              </a:rPr>
              <a:t>1995</a:t>
            </a:r>
            <a:r>
              <a:rPr lang="zh-CN" altLang="en-US" dirty="0">
                <a:latin typeface="Times New Roman" panose="02020603050405020304" pitchFamily="18" charset="0"/>
                <a:ea typeface="宋体" panose="02010600030101010101" pitchFamily="2" charset="-122"/>
              </a:rPr>
              <a:t>年间由加州大学伯克利分校开发和发布的。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62465"/>
          <p:cNvSpPr>
            <a:spLocks noGrp="1"/>
          </p:cNvSpPr>
          <p:nvPr>
            <p:ph type="title"/>
          </p:nvPr>
        </p:nvSpPr>
        <p:spPr>
          <a:xfrm>
            <a:off x="1524000" y="228600"/>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ACK</a:t>
            </a:r>
            <a:r>
              <a:rPr lang="zh-CN" altLang="en-US" sz="4400" b="1" noProof="1">
                <a:solidFill>
                  <a:schemeClr val="tx2"/>
                </a:solidFill>
                <a:effectLst>
                  <a:outerShdw blurRad="38100" dist="38100" dir="2700000">
                    <a:srgbClr val="000000"/>
                  </a:outerShdw>
                </a:effectLst>
                <a:ea typeface="黑体" panose="02010609060101010101" pitchFamily="49" charset="-122"/>
              </a:rPr>
              <a:t>值</a:t>
            </a:r>
          </a:p>
        </p:txBody>
      </p:sp>
      <p:sp>
        <p:nvSpPr>
          <p:cNvPr id="49154" name="文本占位符 62466"/>
          <p:cNvSpPr>
            <a:spLocks noGrp="1"/>
          </p:cNvSpPr>
          <p:nvPr>
            <p:ph idx="1"/>
          </p:nvPr>
        </p:nvSpPr>
        <p:spPr>
          <a:xfrm>
            <a:off x="2135188" y="1628775"/>
            <a:ext cx="7772400" cy="4114800"/>
          </a:xfrm>
        </p:spPr>
        <p:txBody>
          <a:bodyPr vert="horz" wrap="square" lIns="91440" tIns="45720" rIns="91440" bIns="45720" anchor="t"/>
          <a:lstStyle/>
          <a:p>
            <a:pPr algn="just" eaLnBrk="1" hangingPunct="1">
              <a:lnSpc>
                <a:spcPct val="90000"/>
              </a:lnSpc>
              <a:buNone/>
            </a:pPr>
            <a:r>
              <a:rPr lang="zh-CN" altLang="en-US" b="1" dirty="0">
                <a:ea typeface="黑体" panose="02010609060101010101" pitchFamily="49" charset="-122"/>
              </a:rPr>
              <a:t>         操作系统在</a:t>
            </a:r>
            <a:r>
              <a:rPr lang="en-US" altLang="zh-CN" b="1" dirty="0">
                <a:ea typeface="黑体" panose="02010609060101010101" pitchFamily="49" charset="-122"/>
              </a:rPr>
              <a:t>ACK</a:t>
            </a:r>
            <a:r>
              <a:rPr lang="zh-CN" altLang="en-US" b="1" dirty="0">
                <a:ea typeface="黑体" panose="02010609060101010101" pitchFamily="49" charset="-122"/>
              </a:rPr>
              <a:t>域值的实现也有所不同。例如，假设向一个</a:t>
            </a:r>
            <a:r>
              <a:rPr lang="zh-CN" altLang="en-US" b="1" dirty="0">
                <a:solidFill>
                  <a:schemeClr val="folHlink"/>
                </a:solidFill>
                <a:ea typeface="黑体" panose="02010609060101010101" pitchFamily="49" charset="-122"/>
              </a:rPr>
              <a:t>关闭的</a:t>
            </a:r>
            <a:r>
              <a:rPr lang="en-US" altLang="zh-CN" b="1" dirty="0">
                <a:ea typeface="黑体" panose="02010609060101010101" pitchFamily="49" charset="-122"/>
              </a:rPr>
              <a:t>TCP</a:t>
            </a:r>
            <a:r>
              <a:rPr lang="zh-CN" altLang="en-US" b="1" dirty="0">
                <a:ea typeface="黑体" panose="02010609060101010101" pitchFamily="49" charset="-122"/>
              </a:rPr>
              <a:t>端口发送一个</a:t>
            </a:r>
            <a:r>
              <a:rPr lang="en-US" altLang="zh-CN" b="1" dirty="0">
                <a:ea typeface="黑体" panose="02010609060101010101" pitchFamily="49" charset="-122"/>
              </a:rPr>
              <a:t>FIN|PSH|URG</a:t>
            </a:r>
            <a:r>
              <a:rPr lang="zh-CN" altLang="en-US" b="1" dirty="0">
                <a:ea typeface="黑体" panose="02010609060101010101" pitchFamily="49" charset="-122"/>
              </a:rPr>
              <a:t>包，许多操作系统会将</a:t>
            </a:r>
            <a:r>
              <a:rPr lang="en-US" altLang="zh-CN" b="1" dirty="0">
                <a:ea typeface="黑体" panose="02010609060101010101" pitchFamily="49" charset="-122"/>
              </a:rPr>
              <a:t>ACK</a:t>
            </a:r>
            <a:r>
              <a:rPr lang="zh-CN" altLang="en-US" b="1" dirty="0">
                <a:ea typeface="黑体" panose="02010609060101010101" pitchFamily="49" charset="-122"/>
              </a:rPr>
              <a:t>值设置为</a:t>
            </a:r>
            <a:r>
              <a:rPr lang="en-US" altLang="zh-CN" b="1" dirty="0">
                <a:ea typeface="黑体" panose="02010609060101010101" pitchFamily="49" charset="-122"/>
              </a:rPr>
              <a:t>ISN</a:t>
            </a:r>
            <a:r>
              <a:rPr lang="zh-CN" altLang="en-US" b="1" dirty="0">
                <a:ea typeface="黑体" panose="02010609060101010101" pitchFamily="49" charset="-122"/>
              </a:rPr>
              <a:t>值，但</a:t>
            </a:r>
            <a:r>
              <a:rPr lang="en-US" altLang="zh-CN" b="1" dirty="0">
                <a:ea typeface="黑体" panose="02010609060101010101" pitchFamily="49" charset="-122"/>
              </a:rPr>
              <a:t>Windows</a:t>
            </a:r>
            <a:r>
              <a:rPr lang="zh-CN" altLang="en-US" b="1" dirty="0">
                <a:ea typeface="黑体" panose="02010609060101010101" pitchFamily="49" charset="-122"/>
              </a:rPr>
              <a:t>和某些打印机会设置为</a:t>
            </a:r>
            <a:r>
              <a:rPr lang="en-US" altLang="zh-CN" b="1" dirty="0">
                <a:ea typeface="黑体" panose="02010609060101010101" pitchFamily="49" charset="-122"/>
              </a:rPr>
              <a:t>seq+1</a:t>
            </a:r>
            <a:r>
              <a:rPr lang="zh-CN" altLang="en-US" b="1" dirty="0">
                <a:ea typeface="黑体" panose="02010609060101010101" pitchFamily="49" charset="-122"/>
              </a:rPr>
              <a:t>。</a:t>
            </a:r>
          </a:p>
          <a:p>
            <a:pPr algn="just" eaLnBrk="1" hangingPunct="1">
              <a:lnSpc>
                <a:spcPct val="90000"/>
              </a:lnSpc>
              <a:buNone/>
            </a:pPr>
            <a:r>
              <a:rPr lang="zh-CN" altLang="en-US" b="1" dirty="0">
                <a:ea typeface="黑体" panose="02010609060101010101" pitchFamily="49" charset="-122"/>
              </a:rPr>
              <a:t>        如果向</a:t>
            </a:r>
            <a:r>
              <a:rPr lang="zh-CN" altLang="en-US" b="1" dirty="0">
                <a:solidFill>
                  <a:schemeClr val="folHlink"/>
                </a:solidFill>
                <a:ea typeface="黑体" panose="02010609060101010101" pitchFamily="49" charset="-122"/>
              </a:rPr>
              <a:t>打开的</a:t>
            </a:r>
            <a:r>
              <a:rPr lang="zh-CN" altLang="en-US" b="1" dirty="0">
                <a:ea typeface="黑体" panose="02010609060101010101" pitchFamily="49" charset="-122"/>
              </a:rPr>
              <a:t>端口发送</a:t>
            </a:r>
            <a:r>
              <a:rPr lang="en-US" altLang="zh-CN" b="1" dirty="0">
                <a:ea typeface="黑体" panose="02010609060101010101" pitchFamily="49" charset="-122"/>
              </a:rPr>
              <a:t>SYN|FIN|URG|PSH</a:t>
            </a:r>
            <a:r>
              <a:rPr lang="zh-CN" altLang="en-US" b="1" dirty="0">
                <a:ea typeface="黑体" panose="02010609060101010101" pitchFamily="49" charset="-122"/>
              </a:rPr>
              <a:t>包，</a:t>
            </a:r>
            <a:r>
              <a:rPr lang="en-US" altLang="zh-CN" b="1" dirty="0">
                <a:ea typeface="黑体" panose="02010609060101010101" pitchFamily="49" charset="-122"/>
              </a:rPr>
              <a:t>Windows</a:t>
            </a:r>
            <a:r>
              <a:rPr lang="zh-CN" altLang="en-US" b="1" dirty="0">
                <a:ea typeface="黑体" panose="02010609060101010101" pitchFamily="49" charset="-122"/>
              </a:rPr>
              <a:t>返回值会非常不确定。有时是</a:t>
            </a:r>
            <a:r>
              <a:rPr lang="en-US" altLang="zh-CN" b="1" dirty="0">
                <a:ea typeface="黑体" panose="02010609060101010101" pitchFamily="49" charset="-122"/>
              </a:rPr>
              <a:t>seq</a:t>
            </a:r>
            <a:r>
              <a:rPr lang="zh-CN" altLang="en-US" b="1" dirty="0">
                <a:ea typeface="黑体" panose="02010609060101010101" pitchFamily="49" charset="-122"/>
              </a:rPr>
              <a:t>序列号值，有时是</a:t>
            </a:r>
            <a:r>
              <a:rPr lang="en-US" altLang="zh-CN" b="1" dirty="0">
                <a:ea typeface="黑体" panose="02010609060101010101" pitchFamily="49" charset="-122"/>
              </a:rPr>
              <a:t>seq+1</a:t>
            </a:r>
            <a:r>
              <a:rPr lang="zh-CN" altLang="en-US" b="1" dirty="0">
                <a:ea typeface="黑体" panose="02010609060101010101" pitchFamily="49" charset="-122"/>
              </a:rPr>
              <a:t>，而有时回送的是一个随机数值。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p:nvPr>
        </p:nvSpPr>
        <p:spPr>
          <a:xfrm>
            <a:off x="1525979" y="347353"/>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ICMP</a:t>
            </a:r>
            <a:r>
              <a:rPr lang="zh-CN" altLang="en-US" sz="4400" b="1" noProof="1">
                <a:solidFill>
                  <a:schemeClr val="tx2"/>
                </a:solidFill>
                <a:effectLst>
                  <a:outerShdw blurRad="38100" dist="38100" dir="2700000">
                    <a:srgbClr val="000000"/>
                  </a:outerShdw>
                </a:effectLst>
                <a:ea typeface="黑体" panose="02010609060101010101" pitchFamily="49" charset="-122"/>
              </a:rPr>
              <a:t>出错信息</a:t>
            </a:r>
          </a:p>
        </p:txBody>
      </p:sp>
      <p:sp>
        <p:nvSpPr>
          <p:cNvPr id="50178" name="文本占位符 63490"/>
          <p:cNvSpPr>
            <a:spLocks noGrp="1"/>
          </p:cNvSpPr>
          <p:nvPr>
            <p:ph idx="1"/>
          </p:nvPr>
        </p:nvSpPr>
        <p:spPr>
          <a:xfrm>
            <a:off x="1128156" y="1981200"/>
            <a:ext cx="9939647" cy="4114800"/>
          </a:xfrm>
        </p:spPr>
        <p:txBody>
          <a:bodyPr vert="horz" wrap="square" lIns="91440" tIns="45720" rIns="91440" bIns="45720" anchor="t"/>
          <a:lstStyle/>
          <a:p>
            <a:pPr algn="just" eaLnBrk="1" hangingPunct="1">
              <a:buNone/>
            </a:pPr>
            <a:r>
              <a:rPr lang="zh-CN" altLang="en-US" b="1" dirty="0">
                <a:ea typeface="黑体" panose="02010609060101010101" pitchFamily="49" charset="-122"/>
              </a:rPr>
              <a:t>        有些操作系统根据</a:t>
            </a:r>
            <a:r>
              <a:rPr lang="en-US" altLang="zh-CN" b="1" dirty="0">
                <a:ea typeface="黑体" panose="02010609060101010101" pitchFamily="49" charset="-122"/>
              </a:rPr>
              <a:t>RFC1812</a:t>
            </a:r>
            <a:r>
              <a:rPr lang="zh-CN" altLang="en-US" b="1" dirty="0">
                <a:ea typeface="黑体" panose="02010609060101010101" pitchFamily="49" charset="-122"/>
              </a:rPr>
              <a:t>的建议</a:t>
            </a:r>
            <a:r>
              <a:rPr lang="zh-CN" altLang="en-US" b="1" dirty="0">
                <a:solidFill>
                  <a:schemeClr val="folHlink"/>
                </a:solidFill>
                <a:ea typeface="黑体" panose="02010609060101010101" pitchFamily="49" charset="-122"/>
              </a:rPr>
              <a:t>对某些类型的错误信息发送频率做了限制</a:t>
            </a:r>
            <a:r>
              <a:rPr lang="zh-CN" altLang="en-US" b="1" dirty="0">
                <a:ea typeface="黑体" panose="02010609060101010101" pitchFamily="49" charset="-122"/>
              </a:rPr>
              <a:t>。例如，</a:t>
            </a:r>
            <a:r>
              <a:rPr lang="en-US" altLang="zh-CN" b="1" dirty="0">
                <a:ea typeface="黑体" panose="02010609060101010101" pitchFamily="49" charset="-122"/>
              </a:rPr>
              <a:t>Linux</a:t>
            </a:r>
            <a:r>
              <a:rPr lang="zh-CN" altLang="en-US" b="1" dirty="0">
                <a:ea typeface="黑体" panose="02010609060101010101" pitchFamily="49" charset="-122"/>
              </a:rPr>
              <a:t>内核限制发送“目标不可到达”信息次数为</a:t>
            </a:r>
            <a:r>
              <a:rPr lang="zh-CN" altLang="en-US" b="1" dirty="0">
                <a:solidFill>
                  <a:schemeClr val="accent1"/>
                </a:solidFill>
                <a:ea typeface="黑体" panose="02010609060101010101" pitchFamily="49" charset="-122"/>
              </a:rPr>
              <a:t>每</a:t>
            </a:r>
            <a:r>
              <a:rPr lang="en-US" altLang="zh-CN" b="1" dirty="0">
                <a:solidFill>
                  <a:schemeClr val="accent1"/>
                </a:solidFill>
                <a:ea typeface="黑体" panose="02010609060101010101" pitchFamily="49" charset="-122"/>
              </a:rPr>
              <a:t>4</a:t>
            </a:r>
            <a:r>
              <a:rPr lang="zh-CN" altLang="en-US" b="1" dirty="0">
                <a:solidFill>
                  <a:schemeClr val="accent1"/>
                </a:solidFill>
                <a:ea typeface="黑体" panose="02010609060101010101" pitchFamily="49" charset="-122"/>
              </a:rPr>
              <a:t>秒</a:t>
            </a:r>
            <a:r>
              <a:rPr lang="en-US" altLang="zh-CN" b="1" dirty="0">
                <a:solidFill>
                  <a:schemeClr val="accent1"/>
                </a:solidFill>
                <a:ea typeface="黑体" panose="02010609060101010101" pitchFamily="49" charset="-122"/>
              </a:rPr>
              <a:t>80</a:t>
            </a:r>
            <a:r>
              <a:rPr lang="zh-CN" altLang="en-US" b="1" dirty="0">
                <a:solidFill>
                  <a:schemeClr val="accent1"/>
                </a:solidFill>
                <a:ea typeface="黑体" panose="02010609060101010101" pitchFamily="49" charset="-122"/>
              </a:rPr>
              <a:t>次</a:t>
            </a:r>
            <a:r>
              <a:rPr lang="zh-CN" altLang="en-US" b="1" dirty="0">
                <a:ea typeface="黑体" panose="02010609060101010101" pitchFamily="49" charset="-122"/>
              </a:rPr>
              <a:t>，如果超过这个限制则会再减少</a:t>
            </a:r>
            <a:r>
              <a:rPr lang="en-US" altLang="zh-CN" b="1" dirty="0">
                <a:ea typeface="黑体" panose="02010609060101010101" pitchFamily="49" charset="-122"/>
              </a:rPr>
              <a:t>1/4</a:t>
            </a:r>
            <a:r>
              <a:rPr lang="zh-CN" altLang="en-US" b="1" dirty="0">
                <a:ea typeface="黑体" panose="02010609060101010101" pitchFamily="49" charset="-122"/>
              </a:rPr>
              <a:t>秒。一种测试方法是向高端</a:t>
            </a:r>
            <a:r>
              <a:rPr lang="en-US" altLang="zh-CN" b="1" dirty="0">
                <a:ea typeface="黑体" panose="02010609060101010101" pitchFamily="49" charset="-122"/>
              </a:rPr>
              <a:t>UDP</a:t>
            </a:r>
            <a:r>
              <a:rPr lang="zh-CN" altLang="en-US" b="1" dirty="0">
                <a:ea typeface="黑体" panose="02010609060101010101" pitchFamily="49" charset="-122"/>
              </a:rPr>
              <a:t>端口发送成批的数据包，并计算接收到的“目标不可到达”数据包的数量。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64513"/>
          <p:cNvSpPr>
            <a:spLocks noGrp="1"/>
          </p:cNvSpPr>
          <p:nvPr>
            <p:ph type="title"/>
          </p:nvPr>
        </p:nvSpPr>
        <p:spPr>
          <a:xfrm>
            <a:off x="1524000" y="228600"/>
            <a:ext cx="9144000" cy="1143000"/>
          </a:xfrm>
        </p:spPr>
        <p:txBody>
          <a:bodyPr lIns="92075" tIns="46038" rIns="92075" bIns="46038" anchor="ctr"/>
          <a:lstStyle/>
          <a:p>
            <a:pPr algn="ctr" fontAlgn="base">
              <a:lnSpc>
                <a:spcPct val="100000"/>
              </a:lnSpc>
              <a:spcAft>
                <a:spcPct val="0"/>
              </a:spcAft>
              <a:defRPr/>
            </a:pPr>
            <a:r>
              <a:rPr lang="en-US" altLang="zh-CN" sz="4400" b="1" noProof="1">
                <a:solidFill>
                  <a:schemeClr val="tx2"/>
                </a:solidFill>
                <a:effectLst>
                  <a:outerShdw blurRad="38100" dist="38100" dir="2700000">
                    <a:srgbClr val="000000"/>
                  </a:outerShdw>
                </a:effectLst>
                <a:ea typeface="黑体" panose="02010609060101010101" pitchFamily="49" charset="-122"/>
              </a:rPr>
              <a:t>TCP</a:t>
            </a:r>
            <a:r>
              <a:rPr lang="zh-CN" altLang="en-US" sz="4400" b="1" noProof="1">
                <a:solidFill>
                  <a:schemeClr val="tx2"/>
                </a:solidFill>
                <a:effectLst>
                  <a:outerShdw blurRad="38100" dist="38100" dir="2700000">
                    <a:srgbClr val="000000"/>
                  </a:outerShdw>
                </a:effectLst>
                <a:ea typeface="黑体" panose="02010609060101010101" pitchFamily="49" charset="-122"/>
              </a:rPr>
              <a:t>选项</a:t>
            </a:r>
            <a:endParaRPr lang="zh-CN" altLang="en-US" sz="4400" noProof="1">
              <a:solidFill>
                <a:schemeClr val="tx2"/>
              </a:solidFill>
              <a:effectLst>
                <a:outerShdw blurRad="38100" dist="38100" dir="2700000">
                  <a:srgbClr val="000000"/>
                </a:outerShdw>
              </a:effectLst>
              <a:ea typeface="黑体" panose="02010609060101010101" pitchFamily="49" charset="-122"/>
            </a:endParaRPr>
          </a:p>
        </p:txBody>
      </p:sp>
      <p:sp>
        <p:nvSpPr>
          <p:cNvPr id="51202" name="文本占位符 64514"/>
          <p:cNvSpPr>
            <a:spLocks noGrp="1"/>
          </p:cNvSpPr>
          <p:nvPr>
            <p:ph idx="1"/>
          </p:nvPr>
        </p:nvSpPr>
        <p:spPr>
          <a:xfrm>
            <a:off x="1774825" y="1600200"/>
            <a:ext cx="8713788" cy="4495800"/>
          </a:xfrm>
        </p:spPr>
        <p:txBody>
          <a:bodyPr vert="horz" wrap="square" lIns="91440" tIns="45720" rIns="91440" bIns="45720" anchor="t"/>
          <a:lstStyle/>
          <a:p>
            <a:pPr algn="just" eaLnBrk="1" hangingPunct="1">
              <a:buNone/>
            </a:pPr>
            <a:r>
              <a:rPr lang="zh-CN" altLang="en-US" b="1" dirty="0">
                <a:ea typeface="黑体" panose="02010609060101010101" pitchFamily="49" charset="-122"/>
              </a:rPr>
              <a:t>        这是收集信息最有效的方法之一。其原因是：</a:t>
            </a:r>
          </a:p>
          <a:p>
            <a:pPr algn="just" eaLnBrk="1" hangingPunct="1"/>
            <a:r>
              <a:rPr lang="zh-CN" altLang="en-US" b="1" dirty="0">
                <a:ea typeface="黑体" panose="02010609060101010101" pitchFamily="49" charset="-122"/>
              </a:rPr>
              <a:t>它们通常真的是“可选的”，因此</a:t>
            </a:r>
            <a:r>
              <a:rPr lang="zh-CN" altLang="en-US" b="1" dirty="0">
                <a:solidFill>
                  <a:schemeClr val="folHlink"/>
                </a:solidFill>
                <a:ea typeface="黑体" panose="02010609060101010101" pitchFamily="49" charset="-122"/>
              </a:rPr>
              <a:t>并不是所有的操作系统都使用它们</a:t>
            </a:r>
            <a:r>
              <a:rPr lang="zh-CN" altLang="en-US" b="1" dirty="0">
                <a:ea typeface="黑体" panose="02010609060101010101" pitchFamily="49" charset="-122"/>
              </a:rPr>
              <a:t>；向目标主机发送带有可选项标记的数据包时，如果操作系统支持这些选项，会在返回包中也设置这些标记；可以一次在数据包中设置多个可选项，从而增加了探测的准确度。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占位符 65538"/>
          <p:cNvSpPr>
            <a:spLocks noGrp="1"/>
          </p:cNvSpPr>
          <p:nvPr>
            <p:ph idx="1"/>
          </p:nvPr>
        </p:nvSpPr>
        <p:spPr>
          <a:xfrm>
            <a:off x="1068778" y="1981200"/>
            <a:ext cx="10070277" cy="4114800"/>
          </a:xfrm>
        </p:spPr>
        <p:txBody>
          <a:bodyPr vert="horz" wrap="square" lIns="91440" tIns="45720" rIns="91440" bIns="45720" anchor="t"/>
          <a:lstStyle/>
          <a:p>
            <a:pPr algn="just" eaLnBrk="1" hangingPunct="1">
              <a:lnSpc>
                <a:spcPct val="90000"/>
              </a:lnSpc>
              <a:buNone/>
            </a:pPr>
            <a:r>
              <a:rPr lang="zh-CN" altLang="en-US" sz="3600" b="1" dirty="0">
                <a:ea typeface="黑体" panose="02010609060101010101" pitchFamily="49" charset="-122"/>
              </a:rPr>
              <a:t>        </a:t>
            </a:r>
            <a:r>
              <a:rPr lang="zh-CN" altLang="en-US" sz="3600" b="1" dirty="0">
                <a:solidFill>
                  <a:schemeClr val="folHlink"/>
                </a:solidFill>
                <a:ea typeface="黑体" panose="02010609060101010101" pitchFamily="49" charset="-122"/>
              </a:rPr>
              <a:t>网络窃听</a:t>
            </a:r>
            <a:r>
              <a:rPr lang="zh-CN" altLang="en-US" sz="3600" b="1" dirty="0">
                <a:ea typeface="黑体" panose="02010609060101010101" pitchFamily="49" charset="-122"/>
              </a:rPr>
              <a:t>就是通过捕获网络中流动的报文数据并加以分析以达到未授权获取相关信息的目的，常用的工具就是嗅探器。</a:t>
            </a:r>
          </a:p>
          <a:p>
            <a:pPr algn="just" eaLnBrk="1" hangingPunct="1">
              <a:lnSpc>
                <a:spcPct val="90000"/>
              </a:lnSpc>
              <a:buNone/>
            </a:pPr>
            <a:r>
              <a:rPr lang="zh-CN" altLang="zh-CN" sz="3600" b="1" dirty="0">
                <a:solidFill>
                  <a:srgbClr val="FF0000"/>
                </a:solidFill>
                <a:ea typeface="黑体" panose="02010609060101010101" pitchFamily="49" charset="-122"/>
              </a:rPr>
              <a:t>           混杂模式</a:t>
            </a:r>
          </a:p>
          <a:p>
            <a:pPr algn="just" eaLnBrk="1" hangingPunct="1">
              <a:lnSpc>
                <a:spcPct val="90000"/>
              </a:lnSpc>
            </a:pPr>
            <a:r>
              <a:rPr lang="zh-CN" altLang="en-US" sz="3600" b="1" dirty="0">
                <a:ea typeface="黑体" panose="02010609060101010101" pitchFamily="49" charset="-122"/>
              </a:rPr>
              <a:t>基于</a:t>
            </a:r>
            <a:r>
              <a:rPr lang="en-US" altLang="zh-CN" sz="3600" b="1" dirty="0">
                <a:solidFill>
                  <a:schemeClr val="accent1"/>
                </a:solidFill>
                <a:ea typeface="黑体" panose="02010609060101010101" pitchFamily="49" charset="-122"/>
              </a:rPr>
              <a:t>ioctl</a:t>
            </a:r>
            <a:r>
              <a:rPr lang="zh-CN" altLang="en-US" sz="3600" b="1" dirty="0">
                <a:ea typeface="黑体" panose="02010609060101010101" pitchFamily="49" charset="-122"/>
              </a:rPr>
              <a:t>控制实现的网络窃听 </a:t>
            </a:r>
          </a:p>
          <a:p>
            <a:pPr algn="just" eaLnBrk="1" hangingPunct="1">
              <a:lnSpc>
                <a:spcPct val="90000"/>
              </a:lnSpc>
            </a:pPr>
            <a:r>
              <a:rPr lang="zh-CN" altLang="en-US" sz="3600" b="1" dirty="0">
                <a:ea typeface="黑体" panose="02010609060101010101" pitchFamily="49" charset="-122"/>
              </a:rPr>
              <a:t>基于</a:t>
            </a:r>
            <a:r>
              <a:rPr lang="en-US" altLang="zh-CN" sz="3600" b="1" dirty="0">
                <a:ea typeface="黑体" panose="02010609060101010101" pitchFamily="49" charset="-122"/>
              </a:rPr>
              <a:t>LibPCap</a:t>
            </a:r>
            <a:r>
              <a:rPr lang="zh-CN" altLang="en-US" sz="3600" b="1" dirty="0">
                <a:ea typeface="黑体" panose="02010609060101010101" pitchFamily="49" charset="-122"/>
              </a:rPr>
              <a:t>库实现的与平台无关的网络窃听 </a:t>
            </a:r>
          </a:p>
        </p:txBody>
      </p:sp>
      <p:grpSp>
        <p:nvGrpSpPr>
          <p:cNvPr id="4" name="组合 3"/>
          <p:cNvGrpSpPr/>
          <p:nvPr/>
        </p:nvGrpSpPr>
        <p:grpSpPr>
          <a:xfrm>
            <a:off x="4338903" y="468626"/>
            <a:ext cx="3514193" cy="791052"/>
            <a:chOff x="824071" y="1564267"/>
            <a:chExt cx="3514193" cy="791052"/>
          </a:xfrm>
        </p:grpSpPr>
        <p:sp>
          <p:nvSpPr>
            <p:cNvPr id="5" name="矩形: 圆角 16"/>
            <p:cNvSpPr/>
            <p:nvPr/>
          </p:nvSpPr>
          <p:spPr>
            <a:xfrm>
              <a:off x="824071" y="1740416"/>
              <a:ext cx="351419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484976" cy="480131"/>
            </a:xfrm>
            <a:prstGeom prst="rect">
              <a:avLst/>
            </a:prstGeom>
          </p:spPr>
          <p:txBody>
            <a:bodyPr wrap="none">
              <a:spAutoFit/>
            </a:bodyPr>
            <a:lstStyle/>
            <a:p>
              <a:pPr>
                <a:lnSpc>
                  <a:spcPct val="90000"/>
                </a:lnSpc>
              </a:pPr>
              <a:r>
                <a:rPr lang="en-US" altLang="zh-CN" sz="2800" noProof="1">
                  <a:solidFill>
                    <a:schemeClr val="bg1"/>
                  </a:solidFill>
                  <a:latin typeface="+mj-ea"/>
                </a:rPr>
                <a:t>4.2.5 </a:t>
              </a:r>
              <a:r>
                <a:rPr lang="zh-CN" altLang="en-US" sz="2800" noProof="1">
                  <a:solidFill>
                    <a:schemeClr val="bg1"/>
                  </a:solidFill>
                  <a:latin typeface="+mj-ea"/>
                </a:rPr>
                <a:t>网络窃听</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4028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4400" noProof="1">
                <a:solidFill>
                  <a:schemeClr val="accent1"/>
                </a:solidFill>
                <a:effectLst>
                  <a:outerShdw blurRad="38100" dist="38100" dir="2700000">
                    <a:srgbClr val="000000"/>
                  </a:outerShdw>
                </a:effectLst>
              </a:rPr>
              <a:t>什么是</a:t>
            </a:r>
            <a:r>
              <a:rPr lang="en-US" altLang="zh-CN" sz="4400" noProof="1">
                <a:solidFill>
                  <a:schemeClr val="accent1"/>
                </a:solidFill>
                <a:effectLst>
                  <a:outerShdw blurRad="38100" dist="38100" dir="2700000">
                    <a:srgbClr val="000000"/>
                  </a:outerShdw>
                </a:effectLst>
              </a:rPr>
              <a:t>ioctl</a:t>
            </a:r>
            <a:endParaRPr lang="zh-CN" altLang="en-US" sz="4400" noProof="1">
              <a:solidFill>
                <a:schemeClr val="accent1"/>
              </a:solidFill>
              <a:effectLst>
                <a:outerShdw blurRad="38100" dist="38100" dir="2700000">
                  <a:srgbClr val="000000"/>
                </a:outerShdw>
              </a:effectLst>
            </a:endParaRPr>
          </a:p>
        </p:txBody>
      </p:sp>
      <p:sp>
        <p:nvSpPr>
          <p:cNvPr id="53250" name="文本占位符 140290"/>
          <p:cNvSpPr>
            <a:spLocks noGrp="1"/>
          </p:cNvSpPr>
          <p:nvPr>
            <p:ph idx="1"/>
          </p:nvPr>
        </p:nvSpPr>
        <p:spPr>
          <a:xfrm>
            <a:off x="1068779" y="1981200"/>
            <a:ext cx="10058400" cy="4400550"/>
          </a:xfrm>
        </p:spPr>
        <p:txBody>
          <a:bodyPr vert="horz" wrap="square" lIns="91440" tIns="45720" rIns="91440" bIns="45720" anchor="t"/>
          <a:lstStyle/>
          <a:p>
            <a:pPr eaLnBrk="1" hangingPunct="1">
              <a:lnSpc>
                <a:spcPct val="90000"/>
              </a:lnSpc>
              <a:buNone/>
            </a:pPr>
            <a:r>
              <a:rPr lang="zh-CN" altLang="en-US" sz="2400" dirty="0"/>
              <a:t>        </a:t>
            </a:r>
            <a:r>
              <a:rPr lang="en-US" altLang="zh-CN" sz="2400" dirty="0" err="1"/>
              <a:t>ioctl</a:t>
            </a:r>
            <a:r>
              <a:rPr lang="zh-CN" altLang="en-US" sz="2400" dirty="0"/>
              <a:t>是设备驱动程序中对设备的</a:t>
            </a:r>
            <a:r>
              <a:rPr lang="en-US" altLang="zh-CN" sz="2400" dirty="0"/>
              <a:t>I/O</a:t>
            </a:r>
            <a:r>
              <a:rPr lang="zh-CN" altLang="en-US" sz="2400" dirty="0"/>
              <a:t>通道进行管理的函数。所谓对</a:t>
            </a:r>
            <a:r>
              <a:rPr lang="en-US" altLang="zh-CN" sz="2400" dirty="0"/>
              <a:t>I/O</a:t>
            </a:r>
            <a:r>
              <a:rPr lang="zh-CN" altLang="en-US" sz="2400" dirty="0"/>
              <a:t>通道进行管理，就是对设备的一些特性进行控制，例如串口的传输波特率、马达的转速等等。它的调用如下： </a:t>
            </a:r>
          </a:p>
          <a:p>
            <a:pPr eaLnBrk="1" hangingPunct="1">
              <a:lnSpc>
                <a:spcPct val="90000"/>
              </a:lnSpc>
              <a:buNone/>
            </a:pPr>
            <a:r>
              <a:rPr lang="zh-CN" altLang="en-US" sz="2400" dirty="0"/>
              <a:t>                  </a:t>
            </a:r>
            <a:r>
              <a:rPr lang="en-US" altLang="zh-CN" sz="2400" dirty="0"/>
              <a:t>int ioctl(int fd, ind cmd, …)</a:t>
            </a:r>
            <a:r>
              <a:rPr lang="zh-CN" altLang="en-US" sz="2400" dirty="0"/>
              <a:t>； </a:t>
            </a:r>
          </a:p>
          <a:p>
            <a:pPr eaLnBrk="1" hangingPunct="1">
              <a:lnSpc>
                <a:spcPct val="90000"/>
              </a:lnSpc>
              <a:buNone/>
            </a:pPr>
            <a:r>
              <a:rPr lang="zh-CN" altLang="en-US" sz="2400" dirty="0"/>
              <a:t>        其中</a:t>
            </a:r>
            <a:r>
              <a:rPr lang="en-US" altLang="zh-CN" sz="2400" dirty="0"/>
              <a:t>fd</a:t>
            </a:r>
            <a:r>
              <a:rPr lang="zh-CN" altLang="en-US" sz="2400" dirty="0"/>
              <a:t>就是用户程序打开设备时使用</a:t>
            </a:r>
            <a:r>
              <a:rPr lang="en-US" altLang="zh-CN" sz="2400" dirty="0"/>
              <a:t>open</a:t>
            </a:r>
            <a:r>
              <a:rPr lang="zh-CN" altLang="en-US" sz="2400" dirty="0"/>
              <a:t>函数返回的文件标示符，</a:t>
            </a:r>
            <a:r>
              <a:rPr lang="en-US" altLang="zh-CN" sz="2400" dirty="0"/>
              <a:t>cmd</a:t>
            </a:r>
            <a:r>
              <a:rPr lang="zh-CN" altLang="en-US" sz="2400" dirty="0"/>
              <a:t>就是用户程序对设备的控制命令，至于后面的省略号，那是一些补充参数，一般最多一个，有或没有是和</a:t>
            </a:r>
            <a:r>
              <a:rPr lang="en-US" altLang="zh-CN" sz="2400" dirty="0"/>
              <a:t>cmd</a:t>
            </a:r>
            <a:r>
              <a:rPr lang="zh-CN" altLang="en-US" sz="2400" dirty="0"/>
              <a:t>的意义相关的。 </a:t>
            </a:r>
          </a:p>
          <a:p>
            <a:pPr eaLnBrk="1" hangingPunct="1">
              <a:lnSpc>
                <a:spcPct val="90000"/>
              </a:lnSpc>
              <a:buNone/>
            </a:pPr>
            <a:r>
              <a:rPr lang="zh-CN" altLang="en-US" sz="2400" dirty="0"/>
              <a:t>        </a:t>
            </a:r>
            <a:r>
              <a:rPr lang="en-US" altLang="zh-CN" sz="2400" dirty="0" err="1"/>
              <a:t>ioctl</a:t>
            </a:r>
            <a:r>
              <a:rPr lang="zh-CN" altLang="en-US" sz="2400" dirty="0"/>
              <a:t>函数是文件结构中的一个属性分量，就是说如果你的驱动程序提供了对</a:t>
            </a:r>
            <a:r>
              <a:rPr lang="en-US" altLang="zh-CN" sz="2400" dirty="0"/>
              <a:t>ioctl</a:t>
            </a:r>
            <a:r>
              <a:rPr lang="zh-CN" altLang="en-US" sz="2400" dirty="0"/>
              <a:t>的支持，用户就可以在用户程序中使用</a:t>
            </a:r>
            <a:r>
              <a:rPr lang="en-US" altLang="zh-CN" sz="2400" dirty="0"/>
              <a:t>ioctl</a:t>
            </a:r>
            <a:r>
              <a:rPr lang="zh-CN" altLang="en-US" sz="2400" dirty="0"/>
              <a:t>函数控制设备的</a:t>
            </a:r>
            <a:r>
              <a:rPr lang="en-US" altLang="zh-CN" sz="2400" dirty="0"/>
              <a:t>I/O</a:t>
            </a:r>
            <a:r>
              <a:rPr lang="zh-CN" altLang="en-US" sz="2400" dirty="0"/>
              <a:t>通道。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6656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4400" b="1" noProof="1">
                <a:solidFill>
                  <a:schemeClr val="tx2"/>
                </a:solidFill>
                <a:effectLst>
                  <a:outerShdw blurRad="38100" dist="38100" dir="2700000">
                    <a:srgbClr val="000000"/>
                  </a:outerShdw>
                </a:effectLst>
                <a:ea typeface="黑体" panose="02010609060101010101" pitchFamily="49" charset="-122"/>
              </a:rPr>
              <a:t>基于</a:t>
            </a:r>
            <a:r>
              <a:rPr lang="en-US" altLang="zh-CN" sz="4400" b="1" noProof="1">
                <a:solidFill>
                  <a:schemeClr val="tx2"/>
                </a:solidFill>
                <a:effectLst>
                  <a:outerShdw blurRad="38100" dist="38100" dir="2700000">
                    <a:srgbClr val="000000"/>
                  </a:outerShdw>
                </a:effectLst>
                <a:ea typeface="黑体" panose="02010609060101010101" pitchFamily="49" charset="-122"/>
              </a:rPr>
              <a:t>ioctl</a:t>
            </a:r>
            <a:r>
              <a:rPr lang="zh-CN" altLang="en-US" sz="4400" b="1" noProof="1">
                <a:solidFill>
                  <a:schemeClr val="tx2"/>
                </a:solidFill>
                <a:effectLst>
                  <a:outerShdw blurRad="38100" dist="38100" dir="2700000">
                    <a:srgbClr val="000000"/>
                  </a:outerShdw>
                </a:effectLst>
                <a:ea typeface="黑体" panose="02010609060101010101" pitchFamily="49" charset="-122"/>
              </a:rPr>
              <a:t>控制实现的网络窃听</a:t>
            </a:r>
            <a:endParaRPr lang="zh-CN" altLang="en-US" sz="4600" b="1" noProof="1">
              <a:solidFill>
                <a:schemeClr val="tx2"/>
              </a:solidFill>
              <a:effectLst>
                <a:outerShdw blurRad="38100" dist="38100" dir="2700000">
                  <a:srgbClr val="000000"/>
                </a:outerShdw>
              </a:effectLst>
              <a:ea typeface="黑体" panose="02010609060101010101" pitchFamily="49" charset="-122"/>
            </a:endParaRPr>
          </a:p>
        </p:txBody>
      </p:sp>
      <p:sp>
        <p:nvSpPr>
          <p:cNvPr id="54274" name="文本占位符 66562"/>
          <p:cNvSpPr>
            <a:spLocks noGrp="1"/>
          </p:cNvSpPr>
          <p:nvPr>
            <p:ph idx="1"/>
          </p:nvPr>
        </p:nvSpPr>
        <p:spPr>
          <a:xfrm>
            <a:off x="2553194" y="2052450"/>
            <a:ext cx="7350827" cy="4114800"/>
          </a:xfrm>
        </p:spPr>
        <p:txBody>
          <a:bodyPr vert="horz" wrap="square" lIns="91440" tIns="45720" rIns="91440" bIns="45720" anchor="t"/>
          <a:lstStyle/>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1</a:t>
            </a:r>
            <a:r>
              <a:rPr lang="zh-CN" altLang="en-US" b="1" dirty="0">
                <a:ea typeface="黑体" panose="02010609060101010101" pitchFamily="49" charset="-122"/>
              </a:rPr>
              <a:t>）打开</a:t>
            </a:r>
            <a:r>
              <a:rPr lang="en-US" altLang="zh-CN" b="1" dirty="0">
                <a:ea typeface="黑体" panose="02010609060101010101" pitchFamily="49" charset="-122"/>
              </a:rPr>
              <a:t>eth0</a:t>
            </a:r>
            <a:r>
              <a:rPr lang="zh-CN" altLang="en-US" b="1" dirty="0">
                <a:ea typeface="黑体" panose="02010609060101010101" pitchFamily="49" charset="-122"/>
              </a:rPr>
              <a:t>以太网接口；</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2</a:t>
            </a:r>
            <a:r>
              <a:rPr lang="zh-CN" altLang="en-US" b="1" dirty="0">
                <a:ea typeface="黑体" panose="02010609060101010101" pitchFamily="49" charset="-122"/>
              </a:rPr>
              <a:t>）将该网络接口置为</a:t>
            </a:r>
            <a:r>
              <a:rPr lang="zh-CN" altLang="en-US" b="1" dirty="0">
                <a:solidFill>
                  <a:schemeClr val="folHlink"/>
                </a:solidFill>
                <a:ea typeface="黑体" panose="02010609060101010101" pitchFamily="49" charset="-122"/>
              </a:rPr>
              <a:t>混杂模式</a:t>
            </a:r>
            <a:r>
              <a:rPr lang="zh-CN" altLang="en-US" b="1" dirty="0">
                <a:ea typeface="黑体" panose="02010609060101010101" pitchFamily="49" charset="-122"/>
              </a:rPr>
              <a:t>；</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3</a:t>
            </a:r>
            <a:r>
              <a:rPr lang="zh-CN" altLang="en-US" b="1" dirty="0">
                <a:ea typeface="黑体" panose="02010609060101010101" pitchFamily="49" charset="-122"/>
              </a:rPr>
              <a:t>）截获以太网数据包；</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4</a:t>
            </a:r>
            <a:r>
              <a:rPr lang="zh-CN" altLang="en-US" b="1" dirty="0">
                <a:ea typeface="黑体" panose="02010609060101010101" pitchFamily="49" charset="-122"/>
              </a:rPr>
              <a:t>）分析</a:t>
            </a:r>
            <a:r>
              <a:rPr lang="en-US" altLang="zh-CN" b="1" dirty="0">
                <a:ea typeface="黑体" panose="02010609060101010101" pitchFamily="49" charset="-122"/>
              </a:rPr>
              <a:t>IP</a:t>
            </a:r>
            <a:r>
              <a:rPr lang="zh-CN" altLang="en-US" b="1" dirty="0">
                <a:ea typeface="黑体" panose="02010609060101010101" pitchFamily="49" charset="-122"/>
              </a:rPr>
              <a:t>、</a:t>
            </a:r>
            <a:r>
              <a:rPr lang="en-US" altLang="zh-CN" b="1" dirty="0">
                <a:ea typeface="黑体" panose="02010609060101010101" pitchFamily="49" charset="-122"/>
              </a:rPr>
              <a:t>TCP</a:t>
            </a:r>
            <a:r>
              <a:rPr lang="zh-CN" altLang="en-US" b="1" dirty="0">
                <a:ea typeface="黑体" panose="02010609060101010101" pitchFamily="49" charset="-122"/>
              </a:rPr>
              <a:t>数据包；</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5</a:t>
            </a:r>
            <a:r>
              <a:rPr lang="zh-CN" altLang="en-US" b="1" dirty="0">
                <a:ea typeface="黑体" panose="02010609060101010101" pitchFamily="49" charset="-122"/>
              </a:rPr>
              <a:t>）分析口令。</a:t>
            </a:r>
            <a:endParaRPr lang="zh-CN" altLang="en-US" sz="3600" b="1" dirty="0">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67585"/>
          <p:cNvSpPr>
            <a:spLocks noGrp="1"/>
          </p:cNvSpPr>
          <p:nvPr>
            <p:ph type="title"/>
          </p:nvPr>
        </p:nvSpPr>
        <p:spPr>
          <a:xfrm>
            <a:off x="2209800" y="549275"/>
            <a:ext cx="7772400" cy="1143000"/>
          </a:xfrm>
        </p:spPr>
        <p:txBody>
          <a:bodyPr vert="horz" wrap="square" lIns="92075" tIns="46038" rIns="92075" bIns="46038" numCol="1" anchor="ctr" anchorCtr="0" compatLnSpc="1"/>
          <a:lstStyle/>
          <a:p>
            <a:pPr algn="ctr" fontAlgn="base">
              <a:lnSpc>
                <a:spcPct val="100000"/>
              </a:lnSpc>
              <a:spcAft>
                <a:spcPct val="0"/>
              </a:spcAft>
              <a:defRPr/>
            </a:pPr>
            <a:r>
              <a:rPr lang="zh-CN" altLang="en-US" sz="4400" b="1" dirty="0">
                <a:solidFill>
                  <a:schemeClr val="tx2"/>
                </a:solidFill>
                <a:effectLst>
                  <a:outerShdw blurRad="38100" dist="38100" dir="2700000" algn="tl">
                    <a:srgbClr val="000000"/>
                  </a:outerShdw>
                </a:effectLst>
                <a:ea typeface="黑体" panose="02010609060101010101" pitchFamily="49" charset="-122"/>
              </a:rPr>
              <a:t>基于</a:t>
            </a:r>
            <a:r>
              <a:rPr lang="en-US" altLang="zh-CN" sz="4400" b="1" dirty="0" err="1">
                <a:solidFill>
                  <a:schemeClr val="tx2"/>
                </a:solidFill>
                <a:effectLst>
                  <a:outerShdw blurRad="38100" dist="38100" dir="2700000" algn="tl">
                    <a:srgbClr val="000000"/>
                  </a:outerShdw>
                </a:effectLst>
                <a:ea typeface="黑体" panose="02010609060101010101" pitchFamily="49" charset="-122"/>
              </a:rPr>
              <a:t>LibPCap</a:t>
            </a:r>
            <a:r>
              <a:rPr lang="zh-CN" altLang="en-US" sz="4400" b="1" dirty="0">
                <a:solidFill>
                  <a:schemeClr val="tx2"/>
                </a:solidFill>
                <a:effectLst>
                  <a:outerShdw blurRad="38100" dist="38100" dir="2700000" algn="tl">
                    <a:srgbClr val="000000"/>
                  </a:outerShdw>
                </a:effectLst>
                <a:ea typeface="黑体" panose="02010609060101010101" pitchFamily="49" charset="-122"/>
              </a:rPr>
              <a:t>库</a:t>
            </a:r>
            <a:br>
              <a:rPr lang="en-US" altLang="zh-CN" sz="4400" b="1" dirty="0">
                <a:solidFill>
                  <a:schemeClr val="tx2"/>
                </a:solidFill>
                <a:effectLst>
                  <a:outerShdw blurRad="38100" dist="38100" dir="2700000" algn="tl">
                    <a:srgbClr val="000000"/>
                  </a:outerShdw>
                </a:effectLst>
                <a:ea typeface="黑体" panose="02010609060101010101" pitchFamily="49" charset="-122"/>
              </a:rPr>
            </a:br>
            <a:r>
              <a:rPr lang="zh-CN" altLang="en-US" sz="4400" b="1" dirty="0">
                <a:solidFill>
                  <a:schemeClr val="tx2"/>
                </a:solidFill>
                <a:effectLst>
                  <a:outerShdw blurRad="38100" dist="38100" dir="2700000" algn="tl">
                    <a:srgbClr val="000000"/>
                  </a:outerShdw>
                </a:effectLst>
                <a:ea typeface="黑体" panose="02010609060101010101" pitchFamily="49" charset="-122"/>
              </a:rPr>
              <a:t>实现的与平台无关的网络窃听</a:t>
            </a:r>
          </a:p>
        </p:txBody>
      </p:sp>
      <p:sp>
        <p:nvSpPr>
          <p:cNvPr id="55298" name="文本占位符 67586"/>
          <p:cNvSpPr>
            <a:spLocks noGrp="1"/>
          </p:cNvSpPr>
          <p:nvPr>
            <p:ph idx="1"/>
          </p:nvPr>
        </p:nvSpPr>
        <p:spPr>
          <a:xfrm>
            <a:off x="1175657" y="1992125"/>
            <a:ext cx="9951522" cy="4114800"/>
          </a:xfrm>
        </p:spPr>
        <p:txBody>
          <a:bodyPr vert="horz" wrap="square" lIns="91440" tIns="45720" rIns="91440" bIns="45720" anchor="t"/>
          <a:lstStyle/>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1</a:t>
            </a:r>
            <a:r>
              <a:rPr lang="zh-CN" altLang="en-US" b="1" dirty="0">
                <a:ea typeface="黑体" panose="02010609060101010101" pitchFamily="49" charset="-122"/>
              </a:rPr>
              <a:t>）调用</a:t>
            </a:r>
            <a:r>
              <a:rPr lang="en-US" altLang="zh-CN" b="1" dirty="0">
                <a:ea typeface="黑体" panose="02010609060101010101" pitchFamily="49" charset="-122"/>
              </a:rPr>
              <a:t>pcap_lookupdev</a:t>
            </a:r>
            <a:r>
              <a:rPr lang="zh-CN" altLang="en-US" b="1" dirty="0">
                <a:ea typeface="黑体" panose="02010609060101010101" pitchFamily="49" charset="-122"/>
              </a:rPr>
              <a:t>获得网络设备指针；</a:t>
            </a:r>
          </a:p>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2</a:t>
            </a:r>
            <a:r>
              <a:rPr lang="zh-CN" altLang="en-US" b="1" dirty="0">
                <a:ea typeface="黑体" panose="02010609060101010101" pitchFamily="49" charset="-122"/>
              </a:rPr>
              <a:t>）调用</a:t>
            </a:r>
            <a:r>
              <a:rPr lang="en-US" altLang="zh-CN" b="1" dirty="0">
                <a:ea typeface="黑体" panose="02010609060101010101" pitchFamily="49" charset="-122"/>
              </a:rPr>
              <a:t>pcap_lookupnet</a:t>
            </a:r>
            <a:r>
              <a:rPr lang="zh-CN" altLang="en-US" b="1" dirty="0">
                <a:ea typeface="黑体" panose="02010609060101010101" pitchFamily="49" charset="-122"/>
              </a:rPr>
              <a:t>获得指定网络设备的网络号和掩码；</a:t>
            </a:r>
          </a:p>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3</a:t>
            </a:r>
            <a:r>
              <a:rPr lang="zh-CN" altLang="en-US" b="1" dirty="0">
                <a:ea typeface="黑体" panose="02010609060101010101" pitchFamily="49" charset="-122"/>
              </a:rPr>
              <a:t>）调用</a:t>
            </a:r>
            <a:r>
              <a:rPr lang="en-US" altLang="zh-CN" b="1" dirty="0">
                <a:ea typeface="黑体" panose="02010609060101010101" pitchFamily="49" charset="-122"/>
              </a:rPr>
              <a:t>pcap_open_live</a:t>
            </a:r>
            <a:r>
              <a:rPr lang="zh-CN" altLang="en-US" b="1" dirty="0">
                <a:ea typeface="黑体" panose="02010609060101010101" pitchFamily="49" charset="-122"/>
              </a:rPr>
              <a:t>获得用于捕获网络数据包的数据包捕获描述字；</a:t>
            </a:r>
          </a:p>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4</a:t>
            </a:r>
            <a:r>
              <a:rPr lang="zh-CN" altLang="en-US" b="1" dirty="0">
                <a:ea typeface="黑体" panose="02010609060101010101" pitchFamily="49" charset="-122"/>
              </a:rPr>
              <a:t>）调用</a:t>
            </a:r>
            <a:r>
              <a:rPr lang="en-US" altLang="zh-CN" b="1" dirty="0">
                <a:ea typeface="黑体" panose="02010609060101010101" pitchFamily="49" charset="-122"/>
              </a:rPr>
              <a:t>pcap_setfilter</a:t>
            </a:r>
            <a:r>
              <a:rPr lang="zh-CN" altLang="en-US" b="1" dirty="0">
                <a:ea typeface="黑体" panose="02010609060101010101" pitchFamily="49" charset="-122"/>
              </a:rPr>
              <a:t>指定一个过滤程序；</a:t>
            </a:r>
          </a:p>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5</a:t>
            </a:r>
            <a:r>
              <a:rPr lang="zh-CN" altLang="en-US" b="1" dirty="0">
                <a:ea typeface="黑体" panose="02010609060101010101" pitchFamily="49" charset="-122"/>
              </a:rPr>
              <a:t>）进入主循环，调用</a:t>
            </a:r>
            <a:r>
              <a:rPr lang="en-US" altLang="zh-CN" b="1" dirty="0">
                <a:ea typeface="黑体" panose="02010609060101010101" pitchFamily="49" charset="-122"/>
              </a:rPr>
              <a:t>pcap_loop( descry, atoi(agrv[1]), my_callback, agrs)</a:t>
            </a:r>
            <a:r>
              <a:rPr lang="zh-CN" altLang="en-US" b="1" dirty="0">
                <a:ea typeface="黑体" panose="02010609060101010101" pitchFamily="49" charset="-122"/>
              </a:rPr>
              <a:t>开始抓包，并由回调函数</a:t>
            </a:r>
            <a:r>
              <a:rPr lang="en-US" altLang="zh-CN" b="1" dirty="0">
                <a:ea typeface="黑体" panose="02010609060101010101" pitchFamily="49" charset="-122"/>
              </a:rPr>
              <a:t>my_callback</a:t>
            </a:r>
            <a:r>
              <a:rPr lang="zh-CN" altLang="en-US" b="1" dirty="0">
                <a:ea typeface="黑体" panose="02010609060101010101" pitchFamily="49" charset="-122"/>
              </a:rPr>
              <a:t>处理截获到的数据；</a:t>
            </a:r>
          </a:p>
          <a:p>
            <a:pPr eaLnBrk="1" hangingPunct="1">
              <a:lnSpc>
                <a:spcPct val="90000"/>
              </a:lnSpc>
              <a:buNone/>
            </a:pPr>
            <a:r>
              <a:rPr lang="zh-CN" altLang="en-US" b="1" dirty="0">
                <a:ea typeface="黑体" panose="02010609060101010101" pitchFamily="49" charset="-122"/>
              </a:rPr>
              <a:t>（</a:t>
            </a:r>
            <a:r>
              <a:rPr lang="en-US" altLang="zh-CN" b="1" dirty="0">
                <a:ea typeface="黑体" panose="02010609060101010101" pitchFamily="49" charset="-122"/>
              </a:rPr>
              <a:t>6</a:t>
            </a:r>
            <a:r>
              <a:rPr lang="zh-CN" altLang="en-US" b="1" dirty="0">
                <a:ea typeface="黑体" panose="02010609060101010101" pitchFamily="49" charset="-122"/>
              </a:rPr>
              <a:t>）调用</a:t>
            </a:r>
            <a:r>
              <a:rPr lang="en-US" altLang="zh-CN" b="1" dirty="0">
                <a:ea typeface="黑体" panose="02010609060101010101" pitchFamily="49" charset="-122"/>
              </a:rPr>
              <a:t>pcap_close</a:t>
            </a:r>
            <a:r>
              <a:rPr lang="zh-CN" altLang="en-US" b="1" dirty="0">
                <a:ea typeface="黑体" panose="02010609060101010101" pitchFamily="49" charset="-122"/>
              </a:rPr>
              <a:t>关闭网络设备。</a:t>
            </a:r>
            <a:r>
              <a:rPr lang="zh-CN" altLang="en-US" dirty="0">
                <a:ea typeface="黑体" panose="02010609060101010101" pitchFamily="49" charset="-122"/>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6860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防止网络窃听</a:t>
            </a:r>
          </a:p>
        </p:txBody>
      </p:sp>
      <p:sp>
        <p:nvSpPr>
          <p:cNvPr id="56322" name="文本占位符 68610"/>
          <p:cNvSpPr>
            <a:spLocks noGrp="1"/>
          </p:cNvSpPr>
          <p:nvPr>
            <p:ph idx="1"/>
          </p:nvPr>
        </p:nvSpPr>
        <p:spPr>
          <a:xfrm>
            <a:off x="2493819" y="1945574"/>
            <a:ext cx="8320644" cy="4114800"/>
          </a:xfrm>
        </p:spPr>
        <p:txBody>
          <a:bodyPr vert="horz" wrap="square" lIns="91440" tIns="45720" rIns="91440" bIns="45720" anchor="t"/>
          <a:lstStyle/>
          <a:p>
            <a:pPr algn="just" eaLnBrk="1" hangingPunct="1"/>
            <a:r>
              <a:rPr lang="zh-CN" altLang="en-US" sz="3600" b="1" dirty="0">
                <a:ea typeface="黑体" panose="02010609060101010101" pitchFamily="49" charset="-122"/>
              </a:rPr>
              <a:t>检测嗅探器 </a:t>
            </a:r>
          </a:p>
          <a:p>
            <a:pPr algn="just" eaLnBrk="1" hangingPunct="1"/>
            <a:r>
              <a:rPr lang="zh-CN" altLang="en-US" sz="3600" b="1" dirty="0">
                <a:ea typeface="黑体" panose="02010609060101010101" pitchFamily="49" charset="-122"/>
              </a:rPr>
              <a:t>隐藏数据 </a:t>
            </a:r>
          </a:p>
          <a:p>
            <a:pPr algn="just" eaLnBrk="1" hangingPunct="1"/>
            <a:r>
              <a:rPr lang="zh-CN" altLang="en-US" sz="3600" b="1" dirty="0">
                <a:ea typeface="黑体" panose="02010609060101010101" pitchFamily="49" charset="-122"/>
              </a:rPr>
              <a:t>会话加密 </a:t>
            </a:r>
            <a:r>
              <a:rPr lang="en-US" altLang="zh-CN" sz="3600" b="1" dirty="0">
                <a:ea typeface="黑体" panose="02010609060101010101" pitchFamily="49" charset="-122"/>
              </a:rPr>
              <a:t>(</a:t>
            </a:r>
            <a:r>
              <a:rPr lang="en-US" altLang="zh-CN" sz="3600" b="1" dirty="0">
                <a:solidFill>
                  <a:schemeClr val="accent1"/>
                </a:solidFill>
                <a:ea typeface="黑体" panose="02010609060101010101" pitchFamily="49" charset="-122"/>
              </a:rPr>
              <a:t>SSH</a:t>
            </a:r>
            <a:r>
              <a:rPr lang="en-US" altLang="zh-CN" sz="3600" b="1" dirty="0">
                <a:ea typeface="黑体" panose="02010609060101010101" pitchFamily="49" charset="-122"/>
              </a:rPr>
              <a:t>)</a:t>
            </a:r>
          </a:p>
          <a:p>
            <a:pPr algn="just" eaLnBrk="1" hangingPunct="1"/>
            <a:r>
              <a:rPr lang="zh-CN" altLang="en-US" sz="3600" b="1" dirty="0">
                <a:ea typeface="黑体" panose="02010609060101010101" pitchFamily="49" charset="-122"/>
              </a:rPr>
              <a:t>使用安全的拓扑结构 </a:t>
            </a:r>
          </a:p>
          <a:p>
            <a:pPr algn="just" eaLnBrk="1" hangingPunct="1"/>
            <a:r>
              <a:rPr lang="zh-CN" altLang="en-US" sz="3600" b="1" dirty="0">
                <a:ea typeface="黑体" panose="02010609060101010101" pitchFamily="49" charset="-122"/>
              </a:rPr>
              <a:t>使用静态的</a:t>
            </a:r>
            <a:r>
              <a:rPr lang="en-US" altLang="zh-CN" sz="3600" b="1" dirty="0">
                <a:ea typeface="黑体" panose="02010609060101010101" pitchFamily="49" charset="-122"/>
              </a:rPr>
              <a:t>ARP</a:t>
            </a:r>
            <a:r>
              <a:rPr lang="zh-CN" altLang="en-US" sz="3600" b="1" dirty="0">
                <a:ea typeface="黑体" panose="02010609060101010101" pitchFamily="49" charset="-122"/>
              </a:rPr>
              <a:t>或者</a:t>
            </a:r>
            <a:r>
              <a:rPr lang="en-US" altLang="zh-CN" sz="3600" b="1" dirty="0">
                <a:ea typeface="黑体" panose="02010609060101010101" pitchFamily="49" charset="-122"/>
              </a:rPr>
              <a:t>IP/MAC</a:t>
            </a:r>
            <a:r>
              <a:rPr lang="zh-CN" altLang="en-US" sz="3600" b="1" dirty="0">
                <a:ea typeface="黑体" panose="02010609060101010101" pitchFamily="49" charset="-122"/>
              </a:rPr>
              <a:t>映射表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4131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4400" noProof="1">
                <a:solidFill>
                  <a:schemeClr val="accent1"/>
                </a:solidFill>
                <a:effectLst>
                  <a:outerShdw blurRad="38100" dist="38100" dir="2700000">
                    <a:srgbClr val="000000"/>
                  </a:outerShdw>
                </a:effectLst>
              </a:rPr>
              <a:t>什么是</a:t>
            </a:r>
            <a:r>
              <a:rPr lang="en-US" altLang="zh-CN" sz="4400" noProof="1">
                <a:solidFill>
                  <a:schemeClr val="accent1"/>
                </a:solidFill>
                <a:effectLst>
                  <a:outerShdw blurRad="38100" dist="38100" dir="2700000">
                    <a:srgbClr val="000000"/>
                  </a:outerShdw>
                </a:effectLst>
              </a:rPr>
              <a:t>SSH</a:t>
            </a:r>
            <a:endParaRPr lang="zh-CN" altLang="en-US" sz="4400" noProof="1">
              <a:solidFill>
                <a:schemeClr val="accent1"/>
              </a:solidFill>
              <a:effectLst>
                <a:outerShdw blurRad="38100" dist="38100" dir="2700000">
                  <a:srgbClr val="000000"/>
                </a:outerShdw>
              </a:effectLst>
            </a:endParaRPr>
          </a:p>
        </p:txBody>
      </p:sp>
      <p:sp>
        <p:nvSpPr>
          <p:cNvPr id="57346" name="文本占位符 141314"/>
          <p:cNvSpPr>
            <a:spLocks noGrp="1"/>
          </p:cNvSpPr>
          <p:nvPr>
            <p:ph idx="1"/>
          </p:nvPr>
        </p:nvSpPr>
        <p:spPr>
          <a:xfrm>
            <a:off x="1128156" y="1981200"/>
            <a:ext cx="9927771" cy="4114800"/>
          </a:xfrm>
        </p:spPr>
        <p:txBody>
          <a:bodyPr vert="horz" wrap="square" lIns="91440" tIns="45720" rIns="91440" bIns="45720" anchor="t"/>
          <a:lstStyle/>
          <a:p>
            <a:pPr eaLnBrk="1" hangingPunct="1">
              <a:lnSpc>
                <a:spcPct val="90000"/>
              </a:lnSpc>
              <a:buNone/>
            </a:pPr>
            <a:r>
              <a:rPr lang="en-US" altLang="zh-CN" dirty="0"/>
              <a:t>        SSH</a:t>
            </a:r>
            <a:r>
              <a:rPr lang="zh-CN" altLang="en-US" dirty="0"/>
              <a:t>的英文全称是</a:t>
            </a:r>
            <a:r>
              <a:rPr lang="en-US" altLang="zh-CN" dirty="0"/>
              <a:t>Secure SHell</a:t>
            </a:r>
            <a:r>
              <a:rPr lang="zh-CN" altLang="en-US" dirty="0"/>
              <a:t>。通过使用</a:t>
            </a:r>
            <a:r>
              <a:rPr lang="en-US" altLang="zh-CN" dirty="0"/>
              <a:t>SSH</a:t>
            </a:r>
            <a:r>
              <a:rPr lang="zh-CN" altLang="en-US" dirty="0"/>
              <a:t>，你可以把所有传输的数据进行加密，这样</a:t>
            </a:r>
            <a:r>
              <a:rPr lang="en-US" altLang="zh-CN" dirty="0"/>
              <a:t>"</a:t>
            </a:r>
            <a:r>
              <a:rPr lang="zh-CN" altLang="en-US" dirty="0"/>
              <a:t>中间人</a:t>
            </a:r>
            <a:r>
              <a:rPr lang="en-US" altLang="zh-CN" dirty="0"/>
              <a:t>"</a:t>
            </a:r>
            <a:r>
              <a:rPr lang="zh-CN" altLang="en-US" dirty="0"/>
              <a:t>这种攻击方式就不可能实现了，而且也能够防止</a:t>
            </a:r>
            <a:r>
              <a:rPr lang="en-US" altLang="zh-CN" dirty="0"/>
              <a:t>DNS</a:t>
            </a:r>
            <a:r>
              <a:rPr lang="zh-CN" altLang="en-US" dirty="0"/>
              <a:t>和</a:t>
            </a:r>
            <a:r>
              <a:rPr lang="en-US" altLang="zh-CN" dirty="0"/>
              <a:t>IP</a:t>
            </a:r>
            <a:r>
              <a:rPr lang="zh-CN" altLang="en-US" dirty="0"/>
              <a:t>欺骗。还有一个额外的好处就是传输的数据是经过压缩的，所以可以加快传输的速度。</a:t>
            </a:r>
            <a:r>
              <a:rPr lang="en-US" altLang="zh-CN" dirty="0"/>
              <a:t>SSH</a:t>
            </a:r>
            <a:r>
              <a:rPr lang="zh-CN" altLang="en-US" dirty="0"/>
              <a:t>有很多功能，它既可以代替</a:t>
            </a:r>
            <a:r>
              <a:rPr lang="en-US" altLang="zh-CN" dirty="0"/>
              <a:t>telnet</a:t>
            </a:r>
            <a:r>
              <a:rPr lang="zh-CN" altLang="en-US" dirty="0"/>
              <a:t>，又可以为</a:t>
            </a:r>
            <a:r>
              <a:rPr lang="en-US" altLang="zh-CN" dirty="0"/>
              <a:t>ftp</a:t>
            </a:r>
            <a:r>
              <a:rPr lang="zh-CN" altLang="en-US" dirty="0"/>
              <a:t>、</a:t>
            </a:r>
            <a:r>
              <a:rPr lang="en-US" altLang="zh-CN" dirty="0"/>
              <a:t>pop</a:t>
            </a:r>
            <a:r>
              <a:rPr lang="zh-CN" altLang="en-US" dirty="0"/>
              <a:t>、甚至</a:t>
            </a:r>
            <a:r>
              <a:rPr lang="en-US" altLang="zh-CN" dirty="0"/>
              <a:t>ppp</a:t>
            </a:r>
            <a:r>
              <a:rPr lang="zh-CN" altLang="en-US" dirty="0"/>
              <a:t>提供一个安全的</a:t>
            </a:r>
            <a:r>
              <a:rPr lang="en-US" altLang="zh-CN" dirty="0"/>
              <a:t>"</a:t>
            </a:r>
            <a:r>
              <a:rPr lang="zh-CN" altLang="en-US" dirty="0"/>
              <a:t>通道</a:t>
            </a:r>
            <a:r>
              <a:rPr lang="en-US" altLang="zh-CN" dirty="0"/>
              <a:t>"</a:t>
            </a:r>
            <a:r>
              <a:rPr lang="zh-CN" altLang="en-US" dirty="0"/>
              <a:t>。</a:t>
            </a:r>
            <a:r>
              <a:rPr lang="en-US" altLang="zh-CN" dirty="0"/>
              <a:t>SSH</a:t>
            </a:r>
            <a:r>
              <a:rPr lang="zh-CN" altLang="en-US" dirty="0"/>
              <a:t>客户端与服务器端通讯时，用户名及口令均进行了加密，有效防止了对口令的窃听。</a:t>
            </a:r>
          </a:p>
          <a:p>
            <a:pPr eaLnBrk="1" hangingPunct="1">
              <a:lnSpc>
                <a:spcPct val="90000"/>
              </a:lnSpc>
            </a:pP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8" y="3308866"/>
            <a:ext cx="6880211"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noProof="1">
                <a:solidFill>
                  <a:srgbClr val="002060"/>
                </a:solidFill>
                <a:latin typeface="思源黑体 CN Heavy" panose="020B0A00000000000000" pitchFamily="34" charset="-122"/>
                <a:ea typeface="思源黑体 CN Heavy" panose="020B0A00000000000000" pitchFamily="34" charset="-122"/>
                <a:cs typeface="+mn-ea"/>
              </a:rPr>
              <a:t>4.3 </a:t>
            </a:r>
            <a:r>
              <a:rPr lang="zh-CN" altLang="en-US" sz="4000" noProof="1">
                <a:solidFill>
                  <a:srgbClr val="002060"/>
                </a:solidFill>
                <a:latin typeface="思源黑体 CN Heavy" panose="020B0A00000000000000" pitchFamily="34" charset="-122"/>
                <a:ea typeface="思源黑体 CN Heavy" panose="020B0A00000000000000" pitchFamily="34" charset="-122"/>
                <a:cs typeface="+mn-ea"/>
              </a:rPr>
              <a:t>漏洞的检测与安全扫描器</a:t>
            </a:r>
            <a:endPar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占位符 69634"/>
          <p:cNvSpPr>
            <a:spLocks noGrp="1"/>
          </p:cNvSpPr>
          <p:nvPr>
            <p:ph idx="1"/>
          </p:nvPr>
        </p:nvSpPr>
        <p:spPr>
          <a:xfrm>
            <a:off x="3716976" y="1981200"/>
            <a:ext cx="7560623" cy="4114800"/>
          </a:xfrm>
        </p:spPr>
        <p:txBody>
          <a:bodyPr vert="horz" wrap="square" lIns="91440" tIns="45720" rIns="91440" bIns="45720" anchor="t"/>
          <a:lstStyle/>
          <a:p>
            <a:pPr algn="just" eaLnBrk="1" hangingPunct="1"/>
            <a:r>
              <a:rPr lang="zh-CN" altLang="en-US" sz="3600" b="1" dirty="0">
                <a:ea typeface="黑体" panose="02010609060101010101" pitchFamily="49" charset="-122"/>
              </a:rPr>
              <a:t>漏洞检测原理 </a:t>
            </a:r>
          </a:p>
          <a:p>
            <a:pPr algn="just" eaLnBrk="1" hangingPunct="1"/>
            <a:r>
              <a:rPr lang="zh-CN" altLang="en-US" sz="3600" b="1" dirty="0">
                <a:ea typeface="黑体" panose="02010609060101010101" pitchFamily="49" charset="-122"/>
              </a:rPr>
              <a:t>基于主机的扫描器 </a:t>
            </a:r>
          </a:p>
          <a:p>
            <a:pPr algn="just" eaLnBrk="1" hangingPunct="1"/>
            <a:r>
              <a:rPr lang="zh-CN" altLang="en-US" sz="3600" b="1" dirty="0">
                <a:ea typeface="黑体" panose="02010609060101010101" pitchFamily="49" charset="-122"/>
              </a:rPr>
              <a:t>基于网络的扫描器 </a:t>
            </a:r>
          </a:p>
          <a:p>
            <a:pPr algn="just" eaLnBrk="1" hangingPunct="1"/>
            <a:r>
              <a:rPr lang="zh-CN" altLang="en-US" sz="3600" b="1" dirty="0">
                <a:ea typeface="黑体" panose="02010609060101010101" pitchFamily="49" charset="-122"/>
              </a:rPr>
              <a:t>扫描器工作原理与流程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占位符 70658"/>
          <p:cNvSpPr>
            <a:spLocks noGrp="1"/>
          </p:cNvSpPr>
          <p:nvPr>
            <p:ph idx="1"/>
          </p:nvPr>
        </p:nvSpPr>
        <p:spPr>
          <a:xfrm>
            <a:off x="1703389" y="1844675"/>
            <a:ext cx="8435975" cy="4495800"/>
          </a:xfrm>
        </p:spPr>
        <p:txBody>
          <a:bodyPr vert="horz" wrap="square" lIns="91440" tIns="45720" rIns="91440" bIns="45720" anchor="t"/>
          <a:lstStyle/>
          <a:p>
            <a:pPr algn="just" eaLnBrk="1" hangingPunct="1">
              <a:lnSpc>
                <a:spcPct val="90000"/>
              </a:lnSpc>
              <a:buNone/>
            </a:pPr>
            <a:r>
              <a:rPr lang="zh-CN" altLang="en-US" b="1" dirty="0">
                <a:ea typeface="黑体" panose="02010609060101010101" pitchFamily="49" charset="-122"/>
              </a:rPr>
              <a:t>        通常利用网络安全扫描技术对目标系统或网络进行网络漏洞信息探测。</a:t>
            </a:r>
          </a:p>
          <a:p>
            <a:pPr algn="just" eaLnBrk="1" hangingPunct="1">
              <a:lnSpc>
                <a:spcPct val="90000"/>
              </a:lnSpc>
              <a:buNone/>
            </a:pPr>
            <a:r>
              <a:rPr lang="zh-CN" altLang="en-US" b="1" dirty="0">
                <a:ea typeface="黑体" panose="02010609060101010101" pitchFamily="49" charset="-122"/>
              </a:rPr>
              <a:t>        实现网络安全扫描技术的软件和硬件的联合体就是网络安全扫描器。</a:t>
            </a:r>
          </a:p>
          <a:p>
            <a:pPr algn="just" eaLnBrk="1" hangingPunct="1">
              <a:lnSpc>
                <a:spcPct val="90000"/>
              </a:lnSpc>
              <a:buNone/>
            </a:pPr>
            <a:r>
              <a:rPr lang="zh-CN" altLang="en-US" b="1" dirty="0">
                <a:ea typeface="黑体" panose="02010609060101010101" pitchFamily="49" charset="-122"/>
              </a:rPr>
              <a:t>        扫描器既可以帮助系统管理员检测自己网络的安全漏洞，也可以被用于检测目标网络中存在的各种漏洞，是一把典型的双刃剑。</a:t>
            </a:r>
          </a:p>
        </p:txBody>
      </p:sp>
      <p:grpSp>
        <p:nvGrpSpPr>
          <p:cNvPr id="4" name="组合 3"/>
          <p:cNvGrpSpPr/>
          <p:nvPr/>
        </p:nvGrpSpPr>
        <p:grpSpPr>
          <a:xfrm>
            <a:off x="3766456" y="468626"/>
            <a:ext cx="4309839" cy="791052"/>
            <a:chOff x="824071" y="1564267"/>
            <a:chExt cx="4309839" cy="791052"/>
          </a:xfrm>
        </p:grpSpPr>
        <p:sp>
          <p:nvSpPr>
            <p:cNvPr id="5" name="矩形: 圆角 16"/>
            <p:cNvSpPr/>
            <p:nvPr/>
          </p:nvSpPr>
          <p:spPr>
            <a:xfrm>
              <a:off x="824071" y="1740416"/>
              <a:ext cx="4309839"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203121" cy="480131"/>
            </a:xfrm>
            <a:prstGeom prst="rect">
              <a:avLst/>
            </a:prstGeom>
          </p:spPr>
          <p:txBody>
            <a:bodyPr wrap="none">
              <a:spAutoFit/>
            </a:bodyPr>
            <a:lstStyle/>
            <a:p>
              <a:pPr>
                <a:lnSpc>
                  <a:spcPct val="90000"/>
                </a:lnSpc>
              </a:pPr>
              <a:r>
                <a:rPr lang="en-US" altLang="zh-CN" sz="2800" noProof="1">
                  <a:solidFill>
                    <a:schemeClr val="bg1"/>
                  </a:solidFill>
                  <a:latin typeface="+mj-ea"/>
                </a:rPr>
                <a:t>4.3.1 </a:t>
              </a:r>
              <a:r>
                <a:rPr lang="zh-CN" altLang="en-US" sz="2800" noProof="1">
                  <a:solidFill>
                    <a:schemeClr val="bg1"/>
                  </a:solidFill>
                  <a:latin typeface="+mj-ea"/>
                </a:rPr>
                <a:t>漏洞检测原理</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9" name="组合 148486"/>
          <p:cNvGrpSpPr/>
          <p:nvPr/>
        </p:nvGrpSpPr>
        <p:grpSpPr>
          <a:xfrm>
            <a:off x="2211389" y="333375"/>
            <a:ext cx="7629525" cy="6305550"/>
            <a:chOff x="113" y="164"/>
            <a:chExt cx="4806" cy="3972"/>
          </a:xfrm>
        </p:grpSpPr>
        <p:pic>
          <p:nvPicPr>
            <p:cNvPr id="60420" name="图片 148485"/>
            <p:cNvPicPr>
              <a:picLocks noChangeAspect="1"/>
            </p:cNvPicPr>
            <p:nvPr/>
          </p:nvPicPr>
          <p:blipFill>
            <a:blip r:embed="rId2"/>
            <a:stretch>
              <a:fillRect/>
            </a:stretch>
          </p:blipFill>
          <p:spPr>
            <a:xfrm>
              <a:off x="113" y="164"/>
              <a:ext cx="4806" cy="3972"/>
            </a:xfrm>
            <a:prstGeom prst="rect">
              <a:avLst/>
            </a:prstGeom>
            <a:noFill/>
            <a:ln w="9525">
              <a:noFill/>
            </a:ln>
          </p:spPr>
        </p:pic>
        <p:pic>
          <p:nvPicPr>
            <p:cNvPr id="60421" name="图片 148484"/>
            <p:cNvPicPr>
              <a:picLocks noChangeAspect="1"/>
            </p:cNvPicPr>
            <p:nvPr/>
          </p:nvPicPr>
          <p:blipFill>
            <a:blip r:embed="rId3"/>
            <a:srcRect t="13814" r="56616" b="82043"/>
            <a:stretch>
              <a:fillRect/>
            </a:stretch>
          </p:blipFill>
          <p:spPr>
            <a:xfrm>
              <a:off x="158" y="663"/>
              <a:ext cx="3446" cy="272"/>
            </a:xfrm>
            <a:prstGeom prst="rect">
              <a:avLst/>
            </a:prstGeom>
            <a:noFill/>
            <a:ln w="9525">
              <a:noFill/>
            </a:ln>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占位符 71682"/>
          <p:cNvSpPr>
            <a:spLocks noGrp="1"/>
          </p:cNvSpPr>
          <p:nvPr>
            <p:ph idx="1"/>
          </p:nvPr>
        </p:nvSpPr>
        <p:spPr>
          <a:xfrm>
            <a:off x="1774826" y="1600200"/>
            <a:ext cx="8435975" cy="4781550"/>
          </a:xfrm>
        </p:spPr>
        <p:txBody>
          <a:bodyPr vert="horz" wrap="square" lIns="91440" tIns="45720" rIns="91440" bIns="45720" anchor="t"/>
          <a:lstStyle/>
          <a:p>
            <a:pPr algn="just" eaLnBrk="1" hangingPunct="1">
              <a:lnSpc>
                <a:spcPct val="90000"/>
              </a:lnSpc>
              <a:buNone/>
            </a:pPr>
            <a:r>
              <a:rPr lang="zh-CN" altLang="en-US" b="1" dirty="0">
                <a:latin typeface="黑体" panose="02010609060101010101" pitchFamily="49" charset="-122"/>
                <a:ea typeface="黑体" panose="02010609060101010101" pitchFamily="49" charset="-122"/>
              </a:rPr>
              <a:t>    基于主机的漏洞检测技术通过检测本机系统中各种相关文件（如系统配置文件）的内容与其他一些属性，发现因配置不当使系统产生的脆弱性，另外，还要检测是否有用户使用弱口令的问题。在检测过程中通常涉及到系统的内核、系统的配置信息、文件的属性和操作系统的补丁等问题，还要对口令进行解密，检查是否存在弱口令。安装在每台主机上的扫描代理都可以独立运行，多台主机</a:t>
            </a:r>
            <a:r>
              <a:rPr lang="zh-CN" altLang="en-US" b="1" dirty="0">
                <a:solidFill>
                  <a:srgbClr val="1F4E79"/>
                </a:solidFill>
                <a:latin typeface="黑体" panose="02010609060101010101" pitchFamily="49" charset="-122"/>
                <a:ea typeface="黑体" panose="02010609060101010101" pitchFamily="49" charset="-122"/>
              </a:rPr>
              <a:t>可以同时被测试</a:t>
            </a:r>
            <a:r>
              <a:rPr lang="zh-CN" altLang="en-US" b="1" dirty="0">
                <a:latin typeface="黑体" panose="02010609060101010101" pitchFamily="49" charset="-122"/>
                <a:ea typeface="黑体" panose="02010609060101010101" pitchFamily="49" charset="-122"/>
              </a:rPr>
              <a:t>，可以缩短网络内各主机一次评估的时间。</a:t>
            </a:r>
            <a:r>
              <a:rPr lang="zh-CN" altLang="en-US" dirty="0">
                <a:latin typeface="黑体" panose="02010609060101010101" pitchFamily="49" charset="-122"/>
                <a:ea typeface="黑体" panose="02010609060101010101" pitchFamily="49" charset="-122"/>
              </a:rPr>
              <a:t> </a:t>
            </a:r>
          </a:p>
        </p:txBody>
      </p:sp>
      <p:grpSp>
        <p:nvGrpSpPr>
          <p:cNvPr id="4" name="组合 3"/>
          <p:cNvGrpSpPr/>
          <p:nvPr/>
        </p:nvGrpSpPr>
        <p:grpSpPr>
          <a:xfrm>
            <a:off x="3593455" y="409250"/>
            <a:ext cx="4798716" cy="791052"/>
            <a:chOff x="824072" y="1564267"/>
            <a:chExt cx="4798716" cy="791052"/>
          </a:xfrm>
        </p:grpSpPr>
        <p:sp>
          <p:nvSpPr>
            <p:cNvPr id="5" name="矩形: 圆角 16"/>
            <p:cNvSpPr/>
            <p:nvPr/>
          </p:nvSpPr>
          <p:spPr>
            <a:xfrm>
              <a:off x="824072" y="1740416"/>
              <a:ext cx="4798716"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921266" cy="480131"/>
            </a:xfrm>
            <a:prstGeom prst="rect">
              <a:avLst/>
            </a:prstGeom>
          </p:spPr>
          <p:txBody>
            <a:bodyPr wrap="none">
              <a:spAutoFit/>
            </a:bodyPr>
            <a:lstStyle/>
            <a:p>
              <a:pPr>
                <a:lnSpc>
                  <a:spcPct val="90000"/>
                </a:lnSpc>
              </a:pPr>
              <a:r>
                <a:rPr lang="en-US" altLang="zh-CN" sz="2800" noProof="1">
                  <a:solidFill>
                    <a:schemeClr val="bg1"/>
                  </a:solidFill>
                  <a:latin typeface="+mj-ea"/>
                </a:rPr>
                <a:t>4.3.2 </a:t>
              </a:r>
              <a:r>
                <a:rPr lang="zh-CN" altLang="en-US" sz="2800" noProof="1">
                  <a:solidFill>
                    <a:schemeClr val="bg1"/>
                  </a:solidFill>
                  <a:latin typeface="+mj-ea"/>
                </a:rPr>
                <a:t>基于主机的扫描器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a:xfrm>
            <a:off x="2209800" y="620713"/>
            <a:ext cx="7772400" cy="1143000"/>
          </a:xfrm>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基于主机的扫描器的组成</a:t>
            </a:r>
          </a:p>
        </p:txBody>
      </p:sp>
      <p:grpSp>
        <p:nvGrpSpPr>
          <p:cNvPr id="62466" name="组合 72706"/>
          <p:cNvGrpSpPr/>
          <p:nvPr/>
        </p:nvGrpSpPr>
        <p:grpSpPr>
          <a:xfrm>
            <a:off x="2927350" y="2047876"/>
            <a:ext cx="6553200" cy="3325813"/>
            <a:chOff x="3060" y="1565"/>
            <a:chExt cx="6480" cy="2964"/>
          </a:xfrm>
        </p:grpSpPr>
        <p:sp>
          <p:nvSpPr>
            <p:cNvPr id="62467" name="文本框 72707"/>
            <p:cNvSpPr txBox="1"/>
            <p:nvPr/>
          </p:nvSpPr>
          <p:spPr>
            <a:xfrm>
              <a:off x="4680" y="1721"/>
              <a:ext cx="1440" cy="624"/>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1600" b="1" dirty="0">
                  <a:solidFill>
                    <a:srgbClr val="0F73EE"/>
                  </a:solidFill>
                  <a:latin typeface="Times New Roman" panose="02020603050405020304" pitchFamily="18" charset="0"/>
                  <a:ea typeface="宋体" panose="02010600030101010101" pitchFamily="2" charset="-122"/>
                </a:rPr>
                <a:t>主控台</a:t>
              </a:r>
              <a:endParaRPr lang="zh-CN" altLang="en-US" sz="1600" b="1" dirty="0">
                <a:solidFill>
                  <a:srgbClr val="0F73EE"/>
                </a:solidFill>
                <a:latin typeface="Arial" panose="020B0604020202020204" pitchFamily="34" charset="0"/>
                <a:ea typeface="宋体" panose="02010600030101010101" pitchFamily="2" charset="-122"/>
              </a:endParaRPr>
            </a:p>
          </p:txBody>
        </p:sp>
        <p:sp>
          <p:nvSpPr>
            <p:cNvPr id="62468" name="文本框 72708"/>
            <p:cNvSpPr txBox="1"/>
            <p:nvPr/>
          </p:nvSpPr>
          <p:spPr>
            <a:xfrm>
              <a:off x="3060" y="3749"/>
              <a:ext cx="126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1600" b="1" dirty="0">
                  <a:solidFill>
                    <a:srgbClr val="0F73EE"/>
                  </a:solidFill>
                  <a:latin typeface="Times New Roman" panose="02020603050405020304" pitchFamily="18" charset="0"/>
                  <a:ea typeface="宋体" panose="02010600030101010101" pitchFamily="2" charset="-122"/>
                </a:rPr>
                <a:t>主机</a:t>
              </a:r>
              <a:r>
                <a:rPr lang="en-US" altLang="zh-CN" sz="1600" b="1" dirty="0">
                  <a:solidFill>
                    <a:srgbClr val="0F73EE"/>
                  </a:solidFill>
                  <a:latin typeface="Times New Roman" panose="02020603050405020304" pitchFamily="18" charset="0"/>
                </a:rPr>
                <a:t>1</a:t>
              </a:r>
            </a:p>
            <a:p>
              <a:pPr algn="just"/>
              <a:r>
                <a:rPr lang="zh-CN" altLang="en-US" sz="1600" b="1" dirty="0">
                  <a:solidFill>
                    <a:schemeClr val="bg1"/>
                  </a:solidFill>
                  <a:latin typeface="Times New Roman" panose="02020603050405020304" pitchFamily="18" charset="0"/>
                  <a:ea typeface="宋体" panose="02010600030101010101" pitchFamily="2" charset="-122"/>
                </a:rPr>
                <a:t>扫描代理</a:t>
              </a:r>
              <a:endParaRPr lang="zh-CN" altLang="en-US" sz="1600" b="1" dirty="0">
                <a:solidFill>
                  <a:schemeClr val="bg1"/>
                </a:solidFill>
                <a:latin typeface="Arial" panose="020B0604020202020204" pitchFamily="34" charset="0"/>
                <a:ea typeface="宋体" panose="02010600030101010101" pitchFamily="2" charset="-122"/>
              </a:endParaRPr>
            </a:p>
          </p:txBody>
        </p:sp>
        <p:sp>
          <p:nvSpPr>
            <p:cNvPr id="62469" name="文本框 72709"/>
            <p:cNvSpPr txBox="1"/>
            <p:nvPr/>
          </p:nvSpPr>
          <p:spPr>
            <a:xfrm>
              <a:off x="5220" y="3749"/>
              <a:ext cx="126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1600" b="1" dirty="0">
                  <a:solidFill>
                    <a:srgbClr val="0F73EE"/>
                  </a:solidFill>
                  <a:latin typeface="Times New Roman" panose="02020603050405020304" pitchFamily="18" charset="0"/>
                  <a:ea typeface="宋体" panose="02010600030101010101" pitchFamily="2" charset="-122"/>
                </a:rPr>
                <a:t>主机</a:t>
              </a:r>
              <a:r>
                <a:rPr lang="en-US" altLang="zh-CN" sz="1600" b="1" dirty="0">
                  <a:solidFill>
                    <a:srgbClr val="0F73EE"/>
                  </a:solidFill>
                  <a:latin typeface="Times New Roman" panose="02020603050405020304" pitchFamily="18" charset="0"/>
                </a:rPr>
                <a:t>2</a:t>
              </a:r>
            </a:p>
            <a:p>
              <a:pPr algn="just"/>
              <a:r>
                <a:rPr lang="zh-CN" altLang="en-US" sz="1600" b="1" dirty="0">
                  <a:solidFill>
                    <a:schemeClr val="bg1"/>
                  </a:solidFill>
                  <a:latin typeface="Times New Roman" panose="02020603050405020304" pitchFamily="18" charset="0"/>
                  <a:ea typeface="宋体" panose="02010600030101010101" pitchFamily="2" charset="-122"/>
                </a:rPr>
                <a:t>扫描代理</a:t>
              </a:r>
              <a:endParaRPr lang="zh-CN" altLang="en-US" sz="1600" b="1" dirty="0">
                <a:solidFill>
                  <a:schemeClr val="bg1"/>
                </a:solidFill>
                <a:latin typeface="Arial" panose="020B0604020202020204" pitchFamily="34" charset="0"/>
                <a:ea typeface="宋体" panose="02010600030101010101" pitchFamily="2" charset="-122"/>
              </a:endParaRPr>
            </a:p>
          </p:txBody>
        </p:sp>
        <p:sp>
          <p:nvSpPr>
            <p:cNvPr id="62470" name="文本框 72710"/>
            <p:cNvSpPr txBox="1"/>
            <p:nvPr/>
          </p:nvSpPr>
          <p:spPr>
            <a:xfrm>
              <a:off x="7740" y="3749"/>
              <a:ext cx="1260"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a:r>
                <a:rPr lang="zh-CN" altLang="en-US" sz="1600" b="1" dirty="0">
                  <a:solidFill>
                    <a:srgbClr val="0F73EE"/>
                  </a:solidFill>
                  <a:latin typeface="Times New Roman" panose="02020603050405020304" pitchFamily="18" charset="0"/>
                  <a:ea typeface="宋体" panose="02010600030101010101" pitchFamily="2" charset="-122"/>
                </a:rPr>
                <a:t>主机</a:t>
              </a:r>
              <a:r>
                <a:rPr lang="en-US" altLang="zh-CN" sz="1600" b="1" dirty="0">
                  <a:solidFill>
                    <a:srgbClr val="0F73EE"/>
                  </a:solidFill>
                  <a:latin typeface="Times New Roman" panose="02020603050405020304" pitchFamily="18" charset="0"/>
                </a:rPr>
                <a:t>N</a:t>
              </a:r>
            </a:p>
            <a:p>
              <a:pPr algn="just"/>
              <a:r>
                <a:rPr lang="zh-CN" altLang="en-US" sz="1600" b="1" dirty="0">
                  <a:solidFill>
                    <a:schemeClr val="bg1"/>
                  </a:solidFill>
                  <a:latin typeface="Times New Roman" panose="02020603050405020304" pitchFamily="18" charset="0"/>
                  <a:ea typeface="宋体" panose="02010600030101010101" pitchFamily="2" charset="-122"/>
                </a:rPr>
                <a:t>扫描代理</a:t>
              </a:r>
              <a:endParaRPr lang="zh-CN" altLang="en-US" sz="1600" b="1" dirty="0">
                <a:solidFill>
                  <a:schemeClr val="bg1"/>
                </a:solidFill>
                <a:latin typeface="Arial" panose="020B0604020202020204" pitchFamily="34" charset="0"/>
                <a:ea typeface="宋体" panose="02010600030101010101" pitchFamily="2" charset="-122"/>
              </a:endParaRPr>
            </a:p>
          </p:txBody>
        </p:sp>
        <p:sp>
          <p:nvSpPr>
            <p:cNvPr id="62471" name="文本框 72711"/>
            <p:cNvSpPr txBox="1"/>
            <p:nvPr/>
          </p:nvSpPr>
          <p:spPr>
            <a:xfrm>
              <a:off x="6840" y="3902"/>
              <a:ext cx="720" cy="468"/>
            </a:xfrm>
            <a:prstGeom prst="rect">
              <a:avLst/>
            </a:prstGeom>
            <a:noFill/>
            <a:ln w="9525">
              <a:noFill/>
            </a:ln>
          </p:spPr>
          <p:txBody>
            <a:bodyPr anchor="t"/>
            <a:lstStyle/>
            <a:p>
              <a:pPr algn="just"/>
              <a:r>
                <a:rPr lang="zh-CN" altLang="en-US" sz="1000" dirty="0">
                  <a:latin typeface="Times New Roman" panose="02020603050405020304" pitchFamily="18"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62472" name="直接连接符 72712"/>
            <p:cNvSpPr/>
            <p:nvPr/>
          </p:nvSpPr>
          <p:spPr>
            <a:xfrm flipV="1">
              <a:off x="3600" y="2345"/>
              <a:ext cx="1440" cy="1404"/>
            </a:xfrm>
            <a:prstGeom prst="line">
              <a:avLst/>
            </a:prstGeom>
            <a:ln w="9525" cap="flat" cmpd="sng">
              <a:solidFill>
                <a:srgbClr val="000000"/>
              </a:solidFill>
              <a:prstDash val="solid"/>
              <a:round/>
              <a:headEnd type="none" w="med" len="med"/>
              <a:tailEnd type="triangle" w="med" len="med"/>
            </a:ln>
          </p:spPr>
        </p:sp>
        <p:sp>
          <p:nvSpPr>
            <p:cNvPr id="62473" name="直接连接符 72713"/>
            <p:cNvSpPr/>
            <p:nvPr/>
          </p:nvSpPr>
          <p:spPr>
            <a:xfrm flipH="1" flipV="1">
              <a:off x="5220" y="2345"/>
              <a:ext cx="540" cy="1404"/>
            </a:xfrm>
            <a:prstGeom prst="line">
              <a:avLst/>
            </a:prstGeom>
            <a:ln w="9525" cap="flat" cmpd="sng">
              <a:solidFill>
                <a:srgbClr val="000000"/>
              </a:solidFill>
              <a:prstDash val="solid"/>
              <a:round/>
              <a:headEnd type="none" w="med" len="med"/>
              <a:tailEnd type="triangle" w="med" len="med"/>
            </a:ln>
          </p:spPr>
        </p:sp>
        <p:sp>
          <p:nvSpPr>
            <p:cNvPr id="62474" name="直接连接符 72714"/>
            <p:cNvSpPr/>
            <p:nvPr/>
          </p:nvSpPr>
          <p:spPr>
            <a:xfrm flipH="1" flipV="1">
              <a:off x="5400" y="2345"/>
              <a:ext cx="2880" cy="1404"/>
            </a:xfrm>
            <a:prstGeom prst="line">
              <a:avLst/>
            </a:prstGeom>
            <a:ln w="9525" cap="flat" cmpd="sng">
              <a:solidFill>
                <a:srgbClr val="000000"/>
              </a:solidFill>
              <a:prstDash val="solid"/>
              <a:round/>
              <a:headEnd type="none" w="med" len="med"/>
              <a:tailEnd type="triangle" w="med" len="med"/>
            </a:ln>
          </p:spPr>
        </p:sp>
        <p:sp>
          <p:nvSpPr>
            <p:cNvPr id="62475" name="流程图: 多文档 72715"/>
            <p:cNvSpPr/>
            <p:nvPr/>
          </p:nvSpPr>
          <p:spPr>
            <a:xfrm>
              <a:off x="7920" y="1565"/>
              <a:ext cx="1620" cy="1092"/>
            </a:xfrm>
            <a:prstGeom prst="flowChartMultidocument">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dirty="0">
                <a:solidFill>
                  <a:schemeClr val="bg1"/>
                </a:solidFill>
                <a:latin typeface="Arial" panose="020B0604020202020204" pitchFamily="34" charset="0"/>
                <a:ea typeface="宋体" panose="02010600030101010101" pitchFamily="2" charset="-122"/>
              </a:endParaRPr>
            </a:p>
          </p:txBody>
        </p:sp>
        <p:sp>
          <p:nvSpPr>
            <p:cNvPr id="62476" name="直接连接符 72716"/>
            <p:cNvSpPr/>
            <p:nvPr/>
          </p:nvSpPr>
          <p:spPr>
            <a:xfrm>
              <a:off x="6120" y="2033"/>
              <a:ext cx="1800" cy="0"/>
            </a:xfrm>
            <a:prstGeom prst="line">
              <a:avLst/>
            </a:prstGeom>
            <a:ln w="9525" cap="flat" cmpd="sng">
              <a:solidFill>
                <a:srgbClr val="000000"/>
              </a:solidFill>
              <a:prstDash val="solid"/>
              <a:round/>
              <a:headEnd type="none" w="med" len="med"/>
              <a:tailEnd type="triangle" w="med" len="med"/>
            </a:ln>
          </p:spPr>
        </p:sp>
        <p:sp>
          <p:nvSpPr>
            <p:cNvPr id="62477" name="文本框 72717"/>
            <p:cNvSpPr txBox="1"/>
            <p:nvPr/>
          </p:nvSpPr>
          <p:spPr>
            <a:xfrm>
              <a:off x="7920" y="1877"/>
              <a:ext cx="1440" cy="624"/>
            </a:xfrm>
            <a:prstGeom prst="rect">
              <a:avLst/>
            </a:prstGeom>
            <a:noFill/>
            <a:ln w="9525">
              <a:noFill/>
            </a:ln>
          </p:spPr>
          <p:txBody>
            <a:bodyPr anchor="t"/>
            <a:lstStyle/>
            <a:p>
              <a:pPr algn="just"/>
              <a:r>
                <a:rPr lang="zh-CN" altLang="en-US" sz="1600" b="1" dirty="0">
                  <a:solidFill>
                    <a:srgbClr val="0F73EE"/>
                  </a:solidFill>
                  <a:latin typeface="Times New Roman" panose="02020603050405020304" pitchFamily="18" charset="0"/>
                  <a:ea typeface="宋体" panose="02010600030101010101" pitchFamily="2" charset="-122"/>
                </a:rPr>
                <a:t>报告输出</a:t>
              </a:r>
              <a:endParaRPr lang="zh-CN" altLang="en-US" sz="1600" b="1" dirty="0">
                <a:solidFill>
                  <a:srgbClr val="0F73EE"/>
                </a:solidFill>
                <a:latin typeface="Arial" panose="020B0604020202020204" pitchFamily="34" charset="0"/>
                <a:ea typeface="宋体" panose="02010600030101010101" pitchFamily="2" charset="-122"/>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文本占位符 73730"/>
          <p:cNvSpPr>
            <a:spLocks noGrp="1"/>
          </p:cNvSpPr>
          <p:nvPr>
            <p:ph idx="1"/>
          </p:nvPr>
        </p:nvSpPr>
        <p:spPr>
          <a:xfrm>
            <a:off x="1774826" y="1700213"/>
            <a:ext cx="8137525" cy="4635500"/>
          </a:xfrm>
        </p:spPr>
        <p:txBody>
          <a:bodyPr vert="horz" wrap="square" lIns="91440" tIns="45720" rIns="91440" bIns="45720" anchor="t"/>
          <a:lstStyle/>
          <a:p>
            <a:pPr algn="just" eaLnBrk="1" hangingPunct="1">
              <a:lnSpc>
                <a:spcPct val="80000"/>
              </a:lnSpc>
              <a:buNone/>
            </a:pPr>
            <a:r>
              <a:rPr lang="zh-CN" altLang="en-US" sz="2400" b="1" dirty="0">
                <a:ea typeface="黑体" panose="02010609060101010101" pitchFamily="49" charset="-122"/>
              </a:rPr>
              <a:t>         </a:t>
            </a:r>
            <a:r>
              <a:rPr lang="zh-CN" altLang="en-US" b="1" dirty="0">
                <a:ea typeface="黑体" panose="02010609060101010101" pitchFamily="49" charset="-122"/>
              </a:rPr>
              <a:t>基于网络的扫描器通过检查网络服务器与各主机上可用的端口号和对外提供的网络服务，查找网络系统中存在的各种安全漏洞。</a:t>
            </a:r>
          </a:p>
          <a:p>
            <a:pPr algn="just" eaLnBrk="1" hangingPunct="1">
              <a:lnSpc>
                <a:spcPct val="80000"/>
              </a:lnSpc>
              <a:buNone/>
            </a:pPr>
            <a:r>
              <a:rPr lang="zh-CN" altLang="en-US" b="1" dirty="0">
                <a:ea typeface="黑体" panose="02010609060101010101" pitchFamily="49" charset="-122"/>
              </a:rPr>
              <a:t>        基于网络的扫描检测技术采用</a:t>
            </a:r>
            <a:r>
              <a:rPr lang="zh-CN" altLang="en-US" b="1" dirty="0">
                <a:solidFill>
                  <a:srgbClr val="0F73EE"/>
                </a:solidFill>
                <a:ea typeface="黑体" panose="02010609060101010101" pitchFamily="49" charset="-122"/>
              </a:rPr>
              <a:t>非破坏性的</a:t>
            </a:r>
            <a:r>
              <a:rPr lang="zh-CN" altLang="en-US" b="1" dirty="0">
                <a:ea typeface="黑体" panose="02010609060101010101" pitchFamily="49" charset="-122"/>
              </a:rPr>
              <a:t>检测技术，根据各种已知的漏洞的检测方法与步骤，对网络系统进行</a:t>
            </a:r>
            <a:r>
              <a:rPr lang="zh-CN" altLang="en-US" b="1" dirty="0">
                <a:solidFill>
                  <a:srgbClr val="0F73EE"/>
                </a:solidFill>
                <a:ea typeface="黑体" panose="02010609060101010101" pitchFamily="49" charset="-122"/>
              </a:rPr>
              <a:t>模拟的攻击</a:t>
            </a:r>
            <a:r>
              <a:rPr lang="zh-CN" altLang="en-US" b="1" dirty="0">
                <a:ea typeface="黑体" panose="02010609060101010101" pitchFamily="49" charset="-122"/>
              </a:rPr>
              <a:t>，记录并分析攻击的结果。</a:t>
            </a:r>
          </a:p>
          <a:p>
            <a:pPr algn="just" eaLnBrk="1" hangingPunct="1">
              <a:lnSpc>
                <a:spcPct val="80000"/>
              </a:lnSpc>
              <a:buNone/>
            </a:pPr>
            <a:r>
              <a:rPr lang="zh-CN" altLang="en-US" b="1" dirty="0">
                <a:ea typeface="黑体" panose="02010609060101010101" pitchFamily="49" charset="-122"/>
              </a:rPr>
              <a:t>        基于网络的扫描软件安装在一台机器上，通过网络可以探测本地或远程站点主机的安全漏洞，可以分别对网络内的系统服务器、路由器和交换机等网络设备进行扫描，工作过程是</a:t>
            </a:r>
            <a:r>
              <a:rPr lang="zh-CN" altLang="en-US" b="1" dirty="0">
                <a:solidFill>
                  <a:srgbClr val="FF0000"/>
                </a:solidFill>
                <a:ea typeface="黑体" panose="02010609060101010101" pitchFamily="49" charset="-122"/>
              </a:rPr>
              <a:t>串行的</a:t>
            </a:r>
            <a:r>
              <a:rPr lang="zh-CN" altLang="en-US" b="1" dirty="0">
                <a:ea typeface="黑体" panose="02010609060101010101" pitchFamily="49" charset="-122"/>
              </a:rPr>
              <a:t>，整个网络的扫描周期比较长。</a:t>
            </a:r>
            <a:endParaRPr lang="zh-CN" altLang="en-US" dirty="0">
              <a:ea typeface="黑体" panose="02010609060101010101" pitchFamily="49" charset="-122"/>
            </a:endParaRPr>
          </a:p>
        </p:txBody>
      </p:sp>
      <p:grpSp>
        <p:nvGrpSpPr>
          <p:cNvPr id="4" name="组合 3"/>
          <p:cNvGrpSpPr/>
          <p:nvPr/>
        </p:nvGrpSpPr>
        <p:grpSpPr>
          <a:xfrm>
            <a:off x="3368034" y="456751"/>
            <a:ext cx="4951107" cy="791052"/>
            <a:chOff x="824071" y="1564267"/>
            <a:chExt cx="4951107" cy="791052"/>
          </a:xfrm>
        </p:grpSpPr>
        <p:sp>
          <p:nvSpPr>
            <p:cNvPr id="5" name="矩形: 圆角 16"/>
            <p:cNvSpPr/>
            <p:nvPr/>
          </p:nvSpPr>
          <p:spPr>
            <a:xfrm>
              <a:off x="824071" y="1740416"/>
              <a:ext cx="495110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921266" cy="480131"/>
            </a:xfrm>
            <a:prstGeom prst="rect">
              <a:avLst/>
            </a:prstGeom>
          </p:spPr>
          <p:txBody>
            <a:bodyPr wrap="none">
              <a:spAutoFit/>
            </a:bodyPr>
            <a:lstStyle/>
            <a:p>
              <a:pPr>
                <a:lnSpc>
                  <a:spcPct val="90000"/>
                </a:lnSpc>
              </a:pPr>
              <a:r>
                <a:rPr lang="en-US" altLang="zh-CN" sz="2800" noProof="1">
                  <a:solidFill>
                    <a:schemeClr val="bg1"/>
                  </a:solidFill>
                  <a:latin typeface="+mj-ea"/>
                </a:rPr>
                <a:t>4.3.3 </a:t>
              </a:r>
              <a:r>
                <a:rPr lang="zh-CN" altLang="en-US" sz="2800" noProof="1">
                  <a:solidFill>
                    <a:schemeClr val="bg1"/>
                  </a:solidFill>
                  <a:latin typeface="+mj-ea"/>
                </a:rPr>
                <a:t>基于网络的扫描器</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49505"/>
          <p:cNvSpPr>
            <a:spLocks noGrp="1"/>
          </p:cNvSpPr>
          <p:nvPr>
            <p:ph type="title"/>
          </p:nvPr>
        </p:nvSpPr>
        <p:spPr>
          <a:xfrm>
            <a:off x="2208213" y="260350"/>
            <a:ext cx="7772400" cy="1143000"/>
          </a:xfrm>
        </p:spPr>
        <p:txBody>
          <a:bodyPr lIns="92075" tIns="46038" rIns="92075" bIns="46038" anchor="ctr"/>
          <a:lstStyle/>
          <a:p>
            <a:pPr algn="ctr" fontAlgn="base">
              <a:lnSpc>
                <a:spcPct val="100000"/>
              </a:lnSpc>
              <a:spcAft>
                <a:spcPct val="0"/>
              </a:spcAft>
              <a:defRPr/>
            </a:pPr>
            <a:r>
              <a:rPr lang="en-US" altLang="zh-CN" sz="4000" noProof="1">
                <a:solidFill>
                  <a:schemeClr val="accent1"/>
                </a:solidFill>
                <a:effectLst>
                  <a:outerShdw blurRad="38100" dist="38100" dir="2700000">
                    <a:srgbClr val="000000"/>
                  </a:outerShdw>
                </a:effectLst>
              </a:rPr>
              <a:t>Nmap</a:t>
            </a:r>
            <a:r>
              <a:rPr lang="zh-CN" altLang="en-US" sz="4000" noProof="1">
                <a:solidFill>
                  <a:schemeClr val="accent1"/>
                </a:solidFill>
                <a:effectLst>
                  <a:outerShdw blurRad="38100" dist="38100" dir="2700000">
                    <a:srgbClr val="000000"/>
                  </a:outerShdw>
                </a:effectLst>
              </a:rPr>
              <a:t>扫描</a:t>
            </a:r>
          </a:p>
        </p:txBody>
      </p:sp>
      <p:pic>
        <p:nvPicPr>
          <p:cNvPr id="64515" name="图片 149510"/>
          <p:cNvPicPr>
            <a:picLocks noChangeAspect="1"/>
          </p:cNvPicPr>
          <p:nvPr/>
        </p:nvPicPr>
        <p:blipFill>
          <a:blip r:embed="rId2"/>
          <a:stretch>
            <a:fillRect/>
          </a:stretch>
        </p:blipFill>
        <p:spPr>
          <a:xfrm>
            <a:off x="1847850" y="1106488"/>
            <a:ext cx="8510588" cy="5491162"/>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056901" y="1852551"/>
            <a:ext cx="8217725" cy="46907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38" name="矩形 74754"/>
          <p:cNvSpPr/>
          <p:nvPr/>
        </p:nvSpPr>
        <p:spPr>
          <a:xfrm>
            <a:off x="609597" y="2867833"/>
            <a:ext cx="9144000" cy="0"/>
          </a:xfrm>
          <a:prstGeom prst="rect">
            <a:avLst/>
          </a:prstGeom>
          <a:noFill/>
          <a:ln w="9525">
            <a:noFill/>
          </a:ln>
        </p:spPr>
        <p:txBody>
          <a:bodyPr anchor="t"/>
          <a:lstStyle/>
          <a:p>
            <a:endParaRPr lang="zh-CN" altLang="en-US" dirty="0">
              <a:solidFill>
                <a:srgbClr val="FF0000"/>
              </a:solidFill>
              <a:latin typeface="Times New Roman" panose="02020603050405020304" pitchFamily="18" charset="0"/>
              <a:ea typeface="宋体" panose="02010600030101010101" pitchFamily="2" charset="-122"/>
            </a:endParaRPr>
          </a:p>
        </p:txBody>
      </p:sp>
      <p:graphicFrame>
        <p:nvGraphicFramePr>
          <p:cNvPr id="65539" name="对象 74755"/>
          <p:cNvGraphicFramePr/>
          <p:nvPr/>
        </p:nvGraphicFramePr>
        <p:xfrm>
          <a:off x="1508123" y="2196320"/>
          <a:ext cx="7635875" cy="4140200"/>
        </p:xfrm>
        <a:graphic>
          <a:graphicData uri="http://schemas.openxmlformats.org/presentationml/2006/ole">
            <mc:AlternateContent xmlns:mc="http://schemas.openxmlformats.org/markup-compatibility/2006">
              <mc:Choice xmlns:v="urn:schemas-microsoft-com:vml" Requires="v">
                <p:oleObj r:id="rId3" imgW="4298315" imgH="2331085" progId="Word.Picture.8">
                  <p:embed/>
                </p:oleObj>
              </mc:Choice>
              <mc:Fallback>
                <p:oleObj r:id="rId3" imgW="4298315" imgH="2331085" progId="Word.Picture.8">
                  <p:embed/>
                  <p:pic>
                    <p:nvPicPr>
                      <p:cNvPr id="0" name="图片 2125"/>
                      <p:cNvPicPr/>
                      <p:nvPr/>
                    </p:nvPicPr>
                    <p:blipFill>
                      <a:blip r:embed="rId4"/>
                      <a:stretch>
                        <a:fillRect/>
                      </a:stretch>
                    </p:blipFill>
                    <p:spPr>
                      <a:xfrm>
                        <a:off x="1508123" y="2196320"/>
                        <a:ext cx="7635875" cy="4140200"/>
                      </a:xfrm>
                      <a:prstGeom prst="rect">
                        <a:avLst/>
                      </a:prstGeom>
                      <a:noFill/>
                      <a:ln w="38100">
                        <a:noFill/>
                        <a:miter/>
                      </a:ln>
                    </p:spPr>
                  </p:pic>
                </p:oleObj>
              </mc:Fallback>
            </mc:AlternateContent>
          </a:graphicData>
        </a:graphic>
      </p:graphicFrame>
      <p:grpSp>
        <p:nvGrpSpPr>
          <p:cNvPr id="5" name="组合 4"/>
          <p:cNvGrpSpPr/>
          <p:nvPr/>
        </p:nvGrpSpPr>
        <p:grpSpPr>
          <a:xfrm>
            <a:off x="3264186" y="463867"/>
            <a:ext cx="5663627" cy="791052"/>
            <a:chOff x="824071" y="1564267"/>
            <a:chExt cx="5663627" cy="791052"/>
          </a:xfrm>
        </p:grpSpPr>
        <p:sp>
          <p:nvSpPr>
            <p:cNvPr id="6" name="矩形: 圆角 16"/>
            <p:cNvSpPr/>
            <p:nvPr/>
          </p:nvSpPr>
          <p:spPr>
            <a:xfrm>
              <a:off x="824071" y="1740416"/>
              <a:ext cx="5663627"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4639412" cy="480131"/>
            </a:xfrm>
            <a:prstGeom prst="rect">
              <a:avLst/>
            </a:prstGeom>
          </p:spPr>
          <p:txBody>
            <a:bodyPr wrap="none">
              <a:spAutoFit/>
            </a:bodyPr>
            <a:lstStyle/>
            <a:p>
              <a:pPr>
                <a:lnSpc>
                  <a:spcPct val="90000"/>
                </a:lnSpc>
              </a:pPr>
              <a:r>
                <a:rPr lang="en-US" altLang="zh-CN" sz="2800" noProof="1">
                  <a:solidFill>
                    <a:schemeClr val="bg1"/>
                  </a:solidFill>
                  <a:latin typeface="+mj-ea"/>
                </a:rPr>
                <a:t>4.3.4 </a:t>
              </a:r>
              <a:r>
                <a:rPr lang="zh-CN" altLang="en-US" sz="2800" noProof="1">
                  <a:solidFill>
                    <a:schemeClr val="bg1"/>
                  </a:solidFill>
                  <a:latin typeface="+mj-ea"/>
                </a:rPr>
                <a:t>扫描器工作原理与流程</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
        <p:nvSpPr>
          <p:cNvPr id="3" name="矩形 2"/>
          <p:cNvSpPr/>
          <p:nvPr/>
        </p:nvSpPr>
        <p:spPr>
          <a:xfrm>
            <a:off x="9470356" y="2277401"/>
            <a:ext cx="2493962" cy="3841052"/>
          </a:xfrm>
          <a:prstGeom prst="rect">
            <a:avLst/>
          </a:prstGeom>
        </p:spPr>
        <p:txBody>
          <a:bodyPr wrap="square">
            <a:spAutoFit/>
          </a:bodyPr>
          <a:lstStyle/>
          <a:p>
            <a:pPr lvl="0" algn="just">
              <a:lnSpc>
                <a:spcPct val="80000"/>
              </a:lnSpc>
            </a:pPr>
            <a:r>
              <a:rPr lang="en-US" altLang="zh-CN" sz="1400" b="1" dirty="0">
                <a:solidFill>
                  <a:prstClr val="black"/>
                </a:solidFill>
                <a:latin typeface="黑体" panose="02010609060101010101" pitchFamily="49" charset="-122"/>
                <a:ea typeface="黑体" panose="02010609060101010101" pitchFamily="49" charset="-122"/>
              </a:rPr>
              <a:t>(1) </a:t>
            </a:r>
            <a:r>
              <a:rPr lang="zh-CN" altLang="en-US" sz="1400" b="1" dirty="0">
                <a:solidFill>
                  <a:prstClr val="black"/>
                </a:solidFill>
                <a:latin typeface="黑体" panose="02010609060101010101" pitchFamily="49" charset="-122"/>
                <a:ea typeface="黑体" panose="02010609060101010101" pitchFamily="49" charset="-122"/>
              </a:rPr>
              <a:t>客户端准备。首先通过网络安全扫描器客户端连接到网络安全扫描器服务器端。</a:t>
            </a:r>
          </a:p>
          <a:p>
            <a:pPr lvl="0" algn="just">
              <a:lnSpc>
                <a:spcPct val="80000"/>
              </a:lnSpc>
            </a:pPr>
            <a:r>
              <a:rPr lang="en-US" altLang="zh-CN" sz="1400" b="1" dirty="0">
                <a:solidFill>
                  <a:prstClr val="black"/>
                </a:solidFill>
                <a:latin typeface="黑体" panose="02010609060101010101" pitchFamily="49" charset="-122"/>
                <a:ea typeface="黑体" panose="02010609060101010101" pitchFamily="49" charset="-122"/>
              </a:rPr>
              <a:t>(2) </a:t>
            </a:r>
            <a:r>
              <a:rPr lang="zh-CN" altLang="en-US" sz="1400" b="1" dirty="0">
                <a:solidFill>
                  <a:prstClr val="black"/>
                </a:solidFill>
                <a:latin typeface="黑体" panose="02010609060101010101" pitchFamily="49" charset="-122"/>
                <a:ea typeface="黑体" panose="02010609060101010101" pitchFamily="49" charset="-122"/>
              </a:rPr>
              <a:t>进行用户认证。因为扫描器是通过模拟攻击来检测网络系统的脆弱性，只能由管理员或授权用户才能实施。同时这也给后面所提到的灵活的配置奠定了基础。</a:t>
            </a:r>
          </a:p>
          <a:p>
            <a:pPr lvl="0" algn="just">
              <a:lnSpc>
                <a:spcPct val="80000"/>
              </a:lnSpc>
            </a:pPr>
            <a:r>
              <a:rPr lang="en-US" altLang="zh-CN" sz="1400" b="1" dirty="0">
                <a:solidFill>
                  <a:prstClr val="black"/>
                </a:solidFill>
                <a:latin typeface="黑体" panose="02010609060101010101" pitchFamily="49" charset="-122"/>
                <a:ea typeface="黑体" panose="02010609060101010101" pitchFamily="49" charset="-122"/>
              </a:rPr>
              <a:t>(3) </a:t>
            </a:r>
            <a:r>
              <a:rPr lang="zh-CN" altLang="en-US" sz="1400" b="1" dirty="0">
                <a:solidFill>
                  <a:prstClr val="black"/>
                </a:solidFill>
                <a:latin typeface="黑体" panose="02010609060101010101" pitchFamily="49" charset="-122"/>
                <a:ea typeface="黑体" panose="02010609060101010101" pitchFamily="49" charset="-122"/>
              </a:rPr>
              <a:t>客户端发起扫描。实际过程中可以选择相应的扫描方案进行扫描，并且可以是定时扫描。</a:t>
            </a:r>
            <a:r>
              <a:rPr lang="zh-CN" altLang="en-US" sz="1400" dirty="0">
                <a:solidFill>
                  <a:prstClr val="black"/>
                </a:solidFill>
                <a:latin typeface="黑体" panose="02010609060101010101" pitchFamily="49" charset="-122"/>
                <a:ea typeface="黑体" panose="02010609060101010101" pitchFamily="49" charset="-122"/>
              </a:rPr>
              <a:t> </a:t>
            </a:r>
          </a:p>
          <a:p>
            <a:pPr lvl="0"/>
            <a:r>
              <a:rPr lang="en-US" altLang="zh-CN" sz="1400" b="1" dirty="0">
                <a:solidFill>
                  <a:prstClr val="black"/>
                </a:solidFill>
                <a:latin typeface="黑体" panose="02010609060101010101" pitchFamily="49" charset="-122"/>
                <a:ea typeface="黑体" panose="02010609060101010101" pitchFamily="49" charset="-122"/>
              </a:rPr>
              <a:t>(4) </a:t>
            </a:r>
            <a:r>
              <a:rPr lang="zh-CN" altLang="en-US" sz="1400" b="1" dirty="0">
                <a:solidFill>
                  <a:prstClr val="black"/>
                </a:solidFill>
                <a:latin typeface="黑体" panose="02010609060101010101" pitchFamily="49" charset="-122"/>
                <a:ea typeface="黑体" panose="02010609060101010101" pitchFamily="49" charset="-122"/>
              </a:rPr>
              <a:t>服务器端实施安全检测，并把检测结果及补救措施通过各种形式报表返回给客户端用户。</a:t>
            </a:r>
          </a:p>
          <a:p>
            <a:pPr lvl="0"/>
            <a:r>
              <a:rPr lang="en-US" altLang="zh-CN" sz="1400" b="1" dirty="0">
                <a:solidFill>
                  <a:prstClr val="black"/>
                </a:solidFill>
                <a:latin typeface="黑体" panose="02010609060101010101" pitchFamily="49" charset="-122"/>
                <a:ea typeface="黑体" panose="02010609060101010101" pitchFamily="49" charset="-122"/>
              </a:rPr>
              <a:t>(5) </a:t>
            </a:r>
            <a:r>
              <a:rPr lang="zh-CN" altLang="en-US" sz="1400" b="1" dirty="0">
                <a:solidFill>
                  <a:prstClr val="black"/>
                </a:solidFill>
                <a:latin typeface="黑体" panose="02010609060101010101" pitchFamily="49" charset="-122"/>
                <a:ea typeface="黑体" panose="02010609060101010101" pitchFamily="49" charset="-122"/>
              </a:rPr>
              <a:t>用户按照步骤封堵漏洞，如需要，可到服务器端或直接到相关站点获取对应补丁。</a:t>
            </a:r>
            <a:r>
              <a:rPr lang="zh-CN" altLang="en-US" sz="1400" dirty="0">
                <a:solidFill>
                  <a:prstClr val="black"/>
                </a:solidFill>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扫描器工作原理与流程</a:t>
            </a:r>
          </a:p>
        </p:txBody>
      </p:sp>
      <p:sp>
        <p:nvSpPr>
          <p:cNvPr id="66562" name="文本占位符 75778"/>
          <p:cNvSpPr>
            <a:spLocks noGrp="1"/>
          </p:cNvSpPr>
          <p:nvPr>
            <p:ph idx="1"/>
          </p:nvPr>
        </p:nvSpPr>
        <p:spPr/>
        <p:txBody>
          <a:bodyPr vert="horz" wrap="square" lIns="91440" tIns="45720" rIns="91440" bIns="45720" anchor="t"/>
          <a:lstStyle/>
          <a:p>
            <a:pPr algn="just" eaLnBrk="1" hangingPunct="1">
              <a:lnSpc>
                <a:spcPct val="80000"/>
              </a:lnSpc>
              <a:buNone/>
            </a:pPr>
            <a:r>
              <a:rPr lang="en-US" altLang="zh-CN" b="1" dirty="0">
                <a:latin typeface="黑体" panose="02010609060101010101" pitchFamily="49" charset="-122"/>
                <a:ea typeface="黑体" panose="02010609060101010101" pitchFamily="49" charset="-122"/>
              </a:rPr>
              <a:t>(1) </a:t>
            </a:r>
            <a:r>
              <a:rPr lang="zh-CN" altLang="en-US" b="1" dirty="0">
                <a:latin typeface="黑体" panose="02010609060101010101" pitchFamily="49" charset="-122"/>
                <a:ea typeface="黑体" panose="02010609060101010101" pitchFamily="49" charset="-122"/>
              </a:rPr>
              <a:t>客户端准备。首先通过网络安全扫描器客户端连接到网络安全扫描器服务器端。</a:t>
            </a:r>
          </a:p>
          <a:p>
            <a:pPr algn="just" eaLnBrk="1" hangingPunct="1">
              <a:lnSpc>
                <a:spcPct val="80000"/>
              </a:lnSpc>
              <a:buNone/>
            </a:pPr>
            <a:r>
              <a:rPr lang="en-US" altLang="zh-CN" b="1" dirty="0">
                <a:latin typeface="黑体" panose="02010609060101010101" pitchFamily="49" charset="-122"/>
                <a:ea typeface="黑体" panose="02010609060101010101" pitchFamily="49" charset="-122"/>
              </a:rPr>
              <a:t>(2) </a:t>
            </a:r>
            <a:r>
              <a:rPr lang="zh-CN" altLang="en-US" b="1" dirty="0">
                <a:latin typeface="黑体" panose="02010609060101010101" pitchFamily="49" charset="-122"/>
                <a:ea typeface="黑体" panose="02010609060101010101" pitchFamily="49" charset="-122"/>
              </a:rPr>
              <a:t>进行用户认证。因为扫描器是通过模拟攻击来检测网络系统的脆弱性，只能由管理员或授权用户才能实施。同时这也给后面所提到的灵活的配置奠定了基础。</a:t>
            </a:r>
          </a:p>
          <a:p>
            <a:pPr algn="just" eaLnBrk="1" hangingPunct="1">
              <a:lnSpc>
                <a:spcPct val="80000"/>
              </a:lnSpc>
              <a:buNone/>
            </a:pPr>
            <a:r>
              <a:rPr lang="en-US" altLang="zh-CN" b="1" dirty="0">
                <a:latin typeface="黑体" panose="02010609060101010101" pitchFamily="49" charset="-122"/>
                <a:ea typeface="黑体" panose="02010609060101010101" pitchFamily="49" charset="-122"/>
              </a:rPr>
              <a:t>(3) </a:t>
            </a:r>
            <a:r>
              <a:rPr lang="zh-CN" altLang="en-US" b="1" dirty="0">
                <a:latin typeface="黑体" panose="02010609060101010101" pitchFamily="49" charset="-122"/>
                <a:ea typeface="黑体" panose="02010609060101010101" pitchFamily="49" charset="-122"/>
              </a:rPr>
              <a:t>客户端发起扫描。实际过程中可以选择相应的扫描方案进行扫描，并且可以是定时扫描。</a:t>
            </a:r>
            <a:r>
              <a:rPr lang="zh-CN" altLang="en-US" dirty="0">
                <a:latin typeface="黑体" panose="02010609060101010101" pitchFamily="49" charset="-122"/>
                <a:ea typeface="黑体" panose="02010609060101010101" pitchFamily="49" charset="-122"/>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76801"/>
          <p:cNvSpPr>
            <a:spLocks noGrp="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lang="zh-CN" altLang="en-US" sz="5000" b="1">
                <a:solidFill>
                  <a:schemeClr val="tx2"/>
                </a:solidFill>
                <a:effectLst>
                  <a:outerShdw blurRad="38100" dist="38100" dir="2700000" algn="tl">
                    <a:srgbClr val="000000"/>
                  </a:outerShdw>
                </a:effectLst>
                <a:ea typeface="黑体" panose="02010609060101010101" pitchFamily="49" charset="-122"/>
              </a:rPr>
              <a:t>扫描器工作原理与流程</a:t>
            </a:r>
            <a:r>
              <a:rPr lang="en-US" altLang="zh-CN" sz="5000" b="1">
                <a:solidFill>
                  <a:schemeClr val="tx2"/>
                </a:solidFill>
                <a:effectLst>
                  <a:outerShdw blurRad="38100" dist="38100" dir="2700000" algn="tl">
                    <a:srgbClr val="000000"/>
                  </a:outerShdw>
                </a:effectLst>
                <a:ea typeface="黑体" panose="02010609060101010101" pitchFamily="49" charset="-122"/>
              </a:rPr>
              <a:t>(</a:t>
            </a:r>
            <a:r>
              <a:rPr lang="zh-CN" altLang="en-US" sz="5000" b="1">
                <a:solidFill>
                  <a:schemeClr val="tx2"/>
                </a:solidFill>
                <a:effectLst>
                  <a:outerShdw blurRad="38100" dist="38100" dir="2700000" algn="tl">
                    <a:srgbClr val="000000"/>
                  </a:outerShdw>
                </a:effectLst>
                <a:ea typeface="黑体" panose="02010609060101010101" pitchFamily="49" charset="-122"/>
              </a:rPr>
              <a:t>续</a:t>
            </a:r>
            <a:r>
              <a:rPr lang="en-US" altLang="zh-CN" sz="5000" b="1">
                <a:solidFill>
                  <a:schemeClr val="tx2"/>
                </a:solidFill>
                <a:effectLst>
                  <a:outerShdw blurRad="38100" dist="38100" dir="2700000" algn="tl">
                    <a:srgbClr val="000000"/>
                  </a:outerShdw>
                </a:effectLst>
                <a:ea typeface="黑体" panose="02010609060101010101" pitchFamily="49" charset="-122"/>
              </a:rPr>
              <a:t>)</a:t>
            </a:r>
          </a:p>
        </p:txBody>
      </p:sp>
      <p:sp>
        <p:nvSpPr>
          <p:cNvPr id="67586" name="文本占位符 76802"/>
          <p:cNvSpPr>
            <a:spLocks noGrp="1"/>
          </p:cNvSpPr>
          <p:nvPr>
            <p:ph idx="1"/>
          </p:nvPr>
        </p:nvSpPr>
        <p:spPr/>
        <p:txBody>
          <a:bodyPr vert="horz" wrap="square" lIns="91440" tIns="45720" rIns="91440" bIns="45720" anchor="t"/>
          <a:lstStyle/>
          <a:p>
            <a:pPr eaLnBrk="1" hangingPunct="1">
              <a:buNone/>
            </a:pPr>
            <a:r>
              <a:rPr lang="en-US" altLang="zh-CN" b="1" dirty="0">
                <a:latin typeface="黑体" panose="02010609060101010101" pitchFamily="49" charset="-122"/>
                <a:ea typeface="黑体" panose="02010609060101010101" pitchFamily="49" charset="-122"/>
              </a:rPr>
              <a:t>(4) </a:t>
            </a:r>
            <a:r>
              <a:rPr lang="zh-CN" altLang="en-US" b="1" dirty="0">
                <a:latin typeface="黑体" panose="02010609060101010101" pitchFamily="49" charset="-122"/>
                <a:ea typeface="黑体" panose="02010609060101010101" pitchFamily="49" charset="-122"/>
              </a:rPr>
              <a:t>服务器端实施安全检测，并把检测结果及补救措施通过各种形式报表返回给客户端用户。</a:t>
            </a:r>
          </a:p>
          <a:p>
            <a:pPr eaLnBrk="1" hangingPunct="1">
              <a:buNone/>
            </a:pPr>
            <a:r>
              <a:rPr lang="en-US" altLang="zh-CN" b="1" dirty="0">
                <a:latin typeface="黑体" panose="02010609060101010101" pitchFamily="49" charset="-122"/>
                <a:ea typeface="黑体" panose="02010609060101010101" pitchFamily="49" charset="-122"/>
              </a:rPr>
              <a:t>(5) </a:t>
            </a:r>
            <a:r>
              <a:rPr lang="zh-CN" altLang="en-US" b="1" dirty="0">
                <a:latin typeface="黑体" panose="02010609060101010101" pitchFamily="49" charset="-122"/>
                <a:ea typeface="黑体" panose="02010609060101010101" pitchFamily="49" charset="-122"/>
              </a:rPr>
              <a:t>用户按照步骤封堵漏洞，如需要，可到服务器端或直接到相关站点获取对应补丁。</a:t>
            </a:r>
            <a:r>
              <a:rPr lang="zh-CN" altLang="en-US" dirty="0">
                <a:latin typeface="黑体" panose="02010609060101010101" pitchFamily="49" charset="-122"/>
                <a:ea typeface="黑体" panose="02010609060101010101" pitchFamily="49" charset="-122"/>
              </a:rPr>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3498" y="1414704"/>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noProof="1">
                <a:solidFill>
                  <a:srgbClr val="002060"/>
                </a:solidFill>
                <a:latin typeface="思源黑体 CN Heavy" panose="020B0A00000000000000" pitchFamily="34" charset="-122"/>
                <a:ea typeface="思源黑体 CN Heavy" panose="020B0A00000000000000" pitchFamily="34" charset="-122"/>
                <a:cs typeface="+mn-ea"/>
              </a:rPr>
              <a:t>4.4 </a:t>
            </a:r>
            <a:r>
              <a:rPr lang="zh-CN" altLang="en-US" sz="4000" noProof="1">
                <a:solidFill>
                  <a:srgbClr val="002060"/>
                </a:solidFill>
                <a:latin typeface="思源黑体 CN Heavy" panose="020B0A00000000000000" pitchFamily="34" charset="-122"/>
                <a:ea typeface="思源黑体 CN Heavy" panose="020B0A00000000000000" pitchFamily="34" charset="-122"/>
                <a:cs typeface="+mn-ea"/>
              </a:rPr>
              <a:t>侵入类攻击</a:t>
            </a:r>
            <a:endPar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7782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侵入类攻击</a:t>
            </a:r>
          </a:p>
        </p:txBody>
      </p:sp>
      <p:sp>
        <p:nvSpPr>
          <p:cNvPr id="68610" name="文本占位符 77826"/>
          <p:cNvSpPr>
            <a:spLocks noGrp="1"/>
          </p:cNvSpPr>
          <p:nvPr>
            <p:ph idx="1"/>
          </p:nvPr>
        </p:nvSpPr>
        <p:spPr/>
        <p:txBody>
          <a:bodyPr vert="horz" wrap="square" lIns="91440" tIns="45720" rIns="91440" bIns="45720" anchor="t"/>
          <a:lstStyle/>
          <a:p>
            <a:pPr algn="just" eaLnBrk="1" hangingPunct="1">
              <a:lnSpc>
                <a:spcPct val="90000"/>
              </a:lnSpc>
              <a:buNone/>
            </a:pPr>
            <a:r>
              <a:rPr lang="zh-CN" altLang="en-US" b="1" dirty="0">
                <a:latin typeface="黑体" panose="02010609060101010101" pitchFamily="49" charset="-122"/>
                <a:ea typeface="黑体" panose="02010609060101010101" pitchFamily="49" charset="-122"/>
              </a:rPr>
              <a:t>    侵入类攻击的目的是攻入到目标系统中，而达到这样的目的可以通过口令破解、网络窃听来获得目标系统的用户或管理员账号和口令，从而获得进入目标系统的访问权；也可以通过对检测到的目标系统的各种安全漏洞进行攻击，从而达到进入目标系统的目的；也可以通过各种电子欺骗手段骗取对方的信任，达到进入对方系统的目的。进入对方系统后，还可以设法进一步提升权限，如把普通用户权限提高为管理员权限，或扩充已有权限（如增加写与执行权限）等。</a:t>
            </a:r>
            <a:r>
              <a:rPr lang="zh-CN" altLang="en-US" dirty="0">
                <a:latin typeface="黑体" panose="02010609060101010101" pitchFamily="49" charset="-122"/>
                <a:ea typeface="黑体" panose="02010609060101010101" pitchFamily="49" charset="-122"/>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7884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侵入类攻击</a:t>
            </a:r>
          </a:p>
        </p:txBody>
      </p:sp>
      <p:sp>
        <p:nvSpPr>
          <p:cNvPr id="69634" name="文本占位符 78850"/>
          <p:cNvSpPr>
            <a:spLocks noGrp="1"/>
          </p:cNvSpPr>
          <p:nvPr>
            <p:ph idx="1"/>
          </p:nvPr>
        </p:nvSpPr>
        <p:spPr>
          <a:xfrm>
            <a:off x="4771901" y="2040576"/>
            <a:ext cx="2648198" cy="4114800"/>
          </a:xfrm>
        </p:spPr>
        <p:txBody>
          <a:bodyPr vert="horz" wrap="square" lIns="91440" tIns="45720" rIns="91440" bIns="45720" anchor="t"/>
          <a:lstStyle/>
          <a:p>
            <a:pPr marL="571500" indent="-571500" algn="just" eaLnBrk="1" hangingPunct="1">
              <a:buFont typeface="Wingdings" panose="05000000000000000000" pitchFamily="2" charset="2"/>
              <a:buChar char="ü"/>
            </a:pPr>
            <a:r>
              <a:rPr lang="zh-CN" altLang="en-US" sz="3600" b="1" dirty="0">
                <a:ea typeface="黑体" panose="02010609060101010101" pitchFamily="49" charset="-122"/>
              </a:rPr>
              <a:t>口令破解 </a:t>
            </a:r>
          </a:p>
          <a:p>
            <a:pPr marL="571500" indent="-571500" algn="just" eaLnBrk="1" hangingPunct="1">
              <a:buFont typeface="Wingdings" panose="05000000000000000000" pitchFamily="2" charset="2"/>
              <a:buChar char="ü"/>
            </a:pPr>
            <a:r>
              <a:rPr lang="zh-CN" altLang="en-US" sz="3600" b="1" dirty="0">
                <a:ea typeface="黑体" panose="02010609060101010101" pitchFamily="49" charset="-122"/>
              </a:rPr>
              <a:t>漏洞攻击 </a:t>
            </a:r>
          </a:p>
          <a:p>
            <a:pPr marL="571500" indent="-571500" algn="just" eaLnBrk="1" hangingPunct="1">
              <a:buFont typeface="Wingdings" panose="05000000000000000000" pitchFamily="2" charset="2"/>
              <a:buChar char="ü"/>
            </a:pPr>
            <a:r>
              <a:rPr lang="zh-CN" altLang="en-US" sz="3600" b="1" dirty="0">
                <a:ea typeface="黑体" panose="02010609060101010101" pitchFamily="49" charset="-122"/>
              </a:rPr>
              <a:t>电子欺骗 </a:t>
            </a:r>
          </a:p>
          <a:p>
            <a:pPr marL="571500" indent="-571500" algn="just" eaLnBrk="1" hangingPunct="1">
              <a:buFont typeface="Wingdings" panose="05000000000000000000" pitchFamily="2" charset="2"/>
              <a:buChar char="ü"/>
            </a:pPr>
            <a:r>
              <a:rPr lang="zh-CN" altLang="en-US" sz="3600" b="1" dirty="0">
                <a:ea typeface="黑体" panose="02010609060101010101" pitchFamily="49" charset="-122"/>
              </a:rPr>
              <a:t>权限提升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文本占位符 79874"/>
          <p:cNvSpPr>
            <a:spLocks noGrp="1"/>
          </p:cNvSpPr>
          <p:nvPr>
            <p:ph idx="1"/>
          </p:nvPr>
        </p:nvSpPr>
        <p:spPr>
          <a:xfrm>
            <a:off x="1223158" y="1981200"/>
            <a:ext cx="9820894" cy="4114800"/>
          </a:xfrm>
        </p:spPr>
        <p:txBody>
          <a:bodyPr vert="horz" wrap="square" lIns="91440" tIns="45720" rIns="91440" bIns="45720" anchor="t"/>
          <a:lstStyle/>
          <a:p>
            <a:pPr algn="just" eaLnBrk="1" hangingPunct="1"/>
            <a:r>
              <a:rPr lang="zh-CN" altLang="en-US" b="1" dirty="0">
                <a:latin typeface="黑体" panose="02010609060101010101" pitchFamily="49" charset="-122"/>
                <a:ea typeface="黑体" panose="02010609060101010101" pitchFamily="49" charset="-122"/>
              </a:rPr>
              <a:t>    口令是一种为了获得进入所访问系统或文件必须使用的密码。由口令对用户系统所提供的安全在很大程度依赖于口令本身的安全，因此，口令的保密是十分关键的。然而，大多数的系统用户对口令问题并不十分在意，他们设置系统口令时往往很随便，例如，以他们自己、配偶和子女的姓名或生日作为系统的口令，这种情况下，入侵者使用一些口令破解程序能够较容易地破解口令，获得进入目标系统的权利。</a:t>
            </a:r>
            <a:r>
              <a:rPr lang="zh-CN" altLang="en-US" dirty="0">
                <a:latin typeface="黑体" panose="02010609060101010101" pitchFamily="49" charset="-122"/>
                <a:ea typeface="黑体" panose="02010609060101010101" pitchFamily="49" charset="-122"/>
              </a:rPr>
              <a:t> </a:t>
            </a:r>
          </a:p>
        </p:txBody>
      </p:sp>
      <p:grpSp>
        <p:nvGrpSpPr>
          <p:cNvPr id="4" name="组合 3"/>
          <p:cNvGrpSpPr/>
          <p:nvPr/>
        </p:nvGrpSpPr>
        <p:grpSpPr>
          <a:xfrm>
            <a:off x="4327028" y="444876"/>
            <a:ext cx="3537943" cy="791052"/>
            <a:chOff x="824072" y="1564267"/>
            <a:chExt cx="3537943" cy="791052"/>
          </a:xfrm>
        </p:grpSpPr>
        <p:sp>
          <p:nvSpPr>
            <p:cNvPr id="5" name="矩形: 圆角 16"/>
            <p:cNvSpPr/>
            <p:nvPr/>
          </p:nvSpPr>
          <p:spPr>
            <a:xfrm>
              <a:off x="824072" y="1740416"/>
              <a:ext cx="353794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484976" cy="480131"/>
            </a:xfrm>
            <a:prstGeom prst="rect">
              <a:avLst/>
            </a:prstGeom>
          </p:spPr>
          <p:txBody>
            <a:bodyPr wrap="none">
              <a:spAutoFit/>
            </a:bodyPr>
            <a:lstStyle/>
            <a:p>
              <a:pPr>
                <a:lnSpc>
                  <a:spcPct val="90000"/>
                </a:lnSpc>
              </a:pPr>
              <a:r>
                <a:rPr lang="en-US" altLang="zh-CN" sz="2800" noProof="1">
                  <a:solidFill>
                    <a:schemeClr val="bg1"/>
                  </a:solidFill>
                  <a:latin typeface="+mj-ea"/>
                </a:rPr>
                <a:t>4.4.1 </a:t>
              </a:r>
              <a:r>
                <a:rPr lang="zh-CN" altLang="en-US" sz="2800" noProof="1">
                  <a:solidFill>
                    <a:schemeClr val="bg1"/>
                  </a:solidFill>
                  <a:latin typeface="+mj-ea"/>
                </a:rPr>
                <a:t>口令破解</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文本占位符 80898"/>
          <p:cNvSpPr>
            <a:spLocks noGrp="1"/>
          </p:cNvSpPr>
          <p:nvPr>
            <p:ph idx="1"/>
          </p:nvPr>
        </p:nvSpPr>
        <p:spPr>
          <a:xfrm>
            <a:off x="1419126" y="1911272"/>
            <a:ext cx="9001496" cy="4114800"/>
          </a:xfrm>
        </p:spPr>
        <p:txBody>
          <a:bodyPr vert="horz" wrap="square" lIns="91440" tIns="45720" rIns="91440" bIns="45720" anchor="t"/>
          <a:lstStyle/>
          <a:p>
            <a:pPr algn="just" eaLnBrk="1" hangingPunct="1"/>
            <a:r>
              <a:rPr lang="zh-CN" altLang="en-US" b="1" dirty="0">
                <a:ea typeface="黑体" panose="02010609060101010101" pitchFamily="49" charset="-122"/>
              </a:rPr>
              <a:t>        任何可以完成口令破解或者屏蔽口令保护的程序都称为口令入侵者。</a:t>
            </a:r>
          </a:p>
          <a:p>
            <a:pPr algn="just" eaLnBrk="1" hangingPunct="1"/>
            <a:r>
              <a:rPr lang="zh-CN" altLang="en-US" b="1" dirty="0">
                <a:ea typeface="黑体" panose="02010609060101010101" pitchFamily="49" charset="-122"/>
              </a:rPr>
              <a:t>        网络攻击者往往把用户的口令破解作为对目标系统攻击的开始 。</a:t>
            </a:r>
          </a:p>
          <a:p>
            <a:pPr algn="just" eaLnBrk="1" hangingPunct="1"/>
            <a:r>
              <a:rPr lang="zh-CN" altLang="en-US" b="1" dirty="0">
                <a:ea typeface="黑体" panose="02010609060101010101" pitchFamily="49" charset="-122"/>
              </a:rPr>
              <a:t>       蛮力口令猜测 </a:t>
            </a:r>
          </a:p>
          <a:p>
            <a:pPr algn="just" eaLnBrk="1" hangingPunct="1"/>
            <a:r>
              <a:rPr lang="zh-CN" altLang="en-US" b="1" dirty="0">
                <a:ea typeface="黑体" panose="02010609060101010101" pitchFamily="49" charset="-122"/>
              </a:rPr>
              <a:t>       字典攻击  </a:t>
            </a:r>
          </a:p>
        </p:txBody>
      </p:sp>
      <p:grpSp>
        <p:nvGrpSpPr>
          <p:cNvPr id="4" name="组合 3"/>
          <p:cNvGrpSpPr/>
          <p:nvPr/>
        </p:nvGrpSpPr>
        <p:grpSpPr>
          <a:xfrm>
            <a:off x="1259350" y="637786"/>
            <a:ext cx="2588255" cy="840284"/>
            <a:chOff x="3135993" y="1051060"/>
            <a:chExt cx="2588255" cy="840284"/>
          </a:xfrm>
        </p:grpSpPr>
        <p:sp>
          <p:nvSpPr>
            <p:cNvPr id="5" name="矩形: 圆角 6"/>
            <p:cNvSpPr/>
            <p:nvPr/>
          </p:nvSpPr>
          <p:spPr>
            <a:xfrm>
              <a:off x="3839426" y="1280937"/>
              <a:ext cx="1884822"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 name="矩形 5"/>
            <p:cNvSpPr/>
            <p:nvPr/>
          </p:nvSpPr>
          <p:spPr>
            <a:xfrm>
              <a:off x="3972879" y="1333399"/>
              <a:ext cx="1620957" cy="523220"/>
            </a:xfrm>
            <a:prstGeom prst="rect">
              <a:avLst/>
            </a:prstGeom>
          </p:spPr>
          <p:txBody>
            <a:bodyPr wrap="none">
              <a:spAutoFit/>
            </a:bodyPr>
            <a:lstStyle/>
            <a:p>
              <a:pPr fontAlgn="base">
                <a:spcAft>
                  <a:spcPct val="0"/>
                </a:spcAft>
                <a:defRPr/>
              </a:pPr>
              <a:r>
                <a:rPr lang="zh-CN" altLang="en-US" sz="2800" noProof="1">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基本概念</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7" name="矩形 6"/>
            <p:cNvSpPr/>
            <p:nvPr/>
          </p:nvSpPr>
          <p:spPr>
            <a:xfrm>
              <a:off x="3295769" y="1051060"/>
              <a:ext cx="492443" cy="830997"/>
            </a:xfrm>
            <a:prstGeom prst="rect">
              <a:avLst/>
            </a:prstGeom>
          </p:spPr>
          <p:txBody>
            <a:bodyPr wrap="none">
              <a:spAutoFit/>
            </a:bodyPr>
            <a:lstStyle/>
            <a:p>
              <a:r>
                <a:rPr lang="en-US" altLang="zh-CN" sz="4800" b="1" i="1" dirty="0">
                  <a:solidFill>
                    <a:schemeClr val="accent5">
                      <a:lumMod val="50000"/>
                    </a:schemeClr>
                  </a:solidFill>
                  <a:latin typeface="+mj-lt"/>
                </a:rPr>
                <a:t>1</a:t>
              </a:r>
              <a:endParaRPr lang="zh-CN" altLang="en-US" sz="4800" b="1" i="1" dirty="0">
                <a:solidFill>
                  <a:schemeClr val="accent5">
                    <a:lumMod val="50000"/>
                  </a:schemeClr>
                </a:solidFill>
                <a:latin typeface="+mj-lt"/>
              </a:endParaRPr>
            </a:p>
          </p:txBody>
        </p:sp>
        <p:cxnSp>
          <p:nvCxnSpPr>
            <p:cNvPr id="8" name="直接连接符 7"/>
            <p:cNvCxnSpPr/>
            <p:nvPr/>
          </p:nvCxnSpPr>
          <p:spPr>
            <a:xfrm>
              <a:off x="3135993" y="1748864"/>
              <a:ext cx="703433" cy="0"/>
            </a:xfrm>
            <a:prstGeom prst="line">
              <a:avLst/>
            </a:prstGeom>
            <a:ln w="19050">
              <a:solidFill>
                <a:schemeClr val="accent5">
                  <a:lumMod val="50000"/>
                </a:schemeClr>
              </a:solidFill>
              <a:prstDash val="sysDot"/>
              <a:headEnd type="oval" w="lg" len="lg"/>
              <a:tailEnd type="oval"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3600" b="1" noProof="1">
                <a:solidFill>
                  <a:schemeClr val="tx2"/>
                </a:solidFill>
                <a:effectLst>
                  <a:outerShdw blurRad="38100" dist="38100" dir="2700000">
                    <a:srgbClr val="000000"/>
                  </a:outerShdw>
                </a:effectLst>
                <a:ea typeface="黑体" panose="02010609060101010101" pitchFamily="49" charset="-122"/>
              </a:rPr>
              <a:t>口令长度如何影响蛮力猜测的时间</a:t>
            </a:r>
            <a:endParaRPr lang="zh-CN" altLang="en-US" sz="4200" b="1" noProof="1">
              <a:solidFill>
                <a:schemeClr val="tx2"/>
              </a:solidFill>
              <a:effectLst>
                <a:outerShdw blurRad="38100" dist="38100" dir="2700000">
                  <a:srgbClr val="000000"/>
                </a:outerShdw>
              </a:effectLst>
              <a:ea typeface="黑体" panose="02010609060101010101" pitchFamily="49" charset="-122"/>
            </a:endParaRPr>
          </a:p>
        </p:txBody>
      </p:sp>
      <p:graphicFrame>
        <p:nvGraphicFramePr>
          <p:cNvPr id="73731" name="内容占位符 73730"/>
          <p:cNvGraphicFramePr>
            <a:graphicFrameLocks noGrp="1"/>
          </p:cNvGraphicFramePr>
          <p:nvPr>
            <p:ph idx="4294967295"/>
          </p:nvPr>
        </p:nvGraphicFramePr>
        <p:xfrm>
          <a:off x="2209800" y="1981200"/>
          <a:ext cx="7772400" cy="4114800"/>
        </p:xfrm>
        <a:graphic>
          <a:graphicData uri="http://schemas.openxmlformats.org/drawingml/2006/table">
            <a:tbl>
              <a:tblPr/>
              <a:tblGrid>
                <a:gridCol w="2454275">
                  <a:extLst>
                    <a:ext uri="{9D8B030D-6E8A-4147-A177-3AD203B41FA5}">
                      <a16:colId xmlns:a16="http://schemas.microsoft.com/office/drawing/2014/main" val="20000"/>
                    </a:ext>
                  </a:extLst>
                </a:gridCol>
                <a:gridCol w="2863850">
                  <a:extLst>
                    <a:ext uri="{9D8B030D-6E8A-4147-A177-3AD203B41FA5}">
                      <a16:colId xmlns:a16="http://schemas.microsoft.com/office/drawing/2014/main" val="20001"/>
                    </a:ext>
                  </a:extLst>
                </a:gridCol>
                <a:gridCol w="2454275">
                  <a:extLst>
                    <a:ext uri="{9D8B030D-6E8A-4147-A177-3AD203B41FA5}">
                      <a16:colId xmlns:a16="http://schemas.microsoft.com/office/drawing/2014/main" val="20002"/>
                    </a:ext>
                  </a:extLst>
                </a:gridCol>
              </a:tblGrid>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zh-CN" altLang="en-US" sz="1800" b="1" dirty="0">
                          <a:latin typeface="Times New Roman" panose="02020603050405020304" pitchFamily="18" charset="0"/>
                        </a:rPr>
                        <a:t>口令长度（字符数）</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zh-CN" altLang="en-US" sz="1800" b="1" dirty="0">
                          <a:latin typeface="Times New Roman" panose="02020603050405020304" pitchFamily="18" charset="0"/>
                        </a:rPr>
                        <a:t>要猜测的口令数</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全部猜测出所需时间</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1</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36   </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36</a:t>
                      </a:r>
                      <a:r>
                        <a:rPr lang="zh-CN" altLang="en-US" sz="1800" b="1" dirty="0">
                          <a:latin typeface="Times New Roman" panose="02020603050405020304" pitchFamily="18" charset="0"/>
                        </a:rPr>
                        <a:t>秒</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2</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1</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296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21</a:t>
                      </a:r>
                      <a:r>
                        <a:rPr lang="zh-CN" altLang="en-US" sz="1800" b="1" dirty="0">
                          <a:latin typeface="Times New Roman" panose="02020603050405020304" pitchFamily="18" charset="0"/>
                        </a:rPr>
                        <a:t>分</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3</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46</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656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12.96</a:t>
                      </a:r>
                      <a:r>
                        <a:rPr lang="zh-CN" altLang="en-US" sz="1800" b="1" dirty="0">
                          <a:latin typeface="Times New Roman" panose="02020603050405020304" pitchFamily="18" charset="0"/>
                        </a:rPr>
                        <a:t>小时</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4</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1</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679</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616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19.44</a:t>
                      </a:r>
                      <a:r>
                        <a:rPr lang="zh-CN" altLang="en-US" sz="1800" b="1" dirty="0">
                          <a:latin typeface="Times New Roman" panose="02020603050405020304" pitchFamily="18" charset="0"/>
                        </a:rPr>
                        <a:t>天</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5</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60</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466</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176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1.9</a:t>
                      </a:r>
                      <a:r>
                        <a:rPr lang="zh-CN" altLang="en-US" sz="1800" b="1" dirty="0">
                          <a:latin typeface="Times New Roman" panose="02020603050405020304" pitchFamily="18" charset="0"/>
                        </a:rPr>
                        <a:t>年</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2</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176</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782</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336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69</a:t>
                      </a:r>
                      <a:r>
                        <a:rPr lang="zh-CN" altLang="en-US" sz="1800" b="1" dirty="0">
                          <a:latin typeface="Times New Roman" panose="02020603050405020304" pitchFamily="18" charset="0"/>
                        </a:rPr>
                        <a:t>年</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7</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78</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364</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164</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096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2</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484</a:t>
                      </a:r>
                      <a:r>
                        <a:rPr lang="zh-CN" altLang="en-US" sz="1800" b="1" dirty="0">
                          <a:latin typeface="Times New Roman" panose="02020603050405020304" pitchFamily="18" charset="0"/>
                        </a:rPr>
                        <a:t>年</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algn="ctr" eaLnBrk="1" hangingPunct="1">
                        <a:buSzPct val="80000"/>
                        <a:buFont typeface="Wingdings" panose="05000000000000000000" pitchFamily="2" charset="2"/>
                        <a:buNone/>
                      </a:pPr>
                      <a:r>
                        <a:rPr lang="en-US" altLang="zh-CN" sz="1800" b="1" dirty="0">
                          <a:latin typeface="Times New Roman" panose="02020603050405020304" pitchFamily="18" charset="0"/>
                        </a:rPr>
                        <a:t>8</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en-US" altLang="zh-CN" sz="1800" b="1" dirty="0">
                          <a:latin typeface="Times New Roman" panose="02020603050405020304" pitchFamily="18" charset="0"/>
                        </a:rPr>
                        <a:t>2</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821</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109</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907</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456</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marL="342900" lvl="0" indent="-342900" eaLnBrk="1" hangingPunct="1">
                        <a:buSzPct val="80000"/>
                        <a:buFont typeface="Wingdings" panose="05000000000000000000" pitchFamily="2" charset="2"/>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89</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456</a:t>
                      </a:r>
                      <a:r>
                        <a:rPr lang="zh-CN" altLang="en-US" sz="1800" b="1" dirty="0">
                          <a:latin typeface="Times New Roman" panose="02020603050405020304" pitchFamily="18" charset="0"/>
                        </a:rPr>
                        <a:t>年</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8294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口令破解过程（离线）</a:t>
            </a:r>
          </a:p>
        </p:txBody>
      </p:sp>
      <p:sp>
        <p:nvSpPr>
          <p:cNvPr id="73730" name="文本占位符 82946"/>
          <p:cNvSpPr>
            <a:spLocks noGrp="1"/>
          </p:cNvSpPr>
          <p:nvPr>
            <p:ph idx="1"/>
          </p:nvPr>
        </p:nvSpPr>
        <p:spPr/>
        <p:txBody>
          <a:bodyPr vert="horz" wrap="square" lIns="91440" tIns="45720" rIns="91440" bIns="45720" anchor="t"/>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）通过各种方式（如网络嗅探器）获取密文口令。</a:t>
            </a: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）构造本地密码字典。</a:t>
            </a: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）从本地密码字典种选出一个密码，用相同的加密算法对该密码加密。</a:t>
            </a: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）如果相匹配成功，则攻击成功，否则转第</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步。</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8396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口令破解过程（在线）</a:t>
            </a:r>
          </a:p>
        </p:txBody>
      </p:sp>
      <p:sp>
        <p:nvSpPr>
          <p:cNvPr id="74754" name="文本占位符 83970"/>
          <p:cNvSpPr>
            <a:spLocks noGrp="1"/>
          </p:cNvSpPr>
          <p:nvPr>
            <p:ph idx="1"/>
          </p:nvPr>
        </p:nvSpPr>
        <p:spPr>
          <a:xfrm>
            <a:off x="1992314" y="1981200"/>
            <a:ext cx="7989887" cy="4114800"/>
          </a:xfrm>
        </p:spPr>
        <p:txBody>
          <a:bodyPr vert="horz" wrap="square" lIns="91440" tIns="45720" rIns="91440" bIns="45720" anchor="t"/>
          <a:lstStyle/>
          <a:p>
            <a:pPr eaLnBrk="1" hangingPunct="1">
              <a:lnSpc>
                <a:spcPct val="90000"/>
              </a:lnSpc>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）建立与目标系统的网络连接。</a:t>
            </a:r>
          </a:p>
          <a:p>
            <a:pPr eaLnBrk="1" hangingPunct="1">
              <a:lnSpc>
                <a:spcPct val="90000"/>
              </a:lnSpc>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）选择一个用户列表文件与密码字典。</a:t>
            </a:r>
          </a:p>
          <a:p>
            <a:pPr eaLnBrk="1" hangingPunct="1">
              <a:lnSpc>
                <a:spcPct val="90000"/>
              </a:lnSpc>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）在用户列表文件和密码字典中选取一组用户和密码，按照相应的网络通信协议发送给目标系统。</a:t>
            </a:r>
          </a:p>
          <a:p>
            <a:pPr eaLnBrk="1" hangingPunct="1">
              <a:lnSpc>
                <a:spcPct val="90000"/>
              </a:lnSpc>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）检测远端系统返回信息，确定口令尝试是否成功。</a:t>
            </a:r>
          </a:p>
          <a:p>
            <a:pPr eaLnBrk="1" hangingPunct="1">
              <a:lnSpc>
                <a:spcPct val="90000"/>
              </a:lnSpc>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）如果成功，则攻击成功，否则转</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8499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口令破解实例</a:t>
            </a:r>
          </a:p>
        </p:txBody>
      </p:sp>
      <p:sp>
        <p:nvSpPr>
          <p:cNvPr id="75778" name="文本占位符 84994"/>
          <p:cNvSpPr>
            <a:spLocks noGrp="1"/>
          </p:cNvSpPr>
          <p:nvPr>
            <p:ph idx="1"/>
          </p:nvPr>
        </p:nvSpPr>
        <p:spPr>
          <a:xfrm>
            <a:off x="2209800" y="1981201"/>
            <a:ext cx="7772400" cy="4543425"/>
          </a:xfrm>
        </p:spPr>
        <p:txBody>
          <a:bodyPr vert="horz" wrap="square" lIns="91440" tIns="45720" rIns="91440" bIns="45720" anchor="t"/>
          <a:lstStyle/>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）根据用户输入参数判断用户名字典和口令字典的合法性；</a:t>
            </a: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）从用户名字典中选择一个用户名；</a:t>
            </a: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）从口令字典中逐一尝试不同的口令与</a:t>
            </a:r>
            <a:r>
              <a:rPr lang="en-US" altLang="zh-CN" b="1" dirty="0">
                <a:latin typeface="黑体" panose="02010609060101010101" pitchFamily="49" charset="-122"/>
                <a:ea typeface="黑体" panose="02010609060101010101" pitchFamily="49" charset="-122"/>
              </a:rPr>
              <a:t>POP3</a:t>
            </a:r>
            <a:r>
              <a:rPr lang="zh-CN" altLang="en-US" b="1" dirty="0">
                <a:latin typeface="黑体" panose="02010609060101010101" pitchFamily="49" charset="-122"/>
                <a:ea typeface="黑体" panose="02010609060101010101" pitchFamily="49" charset="-122"/>
              </a:rPr>
              <a:t>服务器建立连接。</a:t>
            </a:r>
            <a:endParaRPr lang="en-US" altLang="zh-CN" b="1" dirty="0">
              <a:latin typeface="黑体" panose="02010609060101010101" pitchFamily="49" charset="-122"/>
              <a:ea typeface="黑体" panose="02010609060101010101" pitchFamily="49" charset="-122"/>
            </a:endParaRP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）如果失败那么：从用户名字典中选择另一个用户名。</a:t>
            </a:r>
            <a:endParaRPr lang="en-US" altLang="zh-CN" b="1" dirty="0">
              <a:latin typeface="黑体" panose="02010609060101010101" pitchFamily="49" charset="-122"/>
              <a:ea typeface="黑体" panose="02010609060101010101" pitchFamily="49" charset="-122"/>
            </a:endParaRPr>
          </a:p>
          <a:p>
            <a:pPr eaLnBrk="1" hangingPunct="1">
              <a:buNone/>
            </a:pP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）一直到建链成功或者用户名字典中所有的用户名都遍历过。</a:t>
            </a:r>
            <a:r>
              <a:rPr lang="zh-CN" altLang="en-US" dirty="0">
                <a:latin typeface="黑体" panose="02010609060101010101" pitchFamily="49" charset="-122"/>
                <a:ea typeface="黑体" panose="02010609060101010101" pitchFamily="49" charset="-122"/>
              </a:rPr>
              <a: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3EDE-7500-259E-BDFE-9D3146A4B7CD}"/>
              </a:ext>
            </a:extLst>
          </p:cNvPr>
          <p:cNvSpPr>
            <a:spLocks noGrp="1"/>
          </p:cNvSpPr>
          <p:nvPr>
            <p:ph type="title"/>
          </p:nvPr>
        </p:nvSpPr>
        <p:spPr/>
        <p:txBody>
          <a:bodyPr/>
          <a:lstStyle/>
          <a:p>
            <a:r>
              <a:rPr lang="en-US" altLang="zh-CN" dirty="0">
                <a:solidFill>
                  <a:srgbClr val="000000"/>
                </a:solidFill>
                <a:latin typeface="ui-sans-serif"/>
              </a:rPr>
              <a:t>L0phtCrack 7 </a:t>
            </a:r>
            <a:r>
              <a:rPr lang="zh-CN" altLang="en-US" dirty="0">
                <a:solidFill>
                  <a:srgbClr val="000000"/>
                </a:solidFill>
                <a:latin typeface="ui-sans-serif"/>
              </a:rPr>
              <a:t>下载</a:t>
            </a:r>
            <a:endParaRPr lang="zh-CN" altLang="en-US" dirty="0"/>
          </a:p>
        </p:txBody>
      </p:sp>
      <p:sp>
        <p:nvSpPr>
          <p:cNvPr id="3" name="内容占位符 2">
            <a:extLst>
              <a:ext uri="{FF2B5EF4-FFF2-40B4-BE49-F238E27FC236}">
                <a16:creationId xmlns:a16="http://schemas.microsoft.com/office/drawing/2014/main" id="{842DD3B7-7E6E-1026-6F24-822E986FE648}"/>
              </a:ext>
            </a:extLst>
          </p:cNvPr>
          <p:cNvSpPr>
            <a:spLocks noGrp="1"/>
          </p:cNvSpPr>
          <p:nvPr>
            <p:ph idx="1"/>
          </p:nvPr>
        </p:nvSpPr>
        <p:spPr/>
        <p:txBody>
          <a:bodyPr/>
          <a:lstStyle/>
          <a:p>
            <a:pPr algn="l">
              <a:lnSpc>
                <a:spcPts val="1800"/>
              </a:lnSpc>
              <a:buNone/>
            </a:pPr>
            <a:r>
              <a:rPr lang="en-US" altLang="zh-CN" sz="2000" b="0" dirty="0">
                <a:solidFill>
                  <a:srgbClr val="000000"/>
                </a:solidFill>
                <a:effectLst/>
                <a:latin typeface="ui-sans-serif"/>
              </a:rPr>
              <a:t>L0phtCrack 7 </a:t>
            </a:r>
            <a:r>
              <a:rPr lang="zh-CN" altLang="en-US" sz="2000" b="0" dirty="0">
                <a:solidFill>
                  <a:srgbClr val="000000"/>
                </a:solidFill>
                <a:effectLst/>
                <a:latin typeface="ui-sans-serif"/>
              </a:rPr>
              <a:t>已于 </a:t>
            </a:r>
            <a:r>
              <a:rPr lang="en-US" altLang="zh-CN" sz="2000" b="0" dirty="0">
                <a:solidFill>
                  <a:srgbClr val="000000"/>
                </a:solidFill>
                <a:effectLst/>
                <a:latin typeface="ui-sans-serif"/>
              </a:rPr>
              <a:t>2021 </a:t>
            </a:r>
            <a:r>
              <a:rPr lang="zh-CN" altLang="en-US" sz="2000" b="0" dirty="0">
                <a:solidFill>
                  <a:srgbClr val="000000"/>
                </a:solidFill>
                <a:effectLst/>
                <a:latin typeface="ui-sans-serif"/>
              </a:rPr>
              <a:t>年开源（当前最新 </a:t>
            </a:r>
            <a:r>
              <a:rPr lang="en-US" altLang="zh-CN" sz="2000" b="0" dirty="0">
                <a:solidFill>
                  <a:srgbClr val="000000"/>
                </a:solidFill>
                <a:effectLst/>
                <a:latin typeface="ui-sans-serif"/>
              </a:rPr>
              <a:t>7.2.0</a:t>
            </a:r>
            <a:r>
              <a:rPr lang="zh-CN" altLang="en-US" sz="2000" b="0" dirty="0">
                <a:solidFill>
                  <a:srgbClr val="000000"/>
                </a:solidFill>
                <a:effectLst/>
                <a:latin typeface="ui-sans-serif"/>
              </a:rPr>
              <a:t>，</a:t>
            </a:r>
            <a:r>
              <a:rPr lang="en-US" altLang="zh-CN" sz="2000" b="0" dirty="0">
                <a:solidFill>
                  <a:srgbClr val="000000"/>
                </a:solidFill>
                <a:effectLst/>
                <a:latin typeface="ui-sans-serif"/>
              </a:rPr>
              <a:t>Win64</a:t>
            </a:r>
            <a:r>
              <a:rPr lang="zh-CN" altLang="en-US" sz="2000" b="0" dirty="0">
                <a:solidFill>
                  <a:srgbClr val="000000"/>
                </a:solidFill>
                <a:effectLst/>
                <a:latin typeface="ui-sans-serif"/>
              </a:rPr>
              <a:t>）</a:t>
            </a:r>
            <a:r>
              <a:rPr lang="en-US" altLang="zh-CN" sz="2000" b="0" dirty="0">
                <a:solidFill>
                  <a:srgbClr val="000000"/>
                </a:solidFill>
                <a:effectLst/>
                <a:latin typeface="ui-sans-serif"/>
              </a:rPr>
              <a:t>l0phtcrack.com</a:t>
            </a:r>
            <a:r>
              <a:rPr lang="zh-CN" altLang="en-US" sz="2000" b="0" dirty="0">
                <a:solidFill>
                  <a:srgbClr val="000000"/>
                </a:solidFill>
                <a:effectLst/>
                <a:latin typeface="ui-sans-serif"/>
              </a:rPr>
              <a:t>：</a:t>
            </a:r>
          </a:p>
          <a:p>
            <a:pPr algn="l">
              <a:lnSpc>
                <a:spcPts val="1800"/>
              </a:lnSpc>
              <a:buFont typeface="Arial" panose="020B0604020202020204" pitchFamily="34" charset="0"/>
              <a:buChar char="•"/>
            </a:pPr>
            <a:r>
              <a:rPr lang="zh-CN" altLang="en-US" sz="2000" b="0" dirty="0">
                <a:solidFill>
                  <a:srgbClr val="000000"/>
                </a:solidFill>
                <a:effectLst/>
                <a:latin typeface="ui-sans-serif"/>
              </a:rPr>
              <a:t>直接下载安装包：</a:t>
            </a:r>
            <a:r>
              <a:rPr lang="en-US" altLang="zh-CN" sz="2000" b="0" dirty="0">
                <a:solidFill>
                  <a:srgbClr val="0066FF"/>
                </a:solidFill>
                <a:effectLst/>
                <a:latin typeface="ui-sans-serif"/>
                <a:hlinkClick r:id="rId2"/>
              </a:rPr>
              <a:t>https://l0phtcrack.gitlab.io/releases/7.2.0/lc7setup_v7.2.0_Win64.exe</a:t>
            </a:r>
            <a:r>
              <a:rPr lang="en-US" altLang="zh-CN" sz="2000" b="0" dirty="0">
                <a:solidFill>
                  <a:srgbClr val="000000"/>
                </a:solidFill>
                <a:effectLst/>
                <a:latin typeface="ui-sans-serif"/>
              </a:rPr>
              <a:t>l0phtcrack.com</a:t>
            </a:r>
          </a:p>
          <a:p>
            <a:pPr algn="l">
              <a:lnSpc>
                <a:spcPts val="1800"/>
              </a:lnSpc>
              <a:buFont typeface="Arial" panose="020B0604020202020204" pitchFamily="34" charset="0"/>
              <a:buChar char="•"/>
            </a:pPr>
            <a:r>
              <a:rPr lang="zh-CN" altLang="en-US" sz="2000" b="0" dirty="0">
                <a:solidFill>
                  <a:srgbClr val="000000"/>
                </a:solidFill>
                <a:effectLst/>
                <a:latin typeface="ui-sans-serif"/>
              </a:rPr>
              <a:t>官方发布页（含版本更新）：</a:t>
            </a:r>
            <a:r>
              <a:rPr lang="en-US" altLang="zh-CN" sz="2000" b="0" dirty="0">
                <a:solidFill>
                  <a:srgbClr val="0066FF"/>
                </a:solidFill>
                <a:effectLst/>
                <a:latin typeface="ui-sans-serif"/>
                <a:hlinkClick r:id="rId3"/>
              </a:rPr>
              <a:t>https://gitlab.com/l0phtcrack/l0phtcrack/-/releases</a:t>
            </a:r>
            <a:r>
              <a:rPr lang="en-US" altLang="zh-CN" sz="2000" b="0" dirty="0">
                <a:solidFill>
                  <a:srgbClr val="000000"/>
                </a:solidFill>
                <a:effectLst/>
                <a:latin typeface="ui-sans-serif"/>
              </a:rPr>
              <a:t>l0phtcrack.com</a:t>
            </a:r>
          </a:p>
          <a:p>
            <a:pPr algn="l">
              <a:lnSpc>
                <a:spcPts val="1800"/>
              </a:lnSpc>
              <a:buFont typeface="Arial" panose="020B0604020202020204" pitchFamily="34" charset="0"/>
              <a:buChar char="•"/>
            </a:pPr>
            <a:r>
              <a:rPr lang="zh-CN" altLang="en-US" sz="2000" b="0" dirty="0">
                <a:solidFill>
                  <a:srgbClr val="000000"/>
                </a:solidFill>
                <a:effectLst/>
                <a:latin typeface="ui-sans-serif"/>
              </a:rPr>
              <a:t>官网：</a:t>
            </a:r>
            <a:r>
              <a:rPr lang="en-US" altLang="zh-CN" sz="2000" b="0" dirty="0">
                <a:solidFill>
                  <a:srgbClr val="0066FF"/>
                </a:solidFill>
                <a:effectLst/>
                <a:latin typeface="ui-sans-serif"/>
                <a:hlinkClick r:id="rId4"/>
              </a:rPr>
              <a:t>https://www.l0phtcrack.com/</a:t>
            </a:r>
            <a:r>
              <a:rPr lang="en-US" altLang="zh-CN" sz="2000" b="0" dirty="0">
                <a:solidFill>
                  <a:srgbClr val="000000"/>
                </a:solidFill>
                <a:effectLst/>
                <a:latin typeface="ui-sans-serif"/>
              </a:rPr>
              <a:t>l0phtcrack.com</a:t>
            </a:r>
          </a:p>
          <a:p>
            <a:endParaRPr lang="zh-CN" altLang="en-US" dirty="0"/>
          </a:p>
        </p:txBody>
      </p:sp>
    </p:spTree>
    <p:extLst>
      <p:ext uri="{BB962C8B-B14F-4D97-AF65-F5344CB8AC3E}">
        <p14:creationId xmlns:p14="http://schemas.microsoft.com/office/powerpoint/2010/main" val="16937217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3" name="Picture 2"/>
          <p:cNvPicPr>
            <a:picLocks noChangeAspect="1"/>
          </p:cNvPicPr>
          <p:nvPr/>
        </p:nvPicPr>
        <p:blipFill>
          <a:blip r:embed="rId2"/>
          <a:stretch>
            <a:fillRect/>
          </a:stretch>
        </p:blipFill>
        <p:spPr>
          <a:xfrm>
            <a:off x="1524000" y="882650"/>
            <a:ext cx="9144000" cy="5715000"/>
          </a:xfrm>
          <a:prstGeom prst="rect">
            <a:avLst/>
          </a:prstGeom>
          <a:noFill/>
          <a:ln w="9525">
            <a:noFill/>
          </a:ln>
        </p:spPr>
      </p:pic>
      <p:sp>
        <p:nvSpPr>
          <p:cNvPr id="5" name="标题 151553"/>
          <p:cNvSpPr txBox="1"/>
          <p:nvPr/>
        </p:nvSpPr>
        <p:spPr>
          <a:xfrm>
            <a:off x="2209800" y="53975"/>
            <a:ext cx="7772400" cy="1143000"/>
          </a:xfrm>
          <a:prstGeom prst="rect">
            <a:avLst/>
          </a:prstGeom>
          <a:noFill/>
          <a:ln w="9525">
            <a:noFill/>
          </a:ln>
        </p:spPr>
        <p:txBody>
          <a:bodyPr lIns="92075" tIns="46038" rIns="92075" bIns="46038" anchor="ctr"/>
          <a:lstStyle/>
          <a:p>
            <a:pPr algn="ctr">
              <a:defRPr/>
            </a:pPr>
            <a:r>
              <a:rPr lang="en-US" altLang="zh-CN" sz="4400" noProof="1">
                <a:solidFill>
                  <a:schemeClr val="tx2"/>
                </a:solidFill>
                <a:effectLst>
                  <a:outerShdw blurRad="38100" dist="38100" dir="2700000">
                    <a:srgbClr val="000000"/>
                  </a:outerShdw>
                </a:effectLst>
                <a:latin typeface="+mj-lt"/>
                <a:ea typeface="+mj-ea"/>
                <a:cs typeface="+mj-cs"/>
              </a:rPr>
              <a:t>LC7</a:t>
            </a:r>
            <a:r>
              <a:rPr lang="zh-CN" altLang="en-US" sz="4400" noProof="1">
                <a:solidFill>
                  <a:schemeClr val="tx2"/>
                </a:solidFill>
                <a:effectLst>
                  <a:outerShdw blurRad="38100" dist="38100" dir="2700000">
                    <a:srgbClr val="000000"/>
                  </a:outerShdw>
                </a:effectLst>
                <a:latin typeface="+mj-lt"/>
                <a:ea typeface="+mj-ea"/>
                <a:cs typeface="+mj-cs"/>
              </a:rPr>
              <a:t>（</a:t>
            </a:r>
            <a:r>
              <a:rPr lang="en-US" altLang="zh-CN" sz="4400" noProof="1">
                <a:solidFill>
                  <a:schemeClr val="tx2"/>
                </a:solidFill>
                <a:effectLst>
                  <a:outerShdw blurRad="38100" dist="38100" dir="2700000">
                    <a:srgbClr val="000000"/>
                  </a:outerShdw>
                </a:effectLst>
                <a:latin typeface="+mj-lt"/>
                <a:ea typeface="+mj-ea"/>
                <a:cs typeface="+mj-cs"/>
              </a:rPr>
              <a:t>L0phtCrack 7</a:t>
            </a:r>
            <a:r>
              <a:rPr lang="zh-CN" altLang="en-US" sz="4400" noProof="1">
                <a:solidFill>
                  <a:schemeClr val="tx2"/>
                </a:solidFill>
                <a:effectLst>
                  <a:outerShdw blurRad="38100" dist="38100" dir="2700000">
                    <a:srgbClr val="000000"/>
                  </a:outerShdw>
                </a:effectLst>
                <a:latin typeface="+mj-lt"/>
                <a:ea typeface="+mj-ea"/>
                <a:cs typeface="+mj-cs"/>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151553"/>
          <p:cNvSpPr>
            <a:spLocks noGrp="1"/>
          </p:cNvSpPr>
          <p:nvPr>
            <p:ph type="title"/>
          </p:nvPr>
        </p:nvSpPr>
        <p:spPr>
          <a:xfrm>
            <a:off x="2209800" y="188913"/>
            <a:ext cx="7772400" cy="1143000"/>
          </a:xfrm>
        </p:spPr>
        <p:txBody>
          <a:bodyPr lIns="92075" tIns="46038" rIns="92075" bIns="46038" anchor="ctr"/>
          <a:lstStyle/>
          <a:p>
            <a:pPr algn="ctr" fontAlgn="base">
              <a:lnSpc>
                <a:spcPct val="100000"/>
              </a:lnSpc>
              <a:spcAft>
                <a:spcPct val="0"/>
              </a:spcAft>
              <a:defRPr/>
            </a:pPr>
            <a:r>
              <a:rPr lang="en-US" altLang="zh-CN" sz="4400" noProof="1">
                <a:solidFill>
                  <a:schemeClr val="tx2"/>
                </a:solidFill>
                <a:effectLst>
                  <a:outerShdw blurRad="38100" dist="38100" dir="2700000">
                    <a:srgbClr val="000000"/>
                  </a:outerShdw>
                </a:effectLst>
              </a:rPr>
              <a:t>LC7</a:t>
            </a:r>
            <a:r>
              <a:rPr lang="zh-CN" altLang="en-US" sz="4400" noProof="1">
                <a:solidFill>
                  <a:schemeClr val="tx2"/>
                </a:solidFill>
                <a:effectLst>
                  <a:outerShdw blurRad="38100" dist="38100" dir="2700000">
                    <a:srgbClr val="000000"/>
                  </a:outerShdw>
                </a:effectLst>
              </a:rPr>
              <a:t>（</a:t>
            </a:r>
            <a:r>
              <a:rPr lang="en-US" altLang="zh-CN" sz="4400" noProof="1">
                <a:solidFill>
                  <a:srgbClr val="FF0000"/>
                </a:solidFill>
                <a:effectLst>
                  <a:outerShdw blurRad="38100" dist="38100" dir="2700000">
                    <a:srgbClr val="000000"/>
                  </a:outerShdw>
                </a:effectLst>
              </a:rPr>
              <a:t>L</a:t>
            </a:r>
            <a:r>
              <a:rPr lang="en-US" altLang="zh-CN" sz="4400" noProof="1">
                <a:solidFill>
                  <a:schemeClr val="tx2"/>
                </a:solidFill>
                <a:effectLst>
                  <a:outerShdw blurRad="38100" dist="38100" dir="2700000">
                    <a:srgbClr val="000000"/>
                  </a:outerShdw>
                </a:effectLst>
              </a:rPr>
              <a:t>0pht</a:t>
            </a:r>
            <a:r>
              <a:rPr lang="en-US" altLang="zh-CN" sz="4400" noProof="1">
                <a:solidFill>
                  <a:srgbClr val="FF0000"/>
                </a:solidFill>
                <a:effectLst>
                  <a:outerShdw blurRad="38100" dist="38100" dir="2700000">
                    <a:srgbClr val="000000"/>
                  </a:outerShdw>
                </a:effectLst>
              </a:rPr>
              <a:t>C</a:t>
            </a:r>
            <a:r>
              <a:rPr lang="en-US" altLang="zh-CN" sz="4400" noProof="1">
                <a:solidFill>
                  <a:schemeClr val="tx2"/>
                </a:solidFill>
                <a:effectLst>
                  <a:outerShdw blurRad="38100" dist="38100" dir="2700000">
                    <a:srgbClr val="000000"/>
                  </a:outerShdw>
                </a:effectLst>
              </a:rPr>
              <a:t>rack 7</a:t>
            </a:r>
            <a:r>
              <a:rPr lang="zh-CN" altLang="en-US" sz="4400" noProof="1">
                <a:solidFill>
                  <a:schemeClr val="tx2"/>
                </a:solidFill>
                <a:effectLst>
                  <a:outerShdw blurRad="38100" dist="38100" dir="2700000">
                    <a:srgbClr val="000000"/>
                  </a:outerShdw>
                </a:effectLst>
              </a:rPr>
              <a:t>）</a:t>
            </a:r>
          </a:p>
        </p:txBody>
      </p:sp>
      <p:pic>
        <p:nvPicPr>
          <p:cNvPr id="77826" name="Picture 3"/>
          <p:cNvPicPr>
            <a:picLocks noChangeAspect="1"/>
          </p:cNvPicPr>
          <p:nvPr/>
        </p:nvPicPr>
        <p:blipFill>
          <a:blip r:embed="rId2"/>
          <a:stretch>
            <a:fillRect/>
          </a:stretch>
        </p:blipFill>
        <p:spPr>
          <a:xfrm>
            <a:off x="2208214" y="1052514"/>
            <a:ext cx="7704137" cy="5451475"/>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占位符 86018"/>
          <p:cNvSpPr>
            <a:spLocks noGrp="1"/>
          </p:cNvSpPr>
          <p:nvPr>
            <p:ph idx="1"/>
          </p:nvPr>
        </p:nvSpPr>
        <p:spPr/>
        <p:txBody>
          <a:bodyPr vert="horz" wrap="square" lIns="91440" tIns="45720" rIns="91440" bIns="45720" anchor="t"/>
          <a:lstStyle/>
          <a:p>
            <a:pPr algn="just" eaLnBrk="1" hangingPunct="1"/>
            <a:r>
              <a:rPr lang="zh-CN" altLang="en-US" sz="3200" b="1" dirty="0">
                <a:ea typeface="黑体" panose="02010609060101010101" pitchFamily="49" charset="-122"/>
              </a:rPr>
              <a:t>        针对扫描器发现的网络系统的各种漏洞实施的相应攻击，跟随新发现的漏洞，攻击手段不断地翻新，防不胜防。</a:t>
            </a:r>
          </a:p>
        </p:txBody>
      </p:sp>
      <p:sp>
        <p:nvSpPr>
          <p:cNvPr id="78851" name="矩形 86019"/>
          <p:cNvSpPr/>
          <p:nvPr/>
        </p:nvSpPr>
        <p:spPr>
          <a:xfrm>
            <a:off x="3575050" y="4292600"/>
            <a:ext cx="4965700" cy="2095500"/>
          </a:xfrm>
          <a:prstGeom prst="rect">
            <a:avLst/>
          </a:prstGeom>
          <a:noFill/>
          <a:ln w="9525">
            <a:noFill/>
          </a:ln>
        </p:spPr>
        <p:txBody>
          <a:bodyPr anchor="t"/>
          <a:lstStyle/>
          <a:p>
            <a:pPr marL="342900" indent="-342900" algn="just">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黑体" panose="02010609060101010101" pitchFamily="49" charset="-122"/>
              </a:rPr>
              <a:t>缓冲区溢出攻击</a:t>
            </a:r>
          </a:p>
          <a:p>
            <a:pPr marL="342900" indent="-342900" algn="just">
              <a:spcBef>
                <a:spcPct val="20000"/>
              </a:spcBef>
              <a:buClr>
                <a:schemeClr val="accent2"/>
              </a:buClr>
              <a:buSzPct val="80000"/>
              <a:buFont typeface="Wingdings" panose="05000000000000000000" pitchFamily="2" charset="2"/>
              <a:buChar char="l"/>
            </a:pPr>
            <a:r>
              <a:rPr lang="en-US" altLang="zh-CN" sz="3200" b="1" dirty="0">
                <a:latin typeface="Times New Roman" panose="02020603050405020304" pitchFamily="18" charset="0"/>
                <a:ea typeface="黑体" panose="02010609060101010101" pitchFamily="49" charset="-122"/>
              </a:rPr>
              <a:t>UNICODE</a:t>
            </a:r>
            <a:r>
              <a:rPr lang="zh-CN" altLang="en-US" sz="3200" b="1" dirty="0">
                <a:latin typeface="Times New Roman" panose="02020603050405020304" pitchFamily="18" charset="0"/>
                <a:ea typeface="黑体" panose="02010609060101010101" pitchFamily="49" charset="-122"/>
              </a:rPr>
              <a:t>漏洞攻击</a:t>
            </a:r>
          </a:p>
          <a:p>
            <a:pPr marL="342900" indent="-342900" algn="just">
              <a:spcBef>
                <a:spcPct val="20000"/>
              </a:spcBef>
              <a:buClr>
                <a:schemeClr val="accent2"/>
              </a:buClr>
              <a:buSzPct val="80000"/>
              <a:buFont typeface="Wingdings" panose="05000000000000000000" pitchFamily="2" charset="2"/>
              <a:buChar char="l"/>
            </a:pPr>
            <a:r>
              <a:rPr lang="zh-CN" altLang="en-US" sz="3200" b="1" dirty="0">
                <a:latin typeface="Times New Roman" panose="02020603050405020304" pitchFamily="18" charset="0"/>
                <a:ea typeface="黑体" panose="02010609060101010101" pitchFamily="49" charset="-122"/>
              </a:rPr>
              <a:t>输入法漏洞</a:t>
            </a:r>
          </a:p>
        </p:txBody>
      </p:sp>
      <p:grpSp>
        <p:nvGrpSpPr>
          <p:cNvPr id="5" name="组合 4"/>
          <p:cNvGrpSpPr/>
          <p:nvPr/>
        </p:nvGrpSpPr>
        <p:grpSpPr>
          <a:xfrm>
            <a:off x="4288928" y="429974"/>
            <a:ext cx="3537943" cy="791052"/>
            <a:chOff x="824071" y="1564267"/>
            <a:chExt cx="3537943" cy="791052"/>
          </a:xfrm>
        </p:grpSpPr>
        <p:sp>
          <p:nvSpPr>
            <p:cNvPr id="6" name="矩形: 圆角 16"/>
            <p:cNvSpPr/>
            <p:nvPr/>
          </p:nvSpPr>
          <p:spPr>
            <a:xfrm>
              <a:off x="824071" y="1740416"/>
              <a:ext cx="353794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01522" y="1828091"/>
              <a:ext cx="2484976" cy="480131"/>
            </a:xfrm>
            <a:prstGeom prst="rect">
              <a:avLst/>
            </a:prstGeom>
          </p:spPr>
          <p:txBody>
            <a:bodyPr wrap="none">
              <a:spAutoFit/>
            </a:bodyPr>
            <a:lstStyle/>
            <a:p>
              <a:pPr>
                <a:lnSpc>
                  <a:spcPct val="90000"/>
                </a:lnSpc>
              </a:pPr>
              <a:r>
                <a:rPr lang="en-US" altLang="zh-CN" sz="2800" noProof="1">
                  <a:solidFill>
                    <a:schemeClr val="bg1"/>
                  </a:solidFill>
                  <a:latin typeface="+mj-ea"/>
                </a:rPr>
                <a:t>4.4.2 </a:t>
              </a:r>
              <a:r>
                <a:rPr lang="zh-CN" altLang="en-US" sz="2800" noProof="1">
                  <a:solidFill>
                    <a:schemeClr val="bg1"/>
                  </a:solidFill>
                  <a:latin typeface="+mj-ea"/>
                </a:rPr>
                <a:t>漏洞攻击</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88065"/>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4.4.2.1 </a:t>
            </a:r>
            <a:r>
              <a:rPr lang="zh-CN" altLang="en-US" sz="5000" b="1" noProof="1">
                <a:solidFill>
                  <a:schemeClr val="tx2"/>
                </a:solidFill>
                <a:effectLst>
                  <a:outerShdw blurRad="38100" dist="38100" dir="2700000">
                    <a:srgbClr val="000000"/>
                  </a:outerShdw>
                </a:effectLst>
                <a:ea typeface="黑体" panose="02010609060101010101" pitchFamily="49" charset="-122"/>
              </a:rPr>
              <a:t>缓冲区溢出攻击</a:t>
            </a:r>
          </a:p>
        </p:txBody>
      </p:sp>
      <p:sp>
        <p:nvSpPr>
          <p:cNvPr id="79874" name="文本占位符 88066"/>
          <p:cNvSpPr>
            <a:spLocks noGrp="1"/>
          </p:cNvSpPr>
          <p:nvPr>
            <p:ph idx="1"/>
          </p:nvPr>
        </p:nvSpPr>
        <p:spPr>
          <a:xfrm>
            <a:off x="1175656" y="1981200"/>
            <a:ext cx="9820895" cy="4114800"/>
          </a:xfrm>
        </p:spPr>
        <p:txBody>
          <a:bodyPr vert="horz" wrap="square" lIns="91440" tIns="45720" rIns="91440" bIns="45720" anchor="t"/>
          <a:lstStyle/>
          <a:p>
            <a:pPr algn="just" eaLnBrk="1" hangingPunct="1">
              <a:buNone/>
            </a:pPr>
            <a:r>
              <a:rPr lang="zh-CN" altLang="en-US" b="1" dirty="0">
                <a:latin typeface="黑体" panose="02010609060101010101" pitchFamily="49" charset="-122"/>
                <a:ea typeface="黑体" panose="02010609060101010101" pitchFamily="49" charset="-122"/>
              </a:rPr>
              <a:t>    因编程缺陷或程序设计语言中的问题造成的</a:t>
            </a:r>
          </a:p>
          <a:p>
            <a:pPr algn="just" eaLnBrk="1" hangingPunct="1">
              <a:buNone/>
            </a:pPr>
            <a:r>
              <a:rPr lang="zh-CN" altLang="en-US" b="1" dirty="0">
                <a:solidFill>
                  <a:srgbClr val="FF0000"/>
                </a:solidFill>
                <a:latin typeface="黑体" panose="02010609060101010101" pitchFamily="49" charset="-122"/>
                <a:ea typeface="黑体" panose="02010609060101010101" pitchFamily="49" charset="-122"/>
              </a:rPr>
              <a:t>缓冲区溢出问题</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是一种广泛存在的安全漏洞。</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8908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缓冲区溢出攻击</a:t>
            </a:r>
          </a:p>
        </p:txBody>
      </p:sp>
      <p:grpSp>
        <p:nvGrpSpPr>
          <p:cNvPr id="80898" name="组合 89090"/>
          <p:cNvGrpSpPr/>
          <p:nvPr/>
        </p:nvGrpSpPr>
        <p:grpSpPr>
          <a:xfrm>
            <a:off x="4008439" y="2276475"/>
            <a:ext cx="4249737" cy="2781300"/>
            <a:chOff x="3356" y="9216"/>
            <a:chExt cx="3396" cy="2340"/>
          </a:xfrm>
        </p:grpSpPr>
        <p:sp>
          <p:nvSpPr>
            <p:cNvPr id="80899" name="文本框 89091"/>
            <p:cNvSpPr txBox="1"/>
            <p:nvPr/>
          </p:nvSpPr>
          <p:spPr>
            <a:xfrm>
              <a:off x="3356" y="9216"/>
              <a:ext cx="1995"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1600" b="1" dirty="0">
                  <a:solidFill>
                    <a:schemeClr val="tx1"/>
                  </a:solidFill>
                  <a:latin typeface="Times New Roman" panose="02020603050405020304" pitchFamily="18" charset="0"/>
                  <a:ea typeface="宋体" panose="02010600030101010101" pitchFamily="2" charset="-122"/>
                </a:rPr>
                <a:t>程序代码区</a:t>
              </a:r>
              <a:r>
                <a:rPr lang="zh-CN" altLang="en-US" sz="1600" b="1" dirty="0">
                  <a:solidFill>
                    <a:schemeClr val="bg1"/>
                  </a:solidFill>
                  <a:latin typeface="Times New Roman" panose="02020603050405020304" pitchFamily="18" charset="0"/>
                  <a:ea typeface="宋体" panose="02010600030101010101" pitchFamily="2" charset="-122"/>
                </a:rPr>
                <a:t>代码区</a:t>
              </a:r>
              <a:endParaRPr lang="zh-CN" altLang="en-US" sz="1600" b="1" dirty="0">
                <a:solidFill>
                  <a:schemeClr val="bg1"/>
                </a:solidFill>
                <a:latin typeface="Arial" panose="020B0604020202020204" pitchFamily="34" charset="0"/>
                <a:ea typeface="宋体" panose="02010600030101010101" pitchFamily="2" charset="-122"/>
              </a:endParaRPr>
            </a:p>
          </p:txBody>
        </p:sp>
        <p:sp>
          <p:nvSpPr>
            <p:cNvPr id="80900" name="文本框 89092"/>
            <p:cNvSpPr txBox="1"/>
            <p:nvPr/>
          </p:nvSpPr>
          <p:spPr>
            <a:xfrm>
              <a:off x="3356" y="9996"/>
              <a:ext cx="1995"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1600" b="1" dirty="0">
                  <a:solidFill>
                    <a:schemeClr val="tx1"/>
                  </a:solidFill>
                  <a:latin typeface="Times New Roman" panose="02020603050405020304" pitchFamily="18" charset="0"/>
                  <a:ea typeface="宋体" panose="02010600030101010101" pitchFamily="2" charset="-122"/>
                </a:rPr>
                <a:t>数据区</a:t>
              </a:r>
              <a:r>
                <a:rPr lang="zh-CN" altLang="en-US" sz="1600" b="1" dirty="0">
                  <a:solidFill>
                    <a:schemeClr val="bg1"/>
                  </a:solidFill>
                  <a:latin typeface="Times New Roman" panose="02020603050405020304" pitchFamily="18" charset="0"/>
                  <a:ea typeface="宋体" panose="02010600030101010101" pitchFamily="2" charset="-122"/>
                </a:rPr>
                <a:t>据区</a:t>
              </a:r>
              <a:endParaRPr lang="zh-CN" altLang="en-US" sz="1600" b="1" dirty="0">
                <a:solidFill>
                  <a:schemeClr val="bg1"/>
                </a:solidFill>
                <a:latin typeface="Arial" panose="020B0604020202020204" pitchFamily="34" charset="0"/>
                <a:ea typeface="宋体" panose="02010600030101010101" pitchFamily="2" charset="-122"/>
              </a:endParaRPr>
            </a:p>
          </p:txBody>
        </p:sp>
        <p:sp>
          <p:nvSpPr>
            <p:cNvPr id="80901" name="文本框 89093"/>
            <p:cNvSpPr txBox="1"/>
            <p:nvPr/>
          </p:nvSpPr>
          <p:spPr>
            <a:xfrm>
              <a:off x="3356" y="10776"/>
              <a:ext cx="1995" cy="780"/>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a:r>
                <a:rPr lang="zh-CN" altLang="en-US" sz="1600" b="1" dirty="0">
                  <a:solidFill>
                    <a:schemeClr val="tx1"/>
                  </a:solidFill>
                  <a:latin typeface="Times New Roman" panose="02020603050405020304" pitchFamily="18" charset="0"/>
                  <a:ea typeface="宋体" panose="02010600030101010101" pitchFamily="2" charset="-122"/>
                </a:rPr>
                <a:t>堆栈区</a:t>
              </a:r>
              <a:r>
                <a:rPr lang="zh-CN" altLang="en-US" sz="1600" b="1" dirty="0">
                  <a:solidFill>
                    <a:schemeClr val="bg1"/>
                  </a:solidFill>
                  <a:latin typeface="Times New Roman" panose="02020603050405020304" pitchFamily="18" charset="0"/>
                  <a:ea typeface="宋体" panose="02010600030101010101" pitchFamily="2" charset="-122"/>
                </a:rPr>
                <a:t>堆栈区</a:t>
              </a:r>
              <a:endParaRPr lang="zh-CN" altLang="en-US" sz="1600" b="1" dirty="0">
                <a:solidFill>
                  <a:schemeClr val="bg1"/>
                </a:solidFill>
                <a:latin typeface="Arial" panose="020B0604020202020204" pitchFamily="34" charset="0"/>
                <a:ea typeface="宋体" panose="02010600030101010101" pitchFamily="2" charset="-122"/>
              </a:endParaRPr>
            </a:p>
          </p:txBody>
        </p:sp>
        <p:grpSp>
          <p:nvGrpSpPr>
            <p:cNvPr id="80902" name="组合 89094"/>
            <p:cNvGrpSpPr/>
            <p:nvPr/>
          </p:nvGrpSpPr>
          <p:grpSpPr>
            <a:xfrm>
              <a:off x="4652" y="9840"/>
              <a:ext cx="2100" cy="1248"/>
              <a:chOff x="4476" y="6744"/>
              <a:chExt cx="2100" cy="1248"/>
            </a:xfrm>
          </p:grpSpPr>
          <p:sp>
            <p:nvSpPr>
              <p:cNvPr id="80903" name="下箭头 89095"/>
              <p:cNvSpPr/>
              <p:nvPr/>
            </p:nvSpPr>
            <p:spPr>
              <a:xfrm>
                <a:off x="4476" y="7368"/>
                <a:ext cx="735" cy="624"/>
              </a:xfrm>
              <a:prstGeom prst="downArrow">
                <a:avLst>
                  <a:gd name="adj1" fmla="val 50000"/>
                  <a:gd name="adj2" fmla="val 25000"/>
                </a:avLst>
              </a:prstGeom>
              <a:solidFill>
                <a:srgbClr val="FFFFFF"/>
              </a:solidFill>
              <a:ln w="952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80904" name="圆角矩形标注 89096"/>
              <p:cNvSpPr/>
              <p:nvPr/>
            </p:nvSpPr>
            <p:spPr>
              <a:xfrm>
                <a:off x="5631" y="6744"/>
                <a:ext cx="945" cy="624"/>
              </a:xfrm>
              <a:prstGeom prst="wedgeRoundRectCallout">
                <a:avLst>
                  <a:gd name="adj1" fmla="val -121218"/>
                  <a:gd name="adj2" fmla="val 89264"/>
                  <a:gd name="adj3" fmla="val 16667"/>
                </a:avLst>
              </a:prstGeom>
              <a:solidFill>
                <a:srgbClr val="FFFFFF"/>
              </a:solidFill>
              <a:ln w="9525" cap="flat" cmpd="sng">
                <a:solidFill>
                  <a:srgbClr val="000000"/>
                </a:solidFill>
                <a:prstDash val="solid"/>
                <a:miter/>
                <a:headEnd type="none" w="med" len="med"/>
                <a:tailEnd type="none" w="med" len="med"/>
              </a:ln>
            </p:spPr>
            <p:txBody>
              <a:bodyPr anchor="t"/>
              <a:lstStyle/>
              <a:p>
                <a:pPr algn="ctr"/>
                <a:endParaRPr lang="zh-CN" altLang="en-US" sz="1600" b="1" dirty="0">
                  <a:solidFill>
                    <a:srgbClr val="FF0000"/>
                  </a:solidFill>
                  <a:latin typeface="Times New Roman" panose="02020603050405020304" pitchFamily="18" charset="0"/>
                  <a:ea typeface="宋体" panose="02010600030101010101" pitchFamily="2" charset="-122"/>
                </a:endParaRPr>
              </a:p>
              <a:p>
                <a:pPr algn="ctr"/>
                <a:r>
                  <a:rPr lang="zh-CN" altLang="en-US" sz="1600" b="1" dirty="0">
                    <a:solidFill>
                      <a:srgbClr val="FF0000"/>
                    </a:solidFill>
                    <a:latin typeface="Times New Roman" panose="02020603050405020304" pitchFamily="18" charset="0"/>
                    <a:ea typeface="宋体" panose="02010600030101010101" pitchFamily="2" charset="-122"/>
                  </a:rPr>
                  <a:t> </a:t>
                </a:r>
                <a:r>
                  <a:rPr lang="en-US" altLang="zh-CN" sz="1600" b="1" dirty="0">
                    <a:solidFill>
                      <a:srgbClr val="FF0000"/>
                    </a:solidFill>
                    <a:latin typeface="Times New Roman" panose="02020603050405020304" pitchFamily="18" charset="0"/>
                    <a:ea typeface="宋体" panose="02010600030101010101" pitchFamily="2" charset="-122"/>
                  </a:rPr>
                  <a:t>   </a:t>
                </a:r>
                <a:r>
                  <a:rPr lang="zh-CN" altLang="en-US" sz="1600" b="1" dirty="0">
                    <a:solidFill>
                      <a:srgbClr val="FF0000"/>
                    </a:solidFill>
                    <a:latin typeface="Times New Roman" panose="02020603050405020304" pitchFamily="18" charset="0"/>
                    <a:ea typeface="宋体" panose="02010600030101010101" pitchFamily="2" charset="-122"/>
                  </a:rPr>
                  <a:t>溢出</a:t>
                </a:r>
                <a:r>
                  <a:rPr lang="zh-CN" altLang="en-US" sz="1600" b="1" dirty="0">
                    <a:solidFill>
                      <a:schemeClr val="bg1"/>
                    </a:solidFill>
                    <a:latin typeface="Times New Roman" panose="02020603050405020304" pitchFamily="18" charset="0"/>
                    <a:ea typeface="宋体" panose="02010600030101010101" pitchFamily="2" charset="-122"/>
                  </a:rPr>
                  <a:t>溢出</a:t>
                </a:r>
                <a:endParaRPr lang="zh-CN" altLang="en-US" sz="1600" b="1" dirty="0">
                  <a:solidFill>
                    <a:schemeClr val="bg1"/>
                  </a:solidFill>
                  <a:latin typeface="Arial" panose="020B0604020202020204" pitchFamily="34" charset="0"/>
                  <a:ea typeface="宋体" panose="02010600030101010101" pitchFamily="2" charset="-122"/>
                </a:endParaRPr>
              </a:p>
            </p:txBody>
          </p:sp>
        </p:gr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9011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缓冲区溢出攻击</a:t>
            </a:r>
          </a:p>
        </p:txBody>
      </p:sp>
      <p:sp>
        <p:nvSpPr>
          <p:cNvPr id="81922" name="文本占位符 90114"/>
          <p:cNvSpPr>
            <a:spLocks noGrp="1"/>
          </p:cNvSpPr>
          <p:nvPr>
            <p:ph idx="1"/>
          </p:nvPr>
        </p:nvSpPr>
        <p:spPr>
          <a:xfrm>
            <a:off x="1211283" y="1981200"/>
            <a:ext cx="9725892" cy="4114800"/>
          </a:xfrm>
        </p:spPr>
        <p:txBody>
          <a:bodyPr vert="horz" wrap="square" lIns="91440" tIns="45720" rIns="91440" bIns="45720" anchor="t"/>
          <a:lstStyle/>
          <a:p>
            <a:pPr algn="just" eaLnBrk="1" hangingPunct="1"/>
            <a:r>
              <a:rPr lang="zh-CN" altLang="en-US" b="1" dirty="0">
                <a:latin typeface="黑体" panose="02010609060101010101" pitchFamily="49" charset="-122"/>
                <a:ea typeface="黑体" panose="02010609060101010101" pitchFamily="49" charset="-122"/>
              </a:rPr>
              <a:t>    缓冲区就是分配的一块存储空间，其中可以存储某种类型的文本或者数据。程序员利用缓冲区为一块或多块数据提供系统预先制定的空间。</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91137"/>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缓冲区溢出攻击</a:t>
            </a:r>
          </a:p>
        </p:txBody>
      </p:sp>
      <p:sp>
        <p:nvSpPr>
          <p:cNvPr id="82946" name="文本占位符 91138"/>
          <p:cNvSpPr>
            <a:spLocks noGrp="1"/>
          </p:cNvSpPr>
          <p:nvPr>
            <p:ph idx="1"/>
          </p:nvPr>
        </p:nvSpPr>
        <p:spPr>
          <a:xfrm>
            <a:off x="1199408" y="1981200"/>
            <a:ext cx="9809018" cy="4114800"/>
          </a:xfrm>
        </p:spPr>
        <p:txBody>
          <a:bodyPr vert="horz" wrap="square" lIns="91440" tIns="45720" rIns="91440" bIns="45720" anchor="t"/>
          <a:lstStyle/>
          <a:p>
            <a:pPr algn="just" eaLnBrk="1" hangingPunct="1"/>
            <a:r>
              <a:rPr lang="zh-CN" altLang="en-US" b="1" dirty="0">
                <a:ea typeface="黑体" panose="02010609060101010101" pitchFamily="49" charset="-122"/>
              </a:rPr>
              <a:t>        在利用</a:t>
            </a:r>
            <a:r>
              <a:rPr lang="en-US" altLang="zh-CN" b="1" dirty="0">
                <a:ea typeface="黑体" panose="02010609060101010101" pitchFamily="49" charset="-122"/>
              </a:rPr>
              <a:t>C</a:t>
            </a:r>
            <a:r>
              <a:rPr lang="zh-CN" altLang="en-US" b="1" dirty="0">
                <a:ea typeface="黑体" panose="02010609060101010101" pitchFamily="49" charset="-122"/>
              </a:rPr>
              <a:t>语言编写程序时一般要用到输入函数来获得用户输入的字符。当用户试图将超过缓冲区能够处理的更多的字符输入到到缓冲区时，程序中如果没有缓冲区越界检查机制，当超长的字符串输入后，就会发生缓冲区的溢出。</a:t>
            </a:r>
            <a:r>
              <a:rPr lang="zh-CN" altLang="en-US" dirty="0">
                <a:ea typeface="黑体" panose="02010609060101010101" pitchFamily="49" charset="-122"/>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9216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缓冲区溢出攻击</a:t>
            </a:r>
          </a:p>
        </p:txBody>
      </p:sp>
      <p:sp>
        <p:nvSpPr>
          <p:cNvPr id="83970" name="文本占位符 92162"/>
          <p:cNvSpPr>
            <a:spLocks noGrp="1"/>
          </p:cNvSpPr>
          <p:nvPr>
            <p:ph idx="1"/>
          </p:nvPr>
        </p:nvSpPr>
        <p:spPr>
          <a:xfrm>
            <a:off x="1235034" y="1813951"/>
            <a:ext cx="9809018" cy="4708525"/>
          </a:xfrm>
        </p:spPr>
        <p:txBody>
          <a:bodyPr vert="horz" wrap="square" lIns="91440" tIns="45720" rIns="91440" bIns="45720" anchor="t"/>
          <a:lstStyle/>
          <a:p>
            <a:pPr algn="just" eaLnBrk="1" hangingPunct="1"/>
            <a:r>
              <a:rPr lang="zh-CN" altLang="en-US" b="1" dirty="0">
                <a:ea typeface="黑体" panose="02010609060101010101" pitchFamily="49" charset="-122"/>
              </a:rPr>
              <a:t>        入侵者能够通过控制多余字符的结束位置，可以执行一些操作系统的特权命令；或者在溢出到堆栈区的字符序列末尾放置某个攻击程序的入口地址，在溢出发生后，让系统自动转入该攻击程序，去完成攻击的目标。为了保证在堆栈顶部区域放入攻击程序的入口地址，可让产生溢出的字符串由一系列的</a:t>
            </a:r>
            <a:r>
              <a:rPr lang="en-US" altLang="zh-CN" b="1" dirty="0">
                <a:ea typeface="黑体" panose="02010609060101010101" pitchFamily="49" charset="-122"/>
              </a:rPr>
              <a:t>NOP</a:t>
            </a:r>
            <a:r>
              <a:rPr lang="zh-CN" altLang="en-US" b="1" dirty="0">
                <a:ea typeface="黑体" panose="02010609060101010101" pitchFamily="49" charset="-122"/>
              </a:rPr>
              <a:t>指令和攻击程序的入口地址组成。另外缓冲区溢出这种攻击技术经常地被本地用户巧妙地用来获取对</a:t>
            </a:r>
            <a:r>
              <a:rPr lang="en-US" altLang="zh-CN" b="1" dirty="0">
                <a:ea typeface="黑体" panose="02010609060101010101" pitchFamily="49" charset="-122"/>
              </a:rPr>
              <a:t>root shell</a:t>
            </a:r>
            <a:r>
              <a:rPr lang="zh-CN" altLang="en-US" b="1" dirty="0">
                <a:ea typeface="黑体" panose="02010609060101010101" pitchFamily="49" charset="-122"/>
              </a:rPr>
              <a:t>的访问。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4600" b="1" noProof="1">
                <a:solidFill>
                  <a:schemeClr val="tx2"/>
                </a:solidFill>
                <a:effectLst>
                  <a:outerShdw blurRad="38100" dist="38100" dir="2700000">
                    <a:srgbClr val="000000"/>
                  </a:outerShdw>
                </a:effectLst>
                <a:ea typeface="黑体" panose="02010609060101010101" pitchFamily="49" charset="-122"/>
              </a:rPr>
              <a:t>4.4.2.2 UNICODE</a:t>
            </a:r>
            <a:r>
              <a:rPr lang="zh-CN" altLang="en-US" sz="4600" b="1" noProof="1">
                <a:solidFill>
                  <a:schemeClr val="tx2"/>
                </a:solidFill>
                <a:effectLst>
                  <a:outerShdw blurRad="38100" dist="38100" dir="2700000">
                    <a:srgbClr val="000000"/>
                  </a:outerShdw>
                </a:effectLst>
                <a:ea typeface="黑体" panose="02010609060101010101" pitchFamily="49" charset="-122"/>
              </a:rPr>
              <a:t>漏洞攻击</a:t>
            </a:r>
          </a:p>
        </p:txBody>
      </p:sp>
      <p:sp>
        <p:nvSpPr>
          <p:cNvPr id="84994" name="文本占位符 93186"/>
          <p:cNvSpPr>
            <a:spLocks noGrp="1"/>
          </p:cNvSpPr>
          <p:nvPr>
            <p:ph idx="1"/>
          </p:nvPr>
        </p:nvSpPr>
        <p:spPr/>
        <p:txBody>
          <a:bodyPr vert="horz" wrap="square" lIns="91440" tIns="45720" rIns="91440" bIns="45720" anchor="t"/>
          <a:lstStyle/>
          <a:p>
            <a:pPr algn="just" eaLnBrk="1" hangingPunct="1"/>
            <a:r>
              <a:rPr lang="zh-CN" altLang="en-US" sz="3600" dirty="0">
                <a:ea typeface="黑体" panose="02010609060101010101" pitchFamily="49" charset="-122"/>
              </a:rPr>
              <a:t>        历史上，有两个独立的，创立单一字符集的项目：一个是国际标准化组织</a:t>
            </a:r>
            <a:r>
              <a:rPr lang="en-US" altLang="zh-CN" sz="3600" dirty="0">
                <a:ea typeface="黑体" panose="02010609060101010101" pitchFamily="49" charset="-122"/>
              </a:rPr>
              <a:t>(ISO)</a:t>
            </a:r>
            <a:r>
              <a:rPr lang="zh-CN" altLang="en-US" sz="3600" dirty="0">
                <a:ea typeface="黑体" panose="02010609060101010101" pitchFamily="49" charset="-122"/>
              </a:rPr>
              <a:t>的 </a:t>
            </a:r>
            <a:r>
              <a:rPr lang="en-US" altLang="zh-CN" sz="3600" dirty="0">
                <a:ea typeface="黑体" panose="02010609060101010101" pitchFamily="49" charset="-122"/>
              </a:rPr>
              <a:t>ISO 10646 </a:t>
            </a:r>
            <a:r>
              <a:rPr lang="zh-CN" altLang="en-US" sz="3600" dirty="0">
                <a:ea typeface="黑体" panose="02010609060101010101" pitchFamily="49" charset="-122"/>
              </a:rPr>
              <a:t>项目，另一个是由</a:t>
            </a:r>
            <a:r>
              <a:rPr lang="en-US" altLang="zh-CN" sz="3600" dirty="0">
                <a:ea typeface="黑体" panose="02010609060101010101" pitchFamily="49" charset="-122"/>
              </a:rPr>
              <a:t>(</a:t>
            </a:r>
            <a:r>
              <a:rPr lang="zh-CN" altLang="en-US" sz="3600" dirty="0">
                <a:ea typeface="黑体" panose="02010609060101010101" pitchFamily="49" charset="-122"/>
              </a:rPr>
              <a:t>一开始大多是美国的</a:t>
            </a:r>
            <a:r>
              <a:rPr lang="en-US" altLang="zh-CN" sz="3600" dirty="0">
                <a:ea typeface="黑体" panose="02010609060101010101" pitchFamily="49" charset="-122"/>
              </a:rPr>
              <a:t>)</a:t>
            </a:r>
            <a:r>
              <a:rPr lang="zh-CN" altLang="en-US" sz="3600" dirty="0">
                <a:ea typeface="黑体" panose="02010609060101010101" pitchFamily="49" charset="-122"/>
              </a:rPr>
              <a:t>多语言软件制造商组成的协会组织的 </a:t>
            </a:r>
            <a:r>
              <a:rPr lang="en-US" altLang="zh-CN" sz="3600" dirty="0">
                <a:ea typeface="黑体" panose="02010609060101010101" pitchFamily="49" charset="-122"/>
              </a:rPr>
              <a:t>Unicode </a:t>
            </a:r>
            <a:r>
              <a:rPr lang="zh-CN" altLang="en-US" sz="3600" dirty="0">
                <a:ea typeface="黑体" panose="02010609060101010101" pitchFamily="49" charset="-122"/>
              </a:rPr>
              <a:t>项目。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94209"/>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UNICODE</a:t>
            </a:r>
            <a:r>
              <a:rPr lang="zh-CN" altLang="en-US" sz="5000" b="1" noProof="1">
                <a:solidFill>
                  <a:srgbClr val="99FF99"/>
                </a:solidFill>
                <a:effectLst>
                  <a:outerShdw blurRad="38100" dist="38100" dir="2700000">
                    <a:srgbClr val="000000"/>
                  </a:outerShdw>
                </a:effectLst>
                <a:ea typeface="黑体" panose="02010609060101010101" pitchFamily="49" charset="-122"/>
              </a:rPr>
              <a:t>漏洞攻击</a:t>
            </a:r>
          </a:p>
        </p:txBody>
      </p:sp>
      <p:sp>
        <p:nvSpPr>
          <p:cNvPr id="86018" name="文本占位符 94210"/>
          <p:cNvSpPr>
            <a:spLocks noGrp="1"/>
          </p:cNvSpPr>
          <p:nvPr>
            <p:ph idx="1"/>
          </p:nvPr>
        </p:nvSpPr>
        <p:spPr>
          <a:xfrm>
            <a:off x="1104405" y="1752600"/>
            <a:ext cx="10173195" cy="4924425"/>
          </a:xfrm>
        </p:spPr>
        <p:txBody>
          <a:bodyPr vert="horz" wrap="square" lIns="91440" tIns="45720" rIns="91440" bIns="45720" anchor="t"/>
          <a:lstStyle/>
          <a:p>
            <a:pPr algn="just" eaLnBrk="1" hangingPunct="1">
              <a:lnSpc>
                <a:spcPct val="90000"/>
              </a:lnSpc>
            </a:pPr>
            <a:r>
              <a:rPr lang="zh-CN" altLang="en-US" b="1" dirty="0">
                <a:ea typeface="黑体" panose="02010609060101010101" pitchFamily="49" charset="-122"/>
              </a:rPr>
              <a:t>我们在自己计算机的</a:t>
            </a:r>
            <a:r>
              <a:rPr lang="en-US" altLang="zh-CN" b="1" dirty="0">
                <a:ea typeface="黑体" panose="02010609060101010101" pitchFamily="49" charset="-122"/>
              </a:rPr>
              <a:t>IE</a:t>
            </a:r>
            <a:r>
              <a:rPr lang="zh-CN" altLang="en-US" b="1" dirty="0">
                <a:ea typeface="黑体" panose="02010609060101010101" pitchFamily="49" charset="-122"/>
              </a:rPr>
              <a:t>的地址栏上嵌入： </a:t>
            </a:r>
          </a:p>
          <a:p>
            <a:pPr algn="just" eaLnBrk="1" hangingPunct="1">
              <a:lnSpc>
                <a:spcPct val="90000"/>
              </a:lnSpc>
            </a:pPr>
            <a:r>
              <a:rPr lang="en-US" altLang="zh-CN" b="1" dirty="0">
                <a:ea typeface="黑体" panose="02010609060101010101" pitchFamily="49" charset="-122"/>
              </a:rPr>
              <a:t>http://192.168.0.1/scripts/..\..\winnt\system32\cmd.exe?/c+dir </a:t>
            </a:r>
          </a:p>
          <a:p>
            <a:pPr algn="just" eaLnBrk="1" hangingPunct="1">
              <a:lnSpc>
                <a:spcPct val="90000"/>
              </a:lnSpc>
            </a:pPr>
            <a:r>
              <a:rPr lang="en-US" altLang="zh-CN" b="1" dirty="0">
                <a:ea typeface="黑体" panose="02010609060101010101" pitchFamily="49" charset="-122"/>
              </a:rPr>
              <a:t>http://192.168.0.1/</a:t>
            </a:r>
            <a:r>
              <a:rPr lang="zh-CN" altLang="en-US" b="1" dirty="0">
                <a:ea typeface="黑体" panose="02010609060101010101" pitchFamily="49" charset="-122"/>
              </a:rPr>
              <a:t>实际上对应到，“</a:t>
            </a:r>
            <a:r>
              <a:rPr lang="en-US" altLang="zh-CN" b="1" dirty="0">
                <a:ea typeface="黑体" panose="02010609060101010101" pitchFamily="49" charset="-122"/>
              </a:rPr>
              <a:t>..”</a:t>
            </a:r>
            <a:r>
              <a:rPr lang="zh-CN" altLang="en-US" b="1" dirty="0">
                <a:ea typeface="黑体" panose="02010609060101010101" pitchFamily="49" charset="-122"/>
              </a:rPr>
              <a:t>就是到</a:t>
            </a:r>
            <a:r>
              <a:rPr lang="zh-CN" altLang="en-US" b="1" dirty="0">
                <a:solidFill>
                  <a:srgbClr val="FF0000"/>
                </a:solidFill>
                <a:ea typeface="黑体" panose="02010609060101010101" pitchFamily="49" charset="-122"/>
              </a:rPr>
              <a:t>上一层目录</a:t>
            </a:r>
            <a:r>
              <a:rPr lang="zh-CN" altLang="en-US" b="1" dirty="0">
                <a:ea typeface="黑体" panose="02010609060101010101" pitchFamily="49" charset="-122"/>
              </a:rPr>
              <a:t>，所以“</a:t>
            </a:r>
            <a:r>
              <a:rPr lang="en-US" altLang="zh-CN" b="1" dirty="0">
                <a:ea typeface="黑体" panose="02010609060101010101" pitchFamily="49" charset="-122"/>
              </a:rPr>
              <a:t>..\..”</a:t>
            </a:r>
            <a:r>
              <a:rPr lang="zh-CN" altLang="en-US" b="1" dirty="0">
                <a:ea typeface="黑体" panose="02010609060101010101" pitchFamily="49" charset="-122"/>
              </a:rPr>
              <a:t>就是</a:t>
            </a:r>
            <a:r>
              <a:rPr lang="zh-CN" altLang="en-US" b="1" dirty="0">
                <a:solidFill>
                  <a:srgbClr val="FF0000"/>
                </a:solidFill>
                <a:ea typeface="黑体" panose="02010609060101010101" pitchFamily="49" charset="-122"/>
              </a:rPr>
              <a:t>到上两层目录</a:t>
            </a:r>
            <a:r>
              <a:rPr lang="zh-CN" altLang="en-US" b="1" dirty="0">
                <a:ea typeface="黑体" panose="02010609060101010101" pitchFamily="49" charset="-122"/>
              </a:rPr>
              <a:t>，也就是由</a:t>
            </a:r>
            <a:r>
              <a:rPr lang="en-US" altLang="zh-CN" b="1" dirty="0">
                <a:ea typeface="黑体" panose="02010609060101010101" pitchFamily="49" charset="-122"/>
              </a:rPr>
              <a:t>C:\Inetpub\scripts</a:t>
            </a:r>
            <a:r>
              <a:rPr lang="zh-CN" altLang="en-US" b="1" dirty="0">
                <a:ea typeface="黑体" panose="02010609060101010101" pitchFamily="49" charset="-122"/>
              </a:rPr>
              <a:t>到</a:t>
            </a:r>
            <a:r>
              <a:rPr lang="en-US" altLang="zh-CN" b="1" dirty="0">
                <a:ea typeface="黑体" panose="02010609060101010101" pitchFamily="49" charset="-122"/>
              </a:rPr>
              <a:t>C:\</a:t>
            </a:r>
            <a:r>
              <a:rPr lang="zh-CN" altLang="en-US" b="1" dirty="0">
                <a:ea typeface="黑体" panose="02010609060101010101" pitchFamily="49" charset="-122"/>
              </a:rPr>
              <a:t>，然后再进入</a:t>
            </a:r>
            <a:r>
              <a:rPr lang="en-US" altLang="zh-CN" b="1" dirty="0">
                <a:ea typeface="黑体" panose="02010609060101010101" pitchFamily="49" charset="-122"/>
              </a:rPr>
              <a:t>\winnt \system32</a:t>
            </a:r>
            <a:r>
              <a:rPr lang="zh-CN" altLang="en-US" b="1" dirty="0">
                <a:ea typeface="黑体" panose="02010609060101010101" pitchFamily="49" charset="-122"/>
              </a:rPr>
              <a:t>目录，运行其中的</a:t>
            </a:r>
            <a:r>
              <a:rPr lang="en-US" altLang="zh-CN" b="1" dirty="0">
                <a:ea typeface="黑体" panose="02010609060101010101" pitchFamily="49" charset="-122"/>
              </a:rPr>
              <a:t>cmd.exe</a:t>
            </a:r>
            <a:r>
              <a:rPr lang="zh-CN" altLang="en-US" b="1" dirty="0">
                <a:ea typeface="黑体" panose="02010609060101010101" pitchFamily="49" charset="-122"/>
              </a:rPr>
              <a:t>程序。后面的“</a:t>
            </a:r>
            <a:r>
              <a:rPr lang="en-US" altLang="zh-CN" b="1" dirty="0">
                <a:ea typeface="黑体" panose="02010609060101010101" pitchFamily="49" charset="-122"/>
              </a:rPr>
              <a:t>?/c”</a:t>
            </a:r>
            <a:r>
              <a:rPr lang="zh-CN" altLang="en-US" b="1" dirty="0">
                <a:ea typeface="黑体" panose="02010609060101010101" pitchFamily="49" charset="-122"/>
              </a:rPr>
              <a:t>表示</a:t>
            </a:r>
            <a:r>
              <a:rPr lang="zh-CN" altLang="en-US" b="1" dirty="0">
                <a:solidFill>
                  <a:srgbClr val="FF0000"/>
                </a:solidFill>
                <a:ea typeface="黑体" panose="02010609060101010101" pitchFamily="49" charset="-122"/>
              </a:rPr>
              <a:t>运行完后关闭</a:t>
            </a:r>
            <a:r>
              <a:rPr lang="en-US" altLang="zh-CN" b="1" dirty="0">
                <a:solidFill>
                  <a:srgbClr val="FF0000"/>
                </a:solidFill>
                <a:ea typeface="黑体" panose="02010609060101010101" pitchFamily="49" charset="-122"/>
              </a:rPr>
              <a:t>DOS</a:t>
            </a:r>
            <a:r>
              <a:rPr lang="zh-CN" altLang="en-US" b="1" dirty="0">
                <a:solidFill>
                  <a:srgbClr val="FF0000"/>
                </a:solidFill>
                <a:ea typeface="黑体" panose="02010609060101010101" pitchFamily="49" charset="-122"/>
              </a:rPr>
              <a:t>窗口</a:t>
            </a:r>
            <a:r>
              <a:rPr lang="zh-CN" altLang="en-US" b="1" dirty="0">
                <a:ea typeface="黑体" panose="02010609060101010101" pitchFamily="49" charset="-122"/>
              </a:rPr>
              <a:t>，“</a:t>
            </a:r>
            <a:r>
              <a:rPr lang="en-US" altLang="zh-CN" b="1" dirty="0">
                <a:ea typeface="黑体" panose="02010609060101010101" pitchFamily="49" charset="-122"/>
              </a:rPr>
              <a:t>+dir”</a:t>
            </a:r>
            <a:r>
              <a:rPr lang="zh-CN" altLang="en-US" b="1" dirty="0">
                <a:ea typeface="黑体" panose="02010609060101010101" pitchFamily="49" charset="-122"/>
              </a:rPr>
              <a:t>时</a:t>
            </a:r>
            <a:r>
              <a:rPr lang="zh-CN" altLang="en-US" b="1" dirty="0">
                <a:solidFill>
                  <a:srgbClr val="FF0000"/>
                </a:solidFill>
                <a:ea typeface="黑体" panose="02010609060101010101" pitchFamily="49" charset="-122"/>
              </a:rPr>
              <a:t>显示当前目录中的文件</a:t>
            </a:r>
            <a:r>
              <a:rPr lang="zh-CN" altLang="en-US" b="1" dirty="0">
                <a:ea typeface="黑体" panose="02010609060101010101" pitchFamily="49" charset="-122"/>
              </a:rPr>
              <a:t>（“</a:t>
            </a:r>
            <a:r>
              <a:rPr lang="en-US" altLang="zh-CN" b="1" dirty="0">
                <a:ea typeface="黑体" panose="02010609060101010101" pitchFamily="49" charset="-122"/>
              </a:rPr>
              <a:t>+”</a:t>
            </a:r>
            <a:r>
              <a:rPr lang="zh-CN" altLang="en-US" b="1" dirty="0">
                <a:ea typeface="黑体" panose="02010609060101010101" pitchFamily="49" charset="-122"/>
              </a:rPr>
              <a:t>表示空一格）。因此，这条命令就是要列举目标系统上</a:t>
            </a:r>
            <a:r>
              <a:rPr lang="en-US" altLang="zh-CN" b="1" dirty="0">
                <a:ea typeface="黑体" panose="02010609060101010101" pitchFamily="49" charset="-122"/>
              </a:rPr>
              <a:t>C</a:t>
            </a:r>
            <a:r>
              <a:rPr lang="zh-CN" altLang="en-US" b="1" dirty="0">
                <a:ea typeface="黑体" panose="02010609060101010101" pitchFamily="49" charset="-122"/>
              </a:rPr>
              <a:t>盘所有的文件：</a:t>
            </a:r>
            <a:r>
              <a:rPr lang="en-US" altLang="zh-CN" b="1" dirty="0">
                <a:ea typeface="黑体" panose="02010609060101010101" pitchFamily="49" charset="-122"/>
              </a:rPr>
              <a:t>C:\winnt\system32\cmd.exe/c dir</a:t>
            </a:r>
            <a:r>
              <a:rPr lang="zh-CN" altLang="en-US" b="1" dirty="0">
                <a:ea typeface="黑体" panose="02010609060101010101" pitchFamily="49" charset="-122"/>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95233"/>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UNICODE</a:t>
            </a:r>
            <a:r>
              <a:rPr lang="zh-CN" altLang="en-US" sz="5000" b="1" noProof="1">
                <a:solidFill>
                  <a:srgbClr val="99FF99"/>
                </a:solidFill>
                <a:effectLst>
                  <a:outerShdw blurRad="38100" dist="38100" dir="2700000">
                    <a:srgbClr val="000000"/>
                  </a:outerShdw>
                </a:effectLst>
                <a:ea typeface="黑体" panose="02010609060101010101" pitchFamily="49" charset="-122"/>
              </a:rPr>
              <a:t>漏洞攻击</a:t>
            </a:r>
          </a:p>
        </p:txBody>
      </p:sp>
      <p:sp>
        <p:nvSpPr>
          <p:cNvPr id="87042" name="文本占位符 95234"/>
          <p:cNvSpPr>
            <a:spLocks noGrp="1"/>
          </p:cNvSpPr>
          <p:nvPr>
            <p:ph idx="1"/>
          </p:nvPr>
        </p:nvSpPr>
        <p:spPr>
          <a:xfrm>
            <a:off x="1246909" y="1600201"/>
            <a:ext cx="9571512" cy="4924425"/>
          </a:xfrm>
        </p:spPr>
        <p:txBody>
          <a:bodyPr vert="horz" wrap="square" lIns="91440" tIns="45720" rIns="91440" bIns="45720" anchor="t"/>
          <a:lstStyle/>
          <a:p>
            <a:pPr algn="just" eaLnBrk="1" hangingPunct="1"/>
            <a:r>
              <a:rPr lang="zh-CN" altLang="en-US" b="1" dirty="0">
                <a:ea typeface="黑体" panose="02010609060101010101" pitchFamily="49" charset="-122"/>
              </a:rPr>
              <a:t>        但是执行该命令后，目标系统会响应“找不到该页”的页面。为什么呢？如果这么简单的命令就能获取目标系统上</a:t>
            </a:r>
            <a:r>
              <a:rPr lang="en-US" altLang="zh-CN" b="1" dirty="0">
                <a:ea typeface="黑体" panose="02010609060101010101" pitchFamily="49" charset="-122"/>
              </a:rPr>
              <a:t>C</a:t>
            </a:r>
            <a:r>
              <a:rPr lang="zh-CN" altLang="en-US" b="1" dirty="0">
                <a:ea typeface="黑体" panose="02010609060101010101" pitchFamily="49" charset="-122"/>
              </a:rPr>
              <a:t>盘所有的文件，那么微软的</a:t>
            </a:r>
            <a:r>
              <a:rPr lang="en-US" altLang="zh-CN" b="1" dirty="0">
                <a:ea typeface="黑体" panose="02010609060101010101" pitchFamily="49" charset="-122"/>
              </a:rPr>
              <a:t>IIS</a:t>
            </a:r>
            <a:r>
              <a:rPr lang="zh-CN" altLang="en-US" b="1" dirty="0">
                <a:ea typeface="黑体" panose="02010609060101010101" pitchFamily="49" charset="-122"/>
              </a:rPr>
              <a:t>显然应该没有市场了，因为安全防护太弱了。这是由于</a:t>
            </a:r>
            <a:r>
              <a:rPr lang="en-US" altLang="zh-CN" b="1" dirty="0">
                <a:ea typeface="黑体" panose="02010609060101010101" pitchFamily="49" charset="-122"/>
              </a:rPr>
              <a:t>IIS</a:t>
            </a:r>
            <a:r>
              <a:rPr lang="zh-CN" altLang="en-US" b="1" dirty="0">
                <a:solidFill>
                  <a:srgbClr val="FF0000"/>
                </a:solidFill>
                <a:ea typeface="黑体" panose="02010609060101010101" pitchFamily="49" charset="-122"/>
              </a:rPr>
              <a:t>会过滤命令行中的“</a:t>
            </a:r>
            <a:r>
              <a:rPr lang="en-US" altLang="zh-CN" b="1" dirty="0">
                <a:solidFill>
                  <a:srgbClr val="FF0000"/>
                </a:solidFill>
                <a:ea typeface="黑体" panose="02010609060101010101" pitchFamily="49" charset="-122"/>
              </a:rPr>
              <a:t>..\”</a:t>
            </a:r>
            <a:r>
              <a:rPr lang="zh-CN" altLang="en-US" b="1" dirty="0">
                <a:solidFill>
                  <a:srgbClr val="FF0000"/>
                </a:solidFill>
                <a:ea typeface="黑体" panose="02010609060101010101" pitchFamily="49" charset="-122"/>
              </a:rPr>
              <a:t>或者“</a:t>
            </a:r>
            <a:r>
              <a:rPr lang="en-US" altLang="zh-CN" b="1" dirty="0">
                <a:solidFill>
                  <a:srgbClr val="FF0000"/>
                </a:solidFill>
                <a:ea typeface="黑体" panose="02010609060101010101" pitchFamily="49" charset="-122"/>
              </a:rPr>
              <a:t>../”</a:t>
            </a:r>
            <a:r>
              <a:rPr lang="zh-CN" altLang="en-US" b="1" dirty="0">
                <a:solidFill>
                  <a:srgbClr val="FF0000"/>
                </a:solidFill>
                <a:ea typeface="黑体" panose="02010609060101010101" pitchFamily="49" charset="-122"/>
              </a:rPr>
              <a:t>字符串</a:t>
            </a:r>
            <a:r>
              <a:rPr lang="zh-CN" altLang="en-US" b="1" dirty="0">
                <a:ea typeface="黑体" panose="02010609060101010101" pitchFamily="49" charset="-122"/>
              </a:rPr>
              <a:t>。既然“</a:t>
            </a:r>
            <a:r>
              <a:rPr lang="en-US" altLang="zh-CN" b="1" dirty="0">
                <a:ea typeface="黑体" panose="02010609060101010101" pitchFamily="49" charset="-122"/>
              </a:rPr>
              <a:t>..\”</a:t>
            </a:r>
            <a:r>
              <a:rPr lang="zh-CN" altLang="en-US" b="1" dirty="0">
                <a:ea typeface="黑体" panose="02010609060101010101" pitchFamily="49" charset="-122"/>
              </a:rPr>
              <a:t>或者“</a:t>
            </a:r>
            <a:r>
              <a:rPr lang="en-US" altLang="zh-CN" b="1" dirty="0">
                <a:ea typeface="黑体" panose="02010609060101010101" pitchFamily="49" charset="-122"/>
              </a:rPr>
              <a:t>../”</a:t>
            </a:r>
            <a:r>
              <a:rPr lang="zh-CN" altLang="en-US" b="1" dirty="0">
                <a:ea typeface="黑体" panose="02010609060101010101" pitchFamily="49" charset="-122"/>
              </a:rPr>
              <a:t>字符串被过滤了，那么我们是不是没有办法获取目标系统上的文件列表呢？这用</a:t>
            </a:r>
            <a:r>
              <a:rPr lang="en-US" altLang="zh-CN" b="1" dirty="0">
                <a:ea typeface="黑体" panose="02010609060101010101" pitchFamily="49" charset="-122"/>
              </a:rPr>
              <a:t>UNICODE</a:t>
            </a:r>
            <a:r>
              <a:rPr lang="zh-CN" altLang="en-US" b="1" dirty="0">
                <a:ea typeface="黑体" panose="02010609060101010101" pitchFamily="49" charset="-122"/>
              </a:rPr>
              <a:t>字符可以做到。</a:t>
            </a:r>
            <a:r>
              <a:rPr lang="zh-CN" altLang="en-US" dirty="0">
                <a:ea typeface="黑体" panose="02010609060101010101" pitchFamily="49" charset="-122"/>
              </a:rPr>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140031" y="2897579"/>
            <a:ext cx="9488385" cy="51063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258" name="标题 96257"/>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UNICODE</a:t>
            </a:r>
            <a:r>
              <a:rPr lang="zh-CN" altLang="en-US" sz="5000" b="1" noProof="1">
                <a:solidFill>
                  <a:srgbClr val="99FF99"/>
                </a:solidFill>
                <a:effectLst>
                  <a:outerShdw blurRad="38100" dist="38100" dir="2700000">
                    <a:srgbClr val="000000"/>
                  </a:outerShdw>
                </a:effectLst>
                <a:ea typeface="黑体" panose="02010609060101010101" pitchFamily="49" charset="-122"/>
              </a:rPr>
              <a:t>漏洞攻击</a:t>
            </a:r>
          </a:p>
        </p:txBody>
      </p:sp>
      <p:sp>
        <p:nvSpPr>
          <p:cNvPr id="88066" name="文本占位符 96258"/>
          <p:cNvSpPr>
            <a:spLocks noGrp="1"/>
          </p:cNvSpPr>
          <p:nvPr>
            <p:ph idx="1"/>
          </p:nvPr>
        </p:nvSpPr>
        <p:spPr>
          <a:xfrm>
            <a:off x="914400" y="1659578"/>
            <a:ext cx="10363200" cy="4924425"/>
          </a:xfrm>
        </p:spPr>
        <p:txBody>
          <a:bodyPr vert="horz" wrap="square" lIns="91440" tIns="45720" rIns="91440" bIns="45720" anchor="t"/>
          <a:lstStyle/>
          <a:p>
            <a:pPr algn="just" eaLnBrk="1" hangingPunct="1">
              <a:buNone/>
            </a:pPr>
            <a:r>
              <a:rPr lang="zh-CN" altLang="en-US" b="1" dirty="0">
                <a:ea typeface="黑体" panose="02010609060101010101" pitchFamily="49" charset="-122"/>
              </a:rPr>
              <a:t>        如果用</a:t>
            </a:r>
            <a:r>
              <a:rPr lang="en-US" altLang="zh-CN" b="1" dirty="0">
                <a:ea typeface="黑体" panose="02010609060101010101" pitchFamily="49" charset="-122"/>
              </a:rPr>
              <a:t>UNICODE</a:t>
            </a:r>
            <a:r>
              <a:rPr lang="zh-CN" altLang="en-US" b="1" dirty="0">
                <a:ea typeface="黑体" panose="02010609060101010101" pitchFamily="49" charset="-122"/>
              </a:rPr>
              <a:t>编码，那么“</a:t>
            </a:r>
            <a:r>
              <a:rPr lang="en-US" altLang="zh-CN" b="1" dirty="0">
                <a:ea typeface="黑体" panose="02010609060101010101" pitchFamily="49" charset="-122"/>
              </a:rPr>
              <a:t>\”</a:t>
            </a:r>
            <a:r>
              <a:rPr lang="zh-CN" altLang="en-US" b="1" dirty="0">
                <a:ea typeface="黑体" panose="02010609060101010101" pitchFamily="49" charset="-122"/>
              </a:rPr>
              <a:t>在繁体中文</a:t>
            </a:r>
            <a:r>
              <a:rPr lang="en-US" altLang="zh-CN" b="1" dirty="0">
                <a:ea typeface="黑体" panose="02010609060101010101" pitchFamily="49" charset="-122"/>
              </a:rPr>
              <a:t>Windows</a:t>
            </a:r>
            <a:r>
              <a:rPr lang="zh-CN" altLang="en-US" b="1" dirty="0">
                <a:ea typeface="黑体" panose="02010609060101010101" pitchFamily="49" charset="-122"/>
              </a:rPr>
              <a:t>下被表示为“</a:t>
            </a:r>
            <a:r>
              <a:rPr lang="en-US" altLang="zh-CN" b="1" dirty="0">
                <a:solidFill>
                  <a:schemeClr val="folHlink"/>
                </a:solidFill>
                <a:ea typeface="黑体" panose="02010609060101010101" pitchFamily="49" charset="-122"/>
              </a:rPr>
              <a:t>%c1%9c</a:t>
            </a:r>
            <a:r>
              <a:rPr lang="en-US" altLang="zh-CN" b="1" dirty="0">
                <a:ea typeface="黑体" panose="02010609060101010101" pitchFamily="49" charset="-122"/>
              </a:rPr>
              <a:t>”</a:t>
            </a:r>
            <a:r>
              <a:rPr lang="zh-CN" altLang="en-US" b="1" dirty="0">
                <a:ea typeface="黑体" panose="02010609060101010101" pitchFamily="49" charset="-122"/>
              </a:rPr>
              <a:t>，简体中文下表示为“</a:t>
            </a:r>
            <a:r>
              <a:rPr lang="en-US" altLang="zh-CN" b="1" dirty="0">
                <a:ea typeface="黑体" panose="02010609060101010101" pitchFamily="49" charset="-122"/>
              </a:rPr>
              <a:t>%c1%1c”</a:t>
            </a:r>
            <a:r>
              <a:rPr lang="zh-CN" altLang="en-US" b="1" dirty="0">
                <a:ea typeface="黑体" panose="02010609060101010101" pitchFamily="49" charset="-122"/>
              </a:rPr>
              <a:t>，英文版下表示为“</a:t>
            </a:r>
            <a:r>
              <a:rPr lang="en-US" altLang="zh-CN" b="1" dirty="0">
                <a:ea typeface="黑体" panose="02010609060101010101" pitchFamily="49" charset="-122"/>
              </a:rPr>
              <a:t>%c0%af”</a:t>
            </a:r>
            <a:r>
              <a:rPr lang="zh-CN" altLang="en-US" b="1" dirty="0">
                <a:ea typeface="黑体" panose="02010609060101010101" pitchFamily="49" charset="-122"/>
              </a:rPr>
              <a:t>。因此，如果我们在</a:t>
            </a:r>
            <a:r>
              <a:rPr lang="en-US" altLang="zh-CN" b="1" dirty="0">
                <a:ea typeface="黑体" panose="02010609060101010101" pitchFamily="49" charset="-122"/>
              </a:rPr>
              <a:t>IE</a:t>
            </a:r>
            <a:r>
              <a:rPr lang="zh-CN" altLang="en-US" b="1" dirty="0">
                <a:ea typeface="黑体" panose="02010609060101010101" pitchFamily="49" charset="-122"/>
              </a:rPr>
              <a:t>命令行中嵌入 </a:t>
            </a:r>
          </a:p>
          <a:p>
            <a:pPr algn="just" eaLnBrk="1" hangingPunct="1">
              <a:buNone/>
            </a:pPr>
            <a:r>
              <a:rPr lang="en-US" altLang="zh-CN" sz="2400" b="1" dirty="0">
                <a:ea typeface="黑体" panose="02010609060101010101" pitchFamily="49" charset="-122"/>
              </a:rPr>
              <a:t>    http://192.168.0.1/scripts/..</a:t>
            </a:r>
            <a:r>
              <a:rPr lang="en-US" altLang="zh-CN" sz="2400" b="1" dirty="0">
                <a:solidFill>
                  <a:schemeClr val="folHlink"/>
                </a:solidFill>
                <a:ea typeface="黑体" panose="02010609060101010101" pitchFamily="49" charset="-122"/>
              </a:rPr>
              <a:t>%c1%9c</a:t>
            </a:r>
            <a:r>
              <a:rPr lang="en-US" altLang="zh-CN" sz="2400" b="1" dirty="0">
                <a:ea typeface="黑体" panose="02010609060101010101" pitchFamily="49" charset="-122"/>
              </a:rPr>
              <a:t>..\winnt\ system32\cmd.exe?/c+dir </a:t>
            </a:r>
          </a:p>
          <a:p>
            <a:pPr algn="just" eaLnBrk="1" hangingPunct="1">
              <a:buNone/>
            </a:pPr>
            <a:r>
              <a:rPr lang="zh-CN" altLang="en-US" b="1" dirty="0">
                <a:ea typeface="黑体" panose="02010609060101010101" pitchFamily="49" charset="-122"/>
              </a:rPr>
              <a:t>        该命令被成功执行，向</a:t>
            </a:r>
            <a:r>
              <a:rPr lang="en-US" altLang="zh-CN" b="1" dirty="0">
                <a:ea typeface="黑体" panose="02010609060101010101" pitchFamily="49" charset="-122"/>
              </a:rPr>
              <a:t>IE</a:t>
            </a:r>
            <a:r>
              <a:rPr lang="zh-CN" altLang="en-US" b="1" dirty="0">
                <a:ea typeface="黑体" panose="02010609060101010101" pitchFamily="49" charset="-122"/>
              </a:rPr>
              <a:t>客户端返回了</a:t>
            </a:r>
            <a:r>
              <a:rPr lang="en-US" altLang="zh-CN" b="1" dirty="0">
                <a:ea typeface="黑体" panose="02010609060101010101" pitchFamily="49" charset="-122"/>
              </a:rPr>
              <a:t>C</a:t>
            </a:r>
            <a:r>
              <a:rPr lang="zh-CN" altLang="en-US" b="1" dirty="0">
                <a:ea typeface="黑体" panose="02010609060101010101" pitchFamily="49" charset="-122"/>
              </a:rPr>
              <a:t>盘根目录下的所有文件目录信息！如果我们将“</a:t>
            </a:r>
            <a:r>
              <a:rPr lang="en-US" altLang="zh-CN" b="1" dirty="0">
                <a:ea typeface="黑体" panose="02010609060101010101" pitchFamily="49" charset="-122"/>
              </a:rPr>
              <a:t>dir”</a:t>
            </a:r>
            <a:r>
              <a:rPr lang="zh-CN" altLang="en-US" b="1" dirty="0">
                <a:ea typeface="黑体" panose="02010609060101010101" pitchFamily="49" charset="-122"/>
              </a:rPr>
              <a:t>换为其他命令，那么还可以做更多的事情。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97281"/>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4.4.2.3 </a:t>
            </a:r>
            <a:r>
              <a:rPr lang="zh-CN" altLang="en-US" sz="5000" b="1" noProof="1">
                <a:solidFill>
                  <a:schemeClr val="tx2"/>
                </a:solidFill>
                <a:effectLst>
                  <a:outerShdw blurRad="38100" dist="38100" dir="2700000">
                    <a:srgbClr val="000000"/>
                  </a:outerShdw>
                </a:effectLst>
                <a:ea typeface="黑体" panose="02010609060101010101" pitchFamily="49" charset="-122"/>
              </a:rPr>
              <a:t>输入法漏洞攻击</a:t>
            </a:r>
          </a:p>
        </p:txBody>
      </p:sp>
      <p:sp>
        <p:nvSpPr>
          <p:cNvPr id="89090" name="文本占位符 97282"/>
          <p:cNvSpPr>
            <a:spLocks noGrp="1"/>
          </p:cNvSpPr>
          <p:nvPr>
            <p:ph idx="1"/>
          </p:nvPr>
        </p:nvSpPr>
        <p:spPr>
          <a:xfrm>
            <a:off x="1104405" y="1981200"/>
            <a:ext cx="10046526" cy="4114800"/>
          </a:xfrm>
        </p:spPr>
        <p:txBody>
          <a:bodyPr vert="horz" wrap="square" lIns="91440" tIns="45720" rIns="91440" bIns="45720" anchor="t"/>
          <a:lstStyle/>
          <a:p>
            <a:pPr algn="just" eaLnBrk="1" hangingPunct="1">
              <a:buNone/>
            </a:pPr>
            <a:r>
              <a:rPr lang="zh-CN" altLang="en-US" sz="3200" b="1" dirty="0">
                <a:ea typeface="黑体" panose="02010609060101010101" pitchFamily="49" charset="-122"/>
              </a:rPr>
              <a:t>        输入法漏洞影响所有的</a:t>
            </a:r>
            <a:r>
              <a:rPr lang="en-US" altLang="zh-CN" sz="3200" b="1" dirty="0">
                <a:ea typeface="黑体" panose="02010609060101010101" pitchFamily="49" charset="-122"/>
              </a:rPr>
              <a:t>Windows 2000</a:t>
            </a:r>
            <a:r>
              <a:rPr lang="zh-CN" altLang="en-US" sz="3200" b="1" dirty="0">
                <a:ea typeface="黑体" panose="02010609060101010101" pitchFamily="49" charset="-122"/>
              </a:rPr>
              <a:t>中文操作系统。所谓输入法漏洞，就是用户在登录</a:t>
            </a:r>
            <a:r>
              <a:rPr lang="en-US" altLang="zh-CN" sz="3200" b="1" dirty="0">
                <a:ea typeface="黑体" panose="02010609060101010101" pitchFamily="49" charset="-122"/>
              </a:rPr>
              <a:t>Windows 2000</a:t>
            </a:r>
            <a:r>
              <a:rPr lang="zh-CN" altLang="en-US" sz="3200" b="1" dirty="0">
                <a:ea typeface="黑体" panose="02010609060101010101" pitchFamily="49" charset="-122"/>
              </a:rPr>
              <a:t>时，通过在登录对话框中的“用户名”中调出中文输入状态，并通过中文输入状态的状态条中的帮助进入到系统内部，达到绕过登录账号验证的目的。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9830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0114" name="文本占位符 98306"/>
          <p:cNvSpPr>
            <a:spLocks noGrp="1"/>
          </p:cNvSpPr>
          <p:nvPr>
            <p:ph idx="1"/>
          </p:nvPr>
        </p:nvSpPr>
        <p:spPr>
          <a:xfrm>
            <a:off x="1056904" y="1981200"/>
            <a:ext cx="10082151" cy="4114800"/>
          </a:xfrm>
        </p:spPr>
        <p:txBody>
          <a:bodyPr vert="horz" wrap="square" lIns="91440" tIns="45720" rIns="91440" bIns="45720" anchor="t"/>
          <a:lstStyle/>
          <a:p>
            <a:pPr algn="just"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1</a:t>
            </a:r>
            <a:r>
              <a:rPr lang="zh-CN" altLang="en-US" sz="3200" b="1" dirty="0">
                <a:ea typeface="黑体" panose="02010609060101010101" pitchFamily="49" charset="-122"/>
              </a:rPr>
              <a:t>）在本机的</a:t>
            </a:r>
            <a:r>
              <a:rPr lang="en-US" altLang="zh-CN" sz="3200" b="1" dirty="0">
                <a:ea typeface="黑体" panose="02010609060101010101" pitchFamily="49" charset="-122"/>
              </a:rPr>
              <a:t>Windows 2000</a:t>
            </a:r>
            <a:r>
              <a:rPr lang="zh-CN" altLang="en-US" sz="3200" b="1" dirty="0">
                <a:ea typeface="黑体" panose="02010609060101010101" pitchFamily="49" charset="-122"/>
              </a:rPr>
              <a:t>登录界面上，把光标放置到“用户名”文本框中。如果远程登录，可以利用“酷虎</a:t>
            </a:r>
            <a:r>
              <a:rPr lang="en-US" altLang="zh-CN" sz="3200" b="1" dirty="0">
                <a:ea typeface="黑体" panose="02010609060101010101" pitchFamily="49" charset="-122"/>
              </a:rPr>
              <a:t>Win2K</a:t>
            </a:r>
            <a:r>
              <a:rPr lang="zh-CN" altLang="en-US" sz="3200" b="1" dirty="0">
                <a:ea typeface="黑体" panose="02010609060101010101" pitchFamily="49" charset="-122"/>
              </a:rPr>
              <a:t>登录器”这样的软件来远程登录（这是利用的</a:t>
            </a:r>
            <a:r>
              <a:rPr lang="en-US" altLang="zh-CN" sz="3200" b="1" dirty="0">
                <a:ea typeface="黑体" panose="02010609060101010101" pitchFamily="49" charset="-122"/>
              </a:rPr>
              <a:t>3389</a:t>
            </a:r>
            <a:r>
              <a:rPr lang="zh-CN" altLang="en-US" sz="3200" b="1" dirty="0">
                <a:ea typeface="黑体" panose="02010609060101010101" pitchFamily="49" charset="-122"/>
              </a:rPr>
              <a:t>端口），连接成功后，同样把光标放置到“用户名”文本框中；</a:t>
            </a:r>
            <a:r>
              <a:rPr lang="zh-CN" altLang="en-US" sz="3200" dirty="0">
                <a:ea typeface="黑体" panose="02010609060101010101" pitchFamily="49" charset="-122"/>
              </a:rPr>
              <a: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1138" name="文本占位符 99330"/>
          <p:cNvSpPr>
            <a:spLocks noGrp="1"/>
          </p:cNvSpPr>
          <p:nvPr>
            <p:ph idx="1"/>
          </p:nvPr>
        </p:nvSpPr>
        <p:spPr/>
        <p:txBody>
          <a:bodyPr vert="horz" wrap="square" lIns="91440" tIns="45720" rIns="91440" bIns="45720" anchor="t"/>
          <a:lstStyle/>
          <a:p>
            <a:pPr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2</a:t>
            </a:r>
            <a:r>
              <a:rPr lang="zh-CN" altLang="en-US" sz="3200" b="1" dirty="0">
                <a:ea typeface="黑体" panose="02010609060101010101" pitchFamily="49" charset="-122"/>
              </a:rPr>
              <a:t>）然后按</a:t>
            </a:r>
            <a:r>
              <a:rPr lang="en-US" altLang="zh-CN" sz="3200" b="1" dirty="0">
                <a:ea typeface="黑体" panose="02010609060101010101" pitchFamily="49" charset="-122"/>
              </a:rPr>
              <a:t>Ctrl+Shift</a:t>
            </a:r>
            <a:r>
              <a:rPr lang="zh-CN" altLang="en-US" sz="3200" b="1" dirty="0">
                <a:ea typeface="黑体" panose="02010609060101010101" pitchFamily="49" charset="-122"/>
              </a:rPr>
              <a:t>快捷键调出全拼输入状态条；</a:t>
            </a:r>
          </a:p>
          <a:p>
            <a:pPr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3</a:t>
            </a:r>
            <a:r>
              <a:rPr lang="zh-CN" altLang="en-US" sz="3200" b="1" dirty="0">
                <a:ea typeface="黑体" panose="02010609060101010101" pitchFamily="49" charset="-122"/>
              </a:rPr>
              <a:t>）右键点击该状态条，便弹出一个关于全拼输入法的快捷菜单，选择“帮助”→“操作指南”；</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0035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pic>
        <p:nvPicPr>
          <p:cNvPr id="92162" name="图片 100354"/>
          <p:cNvPicPr>
            <a:picLocks noChangeAspect="1"/>
          </p:cNvPicPr>
          <p:nvPr/>
        </p:nvPicPr>
        <p:blipFill>
          <a:blip r:embed="rId2"/>
          <a:stretch>
            <a:fillRect/>
          </a:stretch>
        </p:blipFill>
        <p:spPr>
          <a:xfrm>
            <a:off x="2927351" y="2674939"/>
            <a:ext cx="4608513" cy="2630487"/>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01377"/>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3186" name="文本占位符 101378"/>
          <p:cNvSpPr>
            <a:spLocks noGrp="1"/>
          </p:cNvSpPr>
          <p:nvPr>
            <p:ph idx="1"/>
          </p:nvPr>
        </p:nvSpPr>
        <p:spPr/>
        <p:txBody>
          <a:bodyPr vert="horz" wrap="square" lIns="91440" tIns="45720" rIns="91440" bIns="45720" anchor="t"/>
          <a:lstStyle/>
          <a:p>
            <a:pPr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4</a:t>
            </a:r>
            <a:r>
              <a:rPr lang="zh-CN" altLang="en-US" sz="3200" b="1" dirty="0">
                <a:ea typeface="黑体" panose="02010609060101010101" pitchFamily="49" charset="-122"/>
              </a:rPr>
              <a:t>）打开“输入法操作指南”窗口，在基本操作目录下选择一项帮助目录后，单击鼠标右键，从弹出的快捷菜单中选择“跳至</a:t>
            </a:r>
            <a:r>
              <a:rPr lang="en-US" altLang="zh-CN" sz="3200" b="1" dirty="0">
                <a:ea typeface="黑体" panose="02010609060101010101" pitchFamily="49" charset="-122"/>
              </a:rPr>
              <a:t>URL”</a:t>
            </a:r>
            <a:r>
              <a:rPr lang="zh-CN" altLang="en-US" sz="3200" b="1" dirty="0">
                <a:ea typeface="黑体" panose="02010609060101010101" pitchFamily="49" charset="-122"/>
              </a:rPr>
              <a:t>命令；</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02401"/>
          <p:cNvSpPr>
            <a:spLocks noGrp="1"/>
          </p:cNvSpPr>
          <p:nvPr>
            <p:ph type="title"/>
          </p:nvPr>
        </p:nvSpPr>
        <p:spPr>
          <a:xfrm>
            <a:off x="2208213" y="404813"/>
            <a:ext cx="7772400" cy="1143000"/>
          </a:xfrm>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pic>
        <p:nvPicPr>
          <p:cNvPr id="94210" name="图片 102402"/>
          <p:cNvPicPr>
            <a:picLocks noChangeAspect="1"/>
          </p:cNvPicPr>
          <p:nvPr/>
        </p:nvPicPr>
        <p:blipFill>
          <a:blip r:embed="rId2"/>
          <a:stretch>
            <a:fillRect/>
          </a:stretch>
        </p:blipFill>
        <p:spPr>
          <a:xfrm>
            <a:off x="2711450" y="1441450"/>
            <a:ext cx="6624638" cy="5416550"/>
          </a:xfrm>
          <a:prstGeom prst="rect">
            <a:avLst/>
          </a:prstGeom>
          <a:noFill/>
          <a:ln w="9525">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0342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5234" name="文本占位符 103426"/>
          <p:cNvSpPr>
            <a:spLocks noGrp="1"/>
          </p:cNvSpPr>
          <p:nvPr>
            <p:ph idx="1"/>
          </p:nvPr>
        </p:nvSpPr>
        <p:spPr/>
        <p:txBody>
          <a:bodyPr vert="horz" wrap="square" lIns="91440" tIns="45720" rIns="91440" bIns="45720" anchor="t"/>
          <a:lstStyle/>
          <a:p>
            <a:pPr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5</a:t>
            </a:r>
            <a:r>
              <a:rPr lang="zh-CN" altLang="en-US" sz="3200" b="1" dirty="0">
                <a:ea typeface="黑体" panose="02010609060101010101" pitchFamily="49" charset="-122"/>
              </a:rPr>
              <a:t>）在“跳至</a:t>
            </a:r>
            <a:r>
              <a:rPr lang="en-US" altLang="zh-CN" sz="3200" b="1" dirty="0">
                <a:ea typeface="黑体" panose="02010609060101010101" pitchFamily="49" charset="-122"/>
              </a:rPr>
              <a:t>URL”</a:t>
            </a:r>
            <a:r>
              <a:rPr lang="zh-CN" altLang="en-US" sz="3200" b="1" dirty="0">
                <a:ea typeface="黑体" panose="02010609060101010101" pitchFamily="49" charset="-122"/>
              </a:rPr>
              <a:t>的：“跳至该</a:t>
            </a:r>
            <a:r>
              <a:rPr lang="en-US" altLang="zh-CN" sz="3200" b="1" dirty="0">
                <a:ea typeface="黑体" panose="02010609060101010101" pitchFamily="49" charset="-122"/>
              </a:rPr>
              <a:t>URL”</a:t>
            </a:r>
            <a:r>
              <a:rPr lang="zh-CN" altLang="en-US" sz="3200" b="1" dirty="0">
                <a:ea typeface="黑体" panose="02010609060101010101" pitchFamily="49" charset="-122"/>
              </a:rPr>
              <a:t>中输入“</a:t>
            </a:r>
            <a:r>
              <a:rPr lang="en-US" altLang="zh-CN" sz="3200" b="1" dirty="0">
                <a:ea typeface="黑体" panose="02010609060101010101" pitchFamily="49" charset="-122"/>
              </a:rPr>
              <a:t>C:\”</a:t>
            </a:r>
            <a:r>
              <a:rPr lang="zh-CN" altLang="en-US" sz="3200" b="1" dirty="0">
                <a:ea typeface="黑体" panose="02010609060101010101" pitchFamily="49" charset="-122"/>
              </a:rPr>
              <a:t>，单击“确定”按钮；</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0444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pic>
        <p:nvPicPr>
          <p:cNvPr id="96258" name="图片 104450"/>
          <p:cNvPicPr>
            <a:picLocks noChangeAspect="1"/>
          </p:cNvPicPr>
          <p:nvPr/>
        </p:nvPicPr>
        <p:blipFill>
          <a:blip r:embed="rId2"/>
          <a:stretch>
            <a:fillRect/>
          </a:stretch>
        </p:blipFill>
        <p:spPr>
          <a:xfrm>
            <a:off x="3216276" y="1916113"/>
            <a:ext cx="5256213" cy="3503612"/>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0547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7282" name="文本占位符 105474"/>
          <p:cNvSpPr>
            <a:spLocks noGrp="1"/>
          </p:cNvSpPr>
          <p:nvPr>
            <p:ph idx="1"/>
          </p:nvPr>
        </p:nvSpPr>
        <p:spPr/>
        <p:txBody>
          <a:bodyPr vert="horz" wrap="square" lIns="91440" tIns="45720" rIns="91440" bIns="45720" anchor="t"/>
          <a:lstStyle/>
          <a:p>
            <a:pPr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6</a:t>
            </a:r>
            <a:r>
              <a:rPr lang="zh-CN" altLang="en-US" sz="3200" b="1" dirty="0">
                <a:ea typeface="黑体" panose="02010609060101010101" pitchFamily="49" charset="-122"/>
              </a:rPr>
              <a:t>）此时可以列出</a:t>
            </a:r>
            <a:r>
              <a:rPr lang="en-US" altLang="zh-CN" sz="3200" b="1" dirty="0">
                <a:ea typeface="黑体" panose="02010609060101010101" pitchFamily="49" charset="-122"/>
              </a:rPr>
              <a:t>C</a:t>
            </a:r>
            <a:r>
              <a:rPr lang="zh-CN" altLang="en-US" sz="3200" b="1" dirty="0">
                <a:ea typeface="黑体" panose="02010609060101010101" pitchFamily="49" charset="-122"/>
              </a:rPr>
              <a:t>盘中的文件夹，且</a:t>
            </a:r>
            <a:r>
              <a:rPr lang="en-US" altLang="zh-CN" sz="3200" b="1" dirty="0">
                <a:ea typeface="黑体" panose="02010609060101010101" pitchFamily="49" charset="-122"/>
              </a:rPr>
              <a:t>C</a:t>
            </a:r>
            <a:r>
              <a:rPr lang="zh-CN" altLang="en-US" sz="3200" b="1" dirty="0">
                <a:ea typeface="黑体" panose="02010609060101010101" pitchFamily="49" charset="-122"/>
              </a:rPr>
              <a:t>盘下的文件全部开放给攻击者；</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06497"/>
          <p:cNvSpPr>
            <a:spLocks noGrp="1"/>
          </p:cNvSpPr>
          <p:nvPr>
            <p:ph type="title"/>
          </p:nvPr>
        </p:nvSpPr>
        <p:spPr>
          <a:xfrm>
            <a:off x="2279650" y="260350"/>
            <a:ext cx="7772400" cy="1143000"/>
          </a:xfrm>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pic>
        <p:nvPicPr>
          <p:cNvPr id="98306" name="图片 106498"/>
          <p:cNvPicPr>
            <a:picLocks noChangeAspect="1"/>
          </p:cNvPicPr>
          <p:nvPr/>
        </p:nvPicPr>
        <p:blipFill>
          <a:blip r:embed="rId2"/>
          <a:stretch>
            <a:fillRect/>
          </a:stretch>
        </p:blipFill>
        <p:spPr>
          <a:xfrm>
            <a:off x="2640014" y="1260476"/>
            <a:ext cx="6840537" cy="5597525"/>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07521"/>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输入法漏洞攻击步骤</a:t>
            </a:r>
            <a:endParaRPr lang="en-US" altLang="zh-CN" sz="5000" b="1" noProof="1">
              <a:solidFill>
                <a:srgbClr val="99FF99"/>
              </a:solidFill>
              <a:effectLst>
                <a:outerShdw blurRad="38100" dist="38100" dir="2700000">
                  <a:srgbClr val="000000"/>
                </a:outerShdw>
              </a:effectLst>
              <a:ea typeface="黑体" panose="02010609060101010101" pitchFamily="49" charset="-122"/>
            </a:endParaRPr>
          </a:p>
        </p:txBody>
      </p:sp>
      <p:sp>
        <p:nvSpPr>
          <p:cNvPr id="99330" name="文本占位符 107522"/>
          <p:cNvSpPr>
            <a:spLocks noGrp="1"/>
          </p:cNvSpPr>
          <p:nvPr>
            <p:ph idx="1"/>
          </p:nvPr>
        </p:nvSpPr>
        <p:spPr/>
        <p:txBody>
          <a:bodyPr vert="horz" wrap="square" lIns="91440" tIns="45720" rIns="91440" bIns="45720" anchor="t"/>
          <a:lstStyle/>
          <a:p>
            <a:pPr algn="just" eaLnBrk="1" hangingPunct="1">
              <a:buNone/>
            </a:pPr>
            <a:r>
              <a:rPr lang="zh-CN" altLang="en-US" sz="3200" b="1" dirty="0">
                <a:ea typeface="黑体" panose="02010609060101010101" pitchFamily="49" charset="-122"/>
              </a:rPr>
              <a:t>（</a:t>
            </a:r>
            <a:r>
              <a:rPr lang="en-US" altLang="zh-CN" sz="3200" b="1" dirty="0">
                <a:ea typeface="黑体" panose="02010609060101010101" pitchFamily="49" charset="-122"/>
              </a:rPr>
              <a:t>7</a:t>
            </a:r>
            <a:r>
              <a:rPr lang="zh-CN" altLang="en-US" sz="3200" b="1" dirty="0">
                <a:ea typeface="黑体" panose="02010609060101010101" pitchFamily="49" charset="-122"/>
              </a:rPr>
              <a:t>）也可以在“跳至该</a:t>
            </a:r>
            <a:r>
              <a:rPr lang="en-US" altLang="zh-CN" sz="3200" b="1" dirty="0">
                <a:ea typeface="黑体" panose="02010609060101010101" pitchFamily="49" charset="-122"/>
              </a:rPr>
              <a:t>URL”</a:t>
            </a:r>
            <a:r>
              <a:rPr lang="zh-CN" altLang="en-US" sz="3200" b="1" dirty="0">
                <a:ea typeface="黑体" panose="02010609060101010101" pitchFamily="49" charset="-122"/>
              </a:rPr>
              <a:t>中输入“</a:t>
            </a:r>
            <a:r>
              <a:rPr lang="en-US" altLang="zh-CN" sz="3200" b="1" dirty="0">
                <a:ea typeface="黑体" panose="02010609060101010101" pitchFamily="49" charset="-122"/>
              </a:rPr>
              <a:t>D:\”</a:t>
            </a:r>
            <a:r>
              <a:rPr lang="zh-CN" altLang="en-US" sz="3200" b="1" dirty="0">
                <a:ea typeface="黑体" panose="02010609060101010101" pitchFamily="49" charset="-122"/>
              </a:rPr>
              <a:t>、“</a:t>
            </a:r>
            <a:r>
              <a:rPr lang="en-US" altLang="zh-CN" sz="3200" b="1" dirty="0">
                <a:ea typeface="黑体" panose="02010609060101010101" pitchFamily="49" charset="-122"/>
              </a:rPr>
              <a:t>E:\”</a:t>
            </a:r>
            <a:r>
              <a:rPr lang="zh-CN" altLang="en-US" sz="3200" b="1" dirty="0">
                <a:ea typeface="黑体" panose="02010609060101010101" pitchFamily="49" charset="-122"/>
              </a:rPr>
              <a:t>等来获得对</a:t>
            </a:r>
            <a:r>
              <a:rPr lang="en-US" altLang="zh-CN" sz="3200" b="1" dirty="0">
                <a:ea typeface="黑体" panose="02010609060101010101" pitchFamily="49" charset="-122"/>
              </a:rPr>
              <a:t>D</a:t>
            </a:r>
            <a:r>
              <a:rPr lang="zh-CN" altLang="en-US" sz="3200" b="1" dirty="0">
                <a:ea typeface="黑体" panose="02010609060101010101" pitchFamily="49" charset="-122"/>
              </a:rPr>
              <a:t>盘和</a:t>
            </a:r>
            <a:r>
              <a:rPr lang="en-US" altLang="zh-CN" sz="3200" b="1" dirty="0">
                <a:ea typeface="黑体" panose="02010609060101010101" pitchFamily="49" charset="-122"/>
              </a:rPr>
              <a:t>E</a:t>
            </a:r>
            <a:r>
              <a:rPr lang="zh-CN" altLang="en-US" sz="3200" b="1" dirty="0">
                <a:ea typeface="黑体" panose="02010609060101010101" pitchFamily="49" charset="-122"/>
              </a:rPr>
              <a:t>盘的访问。也可以通过在“输入法操作指南”中添加打印机来获取对本机的完全控制。还可以在“跳至该</a:t>
            </a:r>
            <a:r>
              <a:rPr lang="en-US" altLang="zh-CN" sz="3200" b="1" dirty="0">
                <a:ea typeface="黑体" panose="02010609060101010101" pitchFamily="49" charset="-122"/>
              </a:rPr>
              <a:t>URL”</a:t>
            </a:r>
            <a:r>
              <a:rPr lang="zh-CN" altLang="en-US" sz="3200" b="1" dirty="0">
                <a:ea typeface="黑体" panose="02010609060101010101" pitchFamily="49" charset="-122"/>
              </a:rPr>
              <a:t>中输入“</a:t>
            </a:r>
            <a:r>
              <a:rPr lang="en-US" altLang="zh-CN" sz="3200" b="1" dirty="0">
                <a:ea typeface="黑体" panose="02010609060101010101" pitchFamily="49" charset="-122"/>
              </a:rPr>
              <a:t>C:\winnt \system32\cmd.exe”</a:t>
            </a:r>
            <a:r>
              <a:rPr lang="zh-CN" altLang="en-US" sz="3200" b="1" dirty="0">
                <a:ea typeface="黑体" panose="02010609060101010101" pitchFamily="49" charset="-122"/>
              </a:rPr>
              <a:t>调出</a:t>
            </a:r>
            <a:r>
              <a:rPr lang="en-US" altLang="zh-CN" sz="3200" b="1" dirty="0">
                <a:ea typeface="黑体" panose="02010609060101010101" pitchFamily="49" charset="-122"/>
              </a:rPr>
              <a:t>DOS</a:t>
            </a:r>
            <a:r>
              <a:rPr lang="zh-CN" altLang="en-US" sz="3200" b="1" dirty="0">
                <a:ea typeface="黑体" panose="02010609060101010101" pitchFamily="49" charset="-122"/>
              </a:rPr>
              <a:t>窗口，并输入“</a:t>
            </a:r>
            <a:r>
              <a:rPr lang="en-US" altLang="zh-CN" sz="3200" b="1" dirty="0">
                <a:ea typeface="黑体" panose="02010609060101010101" pitchFamily="49" charset="-122"/>
              </a:rPr>
              <a:t>net use”</a:t>
            </a:r>
            <a:r>
              <a:rPr lang="zh-CN" altLang="en-US" sz="3200" b="1" dirty="0">
                <a:ea typeface="黑体" panose="02010609060101010101" pitchFamily="49" charset="-122"/>
              </a:rPr>
              <a:t>这样的命令来添加、删除用户名，修改用户名密码等。</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文本占位符 108546"/>
          <p:cNvSpPr>
            <a:spLocks noGrp="1"/>
          </p:cNvSpPr>
          <p:nvPr>
            <p:ph idx="1"/>
          </p:nvPr>
        </p:nvSpPr>
        <p:spPr>
          <a:xfrm>
            <a:off x="1847850" y="1600200"/>
            <a:ext cx="8712200" cy="4495800"/>
          </a:xfrm>
        </p:spPr>
        <p:txBody>
          <a:bodyPr vert="horz" wrap="square" lIns="91440" tIns="45720" rIns="91440" bIns="45720" anchor="t"/>
          <a:lstStyle/>
          <a:p>
            <a:pPr algn="just" eaLnBrk="1" hangingPunct="1">
              <a:buNone/>
            </a:pPr>
            <a:r>
              <a:rPr lang="zh-CN" altLang="en-US" sz="3600" b="1" dirty="0">
                <a:ea typeface="黑体" panose="02010609060101010101" pitchFamily="49" charset="-122"/>
              </a:rPr>
              <a:t> </a:t>
            </a:r>
            <a:r>
              <a:rPr lang="zh-CN" altLang="en-US" b="1" dirty="0">
                <a:ea typeface="黑体" panose="02010609060101010101" pitchFamily="49" charset="-122"/>
              </a:rPr>
              <a:t>电子欺骗可发生在</a:t>
            </a:r>
            <a:r>
              <a:rPr lang="en-US" altLang="zh-CN" b="1" dirty="0">
                <a:ea typeface="黑体" panose="02010609060101010101" pitchFamily="49" charset="-122"/>
              </a:rPr>
              <a:t>IP</a:t>
            </a:r>
            <a:r>
              <a:rPr lang="zh-CN" altLang="en-US" b="1" dirty="0">
                <a:ea typeface="黑体" panose="02010609060101010101" pitchFamily="49" charset="-122"/>
              </a:rPr>
              <a:t>系统的所有层次上 。</a:t>
            </a:r>
          </a:p>
          <a:p>
            <a:pPr algn="just" eaLnBrk="1" hangingPunct="1">
              <a:buNone/>
            </a:pPr>
            <a:r>
              <a:rPr lang="en-US" altLang="zh-CN" b="1" dirty="0">
                <a:ea typeface="黑体" panose="02010609060101010101" pitchFamily="49" charset="-122"/>
              </a:rPr>
              <a:t>    Internet</a:t>
            </a:r>
            <a:r>
              <a:rPr lang="zh-CN" altLang="en-US" b="1" dirty="0">
                <a:ea typeface="黑体" panose="02010609060101010101" pitchFamily="49" charset="-122"/>
              </a:rPr>
              <a:t>安全有两个相关的主题：</a:t>
            </a:r>
          </a:p>
          <a:p>
            <a:pPr algn="just" eaLnBrk="1" hangingPunct="1">
              <a:buNone/>
            </a:pPr>
            <a:r>
              <a:rPr lang="zh-CN" altLang="en-US" b="1" dirty="0">
                <a:ea typeface="黑体" panose="02010609060101010101" pitchFamily="49" charset="-122"/>
              </a:rPr>
              <a:t>信任（</a:t>
            </a:r>
            <a:r>
              <a:rPr lang="en-US" altLang="zh-CN" b="1" dirty="0">
                <a:ea typeface="黑体" panose="02010609060101010101" pitchFamily="49" charset="-122"/>
              </a:rPr>
              <a:t>trust</a:t>
            </a:r>
            <a:r>
              <a:rPr lang="zh-CN" altLang="en-US" b="1" dirty="0">
                <a:ea typeface="黑体" panose="02010609060101010101" pitchFamily="49" charset="-122"/>
              </a:rPr>
              <a:t>）和认证（</a:t>
            </a:r>
            <a:r>
              <a:rPr lang="en-US" altLang="zh-CN" b="1" dirty="0">
                <a:ea typeface="黑体" panose="02010609060101010101" pitchFamily="49" charset="-122"/>
              </a:rPr>
              <a:t>authentication</a:t>
            </a:r>
            <a:r>
              <a:rPr lang="zh-CN" altLang="en-US" b="1" dirty="0">
                <a:ea typeface="黑体" panose="02010609060101010101" pitchFamily="49" charset="-122"/>
              </a:rPr>
              <a:t>）。 </a:t>
            </a:r>
            <a:endParaRPr lang="zh-CN" altLang="en-US" sz="3600" b="1" dirty="0">
              <a:ea typeface="黑体" panose="02010609060101010101" pitchFamily="49" charset="-122"/>
            </a:endParaRPr>
          </a:p>
          <a:p>
            <a:pPr algn="just" eaLnBrk="1" hangingPunct="1">
              <a:buNone/>
            </a:pPr>
            <a:r>
              <a:rPr lang="zh-CN" altLang="en-US" b="1" dirty="0">
                <a:ea typeface="黑体" panose="02010609060101010101" pitchFamily="49" charset="-122"/>
              </a:rPr>
              <a:t>      </a:t>
            </a:r>
            <a:r>
              <a:rPr lang="zh-CN" altLang="en-US" b="1" dirty="0">
                <a:solidFill>
                  <a:schemeClr val="folHlink"/>
                </a:solidFill>
                <a:ea typeface="黑体" panose="02010609060101010101" pitchFamily="49" charset="-122"/>
              </a:rPr>
              <a:t>信任</a:t>
            </a:r>
            <a:r>
              <a:rPr lang="zh-CN" altLang="en-US" b="1" dirty="0">
                <a:ea typeface="黑体" panose="02010609060101010101" pitchFamily="49" charset="-122"/>
              </a:rPr>
              <a:t>是那些获准相互连接的实体之间的一种关系；</a:t>
            </a:r>
          </a:p>
          <a:p>
            <a:pPr algn="just" eaLnBrk="1" hangingPunct="1">
              <a:buNone/>
            </a:pPr>
            <a:r>
              <a:rPr lang="zh-CN" altLang="en-US" b="1" dirty="0">
                <a:ea typeface="黑体" panose="02010609060101010101" pitchFamily="49" charset="-122"/>
              </a:rPr>
              <a:t>      </a:t>
            </a:r>
            <a:r>
              <a:rPr lang="zh-CN" altLang="en-US" b="1" dirty="0">
                <a:solidFill>
                  <a:schemeClr val="folHlink"/>
                </a:solidFill>
                <a:ea typeface="黑体" panose="02010609060101010101" pitchFamily="49" charset="-122"/>
              </a:rPr>
              <a:t>认证</a:t>
            </a:r>
            <a:r>
              <a:rPr lang="zh-CN" altLang="en-US" b="1" dirty="0">
                <a:ea typeface="黑体" panose="02010609060101010101" pitchFamily="49" charset="-122"/>
              </a:rPr>
              <a:t>是这些实体用于彼此识别的过程，建立实体间的信任关系，以确保通信的双方确实是双方希望通信的实体。</a:t>
            </a:r>
            <a:r>
              <a:rPr lang="zh-CN" altLang="en-US" sz="3600" b="1" dirty="0">
                <a:ea typeface="黑体" panose="02010609060101010101" pitchFamily="49" charset="-122"/>
              </a:rPr>
              <a:t> </a:t>
            </a:r>
          </a:p>
        </p:txBody>
      </p:sp>
      <p:grpSp>
        <p:nvGrpSpPr>
          <p:cNvPr id="4" name="组合 3"/>
          <p:cNvGrpSpPr/>
          <p:nvPr/>
        </p:nvGrpSpPr>
        <p:grpSpPr>
          <a:xfrm>
            <a:off x="4522737" y="444876"/>
            <a:ext cx="3362426" cy="791052"/>
            <a:chOff x="824072" y="1564267"/>
            <a:chExt cx="3362426" cy="791052"/>
          </a:xfrm>
        </p:grpSpPr>
        <p:sp>
          <p:nvSpPr>
            <p:cNvPr id="5" name="矩形: 圆角 16"/>
            <p:cNvSpPr/>
            <p:nvPr/>
          </p:nvSpPr>
          <p:spPr>
            <a:xfrm>
              <a:off x="824072" y="1740416"/>
              <a:ext cx="3362426"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484976" cy="480131"/>
            </a:xfrm>
            <a:prstGeom prst="rect">
              <a:avLst/>
            </a:prstGeom>
          </p:spPr>
          <p:txBody>
            <a:bodyPr wrap="none">
              <a:spAutoFit/>
            </a:bodyPr>
            <a:lstStyle/>
            <a:p>
              <a:pPr>
                <a:lnSpc>
                  <a:spcPct val="90000"/>
                </a:lnSpc>
              </a:pPr>
              <a:r>
                <a:rPr lang="en-US" altLang="zh-CN" sz="2800" noProof="1">
                  <a:solidFill>
                    <a:schemeClr val="bg1"/>
                  </a:solidFill>
                  <a:latin typeface="+mj-ea"/>
                </a:rPr>
                <a:t>4.4.3 </a:t>
              </a:r>
              <a:r>
                <a:rPr lang="zh-CN" altLang="en-US" sz="2800" noProof="1">
                  <a:solidFill>
                    <a:schemeClr val="bg1"/>
                  </a:solidFill>
                  <a:latin typeface="+mj-ea"/>
                </a:rPr>
                <a:t>电子欺骗</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0956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电子欺骗</a:t>
            </a:r>
          </a:p>
        </p:txBody>
      </p:sp>
      <p:sp>
        <p:nvSpPr>
          <p:cNvPr id="101378" name="文本占位符 109570"/>
          <p:cNvSpPr>
            <a:spLocks noGrp="1"/>
          </p:cNvSpPr>
          <p:nvPr>
            <p:ph idx="1"/>
          </p:nvPr>
        </p:nvSpPr>
        <p:spPr>
          <a:xfrm>
            <a:off x="4943476" y="2492376"/>
            <a:ext cx="4619625" cy="2549525"/>
          </a:xfrm>
        </p:spPr>
        <p:txBody>
          <a:bodyPr vert="horz" wrap="square" lIns="91440" tIns="45720" rIns="91440" bIns="45720" anchor="t"/>
          <a:lstStyle/>
          <a:p>
            <a:pPr algn="just" eaLnBrk="1" hangingPunct="1">
              <a:lnSpc>
                <a:spcPct val="90000"/>
              </a:lnSpc>
            </a:pPr>
            <a:r>
              <a:rPr lang="en-US" altLang="zh-CN" sz="3600" b="1" dirty="0">
                <a:ea typeface="黑体" panose="02010609060101010101" pitchFamily="49" charset="-122"/>
              </a:rPr>
              <a:t>IP</a:t>
            </a:r>
            <a:r>
              <a:rPr lang="zh-CN" altLang="en-US" sz="3600" b="1" dirty="0">
                <a:ea typeface="黑体" panose="02010609060101010101" pitchFamily="49" charset="-122"/>
              </a:rPr>
              <a:t>欺骗 </a:t>
            </a:r>
          </a:p>
          <a:p>
            <a:pPr algn="just" eaLnBrk="1" hangingPunct="1">
              <a:lnSpc>
                <a:spcPct val="90000"/>
              </a:lnSpc>
            </a:pPr>
            <a:r>
              <a:rPr lang="en-US" altLang="zh-CN" sz="3600" b="1" dirty="0">
                <a:ea typeface="黑体" panose="02010609060101010101" pitchFamily="49" charset="-122"/>
              </a:rPr>
              <a:t>ARP</a:t>
            </a:r>
            <a:r>
              <a:rPr lang="zh-CN" altLang="en-US" sz="3600" b="1" dirty="0">
                <a:ea typeface="黑体" panose="02010609060101010101" pitchFamily="49" charset="-122"/>
              </a:rPr>
              <a:t>欺骗 </a:t>
            </a:r>
          </a:p>
          <a:p>
            <a:pPr algn="just" eaLnBrk="1" hangingPunct="1">
              <a:lnSpc>
                <a:spcPct val="90000"/>
              </a:lnSpc>
            </a:pPr>
            <a:r>
              <a:rPr lang="en-US" altLang="zh-CN" sz="3600" b="1" dirty="0">
                <a:ea typeface="黑体" panose="02010609060101010101" pitchFamily="49" charset="-122"/>
              </a:rPr>
              <a:t>DNS</a:t>
            </a:r>
            <a:r>
              <a:rPr lang="zh-CN" altLang="en-US" sz="3600" b="1" dirty="0">
                <a:ea typeface="黑体" panose="02010609060101010101" pitchFamily="49" charset="-122"/>
              </a:rPr>
              <a:t>欺骗 </a:t>
            </a:r>
          </a:p>
          <a:p>
            <a:pPr algn="just" eaLnBrk="1" hangingPunct="1">
              <a:lnSpc>
                <a:spcPct val="90000"/>
              </a:lnSpc>
            </a:pPr>
            <a:r>
              <a:rPr lang="zh-CN" altLang="en-US" sz="3600" b="1" dirty="0">
                <a:ea typeface="黑体" panose="02010609060101010101" pitchFamily="49" charset="-122"/>
              </a:rPr>
              <a:t>路由欺骗</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10593"/>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4800" b="1" noProof="1">
                <a:solidFill>
                  <a:schemeClr val="tx2"/>
                </a:solidFill>
                <a:effectLst>
                  <a:outerShdw blurRad="38100" dist="38100" dir="2700000">
                    <a:srgbClr val="000000"/>
                  </a:outerShdw>
                </a:effectLst>
                <a:ea typeface="黑体" panose="02010609060101010101" pitchFamily="49" charset="-122"/>
              </a:rPr>
              <a:t>4.4.3.1 IP</a:t>
            </a:r>
            <a:r>
              <a:rPr lang="zh-CN" altLang="en-US" sz="4800" b="1" noProof="1">
                <a:solidFill>
                  <a:schemeClr val="tx2"/>
                </a:solidFill>
                <a:effectLst>
                  <a:outerShdw blurRad="38100" dist="38100" dir="2700000">
                    <a:srgbClr val="000000"/>
                  </a:outerShdw>
                </a:effectLst>
                <a:ea typeface="黑体" panose="02010609060101010101" pitchFamily="49" charset="-122"/>
              </a:rPr>
              <a:t>欺骗</a:t>
            </a:r>
          </a:p>
        </p:txBody>
      </p:sp>
      <p:sp>
        <p:nvSpPr>
          <p:cNvPr id="102402" name="文本占位符 110594"/>
          <p:cNvSpPr>
            <a:spLocks noGrp="1"/>
          </p:cNvSpPr>
          <p:nvPr>
            <p:ph idx="1"/>
          </p:nvPr>
        </p:nvSpPr>
        <p:spPr>
          <a:xfrm>
            <a:off x="1981201" y="1889126"/>
            <a:ext cx="8435975" cy="3484563"/>
          </a:xfrm>
        </p:spPr>
        <p:txBody>
          <a:bodyPr vert="horz" wrap="square" lIns="91440" tIns="45720" rIns="91440" bIns="45720" anchor="t"/>
          <a:lstStyle/>
          <a:p>
            <a:pPr algn="just" eaLnBrk="1" hangingPunct="1">
              <a:buNone/>
            </a:pPr>
            <a:r>
              <a:rPr lang="zh-CN" altLang="en-US" b="1" dirty="0">
                <a:ea typeface="黑体" panose="02010609060101010101" pitchFamily="49" charset="-122"/>
              </a:rPr>
              <a:t>        几乎所有的电子欺骗都依赖于目标网络的信任关系，这里的信任关系不是指用户的信任或是在应用层上的信任关系，</a:t>
            </a:r>
            <a:r>
              <a:rPr lang="zh-CN" altLang="en-US" b="1" dirty="0">
                <a:solidFill>
                  <a:schemeClr val="folHlink"/>
                </a:solidFill>
                <a:ea typeface="黑体" panose="02010609060101010101" pitchFamily="49" charset="-122"/>
              </a:rPr>
              <a:t>而是计算机之间的互相信任</a:t>
            </a:r>
            <a:r>
              <a:rPr lang="zh-CN" altLang="en-US" b="1" dirty="0">
                <a:ea typeface="黑体" panose="02010609060101010101" pitchFamily="49" charset="-122"/>
              </a:rPr>
              <a:t>。</a:t>
            </a:r>
            <a:r>
              <a:rPr lang="en-US" altLang="zh-CN" b="1" dirty="0">
                <a:ea typeface="黑体" panose="02010609060101010101" pitchFamily="49" charset="-122"/>
              </a:rPr>
              <a:t>IP</a:t>
            </a:r>
            <a:r>
              <a:rPr lang="zh-CN" altLang="en-US" b="1" dirty="0">
                <a:ea typeface="黑体" panose="02010609060101010101" pitchFamily="49" charset="-122"/>
              </a:rPr>
              <a:t>电子欺骗之所以能够成功就是因为目标主机对其处于同一网段的机器过分信任。</a:t>
            </a:r>
            <a:endParaRPr lang="zh-CN" altLang="en-US" dirty="0">
              <a:ea typeface="黑体" panose="02010609060101010101" pitchFamily="49"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11617"/>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4800" b="1" noProof="1">
                <a:solidFill>
                  <a:srgbClr val="99FF99"/>
                </a:solidFill>
                <a:effectLst>
                  <a:outerShdw blurRad="38100" dist="38100" dir="2700000">
                    <a:srgbClr val="000000"/>
                  </a:outerShdw>
                </a:effectLst>
                <a:ea typeface="黑体" panose="02010609060101010101" pitchFamily="49" charset="-122"/>
              </a:rPr>
              <a:t>IP</a:t>
            </a:r>
            <a:r>
              <a:rPr lang="zh-CN" altLang="en-US" sz="4800" b="1" noProof="1">
                <a:solidFill>
                  <a:srgbClr val="99FF99"/>
                </a:solidFill>
                <a:effectLst>
                  <a:outerShdw blurRad="38100" dist="38100" dir="2700000">
                    <a:srgbClr val="000000"/>
                  </a:outerShdw>
                </a:effectLst>
                <a:ea typeface="黑体" panose="02010609060101010101" pitchFamily="49" charset="-122"/>
              </a:rPr>
              <a:t>欺骗</a:t>
            </a:r>
          </a:p>
        </p:txBody>
      </p:sp>
      <p:sp>
        <p:nvSpPr>
          <p:cNvPr id="103426" name="文本占位符 111618"/>
          <p:cNvSpPr>
            <a:spLocks noGrp="1"/>
          </p:cNvSpPr>
          <p:nvPr>
            <p:ph idx="1"/>
          </p:nvPr>
        </p:nvSpPr>
        <p:spPr>
          <a:xfrm>
            <a:off x="1981201" y="2032000"/>
            <a:ext cx="8435975" cy="2260600"/>
          </a:xfrm>
        </p:spPr>
        <p:txBody>
          <a:bodyPr vert="horz" wrap="square" lIns="91440" tIns="45720" rIns="91440" bIns="45720" anchor="t"/>
          <a:lstStyle/>
          <a:p>
            <a:pPr algn="just" eaLnBrk="1" hangingPunct="1">
              <a:buNone/>
            </a:pPr>
            <a:r>
              <a:rPr lang="zh-CN" altLang="en-US" b="1" dirty="0">
                <a:ea typeface="黑体" panose="02010609060101010101" pitchFamily="49" charset="-122"/>
              </a:rPr>
              <a:t>        当这种信任关系存在时，这些机器就可以不通过请求地址认证而在相互之间执行远程命令。入侵者可以通过各种命令和扫描程序来判断远程机器之间的信任关系。</a:t>
            </a:r>
            <a:r>
              <a:rPr lang="zh-CN" altLang="en-US" dirty="0">
                <a:ea typeface="黑体" panose="02010609060101010101" pitchFamily="49" charset="-122"/>
              </a:rPr>
              <a:t>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12641"/>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IP</a:t>
            </a:r>
            <a:r>
              <a:rPr lang="zh-CN" altLang="en-US" sz="5000" b="1" noProof="1">
                <a:solidFill>
                  <a:srgbClr val="99FF99"/>
                </a:solidFill>
                <a:effectLst>
                  <a:outerShdw blurRad="38100" dist="38100" dir="2700000">
                    <a:srgbClr val="000000"/>
                  </a:outerShdw>
                </a:effectLst>
                <a:ea typeface="黑体" panose="02010609060101010101" pitchFamily="49" charset="-122"/>
              </a:rPr>
              <a:t>欺骗</a:t>
            </a:r>
          </a:p>
        </p:txBody>
      </p:sp>
      <p:grpSp>
        <p:nvGrpSpPr>
          <p:cNvPr id="104450" name="组合 112642"/>
          <p:cNvGrpSpPr/>
          <p:nvPr/>
        </p:nvGrpSpPr>
        <p:grpSpPr>
          <a:xfrm>
            <a:off x="2566989" y="2924175"/>
            <a:ext cx="6842125" cy="1830388"/>
            <a:chOff x="1869" y="3656"/>
            <a:chExt cx="6442" cy="956"/>
          </a:xfrm>
        </p:grpSpPr>
        <p:graphicFrame>
          <p:nvGraphicFramePr>
            <p:cNvPr id="104451" name="对象 112643"/>
            <p:cNvGraphicFramePr/>
            <p:nvPr/>
          </p:nvGraphicFramePr>
          <p:xfrm>
            <a:off x="1869" y="3656"/>
            <a:ext cx="713" cy="662"/>
          </p:xfrm>
          <a:graphic>
            <a:graphicData uri="http://schemas.openxmlformats.org/presentationml/2006/ole">
              <mc:AlternateContent xmlns:mc="http://schemas.openxmlformats.org/markup-compatibility/2006">
                <mc:Choice xmlns:v="urn:schemas-microsoft-com:vml" Requires="v">
                  <p:oleObj r:id="rId2" imgW="542925" imgH="504825" progId="Paint.Picture">
                    <p:embed/>
                  </p:oleObj>
                </mc:Choice>
                <mc:Fallback>
                  <p:oleObj r:id="rId2" imgW="542925" imgH="504825" progId="Paint.Picture">
                    <p:embed/>
                    <p:pic>
                      <p:nvPicPr>
                        <p:cNvPr id="0" name="图片 3301"/>
                        <p:cNvPicPr/>
                        <p:nvPr/>
                      </p:nvPicPr>
                      <p:blipFill>
                        <a:blip r:embed="rId3"/>
                        <a:stretch>
                          <a:fillRect/>
                        </a:stretch>
                      </p:blipFill>
                      <p:spPr>
                        <a:xfrm>
                          <a:off x="1869" y="3656"/>
                          <a:ext cx="713" cy="662"/>
                        </a:xfrm>
                        <a:prstGeom prst="rect">
                          <a:avLst/>
                        </a:prstGeom>
                        <a:noFill/>
                        <a:ln w="38100">
                          <a:noFill/>
                          <a:miter/>
                        </a:ln>
                      </p:spPr>
                    </p:pic>
                  </p:oleObj>
                </mc:Fallback>
              </mc:AlternateContent>
            </a:graphicData>
          </a:graphic>
        </p:graphicFrame>
        <p:graphicFrame>
          <p:nvGraphicFramePr>
            <p:cNvPr id="104452" name="对象 112644"/>
            <p:cNvGraphicFramePr/>
            <p:nvPr/>
          </p:nvGraphicFramePr>
          <p:xfrm>
            <a:off x="4734" y="3656"/>
            <a:ext cx="713" cy="662"/>
          </p:xfrm>
          <a:graphic>
            <a:graphicData uri="http://schemas.openxmlformats.org/presentationml/2006/ole">
              <mc:AlternateContent xmlns:mc="http://schemas.openxmlformats.org/markup-compatibility/2006">
                <mc:Choice xmlns:v="urn:schemas-microsoft-com:vml" Requires="v">
                  <p:oleObj r:id="rId2" imgW="542925" imgH="504825" progId="Paint.Picture">
                    <p:embed/>
                  </p:oleObj>
                </mc:Choice>
                <mc:Fallback>
                  <p:oleObj r:id="rId2" imgW="542925" imgH="504825" progId="Paint.Picture">
                    <p:embed/>
                    <p:pic>
                      <p:nvPicPr>
                        <p:cNvPr id="0" name="图片 3302"/>
                        <p:cNvPicPr/>
                        <p:nvPr/>
                      </p:nvPicPr>
                      <p:blipFill>
                        <a:blip r:embed="rId3"/>
                        <a:stretch>
                          <a:fillRect/>
                        </a:stretch>
                      </p:blipFill>
                      <p:spPr>
                        <a:xfrm>
                          <a:off x="4734" y="3656"/>
                          <a:ext cx="713" cy="662"/>
                        </a:xfrm>
                        <a:prstGeom prst="rect">
                          <a:avLst/>
                        </a:prstGeom>
                        <a:noFill/>
                        <a:ln w="38100">
                          <a:noFill/>
                          <a:miter/>
                        </a:ln>
                      </p:spPr>
                    </p:pic>
                  </p:oleObj>
                </mc:Fallback>
              </mc:AlternateContent>
            </a:graphicData>
          </a:graphic>
        </p:graphicFrame>
        <p:graphicFrame>
          <p:nvGraphicFramePr>
            <p:cNvPr id="104453" name="对象 112645"/>
            <p:cNvGraphicFramePr/>
            <p:nvPr/>
          </p:nvGraphicFramePr>
          <p:xfrm>
            <a:off x="7598" y="3657"/>
            <a:ext cx="713" cy="662"/>
          </p:xfrm>
          <a:graphic>
            <a:graphicData uri="http://schemas.openxmlformats.org/presentationml/2006/ole">
              <mc:AlternateContent xmlns:mc="http://schemas.openxmlformats.org/markup-compatibility/2006">
                <mc:Choice xmlns:v="urn:schemas-microsoft-com:vml" Requires="v">
                  <p:oleObj r:id="rId2" imgW="542925" imgH="504825" progId="Paint.Picture">
                    <p:embed/>
                  </p:oleObj>
                </mc:Choice>
                <mc:Fallback>
                  <p:oleObj r:id="rId2" imgW="542925" imgH="504825" progId="Paint.Picture">
                    <p:embed/>
                    <p:pic>
                      <p:nvPicPr>
                        <p:cNvPr id="0" name="图片 3303"/>
                        <p:cNvPicPr/>
                        <p:nvPr/>
                      </p:nvPicPr>
                      <p:blipFill>
                        <a:blip r:embed="rId3"/>
                        <a:stretch>
                          <a:fillRect/>
                        </a:stretch>
                      </p:blipFill>
                      <p:spPr>
                        <a:xfrm>
                          <a:off x="7598" y="3657"/>
                          <a:ext cx="713" cy="662"/>
                        </a:xfrm>
                        <a:prstGeom prst="rect">
                          <a:avLst/>
                        </a:prstGeom>
                        <a:noFill/>
                        <a:ln w="38100">
                          <a:noFill/>
                          <a:miter/>
                        </a:ln>
                      </p:spPr>
                    </p:pic>
                  </p:oleObj>
                </mc:Fallback>
              </mc:AlternateContent>
            </a:graphicData>
          </a:graphic>
        </p:graphicFrame>
        <p:sp>
          <p:nvSpPr>
            <p:cNvPr id="104454" name="直接连接符 112646"/>
            <p:cNvSpPr/>
            <p:nvPr/>
          </p:nvSpPr>
          <p:spPr>
            <a:xfrm>
              <a:off x="2490" y="4139"/>
              <a:ext cx="2324" cy="0"/>
            </a:xfrm>
            <a:prstGeom prst="line">
              <a:avLst/>
            </a:prstGeom>
            <a:ln w="9525" cap="flat" cmpd="sng">
              <a:solidFill>
                <a:schemeClr val="hlink"/>
              </a:solidFill>
              <a:prstDash val="solid"/>
              <a:round/>
              <a:headEnd type="none" w="med" len="med"/>
              <a:tailEnd type="none" w="med" len="med"/>
            </a:ln>
          </p:spPr>
        </p:sp>
        <p:sp>
          <p:nvSpPr>
            <p:cNvPr id="104455" name="直接连接符 112647"/>
            <p:cNvSpPr/>
            <p:nvPr/>
          </p:nvSpPr>
          <p:spPr>
            <a:xfrm>
              <a:off x="5294" y="3914"/>
              <a:ext cx="2446" cy="0"/>
            </a:xfrm>
            <a:prstGeom prst="line">
              <a:avLst/>
            </a:prstGeom>
            <a:ln w="9525" cap="flat" cmpd="sng">
              <a:solidFill>
                <a:schemeClr val="hlink"/>
              </a:solidFill>
              <a:prstDash val="solid"/>
              <a:round/>
              <a:headEnd type="none" w="med" len="med"/>
              <a:tailEnd type="none" w="med" len="med"/>
            </a:ln>
          </p:spPr>
        </p:sp>
        <p:sp>
          <p:nvSpPr>
            <p:cNvPr id="104456" name="文本框 112648"/>
            <p:cNvSpPr txBox="1"/>
            <p:nvPr/>
          </p:nvSpPr>
          <p:spPr>
            <a:xfrm>
              <a:off x="3014" y="3809"/>
              <a:ext cx="1366" cy="285"/>
            </a:xfrm>
            <a:prstGeom prst="rect">
              <a:avLst/>
            </a:prstGeom>
            <a:noFill/>
            <a:ln w="9525">
              <a:noFill/>
            </a:ln>
          </p:spPr>
          <p:txBody>
            <a:bodyPr lIns="0" tIns="0" rIns="0" bIns="0" anchor="t"/>
            <a:lstStyle/>
            <a:p>
              <a:pPr algn="just"/>
              <a:r>
                <a:rPr lang="en-US" altLang="zh-CN" b="1" dirty="0">
                  <a:latin typeface="Times New Roman" panose="02020603050405020304" pitchFamily="18" charset="0"/>
                </a:rPr>
                <a:t>PC1</a:t>
              </a:r>
              <a:r>
                <a:rPr lang="zh-CN" altLang="en-US" b="1" dirty="0">
                  <a:latin typeface="Times New Roman" panose="02020603050405020304" pitchFamily="18" charset="0"/>
                  <a:ea typeface="宋体" panose="02010600030101010101" pitchFamily="2" charset="-122"/>
                </a:rPr>
                <a:t>信任</a:t>
              </a:r>
              <a:r>
                <a:rPr lang="en-US" altLang="zh-CN" b="1" dirty="0">
                  <a:latin typeface="Times New Roman" panose="02020603050405020304" pitchFamily="18" charset="0"/>
                </a:rPr>
                <a:t>PC2</a:t>
              </a:r>
              <a:endParaRPr lang="en-US" altLang="zh-CN" b="1" dirty="0">
                <a:latin typeface="Arial" panose="020B0604020202020204" pitchFamily="34" charset="0"/>
              </a:endParaRPr>
            </a:p>
          </p:txBody>
        </p:sp>
        <p:sp>
          <p:nvSpPr>
            <p:cNvPr id="104457" name="文本框 112649"/>
            <p:cNvSpPr txBox="1"/>
            <p:nvPr/>
          </p:nvSpPr>
          <p:spPr>
            <a:xfrm>
              <a:off x="5788" y="3974"/>
              <a:ext cx="1366" cy="285"/>
            </a:xfrm>
            <a:prstGeom prst="rect">
              <a:avLst/>
            </a:prstGeom>
            <a:noFill/>
            <a:ln w="9525">
              <a:noFill/>
            </a:ln>
          </p:spPr>
          <p:txBody>
            <a:bodyPr lIns="0" tIns="0" rIns="0" bIns="0" anchor="t"/>
            <a:lstStyle/>
            <a:p>
              <a:pPr algn="just"/>
              <a:r>
                <a:rPr lang="en-US" altLang="zh-CN" b="1" dirty="0">
                  <a:latin typeface="Times New Roman" panose="02020603050405020304" pitchFamily="18" charset="0"/>
                </a:rPr>
                <a:t>PC2</a:t>
              </a:r>
              <a:r>
                <a:rPr lang="zh-CN" altLang="en-US" b="1" dirty="0">
                  <a:latin typeface="Times New Roman" panose="02020603050405020304" pitchFamily="18" charset="0"/>
                  <a:ea typeface="宋体" panose="02010600030101010101" pitchFamily="2" charset="-122"/>
                </a:rPr>
                <a:t>信任</a:t>
              </a:r>
              <a:r>
                <a:rPr lang="en-US" altLang="zh-CN" b="1" dirty="0">
                  <a:latin typeface="Times New Roman" panose="02020603050405020304" pitchFamily="18" charset="0"/>
                </a:rPr>
                <a:t>PC3</a:t>
              </a:r>
              <a:endParaRPr lang="en-US" altLang="zh-CN" b="1" dirty="0">
                <a:latin typeface="Arial" panose="020B0604020202020204" pitchFamily="34" charset="0"/>
              </a:endParaRPr>
            </a:p>
          </p:txBody>
        </p:sp>
        <p:sp>
          <p:nvSpPr>
            <p:cNvPr id="104458" name="文本框 112650"/>
            <p:cNvSpPr txBox="1"/>
            <p:nvPr/>
          </p:nvSpPr>
          <p:spPr>
            <a:xfrm>
              <a:off x="1964" y="4341"/>
              <a:ext cx="422" cy="270"/>
            </a:xfrm>
            <a:prstGeom prst="rect">
              <a:avLst/>
            </a:prstGeom>
            <a:noFill/>
            <a:ln w="9525">
              <a:noFill/>
            </a:ln>
          </p:spPr>
          <p:txBody>
            <a:bodyPr lIns="0" tIns="0" rIns="0" bIns="0" anchor="t"/>
            <a:lstStyle/>
            <a:p>
              <a:pPr algn="just"/>
              <a:r>
                <a:rPr lang="en-US" altLang="zh-CN" sz="1600" b="1" dirty="0">
                  <a:latin typeface="Times New Roman" panose="02020603050405020304" pitchFamily="18" charset="0"/>
                </a:rPr>
                <a:t>PC1</a:t>
              </a:r>
              <a:endParaRPr lang="en-US" altLang="zh-CN" sz="1600" b="1" dirty="0">
                <a:latin typeface="Arial" panose="020B0604020202020204" pitchFamily="34" charset="0"/>
              </a:endParaRPr>
            </a:p>
          </p:txBody>
        </p:sp>
        <p:sp>
          <p:nvSpPr>
            <p:cNvPr id="104459" name="文本框 112651"/>
            <p:cNvSpPr txBox="1"/>
            <p:nvPr/>
          </p:nvSpPr>
          <p:spPr>
            <a:xfrm>
              <a:off x="4828" y="4341"/>
              <a:ext cx="422" cy="270"/>
            </a:xfrm>
            <a:prstGeom prst="rect">
              <a:avLst/>
            </a:prstGeom>
            <a:noFill/>
            <a:ln w="9525">
              <a:noFill/>
            </a:ln>
          </p:spPr>
          <p:txBody>
            <a:bodyPr lIns="0" tIns="0" rIns="0" bIns="0" anchor="t"/>
            <a:lstStyle/>
            <a:p>
              <a:pPr algn="just"/>
              <a:r>
                <a:rPr lang="en-US" altLang="zh-CN" sz="1600" b="1" dirty="0">
                  <a:latin typeface="Times New Roman" panose="02020603050405020304" pitchFamily="18" charset="0"/>
                </a:rPr>
                <a:t>PC2</a:t>
              </a:r>
              <a:endParaRPr lang="en-US" altLang="zh-CN" sz="1600" b="1" dirty="0">
                <a:latin typeface="Arial" panose="020B0604020202020204" pitchFamily="34" charset="0"/>
              </a:endParaRPr>
            </a:p>
          </p:txBody>
        </p:sp>
        <p:sp>
          <p:nvSpPr>
            <p:cNvPr id="104460" name="文本框 112652"/>
            <p:cNvSpPr txBox="1"/>
            <p:nvPr/>
          </p:nvSpPr>
          <p:spPr>
            <a:xfrm>
              <a:off x="7740" y="4342"/>
              <a:ext cx="422" cy="270"/>
            </a:xfrm>
            <a:prstGeom prst="rect">
              <a:avLst/>
            </a:prstGeom>
            <a:noFill/>
            <a:ln w="9525">
              <a:noFill/>
            </a:ln>
          </p:spPr>
          <p:txBody>
            <a:bodyPr lIns="0" tIns="0" rIns="0" bIns="0" anchor="t"/>
            <a:lstStyle/>
            <a:p>
              <a:pPr algn="just"/>
              <a:r>
                <a:rPr lang="en-US" altLang="zh-CN" sz="1600" b="1" dirty="0">
                  <a:latin typeface="Times New Roman" panose="02020603050405020304" pitchFamily="18" charset="0"/>
                </a:rPr>
                <a:t>PC3</a:t>
              </a:r>
              <a:endParaRPr lang="en-US" altLang="zh-CN" sz="1600" b="1" dirty="0">
                <a:latin typeface="Arial" panose="020B0604020202020204" pitchFamily="34" charset="0"/>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13665"/>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IP</a:t>
            </a:r>
            <a:r>
              <a:rPr lang="zh-CN" altLang="en-US" sz="5000" b="1" noProof="1">
                <a:solidFill>
                  <a:srgbClr val="99FF99"/>
                </a:solidFill>
                <a:effectLst>
                  <a:outerShdw blurRad="38100" dist="38100" dir="2700000">
                    <a:srgbClr val="000000"/>
                  </a:outerShdw>
                </a:effectLst>
                <a:ea typeface="黑体" panose="02010609060101010101" pitchFamily="49" charset="-122"/>
              </a:rPr>
              <a:t>欺骗</a:t>
            </a:r>
          </a:p>
        </p:txBody>
      </p:sp>
      <p:sp>
        <p:nvSpPr>
          <p:cNvPr id="105474" name="文本占位符 113666"/>
          <p:cNvSpPr>
            <a:spLocks noGrp="1"/>
          </p:cNvSpPr>
          <p:nvPr>
            <p:ph idx="1"/>
          </p:nvPr>
        </p:nvSpPr>
        <p:spPr>
          <a:xfrm>
            <a:off x="1847851" y="1557338"/>
            <a:ext cx="8435975" cy="4895850"/>
          </a:xfrm>
        </p:spPr>
        <p:txBody>
          <a:bodyPr vert="horz" wrap="square" lIns="91440" tIns="45720" rIns="91440" bIns="45720" anchor="t"/>
          <a:lstStyle/>
          <a:p>
            <a:pPr algn="just" eaLnBrk="1" hangingPunct="1">
              <a:lnSpc>
                <a:spcPct val="90000"/>
              </a:lnSpc>
            </a:pPr>
            <a:r>
              <a:rPr lang="zh-CN" altLang="en-US" b="1" dirty="0">
                <a:ea typeface="黑体" panose="02010609060101010101" pitchFamily="49" charset="-122"/>
              </a:rPr>
              <a:t>首先，入侵者采用拒绝服务攻击必须使</a:t>
            </a:r>
            <a:r>
              <a:rPr lang="en-US" altLang="zh-CN" b="1" dirty="0">
                <a:ea typeface="黑体" panose="02010609060101010101" pitchFamily="49" charset="-122"/>
              </a:rPr>
              <a:t>PC3</a:t>
            </a:r>
            <a:r>
              <a:rPr lang="zh-CN" altLang="en-US" b="1" dirty="0">
                <a:ea typeface="黑体" panose="02010609060101010101" pitchFamily="49" charset="-122"/>
              </a:rPr>
              <a:t>挂起</a:t>
            </a:r>
          </a:p>
          <a:p>
            <a:pPr algn="just" eaLnBrk="1" hangingPunct="1">
              <a:lnSpc>
                <a:spcPct val="90000"/>
              </a:lnSpc>
            </a:pPr>
            <a:r>
              <a:rPr lang="zh-CN" altLang="en-US" b="1" dirty="0">
                <a:ea typeface="黑体" panose="02010609060101010101" pitchFamily="49" charset="-122"/>
              </a:rPr>
              <a:t>其次，找出</a:t>
            </a:r>
            <a:r>
              <a:rPr lang="en-US" altLang="zh-CN" b="1" dirty="0">
                <a:ea typeface="黑体" panose="02010609060101010101" pitchFamily="49" charset="-122"/>
              </a:rPr>
              <a:t>PC2</a:t>
            </a:r>
            <a:r>
              <a:rPr lang="zh-CN" altLang="en-US" b="1" dirty="0">
                <a:ea typeface="黑体" panose="02010609060101010101" pitchFamily="49" charset="-122"/>
              </a:rPr>
              <a:t>的顺序号</a:t>
            </a:r>
          </a:p>
          <a:p>
            <a:pPr algn="just" eaLnBrk="1" hangingPunct="1">
              <a:lnSpc>
                <a:spcPct val="90000"/>
              </a:lnSpc>
            </a:pPr>
            <a:r>
              <a:rPr lang="zh-CN" altLang="en-US" b="1" dirty="0">
                <a:ea typeface="黑体" panose="02010609060101010101" pitchFamily="49" charset="-122"/>
              </a:rPr>
              <a:t>入侵者向</a:t>
            </a:r>
            <a:r>
              <a:rPr lang="en-US" altLang="zh-CN" b="1" dirty="0">
                <a:ea typeface="黑体" panose="02010609060101010101" pitchFamily="49" charset="-122"/>
              </a:rPr>
              <a:t>PC2</a:t>
            </a:r>
            <a:r>
              <a:rPr lang="zh-CN" altLang="en-US" b="1" dirty="0">
                <a:ea typeface="黑体" panose="02010609060101010101" pitchFamily="49" charset="-122"/>
              </a:rPr>
              <a:t>发送另一个连接请求，假冒</a:t>
            </a:r>
            <a:r>
              <a:rPr lang="en-US" altLang="zh-CN" b="1" dirty="0">
                <a:ea typeface="黑体" panose="02010609060101010101" pitchFamily="49" charset="-122"/>
              </a:rPr>
              <a:t>PC3</a:t>
            </a:r>
            <a:r>
              <a:rPr lang="zh-CN" altLang="en-US" b="1" dirty="0">
                <a:ea typeface="黑体" panose="02010609060101010101" pitchFamily="49" charset="-122"/>
              </a:rPr>
              <a:t>已经准备就绪，</a:t>
            </a:r>
            <a:r>
              <a:rPr lang="en-US" altLang="zh-CN" b="1" dirty="0">
                <a:ea typeface="黑体" panose="02010609060101010101" pitchFamily="49" charset="-122"/>
              </a:rPr>
              <a:t>PC2</a:t>
            </a:r>
            <a:r>
              <a:rPr lang="zh-CN" altLang="en-US" b="1" dirty="0">
                <a:ea typeface="黑体" panose="02010609060101010101" pitchFamily="49" charset="-122"/>
              </a:rPr>
              <a:t>为此连接产生一个顺序号来响应</a:t>
            </a:r>
            <a:r>
              <a:rPr lang="en-US" altLang="zh-CN" b="1" dirty="0">
                <a:ea typeface="黑体" panose="02010609060101010101" pitchFamily="49" charset="-122"/>
              </a:rPr>
              <a:t>PC3</a:t>
            </a:r>
            <a:endParaRPr lang="zh-CN" altLang="en-US" b="1" dirty="0">
              <a:ea typeface="黑体" panose="02010609060101010101" pitchFamily="49" charset="-122"/>
            </a:endParaRPr>
          </a:p>
          <a:p>
            <a:pPr algn="just" eaLnBrk="1" hangingPunct="1">
              <a:lnSpc>
                <a:spcPct val="90000"/>
              </a:lnSpc>
            </a:pPr>
            <a:r>
              <a:rPr lang="zh-CN" altLang="en-US" b="1" dirty="0">
                <a:ea typeface="黑体" panose="02010609060101010101" pitchFamily="49" charset="-122"/>
              </a:rPr>
              <a:t>入侵者想要建立连接，必须以正确的顺序号进行响应。要做到这一点，入侵者必须猜测</a:t>
            </a:r>
            <a:r>
              <a:rPr lang="en-US" altLang="zh-CN" b="1" dirty="0">
                <a:ea typeface="黑体" panose="02010609060101010101" pitchFamily="49" charset="-122"/>
              </a:rPr>
              <a:t>PC2</a:t>
            </a:r>
            <a:r>
              <a:rPr lang="zh-CN" altLang="en-US" b="1" dirty="0">
                <a:ea typeface="黑体" panose="02010609060101010101" pitchFamily="49" charset="-122"/>
              </a:rPr>
              <a:t>期待什么顺序号</a:t>
            </a:r>
          </a:p>
          <a:p>
            <a:pPr algn="just" eaLnBrk="1" hangingPunct="1">
              <a:lnSpc>
                <a:spcPct val="90000"/>
              </a:lnSpc>
            </a:pPr>
            <a:r>
              <a:rPr lang="zh-CN" altLang="en-US" b="1" dirty="0">
                <a:ea typeface="黑体" panose="02010609060101010101" pitchFamily="49" charset="-122"/>
              </a:rPr>
              <a:t>如果入侵者成功地猜测出顺序号，其主机就和</a:t>
            </a:r>
            <a:r>
              <a:rPr lang="en-US" altLang="zh-CN" b="1" dirty="0">
                <a:ea typeface="黑体" panose="02010609060101010101" pitchFamily="49" charset="-122"/>
              </a:rPr>
              <a:t>PC2</a:t>
            </a:r>
            <a:r>
              <a:rPr lang="zh-CN" altLang="en-US" b="1" dirty="0">
                <a:ea typeface="黑体" panose="02010609060101010101" pitchFamily="49" charset="-122"/>
              </a:rPr>
              <a:t>之间建立了一个连接，而</a:t>
            </a:r>
            <a:r>
              <a:rPr lang="en-US" altLang="zh-CN" b="1" dirty="0">
                <a:ea typeface="黑体" panose="02010609060101010101" pitchFamily="49" charset="-122"/>
              </a:rPr>
              <a:t>PC2</a:t>
            </a:r>
            <a:r>
              <a:rPr lang="zh-CN" altLang="en-US" b="1" dirty="0">
                <a:ea typeface="黑体" panose="02010609060101010101" pitchFamily="49" charset="-122"/>
              </a:rPr>
              <a:t>完全认为是在同</a:t>
            </a:r>
            <a:r>
              <a:rPr lang="en-US" altLang="zh-CN" b="1" dirty="0">
                <a:ea typeface="黑体" panose="02010609060101010101" pitchFamily="49" charset="-122"/>
              </a:rPr>
              <a:t>PC3</a:t>
            </a:r>
            <a:r>
              <a:rPr lang="zh-CN" altLang="en-US" b="1" dirty="0">
                <a:ea typeface="黑体" panose="02010609060101010101" pitchFamily="49" charset="-122"/>
              </a:rPr>
              <a:t>进行会话，入侵者完全入侵了</a:t>
            </a:r>
            <a:r>
              <a:rPr lang="en-US" altLang="zh-CN" b="1" dirty="0">
                <a:ea typeface="黑体" panose="02010609060101010101" pitchFamily="49" charset="-122"/>
              </a:rPr>
              <a:t>PC2</a:t>
            </a:r>
            <a:endParaRPr lang="zh-CN" altLang="en-US" b="1" dirty="0">
              <a:ea typeface="黑体" panose="02010609060101010101"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14689"/>
          <p:cNvSpPr>
            <a:spLocks noGrp="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lang="en-US" altLang="zh-CN" sz="4800" b="1">
                <a:solidFill>
                  <a:schemeClr val="tx2"/>
                </a:solidFill>
                <a:effectLst>
                  <a:outerShdw blurRad="38100" dist="38100" dir="2700000" algn="tl">
                    <a:srgbClr val="000000"/>
                  </a:outerShdw>
                </a:effectLst>
                <a:ea typeface="黑体" panose="02010609060101010101" pitchFamily="49" charset="-122"/>
              </a:rPr>
              <a:t>IP</a:t>
            </a:r>
            <a:r>
              <a:rPr lang="zh-CN" altLang="en-US" sz="4800" b="1">
                <a:solidFill>
                  <a:schemeClr val="tx2"/>
                </a:solidFill>
                <a:effectLst>
                  <a:outerShdw blurRad="38100" dist="38100" dir="2700000" algn="tl">
                    <a:srgbClr val="000000"/>
                  </a:outerShdw>
                </a:effectLst>
                <a:ea typeface="黑体" panose="02010609060101010101" pitchFamily="49" charset="-122"/>
              </a:rPr>
              <a:t>欺骗防护</a:t>
            </a:r>
            <a:r>
              <a:rPr lang="en-US" altLang="zh-CN" sz="4800" b="1">
                <a:solidFill>
                  <a:schemeClr val="tx2"/>
                </a:solidFill>
                <a:effectLst>
                  <a:outerShdw blurRad="38100" dist="38100" dir="2700000" algn="tl">
                    <a:srgbClr val="000000"/>
                  </a:outerShdw>
                </a:effectLst>
                <a:ea typeface="黑体" panose="02010609060101010101" pitchFamily="49" charset="-122"/>
              </a:rPr>
              <a:t>1</a:t>
            </a:r>
          </a:p>
        </p:txBody>
      </p:sp>
      <p:sp>
        <p:nvSpPr>
          <p:cNvPr id="106498" name="文本占位符 114690"/>
          <p:cNvSpPr>
            <a:spLocks noGrp="1"/>
          </p:cNvSpPr>
          <p:nvPr>
            <p:ph idx="1"/>
          </p:nvPr>
        </p:nvSpPr>
        <p:spPr>
          <a:xfrm>
            <a:off x="1981201" y="1600200"/>
            <a:ext cx="8435975" cy="5068888"/>
          </a:xfrm>
        </p:spPr>
        <p:txBody>
          <a:bodyPr vert="horz" wrap="square" lIns="91440" tIns="45720" rIns="91440" bIns="45720" anchor="t"/>
          <a:lstStyle/>
          <a:p>
            <a:pPr algn="just" eaLnBrk="1" hangingPunct="1"/>
            <a:r>
              <a:rPr lang="zh-CN" altLang="en-US" b="1" dirty="0">
                <a:latin typeface="黑体" panose="02010609060101010101" pitchFamily="49" charset="-122"/>
                <a:ea typeface="黑体" panose="02010609060101010101" pitchFamily="49" charset="-122"/>
              </a:rPr>
              <a:t>在</a:t>
            </a:r>
            <a:r>
              <a:rPr lang="en-US" altLang="zh-CN" b="1" dirty="0">
                <a:latin typeface="黑体" panose="02010609060101010101" pitchFamily="49" charset="-122"/>
                <a:ea typeface="黑体" panose="02010609060101010101" pitchFamily="49" charset="-122"/>
              </a:rPr>
              <a:t>R</a:t>
            </a:r>
            <a:r>
              <a:rPr lang="zh-CN" altLang="en-US" b="1" dirty="0">
                <a:latin typeface="黑体" panose="02010609060101010101" pitchFamily="49" charset="-122"/>
                <a:ea typeface="黑体" panose="02010609060101010101" pitchFamily="49" charset="-122"/>
              </a:rPr>
              <a:t>服务变成非活跃之前简单地注销登录并且在需要时再启动服务。因为非活跃的会话最容易被截获和利用。</a:t>
            </a:r>
          </a:p>
          <a:p>
            <a:pPr algn="just" eaLnBrk="1" hangingPunct="1"/>
            <a:r>
              <a:rPr lang="zh-CN" altLang="en-US" b="1" dirty="0">
                <a:latin typeface="黑体" panose="02010609060101010101" pitchFamily="49" charset="-122"/>
                <a:ea typeface="黑体" panose="02010609060101010101" pitchFamily="49" charset="-122"/>
              </a:rPr>
              <a:t>使用基于加密的终端协议。加密技术的使用并不能阻止入侵者猜测当前的顺序号，但加密的协议可限制在连接时引入伪造数据。因为接收方虽然作为有效数据接受了，但却无法理解这些数据，那么当双方了解到了伪造数据引起的混乱，他们可以重置</a:t>
            </a:r>
            <a:r>
              <a:rPr lang="en-US" altLang="zh-CN" b="1" dirty="0">
                <a:latin typeface="黑体" panose="02010609060101010101" pitchFamily="49" charset="-122"/>
                <a:ea typeface="黑体" panose="02010609060101010101" pitchFamily="49" charset="-122"/>
              </a:rPr>
              <a:t>TCP</a:t>
            </a:r>
            <a:r>
              <a:rPr lang="zh-CN" altLang="en-US" b="1" dirty="0">
                <a:latin typeface="黑体" panose="02010609060101010101" pitchFamily="49" charset="-122"/>
                <a:ea typeface="黑体" panose="02010609060101010101" pitchFamily="49" charset="-122"/>
              </a:rPr>
              <a:t>连接，关闭此次会话。</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15713"/>
          <p:cNvSpPr>
            <a:spLocks noGrp="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lang="en-US" altLang="zh-CN" sz="4800" b="1">
                <a:solidFill>
                  <a:schemeClr val="tx2"/>
                </a:solidFill>
                <a:effectLst>
                  <a:outerShdw blurRad="38100" dist="38100" dir="2700000" algn="tl">
                    <a:srgbClr val="000000"/>
                  </a:outerShdw>
                </a:effectLst>
                <a:ea typeface="黑体" panose="02010609060101010101" pitchFamily="49" charset="-122"/>
              </a:rPr>
              <a:t>IP</a:t>
            </a:r>
            <a:r>
              <a:rPr lang="zh-CN" altLang="en-US" sz="4800" b="1">
                <a:solidFill>
                  <a:schemeClr val="tx2"/>
                </a:solidFill>
                <a:effectLst>
                  <a:outerShdw blurRad="38100" dist="38100" dir="2700000" algn="tl">
                    <a:srgbClr val="000000"/>
                  </a:outerShdw>
                </a:effectLst>
                <a:ea typeface="黑体" panose="02010609060101010101" pitchFamily="49" charset="-122"/>
              </a:rPr>
              <a:t>欺骗防护</a:t>
            </a:r>
            <a:r>
              <a:rPr lang="en-US" altLang="zh-CN" sz="4800" b="1">
                <a:solidFill>
                  <a:schemeClr val="tx2"/>
                </a:solidFill>
                <a:effectLst>
                  <a:outerShdw blurRad="38100" dist="38100" dir="2700000" algn="tl">
                    <a:srgbClr val="000000"/>
                  </a:outerShdw>
                </a:effectLst>
                <a:ea typeface="黑体" panose="02010609060101010101" pitchFamily="49" charset="-122"/>
              </a:rPr>
              <a:t>2</a:t>
            </a:r>
          </a:p>
        </p:txBody>
      </p:sp>
      <p:sp>
        <p:nvSpPr>
          <p:cNvPr id="107522" name="文本占位符 115714"/>
          <p:cNvSpPr>
            <a:spLocks noGrp="1"/>
          </p:cNvSpPr>
          <p:nvPr>
            <p:ph idx="1"/>
          </p:nvPr>
        </p:nvSpPr>
        <p:spPr>
          <a:xfrm>
            <a:off x="1981201" y="1600200"/>
            <a:ext cx="8435975" cy="5068888"/>
          </a:xfrm>
        </p:spPr>
        <p:txBody>
          <a:bodyPr vert="horz" wrap="square" lIns="91440" tIns="45720" rIns="91440" bIns="45720" anchor="t"/>
          <a:lstStyle/>
          <a:p>
            <a:pPr algn="just" eaLnBrk="1" hangingPunct="1"/>
            <a:r>
              <a:rPr lang="zh-CN" altLang="en-US" b="1" dirty="0">
                <a:ea typeface="黑体" panose="02010609060101010101" pitchFamily="49" charset="-122"/>
              </a:rPr>
              <a:t>对网络进行配置并严密监视网络。配置网络（如配置路由器）或监视网络数据，拒绝来自本网络外却声明是本地的</a:t>
            </a:r>
            <a:r>
              <a:rPr lang="en-US" altLang="zh-CN" b="1" dirty="0">
                <a:ea typeface="黑体" panose="02010609060101010101" pitchFamily="49" charset="-122"/>
              </a:rPr>
              <a:t>IP</a:t>
            </a:r>
            <a:r>
              <a:rPr lang="zh-CN" altLang="en-US" b="1" dirty="0">
                <a:ea typeface="黑体" panose="02010609060101010101" pitchFamily="49" charset="-122"/>
              </a:rPr>
              <a:t>包。</a:t>
            </a:r>
          </a:p>
          <a:p>
            <a:pPr algn="just" eaLnBrk="1" hangingPunct="1"/>
            <a:r>
              <a:rPr lang="zh-CN" altLang="en-US" b="1" dirty="0">
                <a:ea typeface="黑体" panose="02010609060101010101" pitchFamily="49" charset="-122"/>
              </a:rPr>
              <a:t>使用</a:t>
            </a:r>
            <a:r>
              <a:rPr lang="en-US" altLang="zh-CN" b="1" dirty="0">
                <a:ea typeface="黑体" panose="02010609060101010101" pitchFamily="49" charset="-122"/>
              </a:rPr>
              <a:t>IPSec</a:t>
            </a:r>
            <a:r>
              <a:rPr lang="zh-CN" altLang="en-US" b="1" dirty="0">
                <a:ea typeface="黑体" panose="02010609060101010101" pitchFamily="49" charset="-122"/>
              </a:rPr>
              <a:t>技术。要防止</a:t>
            </a:r>
            <a:r>
              <a:rPr lang="en-US" altLang="zh-CN" b="1" dirty="0">
                <a:ea typeface="黑体" panose="02010609060101010101" pitchFamily="49" charset="-122"/>
              </a:rPr>
              <a:t>IP</a:t>
            </a:r>
            <a:r>
              <a:rPr lang="zh-CN" altLang="en-US" b="1" dirty="0">
                <a:ea typeface="黑体" panose="02010609060101010101" pitchFamily="49" charset="-122"/>
              </a:rPr>
              <a:t>地址欺骗，就必须在</a:t>
            </a:r>
            <a:r>
              <a:rPr lang="en-US" altLang="zh-CN" b="1" dirty="0">
                <a:ea typeface="黑体" panose="02010609060101010101" pitchFamily="49" charset="-122"/>
              </a:rPr>
              <a:t>IP</a:t>
            </a:r>
            <a:r>
              <a:rPr lang="zh-CN" altLang="en-US" b="1" dirty="0">
                <a:ea typeface="黑体" panose="02010609060101010101" pitchFamily="49" charset="-122"/>
              </a:rPr>
              <a:t>数据报的整个数据部分采用加密技术，包括</a:t>
            </a:r>
            <a:r>
              <a:rPr lang="en-US" altLang="zh-CN" b="1" dirty="0">
                <a:ea typeface="黑体" panose="02010609060101010101" pitchFamily="49" charset="-122"/>
              </a:rPr>
              <a:t>TCP</a:t>
            </a:r>
            <a:r>
              <a:rPr lang="zh-CN" altLang="en-US" b="1" dirty="0">
                <a:ea typeface="黑体" panose="02010609060101010101" pitchFamily="49" charset="-122"/>
              </a:rPr>
              <a:t>头。这样做可以阻止入侵者窥探出</a:t>
            </a:r>
            <a:r>
              <a:rPr lang="en-US" altLang="zh-CN" b="1" dirty="0">
                <a:ea typeface="黑体" panose="02010609060101010101" pitchFamily="49" charset="-122"/>
              </a:rPr>
              <a:t>TCP</a:t>
            </a:r>
            <a:r>
              <a:rPr lang="zh-CN" altLang="en-US" b="1" dirty="0">
                <a:ea typeface="黑体" panose="02010609060101010101" pitchFamily="49" charset="-122"/>
              </a:rPr>
              <a:t>连接的顺序号。</a:t>
            </a:r>
            <a:r>
              <a:rPr lang="en-US" altLang="zh-CN" b="1" dirty="0">
                <a:ea typeface="黑体" panose="02010609060101010101" pitchFamily="49" charset="-122"/>
              </a:rPr>
              <a:t>IPSec</a:t>
            </a:r>
            <a:r>
              <a:rPr lang="zh-CN" altLang="en-US" b="1" dirty="0">
                <a:ea typeface="黑体" panose="02010609060101010101" pitchFamily="49" charset="-122"/>
              </a:rPr>
              <a:t>作为新一代因特网的安全标准，是</a:t>
            </a:r>
            <a:r>
              <a:rPr lang="en-US" altLang="zh-CN" b="1" dirty="0">
                <a:ea typeface="黑体" panose="02010609060101010101" pitchFamily="49" charset="-122"/>
              </a:rPr>
              <a:t>IPv4</a:t>
            </a:r>
            <a:r>
              <a:rPr lang="zh-CN" altLang="en-US" b="1" dirty="0">
                <a:ea typeface="黑体" panose="02010609060101010101" pitchFamily="49" charset="-122"/>
              </a:rPr>
              <a:t>的可选项，但却是</a:t>
            </a:r>
            <a:r>
              <a:rPr lang="en-US" altLang="zh-CN" b="1" dirty="0">
                <a:ea typeface="黑体" panose="02010609060101010101" pitchFamily="49" charset="-122"/>
              </a:rPr>
              <a:t>IPv6</a:t>
            </a:r>
            <a:r>
              <a:rPr lang="zh-CN" altLang="en-US" b="1" dirty="0">
                <a:ea typeface="黑体" panose="02010609060101010101" pitchFamily="49" charset="-122"/>
              </a:rPr>
              <a:t>的必须部分。</a:t>
            </a:r>
            <a:r>
              <a:rPr lang="zh-CN" altLang="en-US" dirty="0">
                <a:ea typeface="黑体" panose="02010609060101010101" pitchFamily="49" charset="-122"/>
              </a:rPr>
              <a:t>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16737"/>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4.4.3.2 ARP</a:t>
            </a:r>
            <a:r>
              <a:rPr lang="zh-CN" altLang="en-US" sz="5000" b="1" noProof="1">
                <a:solidFill>
                  <a:schemeClr val="tx2"/>
                </a:solidFill>
                <a:effectLst>
                  <a:outerShdw blurRad="38100" dist="38100" dir="2700000">
                    <a:srgbClr val="000000"/>
                  </a:outerShdw>
                </a:effectLst>
                <a:ea typeface="黑体" panose="02010609060101010101" pitchFamily="49" charset="-122"/>
              </a:rPr>
              <a:t>欺骗</a:t>
            </a:r>
          </a:p>
        </p:txBody>
      </p:sp>
      <p:sp>
        <p:nvSpPr>
          <p:cNvPr id="108546" name="文本占位符 116738"/>
          <p:cNvSpPr>
            <a:spLocks noGrp="1"/>
          </p:cNvSpPr>
          <p:nvPr>
            <p:ph idx="1"/>
          </p:nvPr>
        </p:nvSpPr>
        <p:spPr>
          <a:xfrm>
            <a:off x="1981200" y="1600200"/>
            <a:ext cx="8229600" cy="4997450"/>
          </a:xfrm>
        </p:spPr>
        <p:txBody>
          <a:bodyPr vert="horz" wrap="square" lIns="91440" tIns="45720" rIns="91440" bIns="45720" anchor="t"/>
          <a:lstStyle/>
          <a:p>
            <a:pPr algn="just" eaLnBrk="1" hangingPunct="1">
              <a:lnSpc>
                <a:spcPct val="90000"/>
              </a:lnSpc>
            </a:pPr>
            <a:r>
              <a:rPr lang="en-US" altLang="zh-CN" b="1" dirty="0">
                <a:ea typeface="黑体" panose="02010609060101010101" pitchFamily="49" charset="-122"/>
              </a:rPr>
              <a:t>ARP</a:t>
            </a:r>
            <a:r>
              <a:rPr lang="zh-CN" altLang="en-US" b="1" dirty="0">
                <a:ea typeface="黑体" panose="02010609060101010101" pitchFamily="49" charset="-122"/>
              </a:rPr>
              <a:t>即地址转换协议，它用来将</a:t>
            </a:r>
            <a:r>
              <a:rPr lang="en-US" altLang="zh-CN" b="1" dirty="0">
                <a:ea typeface="黑体" panose="02010609060101010101" pitchFamily="49" charset="-122"/>
              </a:rPr>
              <a:t>IP</a:t>
            </a:r>
            <a:r>
              <a:rPr lang="zh-CN" altLang="en-US" b="1" dirty="0">
                <a:ea typeface="黑体" panose="02010609060101010101" pitchFamily="49" charset="-122"/>
              </a:rPr>
              <a:t>地址转换成物理地址。</a:t>
            </a:r>
          </a:p>
          <a:p>
            <a:pPr algn="just" eaLnBrk="1" hangingPunct="1">
              <a:lnSpc>
                <a:spcPct val="90000"/>
              </a:lnSpc>
            </a:pPr>
            <a:r>
              <a:rPr lang="zh-CN" altLang="en-US" b="1" dirty="0">
                <a:ea typeface="黑体" panose="02010609060101010101" pitchFamily="49" charset="-122"/>
              </a:rPr>
              <a:t>假定在某广播型网络上，主机</a:t>
            </a:r>
            <a:r>
              <a:rPr lang="en-US" altLang="zh-CN" b="1" dirty="0">
                <a:ea typeface="黑体" panose="02010609060101010101" pitchFamily="49" charset="-122"/>
              </a:rPr>
              <a:t>A</a:t>
            </a:r>
            <a:r>
              <a:rPr lang="zh-CN" altLang="en-US" b="1" dirty="0">
                <a:ea typeface="黑体" panose="02010609060101010101" pitchFamily="49" charset="-122"/>
              </a:rPr>
              <a:t>欲解析主机</a:t>
            </a:r>
            <a:r>
              <a:rPr lang="en-US" altLang="zh-CN" b="1" dirty="0">
                <a:ea typeface="黑体" panose="02010609060101010101" pitchFamily="49" charset="-122"/>
              </a:rPr>
              <a:t>B</a:t>
            </a:r>
            <a:r>
              <a:rPr lang="zh-CN" altLang="en-US" b="1" dirty="0">
                <a:ea typeface="黑体" panose="02010609060101010101" pitchFamily="49" charset="-122"/>
              </a:rPr>
              <a:t>的</a:t>
            </a:r>
            <a:r>
              <a:rPr lang="en-US" altLang="zh-CN" b="1" dirty="0">
                <a:ea typeface="黑体" panose="02010609060101010101" pitchFamily="49" charset="-122"/>
              </a:rPr>
              <a:t>IP</a:t>
            </a:r>
            <a:r>
              <a:rPr lang="zh-CN" altLang="en-US" b="1" dirty="0">
                <a:ea typeface="黑体" panose="02010609060101010101" pitchFamily="49" charset="-122"/>
              </a:rPr>
              <a:t>地址</a:t>
            </a:r>
            <a:r>
              <a:rPr lang="en-US" altLang="zh-CN" b="1" dirty="0">
                <a:ea typeface="黑体" panose="02010609060101010101" pitchFamily="49" charset="-122"/>
              </a:rPr>
              <a:t>IPAdd_B</a:t>
            </a:r>
            <a:r>
              <a:rPr lang="zh-CN" altLang="en-US" b="1" dirty="0">
                <a:ea typeface="黑体" panose="02010609060101010101" pitchFamily="49" charset="-122"/>
              </a:rPr>
              <a:t>。</a:t>
            </a:r>
            <a:r>
              <a:rPr lang="en-US" altLang="zh-CN" b="1" dirty="0">
                <a:ea typeface="黑体" panose="02010609060101010101" pitchFamily="49" charset="-122"/>
              </a:rPr>
              <a:t>A</a:t>
            </a:r>
            <a:r>
              <a:rPr lang="zh-CN" altLang="en-US" b="1" dirty="0">
                <a:ea typeface="黑体" panose="02010609060101010101" pitchFamily="49" charset="-122"/>
              </a:rPr>
              <a:t>首先广播一个</a:t>
            </a:r>
            <a:r>
              <a:rPr lang="en-US" altLang="zh-CN" b="1" dirty="0">
                <a:ea typeface="黑体" panose="02010609060101010101" pitchFamily="49" charset="-122"/>
              </a:rPr>
              <a:t>ARP</a:t>
            </a:r>
            <a:r>
              <a:rPr lang="zh-CN" altLang="en-US" b="1" dirty="0">
                <a:ea typeface="黑体" panose="02010609060101010101" pitchFamily="49" charset="-122"/>
              </a:rPr>
              <a:t>请求报文，请求</a:t>
            </a:r>
            <a:r>
              <a:rPr lang="en-US" altLang="zh-CN" b="1" dirty="0">
                <a:ea typeface="黑体" panose="02010609060101010101" pitchFamily="49" charset="-122"/>
              </a:rPr>
              <a:t>IP</a:t>
            </a:r>
            <a:r>
              <a:rPr lang="zh-CN" altLang="en-US" b="1" dirty="0">
                <a:ea typeface="黑体" panose="02010609060101010101" pitchFamily="49" charset="-122"/>
              </a:rPr>
              <a:t>地址为</a:t>
            </a:r>
            <a:r>
              <a:rPr lang="en-US" altLang="zh-CN" b="1" dirty="0">
                <a:ea typeface="黑体" panose="02010609060101010101" pitchFamily="49" charset="-122"/>
              </a:rPr>
              <a:t>IPAdd_B</a:t>
            </a:r>
            <a:r>
              <a:rPr lang="zh-CN" altLang="en-US" b="1" dirty="0">
                <a:ea typeface="黑体" panose="02010609060101010101" pitchFamily="49" charset="-122"/>
              </a:rPr>
              <a:t>的主机回答其物理地址。网上所有主机（包括</a:t>
            </a:r>
            <a:r>
              <a:rPr lang="en-US" altLang="zh-CN" b="1" dirty="0">
                <a:ea typeface="黑体" panose="02010609060101010101" pitchFamily="49" charset="-122"/>
              </a:rPr>
              <a:t>B</a:t>
            </a:r>
            <a:r>
              <a:rPr lang="zh-CN" altLang="en-US" b="1" dirty="0">
                <a:ea typeface="黑体" panose="02010609060101010101" pitchFamily="49" charset="-122"/>
              </a:rPr>
              <a:t>）都将收到该</a:t>
            </a:r>
            <a:r>
              <a:rPr lang="en-US" altLang="zh-CN" b="1" dirty="0">
                <a:ea typeface="黑体" panose="02010609060101010101" pitchFamily="49" charset="-122"/>
              </a:rPr>
              <a:t>ARP</a:t>
            </a:r>
            <a:r>
              <a:rPr lang="zh-CN" altLang="en-US" b="1" dirty="0">
                <a:ea typeface="黑体" panose="02010609060101010101" pitchFamily="49" charset="-122"/>
              </a:rPr>
              <a:t>请求，但只有</a:t>
            </a:r>
            <a:r>
              <a:rPr lang="en-US" altLang="zh-CN" b="1" dirty="0">
                <a:ea typeface="黑体" panose="02010609060101010101" pitchFamily="49" charset="-122"/>
              </a:rPr>
              <a:t>B</a:t>
            </a:r>
            <a:r>
              <a:rPr lang="zh-CN" altLang="en-US" b="1" dirty="0">
                <a:ea typeface="黑体" panose="02010609060101010101" pitchFamily="49" charset="-122"/>
              </a:rPr>
              <a:t>识别出自己的</a:t>
            </a:r>
            <a:r>
              <a:rPr lang="en-US" altLang="zh-CN" b="1" dirty="0">
                <a:ea typeface="黑体" panose="02010609060101010101" pitchFamily="49" charset="-122"/>
              </a:rPr>
              <a:t>IPAdd_B</a:t>
            </a:r>
            <a:r>
              <a:rPr lang="zh-CN" altLang="en-US" b="1" dirty="0">
                <a:ea typeface="黑体" panose="02010609060101010101" pitchFamily="49" charset="-122"/>
              </a:rPr>
              <a:t>地址，并做出回答：向</a:t>
            </a:r>
            <a:r>
              <a:rPr lang="en-US" altLang="zh-CN" b="1" dirty="0">
                <a:ea typeface="黑体" panose="02010609060101010101" pitchFamily="49" charset="-122"/>
              </a:rPr>
              <a:t>A</a:t>
            </a:r>
            <a:r>
              <a:rPr lang="zh-CN" altLang="en-US" b="1" dirty="0">
                <a:ea typeface="黑体" panose="02010609060101010101" pitchFamily="49" charset="-122"/>
              </a:rPr>
              <a:t>发回一个</a:t>
            </a:r>
            <a:r>
              <a:rPr lang="en-US" altLang="zh-CN" b="1" dirty="0">
                <a:ea typeface="黑体" panose="02010609060101010101" pitchFamily="49" charset="-122"/>
              </a:rPr>
              <a:t>ARP</a:t>
            </a:r>
            <a:r>
              <a:rPr lang="zh-CN" altLang="en-US" b="1" dirty="0">
                <a:ea typeface="黑体" panose="02010609060101010101" pitchFamily="49" charset="-122"/>
              </a:rPr>
              <a:t>响应，回答自己的物理地址。为了提高效率，</a:t>
            </a:r>
            <a:r>
              <a:rPr lang="en-US" altLang="zh-CN" b="1" dirty="0">
                <a:ea typeface="黑体" panose="02010609060101010101" pitchFamily="49" charset="-122"/>
              </a:rPr>
              <a:t>ARP</a:t>
            </a:r>
            <a:r>
              <a:rPr lang="zh-CN" altLang="en-US" b="1" dirty="0">
                <a:ea typeface="黑体" panose="02010609060101010101" pitchFamily="49" charset="-122"/>
              </a:rPr>
              <a:t>使用了高速缓存技术。在每台使用</a:t>
            </a:r>
            <a:r>
              <a:rPr lang="en-US" altLang="zh-CN" b="1" dirty="0">
                <a:ea typeface="黑体" panose="02010609060101010101" pitchFamily="49" charset="-122"/>
              </a:rPr>
              <a:t>ARP</a:t>
            </a:r>
            <a:r>
              <a:rPr lang="zh-CN" altLang="en-US" b="1" dirty="0">
                <a:ea typeface="黑体" panose="02010609060101010101" pitchFamily="49" charset="-122"/>
              </a:rPr>
              <a:t>的主机中，都保留了一个专用的高速缓存，存放最近获得的</a:t>
            </a:r>
            <a:r>
              <a:rPr lang="en-US" altLang="zh-CN" b="1" dirty="0">
                <a:ea typeface="黑体" panose="02010609060101010101" pitchFamily="49" charset="-122"/>
              </a:rPr>
              <a:t>IP</a:t>
            </a:r>
            <a:r>
              <a:rPr lang="zh-CN" altLang="en-US" b="1" dirty="0">
                <a:ea typeface="黑体" panose="02010609060101010101" pitchFamily="49" charset="-122"/>
              </a:rPr>
              <a:t>地址－物理地址映射。问题就出在这里。</a:t>
            </a:r>
            <a:r>
              <a:rPr lang="zh-CN" altLang="en-US" dirty="0">
                <a:ea typeface="黑体" panose="02010609060101010101" pitchFamily="49" charset="-122"/>
              </a:rPr>
              <a:t>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17761"/>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rgbClr val="99FF99"/>
                </a:solidFill>
                <a:effectLst>
                  <a:outerShdw blurRad="38100" dist="38100" dir="2700000">
                    <a:srgbClr val="000000"/>
                  </a:outerShdw>
                </a:effectLst>
                <a:ea typeface="黑体" panose="02010609060101010101" pitchFamily="49" charset="-122"/>
              </a:rPr>
              <a:t>ARP</a:t>
            </a:r>
            <a:r>
              <a:rPr lang="zh-CN" altLang="en-US" sz="5000" b="1" noProof="1">
                <a:solidFill>
                  <a:srgbClr val="99FF99"/>
                </a:solidFill>
                <a:effectLst>
                  <a:outerShdw blurRad="38100" dist="38100" dir="2700000">
                    <a:srgbClr val="000000"/>
                  </a:outerShdw>
                </a:effectLst>
                <a:ea typeface="黑体" panose="02010609060101010101" pitchFamily="49" charset="-122"/>
              </a:rPr>
              <a:t>欺骗</a:t>
            </a:r>
          </a:p>
        </p:txBody>
      </p:sp>
      <p:sp>
        <p:nvSpPr>
          <p:cNvPr id="109570" name="文本占位符 117762"/>
          <p:cNvSpPr>
            <a:spLocks noGrp="1"/>
          </p:cNvSpPr>
          <p:nvPr>
            <p:ph idx="1"/>
          </p:nvPr>
        </p:nvSpPr>
        <p:spPr>
          <a:xfrm>
            <a:off x="2209800" y="1981201"/>
            <a:ext cx="7772400" cy="4111625"/>
          </a:xfrm>
        </p:spPr>
        <p:txBody>
          <a:bodyPr vert="horz" wrap="square" lIns="91440" tIns="45720" rIns="91440" bIns="45720" anchor="t"/>
          <a:lstStyle/>
          <a:p>
            <a:pPr algn="just" eaLnBrk="1" hangingPunct="1">
              <a:lnSpc>
                <a:spcPct val="90000"/>
              </a:lnSpc>
            </a:pPr>
            <a:r>
              <a:rPr lang="zh-CN" altLang="en-US" b="1" dirty="0">
                <a:ea typeface="黑体" panose="02010609060101010101" pitchFamily="49" charset="-122"/>
              </a:rPr>
              <a:t>假定入侵者想对主机</a:t>
            </a:r>
            <a:r>
              <a:rPr lang="en-US" altLang="zh-CN" b="1" dirty="0">
                <a:ea typeface="黑体" panose="02010609060101010101" pitchFamily="49" charset="-122"/>
              </a:rPr>
              <a:t>B</a:t>
            </a:r>
            <a:r>
              <a:rPr lang="zh-CN" altLang="en-US" b="1" dirty="0">
                <a:ea typeface="黑体" panose="02010609060101010101" pitchFamily="49" charset="-122"/>
              </a:rPr>
              <a:t>实施</a:t>
            </a:r>
            <a:r>
              <a:rPr lang="en-US" altLang="zh-CN" b="1" dirty="0">
                <a:ea typeface="黑体" panose="02010609060101010101" pitchFamily="49" charset="-122"/>
              </a:rPr>
              <a:t>ARP</a:t>
            </a:r>
            <a:r>
              <a:rPr lang="zh-CN" altLang="en-US" b="1" dirty="0">
                <a:ea typeface="黑体" panose="02010609060101010101" pitchFamily="49" charset="-122"/>
              </a:rPr>
              <a:t>欺骗，那么他可以先对主机</a:t>
            </a:r>
            <a:r>
              <a:rPr lang="en-US" altLang="zh-CN" b="1" dirty="0">
                <a:ea typeface="黑体" panose="02010609060101010101" pitchFamily="49" charset="-122"/>
              </a:rPr>
              <a:t>A</a:t>
            </a:r>
            <a:r>
              <a:rPr lang="zh-CN" altLang="en-US" b="1" dirty="0">
                <a:ea typeface="黑体" panose="02010609060101010101" pitchFamily="49" charset="-122"/>
              </a:rPr>
              <a:t>进行拒绝服务攻击</a:t>
            </a:r>
            <a:r>
              <a:rPr lang="en-US" altLang="zh-CN" b="1" dirty="0">
                <a:ea typeface="黑体" panose="02010609060101010101" pitchFamily="49" charset="-122"/>
              </a:rPr>
              <a:t>(</a:t>
            </a:r>
            <a:r>
              <a:rPr lang="zh-CN" altLang="en-US" b="1" dirty="0">
                <a:ea typeface="黑体" panose="02010609060101010101" pitchFamily="49" charset="-122"/>
              </a:rPr>
              <a:t>入侵者可以利用</a:t>
            </a:r>
            <a:r>
              <a:rPr lang="en-US" altLang="zh-CN" b="1" dirty="0">
                <a:ea typeface="黑体" panose="02010609060101010101" pitchFamily="49" charset="-122"/>
              </a:rPr>
              <a:t>ARP</a:t>
            </a:r>
            <a:r>
              <a:rPr lang="zh-CN" altLang="en-US" b="1" dirty="0">
                <a:ea typeface="黑体" panose="02010609060101010101" pitchFamily="49" charset="-122"/>
              </a:rPr>
              <a:t>协议造成拒绝服务：入侵者发送大量的</a:t>
            </a:r>
            <a:r>
              <a:rPr lang="en-US" altLang="zh-CN" b="1" dirty="0">
                <a:ea typeface="黑体" panose="02010609060101010101" pitchFamily="49" charset="-122"/>
              </a:rPr>
              <a:t>ARP</a:t>
            </a:r>
            <a:r>
              <a:rPr lang="zh-CN" altLang="en-US" b="1" dirty="0">
                <a:ea typeface="黑体" panose="02010609060101010101" pitchFamily="49" charset="-122"/>
              </a:rPr>
              <a:t>请求报文，且报文的</a:t>
            </a:r>
            <a:r>
              <a:rPr lang="en-US" altLang="zh-CN" b="1" dirty="0">
                <a:ea typeface="黑体" panose="02010609060101010101" pitchFamily="49" charset="-122"/>
              </a:rPr>
              <a:t>IP</a:t>
            </a:r>
            <a:r>
              <a:rPr lang="zh-CN" altLang="en-US" b="1" dirty="0">
                <a:ea typeface="黑体" panose="02010609060101010101" pitchFamily="49" charset="-122"/>
              </a:rPr>
              <a:t>地址与</a:t>
            </a:r>
            <a:r>
              <a:rPr lang="en-US" altLang="zh-CN" b="1" dirty="0">
                <a:ea typeface="黑体" panose="02010609060101010101" pitchFamily="49" charset="-122"/>
              </a:rPr>
              <a:t>MAC</a:t>
            </a:r>
            <a:r>
              <a:rPr lang="zh-CN" altLang="en-US" b="1" dirty="0">
                <a:ea typeface="黑体" panose="02010609060101010101" pitchFamily="49" charset="-122"/>
              </a:rPr>
              <a:t>地址不一致，造成响应主机不得不花很多时间处理这些请求</a:t>
            </a:r>
            <a:r>
              <a:rPr lang="en-US" altLang="zh-CN" b="1" dirty="0">
                <a:ea typeface="黑体" panose="02010609060101010101" pitchFamily="49" charset="-122"/>
              </a:rPr>
              <a:t>)</a:t>
            </a:r>
            <a:r>
              <a:rPr lang="zh-CN" altLang="en-US" b="1" dirty="0">
                <a:ea typeface="黑体" panose="02010609060101010101" pitchFamily="49" charset="-122"/>
              </a:rPr>
              <a:t>使其暂时挂起或干脆趁主机</a:t>
            </a:r>
            <a:r>
              <a:rPr lang="en-US" altLang="zh-CN" b="1" dirty="0">
                <a:ea typeface="黑体" panose="02010609060101010101" pitchFamily="49" charset="-122"/>
              </a:rPr>
              <a:t>A</a:t>
            </a:r>
            <a:r>
              <a:rPr lang="zh-CN" altLang="en-US" b="1" dirty="0">
                <a:ea typeface="黑体" panose="02010609060101010101" pitchFamily="49" charset="-122"/>
              </a:rPr>
              <a:t>关机时进行。</a:t>
            </a:r>
          </a:p>
          <a:p>
            <a:pPr algn="just" eaLnBrk="1" hangingPunct="1">
              <a:lnSpc>
                <a:spcPct val="90000"/>
              </a:lnSpc>
            </a:pPr>
            <a:r>
              <a:rPr lang="zh-CN" altLang="en-US" b="1" dirty="0">
                <a:ea typeface="黑体" panose="02010609060101010101" pitchFamily="49" charset="-122"/>
              </a:rPr>
              <a:t>然后入侵者用主机</a:t>
            </a:r>
            <a:r>
              <a:rPr lang="en-US" altLang="zh-CN" b="1" dirty="0">
                <a:ea typeface="黑体" panose="02010609060101010101" pitchFamily="49" charset="-122"/>
              </a:rPr>
              <a:t>A</a:t>
            </a:r>
            <a:r>
              <a:rPr lang="zh-CN" altLang="en-US" b="1" dirty="0">
                <a:ea typeface="黑体" panose="02010609060101010101" pitchFamily="49" charset="-122"/>
              </a:rPr>
              <a:t>的</a:t>
            </a:r>
            <a:r>
              <a:rPr lang="en-US" altLang="zh-CN" b="1" dirty="0">
                <a:ea typeface="黑体" panose="02010609060101010101" pitchFamily="49" charset="-122"/>
              </a:rPr>
              <a:t>IP</a:t>
            </a:r>
            <a:r>
              <a:rPr lang="zh-CN" altLang="en-US" b="1" dirty="0">
                <a:ea typeface="黑体" panose="02010609060101010101" pitchFamily="49" charset="-122"/>
              </a:rPr>
              <a:t>地址向主机</a:t>
            </a:r>
            <a:r>
              <a:rPr lang="en-US" altLang="zh-CN" b="1" dirty="0">
                <a:ea typeface="黑体" panose="02010609060101010101" pitchFamily="49" charset="-122"/>
              </a:rPr>
              <a:t>B</a:t>
            </a:r>
            <a:r>
              <a:rPr lang="zh-CN" altLang="en-US" b="1" dirty="0">
                <a:ea typeface="黑体" panose="02010609060101010101" pitchFamily="49" charset="-122"/>
              </a:rPr>
              <a:t>发送</a:t>
            </a:r>
            <a:r>
              <a:rPr lang="en-US" altLang="zh-CN" b="1" dirty="0">
                <a:ea typeface="黑体" panose="02010609060101010101" pitchFamily="49" charset="-122"/>
              </a:rPr>
              <a:t>ARP</a:t>
            </a:r>
            <a:r>
              <a:rPr lang="zh-CN" altLang="en-US" b="1" dirty="0">
                <a:ea typeface="黑体" panose="02010609060101010101" pitchFamily="49" charset="-122"/>
              </a:rPr>
              <a:t>请求报文，这样在主机</a:t>
            </a:r>
            <a:r>
              <a:rPr lang="en-US" altLang="zh-CN" b="1" dirty="0">
                <a:ea typeface="黑体" panose="02010609060101010101" pitchFamily="49" charset="-122"/>
              </a:rPr>
              <a:t>B</a:t>
            </a:r>
            <a:r>
              <a:rPr lang="zh-CN" altLang="en-US" b="1" dirty="0">
                <a:ea typeface="黑体" panose="02010609060101010101" pitchFamily="49" charset="-122"/>
              </a:rPr>
              <a:t>的高速缓存中就更新了原来主机</a:t>
            </a:r>
            <a:r>
              <a:rPr lang="en-US" altLang="zh-CN" b="1" dirty="0">
                <a:ea typeface="黑体" panose="02010609060101010101" pitchFamily="49" charset="-122"/>
              </a:rPr>
              <a:t>A</a:t>
            </a:r>
            <a:r>
              <a:rPr lang="zh-CN" altLang="en-US" b="1" dirty="0">
                <a:ea typeface="黑体" panose="02010609060101010101" pitchFamily="49" charset="-122"/>
              </a:rPr>
              <a:t>的</a:t>
            </a:r>
            <a:r>
              <a:rPr lang="en-US" altLang="zh-CN" b="1" dirty="0">
                <a:ea typeface="黑体" panose="02010609060101010101" pitchFamily="49" charset="-122"/>
              </a:rPr>
              <a:t>IP</a:t>
            </a:r>
            <a:r>
              <a:rPr lang="zh-CN" altLang="en-US" b="1" dirty="0">
                <a:ea typeface="黑体" panose="02010609060101010101" pitchFamily="49" charset="-122"/>
              </a:rPr>
              <a:t>地址－物理地址的映射。</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1878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防止</a:t>
            </a:r>
            <a:r>
              <a:rPr lang="en-US" altLang="zh-CN" sz="5000" b="1" noProof="1">
                <a:solidFill>
                  <a:schemeClr val="tx2"/>
                </a:solidFill>
                <a:effectLst>
                  <a:outerShdw blurRad="38100" dist="38100" dir="2700000">
                    <a:srgbClr val="000000"/>
                  </a:outerShdw>
                </a:effectLst>
                <a:ea typeface="黑体" panose="02010609060101010101" pitchFamily="49" charset="-122"/>
              </a:rPr>
              <a:t>ARP</a:t>
            </a:r>
            <a:r>
              <a:rPr lang="zh-CN" altLang="en-US" sz="5000" b="1" noProof="1">
                <a:solidFill>
                  <a:schemeClr val="tx2"/>
                </a:solidFill>
                <a:effectLst>
                  <a:outerShdw blurRad="38100" dist="38100" dir="2700000">
                    <a:srgbClr val="000000"/>
                  </a:outerShdw>
                </a:effectLst>
                <a:ea typeface="黑体" panose="02010609060101010101" pitchFamily="49" charset="-122"/>
              </a:rPr>
              <a:t>欺骗</a:t>
            </a:r>
          </a:p>
        </p:txBody>
      </p:sp>
      <p:sp>
        <p:nvSpPr>
          <p:cNvPr id="110594" name="文本占位符 118786"/>
          <p:cNvSpPr>
            <a:spLocks noGrp="1"/>
          </p:cNvSpPr>
          <p:nvPr>
            <p:ph idx="1"/>
          </p:nvPr>
        </p:nvSpPr>
        <p:spPr>
          <a:xfrm>
            <a:off x="2209800" y="1981201"/>
            <a:ext cx="7772400" cy="4111625"/>
          </a:xfrm>
        </p:spPr>
        <p:txBody>
          <a:bodyPr vert="horz" wrap="square" lIns="91440" tIns="45720" rIns="91440" bIns="45720" anchor="t"/>
          <a:lstStyle/>
          <a:p>
            <a:pPr algn="just" eaLnBrk="1" hangingPunct="1">
              <a:lnSpc>
                <a:spcPct val="130000"/>
              </a:lnSpc>
            </a:pPr>
            <a:r>
              <a:rPr lang="zh-CN" altLang="en-US" sz="2800" b="1" dirty="0">
                <a:ea typeface="黑体" panose="02010609060101010101" pitchFamily="49" charset="-122"/>
              </a:rPr>
              <a:t>禁止ARP </a:t>
            </a:r>
          </a:p>
          <a:p>
            <a:pPr algn="just" eaLnBrk="1" hangingPunct="1">
              <a:lnSpc>
                <a:spcPct val="130000"/>
              </a:lnSpc>
            </a:pPr>
            <a:r>
              <a:rPr lang="zh-CN" altLang="en-US" b="1" dirty="0">
                <a:ea typeface="黑体" panose="02010609060101010101" pitchFamily="49" charset="-122"/>
              </a:rPr>
              <a:t>主机级的被动检测 </a:t>
            </a:r>
          </a:p>
          <a:p>
            <a:pPr algn="just" eaLnBrk="1" hangingPunct="1">
              <a:lnSpc>
                <a:spcPct val="130000"/>
              </a:lnSpc>
            </a:pPr>
            <a:r>
              <a:rPr lang="zh-CN" altLang="en-US" b="1" dirty="0">
                <a:ea typeface="黑体" panose="02010609060101010101" pitchFamily="49" charset="-122"/>
              </a:rPr>
              <a:t>主机级的主动检测 </a:t>
            </a:r>
          </a:p>
          <a:p>
            <a:pPr algn="just" eaLnBrk="1" hangingPunct="1">
              <a:lnSpc>
                <a:spcPct val="130000"/>
              </a:lnSpc>
            </a:pPr>
            <a:r>
              <a:rPr lang="zh-CN" altLang="en-US" b="1" dirty="0">
                <a:ea typeface="黑体" panose="02010609060101010101" pitchFamily="49" charset="-122"/>
              </a:rPr>
              <a:t>服务器级检测 </a:t>
            </a:r>
          </a:p>
          <a:p>
            <a:pPr algn="just" eaLnBrk="1" hangingPunct="1">
              <a:lnSpc>
                <a:spcPct val="130000"/>
              </a:lnSpc>
            </a:pPr>
            <a:r>
              <a:rPr lang="zh-CN" altLang="en-US" b="1" dirty="0">
                <a:ea typeface="黑体" panose="02010609060101010101" pitchFamily="49" charset="-122"/>
              </a:rPr>
              <a:t>网络级检测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19809"/>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4.4.3.3 DNS</a:t>
            </a:r>
            <a:r>
              <a:rPr lang="zh-CN" altLang="en-US" sz="5000" b="1" noProof="1">
                <a:solidFill>
                  <a:schemeClr val="tx2"/>
                </a:solidFill>
                <a:effectLst>
                  <a:outerShdw blurRad="38100" dist="38100" dir="2700000">
                    <a:srgbClr val="000000"/>
                  </a:outerShdw>
                </a:effectLst>
                <a:ea typeface="黑体" panose="02010609060101010101" pitchFamily="49" charset="-122"/>
              </a:rPr>
              <a:t>欺骗</a:t>
            </a:r>
          </a:p>
        </p:txBody>
      </p:sp>
      <p:sp>
        <p:nvSpPr>
          <p:cNvPr id="111618" name="文本占位符 119810"/>
          <p:cNvSpPr>
            <a:spLocks noGrp="1"/>
          </p:cNvSpPr>
          <p:nvPr>
            <p:ph idx="1"/>
          </p:nvPr>
        </p:nvSpPr>
        <p:spPr>
          <a:xfrm>
            <a:off x="2209800" y="1981201"/>
            <a:ext cx="7772400" cy="4111625"/>
          </a:xfrm>
        </p:spPr>
        <p:txBody>
          <a:bodyPr vert="horz" wrap="square" lIns="91440" tIns="45720" rIns="91440" bIns="45720" anchor="t"/>
          <a:lstStyle/>
          <a:p>
            <a:pPr algn="just" eaLnBrk="1" hangingPunct="1"/>
            <a:r>
              <a:rPr lang="en-US" altLang="zh-CN" b="1" dirty="0">
                <a:ea typeface="黑体" panose="02010609060101010101" pitchFamily="49" charset="-122"/>
              </a:rPr>
              <a:t>DNS</a:t>
            </a:r>
            <a:r>
              <a:rPr lang="zh-CN" altLang="en-US" b="1" dirty="0">
                <a:ea typeface="黑体" panose="02010609060101010101" pitchFamily="49" charset="-122"/>
              </a:rPr>
              <a:t>欺骗的机制比较简单：以一个假的</a:t>
            </a:r>
            <a:r>
              <a:rPr lang="en-US" altLang="zh-CN" b="1" dirty="0">
                <a:ea typeface="黑体" panose="02010609060101010101" pitchFamily="49" charset="-122"/>
              </a:rPr>
              <a:t>IP</a:t>
            </a:r>
            <a:r>
              <a:rPr lang="zh-CN" altLang="en-US" b="1" dirty="0">
                <a:ea typeface="黑体" panose="02010609060101010101" pitchFamily="49" charset="-122"/>
              </a:rPr>
              <a:t>地址来响应域名请求。但它的危害性却大于其他的电子欺骗方式。</a:t>
            </a:r>
          </a:p>
          <a:p>
            <a:pPr algn="just" eaLnBrk="1" hangingPunct="1"/>
            <a:r>
              <a:rPr lang="zh-CN" altLang="en-US" b="1" dirty="0">
                <a:ea typeface="黑体" panose="02010609060101010101" pitchFamily="49" charset="-122"/>
              </a:rPr>
              <a:t>在多数情况下，实施</a:t>
            </a:r>
            <a:r>
              <a:rPr lang="en-US" altLang="zh-CN" b="1" dirty="0">
                <a:ea typeface="黑体" panose="02010609060101010101" pitchFamily="49" charset="-122"/>
              </a:rPr>
              <a:t>DNS</a:t>
            </a:r>
            <a:r>
              <a:rPr lang="zh-CN" altLang="en-US" b="1" dirty="0">
                <a:ea typeface="黑体" panose="02010609060101010101" pitchFamily="49" charset="-122"/>
              </a:rPr>
              <a:t>欺骗时，入侵者要取得</a:t>
            </a:r>
            <a:r>
              <a:rPr lang="en-US" altLang="zh-CN" b="1" dirty="0">
                <a:ea typeface="黑体" panose="02010609060101010101" pitchFamily="49" charset="-122"/>
              </a:rPr>
              <a:t>DNS</a:t>
            </a:r>
            <a:r>
              <a:rPr lang="zh-CN" altLang="en-US" b="1" dirty="0">
                <a:ea typeface="黑体" panose="02010609060101010101" pitchFamily="49" charset="-122"/>
              </a:rPr>
              <a:t>服务器的信任并明目张胆地改变主机的</a:t>
            </a:r>
            <a:r>
              <a:rPr lang="en-US" altLang="zh-CN" b="1" dirty="0">
                <a:ea typeface="黑体" panose="02010609060101010101" pitchFamily="49" charset="-122"/>
              </a:rPr>
              <a:t>IP</a:t>
            </a:r>
            <a:r>
              <a:rPr lang="zh-CN" altLang="en-US" b="1" dirty="0">
                <a:ea typeface="黑体" panose="02010609060101010101" pitchFamily="49" charset="-122"/>
              </a:rPr>
              <a:t>地址表，这些变化被写入到</a:t>
            </a:r>
            <a:r>
              <a:rPr lang="en-US" altLang="zh-CN" b="1" dirty="0">
                <a:ea typeface="黑体" panose="02010609060101010101" pitchFamily="49" charset="-122"/>
              </a:rPr>
              <a:t>DNS</a:t>
            </a:r>
            <a:r>
              <a:rPr lang="zh-CN" altLang="en-US" b="1" dirty="0">
                <a:ea typeface="黑体" panose="02010609060101010101" pitchFamily="49" charset="-122"/>
              </a:rPr>
              <a:t>服务器的转换表数据库中，因此，当客户发出一个查询请求时，他会等到假的</a:t>
            </a:r>
            <a:r>
              <a:rPr lang="en-US" altLang="zh-CN" b="1" dirty="0">
                <a:ea typeface="黑体" panose="02010609060101010101" pitchFamily="49" charset="-122"/>
              </a:rPr>
              <a:t>IP</a:t>
            </a:r>
            <a:r>
              <a:rPr lang="zh-CN" altLang="en-US" b="1" dirty="0">
                <a:ea typeface="黑体" panose="02010609060101010101" pitchFamily="49" charset="-122"/>
              </a:rPr>
              <a:t>地址，这一地址会处于入侵者的完全控制之下。</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20833"/>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DNS</a:t>
            </a:r>
            <a:r>
              <a:rPr lang="zh-CN" altLang="en-US" sz="5000" b="1" noProof="1">
                <a:solidFill>
                  <a:schemeClr val="tx2"/>
                </a:solidFill>
                <a:effectLst>
                  <a:outerShdw blurRad="38100" dist="38100" dir="2700000">
                    <a:srgbClr val="000000"/>
                  </a:outerShdw>
                </a:effectLst>
                <a:ea typeface="黑体" panose="02010609060101010101" pitchFamily="49" charset="-122"/>
              </a:rPr>
              <a:t>欺骗</a:t>
            </a:r>
          </a:p>
        </p:txBody>
      </p:sp>
      <p:sp>
        <p:nvSpPr>
          <p:cNvPr id="112642" name="文本占位符 120834"/>
          <p:cNvSpPr>
            <a:spLocks noGrp="1"/>
          </p:cNvSpPr>
          <p:nvPr>
            <p:ph idx="1"/>
          </p:nvPr>
        </p:nvSpPr>
        <p:spPr>
          <a:xfrm>
            <a:off x="2209800" y="1981201"/>
            <a:ext cx="7772400" cy="4111625"/>
          </a:xfrm>
        </p:spPr>
        <p:txBody>
          <a:bodyPr vert="horz" wrap="square" lIns="91440" tIns="45720" rIns="91440" bIns="45720" anchor="t"/>
          <a:lstStyle/>
          <a:p>
            <a:pPr algn="just" eaLnBrk="1" hangingPunct="1"/>
            <a:r>
              <a:rPr lang="zh-CN" altLang="en-US" b="1" dirty="0">
                <a:ea typeface="黑体" panose="02010609060101010101" pitchFamily="49" charset="-122"/>
              </a:rPr>
              <a:t>比如</a:t>
            </a:r>
            <a:r>
              <a:rPr lang="en-US" altLang="zh-CN" b="1" dirty="0">
                <a:ea typeface="黑体" panose="02010609060101010101" pitchFamily="49" charset="-122"/>
              </a:rPr>
              <a:t>www.edu.cn</a:t>
            </a:r>
            <a:r>
              <a:rPr lang="zh-CN" altLang="en-US" b="1" dirty="0">
                <a:ea typeface="黑体" panose="02010609060101010101" pitchFamily="49" charset="-122"/>
              </a:rPr>
              <a:t>的</a:t>
            </a:r>
            <a:r>
              <a:rPr lang="en-US" altLang="zh-CN" b="1" dirty="0">
                <a:ea typeface="黑体" panose="02010609060101010101" pitchFamily="49" charset="-122"/>
              </a:rPr>
              <a:t>IP</a:t>
            </a:r>
            <a:r>
              <a:rPr lang="zh-CN" altLang="en-US" b="1" dirty="0">
                <a:ea typeface="黑体" panose="02010609060101010101" pitchFamily="49" charset="-122"/>
              </a:rPr>
              <a:t>地址本来是</a:t>
            </a:r>
            <a:r>
              <a:rPr lang="en-US" altLang="zh-CN" b="1" dirty="0">
                <a:ea typeface="黑体" panose="02010609060101010101" pitchFamily="49" charset="-122"/>
              </a:rPr>
              <a:t>202.112.0.36</a:t>
            </a:r>
            <a:r>
              <a:rPr lang="zh-CN" altLang="en-US" b="1" dirty="0">
                <a:ea typeface="黑体" panose="02010609060101010101" pitchFamily="49" charset="-122"/>
              </a:rPr>
              <a:t>，但入侵者可以以</a:t>
            </a:r>
            <a:r>
              <a:rPr lang="en-US" altLang="zh-CN" b="1" dirty="0">
                <a:ea typeface="黑体" panose="02010609060101010101" pitchFamily="49" charset="-122"/>
              </a:rPr>
              <a:t>210.28.129.229</a:t>
            </a:r>
            <a:r>
              <a:rPr lang="zh-CN" altLang="en-US" b="1" dirty="0">
                <a:ea typeface="黑体" panose="02010609060101010101" pitchFamily="49" charset="-122"/>
              </a:rPr>
              <a:t>来响应，而用户却很少会察觉。若有商业行为，一旦输入密码、信用卡号等，则全部传向入侵者，而入侵者可以做一个代理为用户完成正常的请求从而给用户造成一种错觉：“他获得了服务”。就这个情况讲，用户永远发现不了。任何防火墙都不能完全解决这问题。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21857"/>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防止</a:t>
            </a:r>
            <a:r>
              <a:rPr lang="en-US" altLang="zh-CN" sz="5000" b="1" noProof="1">
                <a:solidFill>
                  <a:schemeClr val="tx2"/>
                </a:solidFill>
                <a:effectLst>
                  <a:outerShdw blurRad="38100" dist="38100" dir="2700000">
                    <a:srgbClr val="000000"/>
                  </a:outerShdw>
                </a:effectLst>
                <a:ea typeface="黑体" panose="02010609060101010101" pitchFamily="49" charset="-122"/>
              </a:rPr>
              <a:t>DNS</a:t>
            </a:r>
            <a:r>
              <a:rPr lang="zh-CN" altLang="en-US" sz="5000" b="1" noProof="1">
                <a:solidFill>
                  <a:schemeClr val="tx2"/>
                </a:solidFill>
                <a:effectLst>
                  <a:outerShdw blurRad="38100" dist="38100" dir="2700000">
                    <a:srgbClr val="000000"/>
                  </a:outerShdw>
                </a:effectLst>
                <a:ea typeface="黑体" panose="02010609060101010101" pitchFamily="49" charset="-122"/>
              </a:rPr>
              <a:t>欺骗</a:t>
            </a:r>
          </a:p>
        </p:txBody>
      </p:sp>
      <p:sp>
        <p:nvSpPr>
          <p:cNvPr id="113666" name="文本占位符 121858"/>
          <p:cNvSpPr>
            <a:spLocks noGrp="1"/>
          </p:cNvSpPr>
          <p:nvPr>
            <p:ph idx="1"/>
          </p:nvPr>
        </p:nvSpPr>
        <p:spPr>
          <a:xfrm>
            <a:off x="2209800" y="1981201"/>
            <a:ext cx="7772400" cy="4111625"/>
          </a:xfrm>
        </p:spPr>
        <p:txBody>
          <a:bodyPr vert="horz" wrap="square" lIns="91440" tIns="45720" rIns="91440" bIns="45720" anchor="t"/>
          <a:lstStyle/>
          <a:p>
            <a:pPr algn="just" eaLnBrk="1" hangingPunct="1">
              <a:lnSpc>
                <a:spcPct val="130000"/>
              </a:lnSpc>
            </a:pPr>
            <a:r>
              <a:rPr lang="zh-CN" altLang="en-US" b="1" dirty="0">
                <a:ea typeface="黑体" panose="02010609060101010101" pitchFamily="49" charset="-122"/>
              </a:rPr>
              <a:t>不再使用</a:t>
            </a:r>
            <a:r>
              <a:rPr lang="en-US" altLang="zh-CN" b="1" dirty="0">
                <a:ea typeface="黑体" panose="02010609060101010101" pitchFamily="49" charset="-122"/>
              </a:rPr>
              <a:t>DNS </a:t>
            </a:r>
          </a:p>
          <a:p>
            <a:pPr algn="just" eaLnBrk="1" hangingPunct="1">
              <a:lnSpc>
                <a:spcPct val="130000"/>
              </a:lnSpc>
            </a:pPr>
            <a:r>
              <a:rPr lang="zh-CN" altLang="en-US" b="1" dirty="0">
                <a:ea typeface="黑体" panose="02010609060101010101" pitchFamily="49" charset="-122"/>
              </a:rPr>
              <a:t>修改本地</a:t>
            </a:r>
            <a:r>
              <a:rPr lang="en-US" altLang="zh-CN" b="1" dirty="0">
                <a:ea typeface="黑体" panose="02010609060101010101" pitchFamily="49" charset="-122"/>
              </a:rPr>
              <a:t>DNS</a:t>
            </a:r>
            <a:r>
              <a:rPr lang="zh-CN" altLang="en-US" b="1" dirty="0">
                <a:ea typeface="黑体" panose="02010609060101010101" pitchFamily="49" charset="-122"/>
              </a:rPr>
              <a:t>软件</a:t>
            </a:r>
          </a:p>
          <a:p>
            <a:pPr algn="just" eaLnBrk="1" hangingPunct="1">
              <a:lnSpc>
                <a:spcPct val="130000"/>
              </a:lnSpc>
            </a:pPr>
            <a:r>
              <a:rPr lang="en-US" altLang="zh-CN" b="1" dirty="0">
                <a:ea typeface="黑体" panose="02010609060101010101" pitchFamily="49" charset="-122"/>
              </a:rPr>
              <a:t>RFC1788</a:t>
            </a:r>
            <a:r>
              <a:rPr lang="zh-CN" altLang="en-US" b="1" dirty="0">
                <a:ea typeface="黑体" panose="02010609060101010101" pitchFamily="49" charset="-122"/>
              </a:rPr>
              <a:t>提出了一个可供选择的</a:t>
            </a:r>
            <a:r>
              <a:rPr lang="en-US" altLang="zh-CN" b="1" dirty="0">
                <a:ea typeface="黑体" panose="02010609060101010101" pitchFamily="49" charset="-122"/>
              </a:rPr>
              <a:t>DNS</a:t>
            </a:r>
            <a:r>
              <a:rPr lang="zh-CN" altLang="en-US" b="1" dirty="0">
                <a:ea typeface="黑体" panose="02010609060101010101" pitchFamily="49" charset="-122"/>
              </a:rPr>
              <a:t>反向查询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122881"/>
          <p:cNvSpPr>
            <a:spLocks noGrp="1"/>
          </p:cNvSpPr>
          <p:nvPr>
            <p:ph type="title"/>
          </p:nvPr>
        </p:nvSpPr>
        <p:spPr/>
        <p:txBody>
          <a:bodyPr lIns="92075" tIns="46038" rIns="92075" bIns="46038" anchor="ctr"/>
          <a:lstStyle/>
          <a:p>
            <a:pPr algn="ctr" fontAlgn="base">
              <a:lnSpc>
                <a:spcPct val="100000"/>
              </a:lnSpc>
              <a:spcAft>
                <a:spcPct val="0"/>
              </a:spcAft>
              <a:defRPr/>
            </a:pPr>
            <a:r>
              <a:rPr lang="en-US" altLang="zh-CN" sz="5000" b="1" noProof="1">
                <a:solidFill>
                  <a:schemeClr val="tx2"/>
                </a:solidFill>
                <a:effectLst>
                  <a:outerShdw blurRad="38100" dist="38100" dir="2700000">
                    <a:srgbClr val="000000"/>
                  </a:outerShdw>
                </a:effectLst>
                <a:ea typeface="黑体" panose="02010609060101010101" pitchFamily="49" charset="-122"/>
              </a:rPr>
              <a:t>4.4.3.4 </a:t>
            </a:r>
            <a:r>
              <a:rPr lang="zh-CN" altLang="en-US" sz="5000" b="1" noProof="1">
                <a:solidFill>
                  <a:schemeClr val="tx2"/>
                </a:solidFill>
                <a:effectLst>
                  <a:outerShdw blurRad="38100" dist="38100" dir="2700000">
                    <a:srgbClr val="000000"/>
                  </a:outerShdw>
                </a:effectLst>
                <a:ea typeface="黑体" panose="02010609060101010101" pitchFamily="49" charset="-122"/>
              </a:rPr>
              <a:t>路由欺骗</a:t>
            </a:r>
          </a:p>
        </p:txBody>
      </p:sp>
      <p:sp>
        <p:nvSpPr>
          <p:cNvPr id="114690" name="文本占位符 122882"/>
          <p:cNvSpPr>
            <a:spLocks noGrp="1"/>
          </p:cNvSpPr>
          <p:nvPr>
            <p:ph idx="1"/>
          </p:nvPr>
        </p:nvSpPr>
        <p:spPr>
          <a:xfrm>
            <a:off x="2209800" y="1981201"/>
            <a:ext cx="7772400" cy="4111625"/>
          </a:xfrm>
        </p:spPr>
        <p:txBody>
          <a:bodyPr vert="horz" wrap="square" lIns="91440" tIns="45720" rIns="91440" bIns="45720" anchor="t"/>
          <a:lstStyle/>
          <a:p>
            <a:pPr algn="just" eaLnBrk="1" hangingPunct="1"/>
            <a:r>
              <a:rPr lang="zh-CN" altLang="en-US" sz="3600" b="1" dirty="0">
                <a:ea typeface="黑体" panose="02010609060101010101" pitchFamily="49" charset="-122"/>
              </a:rPr>
              <a:t>路由欺骗有多种形式，但所有形式都涉及迫使</a:t>
            </a:r>
            <a:r>
              <a:rPr lang="en-US" altLang="zh-CN" sz="3600" b="1" dirty="0">
                <a:ea typeface="黑体" panose="02010609060101010101" pitchFamily="49" charset="-122"/>
              </a:rPr>
              <a:t>Internet</a:t>
            </a:r>
            <a:r>
              <a:rPr lang="zh-CN" altLang="en-US" sz="3600" b="1" dirty="0">
                <a:ea typeface="黑体" panose="02010609060101010101" pitchFamily="49" charset="-122"/>
              </a:rPr>
              <a:t>主机往不应该的地方发送</a:t>
            </a:r>
            <a:r>
              <a:rPr lang="en-US" altLang="zh-CN" sz="3600" b="1" dirty="0">
                <a:ea typeface="黑体" panose="02010609060101010101" pitchFamily="49" charset="-122"/>
              </a:rPr>
              <a:t>IP</a:t>
            </a:r>
            <a:r>
              <a:rPr lang="zh-CN" altLang="en-US" sz="3600" b="1" dirty="0">
                <a:ea typeface="黑体" panose="02010609060101010101" pitchFamily="49" charset="-122"/>
              </a:rPr>
              <a:t>数据报。</a:t>
            </a:r>
            <a:r>
              <a:rPr lang="zh-CN" altLang="en-US" sz="3600" dirty="0">
                <a:ea typeface="黑体" panose="02010609060101010101" pitchFamily="49" charset="-122"/>
              </a:rPr>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2390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路由欺骗</a:t>
            </a:r>
          </a:p>
        </p:txBody>
      </p:sp>
      <p:sp>
        <p:nvSpPr>
          <p:cNvPr id="115714" name="文本占位符 123906"/>
          <p:cNvSpPr>
            <a:spLocks noGrp="1"/>
          </p:cNvSpPr>
          <p:nvPr>
            <p:ph idx="1"/>
          </p:nvPr>
        </p:nvSpPr>
        <p:spPr>
          <a:xfrm>
            <a:off x="2209800" y="1981201"/>
            <a:ext cx="7772400" cy="4111625"/>
          </a:xfrm>
        </p:spPr>
        <p:txBody>
          <a:bodyPr vert="horz" wrap="square" lIns="91440" tIns="45720" rIns="91440" bIns="45720" anchor="t"/>
          <a:lstStyle/>
          <a:p>
            <a:pPr algn="just" eaLnBrk="1" hangingPunct="1"/>
            <a:r>
              <a:rPr lang="zh-CN" altLang="en-US" sz="3600" b="1" dirty="0">
                <a:ea typeface="黑体" panose="02010609060101010101" pitchFamily="49" charset="-122"/>
              </a:rPr>
              <a:t>基于</a:t>
            </a:r>
            <a:r>
              <a:rPr lang="en-US" altLang="zh-CN" sz="3600" b="1" dirty="0">
                <a:ea typeface="黑体" panose="02010609060101010101" pitchFamily="49" charset="-122"/>
              </a:rPr>
              <a:t>ICMP</a:t>
            </a:r>
            <a:r>
              <a:rPr lang="zh-CN" altLang="en-US" sz="3600" b="1" dirty="0">
                <a:ea typeface="黑体" panose="02010609060101010101" pitchFamily="49" charset="-122"/>
              </a:rPr>
              <a:t>的路由欺骗</a:t>
            </a:r>
          </a:p>
          <a:p>
            <a:pPr algn="just" eaLnBrk="1" hangingPunct="1"/>
            <a:endParaRPr lang="zh-CN" altLang="en-US" sz="3600" b="1" dirty="0">
              <a:ea typeface="黑体" panose="02010609060101010101" pitchFamily="49" charset="-122"/>
            </a:endParaRPr>
          </a:p>
          <a:p>
            <a:pPr algn="just" eaLnBrk="1" hangingPunct="1"/>
            <a:r>
              <a:rPr lang="zh-CN" altLang="en-US" sz="3600" b="1" dirty="0">
                <a:ea typeface="黑体" panose="02010609060101010101" pitchFamily="49" charset="-122"/>
              </a:rPr>
              <a:t>基于</a:t>
            </a:r>
            <a:r>
              <a:rPr lang="en-US" altLang="zh-CN" sz="3600" b="1" dirty="0">
                <a:ea typeface="黑体" panose="02010609060101010101" pitchFamily="49" charset="-122"/>
              </a:rPr>
              <a:t>RIP</a:t>
            </a:r>
            <a:r>
              <a:rPr lang="zh-CN" altLang="en-US" sz="3600" b="1" dirty="0">
                <a:ea typeface="黑体" panose="02010609060101010101" pitchFamily="49" charset="-122"/>
              </a:rPr>
              <a:t>的路由欺骗</a:t>
            </a:r>
            <a:r>
              <a:rPr lang="zh-CN" altLang="en-US" sz="3600" dirty="0">
                <a:ea typeface="黑体" panose="02010609060101010101" pitchFamily="49" charset="-122"/>
              </a:rPr>
              <a:t> </a:t>
            </a:r>
          </a:p>
          <a:p>
            <a:pPr algn="just" eaLnBrk="1" hangingPunct="1"/>
            <a:endParaRPr lang="zh-CN" altLang="en-US" sz="3600" dirty="0">
              <a:ea typeface="黑体" panose="02010609060101010101" pitchFamily="49" charset="-122"/>
            </a:endParaRPr>
          </a:p>
          <a:p>
            <a:pPr algn="just" eaLnBrk="1" hangingPunct="1"/>
            <a:r>
              <a:rPr lang="zh-CN" altLang="en-US" sz="3600" b="1" dirty="0">
                <a:ea typeface="黑体" panose="02010609060101010101" pitchFamily="49" charset="-122"/>
              </a:rPr>
              <a:t>路由欺骗的防护</a:t>
            </a:r>
            <a:r>
              <a:rPr lang="zh-CN" altLang="en-US" sz="3600" dirty="0">
                <a:ea typeface="黑体" panose="02010609060101010101" pitchFamily="49" charset="-122"/>
              </a:rPr>
              <a:t>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24929"/>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基于</a:t>
            </a:r>
            <a:r>
              <a:rPr lang="en-US" altLang="zh-CN" sz="5000" b="1" noProof="1">
                <a:solidFill>
                  <a:schemeClr val="tx2"/>
                </a:solidFill>
                <a:effectLst>
                  <a:outerShdw blurRad="38100" dist="38100" dir="2700000">
                    <a:srgbClr val="000000"/>
                  </a:outerShdw>
                </a:effectLst>
                <a:ea typeface="黑体" panose="02010609060101010101" pitchFamily="49" charset="-122"/>
              </a:rPr>
              <a:t>ICMP</a:t>
            </a:r>
            <a:r>
              <a:rPr lang="zh-CN" altLang="en-US" sz="5000" b="1" noProof="1">
                <a:solidFill>
                  <a:schemeClr val="tx2"/>
                </a:solidFill>
                <a:effectLst>
                  <a:outerShdw blurRad="38100" dist="38100" dir="2700000">
                    <a:srgbClr val="000000"/>
                  </a:outerShdw>
                </a:effectLst>
                <a:ea typeface="黑体" panose="02010609060101010101" pitchFamily="49" charset="-122"/>
              </a:rPr>
              <a:t>的路由欺骗</a:t>
            </a:r>
          </a:p>
        </p:txBody>
      </p:sp>
      <p:sp>
        <p:nvSpPr>
          <p:cNvPr id="116738" name="文本占位符 124930"/>
          <p:cNvSpPr>
            <a:spLocks noGrp="1"/>
          </p:cNvSpPr>
          <p:nvPr>
            <p:ph idx="1"/>
          </p:nvPr>
        </p:nvSpPr>
        <p:spPr>
          <a:xfrm>
            <a:off x="1981200" y="1600200"/>
            <a:ext cx="8229600" cy="4997450"/>
          </a:xfrm>
        </p:spPr>
        <p:txBody>
          <a:bodyPr vert="horz" wrap="square" lIns="91440" tIns="45720" rIns="91440" bIns="45720" anchor="t"/>
          <a:lstStyle/>
          <a:p>
            <a:pPr algn="just" eaLnBrk="1" hangingPunct="1"/>
            <a:r>
              <a:rPr lang="zh-CN" altLang="en-US" b="1" dirty="0">
                <a:ea typeface="黑体" panose="02010609060101010101" pitchFamily="49" charset="-122"/>
              </a:rPr>
              <a:t>入侵者向网络中的其他机器发送一个</a:t>
            </a:r>
            <a:r>
              <a:rPr lang="en-US" altLang="zh-CN" b="1" dirty="0">
                <a:ea typeface="黑体" panose="02010609060101010101" pitchFamily="49" charset="-122"/>
              </a:rPr>
              <a:t>ICMP</a:t>
            </a:r>
            <a:r>
              <a:rPr lang="zh-CN" altLang="en-US" b="1" dirty="0">
                <a:ea typeface="黑体" panose="02010609060101010101" pitchFamily="49" charset="-122"/>
              </a:rPr>
              <a:t>重定向消息，这就可能引起其他机器具有一张无效的路由表。这张无效的路由表至少将构成拒绝服务攻击：某些或全部非局部数据报将无法到达它们的目标。 </a:t>
            </a:r>
          </a:p>
          <a:p>
            <a:pPr algn="just" eaLnBrk="1" hangingPunct="1"/>
            <a:r>
              <a:rPr lang="zh-CN" altLang="en-US" b="1" dirty="0">
                <a:ea typeface="黑体" panose="02010609060101010101" pitchFamily="49" charset="-122"/>
              </a:rPr>
              <a:t>入侵者将自己的机器装作路由器来截获所有到这些目标网络或全部目标网络的</a:t>
            </a:r>
            <a:r>
              <a:rPr lang="en-US" altLang="zh-CN" b="1" dirty="0">
                <a:ea typeface="黑体" panose="02010609060101010101" pitchFamily="49" charset="-122"/>
              </a:rPr>
              <a:t>IP</a:t>
            </a:r>
            <a:r>
              <a:rPr lang="zh-CN" altLang="en-US" b="1" dirty="0">
                <a:ea typeface="黑体" panose="02010609060101010101" pitchFamily="49" charset="-122"/>
              </a:rPr>
              <a:t>数据报。如果他的机器是多宿主的，那么他可通过自己的其他网络接口传送</a:t>
            </a:r>
            <a:r>
              <a:rPr lang="en-US" altLang="zh-CN" b="1" dirty="0">
                <a:ea typeface="黑体" panose="02010609060101010101" pitchFamily="49" charset="-122"/>
              </a:rPr>
              <a:t>IP</a:t>
            </a:r>
            <a:r>
              <a:rPr lang="zh-CN" altLang="en-US" b="1" dirty="0">
                <a:ea typeface="黑体" panose="02010609060101010101" pitchFamily="49" charset="-122"/>
              </a:rPr>
              <a:t>数据报，或者可以简单的通过接收报文的相同网络接口转发数据报给合法的路由器。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2595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基于</a:t>
            </a:r>
            <a:r>
              <a:rPr lang="en-US" altLang="zh-CN" sz="5000" b="1" noProof="1">
                <a:solidFill>
                  <a:schemeClr val="tx2"/>
                </a:solidFill>
                <a:effectLst>
                  <a:outerShdw blurRad="38100" dist="38100" dir="2700000">
                    <a:srgbClr val="000000"/>
                  </a:outerShdw>
                </a:effectLst>
                <a:ea typeface="黑体" panose="02010609060101010101" pitchFamily="49" charset="-122"/>
              </a:rPr>
              <a:t>RIP-1</a:t>
            </a:r>
            <a:r>
              <a:rPr lang="zh-CN" altLang="en-US" sz="5000" b="1" noProof="1">
                <a:solidFill>
                  <a:schemeClr val="tx2"/>
                </a:solidFill>
                <a:effectLst>
                  <a:outerShdw blurRad="38100" dist="38100" dir="2700000">
                    <a:srgbClr val="000000"/>
                  </a:outerShdw>
                </a:effectLst>
                <a:ea typeface="黑体" panose="02010609060101010101" pitchFamily="49" charset="-122"/>
              </a:rPr>
              <a:t>的路由欺骗</a:t>
            </a:r>
          </a:p>
        </p:txBody>
      </p:sp>
      <p:sp>
        <p:nvSpPr>
          <p:cNvPr id="117762" name="文本占位符 125954"/>
          <p:cNvSpPr>
            <a:spLocks noGrp="1"/>
          </p:cNvSpPr>
          <p:nvPr>
            <p:ph idx="1"/>
          </p:nvPr>
        </p:nvSpPr>
        <p:spPr>
          <a:xfrm>
            <a:off x="1981200" y="1600200"/>
            <a:ext cx="8229600" cy="4997450"/>
          </a:xfrm>
        </p:spPr>
        <p:txBody>
          <a:bodyPr vert="horz" wrap="square" lIns="91440" tIns="45720" rIns="91440" bIns="45720" anchor="t"/>
          <a:lstStyle/>
          <a:p>
            <a:pPr algn="just" eaLnBrk="1" hangingPunct="1"/>
            <a:r>
              <a:rPr lang="zh-CN" altLang="en-US" b="1" dirty="0">
                <a:ea typeface="黑体" panose="02010609060101010101" pitchFamily="49" charset="-122"/>
              </a:rPr>
              <a:t>        入侵者如果通过</a:t>
            </a:r>
            <a:r>
              <a:rPr lang="en-US" altLang="zh-CN" b="1" dirty="0">
                <a:ea typeface="黑体" panose="02010609060101010101" pitchFamily="49" charset="-122"/>
              </a:rPr>
              <a:t>UDP</a:t>
            </a:r>
            <a:r>
              <a:rPr lang="zh-CN" altLang="en-US" b="1" dirty="0">
                <a:ea typeface="黑体" panose="02010609060101010101" pitchFamily="49" charset="-122"/>
              </a:rPr>
              <a:t>的</a:t>
            </a:r>
            <a:r>
              <a:rPr lang="en-US" altLang="zh-CN" b="1" dirty="0">
                <a:ea typeface="黑体" panose="02010609060101010101" pitchFamily="49" charset="-122"/>
              </a:rPr>
              <a:t>520</a:t>
            </a:r>
            <a:r>
              <a:rPr lang="zh-CN" altLang="en-US" b="1" dirty="0">
                <a:ea typeface="黑体" panose="02010609060101010101" pitchFamily="49" charset="-122"/>
              </a:rPr>
              <a:t>端口发送分组，那么其主机就会被邻机当作一个路由器，从而相信它的广告信息。在</a:t>
            </a:r>
            <a:r>
              <a:rPr lang="en-US" altLang="zh-CN" b="1" dirty="0">
                <a:ea typeface="黑体" panose="02010609060101010101" pitchFamily="49" charset="-122"/>
              </a:rPr>
              <a:t>BSD UNIX</a:t>
            </a:r>
            <a:r>
              <a:rPr lang="zh-CN" altLang="en-US" b="1" dirty="0">
                <a:ea typeface="黑体" panose="02010609060101010101" pitchFamily="49" charset="-122"/>
              </a:rPr>
              <a:t>系统中只允许管理员使用</a:t>
            </a:r>
            <a:r>
              <a:rPr lang="en-US" altLang="zh-CN" b="1" dirty="0">
                <a:ea typeface="黑体" panose="02010609060101010101" pitchFamily="49" charset="-122"/>
              </a:rPr>
              <a:t>520</a:t>
            </a:r>
            <a:r>
              <a:rPr lang="zh-CN" altLang="en-US" b="1" dirty="0">
                <a:ea typeface="黑体" panose="02010609060101010101" pitchFamily="49" charset="-122"/>
              </a:rPr>
              <a:t>端口。但在含</a:t>
            </a:r>
            <a:r>
              <a:rPr lang="en-US" altLang="zh-CN" b="1" dirty="0">
                <a:ea typeface="黑体" panose="02010609060101010101" pitchFamily="49" charset="-122"/>
              </a:rPr>
              <a:t>PC</a:t>
            </a:r>
            <a:r>
              <a:rPr lang="zh-CN" altLang="en-US" b="1" dirty="0">
                <a:ea typeface="黑体" panose="02010609060101010101" pitchFamily="49" charset="-122"/>
              </a:rPr>
              <a:t>机的多机型环境中，通过</a:t>
            </a:r>
            <a:r>
              <a:rPr lang="en-US" altLang="zh-CN" b="1" dirty="0">
                <a:ea typeface="黑体" panose="02010609060101010101" pitchFamily="49" charset="-122"/>
              </a:rPr>
              <a:t>520</a:t>
            </a:r>
            <a:r>
              <a:rPr lang="zh-CN" altLang="en-US" b="1" dirty="0">
                <a:ea typeface="黑体" panose="02010609060101010101" pitchFamily="49" charset="-122"/>
              </a:rPr>
              <a:t>端口冒充路由器身份是不困难的。如果入侵者使其机器不断地发布虚假距离向量广告，将所有目的站点的量度值都设为</a:t>
            </a:r>
            <a:r>
              <a:rPr lang="en-US" altLang="zh-CN" b="1" dirty="0">
                <a:ea typeface="黑体" panose="02010609060101010101" pitchFamily="49" charset="-122"/>
              </a:rPr>
              <a:t>0</a:t>
            </a:r>
            <a:r>
              <a:rPr lang="zh-CN" altLang="en-US" b="1" dirty="0">
                <a:ea typeface="黑体" panose="02010609060101010101" pitchFamily="49" charset="-122"/>
              </a:rPr>
              <a:t>。结果，它的邻机不断地更新各自的路由表，很快将所有的传输都汇集到这个结点，最终导致大量拥塞。可见入侵者可以非常容易利用</a:t>
            </a:r>
            <a:r>
              <a:rPr lang="en-US" altLang="zh-CN" b="1" dirty="0">
                <a:ea typeface="黑体" panose="02010609060101010101" pitchFamily="49" charset="-122"/>
              </a:rPr>
              <a:t>RIP-1</a:t>
            </a:r>
            <a:r>
              <a:rPr lang="zh-CN" altLang="en-US" b="1" dirty="0">
                <a:ea typeface="黑体" panose="02010609060101010101" pitchFamily="49" charset="-122"/>
              </a:rPr>
              <a:t>缺陷攻破系统。</a:t>
            </a:r>
            <a:r>
              <a:rPr lang="zh-CN" altLang="en-US" dirty="0">
                <a:ea typeface="黑体" panose="02010609060101010101" pitchFamily="49" charset="-122"/>
              </a:rPr>
              <a:t>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26977"/>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chemeClr val="tx2"/>
                </a:solidFill>
                <a:effectLst>
                  <a:outerShdw blurRad="38100" dist="38100" dir="2700000">
                    <a:srgbClr val="000000"/>
                  </a:outerShdw>
                </a:effectLst>
                <a:ea typeface="黑体" panose="02010609060101010101" pitchFamily="49" charset="-122"/>
              </a:rPr>
              <a:t>基于</a:t>
            </a:r>
            <a:r>
              <a:rPr lang="en-US" altLang="zh-CN" sz="5000" b="1" noProof="1">
                <a:solidFill>
                  <a:schemeClr val="tx2"/>
                </a:solidFill>
                <a:effectLst>
                  <a:outerShdw blurRad="38100" dist="38100" dir="2700000">
                    <a:srgbClr val="000000"/>
                  </a:outerShdw>
                </a:effectLst>
                <a:ea typeface="黑体" panose="02010609060101010101" pitchFamily="49" charset="-122"/>
              </a:rPr>
              <a:t>RIP-2</a:t>
            </a:r>
            <a:r>
              <a:rPr lang="zh-CN" altLang="en-US" sz="5000" b="1" noProof="1">
                <a:solidFill>
                  <a:schemeClr val="tx2"/>
                </a:solidFill>
                <a:effectLst>
                  <a:outerShdw blurRad="38100" dist="38100" dir="2700000">
                    <a:srgbClr val="000000"/>
                  </a:outerShdw>
                </a:effectLst>
                <a:ea typeface="黑体" panose="02010609060101010101" pitchFamily="49" charset="-122"/>
              </a:rPr>
              <a:t>的路由欺骗</a:t>
            </a:r>
          </a:p>
        </p:txBody>
      </p:sp>
      <p:sp>
        <p:nvSpPr>
          <p:cNvPr id="118786" name="文本占位符 126978"/>
          <p:cNvSpPr>
            <a:spLocks noGrp="1"/>
          </p:cNvSpPr>
          <p:nvPr>
            <p:ph idx="1"/>
          </p:nvPr>
        </p:nvSpPr>
        <p:spPr>
          <a:xfrm>
            <a:off x="1981200" y="1600200"/>
            <a:ext cx="8229600" cy="4997450"/>
          </a:xfrm>
        </p:spPr>
        <p:txBody>
          <a:bodyPr vert="horz" wrap="square" lIns="91440" tIns="45720" rIns="91440" bIns="45720" anchor="t"/>
          <a:lstStyle/>
          <a:p>
            <a:pPr algn="just" eaLnBrk="1" hangingPunct="1"/>
            <a:r>
              <a:rPr lang="en-US" altLang="zh-CN" b="1" dirty="0">
                <a:ea typeface="黑体" panose="02010609060101010101" pitchFamily="49" charset="-122"/>
              </a:rPr>
              <a:t>        RIP-2</a:t>
            </a:r>
            <a:r>
              <a:rPr lang="zh-CN" altLang="en-US" b="1" dirty="0">
                <a:ea typeface="黑体" panose="02010609060101010101" pitchFamily="49" charset="-122"/>
              </a:rPr>
              <a:t>验证机制验证算法（简易密码过程）强度不高，在这个过程中，类型值设为</a:t>
            </a:r>
            <a:r>
              <a:rPr lang="en-US" altLang="zh-CN" b="1" dirty="0">
                <a:ea typeface="黑体" panose="02010609060101010101" pitchFamily="49" charset="-122"/>
              </a:rPr>
              <a:t>2</a:t>
            </a:r>
            <a:r>
              <a:rPr lang="zh-CN" altLang="en-US" b="1" dirty="0">
                <a:ea typeface="黑体" panose="02010609060101010101" pitchFamily="49" charset="-122"/>
              </a:rPr>
              <a:t>，数据中包含密码，密码格式向左对齐，右边用</a:t>
            </a:r>
            <a:r>
              <a:rPr lang="en-US" altLang="zh-CN" b="1" dirty="0">
                <a:ea typeface="黑体" panose="02010609060101010101" pitchFamily="49" charset="-122"/>
              </a:rPr>
              <a:t>0</a:t>
            </a:r>
            <a:r>
              <a:rPr lang="zh-CN" altLang="en-US" b="1" dirty="0">
                <a:ea typeface="黑体" panose="02010609060101010101" pitchFamily="49" charset="-122"/>
              </a:rPr>
              <a:t>填充。入侵者可以毫不费劲在以太网上监听</a:t>
            </a:r>
            <a:r>
              <a:rPr lang="en-US" altLang="zh-CN" b="1" dirty="0">
                <a:ea typeface="黑体" panose="02010609060101010101" pitchFamily="49" charset="-122"/>
              </a:rPr>
              <a:t>RIP</a:t>
            </a:r>
            <a:r>
              <a:rPr lang="zh-CN" altLang="en-US" b="1" dirty="0">
                <a:ea typeface="黑体" panose="02010609060101010101" pitchFamily="49" charset="-122"/>
              </a:rPr>
              <a:t>分组，复制密码，继续进行攻击。虽然可以在</a:t>
            </a:r>
            <a:r>
              <a:rPr lang="en-US" altLang="zh-CN" b="1" dirty="0">
                <a:ea typeface="黑体" panose="02010609060101010101" pitchFamily="49" charset="-122"/>
              </a:rPr>
              <a:t>16</a:t>
            </a:r>
            <a:r>
              <a:rPr lang="zh-CN" altLang="en-US" b="1" dirty="0">
                <a:ea typeface="黑体" panose="02010609060101010101" pitchFamily="49" charset="-122"/>
              </a:rPr>
              <a:t>个字节中直接携带保护性的</a:t>
            </a:r>
            <a:r>
              <a:rPr lang="en-US" altLang="zh-CN" b="1" dirty="0">
                <a:ea typeface="黑体" panose="02010609060101010101" pitchFamily="49" charset="-122"/>
              </a:rPr>
              <a:t>MD-5</a:t>
            </a:r>
            <a:r>
              <a:rPr lang="zh-CN" altLang="en-US" b="1" dirty="0">
                <a:ea typeface="黑体" panose="02010609060101010101" pitchFamily="49" charset="-122"/>
              </a:rPr>
              <a:t>校验码，但攻击者只要稍动脑筋，就可以发现通过简单记忆验证过的</a:t>
            </a:r>
            <a:r>
              <a:rPr lang="en-US" altLang="zh-CN" b="1" dirty="0">
                <a:ea typeface="黑体" panose="02010609060101010101" pitchFamily="49" charset="-122"/>
              </a:rPr>
              <a:t>RIP</a:t>
            </a:r>
            <a:r>
              <a:rPr lang="zh-CN" altLang="en-US" b="1" dirty="0">
                <a:ea typeface="黑体" panose="02010609060101010101" pitchFamily="49" charset="-122"/>
              </a:rPr>
              <a:t>分组，便可进行攻击。</a:t>
            </a:r>
            <a:r>
              <a:rPr lang="zh-CN" altLang="en-US" dirty="0">
                <a:ea typeface="黑体" panose="02010609060101010101" pitchFamily="49" charset="-122"/>
              </a:rPr>
              <a:t>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4000" b="1" noProof="1">
                <a:solidFill>
                  <a:schemeClr val="tx2"/>
                </a:solidFill>
                <a:effectLst>
                  <a:outerShdw blurRad="38100" dist="38100" dir="2700000">
                    <a:srgbClr val="000000"/>
                  </a:outerShdw>
                </a:effectLst>
                <a:ea typeface="黑体" panose="02010609060101010101" pitchFamily="49" charset="-122"/>
              </a:rPr>
              <a:t>4.5 </a:t>
            </a:r>
            <a:r>
              <a:rPr lang="zh-CN" altLang="en-US" sz="4000" noProof="1">
                <a:solidFill>
                  <a:srgbClr val="002060"/>
                </a:solidFill>
                <a:latin typeface="思源黑体 CN Heavy" panose="020B0A00000000000000" pitchFamily="34" charset="-122"/>
                <a:ea typeface="思源黑体 CN Heavy" panose="020B0A00000000000000" pitchFamily="34" charset="-122"/>
                <a:cs typeface="+mn-ea"/>
              </a:rPr>
              <a:t>权限提升</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文本占位符 128002"/>
          <p:cNvSpPr>
            <a:spLocks noGrp="1"/>
          </p:cNvSpPr>
          <p:nvPr>
            <p:ph idx="1"/>
          </p:nvPr>
        </p:nvSpPr>
        <p:spPr>
          <a:xfrm>
            <a:off x="1056904" y="1981200"/>
            <a:ext cx="10070275" cy="4114800"/>
          </a:xfrm>
        </p:spPr>
        <p:txBody>
          <a:bodyPr vert="horz" wrap="square" lIns="91440" tIns="45720" rIns="91440" bIns="45720" anchor="t"/>
          <a:lstStyle/>
          <a:p>
            <a:pPr algn="just" eaLnBrk="1" hangingPunct="1">
              <a:lnSpc>
                <a:spcPct val="90000"/>
              </a:lnSpc>
            </a:pPr>
            <a:r>
              <a:rPr lang="zh-CN" altLang="en-US" b="1" dirty="0">
                <a:ea typeface="黑体" panose="02010609060101010101" pitchFamily="49" charset="-122"/>
              </a:rPr>
              <a:t>        通过使用前面几节的攻击方法，攻击者往往就获得了针对目标系统的一些网络安全信息，如漏洞信息、目标网络的拓扑信息、目标系统的用户信息等，可能获得了超级用户的权限，但也有可能仅仅获得了对目标系统的普通用户的访问权限。仅仅获得普通用户的访问权限并不是攻击者的最终目标，攻击者在获得系统一定的访问权限后通常要把自己的权限提升到超级用户权限（如</a:t>
            </a:r>
            <a:r>
              <a:rPr lang="en-US" altLang="zh-CN" b="1" dirty="0">
                <a:ea typeface="黑体" panose="02010609060101010101" pitchFamily="49" charset="-122"/>
              </a:rPr>
              <a:t>root</a:t>
            </a:r>
            <a:r>
              <a:rPr lang="zh-CN" altLang="en-US" b="1" dirty="0">
                <a:ea typeface="黑体" panose="02010609060101010101" pitchFamily="49" charset="-122"/>
              </a:rPr>
              <a:t>权限或</a:t>
            </a:r>
            <a:r>
              <a:rPr lang="en-US" altLang="zh-CN" b="1" dirty="0">
                <a:ea typeface="黑体" panose="02010609060101010101" pitchFamily="49" charset="-122"/>
              </a:rPr>
              <a:t>Administrator</a:t>
            </a:r>
            <a:r>
              <a:rPr lang="zh-CN" altLang="en-US" b="1" dirty="0">
                <a:ea typeface="黑体" panose="02010609060101010101" pitchFamily="49" charset="-122"/>
              </a:rPr>
              <a:t>权限），这样攻击者就控制了该计算机系统。</a:t>
            </a:r>
            <a:r>
              <a:rPr lang="zh-CN" altLang="en-US" dirty="0">
                <a:ea typeface="黑体" panose="02010609060101010101" pitchFamily="49" charset="-122"/>
              </a:rPr>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29025"/>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权限提升</a:t>
            </a:r>
          </a:p>
        </p:txBody>
      </p:sp>
      <p:sp>
        <p:nvSpPr>
          <p:cNvPr id="120834" name="文本占位符 129026"/>
          <p:cNvSpPr>
            <a:spLocks noGrp="1"/>
          </p:cNvSpPr>
          <p:nvPr>
            <p:ph idx="1"/>
          </p:nvPr>
        </p:nvSpPr>
        <p:spPr>
          <a:xfrm>
            <a:off x="3906982" y="1981200"/>
            <a:ext cx="7370618" cy="4114800"/>
          </a:xfrm>
        </p:spPr>
        <p:txBody>
          <a:bodyPr vert="horz" wrap="square" lIns="91440" tIns="45720" rIns="91440" bIns="45720" anchor="t"/>
          <a:lstStyle/>
          <a:p>
            <a:pPr algn="just" eaLnBrk="1" hangingPunct="1"/>
            <a:r>
              <a:rPr lang="zh-CN" altLang="en-US" sz="3600" b="1" dirty="0">
                <a:ea typeface="黑体" panose="02010609060101010101" pitchFamily="49" charset="-122"/>
              </a:rPr>
              <a:t>权限提升方法 </a:t>
            </a:r>
          </a:p>
          <a:p>
            <a:pPr algn="just" eaLnBrk="1" hangingPunct="1"/>
            <a:r>
              <a:rPr lang="en-US" altLang="zh-CN" sz="3600" b="1" dirty="0">
                <a:ea typeface="黑体" panose="02010609060101010101" pitchFamily="49" charset="-122"/>
              </a:rPr>
              <a:t>GetAdmin</a:t>
            </a:r>
            <a:r>
              <a:rPr lang="zh-CN" altLang="en-US" sz="3600" b="1" dirty="0">
                <a:ea typeface="黑体" panose="02010609060101010101" pitchFamily="49" charset="-122"/>
              </a:rPr>
              <a:t>权限提升 </a:t>
            </a:r>
          </a:p>
          <a:p>
            <a:pPr algn="just" eaLnBrk="1" hangingPunct="1"/>
            <a:r>
              <a:rPr lang="zh-CN" altLang="en-US" sz="3600" b="1" dirty="0">
                <a:ea typeface="黑体" panose="02010609060101010101" pitchFamily="49" charset="-122"/>
              </a:rPr>
              <a:t>命名管道预测 </a:t>
            </a:r>
          </a:p>
          <a:p>
            <a:pPr algn="just" eaLnBrk="1" hangingPunct="1"/>
            <a:r>
              <a:rPr lang="zh-CN" altLang="en-US" sz="3600" b="1" dirty="0">
                <a:ea typeface="黑体" panose="02010609060101010101" pitchFamily="49" charset="-122"/>
              </a:rPr>
              <a:t>利用</a:t>
            </a:r>
            <a:r>
              <a:rPr lang="en-US" altLang="zh-CN" sz="3600" b="1" dirty="0">
                <a:ea typeface="黑体" panose="02010609060101010101" pitchFamily="49" charset="-122"/>
              </a:rPr>
              <a:t>NetDDE</a:t>
            </a:r>
            <a:r>
              <a:rPr lang="zh-CN" altLang="en-US" sz="3600" b="1" dirty="0">
                <a:ea typeface="黑体" panose="02010609060101010101" pitchFamily="49" charset="-122"/>
              </a:rPr>
              <a:t>漏洞</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文本占位符 130050"/>
          <p:cNvSpPr>
            <a:spLocks noGrp="1"/>
          </p:cNvSpPr>
          <p:nvPr>
            <p:ph idx="1"/>
          </p:nvPr>
        </p:nvSpPr>
        <p:spPr>
          <a:xfrm>
            <a:off x="2020570" y="1904365"/>
            <a:ext cx="8730615" cy="4114800"/>
          </a:xfrm>
        </p:spPr>
        <p:txBody>
          <a:bodyPr vert="horz" wrap="square" lIns="91440" tIns="45720" rIns="91440" bIns="45720" anchor="t"/>
          <a:lstStyle/>
          <a:p>
            <a:pPr algn="just" eaLnBrk="1" hangingPunct="1">
              <a:lnSpc>
                <a:spcPct val="140000"/>
              </a:lnSpc>
            </a:pPr>
            <a:r>
              <a:rPr lang="en-US" altLang="zh-CN" b="1" dirty="0">
                <a:ea typeface="黑体" panose="02010609060101010101" pitchFamily="49" charset="-122"/>
              </a:rPr>
              <a:t>1</a:t>
            </a:r>
            <a:r>
              <a:rPr lang="zh-CN" altLang="en-US" b="1" dirty="0">
                <a:ea typeface="黑体" panose="02010609060101010101" pitchFamily="49" charset="-122"/>
              </a:rPr>
              <a:t>、破解</a:t>
            </a:r>
            <a:r>
              <a:rPr lang="en-US" altLang="zh-CN" b="1" dirty="0">
                <a:ea typeface="黑体" panose="02010609060101010101" pitchFamily="49" charset="-122"/>
              </a:rPr>
              <a:t>SAM</a:t>
            </a:r>
            <a:r>
              <a:rPr lang="zh-CN" altLang="en-US" b="1" dirty="0">
                <a:ea typeface="黑体" panose="02010609060101010101" pitchFamily="49" charset="-122"/>
              </a:rPr>
              <a:t>文件</a:t>
            </a:r>
            <a:r>
              <a:rPr lang="zh-CN" altLang="en-US" sz="1600" b="1" dirty="0">
                <a:ea typeface="黑体" panose="02010609060101010101" pitchFamily="49" charset="-122"/>
              </a:rPr>
              <a:t>（SAM文件是WIN2000里面保存密码信息的文件）</a:t>
            </a:r>
          </a:p>
          <a:p>
            <a:pPr algn="just" eaLnBrk="1" hangingPunct="1">
              <a:lnSpc>
                <a:spcPct val="140000"/>
              </a:lnSpc>
            </a:pPr>
            <a:r>
              <a:rPr lang="en-US" altLang="zh-CN" b="1" dirty="0">
                <a:ea typeface="黑体" panose="02010609060101010101" pitchFamily="49" charset="-122"/>
              </a:rPr>
              <a:t>2</a:t>
            </a:r>
            <a:r>
              <a:rPr lang="zh-CN" altLang="en-US" b="1" dirty="0">
                <a:ea typeface="黑体" panose="02010609060101010101" pitchFamily="49" charset="-122"/>
              </a:rPr>
              <a:t>、使用</a:t>
            </a:r>
            <a:r>
              <a:rPr lang="en-US" altLang="zh-CN" b="1" dirty="0">
                <a:ea typeface="黑体" panose="02010609060101010101" pitchFamily="49" charset="-122"/>
              </a:rPr>
              <a:t>pwdump</a:t>
            </a:r>
            <a:r>
              <a:rPr lang="zh-CN" altLang="en-US" b="1" dirty="0">
                <a:ea typeface="黑体" panose="02010609060101010101" pitchFamily="49" charset="-122"/>
              </a:rPr>
              <a:t>或者</a:t>
            </a:r>
            <a:r>
              <a:rPr lang="en-US" altLang="zh-CN" b="1" dirty="0">
                <a:ea typeface="黑体" panose="02010609060101010101" pitchFamily="49" charset="-122"/>
              </a:rPr>
              <a:t>pwdump2 </a:t>
            </a:r>
            <a:r>
              <a:rPr lang="en-US" altLang="zh-CN" sz="1600" b="1" dirty="0">
                <a:ea typeface="黑体" panose="02010609060101010101" pitchFamily="49" charset="-122"/>
              </a:rPr>
              <a:t>取得系统当前的用户列表和口令加密列表,然后用 L0pht破解这个列表。</a:t>
            </a:r>
            <a:r>
              <a:rPr lang="zh-CN" altLang="en-US" b="1" dirty="0">
                <a:ea typeface="黑体" panose="02010609060101010101" pitchFamily="49" charset="-122"/>
              </a:rPr>
              <a:t> </a:t>
            </a:r>
          </a:p>
          <a:p>
            <a:pPr algn="just" eaLnBrk="1" hangingPunct="1">
              <a:lnSpc>
                <a:spcPct val="140000"/>
              </a:lnSpc>
            </a:pPr>
            <a:r>
              <a:rPr lang="en-US" altLang="zh-CN" b="1" dirty="0">
                <a:ea typeface="黑体" panose="02010609060101010101" pitchFamily="49" charset="-122"/>
              </a:rPr>
              <a:t>3</a:t>
            </a:r>
            <a:r>
              <a:rPr lang="zh-CN" altLang="en-US" b="1" dirty="0">
                <a:ea typeface="黑体" panose="02010609060101010101" pitchFamily="49" charset="-122"/>
              </a:rPr>
              <a:t>、使用</a:t>
            </a:r>
            <a:r>
              <a:rPr lang="en-US" altLang="zh-CN" b="1" dirty="0">
                <a:ea typeface="黑体" panose="02010609060101010101" pitchFamily="49" charset="-122"/>
              </a:rPr>
              <a:t>Enum</a:t>
            </a:r>
            <a:r>
              <a:rPr lang="zh-CN" altLang="en-US" b="1" dirty="0">
                <a:ea typeface="黑体" panose="02010609060101010101" pitchFamily="49" charset="-122"/>
              </a:rPr>
              <a:t>等程序进行远程破解 </a:t>
            </a:r>
          </a:p>
          <a:p>
            <a:pPr algn="just" eaLnBrk="1" hangingPunct="1">
              <a:lnSpc>
                <a:spcPct val="140000"/>
              </a:lnSpc>
            </a:pPr>
            <a:r>
              <a:rPr lang="en-US" altLang="zh-CN" b="1" dirty="0">
                <a:ea typeface="黑体" panose="02010609060101010101" pitchFamily="49" charset="-122"/>
              </a:rPr>
              <a:t>4</a:t>
            </a:r>
            <a:r>
              <a:rPr lang="zh-CN" altLang="en-US" b="1" dirty="0">
                <a:ea typeface="黑体" panose="02010609060101010101" pitchFamily="49" charset="-122"/>
              </a:rPr>
              <a:t>、修改注册表</a:t>
            </a:r>
          </a:p>
        </p:txBody>
      </p:sp>
      <p:grpSp>
        <p:nvGrpSpPr>
          <p:cNvPr id="4" name="组合 3"/>
          <p:cNvGrpSpPr/>
          <p:nvPr/>
        </p:nvGrpSpPr>
        <p:grpSpPr>
          <a:xfrm>
            <a:off x="4000457" y="432999"/>
            <a:ext cx="4191086" cy="791052"/>
            <a:chOff x="824072" y="1564267"/>
            <a:chExt cx="4191086" cy="791052"/>
          </a:xfrm>
        </p:grpSpPr>
        <p:sp>
          <p:nvSpPr>
            <p:cNvPr id="5" name="矩形: 圆角 16"/>
            <p:cNvSpPr/>
            <p:nvPr/>
          </p:nvSpPr>
          <p:spPr>
            <a:xfrm>
              <a:off x="824072" y="1740416"/>
              <a:ext cx="4191086"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203121" cy="480131"/>
            </a:xfrm>
            <a:prstGeom prst="rect">
              <a:avLst/>
            </a:prstGeom>
          </p:spPr>
          <p:txBody>
            <a:bodyPr wrap="none">
              <a:spAutoFit/>
            </a:bodyPr>
            <a:lstStyle/>
            <a:p>
              <a:pPr>
                <a:lnSpc>
                  <a:spcPct val="90000"/>
                </a:lnSpc>
              </a:pPr>
              <a:r>
                <a:rPr lang="en-US" altLang="zh-CN" sz="2800" noProof="1">
                  <a:solidFill>
                    <a:schemeClr val="bg1"/>
                  </a:solidFill>
                  <a:latin typeface="+mj-ea"/>
                </a:rPr>
                <a:t>4.5.1 </a:t>
              </a:r>
              <a:r>
                <a:rPr lang="zh-CN" altLang="en-US" sz="2800" noProof="1">
                  <a:solidFill>
                    <a:schemeClr val="bg1"/>
                  </a:solidFill>
                  <a:latin typeface="+mj-ea"/>
                </a:rPr>
                <a:t>权限提升方法</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31073"/>
          <p:cNvSpPr>
            <a:spLocks noGrp="1"/>
          </p:cNvSpPr>
          <p:nvPr>
            <p:ph type="title"/>
          </p:nvPr>
        </p:nvSpPr>
        <p:spPr/>
        <p:txBody>
          <a:bodyPr lIns="92075" tIns="46038" rIns="92075" bIns="46038" anchor="ctr"/>
          <a:lstStyle/>
          <a:p>
            <a:pPr algn="ctr" fontAlgn="base">
              <a:lnSpc>
                <a:spcPct val="100000"/>
              </a:lnSpc>
              <a:spcAft>
                <a:spcPct val="0"/>
              </a:spcAft>
              <a:defRPr/>
            </a:pPr>
            <a:r>
              <a:rPr lang="zh-CN" altLang="en-US" sz="5000" b="1" noProof="1">
                <a:solidFill>
                  <a:srgbClr val="99FF99"/>
                </a:solidFill>
                <a:effectLst>
                  <a:outerShdw blurRad="38100" dist="38100" dir="2700000">
                    <a:srgbClr val="000000"/>
                  </a:outerShdw>
                </a:effectLst>
                <a:ea typeface="黑体" panose="02010609060101010101" pitchFamily="49" charset="-122"/>
              </a:rPr>
              <a:t>权限提升方法</a:t>
            </a:r>
          </a:p>
        </p:txBody>
      </p:sp>
      <p:sp>
        <p:nvSpPr>
          <p:cNvPr id="122882" name="文本占位符 131074"/>
          <p:cNvSpPr>
            <a:spLocks noGrp="1"/>
          </p:cNvSpPr>
          <p:nvPr>
            <p:ph idx="1"/>
          </p:nvPr>
        </p:nvSpPr>
        <p:spPr>
          <a:xfrm>
            <a:off x="2636322" y="1981200"/>
            <a:ext cx="8641278" cy="4114800"/>
          </a:xfrm>
        </p:spPr>
        <p:txBody>
          <a:bodyPr vert="horz" wrap="square" lIns="91440" tIns="45720" rIns="91440" bIns="45720" anchor="t"/>
          <a:lstStyle/>
          <a:p>
            <a:pPr algn="just" eaLnBrk="1" hangingPunct="1">
              <a:lnSpc>
                <a:spcPct val="150000"/>
              </a:lnSpc>
            </a:pPr>
            <a:r>
              <a:rPr lang="en-US" altLang="zh-CN" sz="3600" b="1" dirty="0">
                <a:ea typeface="黑体" panose="02010609060101010101" pitchFamily="49" charset="-122"/>
              </a:rPr>
              <a:t>5</a:t>
            </a:r>
            <a:r>
              <a:rPr lang="zh-CN" altLang="en-US" sz="3600" b="1" dirty="0">
                <a:ea typeface="黑体" panose="02010609060101010101" pitchFamily="49" charset="-122"/>
              </a:rPr>
              <a:t>、使用木马 </a:t>
            </a:r>
          </a:p>
          <a:p>
            <a:pPr algn="just" eaLnBrk="1" hangingPunct="1">
              <a:lnSpc>
                <a:spcPct val="150000"/>
              </a:lnSpc>
            </a:pPr>
            <a:r>
              <a:rPr lang="en-US" altLang="zh-CN" sz="3600" b="1" dirty="0">
                <a:ea typeface="黑体" panose="02010609060101010101" pitchFamily="49" charset="-122"/>
              </a:rPr>
              <a:t>6</a:t>
            </a:r>
            <a:r>
              <a:rPr lang="zh-CN" altLang="en-US" sz="3600" b="1" dirty="0">
                <a:ea typeface="黑体" panose="02010609060101010101" pitchFamily="49" charset="-122"/>
              </a:rPr>
              <a:t>、本地溢出 </a:t>
            </a:r>
          </a:p>
          <a:p>
            <a:pPr algn="just" eaLnBrk="1" hangingPunct="1">
              <a:lnSpc>
                <a:spcPct val="150000"/>
              </a:lnSpc>
            </a:pPr>
            <a:r>
              <a:rPr lang="en-US" altLang="zh-CN" sz="3600" b="1" dirty="0">
                <a:ea typeface="黑体" panose="02010609060101010101" pitchFamily="49" charset="-122"/>
              </a:rPr>
              <a:t>7</a:t>
            </a:r>
            <a:r>
              <a:rPr lang="zh-CN" altLang="en-US" sz="3600" b="1" dirty="0">
                <a:ea typeface="黑体" panose="02010609060101010101" pitchFamily="49" charset="-122"/>
              </a:rPr>
              <a:t>、使用</a:t>
            </a:r>
            <a:r>
              <a:rPr lang="en-US" altLang="zh-CN" sz="3600" b="1" dirty="0">
                <a:ea typeface="黑体" panose="02010609060101010101" pitchFamily="49" charset="-122"/>
              </a:rPr>
              <a:t>GetAdmin</a:t>
            </a:r>
            <a:r>
              <a:rPr lang="zh-CN" altLang="en-US" sz="3600" b="1" dirty="0">
                <a:ea typeface="黑体" panose="02010609060101010101" pitchFamily="49" charset="-122"/>
              </a:rPr>
              <a:t>或</a:t>
            </a:r>
            <a:r>
              <a:rPr lang="en-US" altLang="zh-CN" sz="3600" b="1" dirty="0">
                <a:ea typeface="黑体" panose="02010609060101010101" pitchFamily="49" charset="-122"/>
              </a:rPr>
              <a:t>PipeUpAdmin </a:t>
            </a:r>
            <a:endParaRPr lang="zh-CN" altLang="en-US" sz="3600" b="1" dirty="0">
              <a:ea typeface="黑体" panose="02010609060101010101" pitchFamily="49"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文本占位符 132098"/>
          <p:cNvSpPr>
            <a:spLocks noGrp="1"/>
          </p:cNvSpPr>
          <p:nvPr>
            <p:ph idx="1"/>
          </p:nvPr>
        </p:nvSpPr>
        <p:spPr>
          <a:xfrm>
            <a:off x="2208530" y="1844675"/>
            <a:ext cx="8481060" cy="4114800"/>
          </a:xfrm>
        </p:spPr>
        <p:txBody>
          <a:bodyPr vert="horz" wrap="square" lIns="91440" tIns="45720" rIns="91440" bIns="45720" anchor="t"/>
          <a:lstStyle/>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1</a:t>
            </a:r>
            <a:r>
              <a:rPr lang="zh-CN" altLang="en-US" b="1" dirty="0">
                <a:ea typeface="黑体" panose="02010609060101010101" pitchFamily="49" charset="-122"/>
              </a:rPr>
              <a:t>）改变全局标志，以获得访问其他进程的权限</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2</a:t>
            </a:r>
            <a:r>
              <a:rPr lang="zh-CN" altLang="en-US" b="1" dirty="0">
                <a:ea typeface="黑体" panose="02010609060101010101" pitchFamily="49" charset="-122"/>
              </a:rPr>
              <a:t>）打开</a:t>
            </a:r>
            <a:r>
              <a:rPr lang="en-US" altLang="zh-CN" b="1" dirty="0">
                <a:ea typeface="黑体" panose="02010609060101010101" pitchFamily="49" charset="-122"/>
              </a:rPr>
              <a:t>WinLogon</a:t>
            </a:r>
            <a:r>
              <a:rPr lang="zh-CN" altLang="en-US" b="1" dirty="0">
                <a:ea typeface="黑体" panose="02010609060101010101" pitchFamily="49" charset="-122"/>
              </a:rPr>
              <a:t>进程</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3</a:t>
            </a:r>
            <a:r>
              <a:rPr lang="zh-CN" altLang="en-US" b="1" dirty="0">
                <a:ea typeface="黑体" panose="02010609060101010101" pitchFamily="49" charset="-122"/>
              </a:rPr>
              <a:t>）向</a:t>
            </a:r>
            <a:r>
              <a:rPr lang="en-US" altLang="zh-CN" b="1" dirty="0">
                <a:ea typeface="黑体" panose="02010609060101010101" pitchFamily="49" charset="-122"/>
              </a:rPr>
              <a:t>WinLogon</a:t>
            </a:r>
            <a:r>
              <a:rPr lang="zh-CN" altLang="en-US" b="1" dirty="0">
                <a:ea typeface="黑体" panose="02010609060101010101" pitchFamily="49" charset="-122"/>
              </a:rPr>
              <a:t>进程中注入“</a:t>
            </a:r>
            <a:r>
              <a:rPr lang="en-US" altLang="zh-CN" b="1" dirty="0">
                <a:ea typeface="黑体" panose="02010609060101010101" pitchFamily="49" charset="-122"/>
              </a:rPr>
              <a:t>gasys.DLL”</a:t>
            </a:r>
            <a:endParaRPr lang="zh-CN" altLang="en-US" b="1" dirty="0">
              <a:ea typeface="黑体" panose="02010609060101010101" pitchFamily="49" charset="-122"/>
            </a:endParaRP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4</a:t>
            </a:r>
            <a:r>
              <a:rPr lang="zh-CN" altLang="en-US" b="1" dirty="0">
                <a:ea typeface="黑体" panose="02010609060101010101" pitchFamily="49" charset="-122"/>
              </a:rPr>
              <a:t>）将普通用户添加到</a:t>
            </a:r>
            <a:r>
              <a:rPr lang="en-US" altLang="zh-CN" b="1" dirty="0">
                <a:ea typeface="黑体" panose="02010609060101010101" pitchFamily="49" charset="-122"/>
              </a:rPr>
              <a:t>Administrators</a:t>
            </a:r>
            <a:r>
              <a:rPr lang="zh-CN" altLang="en-US" b="1" dirty="0">
                <a:ea typeface="黑体" panose="02010609060101010101" pitchFamily="49" charset="-122"/>
              </a:rPr>
              <a:t>用户组中</a:t>
            </a:r>
          </a:p>
          <a:p>
            <a:pPr eaLnBrk="1" hangingPunct="1">
              <a:buNone/>
            </a:pPr>
            <a:r>
              <a:rPr lang="zh-CN" altLang="en-US" b="1" dirty="0">
                <a:ea typeface="黑体" panose="02010609060101010101" pitchFamily="49" charset="-122"/>
              </a:rPr>
              <a:t>（</a:t>
            </a:r>
            <a:r>
              <a:rPr lang="en-US" altLang="zh-CN" b="1" dirty="0">
                <a:ea typeface="黑体" panose="02010609060101010101" pitchFamily="49" charset="-122"/>
              </a:rPr>
              <a:t>5</a:t>
            </a:r>
            <a:r>
              <a:rPr lang="zh-CN" altLang="en-US" b="1" dirty="0">
                <a:ea typeface="黑体" panose="02010609060101010101" pitchFamily="49" charset="-122"/>
              </a:rPr>
              <a:t>）从</a:t>
            </a:r>
            <a:r>
              <a:rPr lang="en-US" altLang="zh-CN" b="1" dirty="0">
                <a:ea typeface="黑体" panose="02010609060101010101" pitchFamily="49" charset="-122"/>
              </a:rPr>
              <a:t>WinLogon</a:t>
            </a:r>
            <a:r>
              <a:rPr lang="zh-CN" altLang="en-US" b="1" dirty="0">
                <a:ea typeface="黑体" panose="02010609060101010101" pitchFamily="49" charset="-122"/>
              </a:rPr>
              <a:t>进程中分离“</a:t>
            </a:r>
            <a:r>
              <a:rPr lang="en-US" altLang="zh-CN" b="1" dirty="0">
                <a:ea typeface="黑体" panose="02010609060101010101" pitchFamily="49" charset="-122"/>
              </a:rPr>
              <a:t>gasys.DLL”</a:t>
            </a:r>
            <a:endParaRPr lang="zh-CN" altLang="en-US" b="1" dirty="0">
              <a:ea typeface="黑体" panose="02010609060101010101" pitchFamily="49" charset="-122"/>
            </a:endParaRPr>
          </a:p>
        </p:txBody>
      </p:sp>
      <p:grpSp>
        <p:nvGrpSpPr>
          <p:cNvPr id="4" name="组合 3"/>
          <p:cNvGrpSpPr/>
          <p:nvPr/>
        </p:nvGrpSpPr>
        <p:grpSpPr>
          <a:xfrm>
            <a:off x="3494168" y="456751"/>
            <a:ext cx="5200489" cy="791052"/>
            <a:chOff x="824071" y="1564267"/>
            <a:chExt cx="5200489" cy="791052"/>
          </a:xfrm>
        </p:grpSpPr>
        <p:sp>
          <p:nvSpPr>
            <p:cNvPr id="5" name="矩形: 圆角 16"/>
            <p:cNvSpPr/>
            <p:nvPr/>
          </p:nvSpPr>
          <p:spPr>
            <a:xfrm>
              <a:off x="824071" y="1740416"/>
              <a:ext cx="5200489"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4138505" cy="480131"/>
            </a:xfrm>
            <a:prstGeom prst="rect">
              <a:avLst/>
            </a:prstGeom>
          </p:spPr>
          <p:txBody>
            <a:bodyPr wrap="none">
              <a:spAutoFit/>
            </a:bodyPr>
            <a:lstStyle/>
            <a:p>
              <a:pPr>
                <a:lnSpc>
                  <a:spcPct val="90000"/>
                </a:lnSpc>
              </a:pPr>
              <a:r>
                <a:rPr lang="en-US" altLang="zh-CN" sz="2800" noProof="1">
                  <a:solidFill>
                    <a:schemeClr val="bg1"/>
                  </a:solidFill>
                  <a:latin typeface="+mj-ea"/>
                </a:rPr>
                <a:t>4.5.2 GetAdmin</a:t>
              </a:r>
              <a:r>
                <a:rPr lang="zh-CN" altLang="en-US" sz="2800" noProof="1">
                  <a:solidFill>
                    <a:schemeClr val="bg1"/>
                  </a:solidFill>
                  <a:latin typeface="+mj-ea"/>
                </a:rPr>
                <a:t>权限提升</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文本占位符 133122"/>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ea typeface="黑体" panose="02010609060101010101" pitchFamily="49" charset="-122"/>
              </a:rPr>
              <a:t>        Windows 2000</a:t>
            </a:r>
            <a:r>
              <a:rPr lang="zh-CN" altLang="en-US" b="1" dirty="0">
                <a:ea typeface="黑体" panose="02010609060101010101" pitchFamily="49" charset="-122"/>
              </a:rPr>
              <a:t>使用可预测的命名管道用于通过服务控制管理器（</a:t>
            </a:r>
            <a:r>
              <a:rPr lang="en-US" altLang="zh-CN" b="1" dirty="0">
                <a:ea typeface="黑体" panose="02010609060101010101" pitchFamily="49" charset="-122"/>
              </a:rPr>
              <a:t>Service Control Manager</a:t>
            </a:r>
            <a:r>
              <a:rPr lang="zh-CN" altLang="en-US" b="1" dirty="0">
                <a:ea typeface="黑体" panose="02010609060101010101" pitchFamily="49" charset="-122"/>
              </a:rPr>
              <a:t>，</a:t>
            </a:r>
            <a:r>
              <a:rPr lang="en-US" altLang="zh-CN" b="1" dirty="0">
                <a:ea typeface="黑体" panose="02010609060101010101" pitchFamily="49" charset="-122"/>
              </a:rPr>
              <a:t>SCM</a:t>
            </a:r>
            <a:r>
              <a:rPr lang="zh-CN" altLang="en-US" b="1" dirty="0">
                <a:ea typeface="黑体" panose="02010609060101010101" pitchFamily="49" charset="-122"/>
              </a:rPr>
              <a:t>）控制服务</a:t>
            </a:r>
          </a:p>
          <a:p>
            <a:pPr algn="just" eaLnBrk="1" hangingPunct="1"/>
            <a:r>
              <a:rPr lang="en-US" altLang="zh-CN" b="1" dirty="0">
                <a:ea typeface="黑体" panose="02010609060101010101" pitchFamily="49" charset="-122"/>
              </a:rPr>
              <a:t>        SCM</a:t>
            </a:r>
            <a:r>
              <a:rPr lang="zh-CN" altLang="en-US" b="1" dirty="0">
                <a:ea typeface="黑体" panose="02010609060101010101" pitchFamily="49" charset="-122"/>
              </a:rPr>
              <a:t>使用一个唯一的命名管道用于它启动的每个服务的进程间通信。</a:t>
            </a:r>
            <a:endParaRPr lang="zh-CN" altLang="en-US" dirty="0">
              <a:ea typeface="黑体" panose="02010609060101010101" pitchFamily="49" charset="-122"/>
            </a:endParaRPr>
          </a:p>
        </p:txBody>
      </p:sp>
      <p:grpSp>
        <p:nvGrpSpPr>
          <p:cNvPr id="4" name="组合 3"/>
          <p:cNvGrpSpPr/>
          <p:nvPr/>
        </p:nvGrpSpPr>
        <p:grpSpPr>
          <a:xfrm>
            <a:off x="4055714" y="397374"/>
            <a:ext cx="4080572" cy="791052"/>
            <a:chOff x="824071" y="1564267"/>
            <a:chExt cx="4080572" cy="791052"/>
          </a:xfrm>
        </p:grpSpPr>
        <p:sp>
          <p:nvSpPr>
            <p:cNvPr id="5" name="矩形: 圆角 16"/>
            <p:cNvSpPr/>
            <p:nvPr/>
          </p:nvSpPr>
          <p:spPr>
            <a:xfrm>
              <a:off x="824071" y="1740416"/>
              <a:ext cx="408057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203121" cy="480131"/>
            </a:xfrm>
            <a:prstGeom prst="rect">
              <a:avLst/>
            </a:prstGeom>
          </p:spPr>
          <p:txBody>
            <a:bodyPr wrap="none">
              <a:spAutoFit/>
            </a:bodyPr>
            <a:lstStyle/>
            <a:p>
              <a:pPr>
                <a:lnSpc>
                  <a:spcPct val="90000"/>
                </a:lnSpc>
              </a:pPr>
              <a:r>
                <a:rPr lang="en-US" altLang="zh-CN" sz="2800" noProof="1">
                  <a:solidFill>
                    <a:schemeClr val="bg1"/>
                  </a:solidFill>
                  <a:latin typeface="+mj-ea"/>
                </a:rPr>
                <a:t>4.5.3 </a:t>
              </a:r>
              <a:r>
                <a:rPr lang="zh-CN" altLang="en-US" sz="2800" noProof="1">
                  <a:solidFill>
                    <a:schemeClr val="bg1"/>
                  </a:solidFill>
                  <a:latin typeface="+mj-ea"/>
                </a:rPr>
                <a:t>命名管道预测</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文本占位符 134146"/>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zh-CN" altLang="en-US" sz="2900" b="1" dirty="0">
                <a:ea typeface="黑体" panose="02010609060101010101" pitchFamily="49" charset="-122"/>
              </a:rPr>
              <a:t>        这种攻击利用管道编号的这种可预测性，它在</a:t>
            </a:r>
            <a:r>
              <a:rPr lang="en-US" altLang="zh-CN" sz="2900" b="1" dirty="0">
                <a:ea typeface="黑体" panose="02010609060101010101" pitchFamily="49" charset="-122"/>
              </a:rPr>
              <a:t>SCM</a:t>
            </a:r>
            <a:r>
              <a:rPr lang="zh-CN" altLang="en-US" sz="2900" b="1" dirty="0">
                <a:ea typeface="黑体" panose="02010609060101010101" pitchFamily="49" charset="-122"/>
              </a:rPr>
              <a:t>创建同名管道之前先创建这个管道。当一个新的服务启动时，它将连接到这个恶意的管道。通过命令</a:t>
            </a:r>
            <a:r>
              <a:rPr lang="en-US" altLang="zh-CN" sz="2900" b="1" dirty="0">
                <a:ea typeface="黑体" panose="02010609060101010101" pitchFamily="49" charset="-122"/>
              </a:rPr>
              <a:t>SCM</a:t>
            </a:r>
            <a:r>
              <a:rPr lang="zh-CN" altLang="en-US" sz="2900" b="1" dirty="0">
                <a:ea typeface="黑体" panose="02010609060101010101" pitchFamily="49" charset="-122"/>
              </a:rPr>
              <a:t>启动任意的一个服务，通常是以具有高度特权的账户运行的服务例如（例如</a:t>
            </a:r>
            <a:r>
              <a:rPr lang="en-US" altLang="zh-CN" sz="2900" b="1" dirty="0">
                <a:ea typeface="黑体" panose="02010609060101010101" pitchFamily="49" charset="-122"/>
              </a:rPr>
              <a:t>ClipBook</a:t>
            </a:r>
            <a:r>
              <a:rPr lang="zh-CN" altLang="en-US" sz="2900" b="1" dirty="0">
                <a:ea typeface="黑体" panose="02010609060101010101" pitchFamily="49" charset="-122"/>
              </a:rPr>
              <a:t>服务，它作为</a:t>
            </a:r>
            <a:r>
              <a:rPr lang="en-US" altLang="zh-CN" sz="2900" b="1" dirty="0">
                <a:ea typeface="黑体" panose="02010609060101010101" pitchFamily="49" charset="-122"/>
              </a:rPr>
              <a:t>SYSTEM</a:t>
            </a:r>
            <a:r>
              <a:rPr lang="zh-CN" altLang="en-US" sz="2900" b="1" dirty="0">
                <a:ea typeface="黑体" panose="02010609060101010101" pitchFamily="49" charset="-122"/>
              </a:rPr>
              <a:t>身份运行）。</a:t>
            </a:r>
            <a:r>
              <a:rPr lang="en-US" altLang="zh-CN" sz="2900" b="1" dirty="0">
                <a:ea typeface="黑体" panose="02010609060101010101" pitchFamily="49" charset="-122"/>
              </a:rPr>
              <a:t>SCM</a:t>
            </a:r>
            <a:r>
              <a:rPr lang="zh-CN" altLang="en-US" sz="2900" b="1" dirty="0">
                <a:ea typeface="黑体" panose="02010609060101010101" pitchFamily="49" charset="-122"/>
              </a:rPr>
              <a:t>将该服务连接到恶意的管道上去。恶意的管道于是就可以模仿该服务的安全上下文，作为</a:t>
            </a:r>
            <a:r>
              <a:rPr lang="en-US" altLang="zh-CN" sz="2900" b="1" dirty="0">
                <a:ea typeface="黑体" panose="02010609060101010101" pitchFamily="49" charset="-122"/>
              </a:rPr>
              <a:t>SYSTEM</a:t>
            </a:r>
            <a:r>
              <a:rPr lang="zh-CN" altLang="en-US" sz="2900" b="1" dirty="0">
                <a:ea typeface="黑体" panose="02010609060101010101" pitchFamily="49" charset="-122"/>
              </a:rPr>
              <a:t>身份或该服务所在的任意账户的身份执行命令。</a:t>
            </a:r>
            <a:endParaRPr lang="zh-CN" altLang="en-US" sz="2900" dirty="0">
              <a:ea typeface="黑体" panose="02010609060101010101" pitchFamily="49" charset="-122"/>
            </a:endParaRPr>
          </a:p>
        </p:txBody>
      </p:sp>
      <p:grpSp>
        <p:nvGrpSpPr>
          <p:cNvPr id="8" name="组合 7"/>
          <p:cNvGrpSpPr/>
          <p:nvPr/>
        </p:nvGrpSpPr>
        <p:grpSpPr>
          <a:xfrm>
            <a:off x="4055714" y="397374"/>
            <a:ext cx="4080572" cy="791052"/>
            <a:chOff x="824071" y="1564267"/>
            <a:chExt cx="4080572" cy="791052"/>
          </a:xfrm>
        </p:grpSpPr>
        <p:sp>
          <p:nvSpPr>
            <p:cNvPr id="9" name="矩形: 圆角 16"/>
            <p:cNvSpPr/>
            <p:nvPr/>
          </p:nvSpPr>
          <p:spPr>
            <a:xfrm>
              <a:off x="824071" y="1740416"/>
              <a:ext cx="4080571"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701522" y="1828091"/>
              <a:ext cx="3203121" cy="480131"/>
            </a:xfrm>
            <a:prstGeom prst="rect">
              <a:avLst/>
            </a:prstGeom>
          </p:spPr>
          <p:txBody>
            <a:bodyPr wrap="none">
              <a:spAutoFit/>
            </a:bodyPr>
            <a:lstStyle/>
            <a:p>
              <a:pPr>
                <a:lnSpc>
                  <a:spcPct val="90000"/>
                </a:lnSpc>
              </a:pPr>
              <a:r>
                <a:rPr lang="en-US" altLang="zh-CN" sz="2800" noProof="1">
                  <a:solidFill>
                    <a:schemeClr val="bg1"/>
                  </a:solidFill>
                  <a:latin typeface="+mj-ea"/>
                </a:rPr>
                <a:t>4.5.3 </a:t>
              </a:r>
              <a:r>
                <a:rPr lang="zh-CN" altLang="en-US" sz="2800" noProof="1">
                  <a:solidFill>
                    <a:schemeClr val="bg1"/>
                  </a:solidFill>
                  <a:latin typeface="+mj-ea"/>
                </a:rPr>
                <a:t>命名管道预测</a:t>
              </a:r>
              <a:endParaRPr lang="zh-CN" altLang="en-US" sz="2800" dirty="0">
                <a:solidFill>
                  <a:schemeClr val="bg1"/>
                </a:solidFill>
                <a:latin typeface="+mj-ea"/>
                <a:ea typeface="+mj-ea"/>
              </a:endParaRPr>
            </a:p>
          </p:txBody>
        </p:sp>
        <p:pic>
          <p:nvPicPr>
            <p:cNvPr id="11" name="图片 10"/>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文本占位符 135170"/>
          <p:cNvSpPr>
            <a:spLocks noGrp="1"/>
          </p:cNvSpPr>
          <p:nvPr>
            <p:ph idx="1"/>
          </p:nvPr>
        </p:nvSpPr>
        <p:spPr>
          <a:xfrm>
            <a:off x="1187532" y="1981200"/>
            <a:ext cx="9832769" cy="4114800"/>
          </a:xfrm>
        </p:spPr>
        <p:txBody>
          <a:bodyPr vert="horz" wrap="square" lIns="91440" tIns="45720" rIns="91440" bIns="45720" anchor="t"/>
          <a:lstStyle/>
          <a:p>
            <a:pPr algn="just" eaLnBrk="1" hangingPunct="1">
              <a:lnSpc>
                <a:spcPct val="90000"/>
              </a:lnSpc>
            </a:pPr>
            <a:r>
              <a:rPr lang="en-US" altLang="zh-CN" sz="3200" b="1" dirty="0">
                <a:ea typeface="黑体" panose="02010609060101010101" pitchFamily="49" charset="-122"/>
              </a:rPr>
              <a:t>        </a:t>
            </a:r>
            <a:r>
              <a:rPr lang="en-US" altLang="zh-CN" sz="3200" b="1" dirty="0" err="1">
                <a:ea typeface="黑体" panose="02010609060101010101" pitchFamily="49" charset="-122"/>
              </a:rPr>
              <a:t>NetDDE</a:t>
            </a:r>
            <a:r>
              <a:rPr lang="zh-CN" altLang="en-US" sz="3200" b="1" dirty="0">
                <a:ea typeface="黑体" panose="02010609060101010101" pitchFamily="49" charset="-122"/>
              </a:rPr>
              <a:t>是使应用程序通过“受信任的共享”来共享数据的一种技术。通过受信任的共享，可以发出请求执行应用程序，并运行在</a:t>
            </a:r>
            <a:r>
              <a:rPr lang="en-US" altLang="zh-CN" sz="3200" b="1" dirty="0">
                <a:ea typeface="黑体" panose="02010609060101010101" pitchFamily="49" charset="-122"/>
              </a:rPr>
              <a:t>SYSTEM</a:t>
            </a:r>
            <a:r>
              <a:rPr lang="zh-CN" altLang="en-US" sz="3200" b="1" dirty="0">
                <a:ea typeface="黑体" panose="02010609060101010101" pitchFamily="49" charset="-122"/>
              </a:rPr>
              <a:t>账户的上下文中。</a:t>
            </a:r>
            <a:r>
              <a:rPr lang="zh-CN" altLang="en-US" sz="3200" dirty="0">
                <a:ea typeface="黑体" panose="02010609060101010101" pitchFamily="49" charset="-122"/>
              </a:rPr>
              <a:t> </a:t>
            </a:r>
            <a:endParaRPr lang="zh-CN" altLang="en-US" sz="3200" b="1" dirty="0">
              <a:ea typeface="黑体" panose="02010609060101010101" pitchFamily="49" charset="-122"/>
            </a:endParaRPr>
          </a:p>
          <a:p>
            <a:pPr algn="just" eaLnBrk="1" hangingPunct="1">
              <a:lnSpc>
                <a:spcPct val="90000"/>
              </a:lnSpc>
            </a:pPr>
            <a:r>
              <a:rPr lang="zh-CN" altLang="en-US" sz="3200" b="1" dirty="0">
                <a:ea typeface="黑体" panose="02010609060101010101" pitchFamily="49" charset="-122"/>
              </a:rPr>
              <a:t>        如果还没有启用</a:t>
            </a:r>
            <a:r>
              <a:rPr lang="en-US" altLang="zh-CN" sz="3200" b="1" dirty="0">
                <a:ea typeface="黑体" panose="02010609060101010101" pitchFamily="49" charset="-122"/>
              </a:rPr>
              <a:t>NetDDE</a:t>
            </a:r>
            <a:r>
              <a:rPr lang="zh-CN" altLang="en-US" sz="3200" b="1" dirty="0">
                <a:ea typeface="黑体" panose="02010609060101010101" pitchFamily="49" charset="-122"/>
              </a:rPr>
              <a:t>服务，则首先要启动它。</a:t>
            </a:r>
          </a:p>
          <a:p>
            <a:pPr algn="just" eaLnBrk="1" hangingPunct="1">
              <a:lnSpc>
                <a:spcPct val="90000"/>
              </a:lnSpc>
            </a:pPr>
            <a:r>
              <a:rPr lang="zh-CN" altLang="en-US" sz="3200" b="1" dirty="0">
                <a:ea typeface="黑体" panose="02010609060101010101" pitchFamily="49" charset="-122"/>
              </a:rPr>
              <a:t>然后运行</a:t>
            </a:r>
            <a:r>
              <a:rPr lang="en-US" altLang="zh-CN" sz="3200" b="1" dirty="0">
                <a:ea typeface="黑体" panose="02010609060101010101" pitchFamily="49" charset="-122"/>
              </a:rPr>
              <a:t>netddemsg</a:t>
            </a:r>
            <a:r>
              <a:rPr lang="zh-CN" altLang="en-US" sz="3200" b="1" dirty="0">
                <a:ea typeface="黑体" panose="02010609060101010101" pitchFamily="49" charset="-122"/>
              </a:rPr>
              <a:t>进行攻击。</a:t>
            </a:r>
          </a:p>
        </p:txBody>
      </p:sp>
      <p:grpSp>
        <p:nvGrpSpPr>
          <p:cNvPr id="4" name="组合 3"/>
          <p:cNvGrpSpPr/>
          <p:nvPr/>
        </p:nvGrpSpPr>
        <p:grpSpPr>
          <a:xfrm>
            <a:off x="3691698" y="397374"/>
            <a:ext cx="4808603" cy="791052"/>
            <a:chOff x="824071" y="1564267"/>
            <a:chExt cx="4808603" cy="791052"/>
          </a:xfrm>
        </p:grpSpPr>
        <p:sp>
          <p:nvSpPr>
            <p:cNvPr id="5" name="矩形: 圆角 16"/>
            <p:cNvSpPr/>
            <p:nvPr/>
          </p:nvSpPr>
          <p:spPr>
            <a:xfrm>
              <a:off x="824071" y="1740416"/>
              <a:ext cx="4808603"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3769815" cy="480131"/>
            </a:xfrm>
            <a:prstGeom prst="rect">
              <a:avLst/>
            </a:prstGeom>
          </p:spPr>
          <p:txBody>
            <a:bodyPr wrap="none">
              <a:spAutoFit/>
            </a:bodyPr>
            <a:lstStyle/>
            <a:p>
              <a:pPr>
                <a:lnSpc>
                  <a:spcPct val="90000"/>
                </a:lnSpc>
              </a:pPr>
              <a:r>
                <a:rPr lang="en-US" altLang="zh-CN" sz="2800" noProof="1">
                  <a:solidFill>
                    <a:schemeClr val="bg1"/>
                  </a:solidFill>
                  <a:latin typeface="+mj-ea"/>
                </a:rPr>
                <a:t>4.5.4 </a:t>
              </a:r>
              <a:r>
                <a:rPr lang="zh-CN" altLang="en-US" sz="2800" noProof="1">
                  <a:solidFill>
                    <a:schemeClr val="bg1"/>
                  </a:solidFill>
                  <a:latin typeface="+mj-ea"/>
                </a:rPr>
                <a:t>利用</a:t>
              </a:r>
              <a:r>
                <a:rPr lang="en-US" altLang="zh-CN" sz="2800" noProof="1">
                  <a:solidFill>
                    <a:schemeClr val="bg1"/>
                  </a:solidFill>
                  <a:latin typeface="+mj-ea"/>
                </a:rPr>
                <a:t>NetDDE</a:t>
              </a:r>
              <a:r>
                <a:rPr lang="zh-CN" altLang="en-US" sz="2800" noProof="1">
                  <a:solidFill>
                    <a:schemeClr val="bg1"/>
                  </a:solidFill>
                  <a:latin typeface="+mj-ea"/>
                </a:rPr>
                <a:t>漏洞</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36193"/>
          <p:cNvSpPr>
            <a:spLocks noGrp="1"/>
          </p:cNvSpPr>
          <p:nvPr>
            <p:ph type="title"/>
          </p:nvPr>
        </p:nvSpPr>
        <p:spPr>
          <a:xfrm>
            <a:off x="1992313" y="1700213"/>
            <a:ext cx="8229600" cy="3240088"/>
          </a:xfrm>
        </p:spPr>
        <p:txBody>
          <a:bodyPr lIns="92075" tIns="46038" rIns="92075" bIns="46038" anchor="ctr"/>
          <a:lstStyle/>
          <a:p>
            <a:pPr algn="ctr" fontAlgn="base">
              <a:lnSpc>
                <a:spcPct val="100000"/>
              </a:lnSpc>
              <a:spcAft>
                <a:spcPct val="0"/>
              </a:spcAft>
              <a:defRPr/>
            </a:pPr>
            <a:r>
              <a:rPr lang="zh-CN" altLang="en-US" sz="15000" b="1" noProof="1">
                <a:solidFill>
                  <a:schemeClr val="hlink"/>
                </a:solidFill>
                <a:effectLst>
                  <a:outerShdw blurRad="38100" dist="38100" dir="2700000">
                    <a:srgbClr val="000000"/>
                  </a:outerShdw>
                </a:effectLst>
                <a:ea typeface="黑体" panose="02010609060101010101" pitchFamily="49" charset="-122"/>
              </a:rPr>
              <a:t>谢 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2eae680-b690-4e5d-972d-b7f86b7a3c42"/>
  <p:tag name="COMMONDATA" val="eyJoZGlkIjoiYzZkMThhYWRiYjM3OTRjZGI1YzMwN2JkMGM1MzU4Nj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8006</Words>
  <Application>Microsoft Office PowerPoint</Application>
  <PresentationFormat>宽屏</PresentationFormat>
  <Paragraphs>459</Paragraphs>
  <Slides>119</Slides>
  <Notes>8</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119</vt:i4>
      </vt:variant>
    </vt:vector>
  </HeadingPairs>
  <TitlesOfParts>
    <vt:vector size="132" baseType="lpstr">
      <vt:lpstr>Helvetica Neue</vt:lpstr>
      <vt:lpstr>ui-sans-serif</vt:lpstr>
      <vt:lpstr>等线</vt:lpstr>
      <vt:lpstr>黑体</vt:lpstr>
      <vt:lpstr>思源黑体 CN Heavy</vt:lpstr>
      <vt:lpstr>宋体</vt:lpstr>
      <vt:lpstr>Arial</vt:lpstr>
      <vt:lpstr>Calibri</vt:lpstr>
      <vt:lpstr>Times New Roman</vt:lpstr>
      <vt:lpstr>Wingdings</vt:lpstr>
      <vt:lpstr>Office 主题​​</vt:lpstr>
      <vt:lpstr>Microsoft Word Picture</vt:lpstr>
      <vt:lpstr>Paintbrush Picture</vt:lpstr>
      <vt:lpstr>第4章 网络攻击 </vt:lpstr>
      <vt:lpstr>PowerPoint 演示文稿</vt:lpstr>
      <vt:lpstr>PowerPoint 演示文稿</vt:lpstr>
      <vt:lpstr>PowerPoint 演示文稿</vt:lpstr>
      <vt:lpstr>PowerPoint 演示文稿</vt:lpstr>
      <vt:lpstr>PowerPoint 演示文稿</vt:lpstr>
      <vt:lpstr>（１）本地计算环境</vt:lpstr>
      <vt:lpstr>（２）飞地边界</vt:lpstr>
      <vt:lpstr>（３）网络及其基础设施</vt:lpstr>
      <vt:lpstr>（４）基础设施的支撑</vt:lpstr>
      <vt:lpstr>PowerPoint 演示文稿</vt:lpstr>
      <vt:lpstr>PowerPoint 演示文稿</vt:lpstr>
      <vt:lpstr>PowerPoint 演示文稿</vt:lpstr>
      <vt:lpstr>PowerPoint 演示文稿</vt:lpstr>
      <vt:lpstr>PowerPoint 演示文稿</vt:lpstr>
      <vt:lpstr>PowerPoint 演示文稿</vt:lpstr>
      <vt:lpstr>战术级网络的信息战手段（续）</vt:lpstr>
      <vt:lpstr>PowerPoint 演示文稿</vt:lpstr>
      <vt:lpstr>PowerPoint 演示文稿</vt:lpstr>
      <vt:lpstr>PowerPoint 演示文稿</vt:lpstr>
      <vt:lpstr>X-Scan</vt:lpstr>
      <vt:lpstr>X-Scan</vt:lpstr>
      <vt:lpstr>PowerPoint 演示文稿</vt:lpstr>
      <vt:lpstr>PowerPoint 演示文稿</vt:lpstr>
      <vt:lpstr>PowerPoint 演示文稿</vt:lpstr>
      <vt:lpstr>Windows的一些网络命令</vt:lpstr>
      <vt:lpstr>PowerPoint 演示文稿</vt:lpstr>
      <vt:lpstr>PowerPoint 演示文稿</vt:lpstr>
      <vt:lpstr>PowerPoint 演示文稿</vt:lpstr>
      <vt:lpstr>PowerPoint 演示文稿</vt:lpstr>
      <vt:lpstr>PowerPoint 演示文稿</vt:lpstr>
      <vt:lpstr>PowerPoint 演示文稿</vt:lpstr>
      <vt:lpstr>FIN探测</vt:lpstr>
      <vt:lpstr>BOGUS标记探测</vt:lpstr>
      <vt:lpstr>TCP ISN取样</vt:lpstr>
      <vt:lpstr>“无碎片”标记位</vt:lpstr>
      <vt:lpstr>TCP初始化“窗口”</vt:lpstr>
      <vt:lpstr>ACK值</vt:lpstr>
      <vt:lpstr>ICMP出错信息</vt:lpstr>
      <vt:lpstr>TCP选项</vt:lpstr>
      <vt:lpstr>PowerPoint 演示文稿</vt:lpstr>
      <vt:lpstr>什么是ioctl</vt:lpstr>
      <vt:lpstr>基于ioctl控制实现的网络窃听</vt:lpstr>
      <vt:lpstr>基于LibPCap库 实现的与平台无关的网络窃听</vt:lpstr>
      <vt:lpstr>防止网络窃听</vt:lpstr>
      <vt:lpstr>什么是SSH</vt:lpstr>
      <vt:lpstr>PowerPoint 演示文稿</vt:lpstr>
      <vt:lpstr>PowerPoint 演示文稿</vt:lpstr>
      <vt:lpstr>PowerPoint 演示文稿</vt:lpstr>
      <vt:lpstr>PowerPoint 演示文稿</vt:lpstr>
      <vt:lpstr>PowerPoint 演示文稿</vt:lpstr>
      <vt:lpstr>基于主机的扫描器的组成</vt:lpstr>
      <vt:lpstr>PowerPoint 演示文稿</vt:lpstr>
      <vt:lpstr>Nmap扫描</vt:lpstr>
      <vt:lpstr>PowerPoint 演示文稿</vt:lpstr>
      <vt:lpstr>扫描器工作原理与流程</vt:lpstr>
      <vt:lpstr>扫描器工作原理与流程(续)</vt:lpstr>
      <vt:lpstr>PowerPoint 演示文稿</vt:lpstr>
      <vt:lpstr>侵入类攻击</vt:lpstr>
      <vt:lpstr>侵入类攻击</vt:lpstr>
      <vt:lpstr>PowerPoint 演示文稿</vt:lpstr>
      <vt:lpstr>PowerPoint 演示文稿</vt:lpstr>
      <vt:lpstr>口令长度如何影响蛮力猜测的时间</vt:lpstr>
      <vt:lpstr>口令破解过程（离线）</vt:lpstr>
      <vt:lpstr>口令破解过程（在线）</vt:lpstr>
      <vt:lpstr>口令破解实例</vt:lpstr>
      <vt:lpstr>L0phtCrack 7 下载</vt:lpstr>
      <vt:lpstr>PowerPoint 演示文稿</vt:lpstr>
      <vt:lpstr>LC7（L0phtCrack 7）</vt:lpstr>
      <vt:lpstr>PowerPoint 演示文稿</vt:lpstr>
      <vt:lpstr>4.4.2.1 缓冲区溢出攻击</vt:lpstr>
      <vt:lpstr>缓冲区溢出攻击</vt:lpstr>
      <vt:lpstr>缓冲区溢出攻击</vt:lpstr>
      <vt:lpstr>缓冲区溢出攻击</vt:lpstr>
      <vt:lpstr>缓冲区溢出攻击</vt:lpstr>
      <vt:lpstr>4.4.2.2 UNICODE漏洞攻击</vt:lpstr>
      <vt:lpstr>UNICODE漏洞攻击</vt:lpstr>
      <vt:lpstr>UNICODE漏洞攻击</vt:lpstr>
      <vt:lpstr>UNICODE漏洞攻击</vt:lpstr>
      <vt:lpstr>4.4.2.3 输入法漏洞攻击</vt:lpstr>
      <vt:lpstr>输入法漏洞攻击步骤</vt:lpstr>
      <vt:lpstr>输入法漏洞攻击步骤</vt:lpstr>
      <vt:lpstr>输入法漏洞攻击步骤</vt:lpstr>
      <vt:lpstr>输入法漏洞攻击步骤</vt:lpstr>
      <vt:lpstr>输入法漏洞攻击步骤</vt:lpstr>
      <vt:lpstr>输入法漏洞攻击步骤</vt:lpstr>
      <vt:lpstr>输入法漏洞攻击步骤</vt:lpstr>
      <vt:lpstr>输入法漏洞攻击步骤</vt:lpstr>
      <vt:lpstr>输入法漏洞攻击步骤</vt:lpstr>
      <vt:lpstr>输入法漏洞攻击步骤</vt:lpstr>
      <vt:lpstr>PowerPoint 演示文稿</vt:lpstr>
      <vt:lpstr>电子欺骗</vt:lpstr>
      <vt:lpstr>4.4.3.1 IP欺骗</vt:lpstr>
      <vt:lpstr>IP欺骗</vt:lpstr>
      <vt:lpstr>IP欺骗</vt:lpstr>
      <vt:lpstr>IP欺骗</vt:lpstr>
      <vt:lpstr>IP欺骗防护1</vt:lpstr>
      <vt:lpstr>IP欺骗防护2</vt:lpstr>
      <vt:lpstr>4.4.3.2 ARP欺骗</vt:lpstr>
      <vt:lpstr>ARP欺骗</vt:lpstr>
      <vt:lpstr>防止ARP欺骗</vt:lpstr>
      <vt:lpstr>4.4.3.3 DNS欺骗</vt:lpstr>
      <vt:lpstr>DNS欺骗</vt:lpstr>
      <vt:lpstr>防止DNS欺骗</vt:lpstr>
      <vt:lpstr>4.4.3.4 路由欺骗</vt:lpstr>
      <vt:lpstr>路由欺骗</vt:lpstr>
      <vt:lpstr>基于ICMP的路由欺骗</vt:lpstr>
      <vt:lpstr>基于RIP-1的路由欺骗</vt:lpstr>
      <vt:lpstr>基于RIP-2的路由欺骗</vt:lpstr>
      <vt:lpstr>PowerPoint 演示文稿</vt:lpstr>
      <vt:lpstr>PowerPoint 演示文稿</vt:lpstr>
      <vt:lpstr>权限提升</vt:lpstr>
      <vt:lpstr>PowerPoint 演示文稿</vt:lpstr>
      <vt:lpstr>权限提升方法</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安全 李</cp:lastModifiedBy>
  <cp:revision>164</cp:revision>
  <dcterms:created xsi:type="dcterms:W3CDTF">2019-09-27T01:23:00Z</dcterms:created>
  <dcterms:modified xsi:type="dcterms:W3CDTF">2026-05-12T16:09:33Z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A77F6C972461482BA1D0B8FEEDDC04A6</vt:lpwstr>
  </property>
</Properties>
</file>