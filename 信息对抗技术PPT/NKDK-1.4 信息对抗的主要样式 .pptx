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81" r:id="rId3"/>
    <p:sldId id="425" r:id="rId4"/>
    <p:sldId id="351" r:id="rId6"/>
    <p:sldId id="352" r:id="rId7"/>
    <p:sldId id="353" r:id="rId8"/>
    <p:sldId id="354"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431" r:id="rId22"/>
    <p:sldId id="367" r:id="rId23"/>
    <p:sldId id="368" r:id="rId24"/>
    <p:sldId id="369" r:id="rId25"/>
    <p:sldId id="370" r:id="rId26"/>
    <p:sldId id="371" r:id="rId27"/>
    <p:sldId id="372" r:id="rId28"/>
    <p:sldId id="373" r:id="rId29"/>
    <p:sldId id="374" r:id="rId30"/>
    <p:sldId id="375" r:id="rId31"/>
    <p:sldId id="376" r:id="rId32"/>
    <p:sldId id="377" r:id="rId33"/>
    <p:sldId id="433" r:id="rId34"/>
    <p:sldId id="378" r:id="rId35"/>
    <p:sldId id="379" r:id="rId36"/>
    <p:sldId id="426" r:id="rId37"/>
    <p:sldId id="380" r:id="rId38"/>
    <p:sldId id="434" r:id="rId39"/>
    <p:sldId id="381" r:id="rId40"/>
    <p:sldId id="382" r:id="rId41"/>
    <p:sldId id="383" r:id="rId42"/>
    <p:sldId id="384" r:id="rId43"/>
    <p:sldId id="385" r:id="rId44"/>
    <p:sldId id="386" r:id="rId45"/>
    <p:sldId id="427" r:id="rId46"/>
    <p:sldId id="428" r:id="rId47"/>
    <p:sldId id="387" r:id="rId48"/>
    <p:sldId id="388" r:id="rId49"/>
    <p:sldId id="389" r:id="rId50"/>
    <p:sldId id="390" r:id="rId51"/>
    <p:sldId id="391" r:id="rId52"/>
    <p:sldId id="392" r:id="rId53"/>
    <p:sldId id="393" r:id="rId54"/>
    <p:sldId id="394" r:id="rId55"/>
    <p:sldId id="395" r:id="rId56"/>
    <p:sldId id="396" r:id="rId57"/>
    <p:sldId id="397" r:id="rId58"/>
    <p:sldId id="398" r:id="rId59"/>
    <p:sldId id="429" r:id="rId60"/>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881DB3"/>
    <a:srgbClr val="E3C9F7"/>
    <a:srgbClr val="6E0876"/>
    <a:srgbClr val="731AB6"/>
    <a:srgbClr val="740A47"/>
    <a:srgbClr val="720C4E"/>
    <a:srgbClr val="700E54"/>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7608" autoAdjust="0"/>
  </p:normalViewPr>
  <p:slideViewPr>
    <p:cSldViewPr snapToGrid="0" showGuides="1">
      <p:cViewPr varScale="1">
        <p:scale>
          <a:sx n="86" d="100"/>
          <a:sy n="86" d="100"/>
        </p:scale>
        <p:origin x="438" y="90"/>
      </p:cViewPr>
      <p:guideLst>
        <p:guide orient="horz" pos="2137"/>
        <p:guide pos="3931"/>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gs" Target="tags/tag74.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None/>
            </a:pPr>
            <a:r>
              <a:rPr lang="en-US" altLang="zh-CN" sz="1200" dirty="0" smtClean="0">
                <a:latin typeface="宋体" panose="02010600030101010101" pitchFamily="2" charset="-122"/>
              </a:rPr>
              <a:t> </a:t>
            </a:r>
            <a:r>
              <a:rPr lang="zh-CN" altLang="en-US" sz="1200" dirty="0" smtClean="0">
                <a:latin typeface="宋体" panose="02010600030101010101" pitchFamily="2" charset="-122"/>
              </a:rPr>
              <a:t>信息对抗涉及的范围非常广泛，分布在信息采集、信息传输、信息处理、信息利用，以及政治、经济、心理等各个阶段与领域，形成不同的信息对抗样式。</a:t>
            </a:r>
            <a:endParaRPr lang="en-US" altLang="zh-CN" sz="1200" dirty="0" smtClean="0">
              <a:latin typeface="宋体" panose="02010600030101010101" pitchFamily="2" charset="-122"/>
            </a:endParaRPr>
          </a:p>
          <a:p>
            <a:pPr eaLnBrk="1" hangingPunct="1">
              <a:buNone/>
            </a:pPr>
            <a:r>
              <a:rPr lang="en-US" altLang="zh-CN" sz="1200" dirty="0" smtClean="0">
                <a:latin typeface="宋体" panose="02010600030101010101" pitchFamily="2" charset="-122"/>
              </a:rPr>
              <a:t>     </a:t>
            </a:r>
            <a:r>
              <a:rPr lang="zh-CN" altLang="en-US" sz="1200" dirty="0" smtClean="0">
                <a:latin typeface="宋体" panose="02010600030101010101" pitchFamily="2" charset="-122"/>
              </a:rPr>
              <a:t>下面简要介绍这些对抗样式的主要内涵与方法手段。</a:t>
            </a:r>
            <a:r>
              <a:rPr lang="zh-CN" altLang="en-US" sz="1200" dirty="0" smtClean="0"/>
              <a:t> </a:t>
            </a:r>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PhAnim="0">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7173" name="标题 7172"/>
          <p:cNvSpPr>
            <a:spLocks noGrp="1"/>
          </p:cNvSpPr>
          <p:nvPr>
            <p:ph type="ctrTitle" sz="quarter"/>
          </p:nvPr>
        </p:nvSpPr>
        <p:spPr>
          <a:xfrm>
            <a:off x="1725084" y="762000"/>
            <a:ext cx="10363200" cy="1143000"/>
          </a:xfrm>
          <a:prstGeom prst="rect">
            <a:avLst/>
          </a:prstGeom>
          <a:noFill/>
          <a:ln w="9525">
            <a:noFill/>
          </a:ln>
        </p:spPr>
        <p:txBody>
          <a:bodyPr anchor="b"/>
          <a:lstStyle>
            <a:lvl1pPr lvl="0">
              <a:defRPr/>
            </a:lvl1pPr>
          </a:lstStyle>
          <a:p>
            <a:pPr lvl="0"/>
            <a:r>
              <a:rPr lang="zh-CN" altLang="en-US" noProof="1"/>
              <a:t>单击此处编辑母版标题样式</a:t>
            </a:r>
            <a:endParaRPr lang="zh-CN" altLang="en-US" noProof="1"/>
          </a:p>
        </p:txBody>
      </p:sp>
      <p:sp>
        <p:nvSpPr>
          <p:cNvPr id="7174" name="副标题 7173"/>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atin typeface="+mn-ea"/>
                <a:ea typeface="+mn-ea"/>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noProof="1"/>
              <a:t>单击此处编辑母版副标题样式</a:t>
            </a:r>
            <a:endParaRPr lang="zh-CN" altLang="en-US" noProof="1"/>
          </a:p>
        </p:txBody>
      </p:sp>
      <p:sp>
        <p:nvSpPr>
          <p:cNvPr id="7" name="日期占位符 7174"/>
          <p:cNvSpPr>
            <a:spLocks noGrp="1"/>
          </p:cNvSpPr>
          <p:nvPr>
            <p:ph type="dt" sz="quarter" idx="2"/>
          </p:nvPr>
        </p:nvSpPr>
        <p:spPr>
          <a:xfrm>
            <a:off x="914400" y="6248400"/>
            <a:ext cx="2540000" cy="457200"/>
          </a:xfrm>
          <a:prstGeom prst="rect">
            <a:avLst/>
          </a:prstGeom>
        </p:spPr>
        <p:txBody>
          <a:bodyPr lIns="92075" tIns="46038" rIns="92075" bIns="46038" anchor="ctr"/>
          <a:lstStyle>
            <a:lvl1pP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8" name="页脚占位符 7175"/>
          <p:cNvSpPr>
            <a:spLocks noGrp="1"/>
          </p:cNvSpPr>
          <p:nvPr>
            <p:ph type="ftr" sz="quarter" idx="3"/>
          </p:nvPr>
        </p:nvSpPr>
        <p:spPr>
          <a:xfrm>
            <a:off x="4165600" y="6248400"/>
            <a:ext cx="3860800" cy="457200"/>
          </a:xfrm>
          <a:prstGeom prst="rect">
            <a:avLst/>
          </a:prstGeom>
        </p:spPr>
        <p:txBody>
          <a:bodyPr lIns="92075" tIns="46038" rIns="92075" bIns="46038" anchor="ctr"/>
          <a:lstStyle>
            <a:lvl1pPr algn="ct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9" name="灯片编号占位符 7176"/>
          <p:cNvSpPr>
            <a:spLocks noGrp="1"/>
          </p:cNvSpPr>
          <p:nvPr>
            <p:ph type="sldNum" sz="quarter" idx="4"/>
          </p:nvPr>
        </p:nvSpPr>
        <p:spPr>
          <a:xfrm>
            <a:off x="8737600" y="6248400"/>
            <a:ext cx="2540000" cy="457200"/>
          </a:xfrm>
          <a:prstGeom prst="rect">
            <a:avLst/>
          </a:prstGeom>
        </p:spPr>
        <p:txBody>
          <a:bodyPr vert="horz" wrap="square" lIns="92075" tIns="46038" rIns="92075" bIns="46038" numCol="1" anchor="ctr" anchorCtr="0" compatLnSpc="1"/>
          <a:lstStyle/>
          <a:p>
            <a:pPr algn="r"/>
            <a:fld id="{9A0DB2DC-4C9A-4742-B13C-FB6460FD3503}" type="slidenum">
              <a:rPr lang="zh-CN" altLang="en-US" dirty="0"/>
            </a:fld>
            <a:endParaRPr lang="zh-CN" alt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2" Type="http://schemas.openxmlformats.org/officeDocument/2006/relationships/slideLayout" Target="../slideLayouts/slideLayout7.xml"/><Relationship Id="rId11" Type="http://schemas.openxmlformats.org/officeDocument/2006/relationships/tags" Target="../tags/tag17.xml"/><Relationship Id="rId10" Type="http://schemas.openxmlformats.org/officeDocument/2006/relationships/image" Target="../media/image9.png"/><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2" Type="http://schemas.openxmlformats.org/officeDocument/2006/relationships/slideLayout" Target="../slideLayouts/slideLayout7.xml"/><Relationship Id="rId11" Type="http://schemas.openxmlformats.org/officeDocument/2006/relationships/tags" Target="../tags/tag29.xml"/><Relationship Id="rId10" Type="http://schemas.openxmlformats.org/officeDocument/2006/relationships/image" Target="../media/image9.png"/><Relationship Id="rId1" Type="http://schemas.openxmlformats.org/officeDocument/2006/relationships/tags" Target="../tags/tag2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7" Type="http://schemas.openxmlformats.org/officeDocument/2006/relationships/slideLayout" Target="../slideLayouts/slideLayout7.xml"/><Relationship Id="rId16" Type="http://schemas.openxmlformats.org/officeDocument/2006/relationships/tags" Target="../tags/tag44.xml"/><Relationship Id="rId15" Type="http://schemas.openxmlformats.org/officeDocument/2006/relationships/image" Target="../media/image9.png"/><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2" Type="http://schemas.openxmlformats.org/officeDocument/2006/relationships/slideLayout" Target="../slideLayouts/slideLayout7.xml"/><Relationship Id="rId11" Type="http://schemas.openxmlformats.org/officeDocument/2006/relationships/tags" Target="../tags/tag54.xml"/><Relationship Id="rId10" Type="http://schemas.openxmlformats.org/officeDocument/2006/relationships/image" Target="../media/image9.png"/><Relationship Id="rId1" Type="http://schemas.openxmlformats.org/officeDocument/2006/relationships/tags" Target="../tags/tag45.xml"/></Relationships>
</file>

<file path=ppt/slides/_rels/slide44.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9" Type="http://schemas.openxmlformats.org/officeDocument/2006/relationships/slideLayout" Target="../slideLayouts/slideLayout7.xml"/><Relationship Id="rId18" Type="http://schemas.openxmlformats.org/officeDocument/2006/relationships/tags" Target="../tags/tag71.xml"/><Relationship Id="rId17" Type="http://schemas.openxmlformats.org/officeDocument/2006/relationships/image" Target="../media/image9.png"/><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hyperlink" Target="&#31185;&#22823;&#35759;&#39134;-&#29305;&#26391;&#26222;.mp4" TargetMode="External"/><Relationship Id="rId1" Type="http://schemas.openxmlformats.org/officeDocument/2006/relationships/image" Target="../media/image1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2049"/>
          <p:cNvSpPr>
            <a:spLocks noGrp="1"/>
          </p:cNvSpPr>
          <p:nvPr>
            <p:ph type="ctrTitle" sz="quarter" idx="4294967295"/>
          </p:nvPr>
        </p:nvSpPr>
        <p:spPr>
          <a:xfrm>
            <a:off x="2751931" y="1742169"/>
            <a:ext cx="6783387" cy="1154113"/>
          </a:xfrm>
          <a:prstGeom prst="rect">
            <a:avLst/>
          </a:prstGeom>
          <a:effectLst>
            <a:outerShdw blurRad="50800" dist="38100" dir="2700000" algn="tl" rotWithShape="0">
              <a:prstClr val="black">
                <a:alpha val="40000"/>
              </a:prstClr>
            </a:outerShdw>
          </a:effectLst>
        </p:spPr>
        <p:txBody>
          <a:bodyPr vert="horz" wrap="square" lIns="92075" tIns="46038" rIns="92075" bIns="46038" numCol="1" anchor="b" anchorCtr="0" compatLnSpc="1"/>
          <a:lstStyle/>
          <a:p>
            <a:pPr algn="ctr" fontAlgn="base">
              <a:lnSpc>
                <a:spcPct val="100000"/>
              </a:lnSpc>
              <a:spcAft>
                <a:spcPct val="0"/>
              </a:spcAft>
              <a:defRPr/>
            </a:pPr>
            <a:r>
              <a:rPr lang="en-US" altLang="zh-CN" sz="6000" b="1" dirty="0">
                <a:solidFill>
                  <a:srgbClr val="881DB3"/>
                </a:solidFill>
                <a:effectLst>
                  <a:outerShdw blurRad="38100" dist="38100" dir="2700000" algn="tl">
                    <a:srgbClr val="000000"/>
                  </a:outerShdw>
                </a:effectLst>
                <a:latin typeface="+mj-ea"/>
              </a:rPr>
              <a:t>《</a:t>
            </a:r>
            <a:r>
              <a:rPr lang="zh-CN" altLang="en-US" sz="6000" b="1" dirty="0">
                <a:solidFill>
                  <a:srgbClr val="881DB3"/>
                </a:solidFill>
                <a:effectLst>
                  <a:outerShdw blurRad="38100" dist="38100" dir="2700000" algn="tl">
                    <a:srgbClr val="000000"/>
                  </a:outerShdw>
                </a:effectLst>
                <a:latin typeface="+mj-ea"/>
              </a:rPr>
              <a:t>信息对抗技术</a:t>
            </a:r>
            <a:r>
              <a:rPr lang="en-US" altLang="zh-CN" sz="6000" b="1" dirty="0">
                <a:solidFill>
                  <a:srgbClr val="881DB3"/>
                </a:solidFill>
                <a:effectLst>
                  <a:outerShdw blurRad="38100" dist="38100" dir="2700000" algn="tl">
                    <a:srgbClr val="000000"/>
                  </a:outerShdw>
                </a:effectLst>
                <a:latin typeface="+mj-ea"/>
              </a:rPr>
              <a:t>》</a:t>
            </a:r>
            <a:br>
              <a:rPr lang="en-US" altLang="zh-CN" sz="6000" b="1" dirty="0">
                <a:solidFill>
                  <a:srgbClr val="FFFF00"/>
                </a:solidFill>
                <a:effectLst>
                  <a:outerShdw blurRad="38100" dist="38100" dir="2700000" algn="tl">
                    <a:srgbClr val="000000"/>
                  </a:outerShdw>
                </a:effectLst>
              </a:rPr>
            </a:br>
            <a:r>
              <a:rPr lang="zh-CN" altLang="en-US" sz="4000" dirty="0">
                <a:solidFill>
                  <a:schemeClr val="bg1"/>
                </a:solidFill>
                <a:effectLst>
                  <a:outerShdw blurRad="38100" dist="38100" dir="2700000" algn="tl">
                    <a:srgbClr val="000000"/>
                  </a:outerShdw>
                </a:effectLst>
                <a:ea typeface="隶书" panose="02010509060101010101" pitchFamily="49" charset="-122"/>
              </a:rPr>
              <a:t>电子讲稿</a:t>
            </a:r>
            <a:endParaRPr lang="zh-CN" altLang="en-US" sz="4000" dirty="0">
              <a:solidFill>
                <a:schemeClr val="bg1"/>
              </a:solidFill>
              <a:effectLst>
                <a:outerShdw blurRad="38100" dist="38100" dir="2700000" algn="tl">
                  <a:srgbClr val="000000"/>
                </a:outerShdw>
              </a:effectLst>
              <a:ea typeface="隶书" panose="02010509060101010101" pitchFamily="49" charset="-122"/>
            </a:endParaRPr>
          </a:p>
        </p:txBody>
      </p:sp>
      <p:sp>
        <p:nvSpPr>
          <p:cNvPr id="3075" name="文本框 2053"/>
          <p:cNvSpPr txBox="1"/>
          <p:nvPr/>
        </p:nvSpPr>
        <p:spPr>
          <a:xfrm>
            <a:off x="4622801" y="3739684"/>
            <a:ext cx="3041650" cy="2430145"/>
          </a:xfrm>
          <a:prstGeom prst="rect">
            <a:avLst/>
          </a:prstGeom>
          <a:noFill/>
          <a:ln w="9525">
            <a:noFill/>
          </a:ln>
        </p:spPr>
        <p:txBody>
          <a:bodyPr wrap="none">
            <a:spAutoFit/>
          </a:bodyPr>
          <a:lstStyle/>
          <a:p>
            <a:pPr algn="ctr"/>
            <a:r>
              <a:rPr lang="zh-CN" altLang="en-US" sz="3200" dirty="0">
                <a:latin typeface="Times New Roman" panose="02020603050405020304" pitchFamily="18" charset="0"/>
                <a:ea typeface="华文行楷" panose="02010800040101010101" pitchFamily="2" charset="-122"/>
              </a:rPr>
              <a:t>李朝晖</a:t>
            </a:r>
            <a:endParaRPr lang="zh-CN" altLang="en-US" sz="3200" dirty="0">
              <a:latin typeface="Times New Roman" panose="02020603050405020304" pitchFamily="18" charset="0"/>
              <a:ea typeface="华文行楷" panose="02010800040101010101" pitchFamily="2" charset="-122"/>
            </a:endParaRPr>
          </a:p>
          <a:p>
            <a:pPr algn="ctr"/>
            <a:endParaRPr lang="zh-CN" altLang="en-US" sz="2400" dirty="0">
              <a:latin typeface="Times New Roman" panose="02020603050405020304" pitchFamily="18" charset="0"/>
            </a:endParaRPr>
          </a:p>
          <a:p>
            <a:pPr algn="ctr"/>
            <a:r>
              <a:rPr lang="zh-CN" altLang="en-US" sz="2400" dirty="0">
                <a:latin typeface="+mn-ea"/>
              </a:rPr>
              <a:t>南开大学 网安学院</a:t>
            </a:r>
            <a:endParaRPr lang="zh-CN" altLang="en-US" sz="2400" dirty="0">
              <a:latin typeface="+mn-ea"/>
            </a:endParaRPr>
          </a:p>
          <a:p>
            <a:pPr algn="ctr"/>
            <a:r>
              <a:rPr lang="en-US" altLang="zh-CN" sz="2400" smtClean="0">
                <a:latin typeface="Times New Roman" panose="02020603050405020304" pitchFamily="18" charset="0"/>
              </a:rPr>
              <a:t>2026</a:t>
            </a:r>
            <a:endParaRPr lang="en-US" altLang="zh-CN" sz="2400" dirty="0" smtClean="0">
              <a:latin typeface="Times New Roman" panose="02020603050405020304" pitchFamily="18" charset="0"/>
            </a:endParaRPr>
          </a:p>
          <a:p>
            <a:pPr algn="ctr"/>
            <a:endParaRPr lang="en-US" altLang="zh-CN" sz="2400" dirty="0">
              <a:latin typeface="Times New Roman" panose="02020603050405020304" pitchFamily="18" charset="0"/>
            </a:endParaRPr>
          </a:p>
          <a:p>
            <a:pPr algn="ctr"/>
            <a:r>
              <a:rPr lang="en-US" altLang="zh-CN" sz="2400" dirty="0" smtClean="0">
                <a:solidFill>
                  <a:schemeClr val="bg2">
                    <a:lumMod val="75000"/>
                  </a:schemeClr>
                </a:solidFill>
                <a:latin typeface="Times New Roman" panose="02020603050405020304" pitchFamily="18" charset="0"/>
              </a:rPr>
              <a:t>&lt;</a:t>
            </a:r>
            <a:r>
              <a:rPr lang="zh-CN" altLang="en-US" sz="2400" dirty="0" smtClean="0">
                <a:solidFill>
                  <a:schemeClr val="bg2">
                    <a:lumMod val="75000"/>
                  </a:schemeClr>
                </a:solidFill>
                <a:latin typeface="Times New Roman" panose="02020603050405020304" pitchFamily="18" charset="0"/>
              </a:rPr>
              <a:t>长江雨课堂 专用版</a:t>
            </a:r>
            <a:r>
              <a:rPr lang="en-US" altLang="zh-CN" sz="2400" dirty="0" smtClean="0">
                <a:solidFill>
                  <a:schemeClr val="bg2">
                    <a:lumMod val="75000"/>
                  </a:schemeClr>
                </a:solidFill>
                <a:latin typeface="Times New Roman" panose="02020603050405020304" pitchFamily="18" charset="0"/>
              </a:rPr>
              <a:t>&gt;</a:t>
            </a:r>
            <a:endParaRPr lang="zh-CN" altLang="en-US" sz="2400" dirty="0">
              <a:solidFill>
                <a:schemeClr val="bg2">
                  <a:lumMod val="75000"/>
                </a:schemeClr>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a:solidFill>
                  <a:srgbClr val="002060"/>
                </a:solidFill>
                <a:latin typeface="思源黑体 CN Heavy" panose="020B0A00000000000000" pitchFamily="34" charset="-122"/>
                <a:ea typeface="思源黑体 CN Heavy" panose="020B0A00000000000000" pitchFamily="34" charset="-122"/>
                <a:cs typeface="+mn-ea"/>
              </a:rPr>
              <a:t>信息对抗的主要样式</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文本占位符 63490"/>
          <p:cNvSpPr>
            <a:spLocks noGrp="1"/>
          </p:cNvSpPr>
          <p:nvPr>
            <p:ph idx="1"/>
          </p:nvPr>
        </p:nvSpPr>
        <p:spPr>
          <a:xfrm>
            <a:off x="1092530" y="1543794"/>
            <a:ext cx="10070275" cy="3513506"/>
          </a:xfrm>
        </p:spPr>
        <p:txBody>
          <a:bodyPr vert="horz" wrap="square" lIns="91440" tIns="45720" rIns="91440" bIns="45720" rtlCol="0" anchor="t">
            <a:noAutofit/>
          </a:bodyPr>
          <a:lstStyle/>
          <a:p>
            <a:pPr algn="just" eaLnBrk="1" hangingPunct="1">
              <a:buNone/>
            </a:pPr>
            <a:r>
              <a:rPr lang="en-US" altLang="zh-CN" sz="2800" dirty="0">
                <a:latin typeface="宋体" panose="02010600030101010101" pitchFamily="2" charset="-122"/>
              </a:rPr>
              <a:t>     </a:t>
            </a:r>
            <a:r>
              <a:rPr lang="zh-CN" altLang="en-US" sz="2800" dirty="0" smtClean="0">
                <a:solidFill>
                  <a:schemeClr val="folHlink"/>
                </a:solidFill>
                <a:latin typeface="宋体" panose="02010600030101010101" pitchFamily="2" charset="-122"/>
              </a:rPr>
              <a:t>情报</a:t>
            </a:r>
            <a:r>
              <a:rPr lang="zh-CN" altLang="en-US" sz="2800" dirty="0">
                <a:solidFill>
                  <a:schemeClr val="folHlink"/>
                </a:solidFill>
                <a:latin typeface="宋体" panose="02010600030101010101" pitchFamily="2" charset="-122"/>
              </a:rPr>
              <a:t>战</a:t>
            </a:r>
            <a:r>
              <a:rPr lang="zh-CN" altLang="en-US" sz="2800" dirty="0">
                <a:latin typeface="宋体" panose="02010600030101010101" pitchFamily="2" charset="-122"/>
              </a:rPr>
              <a:t>是信息对抗的重要类型之一。对于军事上敌对的双方，</a:t>
            </a:r>
            <a:r>
              <a:rPr lang="zh-CN" altLang="en-US" sz="2800" dirty="0">
                <a:solidFill>
                  <a:srgbClr val="00B0F0"/>
                </a:solidFill>
                <a:latin typeface="宋体" panose="02010600030101010101" pitchFamily="2" charset="-122"/>
              </a:rPr>
              <a:t>情报战的目的</a:t>
            </a:r>
            <a:r>
              <a:rPr lang="zh-CN" altLang="en-US" sz="2800" dirty="0">
                <a:latin typeface="宋体" panose="02010600030101010101" pitchFamily="2" charset="-122"/>
              </a:rPr>
              <a:t>是使己方指挥人员能够及时得到所需情报，使对方指挥人员无法得到所需情报。在现代高科技战争和未来的信息化战争中，情报战的主要目的是直接为作战行动服务，用于对敌方目标进行直接攻击和攻击后的毁伤评估。</a:t>
            </a:r>
            <a:r>
              <a:rPr lang="zh-CN" altLang="en-US" sz="2800" dirty="0"/>
              <a:t> </a:t>
            </a:r>
            <a:endParaRPr lang="zh-CN" altLang="en-US" sz="2800" dirty="0"/>
          </a:p>
        </p:txBody>
      </p:sp>
      <p:grpSp>
        <p:nvGrpSpPr>
          <p:cNvPr id="4" name="组合 3"/>
          <p:cNvGrpSpPr/>
          <p:nvPr/>
        </p:nvGrpSpPr>
        <p:grpSpPr>
          <a:xfrm>
            <a:off x="4563826" y="186956"/>
            <a:ext cx="3064348" cy="1109044"/>
            <a:chOff x="3279913" y="488294"/>
            <a:chExt cx="3064348" cy="1109044"/>
          </a:xfrm>
        </p:grpSpPr>
        <p:grpSp>
          <p:nvGrpSpPr>
            <p:cNvPr id="5" name="组合 4"/>
            <p:cNvGrpSpPr/>
            <p:nvPr/>
          </p:nvGrpSpPr>
          <p:grpSpPr>
            <a:xfrm>
              <a:off x="3279913" y="909457"/>
              <a:ext cx="3064348" cy="687881"/>
              <a:chOff x="3279913" y="909457"/>
              <a:chExt cx="3064348" cy="687881"/>
            </a:xfrm>
          </p:grpSpPr>
          <p:sp>
            <p:nvSpPr>
              <p:cNvPr id="159" name="矩形: 圆角 9"/>
              <p:cNvSpPr/>
              <p:nvPr/>
            </p:nvSpPr>
            <p:spPr>
              <a:xfrm>
                <a:off x="3279913" y="909457"/>
                <a:ext cx="306434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1415772"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情报战</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7" name="图片 64516" descr="87138988_5"/>
          <p:cNvPicPr>
            <a:picLocks noChangeAspect="1"/>
          </p:cNvPicPr>
          <p:nvPr/>
        </p:nvPicPr>
        <p:blipFill rotWithShape="1">
          <a:blip r:embed="rId1"/>
          <a:srcRect t="17459"/>
          <a:stretch>
            <a:fillRect/>
          </a:stretch>
        </p:blipFill>
        <p:spPr>
          <a:xfrm>
            <a:off x="3510179" y="2766953"/>
            <a:ext cx="5238750" cy="2107007"/>
          </a:xfrm>
          <a:prstGeom prst="rect">
            <a:avLst/>
          </a:prstGeom>
          <a:noFill/>
          <a:ln w="9525">
            <a:noFill/>
          </a:ln>
        </p:spPr>
      </p:pic>
      <p:sp>
        <p:nvSpPr>
          <p:cNvPr id="64514" name="标题 64513"/>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75780" name="文本占位符 64514"/>
          <p:cNvSpPr>
            <a:spLocks noGrp="1"/>
          </p:cNvSpPr>
          <p:nvPr>
            <p:ph idx="1"/>
          </p:nvPr>
        </p:nvSpPr>
        <p:spPr>
          <a:xfrm>
            <a:off x="1092529" y="333375"/>
            <a:ext cx="10105901" cy="4114800"/>
          </a:xfrm>
        </p:spPr>
        <p:txBody>
          <a:bodyPr vert="horz" wrap="square" lIns="91440" tIns="45720" rIns="91440" bIns="45720" rtlCol="0" anchor="t">
            <a:noAutofit/>
          </a:bodyPr>
          <a:lstStyle/>
          <a:p>
            <a:pPr algn="just"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能</a:t>
            </a:r>
            <a:r>
              <a:rPr lang="zh-CN" altLang="en-US" sz="2400" dirty="0">
                <a:latin typeface="宋体" panose="02010600030101010101" pitchFamily="2" charset="-122"/>
              </a:rPr>
              <a:t>实现这一目的的</a:t>
            </a:r>
            <a:r>
              <a:rPr lang="zh-CN" altLang="en-US" sz="2400" dirty="0">
                <a:solidFill>
                  <a:srgbClr val="00B0F0"/>
                </a:solidFill>
                <a:latin typeface="宋体" panose="02010600030101010101" pitchFamily="2" charset="-122"/>
              </a:rPr>
              <a:t>主要原因</a:t>
            </a:r>
            <a:r>
              <a:rPr lang="zh-CN" altLang="en-US" sz="2400" dirty="0">
                <a:latin typeface="宋体" panose="02010600030101010101" pitchFamily="2" charset="-122"/>
              </a:rPr>
              <a:t>是包括太空的、空中的、地面与水下的各类传感器的探测能力（包括辨别、精度、距离等）和可靠性日益提高，数量与品种的不断增加，在计算机通信网络的支持下，各类传感器可以形成庞大的分布式传感器网络，可以直接向武器的火控系统提供实时的战场态势信息。</a:t>
            </a:r>
            <a:r>
              <a:rPr lang="zh-CN" altLang="en-US" sz="2400" dirty="0"/>
              <a:t> </a:t>
            </a:r>
            <a:endParaRPr lang="zh-CN" altLang="en-US" sz="2400" dirty="0"/>
          </a:p>
        </p:txBody>
      </p:sp>
      <p:pic>
        <p:nvPicPr>
          <p:cNvPr id="64518" name="图片 64517" descr="OGC0{S~~}@1ZR9{H$9}(S)6"/>
          <p:cNvPicPr>
            <a:picLocks noChangeAspect="1"/>
          </p:cNvPicPr>
          <p:nvPr/>
        </p:nvPicPr>
        <p:blipFill>
          <a:blip r:embed="rId2"/>
          <a:stretch>
            <a:fillRect/>
          </a:stretch>
        </p:blipFill>
        <p:spPr>
          <a:xfrm>
            <a:off x="1607120" y="4952256"/>
            <a:ext cx="9144000" cy="1607994"/>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4517"/>
                                        </p:tgtEl>
                                        <p:attrNameLst>
                                          <p:attrName>style.visibility</p:attrName>
                                        </p:attrNameLst>
                                      </p:cBhvr>
                                      <p:to>
                                        <p:strVal val="visible"/>
                                      </p:to>
                                    </p:set>
                                    <p:animEffect transition="in" filter="wipe(up)">
                                      <p:cBhvr>
                                        <p:cTn id="7" dur="500"/>
                                        <p:tgtEl>
                                          <p:spTgt spid="645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4518"/>
                                        </p:tgtEl>
                                        <p:attrNameLst>
                                          <p:attrName>style.visibility</p:attrName>
                                        </p:attrNameLst>
                                      </p:cBhvr>
                                      <p:to>
                                        <p:strVal val="visible"/>
                                      </p:to>
                                    </p:set>
                                    <p:animEffect transition="in" filter="wipe(left)">
                                      <p:cBhvr>
                                        <p:cTn id="12" dur="500"/>
                                        <p:tgtEl>
                                          <p:spTgt spid="64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65537"/>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76803" name="文本占位符 65538"/>
          <p:cNvSpPr>
            <a:spLocks noGrp="1"/>
          </p:cNvSpPr>
          <p:nvPr>
            <p:ph idx="1"/>
          </p:nvPr>
        </p:nvSpPr>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solidFill>
                  <a:schemeClr val="folHlink"/>
                </a:solidFill>
                <a:latin typeface="宋体" panose="02010600030101010101" pitchFamily="2" charset="-122"/>
              </a:rPr>
              <a:t>情报</a:t>
            </a:r>
            <a:r>
              <a:rPr lang="zh-CN" altLang="en-US" sz="2800" dirty="0">
                <a:latin typeface="宋体" panose="02010600030101010101" pitchFamily="2" charset="-122"/>
              </a:rPr>
              <a:t>是通过探测、侦察、分析和了解获取的有关敌方的信息与知识，提供战场的整体态势信息，它包括战略情报、军事行动情报和军事策略情报。战场情报能力的强弱决定了能否获取战场认知的优势，即</a:t>
            </a:r>
            <a:r>
              <a:rPr lang="zh-CN" altLang="en-US" sz="2800" dirty="0">
                <a:solidFill>
                  <a:schemeClr val="folHlink"/>
                </a:solidFill>
                <a:latin typeface="宋体" panose="02010600030101010101" pitchFamily="2" charset="-122"/>
              </a:rPr>
              <a:t>战场信息优势</a:t>
            </a:r>
            <a:r>
              <a:rPr lang="zh-CN" altLang="en-US" sz="2800" dirty="0">
                <a:latin typeface="宋体" panose="02010600030101010101" pitchFamily="2" charset="-122"/>
              </a:rPr>
              <a:t>。</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文本占位符 66562"/>
          <p:cNvSpPr>
            <a:spLocks noGrp="1"/>
          </p:cNvSpPr>
          <p:nvPr>
            <p:ph idx="1"/>
          </p:nvPr>
        </p:nvSpPr>
        <p:spPr>
          <a:xfrm>
            <a:off x="1068779" y="1296000"/>
            <a:ext cx="10453340" cy="5041355"/>
          </a:xfrm>
        </p:spPr>
        <p:txBody>
          <a:bodyPr vert="horz" wrap="square" lIns="91440" tIns="45720" rIns="91440" bIns="45720" rtlCol="0" anchor="t">
            <a:noAutofit/>
          </a:bodyPr>
          <a:lstStyle/>
          <a:p>
            <a:pPr eaLnBrk="1" hangingPunct="1">
              <a:buNone/>
            </a:pPr>
            <a:r>
              <a:rPr lang="en-US" altLang="zh-CN" sz="2800" dirty="0"/>
              <a:t>1</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战场准备阶段</a:t>
            </a:r>
            <a:r>
              <a:rPr lang="zh-CN" altLang="en-US" sz="2800" dirty="0">
                <a:latin typeface="宋体" panose="02010600030101010101" pitchFamily="2" charset="-122"/>
              </a:rPr>
              <a:t>：</a:t>
            </a:r>
            <a:endParaRPr lang="zh-CN" altLang="en-US" sz="2800" dirty="0">
              <a:latin typeface="宋体" panose="02010600030101010101" pitchFamily="2" charset="-122"/>
            </a:endParaRPr>
          </a:p>
          <a:p>
            <a:pPr eaLnBrk="1" hangingPunct="1">
              <a:buClr>
                <a:srgbClr val="99FF99"/>
              </a:buClr>
              <a:buFont typeface="Wingdings" panose="05000000000000000000" pitchFamily="2" charset="2"/>
              <a:buChar char="n"/>
            </a:pPr>
            <a:r>
              <a:rPr lang="zh-CN" altLang="en-US" sz="2800" dirty="0">
                <a:latin typeface="宋体" panose="02010600030101010101" pitchFamily="2" charset="-122"/>
              </a:rPr>
              <a:t>迅速测绘地貌特征与地形，迅速生成战区电子地图；</a:t>
            </a:r>
            <a:r>
              <a:rPr lang="zh-CN" altLang="en-US" sz="2800" dirty="0"/>
              <a:t> </a:t>
            </a:r>
            <a:endParaRPr lang="zh-CN" altLang="en-US" sz="2800" dirty="0"/>
          </a:p>
          <a:p>
            <a:pPr eaLnBrk="1" hangingPunct="1">
              <a:buClr>
                <a:srgbClr val="99FF99"/>
              </a:buClr>
              <a:buFont typeface="Wingdings" panose="05000000000000000000" pitchFamily="2" charset="2"/>
              <a:buChar char="n"/>
            </a:pPr>
            <a:r>
              <a:rPr lang="zh-CN" altLang="en-US" sz="2800" dirty="0">
                <a:latin typeface="宋体" panose="02010600030101010101" pitchFamily="2" charset="-122"/>
              </a:rPr>
              <a:t>迅速绘制信息的组成结构、战斗电子命令和决策过程图；</a:t>
            </a:r>
            <a:endParaRPr lang="zh-CN" altLang="en-US" sz="2800" dirty="0">
              <a:latin typeface="宋体" panose="02010600030101010101" pitchFamily="2" charset="-122"/>
            </a:endParaRPr>
          </a:p>
          <a:p>
            <a:pPr eaLnBrk="1" hangingPunct="1">
              <a:buClr>
                <a:srgbClr val="99FF99"/>
              </a:buClr>
              <a:buFont typeface="Wingdings" panose="05000000000000000000" pitchFamily="2" charset="2"/>
              <a:buChar char="n"/>
            </a:pPr>
            <a:r>
              <a:rPr lang="zh-CN" altLang="en-US" sz="2800" dirty="0">
                <a:latin typeface="宋体" panose="02010600030101010101" pitchFamily="2" charset="-122"/>
              </a:rPr>
              <a:t>自动抽象各种物理实体特征及其计算特征支持绘制态势图；</a:t>
            </a:r>
            <a:endParaRPr lang="zh-CN" altLang="en-US" sz="2800" dirty="0">
              <a:latin typeface="宋体" panose="02010600030101010101" pitchFamily="2" charset="-122"/>
            </a:endParaRPr>
          </a:p>
          <a:p>
            <a:pPr eaLnBrk="1" hangingPunct="1">
              <a:buClr>
                <a:srgbClr val="99FF99"/>
              </a:buClr>
              <a:buFont typeface="Wingdings" panose="05000000000000000000" pitchFamily="2" charset="2"/>
              <a:buChar char="n"/>
            </a:pPr>
            <a:r>
              <a:rPr lang="zh-CN" altLang="en-US" sz="2800" dirty="0">
                <a:latin typeface="宋体" panose="02010600030101010101" pitchFamily="2" charset="-122"/>
              </a:rPr>
              <a:t>虚拟现实任务演习工具。</a:t>
            </a:r>
            <a:r>
              <a:rPr lang="zh-CN" altLang="en-US" dirty="0"/>
              <a:t> </a:t>
            </a:r>
            <a:endParaRPr lang="zh-CN" altLang="en-US" dirty="0"/>
          </a:p>
        </p:txBody>
      </p:sp>
      <p:grpSp>
        <p:nvGrpSpPr>
          <p:cNvPr id="4" name="组合 3"/>
          <p:cNvGrpSpPr/>
          <p:nvPr/>
        </p:nvGrpSpPr>
        <p:grpSpPr>
          <a:xfrm>
            <a:off x="2753548" y="373623"/>
            <a:ext cx="6684904" cy="791052"/>
            <a:chOff x="824072" y="1564267"/>
            <a:chExt cx="6684904" cy="791052"/>
          </a:xfrm>
        </p:grpSpPr>
        <p:sp>
          <p:nvSpPr>
            <p:cNvPr id="5" name="矩形: 圆角 16"/>
            <p:cNvSpPr/>
            <p:nvPr/>
          </p:nvSpPr>
          <p:spPr>
            <a:xfrm>
              <a:off x="824072" y="1740416"/>
              <a:ext cx="668490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5650906" cy="480131"/>
            </a:xfrm>
            <a:prstGeom prst="rect">
              <a:avLst/>
            </a:prstGeom>
          </p:spPr>
          <p:txBody>
            <a:bodyPr wrap="none">
              <a:spAutoFit/>
            </a:bodyPr>
            <a:lstStyle/>
            <a:p>
              <a:pPr>
                <a:lnSpc>
                  <a:spcPct val="90000"/>
                </a:lnSpc>
              </a:pPr>
              <a:r>
                <a:rPr lang="zh-CN" altLang="en-US" sz="2800" dirty="0">
                  <a:solidFill>
                    <a:schemeClr val="bg1"/>
                  </a:solidFill>
                  <a:latin typeface="+mj-ea"/>
                </a:rPr>
                <a:t>获取战场信息优势需要的技术支持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67585"/>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78851" name="文本占位符 67586"/>
          <p:cNvSpPr>
            <a:spLocks noGrp="1"/>
          </p:cNvSpPr>
          <p:nvPr>
            <p:ph idx="1"/>
          </p:nvPr>
        </p:nvSpPr>
        <p:spPr>
          <a:xfrm>
            <a:off x="1080654" y="1080000"/>
            <a:ext cx="10592790" cy="4114800"/>
          </a:xfrm>
        </p:spPr>
        <p:txBody>
          <a:bodyPr vert="horz" wrap="square" lIns="91440" tIns="45720" rIns="91440" bIns="45720" rtlCol="0" anchor="t">
            <a:noAutofit/>
          </a:bodyPr>
          <a:lstStyle/>
          <a:p>
            <a:pPr eaLnBrk="1" hangingPunct="1">
              <a:buNone/>
            </a:pPr>
            <a:r>
              <a:rPr lang="en-US" altLang="zh-CN" sz="2800" dirty="0"/>
              <a:t>2</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战场监视与分析</a:t>
            </a:r>
            <a:r>
              <a:rPr lang="zh-CN" altLang="en-US" sz="2800" dirty="0">
                <a:latin typeface="宋体" panose="02010600030101010101" pitchFamily="2" charset="-122"/>
              </a:rPr>
              <a:t>：</a:t>
            </a:r>
            <a:endParaRPr lang="zh-CN" altLang="en-US" sz="2800" dirty="0">
              <a:latin typeface="宋体" panose="02010600030101010101" pitchFamily="2" charset="-122"/>
            </a:endParaRPr>
          </a:p>
          <a:p>
            <a:pPr eaLnBrk="1" hangingPunct="1">
              <a:buClr>
                <a:srgbClr val="99FF99"/>
              </a:buClr>
              <a:buFont typeface="Wingdings" panose="05000000000000000000" pitchFamily="2" charset="2"/>
              <a:buChar char="l"/>
            </a:pPr>
            <a:r>
              <a:rPr lang="zh-CN" altLang="en-US" sz="2800" dirty="0">
                <a:latin typeface="宋体" panose="02010600030101010101" pitchFamily="2" charset="-122"/>
              </a:rPr>
              <a:t>全方位的连续监视；</a:t>
            </a:r>
            <a:endParaRPr lang="zh-CN" altLang="en-US" sz="2800" dirty="0">
              <a:latin typeface="宋体" panose="02010600030101010101" pitchFamily="2" charset="-122"/>
            </a:endParaRPr>
          </a:p>
          <a:p>
            <a:pPr eaLnBrk="1" hangingPunct="1">
              <a:buClr>
                <a:srgbClr val="99FF99"/>
              </a:buClr>
              <a:buFont typeface="Wingdings" panose="05000000000000000000" pitchFamily="2" charset="2"/>
              <a:buChar char="l"/>
            </a:pPr>
            <a:r>
              <a:rPr lang="zh-CN" altLang="en-US" sz="2800" dirty="0">
                <a:latin typeface="宋体" panose="02010600030101010101" pitchFamily="2" charset="-122"/>
              </a:rPr>
              <a:t>空间传感器；</a:t>
            </a:r>
            <a:endParaRPr lang="zh-CN" altLang="en-US" sz="2800" dirty="0">
              <a:latin typeface="宋体" panose="02010600030101010101" pitchFamily="2" charset="-122"/>
            </a:endParaRPr>
          </a:p>
          <a:p>
            <a:pPr eaLnBrk="1" hangingPunct="1">
              <a:buClr>
                <a:srgbClr val="99FF99"/>
              </a:buClr>
              <a:buFont typeface="Wingdings" panose="05000000000000000000" pitchFamily="2" charset="2"/>
              <a:buChar char="l"/>
            </a:pPr>
            <a:r>
              <a:rPr lang="zh-CN" altLang="en-US" sz="2800" dirty="0">
                <a:latin typeface="宋体" panose="02010600030101010101" pitchFamily="2" charset="-122"/>
              </a:rPr>
              <a:t>空中移动（如无人飞机）传感器（投射、续航能力、战术等）；</a:t>
            </a:r>
            <a:endParaRPr lang="zh-CN" altLang="en-US" sz="2800" dirty="0">
              <a:latin typeface="宋体" panose="02010600030101010101" pitchFamily="2" charset="-122"/>
            </a:endParaRPr>
          </a:p>
          <a:p>
            <a:pPr eaLnBrk="1" hangingPunct="1">
              <a:buClr>
                <a:srgbClr val="99FF99"/>
              </a:buClr>
              <a:buFont typeface="Wingdings" panose="05000000000000000000" pitchFamily="2" charset="2"/>
              <a:buChar char="l"/>
            </a:pPr>
            <a:r>
              <a:rPr lang="zh-CN" altLang="en-US" sz="2800" dirty="0">
                <a:latin typeface="宋体" panose="02010600030101010101" pitchFamily="2" charset="-122"/>
              </a:rPr>
              <a:t>综合管理监视信息采取；</a:t>
            </a:r>
            <a:endParaRPr lang="zh-CN" altLang="en-US" sz="2800" dirty="0">
              <a:latin typeface="宋体" panose="02010600030101010101" pitchFamily="2" charset="-122"/>
            </a:endParaRPr>
          </a:p>
          <a:p>
            <a:pPr eaLnBrk="1" hangingPunct="1">
              <a:buClr>
                <a:srgbClr val="99FF99"/>
              </a:buClr>
              <a:buFont typeface="Wingdings" panose="05000000000000000000" pitchFamily="2" charset="2"/>
              <a:buChar char="l"/>
            </a:pPr>
            <a:r>
              <a:rPr lang="zh-CN" altLang="en-US" sz="2800" dirty="0">
                <a:latin typeface="宋体" panose="02010600030101010101" pitchFamily="2" charset="-122"/>
              </a:rPr>
              <a:t>动态融合与开采全数据源，分布异构数据库集成调测等技术。</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68609"/>
          <p:cNvSpPr>
            <a:spLocks noGrp="1"/>
          </p:cNvSpPr>
          <p:nvPr>
            <p:ph type="title"/>
          </p:nvPr>
        </p:nvSpPr>
        <p:spPr>
          <a:xfrm>
            <a:off x="2209800" y="609600"/>
            <a:ext cx="7772400" cy="838200"/>
          </a:xfrm>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79875" name="文本占位符 68610"/>
          <p:cNvSpPr>
            <a:spLocks noGrp="1"/>
          </p:cNvSpPr>
          <p:nvPr>
            <p:ph idx="1"/>
          </p:nvPr>
        </p:nvSpPr>
        <p:spPr>
          <a:xfrm>
            <a:off x="1045029" y="765176"/>
            <a:ext cx="10082150" cy="5635625"/>
          </a:xfrm>
        </p:spPr>
        <p:txBody>
          <a:bodyPr vert="horz" wrap="square" lIns="91440" tIns="45720" rIns="91440" bIns="45720" rtlCol="0" anchor="t">
            <a:noAutofit/>
          </a:bodyPr>
          <a:lstStyle/>
          <a:p>
            <a:pPr algn="just" eaLnBrk="1" hangingPunct="1">
              <a:lnSpc>
                <a:spcPct val="90000"/>
              </a:lnSpc>
              <a:buNone/>
            </a:pPr>
            <a:r>
              <a:rPr lang="en-US" altLang="zh-CN" sz="2800" dirty="0"/>
              <a:t>3</a:t>
            </a:r>
            <a:r>
              <a:rPr lang="zh-CN" altLang="en-US" sz="2800" dirty="0"/>
              <a:t>、</a:t>
            </a:r>
            <a:r>
              <a:rPr lang="zh-CN" altLang="en-US" sz="2800" dirty="0">
                <a:solidFill>
                  <a:schemeClr val="folHlink"/>
                </a:solidFill>
              </a:rPr>
              <a:t>战场可视化</a:t>
            </a:r>
            <a:r>
              <a:rPr lang="zh-CN" altLang="en-US" sz="2800" dirty="0"/>
              <a:t>：</a:t>
            </a:r>
            <a:endParaRPr lang="zh-CN" altLang="en-US" sz="2800" dirty="0"/>
          </a:p>
          <a:p>
            <a:pPr algn="just" eaLnBrk="1" hangingPunct="1">
              <a:lnSpc>
                <a:spcPct val="90000"/>
              </a:lnSpc>
              <a:buClr>
                <a:srgbClr val="99FF99"/>
              </a:buClr>
              <a:buFont typeface="Wingdings" panose="05000000000000000000" pitchFamily="2" charset="2"/>
              <a:buChar char="p"/>
            </a:pPr>
            <a:r>
              <a:rPr lang="zh-CN" altLang="en-US" sz="2800" dirty="0"/>
              <a:t>迅速的空间分析、地形可视化；</a:t>
            </a:r>
            <a:endParaRPr lang="zh-CN" altLang="en-US" sz="2800" dirty="0"/>
          </a:p>
          <a:p>
            <a:pPr algn="just" eaLnBrk="1" hangingPunct="1">
              <a:lnSpc>
                <a:spcPct val="90000"/>
              </a:lnSpc>
              <a:buClr>
                <a:srgbClr val="99FF99"/>
              </a:buClr>
              <a:buFont typeface="Wingdings" panose="05000000000000000000" pitchFamily="2" charset="2"/>
              <a:buChar char="p"/>
            </a:pPr>
            <a:r>
              <a:rPr lang="zh-CN" altLang="en-US" sz="2800" dirty="0"/>
              <a:t>地理信息系统观念可视化；</a:t>
            </a:r>
            <a:endParaRPr lang="zh-CN" altLang="en-US" sz="2800" dirty="0"/>
          </a:p>
          <a:p>
            <a:pPr algn="just" eaLnBrk="1" hangingPunct="1">
              <a:lnSpc>
                <a:spcPct val="90000"/>
              </a:lnSpc>
              <a:buClr>
                <a:srgbClr val="99FF99"/>
              </a:buClr>
              <a:buFont typeface="Wingdings" panose="05000000000000000000" pitchFamily="2" charset="2"/>
              <a:buChar char="p"/>
            </a:pPr>
            <a:r>
              <a:rPr lang="zh-CN" altLang="en-US" sz="2800" dirty="0"/>
              <a:t>多媒体可视化；</a:t>
            </a:r>
            <a:endParaRPr lang="zh-CN" altLang="en-US" sz="2800" dirty="0"/>
          </a:p>
          <a:p>
            <a:pPr algn="just" eaLnBrk="1" hangingPunct="1">
              <a:lnSpc>
                <a:spcPct val="90000"/>
              </a:lnSpc>
              <a:buClr>
                <a:srgbClr val="99FF99"/>
              </a:buClr>
              <a:buFont typeface="Wingdings" panose="05000000000000000000" pitchFamily="2" charset="2"/>
              <a:buChar char="p"/>
            </a:pPr>
            <a:r>
              <a:rPr lang="zh-CN" altLang="en-US" sz="2800" dirty="0"/>
              <a:t>具有收集、提示、识别和可路由的情报机制；</a:t>
            </a:r>
            <a:endParaRPr lang="zh-CN" altLang="en-US" sz="2800" dirty="0"/>
          </a:p>
          <a:p>
            <a:pPr algn="just" eaLnBrk="1" hangingPunct="1">
              <a:lnSpc>
                <a:spcPct val="90000"/>
              </a:lnSpc>
              <a:buClr>
                <a:srgbClr val="99FF99"/>
              </a:buClr>
              <a:buFont typeface="Wingdings" panose="05000000000000000000" pitchFamily="2" charset="2"/>
              <a:buChar char="p"/>
            </a:pPr>
            <a:r>
              <a:rPr lang="zh-CN" altLang="en-US" sz="2800" dirty="0"/>
              <a:t>自然语言化的指挥与反应。</a:t>
            </a:r>
            <a:endParaRPr lang="zh-CN" altLang="en-US" sz="2800" dirty="0"/>
          </a:p>
          <a:p>
            <a:pPr eaLnBrk="1" hangingPunct="1">
              <a:lnSpc>
                <a:spcPct val="90000"/>
              </a:lnSpc>
              <a:buNone/>
            </a:pPr>
            <a:r>
              <a:rPr lang="en-US" altLang="zh-CN" sz="2800" dirty="0"/>
              <a:t>4</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战场认知态势传送</a:t>
            </a:r>
            <a:r>
              <a:rPr lang="zh-CN" altLang="en-US" sz="2800" dirty="0">
                <a:latin typeface="宋体" panose="02010600030101010101" pitchFamily="2" charset="-122"/>
              </a:rPr>
              <a:t>：</a:t>
            </a:r>
            <a:endParaRPr lang="zh-CN" altLang="en-US"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语言、语法、协议翻译自动化；</a:t>
            </a:r>
            <a:endParaRPr lang="zh-CN" altLang="en-US"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合适的多媒体分发网络；</a:t>
            </a:r>
            <a:endParaRPr lang="zh-CN" altLang="en-US"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异构协同多媒体利用；</a:t>
            </a:r>
            <a:endParaRPr lang="zh-CN" altLang="en-US"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自适应战术</a:t>
            </a:r>
            <a:r>
              <a:rPr lang="en-US" altLang="zh-CN" sz="2800" dirty="0"/>
              <a:t>/</a:t>
            </a:r>
            <a:r>
              <a:rPr lang="zh-CN" altLang="en-US" sz="2800" dirty="0">
                <a:latin typeface="宋体" panose="02010600030101010101" pitchFamily="2" charset="-122"/>
              </a:rPr>
              <a:t>移动网络。</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69633"/>
          <p:cNvSpPr>
            <a:spLocks noGrp="1"/>
          </p:cNvSpPr>
          <p:nvPr>
            <p:ph type="title"/>
          </p:nvPr>
        </p:nvSpPr>
        <p:spPr>
          <a:xfrm>
            <a:off x="2209800" y="609600"/>
            <a:ext cx="7772400" cy="609600"/>
          </a:xfrm>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80899" name="文本占位符 69634"/>
          <p:cNvSpPr>
            <a:spLocks noGrp="1"/>
          </p:cNvSpPr>
          <p:nvPr>
            <p:ph idx="1"/>
          </p:nvPr>
        </p:nvSpPr>
        <p:spPr>
          <a:xfrm>
            <a:off x="1056903" y="1362693"/>
            <a:ext cx="10105901" cy="4495800"/>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现代</a:t>
            </a:r>
            <a:r>
              <a:rPr lang="zh-CN" altLang="en-US" sz="2800" dirty="0">
                <a:latin typeface="宋体" panose="02010600030101010101" pitchFamily="2" charset="-122"/>
              </a:rPr>
              <a:t>的情报信息系统提供情报在</a:t>
            </a:r>
            <a:r>
              <a:rPr lang="zh-CN" altLang="en-US" sz="2800" dirty="0">
                <a:solidFill>
                  <a:srgbClr val="00B0F0"/>
                </a:solidFill>
                <a:latin typeface="宋体" panose="02010600030101010101" pitchFamily="2" charset="-122"/>
              </a:rPr>
              <a:t>精确性</a:t>
            </a:r>
            <a:r>
              <a:rPr lang="zh-CN" altLang="en-US" sz="2800" dirty="0">
                <a:latin typeface="宋体" panose="02010600030101010101" pitchFamily="2" charset="-122"/>
              </a:rPr>
              <a:t>、</a:t>
            </a:r>
            <a:r>
              <a:rPr lang="zh-CN" altLang="en-US" sz="2800" dirty="0">
                <a:solidFill>
                  <a:srgbClr val="00B0F0"/>
                </a:solidFill>
                <a:latin typeface="宋体" panose="02010600030101010101" pitchFamily="2" charset="-122"/>
              </a:rPr>
              <a:t>准确性</a:t>
            </a:r>
            <a:r>
              <a:rPr lang="zh-CN" altLang="en-US" sz="2800" dirty="0">
                <a:latin typeface="宋体" panose="02010600030101010101" pitchFamily="2" charset="-122"/>
              </a:rPr>
              <a:t>和</a:t>
            </a:r>
            <a:r>
              <a:rPr lang="zh-CN" altLang="en-US" sz="2800" dirty="0">
                <a:solidFill>
                  <a:srgbClr val="00B0F0"/>
                </a:solidFill>
                <a:latin typeface="宋体" panose="02010600030101010101" pitchFamily="2" charset="-122"/>
              </a:rPr>
              <a:t>详细程度</a:t>
            </a:r>
            <a:r>
              <a:rPr lang="zh-CN" altLang="en-US" sz="2800" dirty="0">
                <a:latin typeface="宋体" panose="02010600030101010101" pitchFamily="2" charset="-122"/>
              </a:rPr>
              <a:t>方面已经大大超过以往的系统，现在战场指挥官通过己方的系统可以观察敌方装甲部队在战场的活动情况，并能精确测定每辆坦克的位置；在战场网络系统的支持下，战场感知能力</a:t>
            </a:r>
            <a:r>
              <a:rPr lang="zh-CN" altLang="en-US" sz="2800" dirty="0">
                <a:solidFill>
                  <a:srgbClr val="00B0F0"/>
                </a:solidFill>
                <a:latin typeface="宋体" panose="02010600030101010101" pitchFamily="2" charset="-122"/>
              </a:rPr>
              <a:t>几乎接近实时程度</a:t>
            </a:r>
            <a:r>
              <a:rPr lang="zh-CN" altLang="en-US" sz="2800" dirty="0">
                <a:latin typeface="宋体" panose="02010600030101010101" pitchFamily="2" charset="-122"/>
              </a:rPr>
              <a:t>，据美军数字化部队在上个世纪</a:t>
            </a:r>
            <a:r>
              <a:rPr lang="en-US" altLang="zh-CN" sz="2800" dirty="0"/>
              <a:t>90</a:t>
            </a:r>
            <a:r>
              <a:rPr lang="zh-CN" altLang="en-US" sz="2800" dirty="0">
                <a:latin typeface="宋体" panose="02010600030101010101" pitchFamily="2" charset="-122"/>
              </a:rPr>
              <a:t>年代末的实验数据表明，指挥员知晓战场态势变化的滞后时间仅为</a:t>
            </a:r>
            <a:r>
              <a:rPr lang="en-US" altLang="zh-CN" sz="2800" dirty="0"/>
              <a:t>9~13</a:t>
            </a:r>
            <a:r>
              <a:rPr lang="zh-CN" altLang="en-US" sz="2800" dirty="0">
                <a:latin typeface="宋体" panose="02010600030101010101" pitchFamily="2" charset="-122"/>
              </a:rPr>
              <a:t>秒左右，因而可以及时组织实施准确的打击。</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70657"/>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81923" name="文本占位符 70658"/>
          <p:cNvSpPr>
            <a:spLocks noGrp="1"/>
          </p:cNvSpPr>
          <p:nvPr>
            <p:ph idx="1"/>
          </p:nvPr>
        </p:nvSpPr>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现代</a:t>
            </a:r>
            <a:r>
              <a:rPr lang="zh-CN" altLang="en-US" sz="2400" dirty="0">
                <a:latin typeface="宋体" panose="02010600030101010101" pitchFamily="2" charset="-122"/>
              </a:rPr>
              <a:t>的情报作用已能够从</a:t>
            </a:r>
            <a:r>
              <a:rPr lang="zh-CN" altLang="en-US" sz="2400" dirty="0">
                <a:solidFill>
                  <a:srgbClr val="00B0F0"/>
                </a:solidFill>
                <a:latin typeface="宋体" panose="02010600030101010101" pitchFamily="2" charset="-122"/>
              </a:rPr>
              <a:t>准备作战</a:t>
            </a:r>
            <a:r>
              <a:rPr lang="zh-CN" altLang="en-US" sz="2400" dirty="0">
                <a:latin typeface="宋体" panose="02010600030101010101" pitchFamily="2" charset="-122"/>
              </a:rPr>
              <a:t>变为</a:t>
            </a:r>
            <a:r>
              <a:rPr lang="zh-CN" altLang="en-US" sz="2400" dirty="0">
                <a:solidFill>
                  <a:srgbClr val="00B0F0"/>
                </a:solidFill>
                <a:latin typeface="宋体" panose="02010600030101010101" pitchFamily="2" charset="-122"/>
              </a:rPr>
              <a:t>获取战场信息优势</a:t>
            </a:r>
            <a:r>
              <a:rPr lang="zh-CN" altLang="en-US" sz="2400" dirty="0">
                <a:latin typeface="宋体" panose="02010600030101010101" pitchFamily="2" charset="-122"/>
              </a:rPr>
              <a:t>的基础支持手段，情报的主要使用对象已由已高、中级指挥员为主，转向了高、中、低级指挥员和武器操作人员共享，并促进形成了从态势感知到武器平台</a:t>
            </a:r>
            <a:r>
              <a:rPr lang="zh-CN" altLang="en-US" sz="2400" dirty="0">
                <a:solidFill>
                  <a:srgbClr val="00B0F0"/>
                </a:solidFill>
                <a:latin typeface="宋体" panose="02010600030101010101" pitchFamily="2" charset="-122"/>
              </a:rPr>
              <a:t>近实时响应</a:t>
            </a:r>
            <a:r>
              <a:rPr lang="zh-CN" altLang="en-US" sz="2400" dirty="0">
                <a:latin typeface="宋体" panose="02010600030101010101" pitchFamily="2" charset="-122"/>
              </a:rPr>
              <a:t>的作战能力。</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71681"/>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82947" name="文本占位符 71682"/>
          <p:cNvSpPr>
            <a:spLocks noGrp="1"/>
          </p:cNvSpPr>
          <p:nvPr>
            <p:ph idx="1"/>
          </p:nvPr>
        </p:nvSpPr>
        <p:spPr>
          <a:xfrm>
            <a:off x="1104405" y="1341438"/>
            <a:ext cx="9963398" cy="4754562"/>
          </a:xfrm>
        </p:spPr>
        <p:txBody>
          <a:bodyPr vert="horz" wrap="square" lIns="91440" tIns="45720" rIns="91440" bIns="45720" rtlCol="0" anchor="t">
            <a:noAutofit/>
          </a:bodyPr>
          <a:lstStyle/>
          <a:p>
            <a:pPr eaLnBrk="1" hangingPunct="1">
              <a:lnSpc>
                <a:spcPct val="90000"/>
              </a:lnSpc>
              <a:buNone/>
            </a:pPr>
            <a:r>
              <a:rPr lang="en-US" altLang="zh-CN" sz="2800" dirty="0">
                <a:latin typeface="宋体" panose="02010600030101010101" pitchFamily="2" charset="-122"/>
              </a:rPr>
              <a:t>     </a:t>
            </a:r>
            <a:r>
              <a:rPr lang="zh-CN" altLang="en-US" sz="2800" dirty="0" smtClean="0">
                <a:latin typeface="宋体" panose="02010600030101010101" pitchFamily="2" charset="-122"/>
              </a:rPr>
              <a:t>未来</a:t>
            </a:r>
            <a:r>
              <a:rPr lang="zh-CN" altLang="en-US" sz="2800" dirty="0">
                <a:latin typeface="宋体" panose="02010600030101010101" pitchFamily="2" charset="-122"/>
              </a:rPr>
              <a:t>的主要情报收集工具是分布在整个战场空间的</a:t>
            </a:r>
            <a:r>
              <a:rPr lang="zh-CN" altLang="en-US" sz="2800" dirty="0">
                <a:solidFill>
                  <a:srgbClr val="00B0F0"/>
                </a:solidFill>
                <a:latin typeface="宋体" panose="02010600030101010101" pitchFamily="2" charset="-122"/>
              </a:rPr>
              <a:t>各种探测器</a:t>
            </a:r>
            <a:r>
              <a:rPr lang="zh-CN" altLang="en-US" sz="2800" dirty="0">
                <a:latin typeface="宋体" panose="02010600030101010101" pitchFamily="2" charset="-122"/>
              </a:rPr>
              <a:t>，其中包括：</a:t>
            </a:r>
            <a:endParaRPr lang="zh-CN" altLang="en-US"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超远距离的太空传感器，</a:t>
            </a:r>
            <a:endParaRPr lang="zh-CN" altLang="en-US"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远距离的陆地与空中探测器（如侦察、预警及无人飞机、地面远程雷达等），</a:t>
            </a:r>
            <a:endParaRPr lang="zh-CN" altLang="en-US"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固定探测器（如声学探测器、重力探测器、生化探测器等），</a:t>
            </a:r>
            <a:endParaRPr lang="zh-CN" altLang="en-US"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武器探测器（如红外雷达、反射雷达和测距雷达）</a:t>
            </a:r>
            <a:r>
              <a:rPr lang="en-US" altLang="zh-CN" sz="2800" dirty="0">
                <a:latin typeface="宋体" panose="02010600030101010101" pitchFamily="2" charset="-122"/>
              </a:rPr>
              <a:t>,</a:t>
            </a:r>
            <a:endParaRPr lang="en-US" altLang="zh-CN" sz="2800" dirty="0">
              <a:latin typeface="宋体" panose="02010600030101010101" pitchFamily="2" charset="-122"/>
            </a:endParaRPr>
          </a:p>
          <a:p>
            <a:pPr eaLnBrk="1" hangingPunct="1">
              <a:lnSpc>
                <a:spcPct val="90000"/>
              </a:lnSpc>
              <a:buClr>
                <a:srgbClr val="99FF99"/>
              </a:buClr>
              <a:buFont typeface="Wingdings" panose="05000000000000000000" pitchFamily="2" charset="2"/>
              <a:buChar char="u"/>
            </a:pPr>
            <a:r>
              <a:rPr lang="zh-CN" altLang="en-US" sz="2800" dirty="0">
                <a:latin typeface="宋体" panose="02010600030101010101" pitchFamily="2" charset="-122"/>
              </a:rPr>
              <a:t>各种无源探测器等。</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72705"/>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83971" name="文本占位符 72706"/>
          <p:cNvSpPr>
            <a:spLocks noGrp="1"/>
          </p:cNvSpPr>
          <p:nvPr>
            <p:ph idx="1"/>
          </p:nvPr>
        </p:nvSpPr>
        <p:spPr>
          <a:xfrm>
            <a:off x="1140031" y="1341438"/>
            <a:ext cx="10022774" cy="4114800"/>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solidFill>
                  <a:srgbClr val="00B0F0"/>
                </a:solidFill>
                <a:latin typeface="宋体" panose="02010600030101010101" pitchFamily="2" charset="-122"/>
              </a:rPr>
              <a:t>各</a:t>
            </a:r>
            <a:r>
              <a:rPr lang="zh-CN" altLang="en-US" sz="2800" dirty="0">
                <a:solidFill>
                  <a:srgbClr val="00B0F0"/>
                </a:solidFill>
                <a:latin typeface="宋体" panose="02010600030101010101" pitchFamily="2" charset="-122"/>
              </a:rPr>
              <a:t>类传感器组网</a:t>
            </a:r>
            <a:r>
              <a:rPr lang="zh-CN" altLang="en-US" sz="2800" dirty="0">
                <a:latin typeface="宋体" panose="02010600030101010101" pitchFamily="2" charset="-122"/>
              </a:rPr>
              <a:t>和</a:t>
            </a:r>
            <a:r>
              <a:rPr lang="zh-CN" altLang="en-US" sz="2800" dirty="0">
                <a:solidFill>
                  <a:srgbClr val="00B0F0"/>
                </a:solidFill>
                <a:latin typeface="宋体" panose="02010600030101010101" pitchFamily="2" charset="-122"/>
              </a:rPr>
              <a:t>异构情报信息源的数据融合</a:t>
            </a:r>
            <a:r>
              <a:rPr lang="zh-CN" altLang="en-US" sz="2800" dirty="0">
                <a:latin typeface="宋体" panose="02010600030101010101" pitchFamily="2" charset="-122"/>
              </a:rPr>
              <a:t>已成为现代情报系统的重要特色，战略传感器网网络和战术传感器网络的结合，已有效地提高了情报的精确覆盖范围。目前正在研究的</a:t>
            </a:r>
            <a:r>
              <a:rPr lang="en-US" altLang="zh-CN" sz="2800" dirty="0"/>
              <a:t>Ad hoc</a:t>
            </a:r>
            <a:r>
              <a:rPr lang="zh-CN" altLang="en-US" sz="2800" dirty="0">
                <a:latin typeface="宋体" panose="02010600030101010101" pitchFamily="2" charset="-122"/>
              </a:rPr>
              <a:t>网络技术支持的</a:t>
            </a:r>
            <a:r>
              <a:rPr lang="zh-CN" altLang="en-US" sz="2800" dirty="0">
                <a:solidFill>
                  <a:schemeClr val="folHlink"/>
                </a:solidFill>
                <a:latin typeface="宋体" panose="02010600030101010101" pitchFamily="2" charset="-122"/>
              </a:rPr>
              <a:t>无线传感器网络</a:t>
            </a:r>
            <a:r>
              <a:rPr lang="zh-CN" altLang="en-US" sz="2800" dirty="0">
                <a:latin typeface="宋体" panose="02010600030101010101" pitchFamily="2" charset="-122"/>
              </a:rPr>
              <a:t>，是具有随意布撒、自组织和网络自逾能力的战术情报手段，在未来情报战中将发挥重要作用。</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73729"/>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84995" name="文本占位符 73730"/>
          <p:cNvSpPr>
            <a:spLocks noGrp="1"/>
          </p:cNvSpPr>
          <p:nvPr>
            <p:ph idx="1"/>
          </p:nvPr>
        </p:nvSpPr>
        <p:spPr>
          <a:xfrm>
            <a:off x="1389413" y="1268414"/>
            <a:ext cx="9714016" cy="4827587"/>
          </a:xfrm>
        </p:spPr>
        <p:txBody>
          <a:bodyPr vert="horz" wrap="square" lIns="91440" tIns="45720" rIns="91440" bIns="45720" rtlCol="0" anchor="t">
            <a:noAutofit/>
          </a:bodyPr>
          <a:lstStyle/>
          <a:p>
            <a:pPr eaLnBrk="1" hangingPunct="1">
              <a:lnSpc>
                <a:spcPct val="900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情报</a:t>
            </a:r>
            <a:r>
              <a:rPr lang="zh-CN" altLang="en-US" sz="2400" dirty="0">
                <a:latin typeface="宋体" panose="02010600030101010101" pitchFamily="2" charset="-122"/>
              </a:rPr>
              <a:t>战又分为</a:t>
            </a:r>
            <a:r>
              <a:rPr lang="zh-CN" altLang="en-US" sz="2400" dirty="0">
                <a:solidFill>
                  <a:schemeClr val="folHlink"/>
                </a:solidFill>
                <a:latin typeface="宋体" panose="02010600030101010101" pitchFamily="2" charset="-122"/>
              </a:rPr>
              <a:t>进攻性</a:t>
            </a:r>
            <a:r>
              <a:rPr lang="zh-CN" altLang="en-US" sz="2400" dirty="0">
                <a:latin typeface="宋体" panose="02010600030101010101" pitchFamily="2" charset="-122"/>
              </a:rPr>
              <a:t>和</a:t>
            </a:r>
            <a:r>
              <a:rPr lang="zh-CN" altLang="en-US" sz="2400" dirty="0">
                <a:solidFill>
                  <a:schemeClr val="folHlink"/>
                </a:solidFill>
                <a:latin typeface="宋体" panose="02010600030101010101" pitchFamily="2" charset="-122"/>
              </a:rPr>
              <a:t>防御性</a:t>
            </a:r>
            <a:r>
              <a:rPr lang="zh-CN" altLang="en-US" sz="2400" dirty="0">
                <a:latin typeface="宋体" panose="02010600030101010101" pitchFamily="2" charset="-122"/>
              </a:rPr>
              <a:t>情报战两类，其中：</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n"/>
            </a:pPr>
            <a:r>
              <a:rPr lang="zh-CN" altLang="en-US" sz="2400" dirty="0">
                <a:solidFill>
                  <a:schemeClr val="folHlink"/>
                </a:solidFill>
                <a:latin typeface="宋体" panose="02010600030101010101" pitchFamily="2" charset="-122"/>
              </a:rPr>
              <a:t>进攻性情报战</a:t>
            </a:r>
            <a:r>
              <a:rPr lang="zh-CN" altLang="en-US" sz="2400" dirty="0">
                <a:latin typeface="宋体" panose="02010600030101010101" pitchFamily="2" charset="-122"/>
              </a:rPr>
              <a:t>主要是利用具有各种有效作用距离和分辨率的</a:t>
            </a:r>
            <a:r>
              <a:rPr lang="zh-CN" altLang="en-US" sz="2400" dirty="0">
                <a:solidFill>
                  <a:srgbClr val="00B0F0"/>
                </a:solidFill>
                <a:latin typeface="宋体" panose="02010600030101010101" pitchFamily="2" charset="-122"/>
              </a:rPr>
              <a:t>探测器</a:t>
            </a:r>
            <a:r>
              <a:rPr lang="zh-CN" altLang="en-US" sz="2400" dirty="0">
                <a:latin typeface="宋体" panose="02010600030101010101" pitchFamily="2" charset="-122"/>
              </a:rPr>
              <a:t>，实时地获取、传输和利用情报信息；</a:t>
            </a:r>
            <a:endParaRPr lang="zh-CN" altLang="en-US" sz="2400" dirty="0">
              <a:latin typeface="宋体" panose="02010600030101010101" pitchFamily="2" charset="-122"/>
            </a:endParaRPr>
          </a:p>
          <a:p>
            <a:pPr eaLnBrk="1" hangingPunct="1">
              <a:lnSpc>
                <a:spcPct val="90000"/>
              </a:lnSpc>
              <a:buClr>
                <a:srgbClr val="CCFFCC"/>
              </a:buClr>
              <a:buFont typeface="Wingdings" panose="05000000000000000000" pitchFamily="2" charset="2"/>
              <a:buChar char="n"/>
            </a:pPr>
            <a:r>
              <a:rPr lang="zh-CN" altLang="en-US" sz="2400" dirty="0">
                <a:solidFill>
                  <a:schemeClr val="folHlink"/>
                </a:solidFill>
                <a:latin typeface="宋体" panose="02010600030101010101" pitchFamily="2" charset="-122"/>
              </a:rPr>
              <a:t>防御性情报战</a:t>
            </a:r>
            <a:r>
              <a:rPr lang="zh-CN" altLang="en-US" sz="2400" dirty="0">
                <a:latin typeface="宋体" panose="02010600030101010101" pitchFamily="2" charset="-122"/>
              </a:rPr>
              <a:t>包括两方面：</a:t>
            </a:r>
            <a:endParaRPr lang="zh-CN" altLang="en-US" sz="2400" dirty="0">
              <a:latin typeface="宋体" panose="02010600030101010101" pitchFamily="2" charset="-122"/>
            </a:endParaRPr>
          </a:p>
          <a:p>
            <a:pPr lvl="1" eaLnBrk="1" hangingPunct="1">
              <a:lnSpc>
                <a:spcPct val="90000"/>
              </a:lnSpc>
              <a:buClr>
                <a:srgbClr val="CCFFCC"/>
              </a:buClr>
              <a:buFont typeface="Wingdings" panose="05000000000000000000" pitchFamily="2" charset="2"/>
              <a:buChar char="Ø"/>
            </a:pPr>
            <a:r>
              <a:rPr lang="zh-CN" altLang="en-US" sz="2400" dirty="0">
                <a:latin typeface="宋体" panose="02010600030101010101" pitchFamily="2" charset="-122"/>
              </a:rPr>
              <a:t>一是施放烟幕、建立电子屏障、吸波涂料或保持无线电静默等隐身、伪装、欺骗等措施，防止被敌人侦察发现，</a:t>
            </a:r>
            <a:endParaRPr lang="zh-CN" altLang="en-US" sz="2400" dirty="0">
              <a:latin typeface="宋体" panose="02010600030101010101" pitchFamily="2" charset="-122"/>
            </a:endParaRPr>
          </a:p>
          <a:p>
            <a:pPr lvl="1" eaLnBrk="1" hangingPunct="1">
              <a:lnSpc>
                <a:spcPct val="90000"/>
              </a:lnSpc>
              <a:buClr>
                <a:srgbClr val="CCFFCC"/>
              </a:buClr>
              <a:buFont typeface="Wingdings" panose="05000000000000000000" pitchFamily="2" charset="2"/>
              <a:buChar char="Ø"/>
            </a:pPr>
            <a:r>
              <a:rPr lang="zh-CN" altLang="en-US" sz="2400" dirty="0">
                <a:latin typeface="宋体" panose="02010600030101010101" pitchFamily="2" charset="-122"/>
              </a:rPr>
              <a:t>二是采用主动防御手段对敌情报系统实施攻击，使其失灵。</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文本占位符 74754"/>
          <p:cNvSpPr>
            <a:spLocks noGrp="1"/>
          </p:cNvSpPr>
          <p:nvPr>
            <p:ph idx="1"/>
          </p:nvPr>
        </p:nvSpPr>
        <p:spPr>
          <a:xfrm>
            <a:off x="1073644" y="1889768"/>
            <a:ext cx="10065411" cy="3204748"/>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solidFill>
                  <a:schemeClr val="folHlink"/>
                </a:solidFill>
                <a:latin typeface="宋体" panose="02010600030101010101" pitchFamily="2" charset="-122"/>
              </a:rPr>
              <a:t>指挥</a:t>
            </a:r>
            <a:r>
              <a:rPr lang="zh-CN" altLang="en-US" sz="2800" dirty="0">
                <a:solidFill>
                  <a:schemeClr val="folHlink"/>
                </a:solidFill>
                <a:latin typeface="宋体" panose="02010600030101010101" pitchFamily="2" charset="-122"/>
              </a:rPr>
              <a:t>控制战</a:t>
            </a:r>
            <a:r>
              <a:rPr lang="zh-CN" altLang="en-US" sz="2800" dirty="0">
                <a:latin typeface="宋体" panose="02010600030101010101" pitchFamily="2" charset="-122"/>
              </a:rPr>
              <a:t>是信息战的首要作战样式，也是联合作战中的必要作战样式。在旧式的作战样式中，集中兵力消灭敌人的有生力量和作战装备是主要的作战目的，把敌人的作战部队基本消灭了，战争也就胜利了。</a:t>
            </a:r>
            <a:r>
              <a:rPr lang="zh-CN" altLang="en-US" sz="2800" dirty="0"/>
              <a:t> </a:t>
            </a:r>
            <a:endParaRPr lang="zh-CN" altLang="en-US" sz="2800" dirty="0"/>
          </a:p>
        </p:txBody>
      </p:sp>
      <p:grpSp>
        <p:nvGrpSpPr>
          <p:cNvPr id="4" name="组合 3"/>
          <p:cNvGrpSpPr/>
          <p:nvPr/>
        </p:nvGrpSpPr>
        <p:grpSpPr>
          <a:xfrm>
            <a:off x="4177878" y="186956"/>
            <a:ext cx="3836244" cy="1109044"/>
            <a:chOff x="3279913" y="488294"/>
            <a:chExt cx="3836244" cy="1109044"/>
          </a:xfrm>
        </p:grpSpPr>
        <p:grpSp>
          <p:nvGrpSpPr>
            <p:cNvPr id="5" name="组合 4"/>
            <p:cNvGrpSpPr/>
            <p:nvPr/>
          </p:nvGrpSpPr>
          <p:grpSpPr>
            <a:xfrm>
              <a:off x="3279913" y="909457"/>
              <a:ext cx="3836244" cy="687881"/>
              <a:chOff x="3279913" y="909457"/>
              <a:chExt cx="3836244" cy="687881"/>
            </a:xfrm>
          </p:grpSpPr>
          <p:sp>
            <p:nvSpPr>
              <p:cNvPr id="159" name="矩形: 圆角 9"/>
              <p:cNvSpPr/>
              <p:nvPr/>
            </p:nvSpPr>
            <p:spPr>
              <a:xfrm>
                <a:off x="3279913" y="909457"/>
                <a:ext cx="3836244"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2236510"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指挥控制战</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75777"/>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87043" name="文本占位符 75778"/>
          <p:cNvSpPr>
            <a:spLocks noGrp="1"/>
          </p:cNvSpPr>
          <p:nvPr>
            <p:ph idx="1"/>
          </p:nvPr>
        </p:nvSpPr>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但</a:t>
            </a:r>
            <a:r>
              <a:rPr lang="zh-CN" altLang="en-US" sz="2800" dirty="0">
                <a:latin typeface="宋体" panose="02010600030101010101" pitchFamily="2" charset="-122"/>
              </a:rPr>
              <a:t>自上个世纪</a:t>
            </a:r>
            <a:r>
              <a:rPr lang="en-US" altLang="zh-CN" sz="2800" dirty="0"/>
              <a:t>90</a:t>
            </a:r>
            <a:r>
              <a:rPr lang="zh-CN" altLang="en-US" sz="2800" dirty="0">
                <a:latin typeface="宋体" panose="02010600030101010101" pitchFamily="2" charset="-122"/>
              </a:rPr>
              <a:t>年代的海湾战争后，这一战争的观念发生了根本的改变，美军首先针对伊拉克军队的</a:t>
            </a:r>
            <a:r>
              <a:rPr lang="zh-CN" altLang="en-US" sz="2800" dirty="0">
                <a:solidFill>
                  <a:srgbClr val="00B0F0"/>
                </a:solidFill>
                <a:latin typeface="宋体" panose="02010600030101010101" pitchFamily="2" charset="-122"/>
              </a:rPr>
              <a:t>指挥体系</a:t>
            </a:r>
            <a:r>
              <a:rPr lang="zh-CN" altLang="en-US" sz="2800" dirty="0">
                <a:latin typeface="宋体" panose="02010600030101010101" pitchFamily="2" charset="-122"/>
              </a:rPr>
              <a:t>开战，并一举瘫痪了伊军的指挥控制系统，使伊军首脑机关失去了用兵能力，最后只有承认失败。从那以后，瘫痪敌人</a:t>
            </a:r>
            <a:r>
              <a:rPr lang="zh-CN" altLang="en-US" sz="2800" dirty="0">
                <a:solidFill>
                  <a:srgbClr val="00B0F0"/>
                </a:solidFill>
                <a:latin typeface="宋体" panose="02010600030101010101" pitchFamily="2" charset="-122"/>
              </a:rPr>
              <a:t>首脑机关</a:t>
            </a:r>
            <a:r>
              <a:rPr lang="zh-CN" altLang="en-US" sz="2800" dirty="0">
                <a:latin typeface="宋体" panose="02010600030101010101" pitchFamily="2" charset="-122"/>
              </a:rPr>
              <a:t>，实施</a:t>
            </a:r>
            <a:r>
              <a:rPr lang="zh-CN" altLang="en-US" sz="2800" dirty="0">
                <a:solidFill>
                  <a:schemeClr val="folHlink"/>
                </a:solidFill>
                <a:latin typeface="宋体" panose="02010600030101010101" pitchFamily="2" charset="-122"/>
              </a:rPr>
              <a:t>“斩首”战略与战术</a:t>
            </a:r>
            <a:r>
              <a:rPr lang="zh-CN" altLang="en-US" sz="2800" dirty="0">
                <a:latin typeface="宋体" panose="02010600030101010101" pitchFamily="2" charset="-122"/>
              </a:rPr>
              <a:t>成为战争首选样式。</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文本占位符 76802"/>
          <p:cNvSpPr>
            <a:spLocks noGrp="1"/>
          </p:cNvSpPr>
          <p:nvPr>
            <p:ph idx="1"/>
          </p:nvPr>
        </p:nvSpPr>
        <p:spPr>
          <a:xfrm>
            <a:off x="1068779" y="1296000"/>
            <a:ext cx="10082151" cy="5041355"/>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solidFill>
                  <a:schemeClr val="folHlink"/>
                </a:solidFill>
                <a:latin typeface="宋体" panose="02010600030101010101" pitchFamily="2" charset="-122"/>
              </a:rPr>
              <a:t>指挥</a:t>
            </a:r>
            <a:r>
              <a:rPr lang="zh-CN" altLang="en-US" sz="2800" dirty="0">
                <a:solidFill>
                  <a:schemeClr val="folHlink"/>
                </a:solidFill>
                <a:latin typeface="宋体" panose="02010600030101010101" pitchFamily="2" charset="-122"/>
              </a:rPr>
              <a:t>控制战的定义</a:t>
            </a:r>
            <a:r>
              <a:rPr lang="zh-CN" altLang="en-US" sz="2800" dirty="0">
                <a:latin typeface="宋体" panose="02010600030101010101" pitchFamily="2" charset="-122"/>
              </a:rPr>
              <a:t>是，在情报信息系统的支持下，综合利用</a:t>
            </a:r>
            <a:r>
              <a:rPr lang="zh-CN" altLang="en-US" sz="2800" dirty="0">
                <a:solidFill>
                  <a:srgbClr val="00B0F0"/>
                </a:solidFill>
                <a:latin typeface="宋体" panose="02010600030101010101" pitchFamily="2" charset="-122"/>
              </a:rPr>
              <a:t>作战保密、军事欺骗、心理战、电子战和硬摧毁</a:t>
            </a:r>
            <a:r>
              <a:rPr lang="zh-CN" altLang="en-US" sz="2800" dirty="0">
                <a:latin typeface="宋体" panose="02010600030101010101" pitchFamily="2" charset="-122"/>
              </a:rPr>
              <a:t>等手段，在使</a:t>
            </a:r>
            <a:r>
              <a:rPr lang="zh-CN" altLang="en-US" sz="2800" dirty="0">
                <a:solidFill>
                  <a:schemeClr val="accent1"/>
                </a:solidFill>
                <a:latin typeface="宋体" panose="02010600030101010101" pitchFamily="2" charset="-122"/>
              </a:rPr>
              <a:t>己方的指挥与控制能力</a:t>
            </a:r>
            <a:r>
              <a:rPr lang="zh-CN" altLang="en-US" sz="2800" dirty="0">
                <a:latin typeface="宋体" panose="02010600030101010101" pitchFamily="2" charset="-122"/>
              </a:rPr>
              <a:t>得到严密保护的同时，使敌方得不到信息，并影响、削弱或摧毁</a:t>
            </a:r>
            <a:r>
              <a:rPr lang="zh-CN" altLang="en-US" sz="2800" dirty="0">
                <a:solidFill>
                  <a:schemeClr val="accent1"/>
                </a:solidFill>
                <a:latin typeface="宋体" panose="02010600030101010101" pitchFamily="2" charset="-122"/>
              </a:rPr>
              <a:t>敌方的指挥与控制能力</a:t>
            </a:r>
            <a:r>
              <a:rPr lang="zh-CN" altLang="en-US" sz="2800" dirty="0">
                <a:latin typeface="宋体" panose="02010600030101010101" pitchFamily="2" charset="-122"/>
              </a:rPr>
              <a:t>。</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77825"/>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89091" name="文本占位符 77826"/>
          <p:cNvSpPr>
            <a:spLocks noGrp="1"/>
          </p:cNvSpPr>
          <p:nvPr>
            <p:ph idx="1"/>
          </p:nvPr>
        </p:nvSpPr>
        <p:spPr>
          <a:xfrm>
            <a:off x="1389413" y="1557338"/>
            <a:ext cx="9440883" cy="4114800"/>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上述</a:t>
            </a:r>
            <a:r>
              <a:rPr lang="zh-CN" altLang="en-US" sz="2800" dirty="0">
                <a:latin typeface="宋体" panose="02010600030101010101" pitchFamily="2" charset="-122"/>
              </a:rPr>
              <a:t>五种手段是指挥控制战的组成部分或构成要素，指挥控制战的实施基础是建立功能强大的</a:t>
            </a:r>
            <a:r>
              <a:rPr lang="en-US" altLang="zh-CN" sz="2800" dirty="0">
                <a:solidFill>
                  <a:srgbClr val="00B0F0"/>
                </a:solidFill>
              </a:rPr>
              <a:t>C</a:t>
            </a:r>
            <a:r>
              <a:rPr lang="en-US" altLang="zh-CN" sz="2800" baseline="30000" dirty="0">
                <a:solidFill>
                  <a:srgbClr val="00B0F0"/>
                </a:solidFill>
              </a:rPr>
              <a:t>4</a:t>
            </a:r>
            <a:r>
              <a:rPr lang="en-US" altLang="zh-CN" sz="2800" dirty="0">
                <a:solidFill>
                  <a:srgbClr val="00B0F0"/>
                </a:solidFill>
              </a:rPr>
              <a:t>ISR</a:t>
            </a:r>
            <a:r>
              <a:rPr lang="zh-CN" altLang="en-US" sz="2800" dirty="0">
                <a:solidFill>
                  <a:srgbClr val="00B0F0"/>
                </a:solidFill>
                <a:latin typeface="宋体" panose="02010600030101010101" pitchFamily="2" charset="-122"/>
              </a:rPr>
              <a:t>（指挥自动化）系统</a:t>
            </a:r>
            <a:r>
              <a:rPr lang="zh-CN" altLang="en-US" sz="2800" dirty="0">
                <a:latin typeface="宋体" panose="02010600030101010101" pitchFamily="2" charset="-122"/>
              </a:rPr>
              <a:t>，以及严密的从国家一级一直延伸到战术级的相关信息和情报保障。部队高级指挥员可以根据战场形势灵活运用这五种要素，实现部队的自我防御和完成作战任务。</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78849"/>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90115" name="文本占位符 78850"/>
          <p:cNvSpPr>
            <a:spLocks noGrp="1"/>
          </p:cNvSpPr>
          <p:nvPr>
            <p:ph idx="1"/>
          </p:nvPr>
        </p:nvSpPr>
        <p:spPr>
          <a:xfrm>
            <a:off x="1330035" y="1268414"/>
            <a:ext cx="9690265" cy="4611687"/>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依据</a:t>
            </a:r>
            <a:r>
              <a:rPr lang="zh-CN" altLang="en-US" sz="2800" dirty="0">
                <a:latin typeface="宋体" panose="02010600030101010101" pitchFamily="2" charset="-122"/>
              </a:rPr>
              <a:t>态势的发展，又可导致各构成要素以不断变化的内容出现。综合运用这</a:t>
            </a:r>
            <a:r>
              <a:rPr lang="en-US" altLang="zh-CN" sz="2800" dirty="0"/>
              <a:t>5</a:t>
            </a:r>
            <a:r>
              <a:rPr lang="zh-CN" altLang="en-US" sz="2800" dirty="0">
                <a:latin typeface="宋体" panose="02010600030101010101" pitchFamily="2" charset="-122"/>
              </a:rPr>
              <a:t>种作战手段，可以达到战场协同，并协调对对方指挥控制系统的攻击和对己方指挥控制系统的防护行动的有效执行。指挥员可以操作指挥控制战程序，在有效保护己方指挥与控制系统的同时，集中攻击对方指挥控制军队的能力，以获得灵活性。</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400" dirty="0">
                <a:solidFill>
                  <a:schemeClr val="folHlink"/>
                </a:solidFill>
                <a:latin typeface="宋体" panose="02010600030101010101" pitchFamily="2" charset="-122"/>
              </a:rPr>
              <a:t>指挥控制战的定义</a:t>
            </a:r>
            <a:r>
              <a:rPr lang="zh-CN" altLang="en-US" sz="2400" dirty="0">
                <a:latin typeface="宋体" panose="02010600030101010101" pitchFamily="2" charset="-122"/>
              </a:rPr>
              <a:t>是，在情报信息系统的支持下，综合利用</a:t>
            </a:r>
            <a:r>
              <a:rPr lang="zh-CN" altLang="en-US" sz="2400" dirty="0">
                <a:solidFill>
                  <a:srgbClr val="00B0F0"/>
                </a:solidFill>
                <a:latin typeface="宋体" panose="02010600030101010101" pitchFamily="2" charset="-122"/>
              </a:rPr>
              <a:t>作战保密、军事欺骗</a:t>
            </a:r>
            <a:r>
              <a:rPr lang="zh-CN" altLang="en-US" sz="2400" dirty="0" smtClean="0">
                <a:solidFill>
                  <a:srgbClr val="00B0F0"/>
                </a:solidFill>
                <a:latin typeface="宋体" panose="02010600030101010101" pitchFamily="2" charset="-122"/>
              </a:rPr>
              <a:t>、</a:t>
            </a:r>
            <a:r>
              <a:rPr lang="zh-CN" altLang="en-US" sz="2400" dirty="0" smtClean="0">
                <a:solidFill>
                  <a:srgbClr val="639EF4"/>
                </a:solidFill>
                <a:latin typeface="宋体" panose="02010600030101010101" pitchFamily="2" charset="-122"/>
              </a:rPr>
              <a:t> </a:t>
            </a:r>
            <a:r>
              <a:rPr lang="en-US" altLang="zh-CN" sz="2400" dirty="0" smtClean="0">
                <a:solidFill>
                  <a:srgbClr val="639EF4"/>
                </a:solidFill>
                <a:latin typeface="宋体" panose="02010600030101010101" pitchFamily="2" charset="-122"/>
              </a:rPr>
              <a:t>[</a:t>
            </a:r>
            <a:r>
              <a:rPr lang="zh-CN" altLang="en-US" sz="2400" dirty="0" smtClean="0">
                <a:solidFill>
                  <a:srgbClr val="639EF4"/>
                </a:solidFill>
                <a:latin typeface="宋体" panose="02010600030101010101" pitchFamily="2" charset="-122"/>
              </a:rPr>
              <a:t>填空</a:t>
            </a:r>
            <a:r>
              <a:rPr lang="en-US" altLang="zh-CN" sz="2400" dirty="0" smtClean="0">
                <a:solidFill>
                  <a:srgbClr val="639EF4"/>
                </a:solidFill>
                <a:latin typeface="宋体" panose="02010600030101010101" pitchFamily="2" charset="-122"/>
              </a:rPr>
              <a:t>1]</a:t>
            </a:r>
            <a:r>
              <a:rPr lang="en-US" altLang="zh-CN" sz="2400" dirty="0" smtClean="0">
                <a:solidFill>
                  <a:srgbClr val="000000"/>
                </a:solidFill>
                <a:latin typeface="宋体" panose="02010600030101010101" pitchFamily="2" charset="-122"/>
              </a:rPr>
              <a:t> </a:t>
            </a:r>
            <a:r>
              <a:rPr lang="zh-CN" altLang="en-US" sz="2400" dirty="0" smtClean="0">
                <a:solidFill>
                  <a:srgbClr val="00B0F0"/>
                </a:solidFill>
                <a:latin typeface="宋体" panose="02010600030101010101" pitchFamily="2" charset="-122"/>
              </a:rPr>
              <a:t>、</a:t>
            </a:r>
            <a:r>
              <a:rPr lang="zh-CN" altLang="en-US" sz="2400" dirty="0" smtClean="0">
                <a:solidFill>
                  <a:srgbClr val="639EF4"/>
                </a:solidFill>
                <a:latin typeface="宋体" panose="02010600030101010101" pitchFamily="2" charset="-122"/>
              </a:rPr>
              <a:t> </a:t>
            </a:r>
            <a:r>
              <a:rPr lang="en-US" altLang="zh-CN" sz="2400" dirty="0" smtClean="0">
                <a:solidFill>
                  <a:srgbClr val="639EF4"/>
                </a:solidFill>
                <a:latin typeface="宋体" panose="02010600030101010101" pitchFamily="2" charset="-122"/>
              </a:rPr>
              <a:t>[</a:t>
            </a:r>
            <a:r>
              <a:rPr lang="zh-CN" altLang="en-US" sz="2400" dirty="0" smtClean="0">
                <a:solidFill>
                  <a:srgbClr val="639EF4"/>
                </a:solidFill>
                <a:latin typeface="宋体" panose="02010600030101010101" pitchFamily="2" charset="-122"/>
              </a:rPr>
              <a:t>填空</a:t>
            </a:r>
            <a:r>
              <a:rPr lang="en-US" altLang="zh-CN" sz="2400" dirty="0" smtClean="0">
                <a:solidFill>
                  <a:srgbClr val="639EF4"/>
                </a:solidFill>
                <a:latin typeface="宋体" panose="02010600030101010101" pitchFamily="2" charset="-122"/>
              </a:rPr>
              <a:t>2]</a:t>
            </a:r>
            <a:r>
              <a:rPr lang="en-US" altLang="zh-CN" sz="2400" dirty="0" smtClean="0">
                <a:solidFill>
                  <a:srgbClr val="000000"/>
                </a:solidFill>
                <a:latin typeface="宋体" panose="02010600030101010101" pitchFamily="2" charset="-122"/>
              </a:rPr>
              <a:t> </a:t>
            </a:r>
            <a:r>
              <a:rPr lang="zh-CN" altLang="en-US" sz="2400" dirty="0" smtClean="0">
                <a:solidFill>
                  <a:srgbClr val="00B0F0"/>
                </a:solidFill>
                <a:latin typeface="宋体" panose="02010600030101010101" pitchFamily="2" charset="-122"/>
              </a:rPr>
              <a:t>和</a:t>
            </a:r>
            <a:r>
              <a:rPr lang="zh-CN" altLang="en-US" sz="2400" dirty="0" smtClean="0">
                <a:solidFill>
                  <a:srgbClr val="639EF4"/>
                </a:solidFill>
                <a:latin typeface="宋体" panose="02010600030101010101" pitchFamily="2" charset="-122"/>
              </a:rPr>
              <a:t> </a:t>
            </a:r>
            <a:r>
              <a:rPr lang="en-US" altLang="zh-CN" sz="2400" dirty="0" smtClean="0">
                <a:solidFill>
                  <a:srgbClr val="639EF4"/>
                </a:solidFill>
                <a:latin typeface="宋体" panose="02010600030101010101" pitchFamily="2" charset="-122"/>
              </a:rPr>
              <a:t>[</a:t>
            </a:r>
            <a:r>
              <a:rPr lang="zh-CN" altLang="en-US" sz="2400" dirty="0" smtClean="0">
                <a:solidFill>
                  <a:srgbClr val="639EF4"/>
                </a:solidFill>
                <a:latin typeface="宋体" panose="02010600030101010101" pitchFamily="2" charset="-122"/>
              </a:rPr>
              <a:t>填空</a:t>
            </a:r>
            <a:r>
              <a:rPr lang="en-US" altLang="zh-CN" sz="2400" dirty="0" smtClean="0">
                <a:solidFill>
                  <a:srgbClr val="639EF4"/>
                </a:solidFill>
                <a:latin typeface="宋体" panose="02010600030101010101" pitchFamily="2" charset="-122"/>
              </a:rPr>
              <a:t>3]</a:t>
            </a:r>
            <a:r>
              <a:rPr lang="en-US" altLang="zh-CN" sz="2400" dirty="0" smtClean="0">
                <a:solidFill>
                  <a:srgbClr val="000000"/>
                </a:solidFill>
                <a:latin typeface="宋体" panose="02010600030101010101" pitchFamily="2" charset="-122"/>
              </a:rPr>
              <a:t> </a:t>
            </a:r>
            <a:r>
              <a:rPr lang="zh-CN" altLang="en-US" sz="2400" dirty="0" smtClean="0">
                <a:latin typeface="宋体" panose="02010600030101010101" pitchFamily="2" charset="-122"/>
              </a:rPr>
              <a:t>等</a:t>
            </a:r>
            <a:r>
              <a:rPr lang="zh-CN" altLang="en-US" sz="2400" dirty="0">
                <a:latin typeface="宋体" panose="02010600030101010101" pitchFamily="2" charset="-122"/>
              </a:rPr>
              <a:t>手段，在使</a:t>
            </a:r>
            <a:r>
              <a:rPr lang="zh-CN" altLang="en-US" sz="2400" dirty="0">
                <a:solidFill>
                  <a:schemeClr val="accent1"/>
                </a:solidFill>
                <a:latin typeface="宋体" panose="02010600030101010101" pitchFamily="2" charset="-122"/>
              </a:rPr>
              <a:t>己方的指挥与控制能力</a:t>
            </a:r>
            <a:r>
              <a:rPr lang="zh-CN" altLang="en-US" sz="2400" dirty="0">
                <a:latin typeface="宋体" panose="02010600030101010101" pitchFamily="2" charset="-122"/>
              </a:rPr>
              <a:t>得到严密保护的同时，使敌方得不到信息，并影响、削弱或摧毁</a:t>
            </a:r>
            <a:r>
              <a:rPr lang="zh-CN" altLang="en-US" sz="2400" dirty="0">
                <a:solidFill>
                  <a:schemeClr val="accent1"/>
                </a:solidFill>
                <a:latin typeface="宋体" panose="02010600030101010101" pitchFamily="2" charset="-122"/>
              </a:rPr>
              <a:t>敌方的指挥与控制能力</a:t>
            </a:r>
            <a:r>
              <a:rPr lang="zh-CN" altLang="en-US" sz="2400" dirty="0">
                <a:latin typeface="宋体" panose="02010600030101010101" pitchFamily="2" charset="-122"/>
              </a:rPr>
              <a:t>。</a:t>
            </a:r>
            <a:r>
              <a:rPr lang="zh-CN" altLang="en-US" sz="2400" dirty="0"/>
              <a:t> </a:t>
            </a:r>
            <a:endParaRPr lang="zh-CN" altLang="en-US" sz="2400" dirty="0"/>
          </a:p>
        </p:txBody>
      </p:sp>
      <p:sp>
        <p:nvSpPr>
          <p:cNvPr id="6" name="圆角矩形 5"/>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矩形 11"/>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600" smtClean="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600" smtClean="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6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charset="-122"/>
                  <a:ea typeface="微软雅黑" panose="020B0503020204020204" charset="-122"/>
                  <a:sym typeface="微软雅黑" panose="020B0503020204020204" charset="-122"/>
                </a:rPr>
                <a:t>3</a:t>
              </a:r>
              <a:r>
                <a:rPr lang="zh-CN" altLang="en-US" sz="2000" smtClean="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4" name="图片 3"/>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文本占位符 79874"/>
          <p:cNvSpPr>
            <a:spLocks noGrp="1"/>
          </p:cNvSpPr>
          <p:nvPr>
            <p:ph idx="1"/>
          </p:nvPr>
        </p:nvSpPr>
        <p:spPr>
          <a:xfrm>
            <a:off x="1318161" y="1949144"/>
            <a:ext cx="9690265" cy="3774764"/>
          </a:xfrm>
        </p:spPr>
        <p:txBody>
          <a:bodyPr vert="horz" wrap="square" lIns="91440" tIns="45720" rIns="91440" bIns="45720" rtlCol="0" anchor="t">
            <a:noAutofit/>
          </a:bodyPr>
          <a:lstStyle/>
          <a:p>
            <a:pPr eaLnBrk="1" hangingPunct="1">
              <a:lnSpc>
                <a:spcPct val="90000"/>
              </a:lnSpc>
            </a:pPr>
            <a:r>
              <a:rPr lang="zh-CN" altLang="en-US" sz="2800" dirty="0" smtClean="0">
                <a:latin typeface="宋体" panose="02010600030101010101" pitchFamily="2" charset="-122"/>
              </a:rPr>
              <a:t>一、现代化</a:t>
            </a:r>
            <a:r>
              <a:rPr lang="zh-CN" altLang="en-US" sz="2800" dirty="0">
                <a:latin typeface="宋体" panose="02010600030101010101" pitchFamily="2" charset="-122"/>
              </a:rPr>
              <a:t>军事技术装备和作战行动要求不间断地提供</a:t>
            </a:r>
            <a:r>
              <a:rPr lang="zh-CN" altLang="en-US" sz="2800" dirty="0">
                <a:solidFill>
                  <a:srgbClr val="00B0F0"/>
                </a:solidFill>
                <a:latin typeface="宋体" panose="02010600030101010101" pitchFamily="2" charset="-122"/>
              </a:rPr>
              <a:t>大量信息</a:t>
            </a:r>
            <a:r>
              <a:rPr lang="zh-CN" altLang="en-US" sz="2800" dirty="0">
                <a:latin typeface="宋体" panose="02010600030101010101" pitchFamily="2" charset="-122"/>
              </a:rPr>
              <a:t>，断绝了信息来源，部队和装备就会失去作战效能；</a:t>
            </a:r>
            <a:endParaRPr lang="zh-CN" altLang="en-US" sz="2800" dirty="0">
              <a:latin typeface="宋体" panose="02010600030101010101" pitchFamily="2" charset="-122"/>
            </a:endParaRPr>
          </a:p>
          <a:p>
            <a:pPr eaLnBrk="1" hangingPunct="1">
              <a:lnSpc>
                <a:spcPct val="90000"/>
              </a:lnSpc>
            </a:pPr>
            <a:r>
              <a:rPr lang="zh-CN" altLang="en-US" sz="2800" dirty="0" smtClean="0">
                <a:latin typeface="宋体" panose="02010600030101010101" pitchFamily="2" charset="-122"/>
              </a:rPr>
              <a:t>二、以</a:t>
            </a:r>
            <a:r>
              <a:rPr lang="zh-CN" altLang="en-US" sz="2800" dirty="0">
                <a:latin typeface="宋体" panose="02010600030101010101" pitchFamily="2" charset="-122"/>
              </a:rPr>
              <a:t>电子信息设备和计算机系统为基础的</a:t>
            </a:r>
            <a:r>
              <a:rPr lang="zh-CN" altLang="en-US" sz="2800" dirty="0">
                <a:solidFill>
                  <a:srgbClr val="00B0F0"/>
                </a:solidFill>
                <a:latin typeface="宋体" panose="02010600030101010101" pitchFamily="2" charset="-122"/>
              </a:rPr>
              <a:t>情报信息系统有脆弱性</a:t>
            </a:r>
            <a:r>
              <a:rPr lang="zh-CN" altLang="en-US" sz="2800" dirty="0">
                <a:latin typeface="宋体" panose="02010600030101010101" pitchFamily="2" charset="-122"/>
              </a:rPr>
              <a:t>，有很多易受攻击的弱点；</a:t>
            </a:r>
            <a:endParaRPr lang="zh-CN" altLang="en-US" sz="2800" dirty="0">
              <a:latin typeface="宋体" panose="02010600030101010101" pitchFamily="2" charset="-122"/>
            </a:endParaRPr>
          </a:p>
          <a:p>
            <a:pPr eaLnBrk="1" hangingPunct="1">
              <a:lnSpc>
                <a:spcPct val="90000"/>
              </a:lnSpc>
            </a:pPr>
            <a:r>
              <a:rPr lang="zh-CN" altLang="en-US" sz="2800" dirty="0" smtClean="0">
                <a:latin typeface="宋体" panose="02010600030101010101" pitchFamily="2" charset="-122"/>
              </a:rPr>
              <a:t>三、随着</a:t>
            </a:r>
            <a:r>
              <a:rPr lang="zh-CN" altLang="en-US" sz="2800" dirty="0">
                <a:latin typeface="宋体" panose="02010600030101010101" pitchFamily="2" charset="-122"/>
              </a:rPr>
              <a:t>科技技术的发展，</a:t>
            </a:r>
            <a:r>
              <a:rPr lang="zh-CN" altLang="en-US" sz="2800" dirty="0">
                <a:solidFill>
                  <a:srgbClr val="00B0F0"/>
                </a:solidFill>
                <a:latin typeface="宋体" panose="02010600030101010101" pitchFamily="2" charset="-122"/>
              </a:rPr>
              <a:t>情报信息系统的性能将不断提高</a:t>
            </a:r>
            <a:r>
              <a:rPr lang="zh-CN" altLang="en-US" sz="2800" dirty="0">
                <a:latin typeface="宋体" panose="02010600030101010101" pitchFamily="2" charset="-122"/>
              </a:rPr>
              <a:t>。</a:t>
            </a:r>
            <a:r>
              <a:rPr lang="zh-CN" altLang="en-US" sz="2800" dirty="0"/>
              <a:t> </a:t>
            </a:r>
            <a:endParaRPr lang="zh-CN" altLang="en-US" sz="2800" dirty="0"/>
          </a:p>
        </p:txBody>
      </p:sp>
      <p:grpSp>
        <p:nvGrpSpPr>
          <p:cNvPr id="4" name="组合 3"/>
          <p:cNvGrpSpPr/>
          <p:nvPr/>
        </p:nvGrpSpPr>
        <p:grpSpPr>
          <a:xfrm>
            <a:off x="3483880" y="472829"/>
            <a:ext cx="5224239" cy="791052"/>
            <a:chOff x="824071" y="1564267"/>
            <a:chExt cx="5224239" cy="791052"/>
          </a:xfrm>
        </p:grpSpPr>
        <p:sp>
          <p:nvSpPr>
            <p:cNvPr id="5" name="矩形: 圆角 16"/>
            <p:cNvSpPr/>
            <p:nvPr/>
          </p:nvSpPr>
          <p:spPr>
            <a:xfrm>
              <a:off x="824071" y="1740416"/>
              <a:ext cx="5224239"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214615" cy="480131"/>
            </a:xfrm>
            <a:prstGeom prst="rect">
              <a:avLst/>
            </a:prstGeom>
          </p:spPr>
          <p:txBody>
            <a:bodyPr wrap="none">
              <a:spAutoFit/>
            </a:bodyPr>
            <a:lstStyle/>
            <a:p>
              <a:pPr>
                <a:lnSpc>
                  <a:spcPct val="90000"/>
                </a:lnSpc>
              </a:pPr>
              <a:r>
                <a:rPr lang="zh-CN" altLang="en-US" sz="2800" dirty="0">
                  <a:solidFill>
                    <a:schemeClr val="bg1"/>
                  </a:solidFill>
                  <a:latin typeface="+mj-ea"/>
                </a:rPr>
                <a:t>实施指挥控制战的可行性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文本占位符 80898"/>
          <p:cNvSpPr>
            <a:spLocks noGrp="1"/>
          </p:cNvSpPr>
          <p:nvPr>
            <p:ph idx="1"/>
          </p:nvPr>
        </p:nvSpPr>
        <p:spPr>
          <a:xfrm>
            <a:off x="985652" y="1866019"/>
            <a:ext cx="10236530" cy="3335377"/>
          </a:xfrm>
        </p:spPr>
        <p:txBody>
          <a:bodyPr vert="horz" wrap="square" lIns="91440" tIns="45720" rIns="91440" bIns="45720" rtlCol="0" anchor="t">
            <a:noAutofit/>
          </a:bodyPr>
          <a:lstStyle/>
          <a:p>
            <a:pPr eaLnBrk="1" hangingPunct="1">
              <a:lnSpc>
                <a:spcPct val="90000"/>
              </a:lnSpc>
              <a:buNone/>
            </a:pPr>
            <a:r>
              <a:rPr lang="en-US" altLang="zh-CN" dirty="0">
                <a:latin typeface="宋体" panose="02010600030101010101" pitchFamily="2" charset="-122"/>
              </a:rPr>
              <a:t>      </a:t>
            </a:r>
            <a:r>
              <a:rPr lang="en-US" altLang="zh-CN" dirty="0" smtClean="0">
                <a:latin typeface="宋体" panose="02010600030101010101" pitchFamily="2" charset="-122"/>
              </a:rPr>
              <a:t>  </a:t>
            </a:r>
            <a:r>
              <a:rPr lang="zh-CN" altLang="en-US" sz="2800" dirty="0" smtClean="0">
                <a:latin typeface="宋体" panose="02010600030101010101" pitchFamily="2" charset="-122"/>
              </a:rPr>
              <a:t>通过</a:t>
            </a:r>
            <a:r>
              <a:rPr lang="zh-CN" altLang="en-US" sz="2800" dirty="0">
                <a:latin typeface="宋体" panose="02010600030101010101" pitchFamily="2" charset="-122"/>
              </a:rPr>
              <a:t>攻击敌信息传输系统，特别是该系统的薄弱环节和关键相关设施，破坏敌指挥控制能力，隔绝敌指挥官与战场态势信息之间的联系，失去控制信息权，因而无法进行决策指挥。由于敌信息传输系统十分复杂，在实施攻击时，需要使用多种手段，既进行硬摧毁，也实施“软杀伤”，切断敌信息流的主通路，使敌</a:t>
            </a:r>
            <a:r>
              <a:rPr lang="zh-CN" altLang="en-US" sz="2800" dirty="0">
                <a:solidFill>
                  <a:schemeClr val="accent1"/>
                </a:solidFill>
                <a:latin typeface="宋体" panose="02010600030101010101" pitchFamily="2" charset="-122"/>
              </a:rPr>
              <a:t>首脑机关与部队分离</a:t>
            </a:r>
            <a:r>
              <a:rPr lang="zh-CN" altLang="en-US" sz="2800" dirty="0">
                <a:latin typeface="宋体" panose="02010600030101010101" pitchFamily="2" charset="-122"/>
              </a:rPr>
              <a:t>。</a:t>
            </a:r>
            <a:r>
              <a:rPr lang="zh-CN" altLang="en-US" sz="2800" dirty="0"/>
              <a:t> </a:t>
            </a:r>
            <a:endParaRPr lang="zh-CN" altLang="en-US" dirty="0"/>
          </a:p>
        </p:txBody>
      </p:sp>
      <p:grpSp>
        <p:nvGrpSpPr>
          <p:cNvPr id="4" name="组合 3"/>
          <p:cNvGrpSpPr/>
          <p:nvPr/>
        </p:nvGrpSpPr>
        <p:grpSpPr>
          <a:xfrm>
            <a:off x="3584820" y="504948"/>
            <a:ext cx="5022359" cy="791052"/>
            <a:chOff x="824071" y="1564267"/>
            <a:chExt cx="5022359" cy="791052"/>
          </a:xfrm>
        </p:grpSpPr>
        <p:sp>
          <p:nvSpPr>
            <p:cNvPr id="5" name="矩形: 圆角 16"/>
            <p:cNvSpPr/>
            <p:nvPr/>
          </p:nvSpPr>
          <p:spPr>
            <a:xfrm>
              <a:off x="824071" y="1740416"/>
              <a:ext cx="5022359"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855543" cy="480131"/>
            </a:xfrm>
            <a:prstGeom prst="rect">
              <a:avLst/>
            </a:prstGeom>
          </p:spPr>
          <p:txBody>
            <a:bodyPr wrap="none">
              <a:spAutoFit/>
            </a:bodyPr>
            <a:lstStyle/>
            <a:p>
              <a:pPr>
                <a:lnSpc>
                  <a:spcPct val="90000"/>
                </a:lnSpc>
              </a:pPr>
              <a:r>
                <a:rPr lang="zh-CN" altLang="en-US" sz="2800" dirty="0">
                  <a:solidFill>
                    <a:schemeClr val="bg1"/>
                  </a:solidFill>
                  <a:latin typeface="+mj-ea"/>
                </a:rPr>
                <a:t>指挥控制战的攻击目的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81921"/>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93187" name="文本占位符 81922"/>
          <p:cNvSpPr>
            <a:spLocks noGrp="1"/>
          </p:cNvSpPr>
          <p:nvPr>
            <p:ph idx="1"/>
          </p:nvPr>
        </p:nvSpPr>
        <p:spPr>
          <a:xfrm>
            <a:off x="1056905" y="1462251"/>
            <a:ext cx="10094026" cy="3703512"/>
          </a:xfrm>
        </p:spPr>
        <p:txBody>
          <a:bodyPr vert="horz" wrap="square" lIns="91440" tIns="45720" rIns="91440" bIns="45720" rtlCol="0" anchor="t">
            <a:noAutofit/>
          </a:bodyPr>
          <a:lstStyle/>
          <a:p>
            <a:pPr eaLnBrk="1" hangingPunct="1">
              <a:buNone/>
            </a:pPr>
            <a:r>
              <a:rPr lang="en-US" altLang="zh-CN" dirty="0">
                <a:latin typeface="宋体" panose="02010600030101010101" pitchFamily="2" charset="-122"/>
              </a:rPr>
              <a:t>      </a:t>
            </a:r>
            <a:r>
              <a:rPr lang="en-US" altLang="zh-CN" dirty="0" smtClean="0">
                <a:latin typeface="宋体" panose="02010600030101010101" pitchFamily="2" charset="-122"/>
              </a:rPr>
              <a:t>  </a:t>
            </a:r>
            <a:r>
              <a:rPr lang="zh-CN" altLang="en-US" sz="2800" dirty="0" smtClean="0">
                <a:latin typeface="宋体" panose="02010600030101010101" pitchFamily="2" charset="-122"/>
              </a:rPr>
              <a:t>由于</a:t>
            </a:r>
            <a:r>
              <a:rPr lang="zh-CN" altLang="en-US" sz="2800" dirty="0">
                <a:latin typeface="宋体" panose="02010600030101010101" pitchFamily="2" charset="-122"/>
              </a:rPr>
              <a:t>己方情报信息系统不可避免地存在脆弱性，要保持己方有效的指挥控制能力，就必须严密地组织与实施指挥控制防护。在指挥防护过程中，除了保护己方信息系统的安全外，还要采取措施，阻止敌方的宣传对己方部队的士气和作战行动产生不利的影响。</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文本占位符 82946"/>
          <p:cNvSpPr>
            <a:spLocks noGrp="1"/>
          </p:cNvSpPr>
          <p:nvPr>
            <p:ph idx="1"/>
          </p:nvPr>
        </p:nvSpPr>
        <p:spPr>
          <a:xfrm>
            <a:off x="1068779" y="1521631"/>
            <a:ext cx="10070276" cy="4439782"/>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随着</a:t>
            </a:r>
            <a:r>
              <a:rPr lang="zh-CN" altLang="en-US" sz="2800" dirty="0">
                <a:latin typeface="宋体" panose="02010600030101010101" pitchFamily="2" charset="-122"/>
              </a:rPr>
              <a:t>信息对抗技术的发展，电子对抗已突破了传统的通信、雷达、导航对抗的范围，扩展到指挥、控制、引导、光电对抗以及高价武器平台间隐身与反隐身等多领域、全频谱和软硬结合的</a:t>
            </a:r>
            <a:r>
              <a:rPr lang="zh-CN" altLang="en-US" sz="2800" dirty="0">
                <a:solidFill>
                  <a:schemeClr val="accent1"/>
                </a:solidFill>
                <a:latin typeface="宋体" panose="02010600030101010101" pitchFamily="2" charset="-122"/>
              </a:rPr>
              <a:t>综合电子对抗</a:t>
            </a:r>
            <a:r>
              <a:rPr lang="zh-CN" altLang="en-US" sz="2800" dirty="0">
                <a:latin typeface="宋体" panose="02010600030101010101" pitchFamily="2" charset="-122"/>
              </a:rPr>
              <a:t>，这种对抗已经成为夺取战场制信息权的主要手段之一，是信息战的重要组成部分。</a:t>
            </a:r>
            <a:endParaRPr lang="zh-CN" altLang="en-US" sz="2800" dirty="0">
              <a:latin typeface="宋体" panose="02010600030101010101" pitchFamily="2" charset="-122"/>
            </a:endParaRPr>
          </a:p>
          <a:p>
            <a:pPr eaLnBrk="1" hangingPunct="1">
              <a:buNone/>
            </a:pPr>
            <a:r>
              <a:rPr lang="zh-CN" altLang="en-US" sz="2800" dirty="0"/>
              <a:t>         </a:t>
            </a:r>
            <a:r>
              <a:rPr lang="zh-CN" altLang="en-US" sz="2800" dirty="0" smtClean="0">
                <a:solidFill>
                  <a:schemeClr val="folHlink"/>
                </a:solidFill>
              </a:rPr>
              <a:t>电子战</a:t>
            </a:r>
            <a:r>
              <a:rPr lang="zh-CN" altLang="en-US" sz="2800" dirty="0"/>
              <a:t>是利用电磁能和定向能控制电磁频谱，攻击敌人的任何军事行动。 </a:t>
            </a:r>
            <a:endParaRPr lang="zh-CN" altLang="en-US" sz="2800" dirty="0"/>
          </a:p>
        </p:txBody>
      </p:sp>
      <p:grpSp>
        <p:nvGrpSpPr>
          <p:cNvPr id="4" name="组合 3"/>
          <p:cNvGrpSpPr/>
          <p:nvPr/>
        </p:nvGrpSpPr>
        <p:grpSpPr>
          <a:xfrm>
            <a:off x="4492574" y="186956"/>
            <a:ext cx="3206852" cy="1109044"/>
            <a:chOff x="3279913" y="488294"/>
            <a:chExt cx="3206852" cy="1109044"/>
          </a:xfrm>
        </p:grpSpPr>
        <p:grpSp>
          <p:nvGrpSpPr>
            <p:cNvPr id="5" name="组合 4"/>
            <p:cNvGrpSpPr/>
            <p:nvPr/>
          </p:nvGrpSpPr>
          <p:grpSpPr>
            <a:xfrm>
              <a:off x="3279913" y="909457"/>
              <a:ext cx="3206852" cy="687881"/>
              <a:chOff x="3279913" y="909457"/>
              <a:chExt cx="3206852" cy="687881"/>
            </a:xfrm>
          </p:grpSpPr>
          <p:sp>
            <p:nvSpPr>
              <p:cNvPr id="159" name="矩形: 圆角 9"/>
              <p:cNvSpPr/>
              <p:nvPr/>
            </p:nvSpPr>
            <p:spPr>
              <a:xfrm>
                <a:off x="3279913" y="909457"/>
                <a:ext cx="3206852"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815206" y="1032190"/>
                <a:ext cx="1415772"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电子战</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文本占位符 83970"/>
          <p:cNvSpPr>
            <a:spLocks noGrp="1"/>
          </p:cNvSpPr>
          <p:nvPr>
            <p:ph idx="1"/>
          </p:nvPr>
        </p:nvSpPr>
        <p:spPr>
          <a:xfrm>
            <a:off x="1085518" y="1740339"/>
            <a:ext cx="10077287" cy="3145371"/>
          </a:xfrm>
        </p:spPr>
        <p:txBody>
          <a:bodyPr vert="horz" wrap="square" lIns="91440" tIns="45720" rIns="91440" bIns="45720" rtlCol="0" anchor="t">
            <a:noAutofit/>
          </a:bodyPr>
          <a:lstStyle/>
          <a:p>
            <a:pPr eaLnBrk="1" hangingPunct="1"/>
            <a:r>
              <a:rPr lang="en-US" altLang="zh-CN" sz="2800" dirty="0"/>
              <a:t>1</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电子攻击</a:t>
            </a:r>
            <a:r>
              <a:rPr lang="zh-CN" altLang="en-US" sz="2800" dirty="0">
                <a:latin typeface="宋体" panose="02010600030101010101" pitchFamily="2" charset="-122"/>
              </a:rPr>
              <a:t>：电子攻击利用</a:t>
            </a:r>
            <a:r>
              <a:rPr lang="zh-CN" altLang="en-US" sz="2800" dirty="0">
                <a:solidFill>
                  <a:schemeClr val="accent1"/>
                </a:solidFill>
                <a:latin typeface="宋体" panose="02010600030101010101" pitchFamily="2" charset="-122"/>
              </a:rPr>
              <a:t>电子干扰、电子欺骗</a:t>
            </a:r>
            <a:r>
              <a:rPr lang="zh-CN" altLang="en-US" sz="2800" dirty="0">
                <a:latin typeface="宋体" panose="02010600030101010101" pitchFamily="2" charset="-122"/>
              </a:rPr>
              <a:t>或</a:t>
            </a:r>
            <a:r>
              <a:rPr lang="zh-CN" altLang="en-US" sz="2800" dirty="0">
                <a:solidFill>
                  <a:schemeClr val="accent1"/>
                </a:solidFill>
                <a:latin typeface="宋体" panose="02010600030101010101" pitchFamily="2" charset="-122"/>
              </a:rPr>
              <a:t>定向能</a:t>
            </a:r>
            <a:r>
              <a:rPr lang="zh-CN" altLang="en-US" sz="2800" dirty="0">
                <a:latin typeface="宋体" panose="02010600030101010101" pitchFamily="2" charset="-122"/>
              </a:rPr>
              <a:t>去削弱、利用或摧毁对方</a:t>
            </a:r>
            <a:r>
              <a:rPr lang="zh-CN" altLang="en-US" sz="2800" dirty="0">
                <a:solidFill>
                  <a:schemeClr val="accent1"/>
                </a:solidFill>
                <a:latin typeface="宋体" panose="02010600030101010101" pitchFamily="2" charset="-122"/>
              </a:rPr>
              <a:t>使用电磁频谱的能力</a:t>
            </a:r>
            <a:r>
              <a:rPr lang="zh-CN" altLang="en-US" sz="2800" dirty="0">
                <a:latin typeface="宋体" panose="02010600030101010101" pitchFamily="2" charset="-122"/>
              </a:rPr>
              <a:t>。电子攻击能够攻击对方的战术编队一直到国家后方的永久性设施的任何地方的敌人。</a:t>
            </a:r>
            <a:r>
              <a:rPr lang="zh-CN" altLang="en-US" sz="2800" dirty="0"/>
              <a:t> </a:t>
            </a:r>
            <a:endParaRPr lang="zh-CN" altLang="en-US" sz="2800" dirty="0"/>
          </a:p>
        </p:txBody>
      </p:sp>
      <p:grpSp>
        <p:nvGrpSpPr>
          <p:cNvPr id="4" name="组合 3"/>
          <p:cNvGrpSpPr/>
          <p:nvPr/>
        </p:nvGrpSpPr>
        <p:grpSpPr>
          <a:xfrm>
            <a:off x="3190894" y="504948"/>
            <a:ext cx="5810211" cy="791052"/>
            <a:chOff x="824072" y="1564267"/>
            <a:chExt cx="5810211" cy="791052"/>
          </a:xfrm>
        </p:grpSpPr>
        <p:sp>
          <p:nvSpPr>
            <p:cNvPr id="5" name="矩形: 圆角 16"/>
            <p:cNvSpPr/>
            <p:nvPr/>
          </p:nvSpPr>
          <p:spPr>
            <a:xfrm>
              <a:off x="824072" y="1740416"/>
              <a:ext cx="5604250"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932761" cy="480131"/>
            </a:xfrm>
            <a:prstGeom prst="rect">
              <a:avLst/>
            </a:prstGeom>
          </p:spPr>
          <p:txBody>
            <a:bodyPr wrap="none">
              <a:spAutoFit/>
            </a:bodyPr>
            <a:lstStyle/>
            <a:p>
              <a:pPr>
                <a:lnSpc>
                  <a:spcPct val="90000"/>
                </a:lnSpc>
              </a:pPr>
              <a:r>
                <a:rPr lang="zh-CN" altLang="en-US" sz="2800" dirty="0">
                  <a:solidFill>
                    <a:schemeClr val="bg1"/>
                  </a:solidFill>
                  <a:latin typeface="+mj-ea"/>
                </a:rPr>
                <a:t>电子战的三种主要作战样式：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84993"/>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96259" name="文本占位符 84994"/>
          <p:cNvSpPr>
            <a:spLocks noGrp="1"/>
          </p:cNvSpPr>
          <p:nvPr>
            <p:ph idx="1"/>
          </p:nvPr>
        </p:nvSpPr>
        <p:spPr>
          <a:xfrm>
            <a:off x="1080655" y="1947553"/>
            <a:ext cx="10058400" cy="4389802"/>
          </a:xfrm>
        </p:spPr>
        <p:txBody>
          <a:bodyPr vert="horz" wrap="square" lIns="91440" tIns="45720" rIns="91440" bIns="45720" rtlCol="0" anchor="t">
            <a:noAutofit/>
          </a:bodyPr>
          <a:lstStyle/>
          <a:p>
            <a:pPr eaLnBrk="1" hangingPunct="1"/>
            <a:r>
              <a:rPr lang="en-US" altLang="zh-CN" sz="2800" dirty="0"/>
              <a:t>2</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电子防护</a:t>
            </a:r>
            <a:r>
              <a:rPr lang="zh-CN" altLang="en-US" sz="2800" dirty="0">
                <a:latin typeface="宋体" panose="02010600030101010101" pitchFamily="2" charset="-122"/>
              </a:rPr>
              <a:t>：电子防护保护己方对电磁频谱的使用。电子防护覆盖全体人员、全体装备和设施。电子防护是生存能力的组成部分。例如，自我防护和区域防护系统就能妨碍对方的目标探测和攻击系统，从而保护己方系统和部队免遭打击。</a:t>
            </a:r>
            <a:r>
              <a:rPr lang="zh-CN" altLang="en-US" sz="2800" dirty="0"/>
              <a:t> </a:t>
            </a:r>
            <a:endParaRPr lang="zh-CN" altLang="en-US" sz="2800" dirty="0"/>
          </a:p>
        </p:txBody>
      </p:sp>
      <p:grpSp>
        <p:nvGrpSpPr>
          <p:cNvPr id="4" name="组合 3"/>
          <p:cNvGrpSpPr/>
          <p:nvPr/>
        </p:nvGrpSpPr>
        <p:grpSpPr>
          <a:xfrm>
            <a:off x="2845677" y="433050"/>
            <a:ext cx="6528356" cy="791052"/>
            <a:chOff x="824072" y="1564267"/>
            <a:chExt cx="6528356" cy="791052"/>
          </a:xfrm>
        </p:grpSpPr>
        <p:sp>
          <p:nvSpPr>
            <p:cNvPr id="5" name="矩形: 圆角 16"/>
            <p:cNvSpPr/>
            <p:nvPr/>
          </p:nvSpPr>
          <p:spPr>
            <a:xfrm>
              <a:off x="824072" y="1740416"/>
              <a:ext cx="634499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5650906" cy="480131"/>
            </a:xfrm>
            <a:prstGeom prst="rect">
              <a:avLst/>
            </a:prstGeom>
          </p:spPr>
          <p:txBody>
            <a:bodyPr wrap="none">
              <a:spAutoFit/>
            </a:bodyPr>
            <a:lstStyle/>
            <a:p>
              <a:pPr>
                <a:lnSpc>
                  <a:spcPct val="90000"/>
                </a:lnSpc>
              </a:pPr>
              <a:r>
                <a:rPr lang="zh-CN" altLang="en-US" sz="2800" dirty="0">
                  <a:solidFill>
                    <a:schemeClr val="bg1"/>
                  </a:solidFill>
                  <a:latin typeface="+mj-ea"/>
                </a:rPr>
                <a:t>电子战的三种主要作战</a:t>
              </a:r>
              <a:r>
                <a:rPr lang="zh-CN" altLang="en-US" sz="2800" dirty="0" smtClean="0">
                  <a:solidFill>
                    <a:schemeClr val="bg1"/>
                  </a:solidFill>
                  <a:latin typeface="+mj-ea"/>
                </a:rPr>
                <a:t>样式（续）</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86017"/>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97283" name="文本占位符 86018"/>
          <p:cNvSpPr>
            <a:spLocks noGrp="1"/>
          </p:cNvSpPr>
          <p:nvPr>
            <p:ph idx="1"/>
          </p:nvPr>
        </p:nvSpPr>
        <p:spPr>
          <a:xfrm>
            <a:off x="1104405" y="1888185"/>
            <a:ext cx="10046525" cy="4152295"/>
          </a:xfrm>
        </p:spPr>
        <p:txBody>
          <a:bodyPr vert="horz" wrap="square" lIns="91440" tIns="45720" rIns="91440" bIns="45720" rtlCol="0" anchor="t">
            <a:noAutofit/>
          </a:bodyPr>
          <a:lstStyle/>
          <a:p>
            <a:pPr eaLnBrk="1" hangingPunct="1"/>
            <a:r>
              <a:rPr lang="en-US" altLang="zh-CN" sz="2800" dirty="0"/>
              <a:t>3</a:t>
            </a:r>
            <a:r>
              <a:rPr lang="zh-CN" altLang="en-US" sz="2800" dirty="0">
                <a:latin typeface="宋体" panose="02010600030101010101" pitchFamily="2" charset="-122"/>
              </a:rPr>
              <a:t>、</a:t>
            </a:r>
            <a:r>
              <a:rPr lang="zh-CN" altLang="en-US" sz="2800" dirty="0">
                <a:solidFill>
                  <a:schemeClr val="folHlink"/>
                </a:solidFill>
                <a:latin typeface="宋体" panose="02010600030101010101" pitchFamily="2" charset="-122"/>
              </a:rPr>
              <a:t>电子战支援</a:t>
            </a:r>
            <a:r>
              <a:rPr lang="zh-CN" altLang="en-US" sz="2800" dirty="0">
                <a:latin typeface="宋体" panose="02010600030101010101" pitchFamily="2" charset="-122"/>
              </a:rPr>
              <a:t>：电子支援提供与对方电子探测与攻击的相关的信息。根据这些信息，执行作战指挥官指定的行动或指挥官直接控制下的行动，以搜索、截获、鉴别和定位有意、无意发射电磁能的发射源，以找到对方采取的直接威胁己方的行动。电子战支援是战斗信息和传感器</a:t>
            </a:r>
            <a:r>
              <a:rPr lang="en-US" altLang="zh-CN" sz="2800" dirty="0"/>
              <a:t>-</a:t>
            </a:r>
            <a:r>
              <a:rPr lang="zh-CN" altLang="en-US" sz="2800" dirty="0">
                <a:latin typeface="宋体" panose="02010600030101010101" pitchFamily="2" charset="-122"/>
              </a:rPr>
              <a:t>射手系统及时反应能力的体现。</a:t>
            </a:r>
            <a:r>
              <a:rPr lang="zh-CN" altLang="en-US" sz="2800" dirty="0"/>
              <a:t> </a:t>
            </a:r>
            <a:endParaRPr lang="zh-CN" altLang="en-US" sz="2800" dirty="0"/>
          </a:p>
        </p:txBody>
      </p:sp>
      <p:grpSp>
        <p:nvGrpSpPr>
          <p:cNvPr id="4" name="组合 3"/>
          <p:cNvGrpSpPr/>
          <p:nvPr/>
        </p:nvGrpSpPr>
        <p:grpSpPr>
          <a:xfrm>
            <a:off x="2845677" y="433050"/>
            <a:ext cx="6528356" cy="791052"/>
            <a:chOff x="824072" y="1564267"/>
            <a:chExt cx="6528356" cy="791052"/>
          </a:xfrm>
        </p:grpSpPr>
        <p:sp>
          <p:nvSpPr>
            <p:cNvPr id="5" name="矩形: 圆角 16"/>
            <p:cNvSpPr/>
            <p:nvPr/>
          </p:nvSpPr>
          <p:spPr>
            <a:xfrm>
              <a:off x="824072" y="1740416"/>
              <a:ext cx="634499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5650906" cy="480131"/>
            </a:xfrm>
            <a:prstGeom prst="rect">
              <a:avLst/>
            </a:prstGeom>
          </p:spPr>
          <p:txBody>
            <a:bodyPr wrap="none">
              <a:spAutoFit/>
            </a:bodyPr>
            <a:lstStyle/>
            <a:p>
              <a:pPr>
                <a:lnSpc>
                  <a:spcPct val="90000"/>
                </a:lnSpc>
              </a:pPr>
              <a:r>
                <a:rPr lang="zh-CN" altLang="en-US" sz="2800" dirty="0">
                  <a:solidFill>
                    <a:schemeClr val="bg1"/>
                  </a:solidFill>
                  <a:latin typeface="+mj-ea"/>
                </a:rPr>
                <a:t>电子战的三种主要作战</a:t>
              </a:r>
              <a:r>
                <a:rPr lang="zh-CN" altLang="en-US" sz="2800" dirty="0" smtClean="0">
                  <a:solidFill>
                    <a:schemeClr val="bg1"/>
                  </a:solidFill>
                  <a:latin typeface="+mj-ea"/>
                </a:rPr>
                <a:t>样式（续）</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87041"/>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98307" name="文本占位符 87042"/>
          <p:cNvSpPr>
            <a:spLocks noGrp="1"/>
          </p:cNvSpPr>
          <p:nvPr>
            <p:ph idx="1"/>
          </p:nvPr>
        </p:nvSpPr>
        <p:spPr>
          <a:xfrm>
            <a:off x="1021279" y="1616630"/>
            <a:ext cx="10165278" cy="5041355"/>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以上</a:t>
            </a:r>
            <a:r>
              <a:rPr lang="zh-CN" altLang="en-US" sz="2800" dirty="0">
                <a:latin typeface="宋体" panose="02010600030101010101" pitchFamily="2" charset="-122"/>
              </a:rPr>
              <a:t>关于电子战的定义是一种狭义概念，仅局限于电磁空间，自第一次海湾战争后，</a:t>
            </a:r>
            <a:r>
              <a:rPr lang="zh-CN" altLang="en-US" sz="2800" dirty="0">
                <a:solidFill>
                  <a:schemeClr val="folHlink"/>
                </a:solidFill>
                <a:latin typeface="宋体" panose="02010600030101010101" pitchFamily="2" charset="-122"/>
              </a:rPr>
              <a:t>电子战已发展到综合电子战阶段</a:t>
            </a:r>
            <a:r>
              <a:rPr lang="zh-CN" altLang="en-US" sz="2800" dirty="0">
                <a:latin typeface="宋体" panose="02010600030101010101" pitchFamily="2" charset="-122"/>
              </a:rPr>
              <a:t>，扩展到</a:t>
            </a:r>
            <a:r>
              <a:rPr lang="zh-CN" altLang="en-US" sz="2800" dirty="0">
                <a:solidFill>
                  <a:srgbClr val="00B0F0"/>
                </a:solidFill>
                <a:latin typeface="宋体" panose="02010600030101010101" pitchFamily="2" charset="-122"/>
              </a:rPr>
              <a:t>紫外、红外、可见光和激光</a:t>
            </a:r>
            <a:r>
              <a:rPr lang="zh-CN" altLang="en-US" sz="2800" dirty="0">
                <a:latin typeface="宋体" panose="02010600030101010101" pitchFamily="2" charset="-122"/>
              </a:rPr>
              <a:t>等</a:t>
            </a:r>
            <a:r>
              <a:rPr lang="zh-CN" altLang="en-US" sz="2800" dirty="0">
                <a:solidFill>
                  <a:schemeClr val="folHlink"/>
                </a:solidFill>
                <a:latin typeface="宋体" panose="02010600030101010101" pitchFamily="2" charset="-122"/>
              </a:rPr>
              <a:t>光谱领域</a:t>
            </a:r>
            <a:r>
              <a:rPr lang="zh-CN" altLang="en-US" sz="2800" dirty="0">
                <a:latin typeface="宋体" panose="02010600030101010101" pitchFamily="2" charset="-122"/>
              </a:rPr>
              <a:t>，具有软硬杀伤兼顾的有效作战手段。目前反辐射炸弹、电磁能炸弹和定向能武器已经成为威胁极大的一类电子战杀伤武器。</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文本占位符 88066"/>
          <p:cNvSpPr>
            <a:spLocks noGrp="1"/>
          </p:cNvSpPr>
          <p:nvPr>
            <p:ph idx="1"/>
          </p:nvPr>
        </p:nvSpPr>
        <p:spPr>
          <a:xfrm>
            <a:off x="1353786" y="1787236"/>
            <a:ext cx="9547761" cy="3770416"/>
          </a:xfrm>
        </p:spPr>
        <p:txBody>
          <a:bodyPr vert="horz" wrap="square" lIns="91440" tIns="45720" rIns="91440" bIns="45720" rtlCol="0" anchor="t">
            <a:noAutofit/>
          </a:bodyPr>
          <a:lstStyle/>
          <a:p>
            <a:pPr eaLnBrk="1" hangingPunct="1">
              <a:lnSpc>
                <a:spcPct val="90000"/>
              </a:lnSpc>
              <a:buNone/>
            </a:pPr>
            <a:r>
              <a:rPr lang="en-US" altLang="zh-CN" sz="2800" dirty="0">
                <a:latin typeface="宋体" panose="02010600030101010101" pitchFamily="2" charset="-122"/>
              </a:rPr>
              <a:t>     </a:t>
            </a:r>
            <a:r>
              <a:rPr lang="zh-CN" altLang="en-US" sz="2800" dirty="0">
                <a:latin typeface="宋体" panose="02010600030101010101" pitchFamily="2" charset="-122"/>
              </a:rPr>
              <a:t>计算机网络战是在网络空间内进行的对抗，有时也成为赛博空间战（</a:t>
            </a:r>
            <a:r>
              <a:rPr lang="en-US" altLang="zh-CN" sz="2800" dirty="0"/>
              <a:t>Cyberspace warfare</a:t>
            </a:r>
            <a:r>
              <a:rPr lang="zh-CN" altLang="en-US" sz="2800" dirty="0">
                <a:latin typeface="宋体" panose="02010600030101010101" pitchFamily="2" charset="-122"/>
              </a:rPr>
              <a:t>），这种对抗形式是通过计算机通信网络，特别是当前因特网，截取、利用、篡改、破坏对方的信息，利用假冒信息或病毒来危害对方的信息与信息设施，并同时保护己方的信息与信息基础，以达到预期目的的行动。</a:t>
            </a:r>
            <a:endParaRPr lang="zh-CN" altLang="en-US" sz="2800" dirty="0">
              <a:latin typeface="宋体" panose="02010600030101010101" pitchFamily="2" charset="-122"/>
            </a:endParaRPr>
          </a:p>
          <a:p>
            <a:pPr eaLnBrk="1" hangingPunct="1">
              <a:lnSpc>
                <a:spcPct val="90000"/>
              </a:lnSpc>
              <a:buNone/>
            </a:pPr>
            <a:r>
              <a:rPr lang="zh-CN" altLang="en-US" sz="2800" dirty="0">
                <a:latin typeface="宋体" panose="02010600030101010101" pitchFamily="2" charset="-122"/>
              </a:rPr>
              <a:t>     </a:t>
            </a:r>
            <a:r>
              <a:rPr lang="zh-CN" altLang="en-US" sz="2800" dirty="0" smtClean="0">
                <a:latin typeface="宋体" panose="02010600030101010101" pitchFamily="2" charset="-122"/>
              </a:rPr>
              <a:t>网络</a:t>
            </a:r>
            <a:r>
              <a:rPr lang="zh-CN" altLang="en-US" sz="2800" dirty="0">
                <a:latin typeface="宋体" panose="02010600030101010101" pitchFamily="2" charset="-122"/>
              </a:rPr>
              <a:t>战包括</a:t>
            </a:r>
            <a:r>
              <a:rPr lang="zh-CN" altLang="en-US" sz="2800" dirty="0">
                <a:solidFill>
                  <a:schemeClr val="folHlink"/>
                </a:solidFill>
                <a:latin typeface="宋体" panose="02010600030101010101" pitchFamily="2" charset="-122"/>
              </a:rPr>
              <a:t>网络攻击、网络防护和网络支援</a:t>
            </a:r>
            <a:r>
              <a:rPr lang="zh-CN" altLang="en-US" sz="2800" dirty="0">
                <a:latin typeface="宋体" panose="02010600030101010101" pitchFamily="2" charset="-122"/>
              </a:rPr>
              <a:t>。</a:t>
            </a:r>
            <a:r>
              <a:rPr lang="zh-CN" altLang="en-US" sz="2800" dirty="0"/>
              <a:t>  </a:t>
            </a:r>
            <a:endParaRPr lang="zh-CN" altLang="en-US" sz="2800" dirty="0"/>
          </a:p>
        </p:txBody>
      </p:sp>
      <p:grpSp>
        <p:nvGrpSpPr>
          <p:cNvPr id="4" name="组合 3"/>
          <p:cNvGrpSpPr/>
          <p:nvPr/>
        </p:nvGrpSpPr>
        <p:grpSpPr>
          <a:xfrm>
            <a:off x="3782034" y="123127"/>
            <a:ext cx="4323132" cy="1109044"/>
            <a:chOff x="3279913" y="488294"/>
            <a:chExt cx="4323132" cy="1109044"/>
          </a:xfrm>
        </p:grpSpPr>
        <p:grpSp>
          <p:nvGrpSpPr>
            <p:cNvPr id="5" name="组合 4"/>
            <p:cNvGrpSpPr/>
            <p:nvPr/>
          </p:nvGrpSpPr>
          <p:grpSpPr>
            <a:xfrm>
              <a:off x="3279913" y="909457"/>
              <a:ext cx="4323132" cy="687881"/>
              <a:chOff x="3279913" y="909457"/>
              <a:chExt cx="4323132" cy="687881"/>
            </a:xfrm>
          </p:grpSpPr>
          <p:sp>
            <p:nvSpPr>
              <p:cNvPr id="159" name="矩形: 圆角 9"/>
              <p:cNvSpPr/>
              <p:nvPr/>
            </p:nvSpPr>
            <p:spPr>
              <a:xfrm>
                <a:off x="3279913" y="909457"/>
                <a:ext cx="4323132"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2646878"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计算机网络战</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文本占位符 89090"/>
          <p:cNvSpPr>
            <a:spLocks noGrp="1"/>
          </p:cNvSpPr>
          <p:nvPr>
            <p:ph idx="1"/>
          </p:nvPr>
        </p:nvSpPr>
        <p:spPr>
          <a:xfrm>
            <a:off x="1056905" y="1699759"/>
            <a:ext cx="10094026" cy="3988519"/>
          </a:xfrm>
        </p:spPr>
        <p:txBody>
          <a:bodyPr vert="horz" wrap="square" lIns="91440" tIns="45720" rIns="91440" bIns="45720" rtlCol="0" anchor="t">
            <a:noAutofit/>
          </a:bodyPr>
          <a:lstStyle/>
          <a:p>
            <a:pPr eaLnBrk="1" hangingPunct="1">
              <a:buNone/>
            </a:pPr>
            <a:r>
              <a:rPr lang="zh-CN" altLang="en-US" sz="2800" dirty="0">
                <a:latin typeface="宋体" panose="02010600030101010101" pitchFamily="2" charset="-122"/>
              </a:rPr>
              <a:t>１、</a:t>
            </a:r>
            <a:r>
              <a:rPr lang="zh-CN" altLang="en-US" sz="2800" dirty="0">
                <a:solidFill>
                  <a:schemeClr val="folHlink"/>
                </a:solidFill>
                <a:latin typeface="宋体" panose="02010600030101010101" pitchFamily="2" charset="-122"/>
              </a:rPr>
              <a:t>网络攻击</a:t>
            </a:r>
            <a:r>
              <a:rPr lang="zh-CN" altLang="en-US" sz="2800" dirty="0">
                <a:latin typeface="宋体" panose="02010600030101010101" pitchFamily="2" charset="-122"/>
              </a:rPr>
              <a:t>的功能是利用各种网络攻击武器在对方信息基础设施中，渗透其安全保密机制，突破其访问控制机制，利用、获得、降低、失效或瘫痪对方的程序，破坏对方信息的完整性与保密性。</a:t>
            </a:r>
            <a:endParaRPr lang="zh-CN" altLang="en-US" sz="2800" dirty="0">
              <a:latin typeface="宋体" panose="02010600030101010101" pitchFamily="2" charset="-122"/>
            </a:endParaRPr>
          </a:p>
          <a:p>
            <a:pPr eaLnBrk="1" hangingPunct="1">
              <a:buNone/>
            </a:pPr>
            <a:r>
              <a:rPr lang="zh-CN" altLang="en-US" sz="2800" dirty="0">
                <a:latin typeface="宋体" panose="02010600030101010101" pitchFamily="2" charset="-122"/>
              </a:rPr>
              <a:t>２、</a:t>
            </a:r>
            <a:r>
              <a:rPr lang="zh-CN" altLang="en-US" sz="2800" dirty="0">
                <a:solidFill>
                  <a:schemeClr val="folHlink"/>
                </a:solidFill>
                <a:latin typeface="宋体" panose="02010600030101010101" pitchFamily="2" charset="-122"/>
              </a:rPr>
              <a:t>网络防护</a:t>
            </a:r>
            <a:r>
              <a:rPr lang="zh-CN" altLang="en-US" sz="2800" dirty="0">
                <a:latin typeface="宋体" panose="02010600030101010101" pitchFamily="2" charset="-122"/>
              </a:rPr>
              <a:t>是利用各种防护措施保护己方信息基础设施的安全，免受网络攻击。</a:t>
            </a:r>
            <a:r>
              <a:rPr lang="zh-CN" altLang="en-US" sz="2800" dirty="0"/>
              <a:t>  </a:t>
            </a:r>
            <a:endParaRPr lang="zh-CN" altLang="en-US" sz="2800" dirty="0"/>
          </a:p>
        </p:txBody>
      </p:sp>
      <p:grpSp>
        <p:nvGrpSpPr>
          <p:cNvPr id="4" name="组合 3"/>
          <p:cNvGrpSpPr/>
          <p:nvPr/>
        </p:nvGrpSpPr>
        <p:grpSpPr>
          <a:xfrm>
            <a:off x="3786701" y="504948"/>
            <a:ext cx="4618598" cy="791052"/>
            <a:chOff x="824072" y="1564267"/>
            <a:chExt cx="4618598" cy="791052"/>
          </a:xfrm>
        </p:grpSpPr>
        <p:sp>
          <p:nvSpPr>
            <p:cNvPr id="5" name="矩形: 圆角 16"/>
            <p:cNvSpPr/>
            <p:nvPr/>
          </p:nvSpPr>
          <p:spPr>
            <a:xfrm>
              <a:off x="824072" y="1740416"/>
              <a:ext cx="4618598"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416320" cy="480131"/>
            </a:xfrm>
            <a:prstGeom prst="rect">
              <a:avLst/>
            </a:prstGeom>
          </p:spPr>
          <p:txBody>
            <a:bodyPr wrap="none">
              <a:spAutoFit/>
            </a:bodyPr>
            <a:lstStyle/>
            <a:p>
              <a:pPr>
                <a:lnSpc>
                  <a:spcPct val="90000"/>
                </a:lnSpc>
              </a:pPr>
              <a:r>
                <a:rPr lang="zh-CN" altLang="en-US" sz="2800" dirty="0">
                  <a:solidFill>
                    <a:schemeClr val="bg1"/>
                  </a:solidFill>
                  <a:latin typeface="+mj-ea"/>
                </a:rPr>
                <a:t>网络战的功能与作用</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90113"/>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01379" name="文本占位符 90114"/>
          <p:cNvSpPr>
            <a:spLocks noGrp="1"/>
          </p:cNvSpPr>
          <p:nvPr>
            <p:ph idx="1"/>
          </p:nvPr>
        </p:nvSpPr>
        <p:spPr>
          <a:xfrm>
            <a:off x="1068779" y="1913518"/>
            <a:ext cx="10070276" cy="3169122"/>
          </a:xfrm>
        </p:spPr>
        <p:txBody>
          <a:bodyPr vert="horz" wrap="square" lIns="91440" tIns="45720" rIns="91440" bIns="45720" rtlCol="0" anchor="t">
            <a:noAutofit/>
          </a:bodyPr>
          <a:lstStyle/>
          <a:p>
            <a:pPr eaLnBrk="1" hangingPunct="1">
              <a:buNone/>
            </a:pPr>
            <a:r>
              <a:rPr lang="zh-CN" altLang="en-US" sz="2800" dirty="0">
                <a:latin typeface="宋体" panose="02010600030101010101" pitchFamily="2" charset="-122"/>
              </a:rPr>
              <a:t>３、</a:t>
            </a:r>
            <a:r>
              <a:rPr lang="zh-CN" altLang="en-US" sz="2800" dirty="0">
                <a:solidFill>
                  <a:schemeClr val="folHlink"/>
                </a:solidFill>
                <a:latin typeface="宋体" panose="02010600030101010101" pitchFamily="2" charset="-122"/>
              </a:rPr>
              <a:t>网络支援</a:t>
            </a:r>
            <a:r>
              <a:rPr lang="zh-CN" altLang="en-US" sz="2800" dirty="0">
                <a:latin typeface="宋体" panose="02010600030101010101" pitchFamily="2" charset="-122"/>
              </a:rPr>
              <a:t>是采用网络探测与破密工具，发现对方信息系统中的脆弱性，破解与分析对方信息保密机制，定位对方信息基础设施中的单元活动，以便获取与利用对方信息，为己方网络防护与网络攻击提供支援。</a:t>
            </a:r>
            <a:r>
              <a:rPr lang="zh-CN" altLang="en-US" sz="2800" dirty="0"/>
              <a:t> </a:t>
            </a:r>
            <a:endParaRPr lang="zh-CN" altLang="en-US" sz="2800" dirty="0"/>
          </a:p>
        </p:txBody>
      </p:sp>
      <p:grpSp>
        <p:nvGrpSpPr>
          <p:cNvPr id="4" name="组合 3"/>
          <p:cNvGrpSpPr/>
          <p:nvPr/>
        </p:nvGrpSpPr>
        <p:grpSpPr>
          <a:xfrm>
            <a:off x="3418423" y="433994"/>
            <a:ext cx="5370988" cy="791052"/>
            <a:chOff x="824072" y="1564267"/>
            <a:chExt cx="5370988" cy="791052"/>
          </a:xfrm>
        </p:grpSpPr>
        <p:sp>
          <p:nvSpPr>
            <p:cNvPr id="5" name="矩形: 圆角 16"/>
            <p:cNvSpPr/>
            <p:nvPr/>
          </p:nvSpPr>
          <p:spPr>
            <a:xfrm>
              <a:off x="824072" y="1740416"/>
              <a:ext cx="5370988"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493538" cy="480131"/>
            </a:xfrm>
            <a:prstGeom prst="rect">
              <a:avLst/>
            </a:prstGeom>
          </p:spPr>
          <p:txBody>
            <a:bodyPr wrap="none">
              <a:spAutoFit/>
            </a:bodyPr>
            <a:lstStyle/>
            <a:p>
              <a:pPr>
                <a:lnSpc>
                  <a:spcPct val="90000"/>
                </a:lnSpc>
              </a:pPr>
              <a:r>
                <a:rPr lang="zh-CN" altLang="en-US" sz="2800" dirty="0">
                  <a:solidFill>
                    <a:schemeClr val="bg1"/>
                  </a:solidFill>
                  <a:latin typeface="+mj-ea"/>
                </a:rPr>
                <a:t>网络战的功能与</a:t>
              </a:r>
              <a:r>
                <a:rPr lang="zh-CN" altLang="en-US" sz="2800" dirty="0" smtClean="0">
                  <a:solidFill>
                    <a:schemeClr val="bg1"/>
                  </a:solidFill>
                  <a:latin typeface="+mj-ea"/>
                </a:rPr>
                <a:t>作用（续）</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smtClean="0">
                <a:solidFill>
                  <a:srgbClr val="000000"/>
                </a:solidFill>
                <a:latin typeface="微软雅黑" panose="020B0503020204020204" charset="-122"/>
                <a:ea typeface="微软雅黑" panose="020B0503020204020204" charset="-122"/>
                <a:sym typeface="微软雅黑" panose="020B0503020204020204" charset="-122"/>
              </a:rPr>
              <a:t>网络战包括网络 </a:t>
            </a:r>
            <a:r>
              <a:rPr lang="en-US" altLang="zh-CN" sz="2600" dirty="0" smtClean="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smtClean="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smtClean="0">
                <a:solidFill>
                  <a:srgbClr val="639EF4"/>
                </a:solidFill>
                <a:latin typeface="微软雅黑" panose="020B0503020204020204" charset="-122"/>
                <a:ea typeface="微软雅黑" panose="020B0503020204020204" charset="-122"/>
                <a:sym typeface="微软雅黑" panose="020B0503020204020204" charset="-122"/>
              </a:rPr>
              <a:t>1]</a:t>
            </a:r>
            <a:r>
              <a:rPr lang="zh-CN" altLang="en-US" sz="2600" dirty="0" smtClean="0">
                <a:solidFill>
                  <a:srgbClr val="000000"/>
                </a:solidFill>
                <a:latin typeface="微软雅黑" panose="020B0503020204020204" charset="-122"/>
                <a:ea typeface="微软雅黑" panose="020B0503020204020204" charset="-122"/>
                <a:sym typeface="微软雅黑" panose="020B0503020204020204" charset="-122"/>
              </a:rPr>
              <a:t> 、网络</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a:solidFill>
                  <a:srgbClr val="639EF4"/>
                </a:solidFill>
                <a:latin typeface="微软雅黑" panose="020B0503020204020204" charset="-122"/>
                <a:ea typeface="微软雅黑" panose="020B0503020204020204" charset="-122"/>
                <a:sym typeface="微软雅黑" panose="020B0503020204020204" charset="-122"/>
              </a:rPr>
              <a:t>2]</a:t>
            </a:r>
            <a:r>
              <a:rPr lang="zh-CN" altLang="en-US" sz="2600" dirty="0" smtClean="0">
                <a:solidFill>
                  <a:srgbClr val="000000"/>
                </a:solidFill>
                <a:latin typeface="微软雅黑" panose="020B0503020204020204" charset="-122"/>
                <a:ea typeface="微软雅黑" panose="020B0503020204020204" charset="-122"/>
                <a:sym typeface="微软雅黑" panose="020B0503020204020204" charset="-122"/>
              </a:rPr>
              <a:t>和 网络</a:t>
            </a:r>
            <a:r>
              <a:rPr lang="zh-CN" altLang="en-US" sz="2600" dirty="0" smtClean="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2600" dirty="0" smtClean="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smtClean="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smtClean="0">
                <a:solidFill>
                  <a:srgbClr val="639EF4"/>
                </a:solidFill>
                <a:latin typeface="微软雅黑" panose="020B0503020204020204" charset="-122"/>
                <a:ea typeface="微软雅黑" panose="020B0503020204020204" charset="-122"/>
                <a:sym typeface="微软雅黑" panose="020B0503020204020204" charset="-122"/>
              </a:rPr>
              <a:t>3]</a:t>
            </a:r>
            <a:r>
              <a:rPr lang="en-US" altLang="zh-CN" sz="2600" dirty="0" smtClean="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smtClean="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圆角矩形 5"/>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矩形 11"/>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600" smtClean="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600" smtClean="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6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charset="-122"/>
                  <a:ea typeface="微软雅黑" panose="020B0503020204020204" charset="-122"/>
                  <a:sym typeface="微软雅黑" panose="020B0503020204020204" charset="-122"/>
                </a:rPr>
                <a:t>3</a:t>
              </a:r>
              <a:r>
                <a:rPr lang="zh-CN" altLang="en-US" sz="2000" smtClean="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4" name="图片 3"/>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文本占位符 91138"/>
          <p:cNvSpPr>
            <a:spLocks noGrp="1"/>
          </p:cNvSpPr>
          <p:nvPr>
            <p:ph idx="1"/>
          </p:nvPr>
        </p:nvSpPr>
        <p:spPr>
          <a:xfrm>
            <a:off x="1080654" y="1601190"/>
            <a:ext cx="10070275" cy="4495800"/>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信息</a:t>
            </a:r>
            <a:r>
              <a:rPr lang="zh-CN" altLang="en-US" sz="2800" dirty="0">
                <a:latin typeface="宋体" panose="02010600030101010101" pitchFamily="2" charset="-122"/>
              </a:rPr>
              <a:t>基础设施包括</a:t>
            </a:r>
            <a:r>
              <a:rPr lang="zh-CN" altLang="en-US" sz="2800" dirty="0">
                <a:solidFill>
                  <a:srgbClr val="00B0F0"/>
                </a:solidFill>
                <a:latin typeface="宋体" panose="02010600030101010101" pitchFamily="2" charset="-122"/>
              </a:rPr>
              <a:t>传感器、通信、存储</a:t>
            </a:r>
            <a:r>
              <a:rPr lang="zh-CN" altLang="en-US" sz="2800" dirty="0">
                <a:latin typeface="宋体" panose="02010600030101010101" pitchFamily="2" charset="-122"/>
              </a:rPr>
              <a:t>和</a:t>
            </a:r>
            <a:r>
              <a:rPr lang="zh-CN" altLang="en-US" sz="2800" dirty="0">
                <a:solidFill>
                  <a:srgbClr val="00B0F0"/>
                </a:solidFill>
                <a:latin typeface="宋体" panose="02010600030101010101" pitchFamily="2" charset="-122"/>
              </a:rPr>
              <a:t>计算单元的</a:t>
            </a:r>
            <a:r>
              <a:rPr lang="zh-CN" altLang="en-US" sz="2800" dirty="0">
                <a:latin typeface="宋体" panose="02010600030101010101" pitchFamily="2" charset="-122"/>
              </a:rPr>
              <a:t>有机综合体，这些基本单元组成了特定的信息网络，用以传输多媒体数据。在信息基础设施中，除了支持通信和数据处理的硬件设施外，还包括</a:t>
            </a:r>
            <a:r>
              <a:rPr lang="zh-CN" altLang="en-US" sz="2800" dirty="0">
                <a:solidFill>
                  <a:srgbClr val="00B0F0"/>
                </a:solidFill>
                <a:latin typeface="宋体" panose="02010600030101010101" pitchFamily="2" charset="-122"/>
              </a:rPr>
              <a:t>网络协议、软件与应用、维护基础设施的人员</a:t>
            </a:r>
            <a:r>
              <a:rPr lang="zh-CN" altLang="en-US" sz="2800" dirty="0">
                <a:latin typeface="宋体" panose="02010600030101010101" pitchFamily="2" charset="-122"/>
              </a:rPr>
              <a:t>以及</a:t>
            </a:r>
            <a:r>
              <a:rPr lang="zh-CN" altLang="en-US" sz="2800" dirty="0">
                <a:solidFill>
                  <a:srgbClr val="00B0F0"/>
                </a:solidFill>
                <a:latin typeface="宋体" panose="02010600030101010101" pitchFamily="2" charset="-122"/>
              </a:rPr>
              <a:t>信息本身</a:t>
            </a:r>
            <a:r>
              <a:rPr lang="zh-CN" altLang="en-US" sz="2800" dirty="0">
                <a:latin typeface="宋体" panose="02010600030101010101" pitchFamily="2" charset="-122"/>
              </a:rPr>
              <a:t>。信息基础设施是网络攻击和防御的目标，因为它为攻击者提供了攻击路径，也为防御方提供了预警网和防御屏障。</a:t>
            </a:r>
            <a:r>
              <a:rPr lang="zh-CN" altLang="en-US" sz="2800" dirty="0"/>
              <a:t> </a:t>
            </a:r>
            <a:endParaRPr lang="zh-CN" altLang="en-US" sz="2800" dirty="0"/>
          </a:p>
        </p:txBody>
      </p:sp>
      <p:grpSp>
        <p:nvGrpSpPr>
          <p:cNvPr id="4" name="组合 3"/>
          <p:cNvGrpSpPr/>
          <p:nvPr/>
        </p:nvGrpSpPr>
        <p:grpSpPr>
          <a:xfrm>
            <a:off x="1255277" y="468626"/>
            <a:ext cx="9986245" cy="791052"/>
            <a:chOff x="824071" y="1564267"/>
            <a:chExt cx="9986245" cy="791052"/>
          </a:xfrm>
        </p:grpSpPr>
        <p:sp>
          <p:nvSpPr>
            <p:cNvPr id="5" name="矩形: 圆角 16"/>
            <p:cNvSpPr/>
            <p:nvPr/>
          </p:nvSpPr>
          <p:spPr>
            <a:xfrm>
              <a:off x="824071" y="1740416"/>
              <a:ext cx="9986245"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8882560" cy="480131"/>
            </a:xfrm>
            <a:prstGeom prst="rect">
              <a:avLst/>
            </a:prstGeom>
          </p:spPr>
          <p:txBody>
            <a:bodyPr wrap="none">
              <a:spAutoFit/>
            </a:bodyPr>
            <a:lstStyle/>
            <a:p>
              <a:pPr>
                <a:lnSpc>
                  <a:spcPct val="90000"/>
                </a:lnSpc>
              </a:pPr>
              <a:r>
                <a:rPr lang="zh-CN" altLang="en-US" sz="2800" dirty="0">
                  <a:solidFill>
                    <a:schemeClr val="bg1"/>
                  </a:solidFill>
                  <a:latin typeface="+mj-ea"/>
                </a:rPr>
                <a:t>了解信息基础设施的组成结构对网络攻防是十分必要的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文本占位符 92162"/>
          <p:cNvSpPr>
            <a:spLocks noGrp="1"/>
          </p:cNvSpPr>
          <p:nvPr>
            <p:ph idx="1"/>
          </p:nvPr>
        </p:nvSpPr>
        <p:spPr>
          <a:xfrm>
            <a:off x="1981200" y="2416620"/>
            <a:ext cx="8382000" cy="2879772"/>
          </a:xfrm>
        </p:spPr>
        <p:txBody>
          <a:bodyPr vert="horz" wrap="square" lIns="91440" tIns="45720" rIns="91440" bIns="45720" rtlCol="0" anchor="t">
            <a:noAutofit/>
          </a:bodyPr>
          <a:lstStyle/>
          <a:p>
            <a:pPr algn="just" eaLnBrk="1" hangingPunct="1">
              <a:buNone/>
            </a:pPr>
            <a:r>
              <a:rPr lang="en-US" altLang="zh-CN" sz="2800" dirty="0" smtClean="0"/>
              <a:t>  GII</a:t>
            </a:r>
            <a:r>
              <a:rPr lang="zh-CN" altLang="en-US" sz="2800" dirty="0" smtClean="0"/>
              <a:t>：</a:t>
            </a:r>
            <a:r>
              <a:rPr lang="zh-CN" altLang="en-US" sz="2800" dirty="0"/>
              <a:t>指连接国家与国家信息基础设施之间的国际广播、通信、电信、计算机网络的综合体，提供全球通信、商贸、媒体、导航和网络服务</a:t>
            </a:r>
            <a:r>
              <a:rPr lang="zh-CN" altLang="en-US" sz="2800" dirty="0" smtClean="0"/>
              <a:t>。</a:t>
            </a:r>
            <a:endParaRPr lang="zh-CN" altLang="en-US" sz="2800" dirty="0" smtClean="0"/>
          </a:p>
        </p:txBody>
      </p:sp>
      <p:grpSp>
        <p:nvGrpSpPr>
          <p:cNvPr id="4" name="组合 3"/>
          <p:cNvGrpSpPr/>
          <p:nvPr/>
        </p:nvGrpSpPr>
        <p:grpSpPr>
          <a:xfrm>
            <a:off x="3939980" y="429807"/>
            <a:ext cx="4464440" cy="791052"/>
            <a:chOff x="824072" y="1564267"/>
            <a:chExt cx="4464440" cy="791052"/>
          </a:xfrm>
        </p:grpSpPr>
        <p:sp>
          <p:nvSpPr>
            <p:cNvPr id="5" name="矩形: 圆角 16"/>
            <p:cNvSpPr/>
            <p:nvPr/>
          </p:nvSpPr>
          <p:spPr>
            <a:xfrm>
              <a:off x="824072" y="1740416"/>
              <a:ext cx="4464440"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496470" cy="480131"/>
            </a:xfrm>
            <a:prstGeom prst="rect">
              <a:avLst/>
            </a:prstGeom>
          </p:spPr>
          <p:txBody>
            <a:bodyPr wrap="none">
              <a:spAutoFit/>
            </a:bodyPr>
            <a:lstStyle/>
            <a:p>
              <a:pPr>
                <a:lnSpc>
                  <a:spcPct val="90000"/>
                </a:lnSpc>
              </a:pPr>
              <a:r>
                <a:rPr lang="zh-CN" altLang="en-US" sz="2800" dirty="0">
                  <a:solidFill>
                    <a:schemeClr val="bg1"/>
                  </a:solidFill>
                  <a:latin typeface="+mj-ea"/>
                </a:rPr>
                <a:t>美国的信息基础设施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grpSp>
        <p:nvGrpSpPr>
          <p:cNvPr id="13" name="组合 12"/>
          <p:cNvGrpSpPr/>
          <p:nvPr/>
        </p:nvGrpSpPr>
        <p:grpSpPr>
          <a:xfrm>
            <a:off x="1157851" y="1305155"/>
            <a:ext cx="10147448" cy="840284"/>
            <a:chOff x="3135993" y="1051060"/>
            <a:chExt cx="10147448" cy="840284"/>
          </a:xfrm>
        </p:grpSpPr>
        <p:sp>
          <p:nvSpPr>
            <p:cNvPr id="14" name="矩形: 圆角 19"/>
            <p:cNvSpPr/>
            <p:nvPr/>
          </p:nvSpPr>
          <p:spPr>
            <a:xfrm>
              <a:off x="3839425" y="1280937"/>
              <a:ext cx="9318775"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5" name="矩形 14"/>
            <p:cNvSpPr/>
            <p:nvPr/>
          </p:nvSpPr>
          <p:spPr>
            <a:xfrm>
              <a:off x="3972879" y="1333399"/>
              <a:ext cx="9310562"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ea typeface="思源黑体 CN Heavy" panose="020B0A00000000000000" pitchFamily="34" charset="-122"/>
                </a:rPr>
                <a:t>全球信息基础设施（</a:t>
              </a:r>
              <a:r>
                <a:rPr lang="en-US" altLang="zh-CN" sz="2800" dirty="0">
                  <a:solidFill>
                    <a:schemeClr val="bg1"/>
                  </a:solidFill>
                  <a:effectLst>
                    <a:outerShdw blurRad="38100" dist="38100" dir="2700000" algn="tl">
                      <a:srgbClr val="000000">
                        <a:alpha val="43137"/>
                      </a:srgbClr>
                    </a:outerShdw>
                  </a:effectLst>
                  <a:ea typeface="思源黑体 CN Heavy" panose="020B0A00000000000000" pitchFamily="34" charset="-122"/>
                </a:rPr>
                <a:t>GII-Global Information Infrastructure </a:t>
              </a:r>
              <a:r>
                <a:rPr lang="zh-CN" altLang="en-US" sz="2800" dirty="0">
                  <a:solidFill>
                    <a:schemeClr val="bg1"/>
                  </a:solidFill>
                  <a:effectLst>
                    <a:outerShdw blurRad="38100" dist="38100" dir="2700000" algn="tl">
                      <a:srgbClr val="000000">
                        <a:alpha val="43137"/>
                      </a:srgbClr>
                    </a:outerShdw>
                  </a:effectLst>
                  <a:ea typeface="思源黑体 CN Heavy" panose="020B0A00000000000000" pitchFamily="34" charset="-122"/>
                </a:rPr>
                <a:t>）</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16" name="矩形 15"/>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17" name="直接连接符 16"/>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7"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ppt_x</p:attrName>
                                        </p:attrNameLst>
                                      </p:cBhvr>
                                      <p:tavLst>
                                        <p:tav tm="0">
                                          <p:val>
                                            <p:strVal val="#ppt_x-#ppt_w/2"/>
                                          </p:val>
                                        </p:tav>
                                        <p:tav tm="100000">
                                          <p:val>
                                            <p:strVal val="#ppt_x"/>
                                          </p:val>
                                        </p:tav>
                                      </p:tavLst>
                                    </p:anim>
                                    <p:anim calcmode="lin" valueType="num">
                                      <p:cBhvr>
                                        <p:cTn id="12" dur="500" fill="hold"/>
                                        <p:tgtEl>
                                          <p:spTgt spid="13"/>
                                        </p:tgtEl>
                                        <p:attrNameLst>
                                          <p:attrName>ppt_y</p:attrName>
                                        </p:attrNameLst>
                                      </p:cBhvr>
                                      <p:tavLst>
                                        <p:tav tm="0">
                                          <p:val>
                                            <p:strVal val="#ppt_y"/>
                                          </p:val>
                                        </p:tav>
                                        <p:tav tm="100000">
                                          <p:val>
                                            <p:strVal val="#ppt_y"/>
                                          </p:val>
                                        </p:tav>
                                      </p:tavLst>
                                    </p:anim>
                                    <p:anim calcmode="lin" valueType="num">
                                      <p:cBhvr>
                                        <p:cTn id="13" dur="500" fill="hold"/>
                                        <p:tgtEl>
                                          <p:spTgt spid="13"/>
                                        </p:tgtEl>
                                        <p:attrNameLst>
                                          <p:attrName>ppt_w</p:attrName>
                                        </p:attrNameLst>
                                      </p:cBhvr>
                                      <p:tavLst>
                                        <p:tav tm="0">
                                          <p:val>
                                            <p:fltVal val="0"/>
                                          </p:val>
                                        </p:tav>
                                        <p:tav tm="100000">
                                          <p:val>
                                            <p:strVal val="#ppt_w"/>
                                          </p:val>
                                        </p:tav>
                                      </p:tavLst>
                                    </p:anim>
                                    <p:anim calcmode="lin" valueType="num">
                                      <p:cBhvr>
                                        <p:cTn id="14" dur="5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938347" y="505399"/>
            <a:ext cx="10764604" cy="840284"/>
            <a:chOff x="3135993" y="1051060"/>
            <a:chExt cx="10764604" cy="840284"/>
          </a:xfrm>
        </p:grpSpPr>
        <p:sp>
          <p:nvSpPr>
            <p:cNvPr id="5" name="矩形: 圆角 19"/>
            <p:cNvSpPr/>
            <p:nvPr/>
          </p:nvSpPr>
          <p:spPr>
            <a:xfrm>
              <a:off x="3839425" y="1280937"/>
              <a:ext cx="9651285"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9927718"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国家信息基础设施</a:t>
              </a:r>
              <a:r>
                <a:rPr lang="zh-CN" altLang="en-US" sz="2800" dirty="0">
                  <a:solidFill>
                    <a:schemeClr val="bg1"/>
                  </a:solidFill>
                  <a:effectLst>
                    <a:outerShdw blurRad="38100" dist="38100" dir="2700000" algn="tl">
                      <a:srgbClr val="000000">
                        <a:alpha val="43137"/>
                      </a:srgbClr>
                    </a:outerShdw>
                  </a:effectLst>
                  <a:ea typeface="思源黑体 CN Heavy" panose="020B0A00000000000000" pitchFamily="34" charset="-122"/>
                </a:rPr>
                <a:t>（</a:t>
              </a:r>
              <a:r>
                <a:rPr lang="en-US" altLang="zh-CN" sz="2800" dirty="0">
                  <a:solidFill>
                    <a:schemeClr val="bg1"/>
                  </a:solidFill>
                  <a:effectLst>
                    <a:outerShdw blurRad="38100" dist="38100" dir="2700000" algn="tl">
                      <a:srgbClr val="000000">
                        <a:alpha val="43137"/>
                      </a:srgbClr>
                    </a:outerShdw>
                  </a:effectLst>
                  <a:ea typeface="思源黑体 CN Heavy" panose="020B0A00000000000000" pitchFamily="34" charset="-122"/>
                </a:rPr>
                <a:t>NII-National Information Infrastructure </a:t>
              </a:r>
              <a:r>
                <a:rPr lang="en-US" altLang="zh-CN" sz="2800" dirty="0" smtClean="0">
                  <a:solidFill>
                    <a:schemeClr val="bg1"/>
                  </a:solidFill>
                  <a:effectLst>
                    <a:outerShdw blurRad="38100" dist="38100" dir="2700000" algn="tl">
                      <a:srgbClr val="000000">
                        <a:alpha val="43137"/>
                      </a:srgbClr>
                    </a:outerShdw>
                  </a:effectLst>
                  <a:ea typeface="思源黑体 CN Heavy" panose="020B0A00000000000000" pitchFamily="34" charset="-122"/>
                </a:rPr>
                <a:t>）</a:t>
              </a:r>
              <a:endParaRPr lang="zh-CN" altLang="en-US" sz="2800" dirty="0">
                <a:solidFill>
                  <a:schemeClr val="bg1"/>
                </a:solidFill>
                <a:effectLst>
                  <a:outerShdw blurRad="38100" dist="38100" dir="2700000" algn="tl">
                    <a:srgbClr val="000000">
                      <a:alpha val="43137"/>
                    </a:srgbClr>
                  </a:outerShdw>
                </a:effectLst>
                <a:ea typeface="思源黑体 CN Heavy" panose="020B0A00000000000000" pitchFamily="34" charset="-122"/>
              </a:endParaRPr>
            </a:p>
          </p:txBody>
        </p:sp>
        <p:sp>
          <p:nvSpPr>
            <p:cNvPr id="7" name="矩形 6"/>
            <p:cNvSpPr/>
            <p:nvPr/>
          </p:nvSpPr>
          <p:spPr>
            <a:xfrm>
              <a:off x="3295769" y="1051060"/>
              <a:ext cx="559769" cy="830997"/>
            </a:xfrm>
            <a:prstGeom prst="rect">
              <a:avLst/>
            </a:prstGeom>
          </p:spPr>
          <p:txBody>
            <a:bodyPr wrap="none">
              <a:spAutoFit/>
            </a:bodyPr>
            <a:lstStyle/>
            <a:p>
              <a:r>
                <a:rPr lang="en-US" altLang="zh-CN" sz="4800" b="1" i="1" dirty="0" smtClean="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
        <p:nvSpPr>
          <p:cNvPr id="9" name="文本占位符 92162"/>
          <p:cNvSpPr txBox="1"/>
          <p:nvPr/>
        </p:nvSpPr>
        <p:spPr>
          <a:xfrm>
            <a:off x="1419126" y="1889905"/>
            <a:ext cx="9518047" cy="3853543"/>
          </a:xfrm>
        </p:spPr>
        <p:txBody>
          <a:bodyPr vert="horz" wrap="square" lIns="91440" tIns="45720" rIns="91440" bIns="45720" rtlCol="0" anchor="t">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ltLang="zh-CN" sz="2800" dirty="0" smtClean="0"/>
              <a:t>   NII</a:t>
            </a:r>
            <a:r>
              <a:rPr lang="zh-CN" altLang="en-US" sz="2800" dirty="0" smtClean="0"/>
              <a:t>：</a:t>
            </a:r>
            <a:r>
              <a:rPr lang="zh-CN" altLang="en-US" sz="2800" dirty="0" smtClean="0">
                <a:latin typeface="宋体" panose="02010600030101010101" pitchFamily="2" charset="-122"/>
              </a:rPr>
              <a:t>包括在一个国家之内的属于</a:t>
            </a:r>
            <a:r>
              <a:rPr lang="en-US" altLang="zh-CN" sz="2800" dirty="0" smtClean="0"/>
              <a:t>GII</a:t>
            </a:r>
            <a:r>
              <a:rPr lang="zh-CN" altLang="en-US" sz="2800" dirty="0" smtClean="0">
                <a:latin typeface="宋体" panose="02010600030101010101" pitchFamily="2" charset="-122"/>
              </a:rPr>
              <a:t>的一部分，再加上没有连接到</a:t>
            </a:r>
            <a:r>
              <a:rPr lang="en-US" altLang="zh-CN" sz="2800" dirty="0" smtClean="0"/>
              <a:t>GII</a:t>
            </a:r>
            <a:r>
              <a:rPr lang="zh-CN" altLang="en-US" sz="2800" dirty="0" smtClean="0">
                <a:latin typeface="宋体" panose="02010600030101010101" pitchFamily="2" charset="-122"/>
              </a:rPr>
              <a:t>的内部电信、计算机、内部网络和其他信息基础设施。</a:t>
            </a:r>
            <a:r>
              <a:rPr lang="en-US" altLang="zh-CN" sz="2800" dirty="0" smtClean="0"/>
              <a:t>NII</a:t>
            </a:r>
            <a:r>
              <a:rPr lang="zh-CN" altLang="en-US" sz="2800" dirty="0" smtClean="0">
                <a:latin typeface="宋体" panose="02010600030101010101" pitchFamily="2" charset="-122"/>
              </a:rPr>
              <a:t>的工作直接依赖于国家电力系统，而电力系统是由</a:t>
            </a:r>
            <a:r>
              <a:rPr lang="en-US" altLang="zh-CN" sz="2800" dirty="0" smtClean="0"/>
              <a:t>NII</a:t>
            </a:r>
            <a:r>
              <a:rPr lang="zh-CN" altLang="en-US" sz="2800" dirty="0" smtClean="0">
                <a:latin typeface="宋体" panose="02010600030101010101" pitchFamily="2" charset="-122"/>
              </a:rPr>
              <a:t>的部门控制的。</a:t>
            </a:r>
            <a:r>
              <a:rPr lang="zh-CN" altLang="en-US" sz="2800" dirty="0" smtClean="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93185"/>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04451" name="文本占位符 93186"/>
          <p:cNvSpPr>
            <a:spLocks noGrp="1"/>
          </p:cNvSpPr>
          <p:nvPr>
            <p:ph idx="1"/>
          </p:nvPr>
        </p:nvSpPr>
        <p:spPr>
          <a:xfrm>
            <a:off x="1555667" y="1780822"/>
            <a:ext cx="9583387" cy="3468068"/>
          </a:xfrm>
        </p:spPr>
        <p:txBody>
          <a:bodyPr vert="horz" wrap="square" lIns="91440" tIns="45720" rIns="91440" bIns="45720" rtlCol="0" anchor="t">
            <a:noAutofit/>
          </a:bodyPr>
          <a:lstStyle/>
          <a:p>
            <a:pPr eaLnBrk="1" hangingPunct="1">
              <a:buNone/>
            </a:pPr>
            <a:r>
              <a:rPr lang="en-US" altLang="zh-CN" sz="2800" dirty="0" smtClean="0">
                <a:latin typeface="宋体" panose="02010600030101010101" pitchFamily="2" charset="-122"/>
              </a:rPr>
              <a:t> DII</a:t>
            </a:r>
            <a:r>
              <a:rPr lang="zh-CN" altLang="en-US" sz="2800" dirty="0" smtClean="0">
                <a:latin typeface="宋体" panose="02010600030101010101" pitchFamily="2" charset="-122"/>
              </a:rPr>
              <a:t>：</a:t>
            </a:r>
            <a:r>
              <a:rPr lang="zh-CN" altLang="en-US" sz="2800" dirty="0">
                <a:latin typeface="宋体" panose="02010600030101010101" pitchFamily="2" charset="-122"/>
              </a:rPr>
              <a:t>是用于国家安全防卫，并由国家军事部门建设和维护的信息基础设施。</a:t>
            </a:r>
            <a:r>
              <a:rPr lang="en-US" altLang="zh-CN" sz="2800" dirty="0">
                <a:latin typeface="宋体" panose="02010600030101010101" pitchFamily="2" charset="-122"/>
              </a:rPr>
              <a:t>DII</a:t>
            </a:r>
            <a:r>
              <a:rPr lang="zh-CN" altLang="en-US" sz="2800" dirty="0">
                <a:latin typeface="宋体" panose="02010600030101010101" pitchFamily="2" charset="-122"/>
              </a:rPr>
              <a:t>包括指挥、控制、通信、计算设施与相应的管理设施。</a:t>
            </a:r>
            <a:r>
              <a:rPr lang="en-US" altLang="zh-CN" sz="2800" dirty="0">
                <a:latin typeface="宋体" panose="02010600030101010101" pitchFamily="2" charset="-122"/>
              </a:rPr>
              <a:t>DII</a:t>
            </a:r>
            <a:r>
              <a:rPr lang="zh-CN" altLang="en-US" sz="2800" dirty="0">
                <a:latin typeface="宋体" panose="02010600030101010101" pitchFamily="2" charset="-122"/>
              </a:rPr>
              <a:t>正逐步与</a:t>
            </a:r>
            <a:r>
              <a:rPr lang="en-US" altLang="zh-CN" sz="2800" dirty="0">
                <a:latin typeface="宋体" panose="02010600030101010101" pitchFamily="2" charset="-122"/>
              </a:rPr>
              <a:t>NII</a:t>
            </a:r>
            <a:r>
              <a:rPr lang="zh-CN" altLang="en-US" sz="2800" dirty="0">
                <a:latin typeface="宋体" panose="02010600030101010101" pitchFamily="2" charset="-122"/>
              </a:rPr>
              <a:t>和</a:t>
            </a:r>
            <a:r>
              <a:rPr lang="en-US" altLang="zh-CN" sz="2800" dirty="0">
                <a:latin typeface="宋体" panose="02010600030101010101" pitchFamily="2" charset="-122"/>
              </a:rPr>
              <a:t>GII</a:t>
            </a:r>
            <a:r>
              <a:rPr lang="zh-CN" altLang="en-US" sz="2800" dirty="0">
                <a:latin typeface="宋体" panose="02010600030101010101" pitchFamily="2" charset="-122"/>
              </a:rPr>
              <a:t>互相连通，以便利用商业服务和全球访问，同时也采取了相应的信息保密措施。</a:t>
            </a:r>
            <a:r>
              <a:rPr lang="zh-CN" altLang="en-US" dirty="0"/>
              <a:t> </a:t>
            </a:r>
            <a:endParaRPr lang="zh-CN" altLang="en-US" dirty="0"/>
          </a:p>
        </p:txBody>
      </p:sp>
      <p:grpSp>
        <p:nvGrpSpPr>
          <p:cNvPr id="4" name="组合 3"/>
          <p:cNvGrpSpPr/>
          <p:nvPr/>
        </p:nvGrpSpPr>
        <p:grpSpPr>
          <a:xfrm>
            <a:off x="927131" y="482868"/>
            <a:ext cx="10365457" cy="840284"/>
            <a:chOff x="3135993" y="1051060"/>
            <a:chExt cx="10365457" cy="840284"/>
          </a:xfrm>
        </p:grpSpPr>
        <p:sp>
          <p:nvSpPr>
            <p:cNvPr id="5" name="矩形: 圆角 19"/>
            <p:cNvSpPr/>
            <p:nvPr/>
          </p:nvSpPr>
          <p:spPr>
            <a:xfrm>
              <a:off x="3839426" y="1280937"/>
              <a:ext cx="9559336"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9528571"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ea typeface="思源黑体 CN Heavy" panose="020B0A00000000000000" pitchFamily="34" charset="-122"/>
                </a:rPr>
                <a:t>国防信息基础设施（</a:t>
              </a:r>
              <a:r>
                <a:rPr lang="en-US" altLang="zh-CN" sz="2800" dirty="0">
                  <a:solidFill>
                    <a:schemeClr val="bg1"/>
                  </a:solidFill>
                  <a:effectLst>
                    <a:outerShdw blurRad="38100" dist="38100" dir="2700000" algn="tl">
                      <a:srgbClr val="000000">
                        <a:alpha val="43137"/>
                      </a:srgbClr>
                    </a:outerShdw>
                  </a:effectLst>
                  <a:ea typeface="思源黑体 CN Heavy" panose="020B0A00000000000000" pitchFamily="34" charset="-122"/>
                </a:rPr>
                <a:t>DII-</a:t>
              </a:r>
              <a:r>
                <a:rPr lang="en-US" altLang="zh-CN" sz="2800" dirty="0" err="1">
                  <a:solidFill>
                    <a:schemeClr val="bg1"/>
                  </a:solidFill>
                  <a:effectLst>
                    <a:outerShdw blurRad="38100" dist="38100" dir="2700000" algn="tl">
                      <a:srgbClr val="000000">
                        <a:alpha val="43137"/>
                      </a:srgbClr>
                    </a:outerShdw>
                  </a:effectLst>
                  <a:ea typeface="思源黑体 CN Heavy" panose="020B0A00000000000000" pitchFamily="34" charset="-122"/>
                </a:rPr>
                <a:t>Defence</a:t>
              </a:r>
              <a:r>
                <a:rPr lang="en-US" altLang="zh-CN" sz="2800" dirty="0">
                  <a:solidFill>
                    <a:schemeClr val="bg1"/>
                  </a:solidFill>
                  <a:effectLst>
                    <a:outerShdw blurRad="38100" dist="38100" dir="2700000" algn="tl">
                      <a:srgbClr val="000000">
                        <a:alpha val="43137"/>
                      </a:srgbClr>
                    </a:outerShdw>
                  </a:effectLst>
                  <a:ea typeface="思源黑体 CN Heavy" panose="020B0A00000000000000" pitchFamily="34" charset="-122"/>
                </a:rPr>
                <a:t> Information Infrastructure </a:t>
              </a:r>
              <a:r>
                <a:rPr lang="zh-CN" altLang="en-US" sz="2800" dirty="0">
                  <a:solidFill>
                    <a:schemeClr val="bg1"/>
                  </a:solidFill>
                  <a:effectLst>
                    <a:outerShdw blurRad="38100" dist="38100" dir="2700000" algn="tl">
                      <a:srgbClr val="000000">
                        <a:alpha val="43137"/>
                      </a:srgbClr>
                    </a:outerShdw>
                  </a:effectLst>
                  <a:ea typeface="思源黑体 CN Heavy" panose="020B0A00000000000000" pitchFamily="34" charset="-122"/>
                </a:rPr>
                <a:t>）</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559769"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pPr algn="just"/>
            <a:r>
              <a:rPr lang="zh-CN" altLang="en-US" sz="2400" dirty="0" smtClean="0"/>
              <a:t>（   ）指</a:t>
            </a:r>
            <a:r>
              <a:rPr lang="zh-CN" altLang="en-US" sz="2400" dirty="0"/>
              <a:t>连接国家与国家信息基础设施之间的国际广播、通信、电信、计算机网络的综合体，提供全球通信、商贸、媒体、导航和网络服务。</a:t>
            </a:r>
            <a:endParaRPr lang="zh-CN" altLang="en-US" sz="2400" dirty="0"/>
          </a:p>
        </p:txBody>
      </p:sp>
      <p:sp>
        <p:nvSpPr>
          <p:cNvPr id="6" name="文本框 5"/>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600" dirty="0" smtClean="0">
                <a:solidFill>
                  <a:srgbClr val="000000"/>
                </a:solidFill>
                <a:latin typeface="微软雅黑" panose="020B0503020204020204" charset="-122"/>
                <a:ea typeface="微软雅黑" panose="020B0503020204020204" charset="-122"/>
                <a:sym typeface="微软雅黑" panose="020B0503020204020204" charset="-122"/>
              </a:rPr>
              <a:t>GII</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600" dirty="0" smtClean="0">
                <a:solidFill>
                  <a:srgbClr val="000000"/>
                </a:solidFill>
                <a:latin typeface="微软雅黑" panose="020B0503020204020204" charset="-122"/>
                <a:ea typeface="微软雅黑" panose="020B0503020204020204" charset="-122"/>
                <a:sym typeface="微软雅黑" panose="020B0503020204020204" charset="-122"/>
              </a:rPr>
              <a:t>NII</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sz="2600" dirty="0" smtClean="0">
                <a:solidFill>
                  <a:srgbClr val="000000"/>
                </a:solidFill>
                <a:latin typeface="微软雅黑" panose="020B0503020204020204" charset="-122"/>
                <a:ea typeface="微软雅黑" panose="020B0503020204020204" charset="-122"/>
                <a:sym typeface="微软雅黑" panose="020B0503020204020204" charset="-122"/>
              </a:rPr>
              <a:t>DII</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5"/>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圆角矩形 13"/>
          <p:cNvSpPr/>
          <p:nvPr>
            <p:custDataLst>
              <p:tags r:id="rId8"/>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9" name="组合 18"/>
          <p:cNvGrpSpPr/>
          <p:nvPr>
            <p:custDataLst>
              <p:tags r:id="rId9"/>
            </p:custDataLst>
          </p:nvPr>
        </p:nvGrpSpPr>
        <p:grpSpPr>
          <a:xfrm>
            <a:off x="0" y="0"/>
            <a:ext cx="12192000" cy="635000"/>
            <a:chOff x="0" y="0"/>
            <a:chExt cx="12192000" cy="635000"/>
          </a:xfrm>
        </p:grpSpPr>
        <p:sp>
          <p:nvSpPr>
            <p:cNvPr id="15"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8" name="TipText"/>
            <p:cNvSpPr txBox="1"/>
            <p:nvPr>
              <p:custDataLst>
                <p:tags r:id="rId13"/>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smtClean="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4" name="图片 3"/>
          <p:cNvPicPr/>
          <p:nvPr>
            <p:custDataLst>
              <p:tags r:id="rId14"/>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94209"/>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05475" name="文本占位符 94210"/>
          <p:cNvSpPr>
            <a:spLocks noGrp="1"/>
          </p:cNvSpPr>
          <p:nvPr>
            <p:ph idx="1"/>
          </p:nvPr>
        </p:nvSpPr>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计算机网络</a:t>
            </a:r>
            <a:r>
              <a:rPr lang="zh-CN" altLang="en-US" sz="2800" dirty="0">
                <a:latin typeface="宋体" panose="02010600030101010101" pitchFamily="2" charset="-122"/>
              </a:rPr>
              <a:t>空间是网络上或系统中的计算机活动和作用范围，在其中可以进行各种类型的</a:t>
            </a:r>
            <a:r>
              <a:rPr lang="zh-CN" altLang="en-US" sz="2800" dirty="0">
                <a:solidFill>
                  <a:schemeClr val="folHlink"/>
                </a:solidFill>
                <a:latin typeface="宋体" panose="02010600030101010101" pitchFamily="2" charset="-122"/>
              </a:rPr>
              <a:t>网络攻击活动</a:t>
            </a:r>
            <a:r>
              <a:rPr lang="zh-CN" altLang="en-US" sz="2800" dirty="0">
                <a:latin typeface="宋体" panose="02010600030101010101" pitchFamily="2" charset="-122"/>
              </a:rPr>
              <a:t>，其中包括</a:t>
            </a:r>
            <a:r>
              <a:rPr lang="zh-CN" altLang="en-US" sz="2800" dirty="0">
                <a:solidFill>
                  <a:srgbClr val="00B0F0"/>
                </a:solidFill>
                <a:latin typeface="宋体" panose="02010600030101010101" pitchFamily="2" charset="-122"/>
              </a:rPr>
              <a:t>网络恐怖、语义攻击、网络盯梢、黑客攻击、病毒攻击</a:t>
            </a:r>
            <a:r>
              <a:rPr lang="zh-CN" altLang="en-US" sz="2800" dirty="0">
                <a:latin typeface="宋体" panose="02010600030101010101" pitchFamily="2" charset="-122"/>
              </a:rPr>
              <a:t>等活动。</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文本占位符 95234"/>
          <p:cNvSpPr>
            <a:spLocks noGrp="1"/>
          </p:cNvSpPr>
          <p:nvPr>
            <p:ph idx="1"/>
          </p:nvPr>
        </p:nvSpPr>
        <p:spPr>
          <a:xfrm>
            <a:off x="1033153" y="1427164"/>
            <a:ext cx="10177153" cy="5386387"/>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网络</a:t>
            </a:r>
            <a:r>
              <a:rPr lang="zh-CN" altLang="en-US" sz="2800" dirty="0">
                <a:latin typeface="宋体" panose="02010600030101010101" pitchFamily="2" charset="-122"/>
              </a:rPr>
              <a:t>恐怖活动是恐怖分子利用计算机网络进行恐怖活动，如在伊拉克战争中恐怖分子在网上公布残忍的斩首过程，公布胁迫被捕人质发表声明等活动，对人质所在国家的人民制造恐怖心理，威胁受胁迫国家就范，以期达到在战场上达不到的目的。</a:t>
            </a:r>
            <a:endParaRPr lang="zh-CN" altLang="en-US" sz="2800" dirty="0">
              <a:latin typeface="宋体" panose="02010600030101010101" pitchFamily="2" charset="-122"/>
            </a:endParaRPr>
          </a:p>
          <a:p>
            <a:pPr eaLnBrk="1" hangingPunct="1">
              <a:buNone/>
            </a:pPr>
            <a:r>
              <a:rPr lang="zh-CN" altLang="en-US" sz="2800" dirty="0">
                <a:latin typeface="宋体" panose="02010600030101010101" pitchFamily="2" charset="-122"/>
              </a:rPr>
              <a:t>     </a:t>
            </a:r>
            <a:r>
              <a:rPr lang="zh-CN" altLang="en-US" sz="2800" dirty="0" smtClean="0">
                <a:latin typeface="宋体" panose="02010600030101010101" pitchFamily="2" charset="-122"/>
              </a:rPr>
              <a:t>另外</a:t>
            </a:r>
            <a:r>
              <a:rPr lang="zh-CN" altLang="en-US" sz="2800" dirty="0">
                <a:latin typeface="宋体" panose="02010600030101010101" pitchFamily="2" charset="-122"/>
              </a:rPr>
              <a:t>，恐怖分子还有可能查询敌国军政首脑的私人档案，以公布其档案相威胁，进行敲诈，或对其档案内容进行修改。</a:t>
            </a:r>
            <a:r>
              <a:rPr lang="zh-CN" altLang="en-US" sz="2800" dirty="0"/>
              <a:t>  </a:t>
            </a:r>
            <a:endParaRPr lang="zh-CN" altLang="en-US" sz="2800" dirty="0"/>
          </a:p>
        </p:txBody>
      </p:sp>
      <p:grpSp>
        <p:nvGrpSpPr>
          <p:cNvPr id="4" name="组合 3"/>
          <p:cNvGrpSpPr/>
          <p:nvPr/>
        </p:nvGrpSpPr>
        <p:grpSpPr>
          <a:xfrm>
            <a:off x="4296268" y="444875"/>
            <a:ext cx="3383564" cy="791052"/>
            <a:chOff x="824072" y="1564267"/>
            <a:chExt cx="3383564" cy="791052"/>
          </a:xfrm>
        </p:grpSpPr>
        <p:sp>
          <p:nvSpPr>
            <p:cNvPr id="5" name="矩形: 圆角 16"/>
            <p:cNvSpPr/>
            <p:nvPr/>
          </p:nvSpPr>
          <p:spPr>
            <a:xfrm>
              <a:off x="824072" y="1740416"/>
              <a:ext cx="338356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339102" cy="480131"/>
            </a:xfrm>
            <a:prstGeom prst="rect">
              <a:avLst/>
            </a:prstGeom>
          </p:spPr>
          <p:txBody>
            <a:bodyPr wrap="none">
              <a:spAutoFit/>
            </a:bodyPr>
            <a:lstStyle/>
            <a:p>
              <a:pPr>
                <a:lnSpc>
                  <a:spcPct val="90000"/>
                </a:lnSpc>
              </a:pPr>
              <a:r>
                <a:rPr lang="zh-CN" altLang="en-US" sz="2800" dirty="0">
                  <a:solidFill>
                    <a:schemeClr val="bg1"/>
                  </a:solidFill>
                  <a:latin typeface="+mj-ea"/>
                </a:rPr>
                <a:t>网络恐怖活动</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文本占位符 96258"/>
          <p:cNvSpPr>
            <a:spLocks noGrp="1"/>
          </p:cNvSpPr>
          <p:nvPr>
            <p:ph idx="1"/>
          </p:nvPr>
        </p:nvSpPr>
        <p:spPr>
          <a:xfrm>
            <a:off x="1080655" y="1497875"/>
            <a:ext cx="10046524" cy="3299751"/>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语义</a:t>
            </a:r>
            <a:r>
              <a:rPr lang="zh-CN" altLang="en-US" sz="2800" dirty="0">
                <a:latin typeface="宋体" panose="02010600030101010101" pitchFamily="2" charset="-122"/>
              </a:rPr>
              <a:t>攻击的目的不同于黑客攻击，其目的不是瘫痪对方网络信息系统，而是在</a:t>
            </a:r>
            <a:r>
              <a:rPr lang="zh-CN" altLang="en-US" sz="2800" dirty="0">
                <a:solidFill>
                  <a:schemeClr val="folHlink"/>
                </a:solidFill>
                <a:latin typeface="宋体" panose="02010600030101010101" pitchFamily="2" charset="-122"/>
              </a:rPr>
              <a:t>不影响</a:t>
            </a:r>
            <a:r>
              <a:rPr lang="zh-CN" altLang="en-US" sz="2800" dirty="0">
                <a:latin typeface="宋体" panose="02010600030101010101" pitchFamily="2" charset="-122"/>
              </a:rPr>
              <a:t>敌方网络信息系统</a:t>
            </a:r>
            <a:r>
              <a:rPr lang="zh-CN" altLang="en-US" sz="2800" dirty="0">
                <a:solidFill>
                  <a:schemeClr val="folHlink"/>
                </a:solidFill>
                <a:latin typeface="宋体" panose="02010600030101010101" pitchFamily="2" charset="-122"/>
              </a:rPr>
              <a:t>正常运行</a:t>
            </a:r>
            <a:r>
              <a:rPr lang="zh-CN" altLang="en-US" sz="2800" dirty="0">
                <a:latin typeface="宋体" panose="02010600030101010101" pitchFamily="2" charset="-122"/>
              </a:rPr>
              <a:t>（对方未察觉）的情况下，向对方计算机网络的传感器输送</a:t>
            </a:r>
            <a:r>
              <a:rPr lang="zh-CN" altLang="en-US" sz="2800" dirty="0">
                <a:solidFill>
                  <a:schemeClr val="folHlink"/>
                </a:solidFill>
                <a:latin typeface="宋体" panose="02010600030101010101" pitchFamily="2" charset="-122"/>
              </a:rPr>
              <a:t>假数据</a:t>
            </a:r>
            <a:r>
              <a:rPr lang="zh-CN" altLang="en-US" sz="2800" dirty="0">
                <a:latin typeface="宋体" panose="02010600030101010101" pitchFamily="2" charset="-122"/>
              </a:rPr>
              <a:t>或</a:t>
            </a:r>
            <a:r>
              <a:rPr lang="zh-CN" altLang="en-US" sz="2800" dirty="0">
                <a:solidFill>
                  <a:schemeClr val="folHlink"/>
                </a:solidFill>
                <a:latin typeface="宋体" panose="02010600030101010101" pitchFamily="2" charset="-122"/>
              </a:rPr>
              <a:t>假信号</a:t>
            </a:r>
            <a:r>
              <a:rPr lang="zh-CN" altLang="en-US" sz="2800" dirty="0">
                <a:latin typeface="宋体" panose="02010600030101010101" pitchFamily="2" charset="-122"/>
              </a:rPr>
              <a:t>，使系统给出的结果与实际不符。</a:t>
            </a:r>
            <a:r>
              <a:rPr lang="zh-CN" altLang="en-US" sz="2800" dirty="0"/>
              <a:t> </a:t>
            </a:r>
            <a:endParaRPr lang="zh-CN" altLang="en-US" sz="2800" dirty="0"/>
          </a:p>
        </p:txBody>
      </p:sp>
      <p:grpSp>
        <p:nvGrpSpPr>
          <p:cNvPr id="4" name="组合 3"/>
          <p:cNvGrpSpPr/>
          <p:nvPr/>
        </p:nvGrpSpPr>
        <p:grpSpPr>
          <a:xfrm>
            <a:off x="4731544" y="504948"/>
            <a:ext cx="2728912" cy="791052"/>
            <a:chOff x="824072" y="1564267"/>
            <a:chExt cx="2728912" cy="791052"/>
          </a:xfrm>
        </p:grpSpPr>
        <p:sp>
          <p:nvSpPr>
            <p:cNvPr id="5" name="矩形: 圆角 16"/>
            <p:cNvSpPr/>
            <p:nvPr/>
          </p:nvSpPr>
          <p:spPr>
            <a:xfrm>
              <a:off x="824072" y="174041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1620957" cy="480131"/>
            </a:xfrm>
            <a:prstGeom prst="rect">
              <a:avLst/>
            </a:prstGeom>
          </p:spPr>
          <p:txBody>
            <a:bodyPr wrap="none">
              <a:spAutoFit/>
            </a:bodyPr>
            <a:lstStyle/>
            <a:p>
              <a:pPr>
                <a:lnSpc>
                  <a:spcPct val="90000"/>
                </a:lnSpc>
              </a:pPr>
              <a:r>
                <a:rPr lang="zh-CN" altLang="en-US" sz="2800" dirty="0">
                  <a:solidFill>
                    <a:schemeClr val="bg1"/>
                  </a:solidFill>
                  <a:latin typeface="+mj-ea"/>
                </a:rPr>
                <a:t>语义攻击</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文本占位符 97282"/>
          <p:cNvSpPr>
            <a:spLocks noGrp="1"/>
          </p:cNvSpPr>
          <p:nvPr>
            <p:ph idx="1"/>
          </p:nvPr>
        </p:nvSpPr>
        <p:spPr>
          <a:xfrm>
            <a:off x="1104405" y="1699766"/>
            <a:ext cx="9999024" cy="3240374"/>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网络</a:t>
            </a:r>
            <a:r>
              <a:rPr lang="zh-CN" altLang="en-US" sz="2800" dirty="0">
                <a:latin typeface="宋体" panose="02010600030101010101" pitchFamily="2" charset="-122"/>
              </a:rPr>
              <a:t>盯梢是利用对方的信息系统或计算机配件跟踪对方有关人员、其中包括重要军政人物的活动。例如，如果对方计算机系统配置了摄像头或麦克风，可以通过网络将其激活，观察对方操作人员的相貌，获取他们的输入文件，偷听他们的谈话。</a:t>
            </a:r>
            <a:r>
              <a:rPr lang="zh-CN" altLang="en-US" sz="2800" dirty="0"/>
              <a:t> </a:t>
            </a:r>
            <a:endParaRPr lang="zh-CN" altLang="en-US" sz="2800" dirty="0"/>
          </a:p>
        </p:txBody>
      </p:sp>
      <p:grpSp>
        <p:nvGrpSpPr>
          <p:cNvPr id="4" name="组合 3"/>
          <p:cNvGrpSpPr/>
          <p:nvPr/>
        </p:nvGrpSpPr>
        <p:grpSpPr>
          <a:xfrm>
            <a:off x="4731544" y="504948"/>
            <a:ext cx="2728912" cy="791052"/>
            <a:chOff x="824072" y="1564267"/>
            <a:chExt cx="2728912" cy="791052"/>
          </a:xfrm>
        </p:grpSpPr>
        <p:sp>
          <p:nvSpPr>
            <p:cNvPr id="5" name="矩形: 圆角 16"/>
            <p:cNvSpPr/>
            <p:nvPr/>
          </p:nvSpPr>
          <p:spPr>
            <a:xfrm>
              <a:off x="824072" y="174041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1620957" cy="480131"/>
            </a:xfrm>
            <a:prstGeom prst="rect">
              <a:avLst/>
            </a:prstGeom>
          </p:spPr>
          <p:txBody>
            <a:bodyPr wrap="none">
              <a:spAutoFit/>
            </a:bodyPr>
            <a:lstStyle/>
            <a:p>
              <a:pPr>
                <a:lnSpc>
                  <a:spcPct val="90000"/>
                </a:lnSpc>
              </a:pPr>
              <a:r>
                <a:rPr lang="zh-CN" altLang="en-US" sz="2800" dirty="0">
                  <a:solidFill>
                    <a:schemeClr val="bg1"/>
                  </a:solidFill>
                  <a:latin typeface="+mj-ea"/>
                </a:rPr>
                <a:t>网络盯梢</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文本占位符 98306"/>
          <p:cNvSpPr>
            <a:spLocks noGrp="1"/>
          </p:cNvSpPr>
          <p:nvPr>
            <p:ph idx="1"/>
          </p:nvPr>
        </p:nvSpPr>
        <p:spPr>
          <a:xfrm>
            <a:off x="1104405" y="1664133"/>
            <a:ext cx="10058400" cy="3157247"/>
          </a:xfrm>
        </p:spPr>
        <p:txBody>
          <a:bodyPr vert="horz" wrap="square" lIns="91440" tIns="45720" rIns="91440" bIns="45720" rtlCol="0" anchor="t">
            <a:noAutofit/>
          </a:bodyPr>
          <a:lstStyle/>
          <a:p>
            <a:pPr eaLnBrk="1" hangingPunct="1">
              <a:lnSpc>
                <a:spcPts val="3600"/>
              </a:lnSpc>
              <a:buNone/>
            </a:pPr>
            <a:r>
              <a:rPr lang="en-US" altLang="zh-CN" dirty="0">
                <a:latin typeface="宋体" panose="02010600030101010101" pitchFamily="2" charset="-122"/>
              </a:rPr>
              <a:t>     </a:t>
            </a:r>
            <a:r>
              <a:rPr lang="en-US" altLang="zh-CN" dirty="0" smtClean="0">
                <a:latin typeface="宋体" panose="02010600030101010101" pitchFamily="2" charset="-122"/>
              </a:rPr>
              <a:t>   </a:t>
            </a:r>
            <a:r>
              <a:rPr lang="zh-CN" altLang="en-US" sz="2800" dirty="0">
                <a:latin typeface="宋体" panose="02010600030101010101" pitchFamily="2" charset="-122"/>
              </a:rPr>
              <a:t>黑客攻击是指那些一切对计算机网络构成威胁的非法用户，包括那些未注册的非法用户和越权的网络合法用户，对网络的攻击行为。黑客通过网络探测和脆弱性分析，利用对方的网络信息系统的漏洞进入对方的系统，以合法用户身份对目标网络进行破坏活动，包括获取系统中敏感文件与信息，修改或删除数据、安置木马后门程序等攻击行为。</a:t>
            </a:r>
            <a:r>
              <a:rPr lang="zh-CN" altLang="en-US" sz="2800" dirty="0"/>
              <a:t> </a:t>
            </a:r>
            <a:endParaRPr lang="zh-CN" altLang="en-US" dirty="0"/>
          </a:p>
        </p:txBody>
      </p:sp>
      <p:grpSp>
        <p:nvGrpSpPr>
          <p:cNvPr id="4" name="组合 3"/>
          <p:cNvGrpSpPr/>
          <p:nvPr/>
        </p:nvGrpSpPr>
        <p:grpSpPr>
          <a:xfrm>
            <a:off x="4731544" y="472829"/>
            <a:ext cx="2728912" cy="791052"/>
            <a:chOff x="824072" y="1564267"/>
            <a:chExt cx="2728912" cy="791052"/>
          </a:xfrm>
        </p:grpSpPr>
        <p:sp>
          <p:nvSpPr>
            <p:cNvPr id="5" name="矩形: 圆角 16"/>
            <p:cNvSpPr/>
            <p:nvPr/>
          </p:nvSpPr>
          <p:spPr>
            <a:xfrm>
              <a:off x="824072" y="174041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1620957" cy="480131"/>
            </a:xfrm>
            <a:prstGeom prst="rect">
              <a:avLst/>
            </a:prstGeom>
          </p:spPr>
          <p:txBody>
            <a:bodyPr wrap="none">
              <a:spAutoFit/>
            </a:bodyPr>
            <a:lstStyle/>
            <a:p>
              <a:pPr>
                <a:lnSpc>
                  <a:spcPct val="90000"/>
                </a:lnSpc>
              </a:pPr>
              <a:r>
                <a:rPr lang="zh-CN" altLang="en-US" sz="2800" dirty="0">
                  <a:solidFill>
                    <a:schemeClr val="bg1"/>
                  </a:solidFill>
                  <a:latin typeface="+mj-ea"/>
                </a:rPr>
                <a:t>黑客攻击</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99329"/>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10595" name="文本占位符 99330"/>
          <p:cNvSpPr>
            <a:spLocks noGrp="1"/>
          </p:cNvSpPr>
          <p:nvPr>
            <p:ph idx="1"/>
          </p:nvPr>
        </p:nvSpPr>
        <p:spPr>
          <a:xfrm>
            <a:off x="1353787" y="1842345"/>
            <a:ext cx="9524010" cy="3359046"/>
          </a:xfrm>
        </p:spPr>
        <p:txBody>
          <a:bodyPr vert="horz" wrap="square" lIns="91440" tIns="45720" rIns="91440" bIns="45720" rtlCol="0" anchor="t">
            <a:noAutofit/>
          </a:bodyPr>
          <a:lstStyle/>
          <a:p>
            <a:pPr eaLnBrk="1" hangingPunct="1">
              <a:lnSpc>
                <a:spcPts val="3600"/>
              </a:lnSpc>
              <a:buNone/>
            </a:pPr>
            <a:r>
              <a:rPr lang="en-US" altLang="zh-CN" sz="2800" dirty="0">
                <a:solidFill>
                  <a:srgbClr val="00B0F0"/>
                </a:solidFill>
                <a:latin typeface="宋体" panose="02010600030101010101" pitchFamily="2" charset="-122"/>
              </a:rPr>
              <a:t>     </a:t>
            </a:r>
            <a:r>
              <a:rPr lang="zh-CN" altLang="en-US" sz="2800" dirty="0" smtClean="0">
                <a:solidFill>
                  <a:srgbClr val="00B0F0"/>
                </a:solidFill>
                <a:latin typeface="宋体" panose="02010600030101010101" pitchFamily="2" charset="-122"/>
              </a:rPr>
              <a:t>在</a:t>
            </a:r>
            <a:r>
              <a:rPr lang="zh-CN" altLang="en-US" sz="2800" dirty="0">
                <a:solidFill>
                  <a:srgbClr val="00B0F0"/>
                </a:solidFill>
                <a:latin typeface="宋体" panose="02010600030101010101" pitchFamily="2" charset="-122"/>
              </a:rPr>
              <a:t>平时</a:t>
            </a:r>
            <a:r>
              <a:rPr lang="zh-CN" altLang="en-US" sz="2800" dirty="0">
                <a:latin typeface="宋体" panose="02010600030101010101" pitchFamily="2" charset="-122"/>
              </a:rPr>
              <a:t>，黑客控制对方信息系统的目的是为了获取对方的军事、政治和经济情报；</a:t>
            </a:r>
            <a:r>
              <a:rPr lang="zh-CN" altLang="en-US" sz="2800" dirty="0">
                <a:solidFill>
                  <a:srgbClr val="00B0F0"/>
                </a:solidFill>
                <a:latin typeface="宋体" panose="02010600030101010101" pitchFamily="2" charset="-122"/>
              </a:rPr>
              <a:t>在战时</a:t>
            </a:r>
            <a:r>
              <a:rPr lang="zh-CN" altLang="en-US" sz="2800" dirty="0">
                <a:latin typeface="宋体" panose="02010600030101010101" pitchFamily="2" charset="-122"/>
              </a:rPr>
              <a:t>，除了获取情报外，在关键时刻，将会破坏对方的计算机文件和数据库，甚至对方的电信网、金融系统、工业控制系统、电力网与交通航管系统，致使敌国的通信中断、经济瘫痪、交通阻塞、国家陷入严重混乱。</a:t>
            </a:r>
            <a:r>
              <a:rPr lang="zh-CN" altLang="en-US" sz="2800" dirty="0">
                <a:solidFill>
                  <a:schemeClr val="folHlink"/>
                </a:solidFill>
                <a:latin typeface="宋体" panose="02010600030101010101" pitchFamily="2" charset="-122"/>
              </a:rPr>
              <a:t>黑客攻击有可能实现火力打击无法达到的目的。</a:t>
            </a:r>
            <a:r>
              <a:rPr lang="zh-CN" altLang="en-US" sz="2800" dirty="0">
                <a:solidFill>
                  <a:schemeClr val="folHlink"/>
                </a:solidFill>
              </a:rPr>
              <a:t> </a:t>
            </a:r>
            <a:endParaRPr lang="zh-CN" altLang="en-US" sz="2800" dirty="0">
              <a:solidFill>
                <a:schemeClr val="folHlink"/>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smtClean="0">
                <a:solidFill>
                  <a:srgbClr val="000000"/>
                </a:solidFill>
                <a:latin typeface="微软雅黑" panose="020B0503020204020204" charset="-122"/>
                <a:ea typeface="微软雅黑" panose="020B0503020204020204" charset="-122"/>
                <a:sym typeface="微软雅黑" panose="020B0503020204020204" charset="-122"/>
              </a:rPr>
              <a:t>计算机网络空间是网络上或系统中的计算机活动和作用范围，在其中可以进行各种类型的网络攻击活动，其中包括网络恐怖、</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语义攻击、 </a:t>
            </a:r>
            <a:r>
              <a:rPr lang="zh-CN" altLang="en-US" sz="2600" dirty="0" smtClean="0">
                <a:solidFill>
                  <a:srgbClr val="000000"/>
                </a:solidFill>
                <a:latin typeface="微软雅黑" panose="020B0503020204020204" charset="-122"/>
                <a:ea typeface="微软雅黑" panose="020B0503020204020204" charset="-122"/>
                <a:sym typeface="微软雅黑" panose="020B0503020204020204" charset="-122"/>
              </a:rPr>
              <a:t> </a:t>
            </a:r>
            <a:r>
              <a:rPr lang="en-US" altLang="zh-CN" sz="2600" dirty="0" smtClean="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smtClean="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smtClean="0">
                <a:solidFill>
                  <a:srgbClr val="639EF4"/>
                </a:solidFill>
                <a:latin typeface="微软雅黑" panose="020B0503020204020204" charset="-122"/>
                <a:ea typeface="微软雅黑" panose="020B0503020204020204" charset="-122"/>
                <a:sym typeface="微软雅黑" panose="020B0503020204020204" charset="-122"/>
              </a:rPr>
              <a:t>1]</a:t>
            </a:r>
            <a:r>
              <a:rPr lang="zh-CN" altLang="en-US" sz="2600" dirty="0" smtClean="0">
                <a:solidFill>
                  <a:srgbClr val="000000"/>
                </a:solidFill>
                <a:latin typeface="微软雅黑" panose="020B0503020204020204" charset="-122"/>
                <a:ea typeface="微软雅黑" panose="020B0503020204020204" charset="-122"/>
                <a:sym typeface="微软雅黑" panose="020B0503020204020204" charset="-122"/>
              </a:rPr>
              <a:t> 、 </a:t>
            </a:r>
            <a:r>
              <a:rPr lang="en-US" altLang="zh-CN" sz="2600" dirty="0" smtClean="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2600" dirty="0" smtClean="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2600" dirty="0" smtClean="0">
                <a:solidFill>
                  <a:srgbClr val="639EF4"/>
                </a:solidFill>
                <a:latin typeface="微软雅黑" panose="020B0503020204020204" charset="-122"/>
                <a:ea typeface="微软雅黑" panose="020B0503020204020204" charset="-122"/>
                <a:sym typeface="微软雅黑" panose="020B0503020204020204" charset="-122"/>
              </a:rPr>
              <a:t>2]</a:t>
            </a:r>
            <a:r>
              <a:rPr lang="zh-CN" altLang="en-US" sz="2600" dirty="0" smtClean="0">
                <a:solidFill>
                  <a:srgbClr val="000000"/>
                </a:solidFill>
                <a:latin typeface="微软雅黑" panose="020B0503020204020204" charset="-122"/>
                <a:ea typeface="微软雅黑" panose="020B0503020204020204" charset="-122"/>
                <a:sym typeface="微软雅黑" panose="020B0503020204020204" charset="-122"/>
              </a:rPr>
              <a:t> 、病毒攻击等活动。</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圆角矩形 5"/>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矩形 11"/>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600" smtClean="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600" smtClean="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60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2000" smtClean="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4" name="图片 3"/>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400" dirty="0" smtClean="0">
                <a:latin typeface="宋体" panose="02010600030101010101" pitchFamily="2" charset="-122"/>
              </a:rPr>
              <a:t> （     ）的</a:t>
            </a:r>
            <a:r>
              <a:rPr lang="zh-CN" altLang="en-US" sz="2400" dirty="0">
                <a:latin typeface="宋体" panose="02010600030101010101" pitchFamily="2" charset="-122"/>
              </a:rPr>
              <a:t>目的不同于黑客攻击，其目的不是瘫痪对方网络信息系统，而是在</a:t>
            </a:r>
            <a:r>
              <a:rPr lang="zh-CN" altLang="en-US" sz="2400" dirty="0">
                <a:solidFill>
                  <a:schemeClr val="folHlink"/>
                </a:solidFill>
                <a:latin typeface="宋体" panose="02010600030101010101" pitchFamily="2" charset="-122"/>
              </a:rPr>
              <a:t>不影响</a:t>
            </a:r>
            <a:r>
              <a:rPr lang="zh-CN" altLang="en-US" sz="2400" dirty="0">
                <a:latin typeface="宋体" panose="02010600030101010101" pitchFamily="2" charset="-122"/>
              </a:rPr>
              <a:t>敌方网络信息系统</a:t>
            </a:r>
            <a:r>
              <a:rPr lang="zh-CN" altLang="en-US" sz="2400" dirty="0">
                <a:solidFill>
                  <a:schemeClr val="folHlink"/>
                </a:solidFill>
                <a:latin typeface="宋体" panose="02010600030101010101" pitchFamily="2" charset="-122"/>
              </a:rPr>
              <a:t>正常运行</a:t>
            </a:r>
            <a:r>
              <a:rPr lang="zh-CN" altLang="en-US" sz="2400" dirty="0">
                <a:latin typeface="宋体" panose="02010600030101010101" pitchFamily="2" charset="-122"/>
              </a:rPr>
              <a:t>（对方未察觉）的情况下，向对方计算机网络的传感器输送</a:t>
            </a:r>
            <a:r>
              <a:rPr lang="zh-CN" altLang="en-US" sz="2400" dirty="0">
                <a:solidFill>
                  <a:schemeClr val="folHlink"/>
                </a:solidFill>
                <a:latin typeface="宋体" panose="02010600030101010101" pitchFamily="2" charset="-122"/>
              </a:rPr>
              <a:t>假数据</a:t>
            </a:r>
            <a:r>
              <a:rPr lang="zh-CN" altLang="en-US" sz="2400" dirty="0">
                <a:latin typeface="宋体" panose="02010600030101010101" pitchFamily="2" charset="-122"/>
              </a:rPr>
              <a:t>或</a:t>
            </a:r>
            <a:r>
              <a:rPr lang="zh-CN" altLang="en-US" sz="2400" dirty="0">
                <a:solidFill>
                  <a:schemeClr val="folHlink"/>
                </a:solidFill>
                <a:latin typeface="宋体" panose="02010600030101010101" pitchFamily="2" charset="-122"/>
              </a:rPr>
              <a:t>假信号</a:t>
            </a:r>
            <a:r>
              <a:rPr lang="zh-CN" altLang="en-US" sz="2400" dirty="0">
                <a:latin typeface="宋体" panose="02010600030101010101" pitchFamily="2" charset="-122"/>
              </a:rPr>
              <a:t>，使系统给出的结果与实际不符。</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病毒攻击</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网络恐怖</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800" dirty="0">
                <a:latin typeface="宋体" panose="02010600030101010101" pitchFamily="2" charset="-122"/>
              </a:rPr>
              <a:t>语义攻击</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网络盯梢</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椭圆 7"/>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圆角矩形 11"/>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7" name="组合 16"/>
          <p:cNvGrpSpPr/>
          <p:nvPr>
            <p:custDataLst>
              <p:tags r:id="rId11"/>
            </p:custDataLst>
          </p:nvPr>
        </p:nvGrpSpPr>
        <p:grpSpPr>
          <a:xfrm>
            <a:off x="0" y="0"/>
            <a:ext cx="12192000" cy="635000"/>
            <a:chOff x="0" y="0"/>
            <a:chExt cx="12192000" cy="635000"/>
          </a:xfrm>
        </p:grpSpPr>
        <p:sp>
          <p:nvSpPr>
            <p:cNvPr id="13"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6"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smtClean="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文本占位符 100354"/>
          <p:cNvSpPr>
            <a:spLocks noGrp="1"/>
          </p:cNvSpPr>
          <p:nvPr>
            <p:ph idx="1"/>
          </p:nvPr>
        </p:nvSpPr>
        <p:spPr>
          <a:xfrm>
            <a:off x="669882" y="1818512"/>
            <a:ext cx="10852237" cy="3549132"/>
          </a:xfrm>
        </p:spPr>
        <p:txBody>
          <a:bodyPr vert="horz" wrap="square" lIns="91440" tIns="45720" rIns="91440" bIns="45720" rtlCol="0" anchor="t">
            <a:noAutofit/>
          </a:bodyPr>
          <a:lstStyle/>
          <a:p>
            <a:pPr eaLnBrk="1" hangingPunct="1">
              <a:lnSpc>
                <a:spcPct val="80000"/>
              </a:lnSpc>
              <a:buNone/>
            </a:pPr>
            <a:r>
              <a:rPr lang="en-US" altLang="zh-CN" sz="2800" dirty="0">
                <a:latin typeface="宋体" panose="02010600030101010101" pitchFamily="2" charset="-122"/>
              </a:rPr>
              <a:t>     </a:t>
            </a:r>
            <a:r>
              <a:rPr lang="zh-CN" altLang="en-US" sz="2800" dirty="0" smtClean="0">
                <a:latin typeface="宋体" panose="02010600030101010101" pitchFamily="2" charset="-122"/>
              </a:rPr>
              <a:t>经济</a:t>
            </a:r>
            <a:r>
              <a:rPr lang="zh-CN" altLang="en-US" sz="2800" dirty="0">
                <a:latin typeface="宋体" panose="02010600030101010101" pitchFamily="2" charset="-122"/>
              </a:rPr>
              <a:t>信息战是指在经济、金融和商业领域内进行的信息战，这类信息战可以有以下几种目的：</a:t>
            </a:r>
            <a:endParaRPr lang="zh-CN" altLang="en-US" sz="2800" dirty="0">
              <a:latin typeface="宋体" panose="02010600030101010101" pitchFamily="2" charset="-122"/>
            </a:endParaRPr>
          </a:p>
          <a:p>
            <a:pPr eaLnBrk="1" hangingPunct="1">
              <a:lnSpc>
                <a:spcPct val="80000"/>
              </a:lnSpc>
              <a:buNone/>
            </a:pPr>
            <a:r>
              <a:rPr lang="zh-CN" altLang="en-US" sz="2800" dirty="0">
                <a:latin typeface="宋体" panose="02010600030101010101" pitchFamily="2" charset="-122"/>
              </a:rPr>
              <a:t>（</a:t>
            </a:r>
            <a:r>
              <a:rPr lang="en-US" altLang="zh-CN" sz="2800" dirty="0"/>
              <a:t>1</a:t>
            </a:r>
            <a:r>
              <a:rPr lang="zh-CN" altLang="en-US" sz="2800" dirty="0">
                <a:latin typeface="宋体" panose="02010600030101010101" pitchFamily="2" charset="-122"/>
              </a:rPr>
              <a:t>）旨在获取竞争对手经济商务情报，破坏对手竞争的信息优势，同时提高己方在竞争中的优势；</a:t>
            </a:r>
            <a:endParaRPr lang="zh-CN" altLang="en-US" sz="2800" dirty="0">
              <a:latin typeface="宋体" panose="02010600030101010101" pitchFamily="2" charset="-122"/>
            </a:endParaRPr>
          </a:p>
          <a:p>
            <a:pPr eaLnBrk="1" hangingPunct="1">
              <a:lnSpc>
                <a:spcPct val="80000"/>
              </a:lnSpc>
              <a:buNone/>
            </a:pPr>
            <a:r>
              <a:rPr lang="zh-CN" altLang="en-US" sz="2800" dirty="0">
                <a:latin typeface="宋体" panose="02010600030101010101" pitchFamily="2" charset="-122"/>
              </a:rPr>
              <a:t>（</a:t>
            </a:r>
            <a:r>
              <a:rPr lang="en-US" altLang="zh-CN" sz="2800" dirty="0"/>
              <a:t>2</a:t>
            </a:r>
            <a:r>
              <a:rPr lang="zh-CN" altLang="en-US" sz="2800" dirty="0">
                <a:latin typeface="宋体" panose="02010600030101010101" pitchFamily="2" charset="-122"/>
              </a:rPr>
              <a:t>）实施经济犯罪，如进入和控制对方金融账户，修改账目，偷窃对方钱财；</a:t>
            </a:r>
            <a:endParaRPr lang="zh-CN" altLang="en-US" sz="2800" dirty="0">
              <a:latin typeface="宋体" panose="02010600030101010101" pitchFamily="2" charset="-122"/>
            </a:endParaRPr>
          </a:p>
          <a:p>
            <a:pPr eaLnBrk="1" hangingPunct="1">
              <a:lnSpc>
                <a:spcPct val="80000"/>
              </a:lnSpc>
              <a:buNone/>
            </a:pPr>
            <a:r>
              <a:rPr lang="zh-CN" altLang="en-US" sz="2800" dirty="0">
                <a:latin typeface="宋体" panose="02010600030101010101" pitchFamily="2" charset="-122"/>
              </a:rPr>
              <a:t>（</a:t>
            </a:r>
            <a:r>
              <a:rPr lang="en-US" altLang="zh-CN" sz="2800" dirty="0"/>
              <a:t>3</a:t>
            </a:r>
            <a:r>
              <a:rPr lang="zh-CN" altLang="en-US" sz="2800" dirty="0">
                <a:latin typeface="宋体" panose="02010600030101010101" pitchFamily="2" charset="-122"/>
              </a:rPr>
              <a:t>）国家间的经济对抗，主要旨在破坏敌国经济的体系的正常运转。</a:t>
            </a:r>
            <a:r>
              <a:rPr lang="zh-CN" altLang="en-US" sz="2800" dirty="0"/>
              <a:t> </a:t>
            </a:r>
            <a:endParaRPr lang="zh-CN" altLang="en-US" sz="2800" dirty="0"/>
          </a:p>
        </p:txBody>
      </p:sp>
      <p:grpSp>
        <p:nvGrpSpPr>
          <p:cNvPr id="4" name="组合 3"/>
          <p:cNvGrpSpPr/>
          <p:nvPr/>
        </p:nvGrpSpPr>
        <p:grpSpPr>
          <a:xfrm>
            <a:off x="4171940" y="186956"/>
            <a:ext cx="3848119" cy="1109044"/>
            <a:chOff x="3279913" y="488294"/>
            <a:chExt cx="3848119" cy="1109044"/>
          </a:xfrm>
        </p:grpSpPr>
        <p:grpSp>
          <p:nvGrpSpPr>
            <p:cNvPr id="5" name="组合 4"/>
            <p:cNvGrpSpPr/>
            <p:nvPr/>
          </p:nvGrpSpPr>
          <p:grpSpPr>
            <a:xfrm>
              <a:off x="3279913" y="909457"/>
              <a:ext cx="3848119" cy="687881"/>
              <a:chOff x="3279913" y="909457"/>
              <a:chExt cx="3848119" cy="687881"/>
            </a:xfrm>
          </p:grpSpPr>
          <p:sp>
            <p:nvSpPr>
              <p:cNvPr id="159" name="矩形: 圆角 9"/>
              <p:cNvSpPr/>
              <p:nvPr/>
            </p:nvSpPr>
            <p:spPr>
              <a:xfrm>
                <a:off x="3279913" y="909457"/>
                <a:ext cx="3848119"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2236510"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经济信息战</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文本占位符 101378"/>
          <p:cNvSpPr>
            <a:spLocks noGrp="1"/>
          </p:cNvSpPr>
          <p:nvPr>
            <p:ph idx="1"/>
          </p:nvPr>
        </p:nvSpPr>
        <p:spPr>
          <a:xfrm>
            <a:off x="1401287" y="1755575"/>
            <a:ext cx="9440883" cy="4495800"/>
          </a:xfrm>
        </p:spPr>
        <p:txBody>
          <a:bodyPr vert="horz" wrap="square" lIns="91440" tIns="45720" rIns="91440" bIns="45720" rtlCol="0" anchor="t">
            <a:noAutofit/>
          </a:bodyPr>
          <a:lstStyle/>
          <a:p>
            <a:pPr eaLnBrk="1" hangingPunct="1"/>
            <a:r>
              <a:rPr lang="zh-CN" altLang="en-US" sz="2800" dirty="0">
                <a:solidFill>
                  <a:schemeClr val="folHlink"/>
                </a:solidFill>
                <a:latin typeface="宋体" panose="02010600030101010101" pitchFamily="2" charset="-122"/>
              </a:rPr>
              <a:t>经济信息攻击</a:t>
            </a:r>
            <a:r>
              <a:rPr lang="zh-CN" altLang="en-US" sz="2800" dirty="0">
                <a:latin typeface="宋体" panose="02010600030101010101" pitchFamily="2" charset="-122"/>
              </a:rPr>
              <a:t>是指一个国家、组织或个人为破坏竞争对手或敌对国家经济、商业和金融系统，通过计算机网络系统实施的信息攻击行动。越是信息化程度高的国家或企业，越容易受到信息攻击。</a:t>
            </a:r>
            <a:endParaRPr lang="zh-CN" altLang="en-US" sz="2800" dirty="0">
              <a:latin typeface="宋体" panose="02010600030101010101" pitchFamily="2" charset="-122"/>
            </a:endParaRPr>
          </a:p>
          <a:p>
            <a:pPr eaLnBrk="1" hangingPunct="1"/>
            <a:r>
              <a:rPr lang="zh-CN" altLang="en-US" sz="2800" dirty="0">
                <a:solidFill>
                  <a:schemeClr val="folHlink"/>
                </a:solidFill>
                <a:latin typeface="宋体" panose="02010600030101010101" pitchFamily="2" charset="-122"/>
              </a:rPr>
              <a:t>经济信息封锁</a:t>
            </a:r>
            <a:r>
              <a:rPr lang="zh-CN" altLang="en-US" sz="2800" dirty="0">
                <a:latin typeface="宋体" panose="02010600030101010101" pitchFamily="2" charset="-122"/>
              </a:rPr>
              <a:t>是指切断敌国与外部的经济信息联系，其效果的大小与该国对外贸易的依赖程度，越是对进出口贸易依赖严重的国家，其经济受到的损害就越大。</a:t>
            </a:r>
            <a:r>
              <a:rPr lang="zh-CN" altLang="en-US" sz="2800" dirty="0"/>
              <a:t> </a:t>
            </a:r>
            <a:endParaRPr lang="zh-CN" altLang="en-US" sz="2800" dirty="0"/>
          </a:p>
        </p:txBody>
      </p:sp>
      <p:grpSp>
        <p:nvGrpSpPr>
          <p:cNvPr id="4" name="组合 3"/>
          <p:cNvGrpSpPr/>
          <p:nvPr/>
        </p:nvGrpSpPr>
        <p:grpSpPr>
          <a:xfrm>
            <a:off x="1661018" y="433000"/>
            <a:ext cx="8869964" cy="791052"/>
            <a:chOff x="824072" y="1564267"/>
            <a:chExt cx="8869964" cy="791052"/>
          </a:xfrm>
        </p:grpSpPr>
        <p:sp>
          <p:nvSpPr>
            <p:cNvPr id="5" name="矩形: 圆角 16"/>
            <p:cNvSpPr/>
            <p:nvPr/>
          </p:nvSpPr>
          <p:spPr>
            <a:xfrm>
              <a:off x="824072" y="1740416"/>
              <a:ext cx="886996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7805342" cy="480131"/>
            </a:xfrm>
            <a:prstGeom prst="rect">
              <a:avLst/>
            </a:prstGeom>
          </p:spPr>
          <p:txBody>
            <a:bodyPr wrap="none">
              <a:spAutoFit/>
            </a:bodyPr>
            <a:lstStyle/>
            <a:p>
              <a:pPr>
                <a:lnSpc>
                  <a:spcPct val="90000"/>
                </a:lnSpc>
              </a:pPr>
              <a:r>
                <a:rPr lang="zh-CN" altLang="en-US" sz="2800" dirty="0">
                  <a:solidFill>
                    <a:schemeClr val="bg1"/>
                  </a:solidFill>
                  <a:latin typeface="+mj-ea"/>
                </a:rPr>
                <a:t>经济信息战包括：经济信息攻击和经济信息封锁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文本占位符 102402"/>
          <p:cNvSpPr>
            <a:spLocks noGrp="1"/>
          </p:cNvSpPr>
          <p:nvPr>
            <p:ph idx="1"/>
          </p:nvPr>
        </p:nvSpPr>
        <p:spPr>
          <a:xfrm>
            <a:off x="1068779" y="1771008"/>
            <a:ext cx="10082151" cy="3192873"/>
          </a:xfrm>
        </p:spPr>
        <p:txBody>
          <a:bodyPr vert="horz" wrap="square" lIns="91440" tIns="45720" rIns="91440" bIns="45720" rtlCol="0" anchor="t">
            <a:noAutofit/>
          </a:bodyPr>
          <a:lstStyle/>
          <a:p>
            <a:pPr eaLnBrk="1" hangingPunct="1">
              <a:lnSpc>
                <a:spcPct val="90000"/>
              </a:lnSpc>
              <a:buNone/>
            </a:pPr>
            <a:r>
              <a:rPr lang="en-US" altLang="zh-CN" sz="2800" dirty="0">
                <a:latin typeface="宋体" panose="02010600030101010101" pitchFamily="2" charset="-122"/>
              </a:rPr>
              <a:t>     </a:t>
            </a:r>
            <a:r>
              <a:rPr lang="zh-CN" altLang="en-US" sz="2800" dirty="0" smtClean="0">
                <a:solidFill>
                  <a:schemeClr val="folHlink"/>
                </a:solidFill>
                <a:latin typeface="宋体" panose="02010600030101010101" pitchFamily="2" charset="-122"/>
              </a:rPr>
              <a:t>战略</a:t>
            </a:r>
            <a:r>
              <a:rPr lang="zh-CN" altLang="en-US" sz="2800" dirty="0">
                <a:solidFill>
                  <a:schemeClr val="folHlink"/>
                </a:solidFill>
                <a:latin typeface="宋体" panose="02010600030101010101" pitchFamily="2" charset="-122"/>
              </a:rPr>
              <a:t>信息战</a:t>
            </a:r>
            <a:r>
              <a:rPr lang="zh-CN" altLang="en-US" sz="2800" dirty="0">
                <a:latin typeface="宋体" panose="02010600030101010101" pitchFamily="2" charset="-122"/>
              </a:rPr>
              <a:t>是指</a:t>
            </a:r>
            <a:r>
              <a:rPr lang="zh-CN" altLang="en-US" sz="2800" dirty="0">
                <a:solidFill>
                  <a:srgbClr val="00B0F0"/>
                </a:solidFill>
                <a:latin typeface="宋体" panose="02010600030101010101" pitchFamily="2" charset="-122"/>
              </a:rPr>
              <a:t>通过计算机空间的对抗手段使对方国家的信息基础结构遭受严重破坏，在战略上处于不利地位，影响对方是否发起或继续进行战争的战略决策，也就是说，战略信息战是影响战略级军事行动的一种高级别的信息对抗。</a:t>
            </a:r>
            <a:r>
              <a:rPr lang="zh-CN" altLang="en-US" sz="2800" dirty="0">
                <a:latin typeface="宋体" panose="02010600030101010101" pitchFamily="2" charset="-122"/>
              </a:rPr>
              <a:t>这个概念是由兰德公司组织政界、军界、工业界和学术界的</a:t>
            </a:r>
            <a:r>
              <a:rPr lang="en-US" altLang="zh-CN" sz="2800" dirty="0"/>
              <a:t>170</a:t>
            </a:r>
            <a:r>
              <a:rPr lang="zh-CN" altLang="en-US" sz="2800" dirty="0">
                <a:latin typeface="宋体" panose="02010600030101010101" pitchFamily="2" charset="-122"/>
              </a:rPr>
              <a:t>多名专家，用了半年时间提出的新概念。</a:t>
            </a:r>
            <a:r>
              <a:rPr lang="zh-CN" altLang="en-US" sz="2800" dirty="0"/>
              <a:t> </a:t>
            </a:r>
            <a:endParaRPr lang="zh-CN" altLang="en-US" sz="2800" dirty="0"/>
          </a:p>
        </p:txBody>
      </p:sp>
      <p:grpSp>
        <p:nvGrpSpPr>
          <p:cNvPr id="4" name="组合 3"/>
          <p:cNvGrpSpPr/>
          <p:nvPr/>
        </p:nvGrpSpPr>
        <p:grpSpPr>
          <a:xfrm>
            <a:off x="4171940" y="186956"/>
            <a:ext cx="3848119" cy="1109044"/>
            <a:chOff x="3279913" y="488294"/>
            <a:chExt cx="3848119" cy="1109044"/>
          </a:xfrm>
        </p:grpSpPr>
        <p:grpSp>
          <p:nvGrpSpPr>
            <p:cNvPr id="5" name="组合 4"/>
            <p:cNvGrpSpPr/>
            <p:nvPr/>
          </p:nvGrpSpPr>
          <p:grpSpPr>
            <a:xfrm>
              <a:off x="3279913" y="909457"/>
              <a:ext cx="3848119" cy="687881"/>
              <a:chOff x="3279913" y="909457"/>
              <a:chExt cx="3848119" cy="687881"/>
            </a:xfrm>
          </p:grpSpPr>
          <p:sp>
            <p:nvSpPr>
              <p:cNvPr id="159" name="矩形: 圆角 9"/>
              <p:cNvSpPr/>
              <p:nvPr/>
            </p:nvSpPr>
            <p:spPr>
              <a:xfrm>
                <a:off x="3279913" y="909457"/>
                <a:ext cx="3848119"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2331087" cy="535531"/>
              </a:xfrm>
              <a:prstGeom prst="rect">
                <a:avLst/>
              </a:prstGeom>
              <a:noFill/>
            </p:spPr>
            <p:txBody>
              <a:bodyPr wrap="none" rtlCol="0" anchor="t">
                <a:spAutoFit/>
              </a:bodyPr>
              <a:lstStyle/>
              <a:p>
                <a:pPr lvl="0" fontAlgn="base">
                  <a:lnSpc>
                    <a:spcPct val="90000"/>
                  </a:lnSpc>
                  <a:spcBef>
                    <a:spcPts val="1000"/>
                  </a:spcBef>
                  <a:spcAft>
                    <a:spcPct val="0"/>
                  </a:spcAft>
                  <a:defRPr/>
                </a:pP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战略信息战 </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文本占位符 103426"/>
          <p:cNvSpPr>
            <a:spLocks noGrp="1"/>
          </p:cNvSpPr>
          <p:nvPr>
            <p:ph idx="1"/>
          </p:nvPr>
        </p:nvSpPr>
        <p:spPr>
          <a:xfrm>
            <a:off x="1163782" y="2056021"/>
            <a:ext cx="9868395" cy="3085995"/>
          </a:xfrm>
        </p:spPr>
        <p:txBody>
          <a:bodyPr vert="horz" wrap="square" lIns="91440" tIns="45720" rIns="91440" bIns="45720" rtlCol="0" anchor="t">
            <a:noAutofit/>
          </a:bodyPr>
          <a:lstStyle/>
          <a:p>
            <a:pPr eaLnBrk="1" hangingPunct="1">
              <a:lnSpc>
                <a:spcPct val="90000"/>
              </a:lnSpc>
              <a:buNone/>
            </a:pPr>
            <a:r>
              <a:rPr lang="en-US" altLang="zh-CN" sz="2800" dirty="0">
                <a:latin typeface="宋体" panose="02010600030101010101" pitchFamily="2" charset="-122"/>
              </a:rPr>
              <a:t>     </a:t>
            </a:r>
            <a:r>
              <a:rPr lang="zh-CN" altLang="en-US" sz="2800" dirty="0">
                <a:latin typeface="宋体" panose="02010600030101010101" pitchFamily="2" charset="-122"/>
              </a:rPr>
              <a:t>战略信息战与一般信息战相比，除了对抗手段相同外，</a:t>
            </a:r>
            <a:r>
              <a:rPr lang="zh-CN" altLang="en-US" sz="2800" dirty="0">
                <a:solidFill>
                  <a:schemeClr val="folHlink"/>
                </a:solidFill>
                <a:latin typeface="宋体" panose="02010600030101010101" pitchFamily="2" charset="-122"/>
              </a:rPr>
              <a:t>最大区别</a:t>
            </a:r>
            <a:r>
              <a:rPr lang="zh-CN" altLang="en-US" sz="2800" dirty="0">
                <a:latin typeface="宋体" panose="02010600030101010101" pitchFamily="2" charset="-122"/>
              </a:rPr>
              <a:t>在于</a:t>
            </a:r>
            <a:r>
              <a:rPr lang="zh-CN" altLang="en-US" sz="2800" dirty="0">
                <a:solidFill>
                  <a:srgbClr val="00B0F0"/>
                </a:solidFill>
                <a:latin typeface="宋体" panose="02010600030101010101" pitchFamily="2" charset="-122"/>
              </a:rPr>
              <a:t>前者的潜在对手更多，攻击的目标范围更广，在战略上更加重要</a:t>
            </a:r>
            <a:r>
              <a:rPr lang="zh-CN" altLang="en-US" sz="2800" dirty="0">
                <a:latin typeface="宋体" panose="02010600030101010101" pitchFamily="2" charset="-122"/>
              </a:rPr>
              <a:t>。潜在对手既可能是某个国家，也可能是某个民间组织、国际恐怖组织、犯罪集团，甚至是某个个人。其攻击的目标包括信息、信息基础设施，攻击范围涉及军事、政治、经济和社会等方面的战略目标。</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文本占位符 104450"/>
          <p:cNvSpPr>
            <a:spLocks noGrp="1"/>
          </p:cNvSpPr>
          <p:nvPr>
            <p:ph idx="1"/>
          </p:nvPr>
        </p:nvSpPr>
        <p:spPr>
          <a:xfrm>
            <a:off x="1155261" y="2813586"/>
            <a:ext cx="10019420" cy="3290331"/>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计算机病毒</a:t>
            </a:r>
            <a:r>
              <a:rPr lang="zh-CN" altLang="en-US" sz="2800" dirty="0">
                <a:latin typeface="宋体" panose="02010600030101010101" pitchFamily="2" charset="-122"/>
              </a:rPr>
              <a:t>及其他网络攻击武器大部分都是软件武器，与高技术的武器系统相比，它们的造价非常低。</a:t>
            </a:r>
            <a:endParaRPr lang="zh-CN" altLang="en-US" sz="2800" dirty="0">
              <a:latin typeface="宋体" panose="02010600030101010101" pitchFamily="2" charset="-122"/>
            </a:endParaRPr>
          </a:p>
          <a:p>
            <a:pPr eaLnBrk="1" hangingPunct="1">
              <a:buNone/>
            </a:pPr>
            <a:r>
              <a:rPr lang="zh-CN" altLang="en-US" sz="2800" dirty="0">
                <a:latin typeface="宋体" panose="02010600030101010101" pitchFamily="2" charset="-122"/>
              </a:rPr>
              <a:t>     </a:t>
            </a:r>
            <a:r>
              <a:rPr lang="zh-CN" altLang="en-US" sz="2800" dirty="0" smtClean="0">
                <a:latin typeface="宋体" panose="02010600030101010101" pitchFamily="2" charset="-122"/>
              </a:rPr>
              <a:t>另一方面</a:t>
            </a:r>
            <a:r>
              <a:rPr lang="zh-CN" altLang="en-US" sz="2800" dirty="0">
                <a:latin typeface="宋体" panose="02010600030101010101" pitchFamily="2" charset="-122"/>
              </a:rPr>
              <a:t>，由于计算机空间的网络信息系统越来越复杂，易受攻击的漏洞与脆弱性的存在是难以避免的，为高效益的信息攻击提供了可能性与条件。</a:t>
            </a:r>
            <a:r>
              <a:rPr lang="zh-CN" altLang="en-US" sz="2800" dirty="0"/>
              <a:t> </a:t>
            </a:r>
            <a:endParaRPr lang="zh-CN" altLang="en-US" sz="2800" dirty="0"/>
          </a:p>
        </p:txBody>
      </p:sp>
      <p:sp>
        <p:nvSpPr>
          <p:cNvPr id="104452" name="矩形 104451"/>
          <p:cNvSpPr/>
          <p:nvPr/>
        </p:nvSpPr>
        <p:spPr>
          <a:xfrm>
            <a:off x="2209800" y="269875"/>
            <a:ext cx="7772400" cy="1143000"/>
          </a:xfrm>
          <a:prstGeom prst="rect">
            <a:avLst/>
          </a:prstGeom>
          <a:noFill/>
          <a:ln w="9525">
            <a:noFill/>
          </a:ln>
        </p:spPr>
        <p:txBody>
          <a:bodyPr lIns="92075" tIns="46038" rIns="92075" bIns="46038" anchor="ctr"/>
          <a:lstStyle>
            <a:lvl1pPr marL="0" lvl="0" indent="0" algn="ctr" defTabSz="914400" rtl="0" eaLnBrk="1" fontAlgn="base" latinLnBrk="0" hangingPunct="1">
              <a:lnSpc>
                <a:spcPct val="100000"/>
              </a:lnSpc>
              <a:spcBef>
                <a:spcPct val="0"/>
              </a:spcBef>
              <a:spcAft>
                <a:spcPct val="0"/>
              </a:spcAft>
              <a:buNone/>
              <a:defRPr sz="4400" u="none" kern="1200" baseline="0">
                <a:solidFill>
                  <a:schemeClr val="tx2"/>
                </a:solidFill>
                <a:effectLst>
                  <a:outerShdw blurRad="38100" dist="38100" dir="2700000">
                    <a:srgbClr val="000000"/>
                  </a:outerShdw>
                </a:effectLst>
                <a:latin typeface="Times New Roman" panose="02020603050405020304" pitchFamily="18" charset="0"/>
                <a:ea typeface="黑体" panose="02010609060101010101" charset="-122"/>
              </a:defRPr>
            </a:lvl1pPr>
          </a:lstStyle>
          <a:p>
            <a:pPr>
              <a:defRPr/>
            </a:pPr>
            <a:endParaRPr lang="zh-CN" altLang="en-US" sz="2800" noProof="1">
              <a:solidFill>
                <a:schemeClr val="bg1"/>
              </a:solidFill>
              <a:latin typeface="+mj-ea"/>
              <a:ea typeface="+mj-ea"/>
            </a:endParaRPr>
          </a:p>
        </p:txBody>
      </p:sp>
      <p:grpSp>
        <p:nvGrpSpPr>
          <p:cNvPr id="5" name="组合 4"/>
          <p:cNvGrpSpPr/>
          <p:nvPr/>
        </p:nvGrpSpPr>
        <p:grpSpPr>
          <a:xfrm>
            <a:off x="3149232" y="415448"/>
            <a:ext cx="5890362" cy="791052"/>
            <a:chOff x="824071" y="1564267"/>
            <a:chExt cx="5890362" cy="791052"/>
          </a:xfrm>
        </p:grpSpPr>
        <p:sp>
          <p:nvSpPr>
            <p:cNvPr id="6" name="矩形: 圆角 16"/>
            <p:cNvSpPr/>
            <p:nvPr/>
          </p:nvSpPr>
          <p:spPr>
            <a:xfrm>
              <a:off x="824071" y="1740416"/>
              <a:ext cx="5794255"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1522" y="1828091"/>
              <a:ext cx="5012911" cy="523220"/>
            </a:xfrm>
            <a:prstGeom prst="rect">
              <a:avLst/>
            </a:prstGeom>
          </p:spPr>
          <p:txBody>
            <a:bodyPr wrap="none">
              <a:spAutoFit/>
            </a:bodyPr>
            <a:lstStyle/>
            <a:p>
              <a:pPr>
                <a:defRPr/>
              </a:pPr>
              <a:r>
                <a:rPr lang="zh-CN" altLang="en-US" sz="2800" noProof="1">
                  <a:solidFill>
                    <a:schemeClr val="bg1"/>
                  </a:solidFill>
                  <a:latin typeface="+mj-ea"/>
                </a:rPr>
                <a:t>战略信息战有以下四大特征：  </a:t>
              </a:r>
              <a:endParaRPr lang="zh-CN" altLang="en-US" sz="2800" noProof="1">
                <a:solidFill>
                  <a:schemeClr val="bg1"/>
                </a:solidFill>
                <a:latin typeface="+mj-ea"/>
              </a:endParaRPr>
            </a:p>
          </p:txBody>
        </p:sp>
        <p:pic>
          <p:nvPicPr>
            <p:cNvPr id="8" name="图片 7"/>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grpSp>
        <p:nvGrpSpPr>
          <p:cNvPr id="9" name="组合 8"/>
          <p:cNvGrpSpPr/>
          <p:nvPr/>
        </p:nvGrpSpPr>
        <p:grpSpPr>
          <a:xfrm>
            <a:off x="1083208" y="1693088"/>
            <a:ext cx="4132047" cy="840284"/>
            <a:chOff x="3135993" y="1051060"/>
            <a:chExt cx="4132047" cy="840284"/>
          </a:xfrm>
        </p:grpSpPr>
        <p:sp>
          <p:nvSpPr>
            <p:cNvPr id="10" name="矩形: 圆角 19"/>
            <p:cNvSpPr/>
            <p:nvPr/>
          </p:nvSpPr>
          <p:spPr>
            <a:xfrm>
              <a:off x="3839426" y="1280937"/>
              <a:ext cx="3428614"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 name="矩形 10"/>
            <p:cNvSpPr/>
            <p:nvPr/>
          </p:nvSpPr>
          <p:spPr>
            <a:xfrm>
              <a:off x="3972879" y="1333399"/>
              <a:ext cx="3057247"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发动战争的成本低</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12" name="矩形 11"/>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13" name="直接连接符 12"/>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7"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ppt_w/2"/>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文本占位符 105474"/>
          <p:cNvSpPr>
            <a:spLocks noGrp="1"/>
          </p:cNvSpPr>
          <p:nvPr>
            <p:ph idx="1"/>
          </p:nvPr>
        </p:nvSpPr>
        <p:spPr>
          <a:xfrm>
            <a:off x="1049892" y="1545378"/>
            <a:ext cx="10112913" cy="3097870"/>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a:latin typeface="宋体" panose="02010600030101010101" pitchFamily="2" charset="-122"/>
              </a:rPr>
              <a:t>这些界限包括社会、政府与其他机构之间的部分界限，国家主权，尤其国家信息边界与主权的界限，公共利益与个人利益之间，军事与商业之间，战略、战役与战术之间的界限，以及平时与战时之间的界限很难区分清楚。</a:t>
            </a:r>
            <a:r>
              <a:rPr lang="zh-CN" altLang="en-US" sz="2800" dirty="0"/>
              <a:t> </a:t>
            </a:r>
            <a:endParaRPr lang="zh-CN" altLang="en-US" sz="2800" dirty="0"/>
          </a:p>
        </p:txBody>
      </p:sp>
      <p:grpSp>
        <p:nvGrpSpPr>
          <p:cNvPr id="4" name="组合 3"/>
          <p:cNvGrpSpPr/>
          <p:nvPr/>
        </p:nvGrpSpPr>
        <p:grpSpPr>
          <a:xfrm>
            <a:off x="1049892" y="466597"/>
            <a:ext cx="6257731" cy="840284"/>
            <a:chOff x="3135993" y="1051060"/>
            <a:chExt cx="6257731" cy="840284"/>
          </a:xfrm>
        </p:grpSpPr>
        <p:sp>
          <p:nvSpPr>
            <p:cNvPr id="5" name="矩形: 圆角 19"/>
            <p:cNvSpPr/>
            <p:nvPr/>
          </p:nvSpPr>
          <p:spPr>
            <a:xfrm>
              <a:off x="3839426" y="1280937"/>
              <a:ext cx="5554298"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5211683"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使一些传统的界限变得模糊不清</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559769" cy="830997"/>
            </a:xfrm>
            <a:prstGeom prst="rect">
              <a:avLst/>
            </a:prstGeom>
          </p:spPr>
          <p:txBody>
            <a:bodyPr wrap="none">
              <a:spAutoFit/>
            </a:bodyPr>
            <a:lstStyle/>
            <a:p>
              <a:r>
                <a:rPr lang="en-US" altLang="zh-CN" sz="4800" b="1" i="1" dirty="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文本占位符 106498"/>
          <p:cNvSpPr>
            <a:spLocks noGrp="1"/>
          </p:cNvSpPr>
          <p:nvPr>
            <p:ph idx="1"/>
          </p:nvPr>
        </p:nvSpPr>
        <p:spPr>
          <a:xfrm>
            <a:off x="1140031" y="1699765"/>
            <a:ext cx="9999024" cy="2979117"/>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由于</a:t>
            </a:r>
            <a:r>
              <a:rPr lang="zh-CN" altLang="en-US" sz="2800" dirty="0">
                <a:latin typeface="宋体" panose="02010600030101010101" pitchFamily="2" charset="-122"/>
              </a:rPr>
              <a:t>种种原因，利用传统情报收集手段，很难对付信息战的挑战和确定情报收集目标。现在，情报收集目标已从国家扩大到非政府组织、国际犯罪集团和各类恐怖组织和个人，因而需要采取新的手段来收集情报。</a:t>
            </a:r>
            <a:r>
              <a:rPr lang="zh-CN" altLang="en-US" sz="2800" dirty="0"/>
              <a:t> </a:t>
            </a:r>
            <a:endParaRPr lang="zh-CN" altLang="en-US" sz="2800" dirty="0"/>
          </a:p>
        </p:txBody>
      </p:sp>
      <p:grpSp>
        <p:nvGrpSpPr>
          <p:cNvPr id="4" name="组合 3"/>
          <p:cNvGrpSpPr/>
          <p:nvPr/>
        </p:nvGrpSpPr>
        <p:grpSpPr>
          <a:xfrm>
            <a:off x="1033719" y="541025"/>
            <a:ext cx="4844567" cy="840284"/>
            <a:chOff x="3135993" y="1051060"/>
            <a:chExt cx="4844567" cy="840284"/>
          </a:xfrm>
        </p:grpSpPr>
        <p:sp>
          <p:nvSpPr>
            <p:cNvPr id="5" name="矩形: 圆角 19"/>
            <p:cNvSpPr/>
            <p:nvPr/>
          </p:nvSpPr>
          <p:spPr>
            <a:xfrm>
              <a:off x="3839426" y="1280937"/>
              <a:ext cx="4141134"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775393"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战略情报收集更加困难</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559769"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文本占位符 107522"/>
          <p:cNvSpPr>
            <a:spLocks noGrp="1"/>
          </p:cNvSpPr>
          <p:nvPr>
            <p:ph idx="1"/>
          </p:nvPr>
        </p:nvSpPr>
        <p:spPr>
          <a:xfrm>
            <a:off x="1093095" y="1474125"/>
            <a:ext cx="10022209" cy="3786639"/>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信息</a:t>
            </a:r>
            <a:r>
              <a:rPr lang="zh-CN" altLang="en-US" sz="2800" dirty="0">
                <a:latin typeface="宋体" panose="02010600030101010101" pitchFamily="2" charset="-122"/>
              </a:rPr>
              <a:t>战的发起方可以在对方完全不知晓的情况下，利用信息战武器以闪电般的速度发动战略攻击，然后又迅速恢复到正常工作状况。攻击前没有任何先兆，因而很难做出预警。很难做出攻击评估是由于目前还无法把攻击事件与意外事故、本身事故及外部入侵等情况区分开来。</a:t>
            </a:r>
            <a:r>
              <a:rPr lang="zh-CN" altLang="en-US" sz="2800" dirty="0"/>
              <a:t> </a:t>
            </a:r>
            <a:endParaRPr lang="zh-CN" altLang="en-US" sz="2800" dirty="0"/>
          </a:p>
        </p:txBody>
      </p:sp>
      <p:grpSp>
        <p:nvGrpSpPr>
          <p:cNvPr id="4" name="组合 3"/>
          <p:cNvGrpSpPr/>
          <p:nvPr/>
        </p:nvGrpSpPr>
        <p:grpSpPr>
          <a:xfrm>
            <a:off x="1093095" y="455716"/>
            <a:ext cx="5877720" cy="840284"/>
            <a:chOff x="3135993" y="1051060"/>
            <a:chExt cx="5877720" cy="840284"/>
          </a:xfrm>
        </p:grpSpPr>
        <p:sp>
          <p:nvSpPr>
            <p:cNvPr id="5" name="矩形: 圆角 19"/>
            <p:cNvSpPr/>
            <p:nvPr/>
          </p:nvSpPr>
          <p:spPr>
            <a:xfrm>
              <a:off x="3839426" y="1280937"/>
              <a:ext cx="517428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4852610"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战争预警和攻击评估更难进行</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559769" cy="830997"/>
            </a:xfrm>
            <a:prstGeom prst="rect">
              <a:avLst/>
            </a:prstGeom>
          </p:spPr>
          <p:txBody>
            <a:bodyPr wrap="none">
              <a:spAutoFit/>
            </a:bodyPr>
            <a:lstStyle/>
            <a:p>
              <a:r>
                <a:rPr lang="en-US" altLang="zh-CN" sz="4800" b="1" i="1" dirty="0" smtClean="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文本占位符 108546"/>
          <p:cNvSpPr>
            <a:spLocks noGrp="1"/>
          </p:cNvSpPr>
          <p:nvPr>
            <p:ph idx="1"/>
          </p:nvPr>
        </p:nvSpPr>
        <p:spPr>
          <a:xfrm>
            <a:off x="1068779" y="1438502"/>
            <a:ext cx="10153403" cy="4321029"/>
          </a:xfrm>
        </p:spPr>
        <p:txBody>
          <a:bodyPr vert="horz" wrap="square" lIns="91440" tIns="45720" rIns="91440" bIns="45720" rtlCol="0" anchor="t">
            <a:noAutofit/>
          </a:bodyPr>
          <a:lstStyle/>
          <a:p>
            <a:pPr eaLnBrk="1" hangingPunct="1">
              <a:buNone/>
            </a:pPr>
            <a:r>
              <a:rPr lang="en-US" altLang="zh-CN" sz="2800" dirty="0">
                <a:latin typeface="宋体" panose="02010600030101010101" pitchFamily="2" charset="-122"/>
              </a:rPr>
              <a:t>     </a:t>
            </a:r>
            <a:r>
              <a:rPr lang="zh-CN" altLang="en-US" sz="2800" dirty="0" smtClean="0">
                <a:latin typeface="宋体" panose="02010600030101010101" pitchFamily="2" charset="-122"/>
              </a:rPr>
              <a:t>它</a:t>
            </a:r>
            <a:r>
              <a:rPr lang="zh-CN" altLang="en-US" sz="2800" dirty="0">
                <a:latin typeface="宋体" panose="02010600030101010101" pitchFamily="2" charset="-122"/>
              </a:rPr>
              <a:t>可以影响国家的政治、经济、社会、军事和物理基础设施等许多方面，因而被认为是战略性的，引起国际上广泛的注意。美国是高度依赖信息基础设施的国家，美国政府与军界对此也高度重视。美国军方甚至还提出了网络威胁战略，其作用类似于核威胁，将网络攻击能力发展为有能力彻底摧毁敌对国家整个信息基础设施与网络系统，使敌对国家不敢轻易攻击己方国家的网络。</a:t>
            </a:r>
            <a:r>
              <a:rPr lang="zh-CN" altLang="en-US" sz="2800" dirty="0"/>
              <a:t> </a:t>
            </a:r>
            <a:endParaRPr lang="zh-CN" altLang="en-US" sz="2800" dirty="0"/>
          </a:p>
        </p:txBody>
      </p:sp>
      <p:grpSp>
        <p:nvGrpSpPr>
          <p:cNvPr id="4" name="组合 3"/>
          <p:cNvGrpSpPr/>
          <p:nvPr/>
        </p:nvGrpSpPr>
        <p:grpSpPr>
          <a:xfrm>
            <a:off x="3501692" y="504948"/>
            <a:ext cx="5188615" cy="791052"/>
            <a:chOff x="824071" y="1564267"/>
            <a:chExt cx="5188615" cy="791052"/>
          </a:xfrm>
        </p:grpSpPr>
        <p:sp>
          <p:nvSpPr>
            <p:cNvPr id="5" name="矩形: 圆角 16"/>
            <p:cNvSpPr/>
            <p:nvPr/>
          </p:nvSpPr>
          <p:spPr>
            <a:xfrm>
              <a:off x="824071" y="1740416"/>
              <a:ext cx="5188615"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134465" cy="480131"/>
            </a:xfrm>
            <a:prstGeom prst="rect">
              <a:avLst/>
            </a:prstGeom>
          </p:spPr>
          <p:txBody>
            <a:bodyPr wrap="none">
              <a:spAutoFit/>
            </a:bodyPr>
            <a:lstStyle/>
            <a:p>
              <a:pPr>
                <a:lnSpc>
                  <a:spcPct val="90000"/>
                </a:lnSpc>
              </a:pPr>
              <a:r>
                <a:rPr lang="zh-CN" altLang="en-US" sz="2800" dirty="0">
                  <a:solidFill>
                    <a:schemeClr val="bg1"/>
                  </a:solidFill>
                  <a:latin typeface="+mj-ea"/>
                </a:rPr>
                <a:t>战略信息战的影响非常大</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文本占位符 109570"/>
          <p:cNvSpPr>
            <a:spLocks noGrp="1"/>
          </p:cNvSpPr>
          <p:nvPr>
            <p:ph idx="1"/>
          </p:nvPr>
        </p:nvSpPr>
        <p:spPr>
          <a:xfrm>
            <a:off x="1401287" y="1826825"/>
            <a:ext cx="9630889" cy="4616450"/>
          </a:xfrm>
        </p:spPr>
        <p:txBody>
          <a:bodyPr vert="horz" wrap="square" lIns="91440" tIns="45720" rIns="91440" bIns="45720" rtlCol="0" anchor="t">
            <a:noAutofit/>
          </a:bodyPr>
          <a:lstStyle/>
          <a:p>
            <a:pPr eaLnBrk="1" hangingPunct="1">
              <a:lnSpc>
                <a:spcPct val="90000"/>
              </a:lnSpc>
              <a:buNone/>
            </a:pPr>
            <a:r>
              <a:rPr lang="en-US" altLang="zh-CN" sz="2800" dirty="0">
                <a:latin typeface="宋体" panose="02010600030101010101" pitchFamily="2" charset="-122"/>
              </a:rPr>
              <a:t>  </a:t>
            </a:r>
            <a:r>
              <a:rPr lang="zh-CN" altLang="en-US" sz="2800" dirty="0">
                <a:latin typeface="宋体" panose="02010600030101010101" pitchFamily="2" charset="-122"/>
              </a:rPr>
              <a:t>例如心理战、导航战、虚拟战等形式。</a:t>
            </a:r>
            <a:endParaRPr lang="zh-CN" altLang="en-US" sz="2800" dirty="0">
              <a:latin typeface="宋体" panose="02010600030101010101" pitchFamily="2" charset="-122"/>
            </a:endParaRPr>
          </a:p>
          <a:p>
            <a:pPr eaLnBrk="1" hangingPunct="1">
              <a:lnSpc>
                <a:spcPct val="90000"/>
              </a:lnSpc>
              <a:buClr>
                <a:srgbClr val="66FF99"/>
              </a:buClr>
              <a:buFont typeface="Wingdings" panose="05000000000000000000" pitchFamily="2" charset="2"/>
              <a:buChar char="u"/>
            </a:pPr>
            <a:r>
              <a:rPr lang="zh-CN" altLang="en-US" sz="2800" dirty="0">
                <a:solidFill>
                  <a:schemeClr val="folHlink"/>
                </a:solidFill>
                <a:latin typeface="宋体" panose="02010600030101010101" pitchFamily="2" charset="-122"/>
              </a:rPr>
              <a:t>心理战</a:t>
            </a:r>
            <a:r>
              <a:rPr lang="zh-CN" altLang="en-US" sz="2800" dirty="0">
                <a:latin typeface="宋体" panose="02010600030101010101" pitchFamily="2" charset="-122"/>
              </a:rPr>
              <a:t>除了利用广播、电视、报刊等媒体进行外，还可以在计算机网络空间中进行，如利用网络系统发布虚假消息、投送电子邮件等方式对对方的民众或军人进行宣传，扰乱他们的心理，动摇他们的意志；</a:t>
            </a:r>
            <a:endParaRPr lang="zh-CN" altLang="en-US" sz="2800" dirty="0">
              <a:latin typeface="宋体" panose="02010600030101010101" pitchFamily="2" charset="-122"/>
            </a:endParaRPr>
          </a:p>
          <a:p>
            <a:pPr eaLnBrk="1" hangingPunct="1">
              <a:lnSpc>
                <a:spcPct val="90000"/>
              </a:lnSpc>
              <a:buClr>
                <a:srgbClr val="66FF99"/>
              </a:buClr>
              <a:buFont typeface="Wingdings" panose="05000000000000000000" pitchFamily="2" charset="2"/>
              <a:buChar char="u"/>
            </a:pPr>
            <a:r>
              <a:rPr lang="zh-CN" altLang="en-US" sz="2800" dirty="0">
                <a:solidFill>
                  <a:schemeClr val="folHlink"/>
                </a:solidFill>
                <a:latin typeface="宋体" panose="02010600030101010101" pitchFamily="2" charset="-122"/>
              </a:rPr>
              <a:t>导航战</a:t>
            </a:r>
            <a:r>
              <a:rPr lang="zh-CN" altLang="en-US" sz="2800" dirty="0">
                <a:latin typeface="宋体" panose="02010600030101010101" pitchFamily="2" charset="-122"/>
              </a:rPr>
              <a:t>则是攻击对方的导航系统（如</a:t>
            </a:r>
            <a:r>
              <a:rPr lang="en-US" altLang="zh-CN" sz="2800" dirty="0"/>
              <a:t>GPS</a:t>
            </a:r>
            <a:r>
              <a:rPr lang="zh-CN" altLang="en-US" sz="2800" dirty="0">
                <a:latin typeface="宋体" panose="02010600030101010101" pitchFamily="2" charset="-122"/>
              </a:rPr>
              <a:t>），影响其远射兵器的作用；</a:t>
            </a:r>
            <a:r>
              <a:rPr lang="zh-CN" altLang="en-US" sz="2800" dirty="0"/>
              <a:t> </a:t>
            </a:r>
            <a:endParaRPr lang="zh-CN" altLang="en-US" sz="2800" dirty="0"/>
          </a:p>
        </p:txBody>
      </p:sp>
      <p:grpSp>
        <p:nvGrpSpPr>
          <p:cNvPr id="4" name="组合 3"/>
          <p:cNvGrpSpPr/>
          <p:nvPr/>
        </p:nvGrpSpPr>
        <p:grpSpPr>
          <a:xfrm>
            <a:off x="4208275" y="421125"/>
            <a:ext cx="3775450" cy="791052"/>
            <a:chOff x="824072" y="1564267"/>
            <a:chExt cx="3775450" cy="791052"/>
          </a:xfrm>
        </p:grpSpPr>
        <p:sp>
          <p:nvSpPr>
            <p:cNvPr id="5" name="矩形: 圆角 16"/>
            <p:cNvSpPr/>
            <p:nvPr/>
          </p:nvSpPr>
          <p:spPr>
            <a:xfrm>
              <a:off x="824072" y="1740416"/>
              <a:ext cx="3775450"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698175" cy="480131"/>
            </a:xfrm>
            <a:prstGeom prst="rect">
              <a:avLst/>
            </a:prstGeom>
          </p:spPr>
          <p:txBody>
            <a:bodyPr wrap="none">
              <a:spAutoFit/>
            </a:bodyPr>
            <a:lstStyle/>
            <a:p>
              <a:pPr>
                <a:lnSpc>
                  <a:spcPct val="90000"/>
                </a:lnSpc>
              </a:pPr>
              <a:r>
                <a:rPr lang="zh-CN" altLang="en-US" sz="2800" dirty="0">
                  <a:solidFill>
                    <a:schemeClr val="bg1"/>
                  </a:solidFill>
                  <a:latin typeface="+mj-ea"/>
                </a:rPr>
                <a:t>其他信息战样式</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59480" y="3302822"/>
            <a:ext cx="5353050" cy="3124200"/>
          </a:xfrm>
          <a:prstGeom prst="rect">
            <a:avLst/>
          </a:prstGeom>
        </p:spPr>
      </p:pic>
      <p:sp>
        <p:nvSpPr>
          <p:cNvPr id="110594" name="标题 110593"/>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21859" name="文本占位符 110594"/>
          <p:cNvSpPr>
            <a:spLocks noGrp="1"/>
          </p:cNvSpPr>
          <p:nvPr>
            <p:ph idx="1"/>
          </p:nvPr>
        </p:nvSpPr>
        <p:spPr>
          <a:xfrm>
            <a:off x="1133772" y="863513"/>
            <a:ext cx="9974952" cy="5041355"/>
          </a:xfrm>
        </p:spPr>
        <p:txBody>
          <a:bodyPr vert="horz" wrap="square" lIns="91440" tIns="45720" rIns="91440" bIns="45720" rtlCol="0" anchor="t">
            <a:noAutofit/>
          </a:bodyPr>
          <a:lstStyle/>
          <a:p>
            <a:pPr eaLnBrk="1" hangingPunct="1">
              <a:buClr>
                <a:srgbClr val="66FF99"/>
              </a:buClr>
              <a:buFont typeface="Wingdings" panose="05000000000000000000" pitchFamily="2" charset="2"/>
              <a:buChar char="u"/>
            </a:pPr>
            <a:r>
              <a:rPr lang="zh-CN" altLang="en-US" sz="2800" dirty="0">
                <a:solidFill>
                  <a:schemeClr val="folHlink"/>
                </a:solidFill>
                <a:latin typeface="宋体" panose="02010600030101010101" pitchFamily="2" charset="-122"/>
              </a:rPr>
              <a:t>虚拟战</a:t>
            </a:r>
            <a:r>
              <a:rPr lang="zh-CN" altLang="en-US" sz="2800" dirty="0">
                <a:latin typeface="宋体" panose="02010600030101010101" pitchFamily="2" charset="-122"/>
              </a:rPr>
              <a:t>则是利用虚拟现实技术创造逼真的作战环境与敌人进行模拟演戏式的作战行动。例如，可以利用计算机成像技术模拟敌方最高元首发表承认战争失败的讲话，扰乱对方军心，其目的是形成直观阻吓或蒙骗作用，达到“不战而屈人之兵”的目的。</a:t>
            </a:r>
            <a:r>
              <a:rPr lang="zh-CN" altLang="en-US" sz="2800" dirty="0"/>
              <a:t> </a:t>
            </a:r>
            <a:endParaRPr lang="zh-CN" altLang="en-US" sz="2800" dirty="0"/>
          </a:p>
        </p:txBody>
      </p:sp>
      <p:sp>
        <p:nvSpPr>
          <p:cNvPr id="2" name="圆角矩形 1">
            <a:hlinkClick r:id="rId2" action="ppaction://hlinkfile"/>
          </p:cNvPr>
          <p:cNvSpPr/>
          <p:nvPr/>
        </p:nvSpPr>
        <p:spPr>
          <a:xfrm>
            <a:off x="6825042" y="5948959"/>
            <a:ext cx="2331309" cy="3325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科大讯飞，真的很棒！</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文本占位符 111618"/>
          <p:cNvSpPr>
            <a:spLocks noGrp="1"/>
          </p:cNvSpPr>
          <p:nvPr>
            <p:ph idx="1"/>
          </p:nvPr>
        </p:nvSpPr>
        <p:spPr>
          <a:xfrm>
            <a:off x="1056903" y="1794765"/>
            <a:ext cx="9999024" cy="2777236"/>
          </a:xfrm>
        </p:spPr>
        <p:txBody>
          <a:bodyPr vert="horz" wrap="square" lIns="91440" tIns="45720" rIns="91440" bIns="45720" rtlCol="0" anchor="t">
            <a:noAutofit/>
          </a:bodyPr>
          <a:lstStyle/>
          <a:p>
            <a:pPr eaLnBrk="1" hangingPunct="1">
              <a:lnSpc>
                <a:spcPts val="3600"/>
              </a:lnSpc>
              <a:buNone/>
            </a:pPr>
            <a:r>
              <a:rPr lang="en-US" altLang="zh-CN" sz="2800" dirty="0">
                <a:latin typeface="宋体" panose="02010600030101010101" pitchFamily="2" charset="-122"/>
              </a:rPr>
              <a:t>    </a:t>
            </a:r>
            <a:r>
              <a:rPr lang="en-US" altLang="zh-CN" sz="2800" dirty="0" smtClean="0">
                <a:latin typeface="宋体" panose="02010600030101010101" pitchFamily="2" charset="-122"/>
              </a:rPr>
              <a:t> </a:t>
            </a:r>
            <a:r>
              <a:rPr lang="zh-CN" altLang="en-US" sz="2800" dirty="0" smtClean="0">
                <a:latin typeface="宋体" panose="02010600030101010101" pitchFamily="2" charset="-122"/>
              </a:rPr>
              <a:t>虽然</a:t>
            </a:r>
            <a:r>
              <a:rPr lang="zh-CN" altLang="en-US" sz="2800" dirty="0">
                <a:latin typeface="宋体" panose="02010600030101010101" pitchFamily="2" charset="-122"/>
              </a:rPr>
              <a:t>上面主要是从军事角度介绍了信息对抗的</a:t>
            </a:r>
            <a:r>
              <a:rPr lang="zh-CN" altLang="en-US" sz="2800" dirty="0">
                <a:solidFill>
                  <a:schemeClr val="folHlink"/>
                </a:solidFill>
                <a:latin typeface="宋体" panose="02010600030101010101" pitchFamily="2" charset="-122"/>
              </a:rPr>
              <a:t>发展历史</a:t>
            </a:r>
            <a:r>
              <a:rPr lang="zh-CN" altLang="en-US" sz="2800" dirty="0">
                <a:latin typeface="宋体" panose="02010600030101010101" pitchFamily="2" charset="-122"/>
              </a:rPr>
              <a:t>，介绍了信息对抗的</a:t>
            </a:r>
            <a:r>
              <a:rPr lang="zh-CN" altLang="en-US" sz="2800" dirty="0">
                <a:solidFill>
                  <a:schemeClr val="folHlink"/>
                </a:solidFill>
                <a:latin typeface="宋体" panose="02010600030101010101" pitchFamily="2" charset="-122"/>
              </a:rPr>
              <a:t>概念</a:t>
            </a:r>
            <a:r>
              <a:rPr lang="zh-CN" altLang="en-US" sz="2800" dirty="0">
                <a:latin typeface="宋体" panose="02010600030101010101" pitchFamily="2" charset="-122"/>
              </a:rPr>
              <a:t>与</a:t>
            </a:r>
            <a:r>
              <a:rPr lang="zh-CN" altLang="en-US" sz="2800" dirty="0">
                <a:solidFill>
                  <a:schemeClr val="folHlink"/>
                </a:solidFill>
                <a:latin typeface="宋体" panose="02010600030101010101" pitchFamily="2" charset="-122"/>
              </a:rPr>
              <a:t>内涵</a:t>
            </a:r>
            <a:r>
              <a:rPr lang="zh-CN" altLang="en-US" sz="2800" dirty="0">
                <a:latin typeface="宋体" panose="02010600030101010101" pitchFamily="2" charset="-122"/>
              </a:rPr>
              <a:t>，信息对抗的</a:t>
            </a:r>
            <a:r>
              <a:rPr lang="zh-CN" altLang="en-US" sz="2800" dirty="0">
                <a:solidFill>
                  <a:schemeClr val="folHlink"/>
                </a:solidFill>
                <a:latin typeface="宋体" panose="02010600030101010101" pitchFamily="2" charset="-122"/>
              </a:rPr>
              <a:t>作用</a:t>
            </a:r>
            <a:r>
              <a:rPr lang="zh-CN" altLang="en-US" sz="2800" dirty="0">
                <a:latin typeface="宋体" panose="02010600030101010101" pitchFamily="2" charset="-122"/>
              </a:rPr>
              <a:t>与</a:t>
            </a:r>
            <a:r>
              <a:rPr lang="zh-CN" altLang="en-US" sz="2800" dirty="0">
                <a:solidFill>
                  <a:schemeClr val="folHlink"/>
                </a:solidFill>
                <a:latin typeface="宋体" panose="02010600030101010101" pitchFamily="2" charset="-122"/>
              </a:rPr>
              <a:t>主要对抗样式</a:t>
            </a:r>
            <a:r>
              <a:rPr lang="zh-CN" altLang="en-US" sz="2800" dirty="0">
                <a:latin typeface="宋体" panose="02010600030101010101" pitchFamily="2" charset="-122"/>
              </a:rPr>
              <a:t>。从军事角度研究信息对抗可以更深刻地了解信息对抗的</a:t>
            </a:r>
            <a:r>
              <a:rPr lang="zh-CN" altLang="en-US" sz="2800" dirty="0">
                <a:solidFill>
                  <a:schemeClr val="folHlink"/>
                </a:solidFill>
                <a:latin typeface="宋体" panose="02010600030101010101" pitchFamily="2" charset="-122"/>
              </a:rPr>
              <a:t>本质</a:t>
            </a:r>
            <a:r>
              <a:rPr lang="zh-CN" altLang="en-US" sz="2800" dirty="0">
                <a:latin typeface="宋体" panose="02010600030101010101" pitchFamily="2" charset="-122"/>
              </a:rPr>
              <a:t>。但在后续章节中，我们将从纯技术角度介绍计算机网络空间中的信息对抗技术，主要包括</a:t>
            </a:r>
            <a:r>
              <a:rPr lang="zh-CN" altLang="en-US" sz="2800" dirty="0">
                <a:solidFill>
                  <a:schemeClr val="folHlink"/>
                </a:solidFill>
                <a:latin typeface="宋体" panose="02010600030101010101" pitchFamily="2" charset="-122"/>
              </a:rPr>
              <a:t>风险分析、网络攻击</a:t>
            </a:r>
            <a:r>
              <a:rPr lang="zh-CN" altLang="en-US" sz="2800" dirty="0">
                <a:latin typeface="宋体" panose="02010600030101010101" pitchFamily="2" charset="-122"/>
              </a:rPr>
              <a:t>和</a:t>
            </a:r>
            <a:r>
              <a:rPr lang="zh-CN" altLang="en-US" sz="2800" dirty="0">
                <a:solidFill>
                  <a:schemeClr val="folHlink"/>
                </a:solidFill>
                <a:latin typeface="宋体" panose="02010600030101010101" pitchFamily="2" charset="-122"/>
              </a:rPr>
              <a:t>网络防护</a:t>
            </a:r>
            <a:r>
              <a:rPr lang="zh-CN" altLang="en-US" sz="2800" dirty="0">
                <a:latin typeface="宋体" panose="02010600030101010101" pitchFamily="2" charset="-122"/>
              </a:rPr>
              <a:t>等主要内容。</a:t>
            </a:r>
            <a:r>
              <a:rPr lang="zh-CN" altLang="en-US" sz="2800" dirty="0"/>
              <a:t> </a:t>
            </a:r>
            <a:endParaRPr lang="zh-CN" altLang="en-US" sz="2800" dirty="0"/>
          </a:p>
        </p:txBody>
      </p:sp>
      <p:grpSp>
        <p:nvGrpSpPr>
          <p:cNvPr id="4" name="组合 3"/>
          <p:cNvGrpSpPr/>
          <p:nvPr/>
        </p:nvGrpSpPr>
        <p:grpSpPr>
          <a:xfrm>
            <a:off x="4488568" y="927190"/>
            <a:ext cx="3135694" cy="617070"/>
            <a:chOff x="5493750" y="892151"/>
            <a:chExt cx="3077608" cy="617070"/>
          </a:xfrm>
        </p:grpSpPr>
        <p:sp>
          <p:nvSpPr>
            <p:cNvPr id="5" name="矩形: 圆角 22"/>
            <p:cNvSpPr/>
            <p:nvPr/>
          </p:nvSpPr>
          <p:spPr>
            <a:xfrm>
              <a:off x="5493750" y="892151"/>
              <a:ext cx="2192399"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6"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 name="矩形: 圆角 36"/>
            <p:cNvSpPr/>
            <p:nvPr/>
          </p:nvSpPr>
          <p:spPr>
            <a:xfrm>
              <a:off x="6096000" y="892151"/>
              <a:ext cx="247535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4000" dirty="0">
                  <a:solidFill>
                    <a:schemeClr val="tx1">
                      <a:lumMod val="85000"/>
                      <a:lumOff val="15000"/>
                    </a:schemeClr>
                  </a:solidFill>
                  <a:latin typeface="+mj-ea"/>
                  <a:cs typeface="+mn-ea"/>
                </a:rPr>
                <a:t>本章小结</a:t>
              </a:r>
              <a:endParaRPr lang="zh-CN" altLang="en-US" sz="4000" dirty="0">
                <a:solidFill>
                  <a:schemeClr val="tx1">
                    <a:lumMod val="85000"/>
                    <a:lumOff val="15000"/>
                  </a:schemeClr>
                </a:solidFill>
                <a:latin typeface="+mj-ea"/>
                <a:ea typeface="+mj-ea"/>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gn="ctr">
              <a:buNone/>
            </a:pPr>
            <a:r>
              <a:rPr lang="en-US" altLang="zh-CN" sz="6000" dirty="0" smtClean="0">
                <a:solidFill>
                  <a:schemeClr val="bg2">
                    <a:lumMod val="90000"/>
                  </a:schemeClr>
                </a:solidFill>
                <a:latin typeface="思源黑体 CN Heavy" panose="020B0A00000000000000" pitchFamily="34" charset="-122"/>
                <a:ea typeface="思源黑体 CN Heavy" panose="020B0A00000000000000" pitchFamily="34" charset="-122"/>
                <a:cs typeface="+mn-ea"/>
              </a:rPr>
              <a:t>1.4 </a:t>
            </a:r>
            <a:r>
              <a:rPr lang="zh-CN" altLang="en-US" sz="6000" dirty="0" smtClean="0">
                <a:solidFill>
                  <a:schemeClr val="bg2">
                    <a:lumMod val="90000"/>
                  </a:schemeClr>
                </a:solidFill>
                <a:latin typeface="思源黑体 CN Heavy" panose="020B0A00000000000000" pitchFamily="34" charset="-122"/>
                <a:ea typeface="思源黑体 CN Heavy" panose="020B0A00000000000000" pitchFamily="34" charset="-122"/>
                <a:cs typeface="+mn-ea"/>
              </a:rPr>
              <a:t>信息</a:t>
            </a:r>
            <a:r>
              <a:rPr lang="zh-CN" altLang="en-US" sz="6000" dirty="0">
                <a:solidFill>
                  <a:schemeClr val="bg2">
                    <a:lumMod val="90000"/>
                  </a:schemeClr>
                </a:solidFill>
                <a:latin typeface="思源黑体 CN Heavy" panose="020B0A00000000000000" pitchFamily="34" charset="-122"/>
                <a:ea typeface="思源黑体 CN Heavy" panose="020B0A00000000000000" pitchFamily="34" charset="-122"/>
                <a:cs typeface="+mn-ea"/>
              </a:rPr>
              <a:t>对抗的主要</a:t>
            </a:r>
            <a:r>
              <a:rPr lang="zh-CN" altLang="en-US" sz="6000" dirty="0" smtClean="0">
                <a:solidFill>
                  <a:schemeClr val="bg2">
                    <a:lumMod val="90000"/>
                  </a:schemeClr>
                </a:solidFill>
                <a:latin typeface="思源黑体 CN Heavy" panose="020B0A00000000000000" pitchFamily="34" charset="-122"/>
                <a:ea typeface="思源黑体 CN Heavy" panose="020B0A00000000000000" pitchFamily="34" charset="-122"/>
                <a:cs typeface="+mn-ea"/>
              </a:rPr>
              <a:t>样式</a:t>
            </a:r>
            <a:endParaRPr lang="en-US" altLang="zh-CN" sz="6000" dirty="0" smtClean="0">
              <a:solidFill>
                <a:schemeClr val="bg2">
                  <a:lumMod val="90000"/>
                </a:schemeClr>
              </a:solidFill>
              <a:latin typeface="思源黑体 CN Heavy" panose="020B0A00000000000000" pitchFamily="34" charset="-122"/>
              <a:ea typeface="思源黑体 CN Heavy" panose="020B0A00000000000000" pitchFamily="34" charset="-122"/>
              <a:cs typeface="+mn-ea"/>
            </a:endParaRPr>
          </a:p>
          <a:p>
            <a:pPr marL="0" indent="0" algn="ctr">
              <a:buNone/>
            </a:pPr>
            <a:r>
              <a:rPr lang="zh-CN" altLang="en-US" sz="6000" dirty="0" smtClean="0">
                <a:solidFill>
                  <a:schemeClr val="bg2">
                    <a:lumMod val="90000"/>
                  </a:schemeClr>
                </a:solidFill>
                <a:latin typeface="思源黑体 CN Heavy" panose="020B0A00000000000000" pitchFamily="34" charset="-122"/>
                <a:ea typeface="思源黑体 CN Heavy" panose="020B0A00000000000000" pitchFamily="34" charset="-122"/>
                <a:cs typeface="+mn-ea"/>
                <a:sym typeface="+mn-lt"/>
              </a:rPr>
              <a:t>（第一章 </a:t>
            </a:r>
            <a:r>
              <a:rPr lang="en-US" altLang="zh-CN" sz="6000" dirty="0" smtClean="0">
                <a:solidFill>
                  <a:schemeClr val="tx1"/>
                </a:solidFill>
                <a:latin typeface="思源黑体 CN Heavy" panose="020B0A00000000000000" pitchFamily="34" charset="-122"/>
                <a:ea typeface="思源黑体 CN Heavy" panose="020B0A00000000000000" pitchFamily="34" charset="-122"/>
                <a:cs typeface="+mn-ea"/>
                <a:sym typeface="+mn-lt"/>
              </a:rPr>
              <a:t>END</a:t>
            </a:r>
            <a:r>
              <a:rPr lang="zh-CN" altLang="en-US" sz="6000" dirty="0" smtClean="0">
                <a:solidFill>
                  <a:schemeClr val="bg2">
                    <a:lumMod val="90000"/>
                  </a:schemeClr>
                </a:solidFill>
                <a:latin typeface="思源黑体 CN Heavy" panose="020B0A00000000000000" pitchFamily="34" charset="-122"/>
                <a:ea typeface="思源黑体 CN Heavy" panose="020B0A00000000000000" pitchFamily="34" charset="-122"/>
                <a:cs typeface="+mn-ea"/>
                <a:sym typeface="+mn-lt"/>
              </a:rPr>
              <a:t>）</a:t>
            </a:r>
            <a:endParaRPr lang="zh-CN" altLang="en-US" sz="6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ISLIDE.VECTOR" val="28b0fd0e-7ece-4f48-881a-83c93b08799b"/>
</p:tagLst>
</file>

<file path=ppt/tags/tag7.xml><?xml version="1.0" encoding="utf-8"?>
<p:tagLst xmlns:p="http://schemas.openxmlformats.org/presentationml/2006/main">
  <p:tag name="ISLIDE.VECTOR" val="28b0fd0e-7ece-4f48-881a-83c93b08799b"/>
</p:tagLst>
</file>

<file path=ppt/tags/tag8.xml><?xml version="1.0" encoding="utf-8"?>
<p:tagLst xmlns:p="http://schemas.openxmlformats.org/presentationml/2006/main">
  <p:tag name="RAINPROBLEM" val="ProblemBody"/>
</p:tagLst>
</file>

<file path=ppt/tags/tag9.xml><?xml version="1.0" encoding="utf-8"?>
<p:tagLst xmlns:p="http://schemas.openxmlformats.org/presentationml/2006/main">
  <p:tag name="RAINPROBLEM" val="ProblemSubmit"/>
  <p:tag name="RAINPROBLEMTYPE" val="FillBlank"/>
</p:tagLst>
</file>

<file path=ppt/tags/tag10.xml><?xml version="1.0" encoding="utf-8"?>
<p:tagLst xmlns:p="http://schemas.openxmlformats.org/presentationml/2006/main">
  <p:tag name="PRODUCTVERSIONTIP3" val="PRODUCTVERSIONTIP3"/>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 val="ProblemSetting"/>
  <p:tag name="RAINPROBLEMTYPE" val="FillBlank"/>
</p:tagLst>
</file>

<file path=ppt/tags/tag17.xml><?xml version="1.0" encoding="utf-8"?>
<p:tagLst xmlns:p="http://schemas.openxmlformats.org/presentationml/2006/main">
  <p:tag name="RAINPROBLEM" val="FillBlank"/>
  <p:tag name="PROBLEMBLANKKEYWORD" val="填空"/>
  <p:tag name="PROBLEMBLANKORDER" val="true"/>
  <p:tag name="PROBLEMSCORE" val="3.0"/>
  <p:tag name="PROBLEMBLANK" val="[{&quot;num&quot;:1,&quot;caseSensitive&quot;:false,&quot;fuzzyMatch&quot;:false,&quot;Score&quot;:1.0,&quot;answers&quot;:[&quot;心理战&quot;]},{&quot;num&quot;:2,&quot;caseSensitive&quot;:false,&quot;fuzzyMatch&quot;:false,&quot;Score&quot;:1.0,&quot;answers&quot;:[&quot;电子战&quot;]},{&quot;num&quot;:3,&quot;caseSensitive&quot;:false,&quot;fuzzyMatch&quot;:false,&quot;Score&quot;:1.0,&quot;answers&quot;:[&quot;硬摧毁&quot;]}]"/>
</p:tagLst>
</file>

<file path=ppt/tags/tag18.xml><?xml version="1.0" encoding="utf-8"?>
<p:tagLst xmlns:p="http://schemas.openxmlformats.org/presentationml/2006/main">
  <p:tag name="ISLIDE.VECTOR" val="28b0fd0e-7ece-4f48-881a-83c93b08799b"/>
</p:tagLst>
</file>

<file path=ppt/tags/tag19.xml><?xml version="1.0" encoding="utf-8"?>
<p:tagLst xmlns:p="http://schemas.openxmlformats.org/presentationml/2006/main">
  <p:tag name="ISLIDE.VECTOR" val="28b0fd0e-7ece-4f48-881a-83c93b08799b"/>
</p:tagLst>
</file>

<file path=ppt/tags/tag20.xml><?xml version="1.0" encoding="utf-8"?>
<p:tagLst xmlns:p="http://schemas.openxmlformats.org/presentationml/2006/main">
  <p:tag name="RAINPROBLEM" val="ProblemBody"/>
</p:tagLst>
</file>

<file path=ppt/tags/tag21.xml><?xml version="1.0" encoding="utf-8"?>
<p:tagLst xmlns:p="http://schemas.openxmlformats.org/presentationml/2006/main">
  <p:tag name="RAINPROBLEM" val="ProblemSubmit"/>
  <p:tag name="RAINPROBLEMTYPE" val="FillBlank"/>
</p:tagLst>
</file>

<file path=ppt/tags/tag22.xml><?xml version="1.0" encoding="utf-8"?>
<p:tagLst xmlns:p="http://schemas.openxmlformats.org/presentationml/2006/main">
  <p:tag name="PRODUCTVERSIONTIP3" val="PRODUCTVERSIONTIP3"/>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 val="ProblemSetting"/>
  <p:tag name="RAINPROBLEMTYPE" val="FillBlank"/>
</p:tagLst>
</file>

<file path=ppt/tags/tag29.xml><?xml version="1.0" encoding="utf-8"?>
<p:tagLst xmlns:p="http://schemas.openxmlformats.org/presentationml/2006/main">
  <p:tag name="RAINPROBLEM" val="FillBlank"/>
  <p:tag name="PROBLEMBLANKKEYWORD" val="填空"/>
  <p:tag name="PROBLEMBLANKORDER" val="true"/>
  <p:tag name="PROBLEMSCORE" val="3.0"/>
  <p:tag name="PROBLEMBLANK" val="[{&quot;num&quot;:1,&quot;caseSensitive&quot;:false,&quot;fuzzyMatch&quot;:false,&quot;Score&quot;:1.0,&quot;answers&quot;:[&quot;攻击&quot;]},{&quot;num&quot;:2,&quot;caseSensitive&quot;:false,&quot;fuzzyMatch&quot;:false,&quot;Score&quot;:1.0,&quot;answers&quot;:[&quot;防护&quot;]},{&quot;num&quot;:3,&quot;caseSensitive&quot;:false,&quot;fuzzyMatch&quot;:false,&quot;Score&quot;:1.0,&quot;answers&quot;:[&quot;支援&quot;]}]"/>
</p:tagLst>
</file>

<file path=ppt/tags/tag30.xml><?xml version="1.0" encoding="utf-8"?>
<p:tagLst xmlns:p="http://schemas.openxmlformats.org/presentationml/2006/main">
  <p:tag name="RAINPROBLEM" val="ProblemBody"/>
</p:tagLst>
</file>

<file path=ppt/tags/tag31.xml><?xml version="1.0" encoding="utf-8"?>
<p:tagLst xmlns:p="http://schemas.openxmlformats.org/presentationml/2006/main">
  <p:tag name="RAINPROBLEM" val="ProblemItem"/>
</p:tagLst>
</file>

<file path=ppt/tags/tag32.xml><?xml version="1.0" encoding="utf-8"?>
<p:tagLst xmlns:p="http://schemas.openxmlformats.org/presentationml/2006/main">
  <p:tag name="RAINPROBLEM" val="ProblemItem"/>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Bullet"/>
  <p:tag name="RAINPROBLEMTYPE" val="MultipleChoice"/>
  <p:tag name="RAINBULLET" val="Correct"/>
</p:tagLst>
</file>

<file path=ppt/tags/tag35.xml><?xml version="1.0" encoding="utf-8"?>
<p:tagLst xmlns:p="http://schemas.openxmlformats.org/presentationml/2006/main">
  <p:tag name="RAINPROBLEM" val="ProblemBullet"/>
  <p:tag name="RAINPROBLEMTYPE" val="MultipleChoice"/>
  <p:tag name="RAINBULLET" val="Wrong"/>
</p:tagLst>
</file>

<file path=ppt/tags/tag36.xml><?xml version="1.0" encoding="utf-8"?>
<p:tagLst xmlns:p="http://schemas.openxmlformats.org/presentationml/2006/main">
  <p:tag name="RAINPROBLEM" val="ProblemBullet"/>
  <p:tag name="RAINPROBLEMTYPE" val="MultipleChoice"/>
  <p:tag name="RAINBULLET" val="Wrong"/>
</p:tagLst>
</file>

<file path=ppt/tags/tag37.xml><?xml version="1.0" encoding="utf-8"?>
<p:tagLst xmlns:p="http://schemas.openxmlformats.org/presentationml/2006/main">
  <p:tag name="RAINPROBLEM" val="ProblemSubmit"/>
  <p:tag name="RAINPROBLEMTYPE" val="MultipleChoice"/>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TYPE" val="ProblemTypeMarker"/>
</p:tagLst>
</file>

<file path=ppt/tags/tag43.xml><?xml version="1.0" encoding="utf-8"?>
<p:tagLst xmlns:p="http://schemas.openxmlformats.org/presentationml/2006/main">
  <p:tag name="RAINPROBLEM" val="ProblemSetting"/>
  <p:tag name="RAINPROBLEMTYPE" val="MultipleChoice"/>
</p:tagLst>
</file>

<file path=ppt/tags/tag44.xml><?xml version="1.0" encoding="utf-8"?>
<p:tagLst xmlns:p="http://schemas.openxmlformats.org/presentationml/2006/main">
  <p:tag name="RAINPROBLEM" val="MultipleChoice"/>
  <p:tag name="PROBLEMSCORE" val="1.0"/>
</p:tagLst>
</file>

<file path=ppt/tags/tag45.xml><?xml version="1.0" encoding="utf-8"?>
<p:tagLst xmlns:p="http://schemas.openxmlformats.org/presentationml/2006/main">
  <p:tag name="RAINPROBLEM" val="ProblemBody"/>
</p:tagLst>
</file>

<file path=ppt/tags/tag46.xml><?xml version="1.0" encoding="utf-8"?>
<p:tagLst xmlns:p="http://schemas.openxmlformats.org/presentationml/2006/main">
  <p:tag name="RAINPROBLEM" val="ProblemSubmit"/>
  <p:tag name="RAINPROBLEMTYPE" val="FillBlank"/>
</p:tagLst>
</file>

<file path=ppt/tags/tag47.xml><?xml version="1.0" encoding="utf-8"?>
<p:tagLst xmlns:p="http://schemas.openxmlformats.org/presentationml/2006/main">
  <p:tag name="PRODUCTVERSIONTIP3" val="PRODUCTVERSIONTIP3"/>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 val="ProblemSetting"/>
  <p:tag name="RAINPROBLEMTYPE" val="FillBlank"/>
</p:tagLst>
</file>

<file path=ppt/tags/tag54.xml><?xml version="1.0" encoding="utf-8"?>
<p:tagLst xmlns:p="http://schemas.openxmlformats.org/presentationml/2006/main">
  <p:tag name="RAINPROBLEM" val="FillBlank"/>
  <p:tag name="PROBLEMBLANKKEYWORD" val="填空"/>
  <p:tag name="PROBLEMBLANKORDER" val="true"/>
  <p:tag name="PROBLEMSCORE" val="2.0"/>
  <p:tag name="PROBLEMBLANK" val="[{&quot;num&quot;:1,&quot;caseSensitive&quot;:false,&quot;fuzzyMatch&quot;:false,&quot;Score&quot;:1.0,&quot;answers&quot;:[&quot;黑客攻击&quot;]},{&quot;num&quot;:2,&quot;caseSensitive&quot;:false,&quot;fuzzyMatch&quot;:false,&quot;Score&quot;:1.0,&quot;answers&quot;:[&quot;网络盯梢&quot;]}]"/>
</p:tagLst>
</file>

<file path=ppt/tags/tag55.xml><?xml version="1.0" encoding="utf-8"?>
<p:tagLst xmlns:p="http://schemas.openxmlformats.org/presentationml/2006/main">
  <p:tag name="RAINPROBLEM" val="ProblemBody"/>
</p:tagLst>
</file>

<file path=ppt/tags/tag56.xml><?xml version="1.0" encoding="utf-8"?>
<p:tagLst xmlns:p="http://schemas.openxmlformats.org/presentationml/2006/main">
  <p:tag name="RAINPROBLEM" val="ProblemItem"/>
</p:tagLst>
</file>

<file path=ppt/tags/tag57.xml><?xml version="1.0" encoding="utf-8"?>
<p:tagLst xmlns:p="http://schemas.openxmlformats.org/presentationml/2006/main">
  <p:tag name="RAINPROBLEM" val="ProblemItem"/>
</p:tagLst>
</file>

<file path=ppt/tags/tag58.xml><?xml version="1.0" encoding="utf-8"?>
<p:tagLst xmlns:p="http://schemas.openxmlformats.org/presentationml/2006/main">
  <p:tag name="RAINPROBLEM" val="ProblemItem"/>
</p:tagLst>
</file>

<file path=ppt/tags/tag59.xml><?xml version="1.0" encoding="utf-8"?>
<p:tagLst xmlns:p="http://schemas.openxmlformats.org/presentationml/2006/main">
  <p:tag name="RAINPROBLEM" val="ProblemItem"/>
</p:tagLst>
</file>

<file path=ppt/tags/tag60.xml><?xml version="1.0" encoding="utf-8"?>
<p:tagLst xmlns:p="http://schemas.openxmlformats.org/presentationml/2006/main">
  <p:tag name="RAINPROBLEM" val="ProblemBullet"/>
  <p:tag name="RAINPROBLEMTYPE" val="MultipleChoice"/>
  <p:tag name="RAINBULLET" val="Wrong"/>
</p:tagLst>
</file>

<file path=ppt/tags/tag61.xml><?xml version="1.0" encoding="utf-8"?>
<p:tagLst xmlns:p="http://schemas.openxmlformats.org/presentationml/2006/main">
  <p:tag name="RAINPROBLEM" val="ProblemBullet"/>
  <p:tag name="RAINPROBLEMTYPE" val="MultipleChoice"/>
  <p:tag name="RAINBULLET" val="Wrong"/>
</p:tagLst>
</file>

<file path=ppt/tags/tag62.xml><?xml version="1.0" encoding="utf-8"?>
<p:tagLst xmlns:p="http://schemas.openxmlformats.org/presentationml/2006/main">
  <p:tag name="RAINPROBLEM" val="ProblemBullet"/>
  <p:tag name="RAINPROBLEMTYPE" val="MultipleChoice"/>
  <p:tag name="RAINBULLET" val="Correct"/>
</p:tagLst>
</file>

<file path=ppt/tags/tag63.xml><?xml version="1.0" encoding="utf-8"?>
<p:tagLst xmlns:p="http://schemas.openxmlformats.org/presentationml/2006/main">
  <p:tag name="RAINPROBLEM" val="ProblemBullet"/>
  <p:tag name="RAINPROBLEMTYPE" val="MultipleChoice"/>
  <p:tag name="RAINBULLET" val="Wrong"/>
</p:tagLst>
</file>

<file path=ppt/tags/tag64.xml><?xml version="1.0" encoding="utf-8"?>
<p:tagLst xmlns:p="http://schemas.openxmlformats.org/presentationml/2006/main">
  <p:tag name="RAINPROBLEM" val="ProblemSubmit"/>
  <p:tag name="RAINPROBLEMTYPE" val="MultipleChoice"/>
</p:tagLst>
</file>

<file path=ppt/tags/tag65.xml><?xml version="1.0" encoding="utf-8"?>
<p:tagLst xmlns:p="http://schemas.openxmlformats.org/presentationml/2006/main">
  <p:tag name="RAINPROBLEMTYPE" val="ProblemTypeMarker"/>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 val="ProblemSetting"/>
  <p:tag name="RAINPROBLEMTYPE" val="MultipleChoice"/>
</p:tagLst>
</file>

<file path=ppt/tags/tag71.xml><?xml version="1.0" encoding="utf-8"?>
<p:tagLst xmlns:p="http://schemas.openxmlformats.org/presentationml/2006/main">
  <p:tag name="RAINPROBLEM" val="MultipleChoice"/>
  <p:tag name="PROBLEMSCORE" val="1.0"/>
</p:tagLst>
</file>

<file path=ppt/tags/tag72.xml><?xml version="1.0" encoding="utf-8"?>
<p:tagLst xmlns:p="http://schemas.openxmlformats.org/presentationml/2006/main">
  <p:tag name="ISLIDE.VECTOR" val="28b0fd0e-7ece-4f48-881a-83c93b08799b"/>
</p:tagLst>
</file>

<file path=ppt/tags/tag73.xml><?xml version="1.0" encoding="utf-8"?>
<p:tagLst xmlns:p="http://schemas.openxmlformats.org/presentationml/2006/main">
  <p:tag name="ISLIDE.VECTOR" val="28b0fd0e-7ece-4f48-881a-83c93b08799b"/>
</p:tagLst>
</file>

<file path=ppt/tags/tag74.xml><?xml version="1.0" encoding="utf-8"?>
<p:tagLst xmlns:p="http://schemas.openxmlformats.org/presentationml/2006/main">
  <p:tag name="KSO_WPP_MARK_KEY" val="643f199c-420e-4a57-bfd3-2ebfe3d9fb16"/>
  <p:tag name="COMMONDATA" val="eyJoZGlkIjoiMzA1MzljY2Y4ZTIwNzk1OWIzMzdhZjMwODJlM2M5MWEifQ=="/>
  <p:tag name="commondata" val="eyJoZGlkIjoiODVjMzBjMjkyM2FmNTZlZjhmZmMxZWVhN2I1ZDYwZ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思源黑体 CN Heavy"/>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7428</Words>
  <Application>WPS 演示</Application>
  <PresentationFormat>宽屏</PresentationFormat>
  <Paragraphs>349</Paragraphs>
  <Slides>57</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57</vt:i4>
      </vt:variant>
    </vt:vector>
  </HeadingPairs>
  <TitlesOfParts>
    <vt:vector size="71" baseType="lpstr">
      <vt:lpstr>Arial</vt:lpstr>
      <vt:lpstr>宋体</vt:lpstr>
      <vt:lpstr>Wingdings</vt:lpstr>
      <vt:lpstr>隶书</vt:lpstr>
      <vt:lpstr>Times New Roman</vt:lpstr>
      <vt:lpstr>华文行楷</vt:lpstr>
      <vt:lpstr>思源黑体 CN Heavy</vt:lpstr>
      <vt:lpstr>黑体</vt:lpstr>
      <vt:lpstr>微软雅黑 Light</vt:lpstr>
      <vt:lpstr>思源黑体 CN Normal</vt:lpstr>
      <vt:lpstr>微软雅黑</vt:lpstr>
      <vt:lpstr>Arial Unicode MS</vt:lpstr>
      <vt:lpstr>等线</vt:lpstr>
      <vt:lpstr>Office 主题​​</vt:lpstr>
      <vt:lpstr>《信息对抗技术》 电子讲稿</vt:lpstr>
      <vt:lpstr>PowerPoint 演示文稿</vt:lpstr>
      <vt:lpstr>PowerPoint 演示文稿</vt:lpstr>
      <vt:lpstr> </vt:lpstr>
      <vt:lpstr> </vt:lpstr>
      <vt:lpstr>PowerPoint 演示文稿</vt:lpstr>
      <vt:lpstr> </vt:lpstr>
      <vt:lpstr> </vt:lpstr>
      <vt:lpstr> </vt:lpstr>
      <vt:lpstr> </vt:lpstr>
      <vt:lpstr> </vt:lpstr>
      <vt:lpstr> </vt:lpstr>
      <vt:lpstr> </vt:lpstr>
      <vt:lpstr>PowerPoint 演示文稿</vt:lpstr>
      <vt:lpstr> </vt:lpstr>
      <vt:lpstr>PowerPoint 演示文稿</vt:lpstr>
      <vt:lpstr> </vt:lpstr>
      <vt:lpstr> </vt:lpstr>
      <vt:lpstr>PowerPoint 演示文稿</vt:lpstr>
      <vt:lpstr>PowerPoint 演示文稿</vt:lpstr>
      <vt:lpstr>PowerPoint 演示文稿</vt:lpstr>
      <vt:lpstr> </vt:lpstr>
      <vt:lpstr>PowerPoint 演示文稿</vt:lpstr>
      <vt:lpstr>PowerPoint 演示文稿</vt:lpstr>
      <vt:lpstr> </vt:lpstr>
      <vt:lpstr> </vt:lpstr>
      <vt:lpstr> </vt:lpstr>
      <vt:lpstr>PowerPoint 演示文稿</vt:lpstr>
      <vt:lpstr>PowerPoint 演示文稿</vt:lpstr>
      <vt:lpstr> </vt:lpstr>
      <vt:lpstr>PowerPoint 演示文稿</vt:lpstr>
      <vt:lpstr>PowerPoint 演示文稿</vt:lpstr>
      <vt:lpstr>PowerPoint 演示文稿</vt:lpstr>
      <vt:lpstr>PowerPoint 演示文稿</vt:lpstr>
      <vt:lpstr> </vt:lpstr>
      <vt:lpstr>PowerPoint 演示文稿</vt:lpstr>
      <vt:lpstr> </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208</cp:revision>
  <dcterms:created xsi:type="dcterms:W3CDTF">2019-09-27T01:23:00Z</dcterms:created>
  <dcterms:modified xsi:type="dcterms:W3CDTF">2026-04-07T16:11:11Z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F90CF654255E4DBBB209177DBDD92851</vt:lpwstr>
  </property>
</Properties>
</file>