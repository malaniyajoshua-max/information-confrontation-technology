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81" r:id="rId3"/>
    <p:sldId id="425" r:id="rId4"/>
    <p:sldId id="313" r:id="rId6"/>
    <p:sldId id="314" r:id="rId7"/>
    <p:sldId id="315" r:id="rId8"/>
    <p:sldId id="317" r:id="rId9"/>
    <p:sldId id="318" r:id="rId10"/>
    <p:sldId id="319" r:id="rId11"/>
    <p:sldId id="320" r:id="rId12"/>
    <p:sldId id="321" r:id="rId13"/>
    <p:sldId id="428" r:id="rId14"/>
    <p:sldId id="429" r:id="rId15"/>
    <p:sldId id="430" r:id="rId16"/>
    <p:sldId id="322" r:id="rId17"/>
    <p:sldId id="323" r:id="rId18"/>
    <p:sldId id="427" r:id="rId19"/>
    <p:sldId id="324" r:id="rId20"/>
    <p:sldId id="326" r:id="rId21"/>
    <p:sldId id="327" r:id="rId22"/>
    <p:sldId id="328" r:id="rId23"/>
    <p:sldId id="329" r:id="rId24"/>
    <p:sldId id="330" r:id="rId25"/>
    <p:sldId id="333" r:id="rId26"/>
    <p:sldId id="331" r:id="rId27"/>
    <p:sldId id="332" r:id="rId28"/>
    <p:sldId id="334" r:id="rId29"/>
    <p:sldId id="335" r:id="rId30"/>
    <p:sldId id="336" r:id="rId31"/>
    <p:sldId id="337" r:id="rId32"/>
    <p:sldId id="426" r:id="rId33"/>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3EE"/>
    <a:srgbClr val="1F4E79"/>
    <a:srgbClr val="881DB3"/>
    <a:srgbClr val="E3C9F7"/>
    <a:srgbClr val="6E0876"/>
    <a:srgbClr val="731AB6"/>
    <a:srgbClr val="740A47"/>
    <a:srgbClr val="720C4E"/>
    <a:srgbClr val="700E54"/>
    <a:srgbClr val="FEE4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96" autoAdjust="0"/>
    <p:restoredTop sz="77608" autoAdjust="0"/>
  </p:normalViewPr>
  <p:slideViewPr>
    <p:cSldViewPr snapToGrid="0" showGuides="1">
      <p:cViewPr varScale="1">
        <p:scale>
          <a:sx n="91" d="100"/>
          <a:sy n="91" d="100"/>
        </p:scale>
        <p:origin x="246" y="84"/>
      </p:cViewPr>
      <p:guideLst>
        <p:guide orient="horz" pos="2137"/>
        <p:guide pos="3931"/>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7" Type="http://schemas.openxmlformats.org/officeDocument/2006/relationships/tags" Target="tags/tag24.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13D94-3B84-4F7C-A457-BAB026D08DB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C284-C97B-4A78-9B6C-3354FD79A6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smtClean="0">
                <a:latin typeface="宋体" panose="02010600030101010101" pitchFamily="2" charset="-122"/>
              </a:rPr>
              <a:t> 信息对抗的概念同样也适合</a:t>
            </a:r>
            <a:r>
              <a:rPr lang="zh-CN" altLang="en-US" sz="1200" dirty="0" smtClean="0">
                <a:solidFill>
                  <a:schemeClr val="folHlink"/>
                </a:solidFill>
                <a:latin typeface="宋体" panose="02010600030101010101" pitchFamily="2" charset="-122"/>
              </a:rPr>
              <a:t>政治</a:t>
            </a:r>
            <a:r>
              <a:rPr lang="zh-CN" altLang="en-US" sz="1200" dirty="0" smtClean="0">
                <a:latin typeface="宋体" panose="02010600030101010101" pitchFamily="2" charset="-122"/>
              </a:rPr>
              <a:t>、</a:t>
            </a:r>
            <a:r>
              <a:rPr lang="zh-CN" altLang="en-US" sz="1200" dirty="0" smtClean="0">
                <a:solidFill>
                  <a:schemeClr val="folHlink"/>
                </a:solidFill>
                <a:latin typeface="宋体" panose="02010600030101010101" pitchFamily="2" charset="-122"/>
              </a:rPr>
              <a:t>经济</a:t>
            </a:r>
            <a:r>
              <a:rPr lang="zh-CN" altLang="en-US" sz="1200" dirty="0" smtClean="0">
                <a:latin typeface="宋体" panose="02010600030101010101" pitchFamily="2" charset="-122"/>
              </a:rPr>
              <a:t>及</a:t>
            </a:r>
            <a:r>
              <a:rPr lang="zh-CN" altLang="en-US" sz="1200" dirty="0" smtClean="0">
                <a:solidFill>
                  <a:schemeClr val="folHlink"/>
                </a:solidFill>
                <a:latin typeface="宋体" panose="02010600030101010101" pitchFamily="2" charset="-122"/>
              </a:rPr>
              <a:t>商务</a:t>
            </a:r>
            <a:r>
              <a:rPr lang="zh-CN" altLang="en-US" sz="1200" dirty="0" smtClean="0">
                <a:latin typeface="宋体" panose="02010600030101010101" pitchFamily="2" charset="-122"/>
              </a:rPr>
              <a:t>等领域，互相对立的或竞争的利益集团也同样为了获取对方的敏感信息，使自己在斗争或竞争中获得先机和处于优势地位。</a:t>
            </a:r>
            <a:r>
              <a:rPr lang="zh-CN" altLang="en-US" sz="1200" dirty="0" smtClean="0"/>
              <a:t>  </a:t>
            </a:r>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smtClean="0">
                <a:latin typeface="宋体" panose="02010600030101010101" pitchFamily="2" charset="-122"/>
              </a:rPr>
              <a:t> </a:t>
            </a:r>
            <a:r>
              <a:rPr lang="zh-CN" altLang="en-US" sz="1200" dirty="0" smtClean="0">
                <a:latin typeface="宋体" panose="02010600030101010101" pitchFamily="2" charset="-122"/>
              </a:rPr>
              <a:t>图</a:t>
            </a:r>
            <a:r>
              <a:rPr lang="en-US" altLang="zh-CN" sz="1200" dirty="0" smtClean="0"/>
              <a:t>1-3</a:t>
            </a:r>
            <a:r>
              <a:rPr lang="zh-CN" altLang="en-US" sz="1200" dirty="0" smtClean="0">
                <a:latin typeface="宋体" panose="02010600030101010101" pitchFamily="2" charset="-122"/>
              </a:rPr>
              <a:t>是从作战角度描述了信息对抗的作战模型。该图把信息对抗的作战过程划分为三个领域，或称为三个层次：</a:t>
            </a:r>
            <a:r>
              <a:rPr lang="zh-CN" altLang="en-US" sz="1200" dirty="0" smtClean="0">
                <a:solidFill>
                  <a:schemeClr val="folHlink"/>
                </a:solidFill>
                <a:latin typeface="宋体" panose="02010600030101010101" pitchFamily="2" charset="-122"/>
              </a:rPr>
              <a:t>物理空间、计算机空间</a:t>
            </a:r>
            <a:r>
              <a:rPr lang="zh-CN" altLang="en-US" sz="1200" dirty="0" smtClean="0">
                <a:latin typeface="宋体" panose="02010600030101010101" pitchFamily="2" charset="-122"/>
              </a:rPr>
              <a:t>和</a:t>
            </a:r>
            <a:r>
              <a:rPr lang="zh-CN" altLang="en-US" sz="1200" dirty="0" smtClean="0">
                <a:solidFill>
                  <a:schemeClr val="folHlink"/>
                </a:solidFill>
                <a:latin typeface="宋体" panose="02010600030101010101" pitchFamily="2" charset="-122"/>
              </a:rPr>
              <a:t>参战者的认知空间</a:t>
            </a:r>
            <a:r>
              <a:rPr lang="zh-CN" altLang="en-US" sz="1200" dirty="0" smtClean="0">
                <a:latin typeface="宋体" panose="02010600030101010101" pitchFamily="2" charset="-122"/>
              </a:rPr>
              <a:t>。该模型区分了攻击者和目标双方功能的</a:t>
            </a:r>
            <a:r>
              <a:rPr lang="en-US" altLang="zh-CN" sz="1200" dirty="0" smtClean="0"/>
              <a:t>3</a:t>
            </a:r>
            <a:r>
              <a:rPr lang="zh-CN" altLang="en-US" sz="1200" dirty="0" smtClean="0">
                <a:latin typeface="宋体" panose="02010600030101010101" pitchFamily="2" charset="-122"/>
              </a:rPr>
              <a:t>个层次，反映了自下而上的从对攻击者到对目标的影响。</a:t>
            </a:r>
            <a:r>
              <a:rPr lang="zh-CN" altLang="en-US" sz="1200" dirty="0" smtClean="0"/>
              <a:t> </a:t>
            </a:r>
            <a:endParaRPr lang="en-US" altLang="zh-CN" sz="1200" dirty="0" smtClean="0"/>
          </a:p>
          <a:p>
            <a:r>
              <a:rPr lang="zh-CN" altLang="en-US" sz="1200" dirty="0" smtClean="0">
                <a:latin typeface="宋体" panose="02010600030101010101" pitchFamily="2" charset="-122"/>
              </a:rPr>
              <a:t>攻击者通过在各个层次上的攻击活动，达到在</a:t>
            </a:r>
            <a:r>
              <a:rPr lang="zh-CN" altLang="en-US" sz="1200" dirty="0" smtClean="0">
                <a:solidFill>
                  <a:schemeClr val="folHlink"/>
                </a:solidFill>
                <a:latin typeface="宋体" panose="02010600030101010101" pitchFamily="2" charset="-122"/>
              </a:rPr>
              <a:t>认知层</a:t>
            </a:r>
            <a:r>
              <a:rPr lang="zh-CN" altLang="en-US" sz="1200" dirty="0" smtClean="0">
                <a:latin typeface="宋体" panose="02010600030101010101" pitchFamily="2" charset="-122"/>
              </a:rPr>
              <a:t>上对目标产生影响的目的。信息对抗最高层次的作战对象是决策者、政策制定者、军事指挥员，甚至包括整个国家所有人的认知，希望的结果是左右他们的认知，以致于影响其对战争的决策与行动。</a:t>
            </a:r>
            <a:r>
              <a:rPr lang="zh-CN" altLang="en-US" sz="1200" dirty="0" smtClean="0"/>
              <a:t> </a:t>
            </a:r>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showMasterPhAnim="0">
  <p:cSld name="1_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7173" name="标题 7172"/>
          <p:cNvSpPr>
            <a:spLocks noGrp="1"/>
          </p:cNvSpPr>
          <p:nvPr>
            <p:ph type="ctrTitle" sz="quarter"/>
          </p:nvPr>
        </p:nvSpPr>
        <p:spPr>
          <a:xfrm>
            <a:off x="1725084" y="762000"/>
            <a:ext cx="10363200" cy="1143000"/>
          </a:xfrm>
          <a:prstGeom prst="rect">
            <a:avLst/>
          </a:prstGeom>
          <a:noFill/>
          <a:ln w="9525">
            <a:noFill/>
          </a:ln>
        </p:spPr>
        <p:txBody>
          <a:bodyPr anchor="b"/>
          <a:lstStyle>
            <a:lvl1pPr lvl="0">
              <a:defRPr/>
            </a:lvl1pPr>
          </a:lstStyle>
          <a:p>
            <a:pPr lvl="0"/>
            <a:r>
              <a:rPr lang="zh-CN" altLang="en-US" noProof="1"/>
              <a:t>单击此处编辑母版标题样式</a:t>
            </a:r>
            <a:endParaRPr lang="zh-CN" altLang="en-US" noProof="1"/>
          </a:p>
        </p:txBody>
      </p:sp>
      <p:sp>
        <p:nvSpPr>
          <p:cNvPr id="7174" name="副标题 7173"/>
          <p:cNvSpPr>
            <a:spLocks noGrp="1"/>
          </p:cNvSpPr>
          <p:nvPr>
            <p:ph type="subTitle" sz="quarter" idx="1"/>
          </p:nvPr>
        </p:nvSpPr>
        <p:spPr>
          <a:xfrm>
            <a:off x="914400" y="3429000"/>
            <a:ext cx="8534400" cy="1752600"/>
          </a:xfrm>
          <a:prstGeom prst="rect">
            <a:avLst/>
          </a:prstGeom>
          <a:noFill/>
          <a:ln w="9525">
            <a:noFill/>
          </a:ln>
        </p:spPr>
        <p:txBody>
          <a:bodyPr lIns="92075" tIns="46038" rIns="92075" bIns="46038" anchor="ctr"/>
          <a:lstStyle>
            <a:lvl1pPr marL="0" lvl="0" indent="0" algn="ctr">
              <a:buNone/>
              <a:defRPr>
                <a:latin typeface="+mn-ea"/>
                <a:ea typeface="+mn-ea"/>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a:r>
              <a:rPr lang="zh-CN" altLang="en-US" noProof="1"/>
              <a:t>单击此处编辑母版副标题样式</a:t>
            </a:r>
            <a:endParaRPr lang="zh-CN" altLang="en-US" noProof="1"/>
          </a:p>
        </p:txBody>
      </p:sp>
      <p:sp>
        <p:nvSpPr>
          <p:cNvPr id="7" name="日期占位符 7174"/>
          <p:cNvSpPr>
            <a:spLocks noGrp="1"/>
          </p:cNvSpPr>
          <p:nvPr>
            <p:ph type="dt" sz="quarter" idx="2"/>
          </p:nvPr>
        </p:nvSpPr>
        <p:spPr>
          <a:xfrm>
            <a:off x="914400" y="6248400"/>
            <a:ext cx="2540000" cy="457200"/>
          </a:xfrm>
          <a:prstGeom prst="rect">
            <a:avLst/>
          </a:prstGeom>
        </p:spPr>
        <p:txBody>
          <a:bodyPr lIns="92075" tIns="46038" rIns="92075" bIns="46038" anchor="ctr"/>
          <a:lstStyle>
            <a:lvl1pPr>
              <a:defRPr sz="1400" dirty="0"/>
            </a:lvl1pPr>
          </a:lstStyle>
          <a:p>
            <a:pPr fontAlgn="base">
              <a:spcBef>
                <a:spcPct val="0"/>
              </a:spcBef>
              <a:spcAft>
                <a:spcPct val="0"/>
              </a:spcAft>
              <a:defRPr/>
            </a:pPr>
            <a:endParaRPr lang="zh-CN" altLang="en-US" noProof="1">
              <a:ea typeface="宋体" panose="02010600030101010101" pitchFamily="2" charset="-122"/>
            </a:endParaRPr>
          </a:p>
        </p:txBody>
      </p:sp>
      <p:sp>
        <p:nvSpPr>
          <p:cNvPr id="8" name="页脚占位符 7175"/>
          <p:cNvSpPr>
            <a:spLocks noGrp="1"/>
          </p:cNvSpPr>
          <p:nvPr>
            <p:ph type="ftr" sz="quarter" idx="3"/>
          </p:nvPr>
        </p:nvSpPr>
        <p:spPr>
          <a:xfrm>
            <a:off x="4165600" y="6248400"/>
            <a:ext cx="3860800" cy="457200"/>
          </a:xfrm>
          <a:prstGeom prst="rect">
            <a:avLst/>
          </a:prstGeom>
        </p:spPr>
        <p:txBody>
          <a:bodyPr lIns="92075" tIns="46038" rIns="92075" bIns="46038" anchor="ctr"/>
          <a:lstStyle>
            <a:lvl1pPr algn="ctr">
              <a:defRPr sz="1400" dirty="0"/>
            </a:lvl1pPr>
          </a:lstStyle>
          <a:p>
            <a:pPr fontAlgn="base">
              <a:spcBef>
                <a:spcPct val="0"/>
              </a:spcBef>
              <a:spcAft>
                <a:spcPct val="0"/>
              </a:spcAft>
              <a:defRPr/>
            </a:pPr>
            <a:endParaRPr lang="zh-CN" altLang="en-US" noProof="1">
              <a:ea typeface="宋体" panose="02010600030101010101" pitchFamily="2" charset="-122"/>
            </a:endParaRPr>
          </a:p>
        </p:txBody>
      </p:sp>
      <p:sp>
        <p:nvSpPr>
          <p:cNvPr id="9" name="灯片编号占位符 7176"/>
          <p:cNvSpPr>
            <a:spLocks noGrp="1"/>
          </p:cNvSpPr>
          <p:nvPr>
            <p:ph type="sldNum" sz="quarter" idx="4"/>
          </p:nvPr>
        </p:nvSpPr>
        <p:spPr>
          <a:xfrm>
            <a:off x="8737600" y="6248400"/>
            <a:ext cx="2540000" cy="457200"/>
          </a:xfrm>
          <a:prstGeom prst="rect">
            <a:avLst/>
          </a:prstGeom>
        </p:spPr>
        <p:txBody>
          <a:bodyPr vert="horz" wrap="square" lIns="92075" tIns="46038" rIns="92075" bIns="46038" numCol="1" anchor="ctr" anchorCtr="0" compatLnSpc="1"/>
          <a:lstStyle/>
          <a:p>
            <a:pPr algn="r"/>
            <a:fld id="{9A0DB2DC-4C9A-4742-B13C-FB6460FD3503}" type="slidenum">
              <a:rPr lang="zh-CN" altLang="en-US" dirty="0"/>
            </a:fld>
            <a:endParaRPr lang="zh-CN" alt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8.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0.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2" Type="http://schemas.openxmlformats.org/officeDocument/2006/relationships/slideLayout" Target="../slideLayouts/slideLayout7.xml"/><Relationship Id="rId11" Type="http://schemas.openxmlformats.org/officeDocument/2006/relationships/tags" Target="../tags/tag22.xml"/><Relationship Id="rId10" Type="http://schemas.openxmlformats.org/officeDocument/2006/relationships/image" Target="../media/image7.png"/><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2049"/>
          <p:cNvSpPr>
            <a:spLocks noGrp="1"/>
          </p:cNvSpPr>
          <p:nvPr>
            <p:ph type="ctrTitle" sz="quarter" idx="4294967295"/>
          </p:nvPr>
        </p:nvSpPr>
        <p:spPr>
          <a:xfrm>
            <a:off x="2751931" y="1742169"/>
            <a:ext cx="6783387" cy="1154113"/>
          </a:xfrm>
          <a:prstGeom prst="rect">
            <a:avLst/>
          </a:prstGeom>
          <a:effectLst>
            <a:outerShdw blurRad="50800" dist="38100" dir="2700000" algn="tl" rotWithShape="0">
              <a:prstClr val="black">
                <a:alpha val="40000"/>
              </a:prstClr>
            </a:outerShdw>
          </a:effectLst>
        </p:spPr>
        <p:txBody>
          <a:bodyPr vert="horz" wrap="square" lIns="92075" tIns="46038" rIns="92075" bIns="46038" numCol="1" anchor="b" anchorCtr="0" compatLnSpc="1"/>
          <a:lstStyle/>
          <a:p>
            <a:pPr algn="ctr" fontAlgn="base">
              <a:lnSpc>
                <a:spcPct val="100000"/>
              </a:lnSpc>
              <a:spcAft>
                <a:spcPct val="0"/>
              </a:spcAft>
              <a:defRPr/>
            </a:pPr>
            <a:r>
              <a:rPr lang="en-US" altLang="zh-CN" sz="6000" b="1" dirty="0">
                <a:solidFill>
                  <a:srgbClr val="881DB3"/>
                </a:solidFill>
                <a:effectLst>
                  <a:outerShdw blurRad="38100" dist="38100" dir="2700000" algn="tl">
                    <a:srgbClr val="000000"/>
                  </a:outerShdw>
                </a:effectLst>
                <a:latin typeface="+mj-ea"/>
              </a:rPr>
              <a:t>《</a:t>
            </a:r>
            <a:r>
              <a:rPr lang="zh-CN" altLang="en-US" sz="6000" b="1" dirty="0">
                <a:solidFill>
                  <a:srgbClr val="881DB3"/>
                </a:solidFill>
                <a:effectLst>
                  <a:outerShdw blurRad="38100" dist="38100" dir="2700000" algn="tl">
                    <a:srgbClr val="000000"/>
                  </a:outerShdw>
                </a:effectLst>
                <a:latin typeface="+mj-ea"/>
              </a:rPr>
              <a:t>信息对抗技术</a:t>
            </a:r>
            <a:r>
              <a:rPr lang="en-US" altLang="zh-CN" sz="6000" b="1" dirty="0">
                <a:solidFill>
                  <a:srgbClr val="881DB3"/>
                </a:solidFill>
                <a:effectLst>
                  <a:outerShdw blurRad="38100" dist="38100" dir="2700000" algn="tl">
                    <a:srgbClr val="000000"/>
                  </a:outerShdw>
                </a:effectLst>
                <a:latin typeface="+mj-ea"/>
              </a:rPr>
              <a:t>》</a:t>
            </a:r>
            <a:br>
              <a:rPr lang="en-US" altLang="zh-CN" sz="6000" b="1" dirty="0">
                <a:solidFill>
                  <a:srgbClr val="FFFF00"/>
                </a:solidFill>
                <a:effectLst>
                  <a:outerShdw blurRad="38100" dist="38100" dir="2700000" algn="tl">
                    <a:srgbClr val="000000"/>
                  </a:outerShdw>
                </a:effectLst>
              </a:rPr>
            </a:br>
            <a:r>
              <a:rPr lang="zh-CN" altLang="en-US" sz="4000" dirty="0">
                <a:solidFill>
                  <a:schemeClr val="bg1"/>
                </a:solidFill>
                <a:effectLst>
                  <a:outerShdw blurRad="38100" dist="38100" dir="2700000" algn="tl">
                    <a:srgbClr val="000000"/>
                  </a:outerShdw>
                </a:effectLst>
                <a:ea typeface="隶书" panose="02010509060101010101" pitchFamily="49" charset="-122"/>
              </a:rPr>
              <a:t>电子讲稿</a:t>
            </a:r>
            <a:endParaRPr lang="zh-CN" altLang="en-US" sz="4000" dirty="0">
              <a:solidFill>
                <a:schemeClr val="bg1"/>
              </a:solidFill>
              <a:effectLst>
                <a:outerShdw blurRad="38100" dist="38100" dir="2700000" algn="tl">
                  <a:srgbClr val="000000"/>
                </a:outerShdw>
              </a:effectLst>
              <a:ea typeface="隶书" panose="02010509060101010101" pitchFamily="49" charset="-122"/>
            </a:endParaRPr>
          </a:p>
        </p:txBody>
      </p:sp>
      <p:sp>
        <p:nvSpPr>
          <p:cNvPr id="3075" name="文本框 2053"/>
          <p:cNvSpPr txBox="1"/>
          <p:nvPr/>
        </p:nvSpPr>
        <p:spPr>
          <a:xfrm>
            <a:off x="4622801" y="3739684"/>
            <a:ext cx="3041650" cy="2061210"/>
          </a:xfrm>
          <a:prstGeom prst="rect">
            <a:avLst/>
          </a:prstGeom>
          <a:noFill/>
          <a:ln w="9525">
            <a:noFill/>
          </a:ln>
        </p:spPr>
        <p:txBody>
          <a:bodyPr wrap="none">
            <a:spAutoFit/>
          </a:bodyPr>
          <a:lstStyle/>
          <a:p>
            <a:pPr algn="ctr"/>
            <a:r>
              <a:rPr lang="zh-CN" altLang="en-US" sz="3200" dirty="0">
                <a:latin typeface="Times New Roman" panose="02020603050405020304" pitchFamily="18" charset="0"/>
                <a:ea typeface="华文行楷" panose="02010800040101010101" pitchFamily="2" charset="-122"/>
              </a:rPr>
              <a:t>李朝晖</a:t>
            </a:r>
            <a:endParaRPr lang="zh-CN" altLang="en-US" sz="3200" dirty="0">
              <a:latin typeface="Times New Roman" panose="02020603050405020304" pitchFamily="18" charset="0"/>
              <a:ea typeface="华文行楷" panose="02010800040101010101" pitchFamily="2" charset="-122"/>
            </a:endParaRPr>
          </a:p>
          <a:p>
            <a:pPr algn="ctr"/>
            <a:endParaRPr lang="zh-CN" altLang="en-US" sz="2400" dirty="0">
              <a:latin typeface="Times New Roman" panose="02020603050405020304" pitchFamily="18" charset="0"/>
            </a:endParaRPr>
          </a:p>
          <a:p>
            <a:pPr algn="ctr"/>
            <a:r>
              <a:rPr lang="zh-CN" altLang="en-US" sz="2400" dirty="0">
                <a:latin typeface="+mn-ea"/>
              </a:rPr>
              <a:t>南开大学 网安学院</a:t>
            </a:r>
            <a:endParaRPr lang="zh-CN" altLang="en-US" sz="2400" dirty="0">
              <a:latin typeface="+mn-ea"/>
            </a:endParaRPr>
          </a:p>
          <a:p>
            <a:pPr algn="ctr"/>
            <a:r>
              <a:rPr lang="en-US" altLang="zh-CN" sz="2400" dirty="0" smtClean="0">
                <a:latin typeface="Times New Roman" panose="02020603050405020304" pitchFamily="18" charset="0"/>
              </a:rPr>
              <a:t>2026</a:t>
            </a:r>
            <a:endParaRPr lang="en-US" altLang="zh-CN" sz="2400" dirty="0">
              <a:latin typeface="Times New Roman" panose="02020603050405020304" pitchFamily="18" charset="0"/>
            </a:endParaRPr>
          </a:p>
          <a:p>
            <a:pPr algn="ctr"/>
            <a:r>
              <a:rPr lang="en-US" altLang="zh-CN" sz="2400" dirty="0" smtClean="0">
                <a:solidFill>
                  <a:schemeClr val="bg2">
                    <a:lumMod val="75000"/>
                  </a:schemeClr>
                </a:solidFill>
                <a:latin typeface="Times New Roman" panose="02020603050405020304" pitchFamily="18" charset="0"/>
              </a:rPr>
              <a:t>&lt;</a:t>
            </a:r>
            <a:r>
              <a:rPr lang="zh-CN" altLang="en-US" sz="2400" dirty="0" smtClean="0">
                <a:solidFill>
                  <a:schemeClr val="bg2">
                    <a:lumMod val="75000"/>
                  </a:schemeClr>
                </a:solidFill>
                <a:latin typeface="Times New Roman" panose="02020603050405020304" pitchFamily="18" charset="0"/>
              </a:rPr>
              <a:t>长江雨</a:t>
            </a:r>
            <a:r>
              <a:rPr lang="zh-CN" altLang="en-US" sz="2400" smtClean="0">
                <a:solidFill>
                  <a:schemeClr val="bg2">
                    <a:lumMod val="75000"/>
                  </a:schemeClr>
                </a:solidFill>
                <a:latin typeface="Times New Roman" panose="02020603050405020304" pitchFamily="18" charset="0"/>
              </a:rPr>
              <a:t>课堂 专用版</a:t>
            </a:r>
            <a:r>
              <a:rPr lang="en-US" altLang="zh-CN" sz="2400" smtClean="0">
                <a:solidFill>
                  <a:schemeClr val="bg2">
                    <a:lumMod val="75000"/>
                  </a:schemeClr>
                </a:solidFill>
                <a:latin typeface="Times New Roman" panose="02020603050405020304" pitchFamily="18" charset="0"/>
              </a:rPr>
              <a:t>&gt;</a:t>
            </a:r>
            <a:endParaRPr lang="zh-CN" altLang="en-US" sz="2400" dirty="0">
              <a:solidFill>
                <a:schemeClr val="bg2">
                  <a:lumMod val="75000"/>
                </a:schemeClr>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smtClean="0">
                <a:solidFill>
                  <a:schemeClr val="tx2"/>
                </a:solidFill>
                <a:effectLst>
                  <a:outerShdw blurRad="38100" dist="38100" dir="2700000">
                    <a:srgbClr val="000000"/>
                  </a:outerShdw>
                </a:effectLst>
                <a:latin typeface="宋体" panose="02010600030101010101" pitchFamily="2" charset="-122"/>
              </a:rPr>
              <a:t>信息</a:t>
            </a:r>
            <a:r>
              <a:rPr lang="zh-CN" altLang="en-US" sz="4000" dirty="0">
                <a:solidFill>
                  <a:schemeClr val="tx2"/>
                </a:solidFill>
                <a:effectLst>
                  <a:outerShdw blurRad="38100" dist="38100" dir="2700000">
                    <a:srgbClr val="000000"/>
                  </a:outerShdw>
                </a:effectLst>
                <a:latin typeface="宋体" panose="02010600030101010101" pitchFamily="2" charset="-122"/>
              </a:rPr>
              <a:t>对抗的内涵与模型</a:t>
            </a:r>
            <a:r>
              <a:rPr lang="zh-CN" altLang="en-US" sz="4800" dirty="0">
                <a:solidFill>
                  <a:schemeClr val="tx2"/>
                </a:solidFill>
                <a:effectLst>
                  <a:outerShdw blurRad="38100" dist="38100" dir="2700000">
                    <a:srgbClr val="000000"/>
                  </a:outerShdw>
                </a:effectLst>
              </a:rPr>
              <a:t> </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文本占位符 24578"/>
          <p:cNvSpPr>
            <a:spLocks noGrp="1"/>
          </p:cNvSpPr>
          <p:nvPr>
            <p:ph idx="1"/>
          </p:nvPr>
        </p:nvSpPr>
        <p:spPr>
          <a:xfrm>
            <a:off x="1021278" y="1586753"/>
            <a:ext cx="10248405" cy="4750602"/>
          </a:xfrm>
        </p:spPr>
        <p:txBody>
          <a:bodyPr vert="horz" wrap="square" lIns="91440" tIns="45720" rIns="91440" bIns="45720" rtlCol="0" anchor="t">
            <a:noAutofit/>
          </a:bodyPr>
          <a:lstStyle/>
          <a:p>
            <a:pPr eaLnBrk="1" hangingPunct="1">
              <a:lnSpc>
                <a:spcPts val="3600"/>
              </a:lnSpc>
              <a:buNone/>
            </a:pPr>
            <a:r>
              <a:rPr lang="en-US" altLang="zh-CN" sz="2400" dirty="0">
                <a:latin typeface="宋体" panose="02010600030101010101" pitchFamily="2" charset="-122"/>
              </a:rPr>
              <a:t>     </a:t>
            </a:r>
            <a:r>
              <a:rPr lang="zh-CN" altLang="en-US" sz="2400" dirty="0" smtClean="0">
                <a:latin typeface="宋体" panose="02010600030101010101" pitchFamily="2" charset="-122"/>
              </a:rPr>
              <a:t>在</a:t>
            </a:r>
            <a:r>
              <a:rPr lang="zh-CN" altLang="en-US" sz="2400" dirty="0">
                <a:latin typeface="宋体" panose="02010600030101010101" pitchFamily="2" charset="-122"/>
              </a:rPr>
              <a:t>军事上，</a:t>
            </a:r>
            <a:r>
              <a:rPr lang="zh-CN" altLang="en-US" sz="2400" dirty="0">
                <a:solidFill>
                  <a:schemeClr val="folHlink"/>
                </a:solidFill>
                <a:latin typeface="宋体" panose="02010600030101010101" pitchFamily="2" charset="-122"/>
              </a:rPr>
              <a:t>信息对抗的本质</a:t>
            </a:r>
            <a:r>
              <a:rPr lang="zh-CN" altLang="en-US" sz="2400" dirty="0">
                <a:latin typeface="宋体" panose="02010600030101010101" pitchFamily="2" charset="-122"/>
              </a:rPr>
              <a:t>是两个或多个敌对者在信息领域内，利用先进的电子信息技术和装备，使己方获取对战场信息的</a:t>
            </a:r>
            <a:r>
              <a:rPr lang="zh-CN" altLang="en-US" sz="2400" dirty="0">
                <a:solidFill>
                  <a:srgbClr val="0070C0"/>
                </a:solidFill>
                <a:latin typeface="宋体" panose="02010600030101010101" pitchFamily="2" charset="-122"/>
              </a:rPr>
              <a:t>感知权、控制权</a:t>
            </a:r>
            <a:r>
              <a:rPr lang="zh-CN" altLang="en-US" sz="2400" dirty="0">
                <a:latin typeface="宋体" panose="02010600030101010101" pitchFamily="2" charset="-122"/>
              </a:rPr>
              <a:t>和</a:t>
            </a:r>
            <a:r>
              <a:rPr lang="zh-CN" altLang="en-US" sz="2400" dirty="0">
                <a:solidFill>
                  <a:srgbClr val="0070C0"/>
                </a:solidFill>
                <a:latin typeface="宋体" panose="02010600030101010101" pitchFamily="2" charset="-122"/>
              </a:rPr>
              <a:t>使用权</a:t>
            </a:r>
            <a:r>
              <a:rPr lang="zh-CN" altLang="en-US" sz="2400" dirty="0">
                <a:latin typeface="宋体" panose="02010600030101010101" pitchFamily="2" charset="-122"/>
              </a:rPr>
              <a:t>而展开的斗争</a:t>
            </a:r>
            <a:r>
              <a:rPr lang="zh-CN" altLang="en-US" sz="2400" dirty="0" smtClean="0">
                <a:latin typeface="宋体" panose="02010600030101010101" pitchFamily="2" charset="-122"/>
              </a:rPr>
              <a:t>。</a:t>
            </a:r>
            <a:endParaRPr lang="en-US" altLang="zh-CN" sz="2400" dirty="0" smtClean="0">
              <a:latin typeface="宋体" panose="02010600030101010101" pitchFamily="2" charset="-122"/>
            </a:endParaRPr>
          </a:p>
          <a:p>
            <a:pPr eaLnBrk="1" hangingPunct="1">
              <a:lnSpc>
                <a:spcPts val="3600"/>
              </a:lnSpc>
              <a:buNone/>
            </a:pPr>
            <a:r>
              <a:rPr lang="en-US" altLang="zh-CN" sz="2400" dirty="0">
                <a:latin typeface="宋体" panose="02010600030101010101" pitchFamily="2" charset="-122"/>
              </a:rPr>
              <a:t> </a:t>
            </a:r>
            <a:r>
              <a:rPr lang="en-US" altLang="zh-CN" sz="2400" dirty="0" smtClean="0">
                <a:latin typeface="宋体" panose="02010600030101010101" pitchFamily="2" charset="-122"/>
              </a:rPr>
              <a:t>    </a:t>
            </a:r>
            <a:r>
              <a:rPr lang="zh-CN" altLang="en-US" sz="2400" dirty="0" smtClean="0">
                <a:latin typeface="宋体" panose="02010600030101010101" pitchFamily="2" charset="-122"/>
              </a:rPr>
              <a:t>由于</a:t>
            </a:r>
            <a:r>
              <a:rPr lang="zh-CN" altLang="en-US" sz="2400" dirty="0">
                <a:latin typeface="宋体" panose="02010600030101010101" pitchFamily="2" charset="-122"/>
              </a:rPr>
              <a:t>斗争是限定在信息领域中进行的，因此信息对抗是围绕着信息的整个生命期过程（包括信息的</a:t>
            </a:r>
            <a:r>
              <a:rPr lang="zh-CN" altLang="en-US" sz="2400" dirty="0">
                <a:solidFill>
                  <a:srgbClr val="0070C0"/>
                </a:solidFill>
                <a:latin typeface="宋体" panose="02010600030101010101" pitchFamily="2" charset="-122"/>
              </a:rPr>
              <a:t>获取、传输、储存、处理和决策、利用与废弃</a:t>
            </a:r>
            <a:r>
              <a:rPr lang="zh-CN" altLang="en-US" sz="2400" dirty="0">
                <a:latin typeface="宋体" panose="02010600030101010101" pitchFamily="2" charset="-122"/>
              </a:rPr>
              <a:t>等阶段）而展开的。</a:t>
            </a:r>
            <a:r>
              <a:rPr lang="zh-CN" altLang="en-US" sz="2400" dirty="0"/>
              <a:t> </a:t>
            </a:r>
            <a:endParaRPr lang="zh-CN" altLang="en-US" sz="2400" dirty="0"/>
          </a:p>
        </p:txBody>
      </p:sp>
      <p:grpSp>
        <p:nvGrpSpPr>
          <p:cNvPr id="4" name="组合 3"/>
          <p:cNvGrpSpPr/>
          <p:nvPr/>
        </p:nvGrpSpPr>
        <p:grpSpPr>
          <a:xfrm>
            <a:off x="3740597" y="170629"/>
            <a:ext cx="4809765" cy="1109044"/>
            <a:chOff x="3279913" y="488294"/>
            <a:chExt cx="6635578" cy="1109044"/>
          </a:xfrm>
        </p:grpSpPr>
        <p:grpSp>
          <p:nvGrpSpPr>
            <p:cNvPr id="5" name="组合 4"/>
            <p:cNvGrpSpPr/>
            <p:nvPr/>
          </p:nvGrpSpPr>
          <p:grpSpPr>
            <a:xfrm>
              <a:off x="3279913" y="909457"/>
              <a:ext cx="6635578" cy="687881"/>
              <a:chOff x="3279913" y="909457"/>
              <a:chExt cx="6635578" cy="687881"/>
            </a:xfrm>
          </p:grpSpPr>
          <p:sp>
            <p:nvSpPr>
              <p:cNvPr id="159" name="矩形: 圆角 9"/>
              <p:cNvSpPr/>
              <p:nvPr/>
            </p:nvSpPr>
            <p:spPr>
              <a:xfrm>
                <a:off x="3279913" y="909457"/>
                <a:ext cx="663557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943847" y="1032190"/>
                <a:ext cx="4512905" cy="535531"/>
              </a:xfrm>
              <a:prstGeom prst="rect">
                <a:avLst/>
              </a:prstGeom>
              <a:noFill/>
            </p:spPr>
            <p:txBody>
              <a:bodyPr wrap="square" rtlCol="0" anchor="t">
                <a:spAutoFit/>
              </a:bodyPr>
              <a:lstStyle/>
              <a:p>
                <a:pPr lvl="0" fontAlgn="base">
                  <a:lnSpc>
                    <a:spcPct val="90000"/>
                  </a:lnSpc>
                  <a:spcBef>
                    <a:spcPts val="1000"/>
                  </a:spcBef>
                  <a:spcAft>
                    <a:spcPct val="0"/>
                  </a:spcAft>
                  <a:defRPr/>
                </a:pPr>
                <a:r>
                  <a:rPr lang="zh-CN" altLang="en-US" sz="32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信息</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对抗的内涵</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25601"/>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36867" name="文本占位符 25602"/>
          <p:cNvSpPr>
            <a:spLocks noGrp="1"/>
          </p:cNvSpPr>
          <p:nvPr>
            <p:ph idx="1"/>
          </p:nvPr>
        </p:nvSpPr>
        <p:spPr>
          <a:xfrm>
            <a:off x="1560730" y="1679947"/>
            <a:ext cx="9426389" cy="4537075"/>
          </a:xfrm>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在</a:t>
            </a:r>
            <a:r>
              <a:rPr lang="zh-CN" altLang="en-US" sz="2400" dirty="0">
                <a:latin typeface="宋体" panose="02010600030101010101" pitchFamily="2" charset="-122"/>
              </a:rPr>
              <a:t>计算机网络日益普及的今天，信息的储存、处理与利用都必须依赖于</a:t>
            </a:r>
            <a:r>
              <a:rPr lang="zh-CN" altLang="en-US" sz="2400" dirty="0">
                <a:solidFill>
                  <a:schemeClr val="folHlink"/>
                </a:solidFill>
                <a:latin typeface="宋体" panose="02010600030101010101" pitchFamily="2" charset="-122"/>
              </a:rPr>
              <a:t>信息系统</a:t>
            </a:r>
            <a:r>
              <a:rPr lang="zh-CN" altLang="en-US" sz="2400" dirty="0">
                <a:latin typeface="宋体" panose="02010600030101010101" pitchFamily="2" charset="-122"/>
              </a:rPr>
              <a:t>，信息的传输必须依赖于有线的或无线的</a:t>
            </a:r>
            <a:r>
              <a:rPr lang="zh-CN" altLang="en-US" sz="2400" dirty="0">
                <a:solidFill>
                  <a:schemeClr val="folHlink"/>
                </a:solidFill>
                <a:latin typeface="宋体" panose="02010600030101010101" pitchFamily="2" charset="-122"/>
              </a:rPr>
              <a:t>网络系统</a:t>
            </a:r>
            <a:r>
              <a:rPr lang="zh-CN" altLang="en-US" sz="2400" dirty="0">
                <a:latin typeface="宋体" panose="02010600030101010101" pitchFamily="2" charset="-122"/>
              </a:rPr>
              <a:t>，因此，</a:t>
            </a:r>
            <a:r>
              <a:rPr lang="zh-CN" altLang="en-US" sz="2400" dirty="0">
                <a:solidFill>
                  <a:srgbClr val="0070C0"/>
                </a:solidFill>
                <a:latin typeface="宋体" panose="02010600030101010101" pitchFamily="2" charset="-122"/>
              </a:rPr>
              <a:t>信息对抗实际上是围绕着信息整个生命期过程，</a:t>
            </a:r>
            <a:r>
              <a:rPr lang="zh-CN" altLang="en-US" sz="2400" dirty="0">
                <a:solidFill>
                  <a:srgbClr val="FF0000"/>
                </a:solidFill>
                <a:latin typeface="宋体" panose="02010600030101010101" pitchFamily="2" charset="-122"/>
              </a:rPr>
              <a:t>在保护己方</a:t>
            </a:r>
            <a:r>
              <a:rPr lang="zh-CN" altLang="en-US" sz="2400" dirty="0">
                <a:solidFill>
                  <a:srgbClr val="0070C0"/>
                </a:solidFill>
                <a:latin typeface="宋体" panose="02010600030101010101" pitchFamily="2" charset="-122"/>
              </a:rPr>
              <a:t>的信息、信息处理、信息系统和计算机网络空间</a:t>
            </a:r>
            <a:r>
              <a:rPr lang="zh-CN" altLang="en-US" sz="2400" dirty="0">
                <a:solidFill>
                  <a:srgbClr val="FF0000"/>
                </a:solidFill>
                <a:latin typeface="宋体" panose="02010600030101010101" pitchFamily="2" charset="-122"/>
              </a:rPr>
              <a:t>安全的同时，为破坏敌方的</a:t>
            </a:r>
            <a:r>
              <a:rPr lang="zh-CN" altLang="en-US" sz="2400" dirty="0">
                <a:solidFill>
                  <a:srgbClr val="0070C0"/>
                </a:solidFill>
                <a:latin typeface="宋体" panose="02010600030101010101" pitchFamily="2" charset="-122"/>
              </a:rPr>
              <a:t>信息、信息处理、信息系统和计算机网络空间</a:t>
            </a:r>
            <a:r>
              <a:rPr lang="zh-CN" altLang="en-US" sz="2400" dirty="0">
                <a:solidFill>
                  <a:srgbClr val="FF0000"/>
                </a:solidFill>
                <a:latin typeface="宋体" panose="02010600030101010101" pitchFamily="2" charset="-122"/>
              </a:rPr>
              <a:t>安全而采取的各种行动。</a:t>
            </a:r>
            <a:r>
              <a:rPr lang="zh-CN" altLang="en-US" sz="2400" dirty="0">
                <a:solidFill>
                  <a:srgbClr val="FF0000"/>
                </a:solidFill>
              </a:rPr>
              <a:t> </a:t>
            </a:r>
            <a:endParaRPr lang="zh-CN" altLang="en-US" sz="24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文本占位符 26626"/>
          <p:cNvSpPr>
            <a:spLocks noGrp="1"/>
          </p:cNvSpPr>
          <p:nvPr>
            <p:ph idx="1"/>
          </p:nvPr>
        </p:nvSpPr>
        <p:spPr>
          <a:xfrm>
            <a:off x="1092530" y="1493156"/>
            <a:ext cx="10429589" cy="4535449"/>
          </a:xfrm>
        </p:spPr>
        <p:txBody>
          <a:bodyPr vert="horz" wrap="square" lIns="91440" tIns="45720" rIns="91440" bIns="45720" rtlCol="0" anchor="t">
            <a:noAutofit/>
          </a:bodyPr>
          <a:lstStyle/>
          <a:p>
            <a:pPr eaLnBrk="1" hangingPunct="1">
              <a:lnSpc>
                <a:spcPts val="3600"/>
              </a:lnSpc>
              <a:buNone/>
            </a:pPr>
            <a:r>
              <a:rPr lang="en-US" altLang="zh-CN" sz="2400" dirty="0">
                <a:latin typeface="宋体" panose="02010600030101010101" pitchFamily="2" charset="-122"/>
              </a:rPr>
              <a:t>     </a:t>
            </a:r>
            <a:r>
              <a:rPr lang="zh-CN" altLang="en-US" sz="2400" dirty="0" smtClean="0">
                <a:latin typeface="宋体" panose="02010600030101010101" pitchFamily="2" charset="-122"/>
              </a:rPr>
              <a:t>支持</a:t>
            </a:r>
            <a:r>
              <a:rPr lang="zh-CN" altLang="en-US" sz="2400" dirty="0">
                <a:latin typeface="宋体" panose="02010600030101010101" pitchFamily="2" charset="-122"/>
              </a:rPr>
              <a:t>信息的产生、传输、处理和储存的设施称为</a:t>
            </a:r>
            <a:r>
              <a:rPr lang="zh-CN" altLang="en-US" sz="2400" dirty="0">
                <a:solidFill>
                  <a:schemeClr val="folHlink"/>
                </a:solidFill>
                <a:latin typeface="宋体" panose="02010600030101010101" pitchFamily="2" charset="-122"/>
              </a:rPr>
              <a:t>信息基础设施</a:t>
            </a:r>
            <a:r>
              <a:rPr lang="zh-CN" altLang="en-US" sz="2400" dirty="0">
                <a:latin typeface="宋体" panose="02010600030101010101" pitchFamily="2" charset="-122"/>
              </a:rPr>
              <a:t>，这就是说，</a:t>
            </a:r>
            <a:r>
              <a:rPr lang="zh-CN" altLang="en-US" sz="2400" dirty="0">
                <a:solidFill>
                  <a:srgbClr val="0070C0"/>
                </a:solidFill>
                <a:latin typeface="宋体" panose="02010600030101010101" pitchFamily="2" charset="-122"/>
              </a:rPr>
              <a:t>信息对抗是在信息基础设施中展开的</a:t>
            </a:r>
            <a:r>
              <a:rPr lang="zh-CN" altLang="en-US" sz="2400" dirty="0">
                <a:latin typeface="宋体" panose="02010600030101010101" pitchFamily="2" charset="-122"/>
              </a:rPr>
              <a:t>。广义的信息基础设施由数据、信息、设备、电信系统和人员等要素组成，</a:t>
            </a:r>
            <a:r>
              <a:rPr lang="zh-CN" altLang="en-US" sz="2400" dirty="0">
                <a:solidFill>
                  <a:schemeClr val="folHlink"/>
                </a:solidFill>
                <a:latin typeface="宋体" panose="02010600030101010101" pitchFamily="2" charset="-122"/>
              </a:rPr>
              <a:t>信息对抗的目标</a:t>
            </a:r>
            <a:r>
              <a:rPr lang="zh-CN" altLang="en-US" sz="2400" dirty="0">
                <a:latin typeface="宋体" panose="02010600030101010101" pitchFamily="2" charset="-122"/>
              </a:rPr>
              <a:t>就是要获取明显的信息优势，进而获取决策优势，最终使军队获取整个战场优势。</a:t>
            </a:r>
            <a:r>
              <a:rPr lang="zh-CN" altLang="en-US" sz="2400" dirty="0"/>
              <a:t> </a:t>
            </a:r>
            <a:endParaRPr lang="zh-CN" altLang="en-US" sz="2400" dirty="0"/>
          </a:p>
        </p:txBody>
      </p:sp>
      <p:grpSp>
        <p:nvGrpSpPr>
          <p:cNvPr id="4" name="组合 3"/>
          <p:cNvGrpSpPr/>
          <p:nvPr/>
        </p:nvGrpSpPr>
        <p:grpSpPr>
          <a:xfrm>
            <a:off x="4019495" y="642032"/>
            <a:ext cx="4153009" cy="610407"/>
            <a:chOff x="3839426" y="1280937"/>
            <a:chExt cx="4153009" cy="610407"/>
          </a:xfrm>
        </p:grpSpPr>
        <p:sp>
          <p:nvSpPr>
            <p:cNvPr id="5" name="矩形: 圆角 6"/>
            <p:cNvSpPr/>
            <p:nvPr/>
          </p:nvSpPr>
          <p:spPr>
            <a:xfrm>
              <a:off x="3839426" y="1280937"/>
              <a:ext cx="4153009"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4222258" y="1347972"/>
              <a:ext cx="3498073" cy="523220"/>
            </a:xfrm>
            <a:prstGeom prst="rect">
              <a:avLst/>
            </a:prstGeom>
          </p:spPr>
          <p:txBody>
            <a:bodyPr wrap="none">
              <a:spAutoFit/>
            </a:bodyPr>
            <a:lstStyle/>
            <a:p>
              <a:pPr fontAlgn="base">
                <a:spcAft>
                  <a:spcPct val="0"/>
                </a:spcAft>
                <a:defRPr/>
              </a:pPr>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信息</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对抗的战略目的 </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grpSp>
      <p:sp>
        <p:nvSpPr>
          <p:cNvPr id="9" name="文本占位符 27650"/>
          <p:cNvSpPr txBox="1"/>
          <p:nvPr/>
        </p:nvSpPr>
        <p:spPr>
          <a:xfrm>
            <a:off x="1068724" y="4068136"/>
            <a:ext cx="10165278" cy="2304861"/>
          </a:xfrm>
        </p:spPr>
        <p:txBody>
          <a:bodyPr vert="horz" wrap="square" lIns="91440" tIns="45720" rIns="91440" bIns="45720" rtlCol="0" anchor="t">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buFont typeface="Arial" panose="020B0604020202020204" pitchFamily="34" charset="0"/>
              <a:buNone/>
            </a:pPr>
            <a:r>
              <a:rPr lang="zh-CN" altLang="en-US" sz="2400" dirty="0" smtClean="0">
                <a:latin typeface="宋体" panose="02010600030101010101" pitchFamily="2" charset="-122"/>
              </a:rPr>
              <a:t>     </a:t>
            </a:r>
            <a:r>
              <a:rPr lang="zh-CN" altLang="en-US" sz="2400" dirty="0" smtClean="0">
                <a:solidFill>
                  <a:schemeClr val="folHlink"/>
                </a:solidFill>
                <a:latin typeface="宋体" panose="02010600030101010101" pitchFamily="2" charset="-122"/>
              </a:rPr>
              <a:t>信息对抗的战略目的</a:t>
            </a:r>
            <a:r>
              <a:rPr lang="zh-CN" altLang="en-US" sz="2400" dirty="0" smtClean="0">
                <a:latin typeface="宋体" panose="02010600030101010101" pitchFamily="2" charset="-122"/>
              </a:rPr>
              <a:t>是在保护己方信息系统安全的同时，通过利用、封锁及施加影响等手段，攻击对方的国家和国防信息基础设施，以夺取和保持决定性的优势。</a:t>
            </a:r>
            <a:endParaRPr lang="zh-CN" altLang="en-US" sz="2400" dirty="0" smtClean="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8673"/>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39939" name="文本占位符 28674"/>
          <p:cNvSpPr>
            <a:spLocks noGrp="1"/>
          </p:cNvSpPr>
          <p:nvPr>
            <p:ph idx="1"/>
          </p:nvPr>
        </p:nvSpPr>
        <p:spPr>
          <a:xfrm>
            <a:off x="1465729" y="1976718"/>
            <a:ext cx="9372600" cy="4119282"/>
          </a:xfrm>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在</a:t>
            </a:r>
            <a:r>
              <a:rPr lang="zh-CN" altLang="en-US" sz="2400" dirty="0">
                <a:latin typeface="宋体" panose="02010600030101010101" pitchFamily="2" charset="-122"/>
              </a:rPr>
              <a:t>军事领域中，</a:t>
            </a:r>
            <a:r>
              <a:rPr lang="zh-CN" altLang="en-US" sz="2400" dirty="0">
                <a:solidFill>
                  <a:schemeClr val="folHlink"/>
                </a:solidFill>
                <a:latin typeface="宋体" panose="02010600030101010101" pitchFamily="2" charset="-122"/>
              </a:rPr>
              <a:t>信息对抗争夺的焦点</a:t>
            </a:r>
            <a:r>
              <a:rPr lang="zh-CN" altLang="en-US" sz="2400" dirty="0">
                <a:latin typeface="宋体" panose="02010600030101010101" pitchFamily="2" charset="-122"/>
              </a:rPr>
              <a:t>是</a:t>
            </a:r>
            <a:r>
              <a:rPr lang="zh-CN" altLang="en-US" sz="2400" dirty="0">
                <a:solidFill>
                  <a:srgbClr val="0070C0"/>
                </a:solidFill>
                <a:latin typeface="宋体" panose="02010600030101010101" pitchFamily="2" charset="-122"/>
              </a:rPr>
              <a:t>信息的独占权、控制权和使用权</a:t>
            </a:r>
            <a:r>
              <a:rPr lang="zh-CN" altLang="en-US" sz="2400" dirty="0">
                <a:latin typeface="宋体" panose="02010600030101010101" pitchFamily="2" charset="-122"/>
              </a:rPr>
              <a:t>，其攻击对象是敌方的军事信息系统或具有军事价值的民用信息系统，其中主要的是敌方用于</a:t>
            </a:r>
            <a:r>
              <a:rPr lang="zh-CN" altLang="en-US" sz="2400" dirty="0">
                <a:solidFill>
                  <a:srgbClr val="0070C0"/>
                </a:solidFill>
                <a:latin typeface="宋体" panose="02010600030101010101" pitchFamily="2" charset="-122"/>
              </a:rPr>
              <a:t>获取信息的探测系统、传送信息的通信系统、指挥控制系统</a:t>
            </a:r>
            <a:r>
              <a:rPr lang="zh-CN" altLang="en-US" sz="2400" dirty="0">
                <a:latin typeface="宋体" panose="02010600030101010101" pitchFamily="2" charset="-122"/>
              </a:rPr>
              <a:t>（包括信息服务器、决策支持与指挥系统、计算机处理平台以及操作人员）等。</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9697"/>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40963" name="文本占位符 29698"/>
          <p:cNvSpPr>
            <a:spLocks noGrp="1"/>
          </p:cNvSpPr>
          <p:nvPr>
            <p:ph idx="1"/>
          </p:nvPr>
        </p:nvSpPr>
        <p:spPr>
          <a:xfrm>
            <a:off x="1246909" y="2487706"/>
            <a:ext cx="9749642" cy="3849649"/>
          </a:xfrm>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因此</a:t>
            </a:r>
            <a:r>
              <a:rPr lang="zh-CN" altLang="en-US" sz="2400" dirty="0">
                <a:latin typeface="宋体" panose="02010600030101010101" pitchFamily="2" charset="-122"/>
              </a:rPr>
              <a:t>，</a:t>
            </a:r>
            <a:r>
              <a:rPr lang="zh-CN" altLang="en-US" sz="2400" dirty="0">
                <a:solidFill>
                  <a:schemeClr val="folHlink"/>
                </a:solidFill>
                <a:latin typeface="宋体" panose="02010600030101010101" pitchFamily="2" charset="-122"/>
              </a:rPr>
              <a:t>信息对抗的内涵</a:t>
            </a:r>
            <a:r>
              <a:rPr lang="zh-CN" altLang="en-US" sz="2400" dirty="0">
                <a:latin typeface="宋体" panose="02010600030101010101" pitchFamily="2" charset="-122"/>
              </a:rPr>
              <a:t>包括：在准备和实施军事行动过程中，为夺取并保护对敌信息优势，按统一的意图和计划而采取的一整套信息保障措施，其中包括</a:t>
            </a:r>
            <a:r>
              <a:rPr lang="zh-CN" altLang="en-US" sz="2400" dirty="0">
                <a:solidFill>
                  <a:srgbClr val="0070C0"/>
                </a:solidFill>
                <a:latin typeface="宋体" panose="02010600030101010101" pitchFamily="2" charset="-122"/>
              </a:rPr>
              <a:t>信息优势、信息进攻和信息防御</a:t>
            </a:r>
            <a:r>
              <a:rPr lang="zh-CN" altLang="en-US" sz="2400" dirty="0">
                <a:latin typeface="宋体" panose="02010600030101010101" pitchFamily="2" charset="-122"/>
              </a:rPr>
              <a:t>（参见图</a:t>
            </a:r>
            <a:r>
              <a:rPr lang="en-US" altLang="zh-CN" sz="2400" dirty="0"/>
              <a:t>1-1</a:t>
            </a:r>
            <a:r>
              <a:rPr lang="zh-CN" altLang="en-US" sz="2400" dirty="0">
                <a:latin typeface="宋体" panose="02010600030101010101" pitchFamily="2" charset="-122"/>
              </a:rPr>
              <a:t>）。</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组合 30844"/>
          <p:cNvGrpSpPr/>
          <p:nvPr/>
        </p:nvGrpSpPr>
        <p:grpSpPr>
          <a:xfrm>
            <a:off x="1728792" y="106363"/>
            <a:ext cx="8634417" cy="6248400"/>
            <a:chOff x="129" y="356"/>
            <a:chExt cx="5439" cy="3936"/>
          </a:xfrm>
        </p:grpSpPr>
        <p:sp>
          <p:nvSpPr>
            <p:cNvPr id="41988" name="矩形 30822"/>
            <p:cNvSpPr/>
            <p:nvPr/>
          </p:nvSpPr>
          <p:spPr>
            <a:xfrm>
              <a:off x="2200" y="1701"/>
              <a:ext cx="1270" cy="2273"/>
            </a:xfrm>
            <a:prstGeom prst="rect">
              <a:avLst/>
            </a:prstGeom>
            <a:solidFill>
              <a:srgbClr val="99FF99"/>
            </a:solidFill>
            <a:ln w="12700" cap="flat" cmpd="sng">
              <a:solidFill>
                <a:schemeClr val="tx2"/>
              </a:solidFill>
              <a:prstDash val="dash"/>
              <a:miter/>
              <a:headEnd type="none" w="med" len="med"/>
              <a:tailEnd type="none" w="med" len="med"/>
            </a:ln>
          </p:spPr>
          <p:txBody>
            <a:bodyPr/>
            <a:lstStyle/>
            <a:p>
              <a:endParaRPr lang="zh-CN" altLang="en-US" dirty="0">
                <a:latin typeface="Times New Roman" panose="02020603050405020304" pitchFamily="18" charset="0"/>
              </a:endParaRPr>
            </a:p>
          </p:txBody>
        </p:sp>
        <p:sp>
          <p:nvSpPr>
            <p:cNvPr id="41989" name="矩形 30823"/>
            <p:cNvSpPr/>
            <p:nvPr/>
          </p:nvSpPr>
          <p:spPr>
            <a:xfrm>
              <a:off x="3515" y="1706"/>
              <a:ext cx="1749" cy="2268"/>
            </a:xfrm>
            <a:prstGeom prst="rect">
              <a:avLst/>
            </a:prstGeom>
            <a:solidFill>
              <a:srgbClr val="99FF99"/>
            </a:solidFill>
            <a:ln w="12700" cap="flat" cmpd="sng">
              <a:solidFill>
                <a:schemeClr val="tx2"/>
              </a:solidFill>
              <a:prstDash val="dash"/>
              <a:miter/>
              <a:headEnd type="none" w="med" len="med"/>
              <a:tailEnd type="none" w="med" len="med"/>
            </a:ln>
          </p:spPr>
          <p:txBody>
            <a:bodyPr/>
            <a:lstStyle/>
            <a:p>
              <a:endParaRPr lang="zh-CN" altLang="en-US" dirty="0">
                <a:latin typeface="Times New Roman" panose="02020603050405020304" pitchFamily="18" charset="0"/>
              </a:endParaRPr>
            </a:p>
          </p:txBody>
        </p:sp>
        <p:sp>
          <p:nvSpPr>
            <p:cNvPr id="41990" name="矩形 30784"/>
            <p:cNvSpPr/>
            <p:nvPr/>
          </p:nvSpPr>
          <p:spPr>
            <a:xfrm>
              <a:off x="753" y="1701"/>
              <a:ext cx="1391" cy="2273"/>
            </a:xfrm>
            <a:prstGeom prst="rect">
              <a:avLst/>
            </a:prstGeom>
            <a:solidFill>
              <a:srgbClr val="99FF99"/>
            </a:solidFill>
            <a:ln w="12700" cap="flat" cmpd="sng">
              <a:solidFill>
                <a:schemeClr val="tx2"/>
              </a:solidFill>
              <a:prstDash val="dash"/>
              <a:miter/>
              <a:headEnd type="none" w="med" len="med"/>
              <a:tailEnd type="none" w="med" len="med"/>
            </a:ln>
          </p:spPr>
          <p:txBody>
            <a:bodyPr/>
            <a:lstStyle/>
            <a:p>
              <a:endParaRPr lang="zh-CN" altLang="en-US" dirty="0">
                <a:latin typeface="Times New Roman" panose="02020603050405020304" pitchFamily="18" charset="0"/>
              </a:endParaRPr>
            </a:p>
          </p:txBody>
        </p:sp>
        <p:sp>
          <p:nvSpPr>
            <p:cNvPr id="41991" name="文本框 30785"/>
            <p:cNvSpPr txBox="1"/>
            <p:nvPr/>
          </p:nvSpPr>
          <p:spPr>
            <a:xfrm>
              <a:off x="1609" y="356"/>
              <a:ext cx="2782" cy="223"/>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综合性效果 获取军事优势</a:t>
              </a:r>
              <a:endParaRPr lang="zh-CN" altLang="en-US" dirty="0">
                <a:solidFill>
                  <a:schemeClr val="bg2"/>
                </a:solidFill>
                <a:latin typeface="Times New Roman" panose="02020603050405020304" pitchFamily="18" charset="0"/>
              </a:endParaRPr>
            </a:p>
          </p:txBody>
        </p:sp>
        <p:sp>
          <p:nvSpPr>
            <p:cNvPr id="41992" name="文本框 30786"/>
            <p:cNvSpPr txBox="1"/>
            <p:nvPr/>
          </p:nvSpPr>
          <p:spPr>
            <a:xfrm>
              <a:off x="1609" y="802"/>
              <a:ext cx="535" cy="371"/>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主 宰</a:t>
              </a:r>
              <a:endParaRPr lang="zh-CN" altLang="en-US" dirty="0">
                <a:solidFill>
                  <a:schemeClr val="bg2"/>
                </a:solidFill>
                <a:latin typeface="Times New Roman" panose="02020603050405020304" pitchFamily="18" charset="0"/>
              </a:endParaRPr>
            </a:p>
            <a:p>
              <a:pPr algn="ctr" eaLnBrk="0" hangingPunct="0"/>
              <a:r>
                <a:rPr lang="zh-CN" altLang="en-US" dirty="0">
                  <a:solidFill>
                    <a:schemeClr val="bg2"/>
                  </a:solidFill>
                  <a:latin typeface="Times New Roman" panose="02020603050405020304" pitchFamily="18" charset="0"/>
                </a:rPr>
                <a:t>机 动</a:t>
              </a:r>
              <a:endParaRPr lang="zh-CN" altLang="en-US" dirty="0">
                <a:solidFill>
                  <a:schemeClr val="bg2"/>
                </a:solidFill>
                <a:latin typeface="Times New Roman" panose="02020603050405020304" pitchFamily="18" charset="0"/>
              </a:endParaRPr>
            </a:p>
          </p:txBody>
        </p:sp>
        <p:sp>
          <p:nvSpPr>
            <p:cNvPr id="41993" name="文本框 30787"/>
            <p:cNvSpPr txBox="1"/>
            <p:nvPr/>
          </p:nvSpPr>
          <p:spPr>
            <a:xfrm>
              <a:off x="2358" y="802"/>
              <a:ext cx="535" cy="371"/>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精 确</a:t>
              </a:r>
              <a:endParaRPr lang="zh-CN" altLang="en-US" dirty="0">
                <a:solidFill>
                  <a:schemeClr val="bg2"/>
                </a:solidFill>
                <a:latin typeface="Times New Roman" panose="02020603050405020304" pitchFamily="18" charset="0"/>
              </a:endParaRPr>
            </a:p>
            <a:p>
              <a:pPr algn="ctr" eaLnBrk="0" hangingPunct="0"/>
              <a:r>
                <a:rPr lang="zh-CN" altLang="en-US" dirty="0">
                  <a:solidFill>
                    <a:schemeClr val="bg2"/>
                  </a:solidFill>
                  <a:latin typeface="Times New Roman" panose="02020603050405020304" pitchFamily="18" charset="0"/>
                </a:rPr>
                <a:t>作 战</a:t>
              </a:r>
              <a:endParaRPr lang="zh-CN" altLang="en-US" dirty="0">
                <a:solidFill>
                  <a:schemeClr val="bg2"/>
                </a:solidFill>
                <a:latin typeface="Times New Roman" panose="02020603050405020304" pitchFamily="18" charset="0"/>
              </a:endParaRPr>
            </a:p>
          </p:txBody>
        </p:sp>
        <p:sp>
          <p:nvSpPr>
            <p:cNvPr id="41994" name="文本框 30788"/>
            <p:cNvSpPr txBox="1"/>
            <p:nvPr/>
          </p:nvSpPr>
          <p:spPr>
            <a:xfrm>
              <a:off x="3107" y="802"/>
              <a:ext cx="535" cy="371"/>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聚 焦</a:t>
              </a:r>
              <a:endParaRPr lang="zh-CN" altLang="en-US" dirty="0">
                <a:solidFill>
                  <a:schemeClr val="bg2"/>
                </a:solidFill>
                <a:latin typeface="Times New Roman" panose="02020603050405020304" pitchFamily="18" charset="0"/>
              </a:endParaRPr>
            </a:p>
            <a:p>
              <a:pPr algn="ctr" eaLnBrk="0" hangingPunct="0"/>
              <a:r>
                <a:rPr lang="zh-CN" altLang="en-US" dirty="0">
                  <a:solidFill>
                    <a:schemeClr val="bg2"/>
                  </a:solidFill>
                  <a:latin typeface="Times New Roman" panose="02020603050405020304" pitchFamily="18" charset="0"/>
                </a:rPr>
                <a:t>后 勤</a:t>
              </a:r>
              <a:endParaRPr lang="zh-CN" altLang="en-US" dirty="0">
                <a:solidFill>
                  <a:schemeClr val="bg2"/>
                </a:solidFill>
                <a:latin typeface="Times New Roman" panose="02020603050405020304" pitchFamily="18" charset="0"/>
              </a:endParaRPr>
            </a:p>
          </p:txBody>
        </p:sp>
        <p:sp>
          <p:nvSpPr>
            <p:cNvPr id="41995" name="文本框 30789"/>
            <p:cNvSpPr txBox="1"/>
            <p:nvPr/>
          </p:nvSpPr>
          <p:spPr>
            <a:xfrm>
              <a:off x="3856" y="802"/>
              <a:ext cx="535" cy="371"/>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全 维防  护</a:t>
              </a:r>
              <a:endParaRPr lang="zh-CN" altLang="en-US" dirty="0">
                <a:solidFill>
                  <a:schemeClr val="bg2"/>
                </a:solidFill>
                <a:latin typeface="Times New Roman" panose="02020603050405020304" pitchFamily="18" charset="0"/>
              </a:endParaRPr>
            </a:p>
          </p:txBody>
        </p:sp>
        <p:sp>
          <p:nvSpPr>
            <p:cNvPr id="41996" name="文本框 30790"/>
            <p:cNvSpPr txBox="1"/>
            <p:nvPr/>
          </p:nvSpPr>
          <p:spPr>
            <a:xfrm>
              <a:off x="1823" y="1321"/>
              <a:ext cx="2247" cy="223"/>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sz="2000" dirty="0">
                  <a:solidFill>
                    <a:schemeClr val="bg2"/>
                  </a:solidFill>
                  <a:latin typeface="Times New Roman" panose="02020603050405020304" pitchFamily="18" charset="0"/>
                </a:rPr>
                <a:t>控制信息权</a:t>
              </a:r>
              <a:endParaRPr lang="zh-CN" altLang="en-US" sz="2000" dirty="0">
                <a:solidFill>
                  <a:schemeClr val="bg2"/>
                </a:solidFill>
                <a:latin typeface="Times New Roman" panose="02020603050405020304" pitchFamily="18" charset="0"/>
              </a:endParaRPr>
            </a:p>
          </p:txBody>
        </p:sp>
        <p:sp>
          <p:nvSpPr>
            <p:cNvPr id="41997" name="圆角矩形 30791"/>
            <p:cNvSpPr/>
            <p:nvPr/>
          </p:nvSpPr>
          <p:spPr>
            <a:xfrm>
              <a:off x="1066" y="1752"/>
              <a:ext cx="963" cy="453"/>
            </a:xfrm>
            <a:prstGeom prst="roundRect">
              <a:avLst>
                <a:gd name="adj" fmla="val 16667"/>
              </a:avLst>
            </a:prstGeom>
            <a:solidFill>
              <a:schemeClr val="accent1"/>
            </a:solidFill>
            <a:ln w="9525" cap="flat" cmpd="sng">
              <a:solidFill>
                <a:schemeClr val="tx2"/>
              </a:solidFill>
              <a:prstDash val="solid"/>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支配对作战空间的理解</a:t>
              </a:r>
              <a:endParaRPr lang="zh-CN" altLang="en-US" dirty="0">
                <a:solidFill>
                  <a:schemeClr val="bg2"/>
                </a:solidFill>
                <a:latin typeface="Times New Roman" panose="02020603050405020304" pitchFamily="18" charset="0"/>
              </a:endParaRPr>
            </a:p>
          </p:txBody>
        </p:sp>
        <p:sp>
          <p:nvSpPr>
            <p:cNvPr id="41998" name="圆角矩形 30792"/>
            <p:cNvSpPr/>
            <p:nvPr/>
          </p:nvSpPr>
          <p:spPr>
            <a:xfrm>
              <a:off x="2786" y="1797"/>
              <a:ext cx="1364" cy="302"/>
            </a:xfrm>
            <a:prstGeom prst="roundRect">
              <a:avLst>
                <a:gd name="adj" fmla="val 16667"/>
              </a:avLst>
            </a:prstGeom>
            <a:solidFill>
              <a:schemeClr val="accent1"/>
            </a:solidFill>
            <a:ln w="9525" cap="flat" cmpd="sng">
              <a:solidFill>
                <a:schemeClr val="tx2"/>
              </a:solidFill>
              <a:prstDash val="solid"/>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支配对信息的控制</a:t>
              </a:r>
              <a:endParaRPr lang="zh-CN" altLang="en-US" dirty="0">
                <a:solidFill>
                  <a:schemeClr val="bg2"/>
                </a:solidFill>
                <a:latin typeface="Times New Roman" panose="02020603050405020304" pitchFamily="18" charset="0"/>
              </a:endParaRPr>
            </a:p>
          </p:txBody>
        </p:sp>
        <p:sp>
          <p:nvSpPr>
            <p:cNvPr id="41999" name="圆角矩形 30793"/>
            <p:cNvSpPr/>
            <p:nvPr/>
          </p:nvSpPr>
          <p:spPr>
            <a:xfrm>
              <a:off x="1074" y="2435"/>
              <a:ext cx="856" cy="372"/>
            </a:xfrm>
            <a:prstGeom prst="roundRect">
              <a:avLst>
                <a:gd name="adj" fmla="val 16667"/>
              </a:avLst>
            </a:prstGeom>
            <a:solidFill>
              <a:schemeClr val="accent1"/>
            </a:solidFill>
            <a:ln w="9525" cap="flat" cmpd="sng">
              <a:solidFill>
                <a:schemeClr val="tx2"/>
              </a:solidFill>
              <a:prstDash val="solid"/>
              <a:headEnd type="none" w="med" len="med"/>
              <a:tailEnd type="none" w="med" len="med"/>
            </a:ln>
          </p:spPr>
          <p:txBody>
            <a:bodyPr/>
            <a:lstStyle/>
            <a:p>
              <a:pPr algn="ctr" eaLnBrk="0" hangingPunct="0"/>
              <a:r>
                <a:rPr lang="zh-CN" altLang="en-US" sz="2000" dirty="0">
                  <a:solidFill>
                    <a:schemeClr val="bg2"/>
                  </a:solidFill>
                  <a:latin typeface="Times New Roman" panose="02020603050405020304" pitchFamily="18" charset="0"/>
                </a:rPr>
                <a:t>信息利用</a:t>
              </a:r>
              <a:endParaRPr lang="zh-CN" altLang="en-US" sz="2000" dirty="0">
                <a:solidFill>
                  <a:schemeClr val="bg2"/>
                </a:solidFill>
                <a:latin typeface="Times New Roman" panose="02020603050405020304" pitchFamily="18" charset="0"/>
              </a:endParaRPr>
            </a:p>
          </p:txBody>
        </p:sp>
        <p:sp>
          <p:nvSpPr>
            <p:cNvPr id="42000" name="圆角矩形 30794"/>
            <p:cNvSpPr/>
            <p:nvPr/>
          </p:nvSpPr>
          <p:spPr>
            <a:xfrm>
              <a:off x="2382" y="2387"/>
              <a:ext cx="816" cy="451"/>
            </a:xfrm>
            <a:prstGeom prst="roundRect">
              <a:avLst>
                <a:gd name="adj" fmla="val 16667"/>
              </a:avLst>
            </a:prstGeom>
            <a:solidFill>
              <a:schemeClr val="accent1"/>
            </a:solidFill>
            <a:ln w="9525" cap="flat" cmpd="sng">
              <a:solidFill>
                <a:schemeClr val="tx2"/>
              </a:solidFill>
              <a:prstDash val="solid"/>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防御性信息对抗</a:t>
              </a:r>
              <a:endParaRPr lang="zh-CN" altLang="en-US" dirty="0">
                <a:solidFill>
                  <a:schemeClr val="bg2"/>
                </a:solidFill>
                <a:latin typeface="Times New Roman" panose="02020603050405020304" pitchFamily="18" charset="0"/>
              </a:endParaRPr>
            </a:p>
          </p:txBody>
        </p:sp>
        <p:sp>
          <p:nvSpPr>
            <p:cNvPr id="42001" name="圆角矩形 30795"/>
            <p:cNvSpPr/>
            <p:nvPr/>
          </p:nvSpPr>
          <p:spPr>
            <a:xfrm>
              <a:off x="3642" y="2387"/>
              <a:ext cx="856" cy="453"/>
            </a:xfrm>
            <a:prstGeom prst="roundRect">
              <a:avLst>
                <a:gd name="adj" fmla="val 16667"/>
              </a:avLst>
            </a:prstGeom>
            <a:solidFill>
              <a:schemeClr val="accent1"/>
            </a:solidFill>
            <a:ln w="9525" cap="flat" cmpd="sng">
              <a:solidFill>
                <a:schemeClr val="tx2"/>
              </a:solidFill>
              <a:prstDash val="solid"/>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进攻性信息对抗</a:t>
              </a:r>
              <a:endParaRPr lang="zh-CN" altLang="en-US" dirty="0">
                <a:solidFill>
                  <a:schemeClr val="bg2"/>
                </a:solidFill>
                <a:latin typeface="Times New Roman" panose="02020603050405020304" pitchFamily="18" charset="0"/>
              </a:endParaRPr>
            </a:p>
          </p:txBody>
        </p:sp>
        <p:sp>
          <p:nvSpPr>
            <p:cNvPr id="42002" name="文本框 30796"/>
            <p:cNvSpPr txBox="1"/>
            <p:nvPr/>
          </p:nvSpPr>
          <p:spPr>
            <a:xfrm>
              <a:off x="864" y="3092"/>
              <a:ext cx="321" cy="371"/>
            </a:xfrm>
            <a:prstGeom prst="rect">
              <a:avLst/>
            </a:prstGeom>
            <a:solidFill>
              <a:schemeClr val="accent1"/>
            </a:solidFill>
            <a:ln w="9525" cap="flat" cmpd="sng">
              <a:solidFill>
                <a:schemeClr val="tx2"/>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获取</a:t>
              </a:r>
              <a:endParaRPr lang="zh-CN" altLang="en-US" dirty="0">
                <a:solidFill>
                  <a:schemeClr val="bg2"/>
                </a:solidFill>
                <a:latin typeface="Times New Roman" panose="02020603050405020304" pitchFamily="18" charset="0"/>
              </a:endParaRPr>
            </a:p>
          </p:txBody>
        </p:sp>
        <p:sp>
          <p:nvSpPr>
            <p:cNvPr id="42003" name="文本框 30797"/>
            <p:cNvSpPr txBox="1"/>
            <p:nvPr/>
          </p:nvSpPr>
          <p:spPr>
            <a:xfrm>
              <a:off x="1288" y="3104"/>
              <a:ext cx="321" cy="371"/>
            </a:xfrm>
            <a:prstGeom prst="rect">
              <a:avLst/>
            </a:prstGeom>
            <a:solidFill>
              <a:schemeClr val="accent1"/>
            </a:solidFill>
            <a:ln w="9525" cap="flat" cmpd="sng">
              <a:solidFill>
                <a:schemeClr val="tx2"/>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利用</a:t>
              </a:r>
              <a:endParaRPr lang="zh-CN" altLang="en-US" dirty="0">
                <a:solidFill>
                  <a:schemeClr val="bg2"/>
                </a:solidFill>
                <a:latin typeface="Times New Roman" panose="02020603050405020304" pitchFamily="18" charset="0"/>
              </a:endParaRPr>
            </a:p>
          </p:txBody>
        </p:sp>
        <p:sp>
          <p:nvSpPr>
            <p:cNvPr id="42004" name="文本框 30798"/>
            <p:cNvSpPr txBox="1"/>
            <p:nvPr/>
          </p:nvSpPr>
          <p:spPr>
            <a:xfrm>
              <a:off x="1716" y="3104"/>
              <a:ext cx="321" cy="371"/>
            </a:xfrm>
            <a:prstGeom prst="rect">
              <a:avLst/>
            </a:prstGeom>
            <a:solidFill>
              <a:schemeClr val="accent1"/>
            </a:solidFill>
            <a:ln w="9525" cap="flat" cmpd="sng">
              <a:solidFill>
                <a:schemeClr val="tx2"/>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分发</a:t>
              </a:r>
              <a:endParaRPr lang="zh-CN" altLang="en-US" dirty="0">
                <a:solidFill>
                  <a:schemeClr val="bg2"/>
                </a:solidFill>
                <a:latin typeface="Times New Roman" panose="02020603050405020304" pitchFamily="18" charset="0"/>
              </a:endParaRPr>
            </a:p>
          </p:txBody>
        </p:sp>
        <p:sp>
          <p:nvSpPr>
            <p:cNvPr id="42005" name="文本框 30799"/>
            <p:cNvSpPr txBox="1"/>
            <p:nvPr/>
          </p:nvSpPr>
          <p:spPr>
            <a:xfrm>
              <a:off x="2251" y="3104"/>
              <a:ext cx="321" cy="371"/>
            </a:xfrm>
            <a:prstGeom prst="rect">
              <a:avLst/>
            </a:prstGeom>
            <a:solidFill>
              <a:schemeClr val="accent1"/>
            </a:solidFill>
            <a:ln w="9525" cap="flat" cmpd="sng">
              <a:solidFill>
                <a:schemeClr val="tx2"/>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防护</a:t>
              </a:r>
              <a:endParaRPr lang="zh-CN" altLang="en-US" dirty="0">
                <a:solidFill>
                  <a:schemeClr val="bg2"/>
                </a:solidFill>
                <a:latin typeface="Times New Roman" panose="02020603050405020304" pitchFamily="18" charset="0"/>
              </a:endParaRPr>
            </a:p>
          </p:txBody>
        </p:sp>
        <p:sp>
          <p:nvSpPr>
            <p:cNvPr id="42006" name="文本框 30800"/>
            <p:cNvSpPr txBox="1"/>
            <p:nvPr/>
          </p:nvSpPr>
          <p:spPr>
            <a:xfrm>
              <a:off x="2679" y="3104"/>
              <a:ext cx="321" cy="371"/>
            </a:xfrm>
            <a:prstGeom prst="rect">
              <a:avLst/>
            </a:prstGeom>
            <a:solidFill>
              <a:schemeClr val="accent1"/>
            </a:solidFill>
            <a:ln w="9525" cap="flat" cmpd="sng">
              <a:solidFill>
                <a:schemeClr val="tx2"/>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探测</a:t>
              </a:r>
              <a:endParaRPr lang="zh-CN" altLang="en-US" dirty="0">
                <a:solidFill>
                  <a:schemeClr val="bg2"/>
                </a:solidFill>
                <a:latin typeface="Times New Roman" panose="02020603050405020304" pitchFamily="18" charset="0"/>
              </a:endParaRPr>
            </a:p>
          </p:txBody>
        </p:sp>
        <p:sp>
          <p:nvSpPr>
            <p:cNvPr id="42007" name="文本框 30801"/>
            <p:cNvSpPr txBox="1"/>
            <p:nvPr/>
          </p:nvSpPr>
          <p:spPr>
            <a:xfrm>
              <a:off x="3107" y="3104"/>
              <a:ext cx="321" cy="371"/>
            </a:xfrm>
            <a:prstGeom prst="rect">
              <a:avLst/>
            </a:prstGeom>
            <a:solidFill>
              <a:schemeClr val="accent1"/>
            </a:solidFill>
            <a:ln w="9525" cap="flat" cmpd="sng">
              <a:solidFill>
                <a:schemeClr val="tx2"/>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恢复</a:t>
              </a:r>
              <a:endParaRPr lang="zh-CN" altLang="en-US" dirty="0">
                <a:solidFill>
                  <a:schemeClr val="bg2"/>
                </a:solidFill>
                <a:latin typeface="Times New Roman" panose="02020603050405020304" pitchFamily="18" charset="0"/>
              </a:endParaRPr>
            </a:p>
          </p:txBody>
        </p:sp>
        <p:sp>
          <p:nvSpPr>
            <p:cNvPr id="42008" name="文本框 30802"/>
            <p:cNvSpPr txBox="1"/>
            <p:nvPr/>
          </p:nvSpPr>
          <p:spPr>
            <a:xfrm>
              <a:off x="3535" y="3104"/>
              <a:ext cx="321" cy="371"/>
            </a:xfrm>
            <a:prstGeom prst="rect">
              <a:avLst/>
            </a:prstGeom>
            <a:solidFill>
              <a:schemeClr val="accent1"/>
            </a:solidFill>
            <a:ln w="9525" cap="flat" cmpd="sng">
              <a:solidFill>
                <a:schemeClr val="tx2"/>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压制</a:t>
              </a:r>
              <a:endParaRPr lang="zh-CN" altLang="en-US" dirty="0">
                <a:solidFill>
                  <a:schemeClr val="bg2"/>
                </a:solidFill>
                <a:latin typeface="Times New Roman" panose="02020603050405020304" pitchFamily="18" charset="0"/>
              </a:endParaRPr>
            </a:p>
          </p:txBody>
        </p:sp>
        <p:sp>
          <p:nvSpPr>
            <p:cNvPr id="42009" name="文本框 30803"/>
            <p:cNvSpPr txBox="1"/>
            <p:nvPr/>
          </p:nvSpPr>
          <p:spPr>
            <a:xfrm>
              <a:off x="3963" y="3104"/>
              <a:ext cx="321" cy="371"/>
            </a:xfrm>
            <a:prstGeom prst="rect">
              <a:avLst/>
            </a:prstGeom>
            <a:solidFill>
              <a:schemeClr val="accent1"/>
            </a:solidFill>
            <a:ln w="9525" cap="flat" cmpd="sng">
              <a:solidFill>
                <a:schemeClr val="tx2"/>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破坏</a:t>
              </a:r>
              <a:endParaRPr lang="zh-CN" altLang="en-US" dirty="0">
                <a:solidFill>
                  <a:schemeClr val="bg2"/>
                </a:solidFill>
                <a:latin typeface="Times New Roman" panose="02020603050405020304" pitchFamily="18" charset="0"/>
              </a:endParaRPr>
            </a:p>
          </p:txBody>
        </p:sp>
        <p:sp>
          <p:nvSpPr>
            <p:cNvPr id="42010" name="文本框 30804"/>
            <p:cNvSpPr txBox="1"/>
            <p:nvPr/>
          </p:nvSpPr>
          <p:spPr>
            <a:xfrm>
              <a:off x="4391" y="3104"/>
              <a:ext cx="321" cy="371"/>
            </a:xfrm>
            <a:prstGeom prst="rect">
              <a:avLst/>
            </a:prstGeom>
            <a:solidFill>
              <a:schemeClr val="accent1"/>
            </a:solidFill>
            <a:ln w="9525" cap="flat" cmpd="sng">
              <a:solidFill>
                <a:schemeClr val="tx2"/>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利用</a:t>
              </a:r>
              <a:endParaRPr lang="zh-CN" altLang="en-US" dirty="0">
                <a:solidFill>
                  <a:schemeClr val="bg2"/>
                </a:solidFill>
                <a:latin typeface="Times New Roman" panose="02020603050405020304" pitchFamily="18" charset="0"/>
              </a:endParaRPr>
            </a:p>
          </p:txBody>
        </p:sp>
        <p:sp>
          <p:nvSpPr>
            <p:cNvPr id="42011" name="文本框 30805"/>
            <p:cNvSpPr txBox="1"/>
            <p:nvPr/>
          </p:nvSpPr>
          <p:spPr>
            <a:xfrm>
              <a:off x="4819" y="3104"/>
              <a:ext cx="321" cy="371"/>
            </a:xfrm>
            <a:prstGeom prst="rect">
              <a:avLst/>
            </a:prstGeom>
            <a:solidFill>
              <a:schemeClr val="accent1"/>
            </a:solidFill>
            <a:ln w="9525" cap="flat" cmpd="sng">
              <a:solidFill>
                <a:schemeClr val="tx2"/>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摧毁</a:t>
              </a:r>
              <a:endParaRPr lang="zh-CN" altLang="en-US" dirty="0">
                <a:solidFill>
                  <a:schemeClr val="bg2"/>
                </a:solidFill>
                <a:latin typeface="Times New Roman" panose="02020603050405020304" pitchFamily="18" charset="0"/>
              </a:endParaRPr>
            </a:p>
          </p:txBody>
        </p:sp>
        <p:sp>
          <p:nvSpPr>
            <p:cNvPr id="42012" name="任意多边形 30806"/>
            <p:cNvSpPr/>
            <p:nvPr/>
          </p:nvSpPr>
          <p:spPr>
            <a:xfrm>
              <a:off x="1235" y="3484"/>
              <a:ext cx="3620" cy="173"/>
            </a:xfrm>
            <a:custGeom>
              <a:avLst/>
              <a:gdLst>
                <a:gd name="txL" fmla="*/ 0 w 6090"/>
                <a:gd name="txT" fmla="*/ 0 h 364"/>
                <a:gd name="txR" fmla="*/ 6090 w 6090"/>
                <a:gd name="txB" fmla="*/ 364 h 364"/>
              </a:gdLst>
              <a:ahLst/>
              <a:cxnLst>
                <a:cxn ang="0">
                  <a:pos x="5490" y="0"/>
                </a:cxn>
                <a:cxn ang="0">
                  <a:pos x="5310" y="312"/>
                </a:cxn>
                <a:cxn ang="0">
                  <a:pos x="810" y="312"/>
                </a:cxn>
                <a:cxn ang="0">
                  <a:pos x="450" y="0"/>
                </a:cxn>
              </a:cxnLst>
              <a:rect l="txL" t="txT" r="txR" b="txB"/>
              <a:pathLst>
                <a:path w="6090" h="364">
                  <a:moveTo>
                    <a:pt x="5490" y="0"/>
                  </a:moveTo>
                  <a:cubicBezTo>
                    <a:pt x="5790" y="130"/>
                    <a:pt x="6090" y="260"/>
                    <a:pt x="5310" y="312"/>
                  </a:cubicBezTo>
                  <a:cubicBezTo>
                    <a:pt x="4530" y="364"/>
                    <a:pt x="1620" y="364"/>
                    <a:pt x="810" y="312"/>
                  </a:cubicBezTo>
                  <a:cubicBezTo>
                    <a:pt x="0" y="260"/>
                    <a:pt x="510" y="52"/>
                    <a:pt x="450" y="0"/>
                  </a:cubicBezTo>
                </a:path>
              </a:pathLst>
            </a:custGeom>
            <a:solidFill>
              <a:srgbClr val="99FF99">
                <a:alpha val="100000"/>
              </a:srgbClr>
            </a:solidFill>
            <a:ln w="9525" cap="flat" cmpd="sng">
              <a:solidFill>
                <a:schemeClr val="tx2">
                  <a:alpha val="100000"/>
                </a:schemeClr>
              </a:solidFill>
              <a:prstDash val="solid"/>
              <a:round/>
              <a:headEnd type="none" w="med" len="med"/>
              <a:tailEnd type="triangle" w="med" len="med"/>
            </a:ln>
          </p:spPr>
          <p:txBody>
            <a:bodyPr/>
            <a:lstStyle/>
            <a:p>
              <a:endParaRPr lang="zh-CN" altLang="en-US"/>
            </a:p>
          </p:txBody>
        </p:sp>
        <p:sp>
          <p:nvSpPr>
            <p:cNvPr id="42013" name="直接连接符 30807"/>
            <p:cNvSpPr/>
            <p:nvPr/>
          </p:nvSpPr>
          <p:spPr>
            <a:xfrm flipV="1">
              <a:off x="967" y="2807"/>
              <a:ext cx="428" cy="297"/>
            </a:xfrm>
            <a:prstGeom prst="line">
              <a:avLst/>
            </a:prstGeom>
            <a:ln w="9525" cap="flat" cmpd="sng">
              <a:solidFill>
                <a:schemeClr val="tx2"/>
              </a:solidFill>
              <a:prstDash val="solid"/>
              <a:headEnd type="none" w="med" len="med"/>
              <a:tailEnd type="none" w="med" len="med"/>
            </a:ln>
          </p:spPr>
        </p:sp>
        <p:sp>
          <p:nvSpPr>
            <p:cNvPr id="42014" name="直接连接符 30808"/>
            <p:cNvSpPr/>
            <p:nvPr/>
          </p:nvSpPr>
          <p:spPr>
            <a:xfrm flipV="1">
              <a:off x="1502" y="2807"/>
              <a:ext cx="0" cy="297"/>
            </a:xfrm>
            <a:prstGeom prst="line">
              <a:avLst/>
            </a:prstGeom>
            <a:ln w="9525" cap="flat" cmpd="sng">
              <a:solidFill>
                <a:schemeClr val="tx2"/>
              </a:solidFill>
              <a:prstDash val="solid"/>
              <a:headEnd type="none" w="med" len="med"/>
              <a:tailEnd type="none" w="med" len="med"/>
            </a:ln>
          </p:spPr>
        </p:sp>
        <p:sp>
          <p:nvSpPr>
            <p:cNvPr id="42015" name="直接连接符 30809"/>
            <p:cNvSpPr/>
            <p:nvPr/>
          </p:nvSpPr>
          <p:spPr>
            <a:xfrm flipH="1" flipV="1">
              <a:off x="1716" y="2807"/>
              <a:ext cx="214" cy="297"/>
            </a:xfrm>
            <a:prstGeom prst="line">
              <a:avLst/>
            </a:prstGeom>
            <a:ln w="9525" cap="flat" cmpd="sng">
              <a:solidFill>
                <a:schemeClr val="tx2"/>
              </a:solidFill>
              <a:prstDash val="solid"/>
              <a:headEnd type="none" w="med" len="med"/>
              <a:tailEnd type="none" w="med" len="med"/>
            </a:ln>
          </p:spPr>
        </p:sp>
        <p:sp>
          <p:nvSpPr>
            <p:cNvPr id="42016" name="直接连接符 30810"/>
            <p:cNvSpPr/>
            <p:nvPr/>
          </p:nvSpPr>
          <p:spPr>
            <a:xfrm flipV="1">
              <a:off x="2358" y="2807"/>
              <a:ext cx="214" cy="297"/>
            </a:xfrm>
            <a:prstGeom prst="line">
              <a:avLst/>
            </a:prstGeom>
            <a:ln w="9525" cap="flat" cmpd="sng">
              <a:solidFill>
                <a:schemeClr val="tx2"/>
              </a:solidFill>
              <a:prstDash val="solid"/>
              <a:headEnd type="none" w="med" len="med"/>
              <a:tailEnd type="none" w="med" len="med"/>
            </a:ln>
          </p:spPr>
        </p:sp>
        <p:sp>
          <p:nvSpPr>
            <p:cNvPr id="42017" name="直接连接符 30811"/>
            <p:cNvSpPr/>
            <p:nvPr/>
          </p:nvSpPr>
          <p:spPr>
            <a:xfrm flipH="1" flipV="1">
              <a:off x="2786" y="2807"/>
              <a:ext cx="107" cy="297"/>
            </a:xfrm>
            <a:prstGeom prst="line">
              <a:avLst/>
            </a:prstGeom>
            <a:ln w="9525" cap="flat" cmpd="sng">
              <a:solidFill>
                <a:schemeClr val="tx2"/>
              </a:solidFill>
              <a:prstDash val="solid"/>
              <a:headEnd type="none" w="med" len="med"/>
              <a:tailEnd type="none" w="med" len="med"/>
            </a:ln>
          </p:spPr>
        </p:sp>
        <p:sp>
          <p:nvSpPr>
            <p:cNvPr id="42018" name="直接连接符 30812"/>
            <p:cNvSpPr/>
            <p:nvPr/>
          </p:nvSpPr>
          <p:spPr>
            <a:xfrm flipH="1" flipV="1">
              <a:off x="3000" y="2807"/>
              <a:ext cx="214" cy="297"/>
            </a:xfrm>
            <a:prstGeom prst="line">
              <a:avLst/>
            </a:prstGeom>
            <a:ln w="9525" cap="flat" cmpd="sng">
              <a:solidFill>
                <a:schemeClr val="tx2"/>
              </a:solidFill>
              <a:prstDash val="solid"/>
              <a:headEnd type="none" w="med" len="med"/>
              <a:tailEnd type="none" w="med" len="med"/>
            </a:ln>
          </p:spPr>
        </p:sp>
        <p:sp>
          <p:nvSpPr>
            <p:cNvPr id="42019" name="直接连接符 30813"/>
            <p:cNvSpPr/>
            <p:nvPr/>
          </p:nvSpPr>
          <p:spPr>
            <a:xfrm flipV="1">
              <a:off x="3642" y="2807"/>
              <a:ext cx="214" cy="297"/>
            </a:xfrm>
            <a:prstGeom prst="line">
              <a:avLst/>
            </a:prstGeom>
            <a:ln w="9525" cap="flat" cmpd="sng">
              <a:solidFill>
                <a:schemeClr val="tx2"/>
              </a:solidFill>
              <a:prstDash val="solid"/>
              <a:headEnd type="none" w="med" len="med"/>
              <a:tailEnd type="none" w="med" len="med"/>
            </a:ln>
          </p:spPr>
        </p:sp>
        <p:sp>
          <p:nvSpPr>
            <p:cNvPr id="42020" name="直接连接符 30814"/>
            <p:cNvSpPr/>
            <p:nvPr/>
          </p:nvSpPr>
          <p:spPr>
            <a:xfrm flipV="1">
              <a:off x="4070" y="2807"/>
              <a:ext cx="0" cy="297"/>
            </a:xfrm>
            <a:prstGeom prst="line">
              <a:avLst/>
            </a:prstGeom>
            <a:ln w="9525" cap="flat" cmpd="sng">
              <a:solidFill>
                <a:schemeClr val="tx2"/>
              </a:solidFill>
              <a:prstDash val="solid"/>
              <a:headEnd type="none" w="med" len="med"/>
              <a:tailEnd type="none" w="med" len="med"/>
            </a:ln>
          </p:spPr>
        </p:sp>
        <p:sp>
          <p:nvSpPr>
            <p:cNvPr id="42021" name="直接连接符 30815"/>
            <p:cNvSpPr/>
            <p:nvPr/>
          </p:nvSpPr>
          <p:spPr>
            <a:xfrm flipH="1" flipV="1">
              <a:off x="4177" y="2807"/>
              <a:ext cx="321" cy="297"/>
            </a:xfrm>
            <a:prstGeom prst="line">
              <a:avLst/>
            </a:prstGeom>
            <a:ln w="9525" cap="flat" cmpd="sng">
              <a:solidFill>
                <a:schemeClr val="tx2"/>
              </a:solidFill>
              <a:prstDash val="solid"/>
              <a:headEnd type="none" w="med" len="med"/>
              <a:tailEnd type="none" w="med" len="med"/>
            </a:ln>
          </p:spPr>
        </p:sp>
        <p:sp>
          <p:nvSpPr>
            <p:cNvPr id="42022" name="直接连接符 30816"/>
            <p:cNvSpPr/>
            <p:nvPr/>
          </p:nvSpPr>
          <p:spPr>
            <a:xfrm flipH="1" flipV="1">
              <a:off x="4391" y="2807"/>
              <a:ext cx="535" cy="297"/>
            </a:xfrm>
            <a:prstGeom prst="line">
              <a:avLst/>
            </a:prstGeom>
            <a:ln w="9525" cap="flat" cmpd="sng">
              <a:solidFill>
                <a:schemeClr val="tx2"/>
              </a:solidFill>
              <a:prstDash val="solid"/>
              <a:headEnd type="none" w="med" len="med"/>
              <a:tailEnd type="none" w="med" len="med"/>
            </a:ln>
          </p:spPr>
        </p:sp>
        <p:sp>
          <p:nvSpPr>
            <p:cNvPr id="42023" name="直接连接符 30817"/>
            <p:cNvSpPr/>
            <p:nvPr/>
          </p:nvSpPr>
          <p:spPr>
            <a:xfrm flipV="1">
              <a:off x="1502" y="2251"/>
              <a:ext cx="17" cy="184"/>
            </a:xfrm>
            <a:prstGeom prst="line">
              <a:avLst/>
            </a:prstGeom>
            <a:ln w="9525" cap="flat" cmpd="sng">
              <a:solidFill>
                <a:schemeClr val="tx2"/>
              </a:solidFill>
              <a:prstDash val="solid"/>
              <a:headEnd type="none" w="med" len="med"/>
              <a:tailEnd type="triangle" w="med" len="med"/>
            </a:ln>
          </p:spPr>
        </p:sp>
        <p:sp>
          <p:nvSpPr>
            <p:cNvPr id="42024" name="直接连接符 30818"/>
            <p:cNvSpPr/>
            <p:nvPr/>
          </p:nvSpPr>
          <p:spPr>
            <a:xfrm flipV="1">
              <a:off x="2679" y="2138"/>
              <a:ext cx="321" cy="297"/>
            </a:xfrm>
            <a:prstGeom prst="line">
              <a:avLst/>
            </a:prstGeom>
            <a:ln w="9525" cap="flat" cmpd="sng">
              <a:solidFill>
                <a:schemeClr val="tx2"/>
              </a:solidFill>
              <a:prstDash val="solid"/>
              <a:headEnd type="none" w="med" len="med"/>
              <a:tailEnd type="triangle" w="med" len="med"/>
            </a:ln>
          </p:spPr>
        </p:sp>
        <p:sp>
          <p:nvSpPr>
            <p:cNvPr id="42025" name="直接连接符 30819"/>
            <p:cNvSpPr/>
            <p:nvPr/>
          </p:nvSpPr>
          <p:spPr>
            <a:xfrm flipH="1" flipV="1">
              <a:off x="3856" y="2138"/>
              <a:ext cx="214" cy="297"/>
            </a:xfrm>
            <a:prstGeom prst="line">
              <a:avLst/>
            </a:prstGeom>
            <a:ln w="9525" cap="flat" cmpd="sng">
              <a:solidFill>
                <a:schemeClr val="tx2"/>
              </a:solidFill>
              <a:prstDash val="solid"/>
              <a:headEnd type="none" w="med" len="med"/>
              <a:tailEnd type="triangle" w="med" len="med"/>
            </a:ln>
          </p:spPr>
        </p:sp>
        <p:sp>
          <p:nvSpPr>
            <p:cNvPr id="42026" name="直接连接符 30820"/>
            <p:cNvSpPr/>
            <p:nvPr/>
          </p:nvSpPr>
          <p:spPr>
            <a:xfrm flipV="1">
              <a:off x="1823" y="1544"/>
              <a:ext cx="535" cy="223"/>
            </a:xfrm>
            <a:prstGeom prst="line">
              <a:avLst/>
            </a:prstGeom>
            <a:ln w="9525" cap="flat" cmpd="sng">
              <a:solidFill>
                <a:schemeClr val="tx2"/>
              </a:solidFill>
              <a:prstDash val="solid"/>
              <a:headEnd type="none" w="med" len="med"/>
              <a:tailEnd type="triangle" w="med" len="med"/>
            </a:ln>
          </p:spPr>
        </p:sp>
        <p:sp>
          <p:nvSpPr>
            <p:cNvPr id="42027" name="直接连接符 30821"/>
            <p:cNvSpPr/>
            <p:nvPr/>
          </p:nvSpPr>
          <p:spPr>
            <a:xfrm flipH="1" flipV="1">
              <a:off x="3321" y="1544"/>
              <a:ext cx="321" cy="223"/>
            </a:xfrm>
            <a:prstGeom prst="line">
              <a:avLst/>
            </a:prstGeom>
            <a:ln w="9525" cap="flat" cmpd="sng">
              <a:solidFill>
                <a:schemeClr val="tx2"/>
              </a:solidFill>
              <a:prstDash val="solid"/>
              <a:headEnd type="none" w="med" len="med"/>
              <a:tailEnd type="triangle" w="med" len="med"/>
            </a:ln>
          </p:spPr>
        </p:sp>
        <p:sp>
          <p:nvSpPr>
            <p:cNvPr id="42028" name="文本框 30824"/>
            <p:cNvSpPr txBox="1"/>
            <p:nvPr/>
          </p:nvSpPr>
          <p:spPr>
            <a:xfrm>
              <a:off x="3856" y="3706"/>
              <a:ext cx="856" cy="223"/>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信息进攻</a:t>
              </a:r>
              <a:endParaRPr lang="zh-CN" altLang="en-US" dirty="0">
                <a:solidFill>
                  <a:schemeClr val="bg2"/>
                </a:solidFill>
                <a:latin typeface="Times New Roman" panose="02020603050405020304" pitchFamily="18" charset="0"/>
              </a:endParaRPr>
            </a:p>
          </p:txBody>
        </p:sp>
        <p:sp>
          <p:nvSpPr>
            <p:cNvPr id="42029" name="文本框 30825"/>
            <p:cNvSpPr txBox="1"/>
            <p:nvPr/>
          </p:nvSpPr>
          <p:spPr>
            <a:xfrm>
              <a:off x="2465" y="3706"/>
              <a:ext cx="856" cy="223"/>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信息防御</a:t>
              </a:r>
              <a:endParaRPr lang="zh-CN" altLang="en-US" dirty="0">
                <a:solidFill>
                  <a:schemeClr val="bg2"/>
                </a:solidFill>
                <a:latin typeface="Times New Roman" panose="02020603050405020304" pitchFamily="18" charset="0"/>
              </a:endParaRPr>
            </a:p>
          </p:txBody>
        </p:sp>
        <p:sp>
          <p:nvSpPr>
            <p:cNvPr id="42030" name="文本框 30826"/>
            <p:cNvSpPr txBox="1"/>
            <p:nvPr/>
          </p:nvSpPr>
          <p:spPr>
            <a:xfrm>
              <a:off x="967" y="3706"/>
              <a:ext cx="856" cy="223"/>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信息优势</a:t>
              </a:r>
              <a:endParaRPr lang="zh-CN" altLang="en-US" dirty="0">
                <a:solidFill>
                  <a:schemeClr val="bg2"/>
                </a:solidFill>
                <a:latin typeface="Times New Roman" panose="02020603050405020304" pitchFamily="18" charset="0"/>
              </a:endParaRPr>
            </a:p>
          </p:txBody>
        </p:sp>
        <p:sp>
          <p:nvSpPr>
            <p:cNvPr id="42031" name="右箭头 30827"/>
            <p:cNvSpPr/>
            <p:nvPr/>
          </p:nvSpPr>
          <p:spPr>
            <a:xfrm>
              <a:off x="624" y="1253"/>
              <a:ext cx="1199" cy="372"/>
            </a:xfrm>
            <a:prstGeom prst="rightArrow">
              <a:avLst>
                <a:gd name="adj1" fmla="val 50000"/>
                <a:gd name="adj2" fmla="val 80563"/>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信息对抗目标</a:t>
              </a:r>
              <a:endParaRPr lang="zh-CN" altLang="en-US" dirty="0">
                <a:solidFill>
                  <a:schemeClr val="bg2"/>
                </a:solidFill>
                <a:latin typeface="Times New Roman" panose="02020603050405020304" pitchFamily="18" charset="0"/>
              </a:endParaRPr>
            </a:p>
          </p:txBody>
        </p:sp>
        <p:sp>
          <p:nvSpPr>
            <p:cNvPr id="42032" name="直接连接符 30828"/>
            <p:cNvSpPr/>
            <p:nvPr/>
          </p:nvSpPr>
          <p:spPr>
            <a:xfrm flipH="1" flipV="1">
              <a:off x="1930" y="1173"/>
              <a:ext cx="107" cy="148"/>
            </a:xfrm>
            <a:prstGeom prst="line">
              <a:avLst/>
            </a:prstGeom>
            <a:ln w="9525" cap="flat" cmpd="sng">
              <a:solidFill>
                <a:schemeClr val="tx2"/>
              </a:solidFill>
              <a:prstDash val="solid"/>
              <a:headEnd type="none" w="med" len="med"/>
              <a:tailEnd type="none" w="med" len="med"/>
            </a:ln>
          </p:spPr>
        </p:sp>
        <p:sp>
          <p:nvSpPr>
            <p:cNvPr id="42033" name="直接连接符 30829"/>
            <p:cNvSpPr/>
            <p:nvPr/>
          </p:nvSpPr>
          <p:spPr>
            <a:xfrm flipV="1">
              <a:off x="2572" y="1173"/>
              <a:ext cx="0" cy="148"/>
            </a:xfrm>
            <a:prstGeom prst="line">
              <a:avLst/>
            </a:prstGeom>
            <a:ln w="9525" cap="flat" cmpd="sng">
              <a:solidFill>
                <a:schemeClr val="tx2"/>
              </a:solidFill>
              <a:prstDash val="solid"/>
              <a:headEnd type="none" w="med" len="med"/>
              <a:tailEnd type="none" w="med" len="med"/>
            </a:ln>
          </p:spPr>
        </p:sp>
        <p:sp>
          <p:nvSpPr>
            <p:cNvPr id="42034" name="直接连接符 30830"/>
            <p:cNvSpPr/>
            <p:nvPr/>
          </p:nvSpPr>
          <p:spPr>
            <a:xfrm flipV="1">
              <a:off x="3321" y="1173"/>
              <a:ext cx="0" cy="148"/>
            </a:xfrm>
            <a:prstGeom prst="line">
              <a:avLst/>
            </a:prstGeom>
            <a:ln w="9525" cap="flat" cmpd="sng">
              <a:solidFill>
                <a:schemeClr val="tx2"/>
              </a:solidFill>
              <a:prstDash val="solid"/>
              <a:headEnd type="none" w="med" len="med"/>
              <a:tailEnd type="none" w="med" len="med"/>
            </a:ln>
          </p:spPr>
        </p:sp>
        <p:sp>
          <p:nvSpPr>
            <p:cNvPr id="42035" name="直接连接符 30831"/>
            <p:cNvSpPr/>
            <p:nvPr/>
          </p:nvSpPr>
          <p:spPr>
            <a:xfrm flipV="1">
              <a:off x="3963" y="1173"/>
              <a:ext cx="107" cy="148"/>
            </a:xfrm>
            <a:prstGeom prst="line">
              <a:avLst/>
            </a:prstGeom>
            <a:ln w="9525" cap="flat" cmpd="sng">
              <a:solidFill>
                <a:schemeClr val="tx2"/>
              </a:solidFill>
              <a:prstDash val="solid"/>
              <a:headEnd type="none" w="med" len="med"/>
              <a:tailEnd type="none" w="med" len="med"/>
            </a:ln>
          </p:spPr>
        </p:sp>
        <p:sp>
          <p:nvSpPr>
            <p:cNvPr id="42036" name="直接连接符 30832"/>
            <p:cNvSpPr/>
            <p:nvPr/>
          </p:nvSpPr>
          <p:spPr>
            <a:xfrm flipV="1">
              <a:off x="1823" y="579"/>
              <a:ext cx="0" cy="223"/>
            </a:xfrm>
            <a:prstGeom prst="line">
              <a:avLst/>
            </a:prstGeom>
            <a:ln w="9525" cap="flat" cmpd="sng">
              <a:solidFill>
                <a:schemeClr val="tx2"/>
              </a:solidFill>
              <a:prstDash val="solid"/>
              <a:headEnd type="none" w="med" len="med"/>
              <a:tailEnd type="triangle" w="med" len="med"/>
            </a:ln>
          </p:spPr>
        </p:sp>
        <p:sp>
          <p:nvSpPr>
            <p:cNvPr id="42037" name="直接连接符 30833"/>
            <p:cNvSpPr/>
            <p:nvPr/>
          </p:nvSpPr>
          <p:spPr>
            <a:xfrm flipV="1">
              <a:off x="2679" y="579"/>
              <a:ext cx="0" cy="223"/>
            </a:xfrm>
            <a:prstGeom prst="line">
              <a:avLst/>
            </a:prstGeom>
            <a:ln w="9525" cap="flat" cmpd="sng">
              <a:solidFill>
                <a:schemeClr val="tx2"/>
              </a:solidFill>
              <a:prstDash val="solid"/>
              <a:headEnd type="none" w="med" len="med"/>
              <a:tailEnd type="triangle" w="med" len="med"/>
            </a:ln>
          </p:spPr>
        </p:sp>
        <p:sp>
          <p:nvSpPr>
            <p:cNvPr id="42038" name="直接连接符 30834"/>
            <p:cNvSpPr/>
            <p:nvPr/>
          </p:nvSpPr>
          <p:spPr>
            <a:xfrm flipV="1">
              <a:off x="3321" y="579"/>
              <a:ext cx="0" cy="223"/>
            </a:xfrm>
            <a:prstGeom prst="line">
              <a:avLst/>
            </a:prstGeom>
            <a:ln w="9525" cap="flat" cmpd="sng">
              <a:solidFill>
                <a:schemeClr val="tx2"/>
              </a:solidFill>
              <a:prstDash val="solid"/>
              <a:headEnd type="none" w="med" len="med"/>
              <a:tailEnd type="triangle" w="med" len="med"/>
            </a:ln>
          </p:spPr>
        </p:sp>
        <p:sp>
          <p:nvSpPr>
            <p:cNvPr id="42039" name="直接连接符 30835"/>
            <p:cNvSpPr/>
            <p:nvPr/>
          </p:nvSpPr>
          <p:spPr>
            <a:xfrm flipV="1">
              <a:off x="4070" y="579"/>
              <a:ext cx="0" cy="223"/>
            </a:xfrm>
            <a:prstGeom prst="line">
              <a:avLst/>
            </a:prstGeom>
            <a:ln w="9525" cap="flat" cmpd="sng">
              <a:solidFill>
                <a:schemeClr val="tx2"/>
              </a:solidFill>
              <a:prstDash val="solid"/>
              <a:headEnd type="none" w="med" len="med"/>
              <a:tailEnd type="triangle" w="med" len="med"/>
            </a:ln>
          </p:spPr>
        </p:sp>
        <p:sp>
          <p:nvSpPr>
            <p:cNvPr id="42040" name="文本框 30836"/>
            <p:cNvSpPr txBox="1"/>
            <p:nvPr/>
          </p:nvSpPr>
          <p:spPr>
            <a:xfrm>
              <a:off x="753" y="877"/>
              <a:ext cx="749" cy="223"/>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作战概念</a:t>
              </a:r>
              <a:endParaRPr lang="zh-CN" altLang="en-US" dirty="0">
                <a:solidFill>
                  <a:schemeClr val="bg2"/>
                </a:solidFill>
                <a:latin typeface="Times New Roman" panose="02020603050405020304" pitchFamily="18" charset="0"/>
              </a:endParaRPr>
            </a:p>
          </p:txBody>
        </p:sp>
        <p:sp>
          <p:nvSpPr>
            <p:cNvPr id="42041" name="文本框 30837"/>
            <p:cNvSpPr txBox="1"/>
            <p:nvPr/>
          </p:nvSpPr>
          <p:spPr>
            <a:xfrm>
              <a:off x="753" y="356"/>
              <a:ext cx="749" cy="223"/>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军事目的</a:t>
              </a:r>
              <a:endParaRPr lang="zh-CN" altLang="en-US" dirty="0">
                <a:solidFill>
                  <a:schemeClr val="bg2"/>
                </a:solidFill>
                <a:latin typeface="Times New Roman" panose="02020603050405020304" pitchFamily="18" charset="0"/>
              </a:endParaRPr>
            </a:p>
          </p:txBody>
        </p:sp>
        <p:sp>
          <p:nvSpPr>
            <p:cNvPr id="42042" name="文本框 30838"/>
            <p:cNvSpPr txBox="1"/>
            <p:nvPr/>
          </p:nvSpPr>
          <p:spPr>
            <a:xfrm>
              <a:off x="431" y="3113"/>
              <a:ext cx="322" cy="378"/>
            </a:xfrm>
            <a:prstGeom prst="rect">
              <a:avLst/>
            </a:prstGeom>
            <a:noFill/>
            <a:ln w="9525">
              <a:noFill/>
            </a:ln>
          </p:spPr>
          <p:txBody>
            <a:bodyPr vert="eaVert"/>
            <a:lstStyle/>
            <a:p>
              <a:pPr algn="ctr" eaLnBrk="0" hangingPunct="0"/>
              <a:r>
                <a:rPr lang="zh-CN" altLang="en-US" dirty="0">
                  <a:solidFill>
                    <a:schemeClr val="hlink"/>
                  </a:solidFill>
                  <a:latin typeface="Times New Roman" panose="02020603050405020304" pitchFamily="18" charset="0"/>
                </a:rPr>
                <a:t>功能</a:t>
              </a:r>
              <a:endParaRPr lang="zh-CN" altLang="en-US" dirty="0">
                <a:solidFill>
                  <a:schemeClr val="hlink"/>
                </a:solidFill>
                <a:latin typeface="Times New Roman" panose="02020603050405020304" pitchFamily="18" charset="0"/>
              </a:endParaRPr>
            </a:p>
          </p:txBody>
        </p:sp>
        <p:sp>
          <p:nvSpPr>
            <p:cNvPr id="42043" name="文本框 30839"/>
            <p:cNvSpPr txBox="1"/>
            <p:nvPr/>
          </p:nvSpPr>
          <p:spPr>
            <a:xfrm>
              <a:off x="191" y="2354"/>
              <a:ext cx="631" cy="668"/>
            </a:xfrm>
            <a:prstGeom prst="rect">
              <a:avLst/>
            </a:prstGeom>
            <a:noFill/>
            <a:ln w="9525">
              <a:noFill/>
            </a:ln>
          </p:spPr>
          <p:txBody>
            <a:bodyPr/>
            <a:lstStyle/>
            <a:p>
              <a:pPr algn="ctr" eaLnBrk="0" hangingPunct="0"/>
              <a:r>
                <a:rPr lang="zh-CN" altLang="en-US" dirty="0">
                  <a:solidFill>
                    <a:schemeClr val="hlink"/>
                  </a:solidFill>
                  <a:latin typeface="Times New Roman" panose="02020603050405020304" pitchFamily="18" charset="0"/>
                </a:rPr>
                <a:t>信息</a:t>
              </a:r>
              <a:endParaRPr lang="zh-CN" altLang="en-US" dirty="0">
                <a:solidFill>
                  <a:schemeClr val="hlink"/>
                </a:solidFill>
                <a:latin typeface="Times New Roman" panose="02020603050405020304" pitchFamily="18" charset="0"/>
              </a:endParaRPr>
            </a:p>
            <a:p>
              <a:pPr algn="ctr" eaLnBrk="0" hangingPunct="0"/>
              <a:r>
                <a:rPr lang="zh-CN" altLang="en-US" dirty="0">
                  <a:solidFill>
                    <a:schemeClr val="hlink"/>
                  </a:solidFill>
                  <a:latin typeface="Times New Roman" panose="02020603050405020304" pitchFamily="18" charset="0"/>
                </a:rPr>
                <a:t>作战的</a:t>
              </a:r>
              <a:endParaRPr lang="zh-CN" altLang="en-US" dirty="0">
                <a:solidFill>
                  <a:schemeClr val="hlink"/>
                </a:solidFill>
                <a:latin typeface="Times New Roman" panose="02020603050405020304" pitchFamily="18" charset="0"/>
              </a:endParaRPr>
            </a:p>
            <a:p>
              <a:pPr algn="ctr" eaLnBrk="0" hangingPunct="0"/>
              <a:r>
                <a:rPr lang="zh-CN" altLang="en-US" dirty="0">
                  <a:solidFill>
                    <a:schemeClr val="hlink"/>
                  </a:solidFill>
                  <a:latin typeface="Times New Roman" panose="02020603050405020304" pitchFamily="18" charset="0"/>
                </a:rPr>
                <a:t>组 成</a:t>
              </a:r>
              <a:endParaRPr lang="zh-CN" altLang="en-US" dirty="0">
                <a:solidFill>
                  <a:schemeClr val="hlink"/>
                </a:solidFill>
                <a:latin typeface="Times New Roman" panose="02020603050405020304" pitchFamily="18" charset="0"/>
              </a:endParaRPr>
            </a:p>
          </p:txBody>
        </p:sp>
        <p:sp>
          <p:nvSpPr>
            <p:cNvPr id="42044" name="文本框 30840"/>
            <p:cNvSpPr txBox="1"/>
            <p:nvPr/>
          </p:nvSpPr>
          <p:spPr>
            <a:xfrm>
              <a:off x="129" y="1776"/>
              <a:ext cx="768" cy="520"/>
            </a:xfrm>
            <a:prstGeom prst="rect">
              <a:avLst/>
            </a:prstGeom>
            <a:noFill/>
            <a:ln w="9525">
              <a:noFill/>
            </a:ln>
          </p:spPr>
          <p:txBody>
            <a:bodyPr/>
            <a:lstStyle/>
            <a:p>
              <a:pPr algn="ctr" eaLnBrk="0" hangingPunct="0"/>
              <a:r>
                <a:rPr lang="zh-CN" altLang="en-US" dirty="0">
                  <a:solidFill>
                    <a:schemeClr val="hlink"/>
                  </a:solidFill>
                  <a:latin typeface="Times New Roman" panose="02020603050405020304" pitchFamily="18" charset="0"/>
                </a:rPr>
                <a:t>信息的</a:t>
              </a:r>
              <a:endParaRPr lang="zh-CN" altLang="en-US" dirty="0">
                <a:solidFill>
                  <a:schemeClr val="hlink"/>
                </a:solidFill>
                <a:latin typeface="Times New Roman" panose="02020603050405020304" pitchFamily="18" charset="0"/>
              </a:endParaRPr>
            </a:p>
            <a:p>
              <a:pPr algn="ctr" eaLnBrk="0" hangingPunct="0"/>
              <a:r>
                <a:rPr lang="zh-CN" altLang="en-US" dirty="0">
                  <a:solidFill>
                    <a:schemeClr val="hlink"/>
                  </a:solidFill>
                  <a:latin typeface="Times New Roman" panose="02020603050405020304" pitchFamily="18" charset="0"/>
                </a:rPr>
                <a:t>作 用</a:t>
              </a:r>
              <a:endParaRPr lang="zh-CN" altLang="en-US" dirty="0">
                <a:solidFill>
                  <a:schemeClr val="hlink"/>
                </a:solidFill>
                <a:latin typeface="Times New Roman" panose="02020603050405020304" pitchFamily="18" charset="0"/>
              </a:endParaRPr>
            </a:p>
          </p:txBody>
        </p:sp>
        <p:sp>
          <p:nvSpPr>
            <p:cNvPr id="42045" name="任意多边形 30841"/>
            <p:cNvSpPr/>
            <p:nvPr/>
          </p:nvSpPr>
          <p:spPr>
            <a:xfrm>
              <a:off x="432" y="3921"/>
              <a:ext cx="5136" cy="346"/>
            </a:xfrm>
            <a:custGeom>
              <a:avLst/>
              <a:gdLst>
                <a:gd name="txL" fmla="*/ 0 w 8640"/>
                <a:gd name="txT" fmla="*/ 0 h 728"/>
                <a:gd name="txR" fmla="*/ 8640 w 8640"/>
                <a:gd name="txB" fmla="*/ 728 h 728"/>
              </a:gdLst>
              <a:ahLst/>
              <a:cxnLst>
                <a:cxn ang="0">
                  <a:pos x="1080" y="0"/>
                </a:cxn>
                <a:cxn ang="0">
                  <a:pos x="1080" y="624"/>
                </a:cxn>
                <a:cxn ang="0">
                  <a:pos x="7560" y="624"/>
                </a:cxn>
                <a:cxn ang="0">
                  <a:pos x="7560" y="0"/>
                </a:cxn>
              </a:cxnLst>
              <a:rect l="txL" t="txT" r="txR" b="txB"/>
              <a:pathLst>
                <a:path w="8640" h="728">
                  <a:moveTo>
                    <a:pt x="1080" y="0"/>
                  </a:moveTo>
                  <a:cubicBezTo>
                    <a:pt x="540" y="260"/>
                    <a:pt x="0" y="520"/>
                    <a:pt x="1080" y="624"/>
                  </a:cubicBezTo>
                  <a:cubicBezTo>
                    <a:pt x="2160" y="728"/>
                    <a:pt x="6480" y="728"/>
                    <a:pt x="7560" y="624"/>
                  </a:cubicBezTo>
                  <a:cubicBezTo>
                    <a:pt x="8640" y="520"/>
                    <a:pt x="7560" y="104"/>
                    <a:pt x="7560" y="0"/>
                  </a:cubicBezTo>
                </a:path>
              </a:pathLst>
            </a:custGeom>
            <a:noFill/>
            <a:ln w="9525" cap="flat" cmpd="sng">
              <a:solidFill>
                <a:schemeClr val="tx2">
                  <a:alpha val="100000"/>
                </a:schemeClr>
              </a:solidFill>
              <a:prstDash val="solid"/>
              <a:round/>
              <a:headEnd type="none" w="med" len="med"/>
              <a:tailEnd type="none" w="med" len="med"/>
            </a:ln>
          </p:spPr>
          <p:txBody>
            <a:bodyPr/>
            <a:lstStyle/>
            <a:p>
              <a:endParaRPr lang="zh-CN" altLang="en-US"/>
            </a:p>
          </p:txBody>
        </p:sp>
        <p:sp>
          <p:nvSpPr>
            <p:cNvPr id="42046" name="文本框 30842"/>
            <p:cNvSpPr txBox="1"/>
            <p:nvPr/>
          </p:nvSpPr>
          <p:spPr>
            <a:xfrm>
              <a:off x="2037" y="4069"/>
              <a:ext cx="1755" cy="223"/>
            </a:xfrm>
            <a:prstGeom prst="rect">
              <a:avLst/>
            </a:prstGeom>
            <a:solidFill>
              <a:schemeClr val="accent1"/>
            </a:solidFill>
            <a:ln w="9525" cap="flat" cmpd="sng">
              <a:solidFill>
                <a:schemeClr val="tx2"/>
              </a:solidFill>
              <a:prstDash val="solid"/>
              <a:miter/>
              <a:headEnd type="none" w="med" len="med"/>
              <a:tailEnd type="none" w="med" len="med"/>
            </a:ln>
          </p:spPr>
          <p:txBody>
            <a:bodyPr/>
            <a:lstStyle/>
            <a:p>
              <a:pPr algn="ctr" eaLnBrk="0" hangingPunct="0"/>
              <a:r>
                <a:rPr lang="zh-CN" altLang="en-US" dirty="0">
                  <a:solidFill>
                    <a:schemeClr val="bg2"/>
                  </a:solidFill>
                  <a:latin typeface="Times New Roman" panose="02020603050405020304" pitchFamily="18" charset="0"/>
                </a:rPr>
                <a:t>信息保障（</a:t>
              </a:r>
              <a:r>
                <a:rPr lang="en-US" altLang="zh-CN" dirty="0">
                  <a:solidFill>
                    <a:schemeClr val="bg2"/>
                  </a:solidFill>
                  <a:latin typeface="Times New Roman" panose="02020603050405020304" pitchFamily="18" charset="0"/>
                </a:rPr>
                <a:t>C</a:t>
              </a:r>
              <a:r>
                <a:rPr lang="en-US" altLang="zh-CN" baseline="30000" dirty="0">
                  <a:solidFill>
                    <a:schemeClr val="bg2"/>
                  </a:solidFill>
                  <a:latin typeface="Times New Roman" panose="02020603050405020304" pitchFamily="18" charset="0"/>
                </a:rPr>
                <a:t>4</a:t>
              </a:r>
              <a:r>
                <a:rPr lang="en-US" altLang="zh-CN" dirty="0">
                  <a:solidFill>
                    <a:schemeClr val="bg2"/>
                  </a:solidFill>
                  <a:latin typeface="Times New Roman" panose="02020603050405020304" pitchFamily="18" charset="0"/>
                </a:rPr>
                <a:t>ISR</a:t>
              </a:r>
              <a:r>
                <a:rPr lang="zh-CN" altLang="en-US" dirty="0">
                  <a:solidFill>
                    <a:schemeClr val="bg2"/>
                  </a:solidFill>
                  <a:latin typeface="Times New Roman" panose="02020603050405020304" pitchFamily="18" charset="0"/>
                </a:rPr>
                <a:t>系统）</a:t>
              </a:r>
              <a:endParaRPr lang="zh-CN" altLang="en-US" dirty="0">
                <a:solidFill>
                  <a:schemeClr val="bg2"/>
                </a:solidFill>
                <a:latin typeface="Times New Roman" panose="02020603050405020304" pitchFamily="18" charset="0"/>
              </a:endParaRPr>
            </a:p>
          </p:txBody>
        </p:sp>
      </p:grpSp>
      <p:sp>
        <p:nvSpPr>
          <p:cNvPr id="30847" name="矩形 30846"/>
          <p:cNvSpPr/>
          <p:nvPr/>
        </p:nvSpPr>
        <p:spPr>
          <a:xfrm>
            <a:off x="2351088" y="6272213"/>
            <a:ext cx="7772400" cy="685800"/>
          </a:xfrm>
          <a:prstGeom prst="rect">
            <a:avLst/>
          </a:prstGeom>
          <a:noFill/>
          <a:ln w="9525">
            <a:noFill/>
          </a:ln>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4400" u="none" kern="1200" baseline="0">
                <a:solidFill>
                  <a:schemeClr val="tx2"/>
                </a:solidFill>
                <a:effectLst>
                  <a:outerShdw blurRad="38100" dist="38100" dir="2700000">
                    <a:srgbClr val="000000"/>
                  </a:outerShdw>
                </a:effectLst>
                <a:latin typeface="Times New Roman" panose="02020603050405020304" pitchFamily="18" charset="0"/>
                <a:ea typeface="黑体" panose="02010609060101010101" charset="-122"/>
              </a:defRPr>
            </a:lvl1pPr>
          </a:lstStyle>
          <a:p>
            <a:pPr>
              <a:defRPr/>
            </a:pPr>
            <a:r>
              <a:rPr lang="zh-CN" altLang="en-US" sz="2400" noProof="1">
                <a:latin typeface="宋体" panose="02010600030101010101" pitchFamily="2" charset="-122"/>
              </a:rPr>
              <a:t>图</a:t>
            </a:r>
            <a:r>
              <a:rPr lang="en-US" altLang="zh-CN" sz="2400" noProof="1"/>
              <a:t>1-1 </a:t>
            </a:r>
            <a:r>
              <a:rPr lang="zh-CN" altLang="en-US" sz="2400" noProof="1">
                <a:latin typeface="宋体" panose="02010600030101010101" pitchFamily="2" charset="-122"/>
              </a:rPr>
              <a:t>信息对抗的内涵</a:t>
            </a:r>
            <a:r>
              <a:rPr lang="zh-CN" altLang="en-US" sz="2400" noProof="1"/>
              <a:t> </a:t>
            </a:r>
            <a:endParaRPr lang="zh-CN" altLang="en-US" sz="2400" noProof="1"/>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31745"/>
          <p:cNvSpPr>
            <a:spLocks noGrp="1"/>
          </p:cNvSpPr>
          <p:nvPr>
            <p:ph type="title"/>
          </p:nvPr>
        </p:nvSpPr>
        <p:spPr>
          <a:xfrm>
            <a:off x="2209800" y="609600"/>
            <a:ext cx="7772400" cy="762000"/>
          </a:xfrm>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43011" name="文本占位符 31746"/>
          <p:cNvSpPr>
            <a:spLocks noGrp="1"/>
          </p:cNvSpPr>
          <p:nvPr>
            <p:ph idx="1"/>
          </p:nvPr>
        </p:nvSpPr>
        <p:spPr>
          <a:xfrm>
            <a:off x="1163782" y="1627094"/>
            <a:ext cx="9880270" cy="4437530"/>
          </a:xfrm>
        </p:spPr>
        <p:txBody>
          <a:bodyPr vert="horz" wrap="square" lIns="91440" tIns="45720" rIns="91440" bIns="45720" rtlCol="0" anchor="t">
            <a:noAutofit/>
          </a:bodyPr>
          <a:lstStyle/>
          <a:p>
            <a:pPr eaLnBrk="1" hangingPunct="1">
              <a:lnSpc>
                <a:spcPct val="90000"/>
              </a:lnSpc>
              <a:buNone/>
            </a:pPr>
            <a:r>
              <a:rPr lang="en-US" altLang="zh-CN" sz="2400" dirty="0">
                <a:latin typeface="宋体" panose="02010600030101010101" pitchFamily="2" charset="-122"/>
              </a:rPr>
              <a:t>     </a:t>
            </a:r>
            <a:r>
              <a:rPr lang="zh-CN" altLang="en-US" sz="2400" dirty="0" smtClean="0">
                <a:solidFill>
                  <a:schemeClr val="folHlink"/>
                </a:solidFill>
                <a:latin typeface="宋体" panose="02010600030101010101" pitchFamily="2" charset="-122"/>
              </a:rPr>
              <a:t>信息</a:t>
            </a:r>
            <a:r>
              <a:rPr lang="zh-CN" altLang="en-US" sz="2400" dirty="0">
                <a:solidFill>
                  <a:schemeClr val="folHlink"/>
                </a:solidFill>
                <a:latin typeface="宋体" panose="02010600030101010101" pitchFamily="2" charset="-122"/>
              </a:rPr>
              <a:t>优势</a:t>
            </a:r>
            <a:r>
              <a:rPr lang="zh-CN" altLang="en-US" sz="2400" dirty="0">
                <a:latin typeface="宋体" panose="02010600030101010101" pitchFamily="2" charset="-122"/>
              </a:rPr>
              <a:t>是指能够及时获取敌我双方准确而完整的信息，近实时生成战场态势，通过信息分发，为各级指挥员提供可靠决策依据；</a:t>
            </a:r>
            <a:endParaRPr lang="zh-CN" altLang="en-US" sz="2400" dirty="0">
              <a:latin typeface="宋体" panose="02010600030101010101" pitchFamily="2" charset="-122"/>
            </a:endParaRPr>
          </a:p>
          <a:p>
            <a:pPr eaLnBrk="1" hangingPunct="1">
              <a:lnSpc>
                <a:spcPct val="90000"/>
              </a:lnSpc>
              <a:buNone/>
            </a:pPr>
            <a:r>
              <a:rPr lang="zh-CN" altLang="en-US" sz="2400" dirty="0">
                <a:solidFill>
                  <a:schemeClr val="folHlink"/>
                </a:solidFill>
                <a:latin typeface="宋体" panose="02010600030101010101" pitchFamily="2" charset="-122"/>
              </a:rPr>
              <a:t>     </a:t>
            </a:r>
            <a:r>
              <a:rPr lang="zh-CN" altLang="en-US" sz="2400" dirty="0" smtClean="0">
                <a:solidFill>
                  <a:schemeClr val="folHlink"/>
                </a:solidFill>
                <a:latin typeface="宋体" panose="02010600030101010101" pitchFamily="2" charset="-122"/>
              </a:rPr>
              <a:t>信息</a:t>
            </a:r>
            <a:r>
              <a:rPr lang="zh-CN" altLang="en-US" sz="2400" dirty="0">
                <a:solidFill>
                  <a:schemeClr val="folHlink"/>
                </a:solidFill>
                <a:latin typeface="宋体" panose="02010600030101010101" pitchFamily="2" charset="-122"/>
              </a:rPr>
              <a:t>进攻</a:t>
            </a:r>
            <a:r>
              <a:rPr lang="zh-CN" altLang="en-US" sz="2400" dirty="0">
                <a:latin typeface="宋体" panose="02010600030101010101" pitchFamily="2" charset="-122"/>
              </a:rPr>
              <a:t>是使用各种软硬件（信息的或火力的）进攻手段，破坏敌方的信息保障能力和敌方的信息系统（如指挥自动化系统</a:t>
            </a:r>
            <a:r>
              <a:rPr lang="en-US" altLang="zh-CN" sz="2400" dirty="0">
                <a:solidFill>
                  <a:schemeClr val="folHlink"/>
                </a:solidFill>
              </a:rPr>
              <a:t>C</a:t>
            </a:r>
            <a:r>
              <a:rPr lang="en-US" altLang="zh-CN" sz="2400" baseline="30000" dirty="0">
                <a:solidFill>
                  <a:schemeClr val="folHlink"/>
                </a:solidFill>
              </a:rPr>
              <a:t>4</a:t>
            </a:r>
            <a:r>
              <a:rPr lang="en-US" altLang="zh-CN" sz="2400" dirty="0">
                <a:solidFill>
                  <a:schemeClr val="folHlink"/>
                </a:solidFill>
              </a:rPr>
              <a:t>ISR</a:t>
            </a:r>
            <a:r>
              <a:rPr lang="zh-CN" altLang="en-US" sz="2400" dirty="0">
                <a:solidFill>
                  <a:srgbClr val="0070C0"/>
                </a:solidFill>
              </a:rPr>
              <a:t>系统</a:t>
            </a:r>
            <a:r>
              <a:rPr lang="en-US" altLang="zh-CN" sz="2400" dirty="0">
                <a:solidFill>
                  <a:srgbClr val="0070C0"/>
                </a:solidFill>
              </a:rPr>
              <a:t>&lt;</a:t>
            </a:r>
            <a:r>
              <a:rPr lang="en-US" altLang="zh-CN" sz="2800" dirty="0">
                <a:solidFill>
                  <a:schemeClr val="folHlink"/>
                </a:solidFill>
              </a:rPr>
              <a:t>C</a:t>
            </a:r>
            <a:r>
              <a:rPr lang="en-US" altLang="zh-CN" sz="2400" dirty="0">
                <a:solidFill>
                  <a:srgbClr val="0070C0"/>
                </a:solidFill>
              </a:rPr>
              <a:t>ommand,</a:t>
            </a:r>
            <a:r>
              <a:rPr lang="en-US" altLang="zh-CN" sz="2800" dirty="0">
                <a:solidFill>
                  <a:srgbClr val="99FF99"/>
                </a:solidFill>
              </a:rPr>
              <a:t> </a:t>
            </a:r>
            <a:r>
              <a:rPr lang="en-US" altLang="zh-CN" sz="2800" dirty="0">
                <a:solidFill>
                  <a:schemeClr val="folHlink"/>
                </a:solidFill>
              </a:rPr>
              <a:t>C</a:t>
            </a:r>
            <a:r>
              <a:rPr lang="en-US" altLang="zh-CN" sz="2400" dirty="0">
                <a:solidFill>
                  <a:srgbClr val="0070C0"/>
                </a:solidFill>
              </a:rPr>
              <a:t>ontrol,</a:t>
            </a:r>
            <a:r>
              <a:rPr lang="en-US" altLang="zh-CN" sz="2800" dirty="0">
                <a:solidFill>
                  <a:srgbClr val="99FF99"/>
                </a:solidFill>
              </a:rPr>
              <a:t> </a:t>
            </a:r>
            <a:r>
              <a:rPr lang="en-US" altLang="zh-CN" sz="2800" dirty="0">
                <a:solidFill>
                  <a:schemeClr val="folHlink"/>
                </a:solidFill>
              </a:rPr>
              <a:t>C</a:t>
            </a:r>
            <a:r>
              <a:rPr lang="en-US" altLang="zh-CN" sz="2400" dirty="0">
                <a:solidFill>
                  <a:srgbClr val="0070C0"/>
                </a:solidFill>
              </a:rPr>
              <a:t>ommunications</a:t>
            </a:r>
            <a:r>
              <a:rPr lang="en-US" altLang="zh-CN" sz="2800" dirty="0">
                <a:solidFill>
                  <a:srgbClr val="99FF99"/>
                </a:solidFill>
              </a:rPr>
              <a:t>, </a:t>
            </a:r>
            <a:r>
              <a:rPr lang="en-US" altLang="zh-CN" sz="2800" dirty="0">
                <a:solidFill>
                  <a:schemeClr val="folHlink"/>
                </a:solidFill>
              </a:rPr>
              <a:t>C</a:t>
            </a:r>
            <a:r>
              <a:rPr lang="en-US" altLang="zh-CN" sz="2400" dirty="0">
                <a:solidFill>
                  <a:srgbClr val="0070C0"/>
                </a:solidFill>
              </a:rPr>
              <a:t>omputers</a:t>
            </a:r>
            <a:r>
              <a:rPr lang="en-US" altLang="zh-CN" sz="2800" dirty="0">
                <a:solidFill>
                  <a:srgbClr val="99FF99"/>
                </a:solidFill>
              </a:rPr>
              <a:t>, </a:t>
            </a:r>
            <a:r>
              <a:rPr lang="en-US" altLang="zh-CN" sz="2800" dirty="0">
                <a:solidFill>
                  <a:schemeClr val="folHlink"/>
                </a:solidFill>
              </a:rPr>
              <a:t>I</a:t>
            </a:r>
            <a:r>
              <a:rPr lang="en-US" altLang="zh-CN" sz="2400" dirty="0">
                <a:solidFill>
                  <a:srgbClr val="0070C0"/>
                </a:solidFill>
              </a:rPr>
              <a:t>ntelligence</a:t>
            </a:r>
            <a:r>
              <a:rPr lang="en-US" altLang="zh-CN" sz="2800" dirty="0">
                <a:solidFill>
                  <a:srgbClr val="0070C0"/>
                </a:solidFill>
              </a:rPr>
              <a:t>,</a:t>
            </a:r>
            <a:r>
              <a:rPr lang="en-US" altLang="zh-CN" sz="2800" dirty="0">
                <a:solidFill>
                  <a:srgbClr val="99FF99"/>
                </a:solidFill>
              </a:rPr>
              <a:t> </a:t>
            </a:r>
            <a:r>
              <a:rPr lang="en-US" altLang="zh-CN" sz="2800" dirty="0">
                <a:solidFill>
                  <a:schemeClr val="folHlink"/>
                </a:solidFill>
              </a:rPr>
              <a:t>S</a:t>
            </a:r>
            <a:r>
              <a:rPr lang="en-US" altLang="zh-CN" sz="2400" dirty="0">
                <a:solidFill>
                  <a:srgbClr val="0070C0"/>
                </a:solidFill>
              </a:rPr>
              <a:t>urveillance</a:t>
            </a:r>
            <a:r>
              <a:rPr lang="en-US" altLang="zh-CN" sz="2800" dirty="0">
                <a:solidFill>
                  <a:srgbClr val="99FF99"/>
                </a:solidFill>
              </a:rPr>
              <a:t> </a:t>
            </a:r>
            <a:r>
              <a:rPr lang="en-US" altLang="zh-CN" sz="2400" dirty="0">
                <a:solidFill>
                  <a:srgbClr val="0070C0"/>
                </a:solidFill>
              </a:rPr>
              <a:t>and</a:t>
            </a:r>
            <a:r>
              <a:rPr lang="en-US" altLang="zh-CN" sz="2800" dirty="0">
                <a:solidFill>
                  <a:srgbClr val="99FF99"/>
                </a:solidFill>
              </a:rPr>
              <a:t> </a:t>
            </a:r>
            <a:r>
              <a:rPr lang="en-US" altLang="zh-CN" sz="2800" dirty="0">
                <a:solidFill>
                  <a:schemeClr val="folHlink"/>
                </a:solidFill>
              </a:rPr>
              <a:t>R</a:t>
            </a:r>
            <a:r>
              <a:rPr lang="en-US" altLang="zh-CN" sz="2400" dirty="0">
                <a:solidFill>
                  <a:srgbClr val="0070C0"/>
                </a:solidFill>
              </a:rPr>
              <a:t>econnaissance</a:t>
            </a:r>
            <a:r>
              <a:rPr lang="en-US" altLang="zh-CN" sz="2800" dirty="0">
                <a:solidFill>
                  <a:srgbClr val="99FF99"/>
                </a:solidFill>
              </a:rPr>
              <a:t> </a:t>
            </a:r>
            <a:r>
              <a:rPr lang="en-US" altLang="zh-CN" sz="2400" dirty="0">
                <a:solidFill>
                  <a:srgbClr val="0070C0"/>
                </a:solidFill>
              </a:rPr>
              <a:t>—— </a:t>
            </a:r>
            <a:r>
              <a:rPr lang="zh-CN" altLang="en-US" sz="2400" dirty="0">
                <a:solidFill>
                  <a:srgbClr val="0070C0"/>
                </a:solidFill>
              </a:rPr>
              <a:t>指挥、控制、通信、计算机、情报、监视与侦察</a:t>
            </a:r>
            <a:r>
              <a:rPr lang="en-US" altLang="zh-CN" sz="2400" dirty="0">
                <a:solidFill>
                  <a:srgbClr val="0070C0"/>
                </a:solidFill>
              </a:rPr>
              <a:t>&gt;</a:t>
            </a:r>
            <a:r>
              <a:rPr lang="en-US" altLang="zh-CN" sz="2400" dirty="0"/>
              <a:t> </a:t>
            </a:r>
            <a:r>
              <a:rPr lang="zh-CN" altLang="en-US" sz="2400" dirty="0">
                <a:latin typeface="宋体" panose="02010600030101010101" pitchFamily="2" charset="-122"/>
              </a:rPr>
              <a:t>）等一整套措施；</a:t>
            </a:r>
            <a:endParaRPr lang="zh-CN" altLang="en-US" sz="2400" dirty="0">
              <a:latin typeface="宋体" panose="02010600030101010101" pitchFamily="2" charset="-122"/>
            </a:endParaRPr>
          </a:p>
          <a:p>
            <a:pPr eaLnBrk="1" hangingPunct="1">
              <a:lnSpc>
                <a:spcPct val="90000"/>
              </a:lnSpc>
              <a:buNone/>
            </a:pPr>
            <a:r>
              <a:rPr lang="zh-CN" altLang="en-US" sz="2400" dirty="0">
                <a:solidFill>
                  <a:schemeClr val="folHlink"/>
                </a:solidFill>
                <a:latin typeface="宋体" panose="02010600030101010101" pitchFamily="2" charset="-122"/>
              </a:rPr>
              <a:t>     </a:t>
            </a:r>
            <a:r>
              <a:rPr lang="zh-CN" altLang="en-US" sz="2400" dirty="0" smtClean="0">
                <a:solidFill>
                  <a:schemeClr val="folHlink"/>
                </a:solidFill>
                <a:latin typeface="宋体" panose="02010600030101010101" pitchFamily="2" charset="-122"/>
              </a:rPr>
              <a:t>信息</a:t>
            </a:r>
            <a:r>
              <a:rPr lang="zh-CN" altLang="en-US" sz="2400" dirty="0">
                <a:solidFill>
                  <a:schemeClr val="folHlink"/>
                </a:solidFill>
                <a:latin typeface="宋体" panose="02010600030101010101" pitchFamily="2" charset="-122"/>
              </a:rPr>
              <a:t>防御</a:t>
            </a:r>
            <a:r>
              <a:rPr lang="zh-CN" altLang="en-US" sz="2400" dirty="0">
                <a:latin typeface="宋体" panose="02010600030101010101" pitchFamily="2" charset="-122"/>
              </a:rPr>
              <a:t>是在敌方对己方实施信息进攻的情况下，为确保己方信息系统的正常运转而采取的各种措施。</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文本占位符 32770"/>
          <p:cNvSpPr>
            <a:spLocks noGrp="1"/>
          </p:cNvSpPr>
          <p:nvPr>
            <p:ph idx="1"/>
          </p:nvPr>
        </p:nvSpPr>
        <p:spPr>
          <a:xfrm>
            <a:off x="1362635" y="1671917"/>
            <a:ext cx="9466730" cy="4572000"/>
          </a:xfrm>
        </p:spPr>
        <p:txBody>
          <a:bodyPr vert="horz" wrap="square" lIns="91440" tIns="45720" rIns="91440" bIns="45720" rtlCol="0" anchor="t">
            <a:noAutofit/>
          </a:bodyPr>
          <a:lstStyle/>
          <a:p>
            <a:pPr eaLnBrk="1" hangingPunct="1">
              <a:lnSpc>
                <a:spcPct val="90000"/>
              </a:lnSpc>
              <a:buNone/>
            </a:pPr>
            <a:r>
              <a:rPr lang="en-US" altLang="zh-CN" sz="2400" dirty="0">
                <a:latin typeface="宋体" panose="02010600030101010101" pitchFamily="2" charset="-122"/>
              </a:rPr>
              <a:t>     </a:t>
            </a:r>
            <a:r>
              <a:rPr lang="zh-CN" altLang="en-US" sz="2400" dirty="0" smtClean="0">
                <a:latin typeface="宋体" panose="02010600030101010101" pitchFamily="2" charset="-122"/>
              </a:rPr>
              <a:t>在</a:t>
            </a:r>
            <a:r>
              <a:rPr lang="zh-CN" altLang="en-US" sz="2400" dirty="0">
                <a:latin typeface="宋体" panose="02010600030101010101" pitchFamily="2" charset="-122"/>
              </a:rPr>
              <a:t>战场上双方的</a:t>
            </a:r>
            <a:r>
              <a:rPr lang="en-US" altLang="zh-CN" sz="2400" dirty="0"/>
              <a:t>C</a:t>
            </a:r>
            <a:r>
              <a:rPr lang="en-US" altLang="zh-CN" sz="2400" baseline="30000" dirty="0"/>
              <a:t>4</a:t>
            </a:r>
            <a:r>
              <a:rPr lang="en-US" altLang="zh-CN" sz="2400" dirty="0"/>
              <a:t>ISR</a:t>
            </a:r>
            <a:r>
              <a:rPr lang="zh-CN" altLang="en-US" sz="2400" dirty="0">
                <a:latin typeface="宋体" panose="02010600030101010101" pitchFamily="2" charset="-122"/>
              </a:rPr>
              <a:t>系统通过电磁空间互相交连，同时各自又与自己后方的战略网连接。</a:t>
            </a:r>
            <a:r>
              <a:rPr lang="en-US" altLang="zh-CN" sz="2400" dirty="0"/>
              <a:t>C</a:t>
            </a:r>
            <a:r>
              <a:rPr lang="en-US" altLang="zh-CN" sz="2400" baseline="30000" dirty="0"/>
              <a:t>4</a:t>
            </a:r>
            <a:r>
              <a:rPr lang="en-US" altLang="zh-CN" sz="2400" dirty="0"/>
              <a:t>ISR</a:t>
            </a:r>
            <a:r>
              <a:rPr lang="zh-CN" altLang="en-US" sz="2400" dirty="0">
                <a:latin typeface="宋体" panose="02010600030101010101" pitchFamily="2" charset="-122"/>
              </a:rPr>
              <a:t>系统是国防信息基础设施的基础部分，是双方实现各自信息保障，</a:t>
            </a:r>
            <a:r>
              <a:rPr lang="zh-CN" altLang="en-US" sz="2400" dirty="0">
                <a:solidFill>
                  <a:srgbClr val="0070C0"/>
                </a:solidFill>
                <a:latin typeface="宋体" panose="02010600030101010101" pitchFamily="2" charset="-122"/>
              </a:rPr>
              <a:t>进行信息对抗的最主要的硬件基础与工具</a:t>
            </a:r>
            <a:r>
              <a:rPr lang="zh-CN" altLang="en-US" sz="2400" dirty="0">
                <a:latin typeface="宋体" panose="02010600030101010101" pitchFamily="2" charset="-122"/>
              </a:rPr>
              <a:t>，这已得到各国军方的认同。因此要求</a:t>
            </a:r>
            <a:r>
              <a:rPr lang="en-US" altLang="zh-CN" sz="2400" dirty="0"/>
              <a:t>C</a:t>
            </a:r>
            <a:r>
              <a:rPr lang="en-US" altLang="zh-CN" sz="2400" baseline="30000" dirty="0"/>
              <a:t>4</a:t>
            </a:r>
            <a:r>
              <a:rPr lang="en-US" altLang="zh-CN" sz="2400" dirty="0"/>
              <a:t>ISR</a:t>
            </a:r>
            <a:r>
              <a:rPr lang="zh-CN" altLang="en-US" sz="2400" dirty="0">
                <a:latin typeface="宋体" panose="02010600030101010101" pitchFamily="2" charset="-122"/>
              </a:rPr>
              <a:t>系统必须是具备</a:t>
            </a:r>
            <a:r>
              <a:rPr lang="zh-CN" altLang="en-US" sz="2400" dirty="0">
                <a:solidFill>
                  <a:srgbClr val="0070C0"/>
                </a:solidFill>
                <a:latin typeface="宋体" panose="02010600030101010101" pitchFamily="2" charset="-122"/>
              </a:rPr>
              <a:t>信息攻防兼备能力</a:t>
            </a:r>
            <a:r>
              <a:rPr lang="zh-CN" altLang="en-US" sz="2400" dirty="0">
                <a:latin typeface="宋体" panose="02010600030101010101" pitchFamily="2" charset="-122"/>
              </a:rPr>
              <a:t>的综合性军事信息系统，其作战职能包括</a:t>
            </a:r>
            <a:r>
              <a:rPr lang="zh-CN" altLang="en-US" sz="2400" dirty="0">
                <a:solidFill>
                  <a:srgbClr val="0070C0"/>
                </a:solidFill>
                <a:latin typeface="宋体" panose="02010600030101010101" pitchFamily="2" charset="-122"/>
              </a:rPr>
              <a:t>探测预警、情报侦察、通信、指挥控制和电子战</a:t>
            </a:r>
            <a:r>
              <a:rPr lang="zh-CN" altLang="en-US" sz="2400" dirty="0">
                <a:latin typeface="宋体" panose="02010600030101010101" pitchFamily="2" charset="-122"/>
              </a:rPr>
              <a:t>分系统。</a:t>
            </a:r>
            <a:r>
              <a:rPr lang="zh-CN" altLang="en-US" sz="2400" dirty="0"/>
              <a:t> </a:t>
            </a:r>
            <a:endParaRPr lang="zh-CN" altLang="en-US" sz="2400" dirty="0"/>
          </a:p>
        </p:txBody>
      </p:sp>
      <p:grpSp>
        <p:nvGrpSpPr>
          <p:cNvPr id="4" name="组合 3"/>
          <p:cNvGrpSpPr/>
          <p:nvPr/>
        </p:nvGrpSpPr>
        <p:grpSpPr>
          <a:xfrm>
            <a:off x="4396503" y="476065"/>
            <a:ext cx="3398994" cy="791052"/>
            <a:chOff x="824072" y="1564267"/>
            <a:chExt cx="3398994" cy="791052"/>
          </a:xfrm>
        </p:grpSpPr>
        <p:sp>
          <p:nvSpPr>
            <p:cNvPr id="5" name="矩形: 圆角 9"/>
            <p:cNvSpPr/>
            <p:nvPr/>
          </p:nvSpPr>
          <p:spPr>
            <a:xfrm>
              <a:off x="824072" y="1740416"/>
              <a:ext cx="3398994"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855901" y="1828091"/>
              <a:ext cx="1867819" cy="480131"/>
            </a:xfrm>
            <a:prstGeom prst="rect">
              <a:avLst/>
            </a:prstGeom>
          </p:spPr>
          <p:txBody>
            <a:bodyPr wrap="none">
              <a:spAutoFit/>
            </a:bodyPr>
            <a:lstStyle/>
            <a:p>
              <a:pPr>
                <a:lnSpc>
                  <a:spcPct val="90000"/>
                </a:lnSpc>
              </a:pPr>
              <a:r>
                <a:rPr lang="en-US" altLang="zh-CN" sz="2800" dirty="0">
                  <a:solidFill>
                    <a:schemeClr val="bg1"/>
                  </a:solidFill>
                  <a:latin typeface="+mj-ea"/>
                </a:rPr>
                <a:t>C4ISR</a:t>
              </a:r>
              <a:r>
                <a:rPr lang="zh-CN" altLang="en-US" sz="2800" dirty="0">
                  <a:solidFill>
                    <a:schemeClr val="bg1"/>
                  </a:solidFill>
                  <a:latin typeface="+mj-ea"/>
                </a:rPr>
                <a:t>系统</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伊朗导弹突破美军</a:t>
            </a:r>
            <a:r>
              <a:rPr lang="en-US" altLang="zh-CN"/>
              <a:t>C</a:t>
            </a:r>
            <a:r>
              <a:rPr lang="en-US" altLang="zh-CN" baseline="30000"/>
              <a:t>4</a:t>
            </a:r>
            <a:r>
              <a:rPr lang="en-US" altLang="zh-CN"/>
              <a:t>ISR</a:t>
            </a:r>
            <a:r>
              <a:rPr lang="zh-CN" altLang="en-US"/>
              <a:t>系统，美以指挥链遭重创！</a:t>
            </a:r>
            <a:endParaRPr lang="zh-CN" altLang="en-US"/>
          </a:p>
        </p:txBody>
      </p:sp>
      <p:sp>
        <p:nvSpPr>
          <p:cNvPr id="3" name="内容占位符 2"/>
          <p:cNvSpPr>
            <a:spLocks noGrp="1"/>
          </p:cNvSpPr>
          <p:nvPr>
            <p:ph idx="1"/>
            <p:custDataLst>
              <p:tags r:id="rId2"/>
            </p:custDataLst>
          </p:nvPr>
        </p:nvSpPr>
        <p:spPr>
          <a:xfrm>
            <a:off x="669925" y="1238885"/>
            <a:ext cx="10852150" cy="3714750"/>
          </a:xfrm>
        </p:spPr>
        <p:txBody>
          <a:bodyPr/>
          <a:p>
            <a:pPr marL="0" indent="0">
              <a:buNone/>
            </a:pPr>
            <a:r>
              <a:rPr lang="en-US" altLang="zh-CN" sz="2000"/>
              <a:t>2026</a:t>
            </a:r>
            <a:r>
              <a:rPr sz="2000"/>
              <a:t>年</a:t>
            </a:r>
            <a:r>
              <a:rPr lang="en-US" altLang="zh-CN" sz="2000"/>
              <a:t>3</a:t>
            </a:r>
            <a:r>
              <a:rPr lang="zh-CN" altLang="en-US" sz="2000"/>
              <a:t>月</a:t>
            </a:r>
            <a:r>
              <a:rPr lang="en-US" altLang="zh-CN" sz="2000"/>
              <a:t>24</a:t>
            </a:r>
            <a:r>
              <a:rPr lang="zh-CN" altLang="en-US" sz="2000"/>
              <a:t>日，伊朗伊斯兰革命卫队对外宣布</a:t>
            </a:r>
            <a:r>
              <a:rPr lang="en-US" altLang="zh-CN" sz="2000"/>
              <a:t> </a:t>
            </a:r>
            <a:r>
              <a:rPr lang="zh-CN" altLang="en-US" sz="2000"/>
              <a:t>他们发动了</a:t>
            </a:r>
            <a:r>
              <a:rPr lang="en-US" altLang="zh-CN" sz="2000"/>
              <a:t>“</a:t>
            </a:r>
            <a:r>
              <a:rPr lang="zh-CN" altLang="en-US" sz="2000"/>
              <a:t>真实承诺</a:t>
            </a:r>
            <a:r>
              <a:rPr lang="en-US" altLang="zh-CN" sz="2000"/>
              <a:t>-4”</a:t>
            </a:r>
            <a:r>
              <a:rPr lang="zh-CN" altLang="en-US" sz="2000"/>
              <a:t>行动的第</a:t>
            </a:r>
            <a:r>
              <a:rPr lang="en-US" altLang="zh-CN" sz="2000"/>
              <a:t>79</a:t>
            </a:r>
            <a:r>
              <a:rPr lang="zh-CN" altLang="en-US" sz="2000"/>
              <a:t>轮打击。真实承诺</a:t>
            </a:r>
            <a:r>
              <a:rPr lang="en-US" altLang="zh-CN" sz="2000"/>
              <a:t>4</a:t>
            </a:r>
            <a:r>
              <a:rPr lang="zh-CN" altLang="en-US" sz="2000"/>
              <a:t>行动第</a:t>
            </a:r>
            <a:r>
              <a:rPr lang="en-US" altLang="zh-CN" sz="2000"/>
              <a:t>79</a:t>
            </a:r>
            <a:r>
              <a:rPr lang="zh-CN" altLang="en-US" sz="2000"/>
              <a:t>轮！伊朗弹道导弹摧毁美军</a:t>
            </a:r>
            <a:r>
              <a:rPr lang="en-US" altLang="zh-CN" sz="2000"/>
              <a:t>C</a:t>
            </a:r>
            <a:r>
              <a:rPr lang="en-US" altLang="zh-CN" sz="2000" baseline="30000"/>
              <a:t>4</a:t>
            </a:r>
            <a:r>
              <a:rPr lang="en-US" altLang="zh-CN" sz="2000"/>
              <a:t>ISR</a:t>
            </a:r>
            <a:r>
              <a:rPr lang="zh-CN" altLang="en-US" sz="2000"/>
              <a:t>系统，美以快疯了？</a:t>
            </a:r>
            <a:endParaRPr lang="zh-CN" altLang="en-US" sz="2000"/>
          </a:p>
          <a:p>
            <a:pPr marL="0" indent="0">
              <a:buNone/>
            </a:pPr>
            <a:r>
              <a:rPr lang="zh-CN" altLang="en-US" sz="2000"/>
              <a:t>从科技和军事角度看，伊朗导弹突破美军</a:t>
            </a:r>
            <a:r>
              <a:rPr lang="en-US" altLang="zh-CN" sz="2000"/>
              <a:t>C</a:t>
            </a:r>
            <a:r>
              <a:rPr lang="en-US" altLang="zh-CN" sz="2000" baseline="30000"/>
              <a:t>4</a:t>
            </a:r>
            <a:r>
              <a:rPr lang="en-US" altLang="zh-CN" sz="2000"/>
              <a:t>ISR</a:t>
            </a:r>
            <a:r>
              <a:rPr lang="zh-CN" altLang="en-US" sz="2000"/>
              <a:t>系统的案例</a:t>
            </a:r>
            <a:r>
              <a:rPr lang="en-US" altLang="zh-CN" sz="2000"/>
              <a:t> </a:t>
            </a:r>
            <a:r>
              <a:rPr lang="zh-CN" altLang="en-US" sz="2000"/>
              <a:t>给我们提供了一个生动的提醒：在高科技战争中，</a:t>
            </a:r>
            <a:r>
              <a:rPr lang="zh-CN" altLang="en-US" sz="2000">
                <a:highlight>
                  <a:srgbClr val="FFFF00"/>
                </a:highlight>
              </a:rPr>
              <a:t>体系对抗</a:t>
            </a:r>
            <a:r>
              <a:rPr lang="zh-CN" altLang="en-US" sz="2000"/>
              <a:t>的能力有多么重要。</a:t>
            </a:r>
            <a:endParaRPr lang="zh-CN" altLang="en-US" sz="2000"/>
          </a:p>
          <a:p>
            <a:pPr marL="0" indent="0">
              <a:buNone/>
            </a:pPr>
            <a:r>
              <a:rPr lang="en-US" altLang="zh-CN" sz="2000"/>
              <a:t>2026-3-31</a:t>
            </a:r>
            <a:r>
              <a:rPr sz="2000"/>
              <a:t>，</a:t>
            </a:r>
            <a:r>
              <a:rPr lang="zh-CN" altLang="en-US" sz="2000"/>
              <a:t>当美军指挥官在空调房里讨论</a:t>
            </a:r>
            <a:r>
              <a:rPr lang="en-US" altLang="zh-CN" sz="2000"/>
              <a:t>"</a:t>
            </a:r>
            <a:r>
              <a:rPr lang="zh-CN" altLang="en-US" sz="2000"/>
              <a:t>遏制伊朗</a:t>
            </a:r>
            <a:r>
              <a:rPr lang="en-US" altLang="zh-CN" sz="2000"/>
              <a:t>"</a:t>
            </a:r>
            <a:r>
              <a:rPr lang="zh-CN" altLang="en-US" sz="2000"/>
              <a:t>时，革命卫队的导弹已锁定会议室坐标</a:t>
            </a:r>
            <a:r>
              <a:rPr lang="en-US" altLang="zh-CN" sz="2000"/>
              <a:t>——</a:t>
            </a:r>
            <a:r>
              <a:rPr lang="zh-CN" altLang="en-US" sz="2000"/>
              <a:t>这场</a:t>
            </a:r>
            <a:r>
              <a:rPr lang="en-US" altLang="zh-CN" sz="2000"/>
              <a:t>"</a:t>
            </a:r>
            <a:r>
              <a:rPr lang="zh-CN" altLang="en-US" sz="2000"/>
              <a:t>外科手术式打击</a:t>
            </a:r>
            <a:r>
              <a:rPr lang="en-US" altLang="zh-CN" sz="2000"/>
              <a:t>"</a:t>
            </a:r>
            <a:r>
              <a:rPr lang="zh-CN" altLang="en-US" sz="2000"/>
              <a:t>背后，是情报战、混合武器与心理威慑的完美结合。伊朗</a:t>
            </a:r>
            <a:r>
              <a:rPr lang="zh-CN" altLang="en-US" sz="2000">
                <a:highlight>
                  <a:srgbClr val="FFFF00"/>
                </a:highlight>
              </a:rPr>
              <a:t>用</a:t>
            </a:r>
            <a:r>
              <a:rPr lang="en-US" altLang="zh-CN" sz="2000">
                <a:highlight>
                  <a:srgbClr val="FFFF00"/>
                </a:highlight>
              </a:rPr>
              <a:t>87</a:t>
            </a:r>
            <a:r>
              <a:rPr lang="zh-CN" altLang="en-US" sz="2000">
                <a:highlight>
                  <a:srgbClr val="FFFF00"/>
                </a:highlight>
              </a:rPr>
              <a:t>波</a:t>
            </a:r>
            <a:r>
              <a:rPr lang="zh-CN" altLang="en-US" sz="2000"/>
              <a:t>精准攻势将美以拖入持久战泥潭，同时控制霍尔木兹海峡，把油轮变为人质。正如五角大楼警告：</a:t>
            </a:r>
            <a:r>
              <a:rPr lang="en-US" altLang="zh-CN" sz="2000"/>
              <a:t>"</a:t>
            </a:r>
            <a:r>
              <a:rPr lang="zh-CN" altLang="en-US" sz="2000"/>
              <a:t>最可怕的不是伊朗导弹，而是他们打持久战的耐心。</a:t>
            </a:r>
            <a:r>
              <a:rPr lang="en-US" altLang="zh-CN" sz="2000"/>
              <a:t>"</a:t>
            </a:r>
            <a:endParaRPr lang="en-US" altLang="zh-CN" sz="2000"/>
          </a:p>
          <a:p>
            <a:pPr marL="0" indent="0">
              <a:buNone/>
            </a:pPr>
            <a:r>
              <a:rPr lang="zh-CN" altLang="en-US" sz="2000"/>
              <a:t>网络空间：看不见的</a:t>
            </a:r>
            <a:r>
              <a:rPr lang="en-US" altLang="zh-CN" sz="2000"/>
              <a:t>"</a:t>
            </a:r>
            <a:r>
              <a:rPr lang="zh-CN" altLang="en-US" sz="2000"/>
              <a:t>第二战场</a:t>
            </a:r>
            <a:r>
              <a:rPr lang="en-US" altLang="zh-CN" sz="2000"/>
              <a:t>"</a:t>
            </a:r>
            <a:endParaRPr lang="en-US" altLang="zh-CN" sz="2000"/>
          </a:p>
          <a:p>
            <a:pPr marL="0" indent="0">
              <a:buNone/>
            </a:pPr>
            <a:r>
              <a:rPr lang="zh-CN" altLang="en-US" sz="2000"/>
              <a:t>虽然伊朗未公开承认，但美军指挥系统在攻击前后出现的短暂瘫痪，引发外界对网络战的猜测。有安全专家指出，革命卫队可能通过攻击美军</a:t>
            </a:r>
            <a:r>
              <a:rPr lang="en-US" altLang="zh-CN" sz="2000">
                <a:highlight>
                  <a:srgbClr val="FFFF00"/>
                </a:highlight>
              </a:rPr>
              <a:t>C</a:t>
            </a:r>
            <a:r>
              <a:rPr lang="en-US" altLang="zh-CN" sz="2000" baseline="30000">
                <a:highlight>
                  <a:srgbClr val="FFFF00"/>
                </a:highlight>
              </a:rPr>
              <a:t>4</a:t>
            </a:r>
            <a:r>
              <a:rPr lang="en-US" altLang="zh-CN" sz="2000">
                <a:highlight>
                  <a:srgbClr val="FFFF00"/>
                </a:highlight>
              </a:rPr>
              <a:t>ISR</a:t>
            </a:r>
            <a:r>
              <a:rPr lang="zh-CN" altLang="en-US" sz="2000"/>
              <a:t>系统，为导弹和无人机开辟</a:t>
            </a:r>
            <a:r>
              <a:rPr lang="en-US" altLang="zh-CN" sz="2000"/>
              <a:t>"</a:t>
            </a:r>
            <a:r>
              <a:rPr lang="zh-CN" altLang="en-US" sz="2000"/>
              <a:t>数字走廊</a:t>
            </a:r>
            <a:r>
              <a:rPr lang="en-US" altLang="zh-CN" sz="2000"/>
              <a:t>"</a:t>
            </a:r>
            <a:r>
              <a:rPr lang="zh-CN" altLang="en-US" sz="2000"/>
              <a:t>。这种</a:t>
            </a:r>
            <a:r>
              <a:rPr lang="en-US" altLang="zh-CN" sz="2000"/>
              <a:t>"</a:t>
            </a:r>
            <a:r>
              <a:rPr lang="zh-CN" altLang="en-US" sz="2000"/>
              <a:t>实体打击</a:t>
            </a:r>
            <a:r>
              <a:rPr lang="en-US" altLang="zh-CN" sz="2000"/>
              <a:t>+</a:t>
            </a:r>
            <a:r>
              <a:rPr lang="zh-CN" altLang="en-US" sz="2000"/>
              <a:t>网络瘫痪</a:t>
            </a:r>
            <a:r>
              <a:rPr lang="en-US" altLang="zh-CN" sz="2000"/>
              <a:t>"</a:t>
            </a:r>
            <a:r>
              <a:rPr lang="zh-CN" altLang="en-US" sz="2000"/>
              <a:t>的立体攻势，正在重新定义现代战争的边界。</a:t>
            </a:r>
            <a:endParaRPr lang="zh-CN" alt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"A </a:t>
            </a:r>
            <a:r>
              <a:rPr>
                <a:sym typeface="+mn-ea"/>
              </a:rPr>
              <a:t>射</a:t>
            </a:r>
            <a:r>
              <a:rPr lang="en-US" altLang="zh-CN">
                <a:sym typeface="+mn-ea"/>
              </a:rPr>
              <a:t> B </a:t>
            </a:r>
            <a:r>
              <a:rPr>
                <a:sym typeface="+mn-ea"/>
              </a:rPr>
              <a:t>导</a:t>
            </a:r>
            <a:r>
              <a:rPr lang="en-US" altLang="zh-CN">
                <a:sym typeface="+mn-ea"/>
              </a:rPr>
              <a:t>”</a:t>
            </a:r>
            <a:r>
              <a:rPr>
                <a:sym typeface="+mn-ea"/>
              </a:rPr>
              <a:t>（</a:t>
            </a:r>
            <a:r>
              <a:rPr lang="en-US" altLang="zh-CN">
                <a:sym typeface="+mn-ea"/>
              </a:rPr>
              <a:t>1</a:t>
            </a:r>
            <a:r>
              <a:rPr>
                <a:sym typeface="+mn-ea"/>
              </a:rPr>
              <a:t>）</a:t>
            </a:r>
            <a:endParaRPr>
              <a:sym typeface="+mn-ea"/>
            </a:endParaRPr>
          </a:p>
        </p:txBody>
      </p:sp>
      <p:sp>
        <p:nvSpPr>
          <p:cNvPr id="3" name="内容占位符 2"/>
          <p:cNvSpPr>
            <a:spLocks noGrp="1"/>
          </p:cNvSpPr>
          <p:nvPr>
            <p:ph idx="1"/>
            <p:custDataLst>
              <p:tags r:id="rId2"/>
            </p:custDataLst>
          </p:nvPr>
        </p:nvSpPr>
        <p:spPr/>
        <p:txBody>
          <a:bodyPr/>
          <a:p>
            <a:pPr marL="0" indent="0">
              <a:buNone/>
            </a:pPr>
            <a:r>
              <a:rPr lang="en-US" altLang="zh-CN" sz="2200"/>
              <a:t>    "A </a:t>
            </a:r>
            <a:r>
              <a:rPr lang="zh-CN" altLang="en-US" sz="2200"/>
              <a:t>射</a:t>
            </a:r>
            <a:r>
              <a:rPr lang="en-US" altLang="zh-CN" sz="2200"/>
              <a:t> B </a:t>
            </a:r>
            <a:r>
              <a:rPr lang="zh-CN" altLang="en-US" sz="2200"/>
              <a:t>导</a:t>
            </a:r>
            <a:r>
              <a:rPr lang="en-US" altLang="zh-CN" sz="2200"/>
              <a:t>”</a:t>
            </a:r>
            <a:r>
              <a:rPr lang="zh-CN" altLang="en-US" sz="2200"/>
              <a:t>是指</a:t>
            </a:r>
            <a:r>
              <a:rPr lang="en-US" altLang="zh-CN" sz="2200"/>
              <a:t> A </a:t>
            </a:r>
            <a:r>
              <a:rPr lang="zh-CN" altLang="en-US" sz="2200"/>
              <a:t>作战平台发射导弹，由</a:t>
            </a:r>
            <a:r>
              <a:rPr lang="en-US" altLang="zh-CN" sz="2200"/>
              <a:t> B </a:t>
            </a:r>
            <a:r>
              <a:rPr lang="zh-CN" altLang="en-US" sz="2200"/>
              <a:t>作战平台提供中继制导的协同作战模式</a:t>
            </a:r>
            <a:r>
              <a:rPr lang="en-US" altLang="zh-CN" sz="2200"/>
              <a:t>‌</a:t>
            </a:r>
            <a:r>
              <a:rPr lang="zh-CN" altLang="en-US" sz="2200"/>
              <a:t>，主要用于超视距空战，旨在突破单一平台雷达探测距离限制并提升生存能力</a:t>
            </a:r>
            <a:r>
              <a:rPr lang="en-US" altLang="zh-CN" sz="2200"/>
              <a:t> </a:t>
            </a:r>
            <a:r>
              <a:rPr lang="zh-CN" altLang="en-US" sz="2200"/>
              <a:t>。</a:t>
            </a:r>
            <a:r>
              <a:rPr lang="en-US" altLang="zh-CN" sz="2200"/>
              <a:t>‌‌</a:t>
            </a:r>
            <a:endParaRPr lang="en-US" altLang="zh-CN" sz="2200"/>
          </a:p>
          <a:p>
            <a:pPr marL="0" indent="0">
              <a:buNone/>
            </a:pPr>
            <a:r>
              <a:rPr lang="zh-CN" altLang="en-US" sz="2200"/>
              <a:t>工作原理：</a:t>
            </a:r>
            <a:endParaRPr lang="zh-CN" altLang="en-US" sz="2200"/>
          </a:p>
          <a:p>
            <a:r>
              <a:rPr lang="en-US" altLang="zh-CN" sz="2200"/>
              <a:t>‌</a:t>
            </a:r>
            <a:r>
              <a:rPr lang="zh-CN" altLang="en-US" sz="2200"/>
              <a:t>目标探测与传输</a:t>
            </a:r>
            <a:r>
              <a:rPr lang="en-US" altLang="zh-CN" sz="2200"/>
              <a:t>‌</a:t>
            </a:r>
            <a:r>
              <a:rPr lang="zh-CN" altLang="en-US" sz="2200"/>
              <a:t>：具备强探测能力的</a:t>
            </a:r>
            <a:r>
              <a:rPr lang="en-US" altLang="zh-CN" sz="2200"/>
              <a:t> B </a:t>
            </a:r>
            <a:r>
              <a:rPr lang="zh-CN" altLang="en-US" sz="2200"/>
              <a:t>平台（如预警机、隐身战机）利用雷达发现并跟踪目标，通过高速数据链将目标实时坐标传输给导弹或</a:t>
            </a:r>
            <a:r>
              <a:rPr lang="en-US" altLang="zh-CN" sz="2200"/>
              <a:t> A </a:t>
            </a:r>
            <a:r>
              <a:rPr lang="zh-CN" altLang="en-US" sz="2200"/>
              <a:t>平台</a:t>
            </a:r>
            <a:r>
              <a:rPr lang="en-US" altLang="zh-CN" sz="2200"/>
              <a:t> </a:t>
            </a:r>
            <a:r>
              <a:rPr lang="zh-CN" altLang="en-US" sz="2200"/>
              <a:t>。</a:t>
            </a:r>
            <a:r>
              <a:rPr lang="en-US" altLang="zh-CN" sz="2200"/>
              <a:t>‌‌</a:t>
            </a:r>
            <a:endParaRPr lang="en-US" altLang="zh-CN" sz="2200"/>
          </a:p>
          <a:p>
            <a:r>
              <a:rPr lang="en-US" altLang="zh-CN" sz="2200"/>
              <a:t>‌</a:t>
            </a:r>
            <a:r>
              <a:rPr lang="zh-CN" altLang="en-US" sz="2200"/>
              <a:t>中段中继制导</a:t>
            </a:r>
            <a:r>
              <a:rPr lang="en-US" altLang="zh-CN" sz="2200"/>
              <a:t>‌</a:t>
            </a:r>
            <a:r>
              <a:rPr lang="zh-CN" altLang="en-US" sz="2200"/>
              <a:t>：</a:t>
            </a:r>
            <a:r>
              <a:rPr lang="en-US" altLang="zh-CN" sz="2200"/>
              <a:t>A </a:t>
            </a:r>
            <a:r>
              <a:rPr lang="zh-CN" altLang="en-US" sz="2200"/>
              <a:t>平台（如战斗机）在自身雷达未锁定目标的情况下发射导弹，导弹飞行中段由</a:t>
            </a:r>
            <a:r>
              <a:rPr lang="en-US" altLang="zh-CN" sz="2200"/>
              <a:t> B </a:t>
            </a:r>
            <a:r>
              <a:rPr lang="zh-CN" altLang="en-US" sz="2200"/>
              <a:t>平台接管制导，修正飞行轨迹</a:t>
            </a:r>
            <a:r>
              <a:rPr lang="en-US" altLang="zh-CN" sz="2200"/>
              <a:t> </a:t>
            </a:r>
            <a:r>
              <a:rPr lang="zh-CN" altLang="en-US" sz="2200"/>
              <a:t>。</a:t>
            </a:r>
            <a:r>
              <a:rPr lang="en-US" altLang="zh-CN" sz="2200"/>
              <a:t>‌‌</a:t>
            </a:r>
            <a:endParaRPr lang="en-US" altLang="zh-CN" sz="2200"/>
          </a:p>
          <a:p>
            <a:r>
              <a:rPr lang="en-US" altLang="zh-CN" sz="2200"/>
              <a:t>‌</a:t>
            </a:r>
            <a:r>
              <a:rPr lang="zh-CN" altLang="en-US" sz="2200"/>
              <a:t>末段自主攻击</a:t>
            </a:r>
            <a:r>
              <a:rPr lang="en-US" altLang="zh-CN" sz="2200"/>
              <a:t>‌</a:t>
            </a:r>
            <a:r>
              <a:rPr lang="zh-CN" altLang="en-US" sz="2200"/>
              <a:t>：当导弹接近目标时，开启自身主动雷达导引头，完成最后的锁定与打击</a:t>
            </a:r>
            <a:r>
              <a:rPr lang="en-US" altLang="zh-CN" sz="2200"/>
              <a:t> </a:t>
            </a:r>
            <a:r>
              <a:rPr lang="zh-CN" altLang="en-US" sz="2200"/>
              <a:t>。</a:t>
            </a:r>
            <a:r>
              <a:rPr lang="en-US" altLang="zh-CN" sz="2200"/>
              <a:t>‌‌              </a:t>
            </a:r>
            <a:endParaRPr lang="en-US" altLang="zh-CN" sz="2200"/>
          </a:p>
        </p:txBody>
      </p:sp>
      <p:sp>
        <p:nvSpPr>
          <p:cNvPr id="4" name="文本框 3"/>
          <p:cNvSpPr txBox="1"/>
          <p:nvPr/>
        </p:nvSpPr>
        <p:spPr>
          <a:xfrm>
            <a:off x="3313430" y="6177915"/>
            <a:ext cx="6096000" cy="429895"/>
          </a:xfrm>
          <a:prstGeom prst="rect">
            <a:avLst/>
          </a:prstGeom>
          <a:noFill/>
        </p:spPr>
        <p:txBody>
          <a:bodyPr wrap="square" rtlCol="0" anchor="t">
            <a:spAutoFit/>
          </a:bodyPr>
          <a:p>
            <a:r>
              <a:rPr lang="en-US" altLang="zh-CN" sz="2200">
                <a:sym typeface="+mn-ea"/>
              </a:rPr>
              <a:t> &lt;</a:t>
            </a:r>
            <a:r>
              <a:rPr sz="2200">
                <a:sym typeface="+mn-ea"/>
              </a:rPr>
              <a:t>请看</a:t>
            </a:r>
            <a:r>
              <a:rPr lang="en-US" altLang="zh-CN" sz="2200">
                <a:sym typeface="+mn-ea"/>
              </a:rPr>
              <a:t>2</a:t>
            </a:r>
            <a:r>
              <a:rPr sz="2200">
                <a:sym typeface="+mn-ea"/>
              </a:rPr>
              <a:t>分钟的视频</a:t>
            </a:r>
            <a:r>
              <a:rPr lang="en-US" altLang="zh-CN" sz="2200">
                <a:sym typeface="+mn-ea"/>
              </a:rPr>
              <a:t>&gt;</a:t>
            </a:r>
            <a:endParaRPr lang="en-US" altLang="zh-CN" sz="220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"A </a:t>
            </a:r>
            <a:r>
              <a:rPr>
                <a:sym typeface="+mn-ea"/>
              </a:rPr>
              <a:t>射</a:t>
            </a:r>
            <a:r>
              <a:rPr lang="en-US" altLang="zh-CN">
                <a:sym typeface="+mn-ea"/>
              </a:rPr>
              <a:t> B </a:t>
            </a:r>
            <a:r>
              <a:rPr>
                <a:sym typeface="+mn-ea"/>
              </a:rPr>
              <a:t>导</a:t>
            </a:r>
            <a:r>
              <a:rPr lang="en-US" altLang="zh-CN">
                <a:sym typeface="+mn-ea"/>
              </a:rPr>
              <a:t>”</a:t>
            </a:r>
            <a:r>
              <a:rPr>
                <a:sym typeface="+mn-ea"/>
              </a:rPr>
              <a:t>（</a:t>
            </a:r>
            <a:r>
              <a:rPr lang="en-US" altLang="zh-CN">
                <a:sym typeface="+mn-ea"/>
              </a:rPr>
              <a:t>2</a:t>
            </a:r>
            <a:r>
              <a:rPr>
                <a:sym typeface="+mn-ea"/>
              </a:rPr>
              <a:t>）</a:t>
            </a:r>
            <a:endParaRPr>
              <a:sym typeface="+mn-ea"/>
            </a:endParaRPr>
          </a:p>
        </p:txBody>
      </p:sp>
      <p:sp>
        <p:nvSpPr>
          <p:cNvPr id="3" name="内容占位符 2"/>
          <p:cNvSpPr>
            <a:spLocks noGrp="1"/>
          </p:cNvSpPr>
          <p:nvPr>
            <p:ph idx="1"/>
            <p:custDataLst>
              <p:tags r:id="rId2"/>
            </p:custDataLst>
          </p:nvPr>
        </p:nvSpPr>
        <p:spPr>
          <a:xfrm>
            <a:off x="669882" y="1192495"/>
            <a:ext cx="10852237" cy="5041355"/>
          </a:xfrm>
        </p:spPr>
        <p:txBody>
          <a:bodyPr/>
          <a:p>
            <a:pPr marL="0" indent="0">
              <a:buNone/>
            </a:pPr>
            <a:r>
              <a:rPr lang="zh-CN" altLang="en-US" sz="2200"/>
              <a:t>战术优势：</a:t>
            </a:r>
            <a:endParaRPr lang="zh-CN" altLang="en-US" sz="2200"/>
          </a:p>
          <a:p>
            <a:r>
              <a:rPr lang="en-US" altLang="zh-CN" sz="2200"/>
              <a:t>‌</a:t>
            </a:r>
            <a:r>
              <a:rPr lang="zh-CN" altLang="en-US" sz="2200"/>
              <a:t>超视距打击</a:t>
            </a:r>
            <a:r>
              <a:rPr lang="en-US" altLang="zh-CN" sz="2200"/>
              <a:t>‌</a:t>
            </a:r>
            <a:r>
              <a:rPr lang="zh-CN" altLang="en-US" sz="2200"/>
              <a:t>：解决了导弹射程超过发射平台雷达探测距离的问题，显著扩展攻击半径</a:t>
            </a:r>
            <a:r>
              <a:rPr lang="en-US" altLang="zh-CN" sz="2200"/>
              <a:t> </a:t>
            </a:r>
            <a:r>
              <a:rPr lang="zh-CN" altLang="en-US" sz="2200"/>
              <a:t>。</a:t>
            </a:r>
            <a:r>
              <a:rPr lang="en-US" altLang="zh-CN" sz="2200"/>
              <a:t>‌‌</a:t>
            </a:r>
            <a:endParaRPr lang="en-US" altLang="zh-CN" sz="2200"/>
          </a:p>
          <a:p>
            <a:r>
              <a:rPr lang="en-US" altLang="zh-CN" sz="2200"/>
              <a:t>‌</a:t>
            </a:r>
            <a:r>
              <a:rPr lang="zh-CN" altLang="en-US" sz="2200"/>
              <a:t>隐蔽性与生存力</a:t>
            </a:r>
            <a:r>
              <a:rPr lang="en-US" altLang="zh-CN" sz="2200"/>
              <a:t>‌</a:t>
            </a:r>
            <a:r>
              <a:rPr lang="zh-CN" altLang="en-US" sz="2200"/>
              <a:t>：发射平台可保持雷达静默，发射后迅速脱离，降低被敌方反辐射导弹锁定的风险</a:t>
            </a:r>
            <a:r>
              <a:rPr lang="en-US" altLang="zh-CN" sz="2200"/>
              <a:t> </a:t>
            </a:r>
            <a:r>
              <a:rPr lang="zh-CN" altLang="en-US" sz="2200"/>
              <a:t>。</a:t>
            </a:r>
            <a:r>
              <a:rPr lang="en-US" altLang="zh-CN" sz="2200"/>
              <a:t>‌‌</a:t>
            </a:r>
            <a:endParaRPr lang="en-US" altLang="zh-CN" sz="2200"/>
          </a:p>
          <a:p>
            <a:r>
              <a:rPr lang="en-US" altLang="zh-CN" sz="2200"/>
              <a:t>‌</a:t>
            </a:r>
            <a:r>
              <a:rPr lang="zh-CN" altLang="en-US" sz="2200"/>
              <a:t>体系化作战</a:t>
            </a:r>
            <a:r>
              <a:rPr lang="en-US" altLang="zh-CN" sz="2200"/>
              <a:t>‌</a:t>
            </a:r>
            <a:r>
              <a:rPr lang="zh-CN" altLang="en-US" sz="2200"/>
              <a:t>：实现多平台信息共享与火力协同，提升整体作战效能</a:t>
            </a:r>
            <a:r>
              <a:rPr lang="en-US" altLang="zh-CN" sz="2200"/>
              <a:t> </a:t>
            </a:r>
            <a:r>
              <a:rPr lang="zh-CN" altLang="en-US" sz="2200"/>
              <a:t>。</a:t>
            </a:r>
            <a:r>
              <a:rPr lang="en-US" altLang="zh-CN" sz="2200"/>
              <a:t>‌‌</a:t>
            </a:r>
            <a:endParaRPr lang="en-US" altLang="zh-CN" sz="2200"/>
          </a:p>
          <a:p>
            <a:endParaRPr lang="en-US" altLang="zh-CN" sz="2200"/>
          </a:p>
          <a:p>
            <a:pPr marL="0" indent="0">
              <a:buNone/>
            </a:pPr>
            <a:r>
              <a:rPr lang="zh-CN" altLang="en-US" sz="2200"/>
              <a:t>典型应用：</a:t>
            </a:r>
            <a:endParaRPr lang="zh-CN" altLang="en-US" sz="2200"/>
          </a:p>
          <a:p>
            <a:pPr marL="0" indent="0">
              <a:buNone/>
            </a:pPr>
            <a:r>
              <a:rPr lang="en-US" altLang="zh-CN" sz="2200"/>
              <a:t>        </a:t>
            </a:r>
            <a:r>
              <a:rPr lang="zh-CN" altLang="en-US" sz="2200"/>
              <a:t>该战术常应用于</a:t>
            </a:r>
            <a:r>
              <a:rPr lang="en-US" altLang="zh-CN" sz="2200"/>
              <a:t>‌</a:t>
            </a:r>
            <a:r>
              <a:rPr lang="zh-CN" altLang="en-US" sz="2200"/>
              <a:t>预警机与战斗机协同</a:t>
            </a:r>
            <a:r>
              <a:rPr lang="en-US" altLang="zh-CN" sz="2200"/>
              <a:t>‌</a:t>
            </a:r>
            <a:r>
              <a:rPr lang="zh-CN" altLang="en-US" sz="2200"/>
              <a:t>（如空警</a:t>
            </a:r>
            <a:r>
              <a:rPr lang="en-US" altLang="zh-CN" sz="2200"/>
              <a:t> -500 </a:t>
            </a:r>
            <a:r>
              <a:rPr lang="zh-CN" altLang="en-US" sz="2200"/>
              <a:t>引导歼</a:t>
            </a:r>
            <a:r>
              <a:rPr lang="en-US" altLang="zh-CN" sz="2200"/>
              <a:t> -10C/</a:t>
            </a:r>
            <a:r>
              <a:rPr lang="zh-CN" altLang="en-US" sz="2200"/>
              <a:t>歼</a:t>
            </a:r>
            <a:r>
              <a:rPr lang="en-US" altLang="zh-CN" sz="2200"/>
              <a:t> -16</a:t>
            </a:r>
            <a:r>
              <a:rPr lang="zh-CN" altLang="en-US" sz="2200"/>
              <a:t>），或</a:t>
            </a:r>
            <a:r>
              <a:rPr lang="en-US" altLang="zh-CN" sz="2200"/>
              <a:t>‌</a:t>
            </a:r>
            <a:r>
              <a:rPr lang="zh-CN" altLang="en-US" sz="2200"/>
              <a:t>隐身与非隐身战机协同</a:t>
            </a:r>
            <a:r>
              <a:rPr lang="en-US" altLang="zh-CN" sz="2200"/>
              <a:t>‌</a:t>
            </a:r>
            <a:r>
              <a:rPr lang="zh-CN" altLang="en-US" sz="2200"/>
              <a:t>（如歼</a:t>
            </a:r>
            <a:r>
              <a:rPr lang="en-US" altLang="zh-CN" sz="2200"/>
              <a:t> -20 </a:t>
            </a:r>
            <a:r>
              <a:rPr lang="zh-CN" altLang="en-US" sz="2200"/>
              <a:t>探测、歼</a:t>
            </a:r>
            <a:r>
              <a:rPr lang="en-US" altLang="zh-CN" sz="2200"/>
              <a:t> -16 </a:t>
            </a:r>
            <a:r>
              <a:rPr lang="zh-CN" altLang="en-US" sz="2200"/>
              <a:t>发射），配合霹雳</a:t>
            </a:r>
            <a:r>
              <a:rPr lang="en-US" altLang="zh-CN" sz="2200"/>
              <a:t> -17 </a:t>
            </a:r>
            <a:r>
              <a:rPr lang="zh-CN" altLang="en-US" sz="2200"/>
              <a:t>等远程空空导弹实施静默狙杀。</a:t>
            </a:r>
            <a:r>
              <a:rPr lang="en-US" altLang="zh-CN" sz="2000"/>
              <a:t> </a:t>
            </a:r>
            <a:endParaRPr lang="en-US" altLang="zh-CN" sz="2000"/>
          </a:p>
          <a:p>
            <a:endParaRPr lang="en-US" altLang="zh-CN"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文本占位符 33794"/>
          <p:cNvSpPr>
            <a:spLocks noGrp="1"/>
          </p:cNvSpPr>
          <p:nvPr>
            <p:ph idx="1"/>
          </p:nvPr>
        </p:nvSpPr>
        <p:spPr>
          <a:xfrm>
            <a:off x="1745876" y="1537448"/>
            <a:ext cx="8700247" cy="4800600"/>
          </a:xfrm>
        </p:spPr>
        <p:txBody>
          <a:bodyPr vert="horz" wrap="square" lIns="91440" tIns="45720" rIns="91440" bIns="45720" rtlCol="0" anchor="t">
            <a:noAutofit/>
          </a:bodyPr>
          <a:lstStyle/>
          <a:p>
            <a:pPr eaLnBrk="1" hangingPunct="1">
              <a:lnSpc>
                <a:spcPct val="90000"/>
              </a:lnSpc>
            </a:pPr>
            <a:r>
              <a:rPr lang="zh-CN" altLang="en-US" sz="2400" dirty="0">
                <a:latin typeface="宋体" panose="02010600030101010101" pitchFamily="2" charset="-122"/>
              </a:rPr>
              <a:t>按</a:t>
            </a:r>
            <a:r>
              <a:rPr lang="zh-CN" altLang="en-US" sz="2400" dirty="0">
                <a:solidFill>
                  <a:schemeClr val="folHlink"/>
                </a:solidFill>
                <a:latin typeface="宋体" panose="02010600030101010101" pitchFamily="2" charset="-122"/>
              </a:rPr>
              <a:t>层次</a:t>
            </a:r>
            <a:r>
              <a:rPr lang="zh-CN" altLang="en-US" sz="2400" dirty="0">
                <a:latin typeface="宋体" panose="02010600030101010101" pitchFamily="2" charset="-122"/>
              </a:rPr>
              <a:t>分，信息对抗可以分为</a:t>
            </a:r>
            <a:r>
              <a:rPr lang="zh-CN" altLang="en-US" sz="2400" dirty="0">
                <a:solidFill>
                  <a:srgbClr val="0070C0"/>
                </a:solidFill>
                <a:latin typeface="宋体" panose="02010600030101010101" pitchFamily="2" charset="-122"/>
              </a:rPr>
              <a:t>国家信息对抗、国防信息对抗、战略信息对抗和战术信息对抗</a:t>
            </a:r>
            <a:r>
              <a:rPr lang="zh-CN" altLang="en-US" sz="2400" dirty="0">
                <a:latin typeface="宋体" panose="02010600030101010101" pitchFamily="2" charset="-122"/>
              </a:rPr>
              <a:t>；</a:t>
            </a:r>
            <a:endParaRPr lang="zh-CN" altLang="en-US" sz="2400" dirty="0">
              <a:latin typeface="宋体" panose="02010600030101010101" pitchFamily="2" charset="-122"/>
            </a:endParaRPr>
          </a:p>
          <a:p>
            <a:pPr eaLnBrk="1" hangingPunct="1">
              <a:lnSpc>
                <a:spcPct val="90000"/>
              </a:lnSpc>
            </a:pPr>
            <a:r>
              <a:rPr lang="zh-CN" altLang="en-US" sz="2400" dirty="0">
                <a:latin typeface="宋体" panose="02010600030101010101" pitchFamily="2" charset="-122"/>
              </a:rPr>
              <a:t>按</a:t>
            </a:r>
            <a:r>
              <a:rPr lang="zh-CN" altLang="en-US" sz="2400" dirty="0">
                <a:solidFill>
                  <a:schemeClr val="folHlink"/>
                </a:solidFill>
                <a:latin typeface="宋体" panose="02010600030101010101" pitchFamily="2" charset="-122"/>
              </a:rPr>
              <a:t>性质</a:t>
            </a:r>
            <a:r>
              <a:rPr lang="zh-CN" altLang="en-US" sz="2400" dirty="0">
                <a:latin typeface="宋体" panose="02010600030101010101" pitchFamily="2" charset="-122"/>
              </a:rPr>
              <a:t>分可以分为</a:t>
            </a:r>
            <a:r>
              <a:rPr lang="zh-CN" altLang="en-US" sz="2400" dirty="0">
                <a:solidFill>
                  <a:srgbClr val="0070C0"/>
                </a:solidFill>
                <a:latin typeface="宋体" panose="02010600030101010101" pitchFamily="2" charset="-122"/>
              </a:rPr>
              <a:t>进攻性信息对抗和防御性信息</a:t>
            </a:r>
            <a:r>
              <a:rPr lang="zh-CN" altLang="en-US" sz="2400" dirty="0" smtClean="0">
                <a:solidFill>
                  <a:srgbClr val="0070C0"/>
                </a:solidFill>
                <a:latin typeface="宋体" panose="02010600030101010101" pitchFamily="2" charset="-122"/>
              </a:rPr>
              <a:t>对抗；</a:t>
            </a:r>
            <a:endParaRPr lang="zh-CN" altLang="en-US" sz="2400" dirty="0">
              <a:solidFill>
                <a:srgbClr val="66FF99"/>
              </a:solidFill>
              <a:latin typeface="宋体" panose="02010600030101010101" pitchFamily="2" charset="-122"/>
            </a:endParaRPr>
          </a:p>
          <a:p>
            <a:pPr eaLnBrk="1" hangingPunct="1">
              <a:lnSpc>
                <a:spcPct val="90000"/>
              </a:lnSpc>
            </a:pPr>
            <a:r>
              <a:rPr lang="zh-CN" altLang="en-US" sz="2400" dirty="0">
                <a:latin typeface="宋体" panose="02010600030101010101" pitchFamily="2" charset="-122"/>
              </a:rPr>
              <a:t>按</a:t>
            </a:r>
            <a:r>
              <a:rPr lang="zh-CN" altLang="en-US" sz="2400" dirty="0">
                <a:solidFill>
                  <a:schemeClr val="folHlink"/>
                </a:solidFill>
                <a:latin typeface="宋体" panose="02010600030101010101" pitchFamily="2" charset="-122"/>
              </a:rPr>
              <a:t>杀伤机理</a:t>
            </a:r>
            <a:r>
              <a:rPr lang="zh-CN" altLang="en-US" sz="2400" dirty="0">
                <a:latin typeface="宋体" panose="02010600030101010101" pitchFamily="2" charset="-122"/>
              </a:rPr>
              <a:t>分可以分为</a:t>
            </a:r>
            <a:r>
              <a:rPr lang="zh-CN" altLang="en-US" sz="2400" dirty="0">
                <a:solidFill>
                  <a:srgbClr val="0070C0"/>
                </a:solidFill>
                <a:latin typeface="宋体" panose="02010600030101010101" pitchFamily="2" charset="-122"/>
              </a:rPr>
              <a:t>软杀伤类的信息对抗</a:t>
            </a:r>
            <a:r>
              <a:rPr lang="zh-CN" altLang="en-US" sz="2400" dirty="0">
                <a:latin typeface="宋体" panose="02010600030101010101" pitchFamily="2" charset="-122"/>
              </a:rPr>
              <a:t>（如计算机网络攻击、病毒战、情报战、心理战等），</a:t>
            </a:r>
            <a:r>
              <a:rPr lang="zh-CN" altLang="en-US" sz="2400" dirty="0">
                <a:solidFill>
                  <a:srgbClr val="0070C0"/>
                </a:solidFill>
                <a:latin typeface="宋体" panose="02010600030101010101" pitchFamily="2" charset="-122"/>
              </a:rPr>
              <a:t>硬杀伤类信息对抗</a:t>
            </a:r>
            <a:r>
              <a:rPr lang="zh-CN" altLang="en-US" sz="2400" dirty="0">
                <a:latin typeface="宋体" panose="02010600030101010101" pitchFamily="2" charset="-122"/>
              </a:rPr>
              <a:t>（如强力电磁炸弹攻击）和</a:t>
            </a:r>
            <a:r>
              <a:rPr lang="zh-CN" altLang="en-US" sz="2400" dirty="0">
                <a:solidFill>
                  <a:srgbClr val="0070C0"/>
                </a:solidFill>
                <a:latin typeface="宋体" panose="02010600030101010101" pitchFamily="2" charset="-122"/>
              </a:rPr>
              <a:t>“软硬兼施”的信息对抗</a:t>
            </a:r>
            <a:r>
              <a:rPr lang="zh-CN" altLang="en-US" sz="2400" dirty="0">
                <a:latin typeface="宋体" panose="02010600030101010101" pitchFamily="2" charset="-122"/>
              </a:rPr>
              <a:t>（综合利用火力打击与信息武器）；</a:t>
            </a:r>
            <a:endParaRPr lang="zh-CN" altLang="en-US" sz="2400" dirty="0">
              <a:latin typeface="宋体" panose="02010600030101010101" pitchFamily="2" charset="-122"/>
            </a:endParaRPr>
          </a:p>
          <a:p>
            <a:pPr eaLnBrk="1" hangingPunct="1">
              <a:lnSpc>
                <a:spcPct val="90000"/>
              </a:lnSpc>
            </a:pPr>
            <a:r>
              <a:rPr lang="zh-CN" altLang="en-US" sz="2400" dirty="0">
                <a:latin typeface="宋体" panose="02010600030101010101" pitchFamily="2" charset="-122"/>
              </a:rPr>
              <a:t>按</a:t>
            </a:r>
            <a:r>
              <a:rPr lang="zh-CN" altLang="en-US" sz="2400" dirty="0">
                <a:solidFill>
                  <a:schemeClr val="folHlink"/>
                </a:solidFill>
                <a:latin typeface="宋体" panose="02010600030101010101" pitchFamily="2" charset="-122"/>
              </a:rPr>
              <a:t>时间</a:t>
            </a:r>
            <a:r>
              <a:rPr lang="zh-CN" altLang="en-US" sz="2400" dirty="0">
                <a:latin typeface="宋体" panose="02010600030101010101" pitchFamily="2" charset="-122"/>
              </a:rPr>
              <a:t>划分，可分为</a:t>
            </a:r>
            <a:r>
              <a:rPr lang="zh-CN" altLang="en-US" sz="2400" dirty="0">
                <a:solidFill>
                  <a:srgbClr val="0070C0"/>
                </a:solidFill>
                <a:latin typeface="宋体" panose="02010600030101010101" pitchFamily="2" charset="-122"/>
              </a:rPr>
              <a:t>和平时期的信息对抗、危机时期的信息对抗</a:t>
            </a:r>
            <a:r>
              <a:rPr lang="zh-CN" altLang="en-US" sz="2400" dirty="0">
                <a:latin typeface="宋体" panose="02010600030101010101" pitchFamily="2" charset="-122"/>
              </a:rPr>
              <a:t>和</a:t>
            </a:r>
            <a:r>
              <a:rPr lang="zh-CN" altLang="en-US" sz="2400" dirty="0">
                <a:solidFill>
                  <a:srgbClr val="0070C0"/>
                </a:solidFill>
                <a:latin typeface="宋体" panose="02010600030101010101" pitchFamily="2" charset="-122"/>
              </a:rPr>
              <a:t>战争时期的信息对抗</a:t>
            </a:r>
            <a:r>
              <a:rPr lang="zh-CN" altLang="en-US" sz="2400" dirty="0">
                <a:latin typeface="宋体" panose="02010600030101010101" pitchFamily="2" charset="-122"/>
              </a:rPr>
              <a:t>。</a:t>
            </a:r>
            <a:r>
              <a:rPr lang="zh-CN" altLang="en-US" sz="2400" dirty="0"/>
              <a:t> </a:t>
            </a:r>
            <a:endParaRPr lang="zh-CN" altLang="en-US" sz="2400" dirty="0"/>
          </a:p>
        </p:txBody>
      </p:sp>
      <p:grpSp>
        <p:nvGrpSpPr>
          <p:cNvPr id="5" name="组合 4"/>
          <p:cNvGrpSpPr/>
          <p:nvPr/>
        </p:nvGrpSpPr>
        <p:grpSpPr>
          <a:xfrm>
            <a:off x="4396502" y="459021"/>
            <a:ext cx="3398994" cy="791052"/>
            <a:chOff x="824072" y="1564267"/>
            <a:chExt cx="3398994" cy="791052"/>
          </a:xfrm>
        </p:grpSpPr>
        <p:sp>
          <p:nvSpPr>
            <p:cNvPr id="6" name="矩形: 圆角 9"/>
            <p:cNvSpPr/>
            <p:nvPr/>
          </p:nvSpPr>
          <p:spPr>
            <a:xfrm>
              <a:off x="824072" y="1740416"/>
              <a:ext cx="3398994"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01522" y="1828091"/>
              <a:ext cx="2339102" cy="480131"/>
            </a:xfrm>
            <a:prstGeom prst="rect">
              <a:avLst/>
            </a:prstGeom>
          </p:spPr>
          <p:txBody>
            <a:bodyPr wrap="none">
              <a:spAutoFit/>
            </a:bodyPr>
            <a:lstStyle/>
            <a:p>
              <a:pPr>
                <a:lnSpc>
                  <a:spcPct val="90000"/>
                </a:lnSpc>
              </a:pPr>
              <a:r>
                <a:rPr lang="zh-CN" altLang="en-US" sz="2800" dirty="0">
                  <a:solidFill>
                    <a:schemeClr val="bg1"/>
                  </a:solidFill>
                  <a:latin typeface="+mj-ea"/>
                </a:rPr>
                <a:t>信息对抗分类</a:t>
              </a:r>
              <a:endParaRPr lang="zh-CN" altLang="en-US" sz="2800" dirty="0">
                <a:solidFill>
                  <a:schemeClr val="bg1"/>
                </a:solidFill>
                <a:latin typeface="+mj-ea"/>
                <a:ea typeface="+mj-ea"/>
              </a:endParaRPr>
            </a:p>
          </p:txBody>
        </p:sp>
        <p:pic>
          <p:nvPicPr>
            <p:cNvPr id="8" name="图片 7"/>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34817"/>
          <p:cNvSpPr>
            <a:spLocks noGrp="1"/>
          </p:cNvSpPr>
          <p:nvPr>
            <p:ph type="title"/>
          </p:nvPr>
        </p:nvSpPr>
        <p:spPr>
          <a:xfrm>
            <a:off x="2209800" y="609600"/>
            <a:ext cx="7772400" cy="838200"/>
          </a:xfrm>
        </p:spPr>
        <p:txBody>
          <a:bodyPr vert="horz" wrap="square" lIns="92075" tIns="46038" rIns="92075" bIns="46038" numCol="1" rtlCol="0" anchor="ctr" anchorCtr="0" compatLnSpc="1">
            <a:noAutofit/>
          </a:bodyPr>
          <a:lstStyle/>
          <a:p>
            <a:pPr eaLnBrk="1" hangingPunct="1"/>
            <a:r>
              <a:rPr lang="en-US" altLang="zh-CN" sz="3600" dirty="0"/>
              <a:t> </a:t>
            </a:r>
            <a:endParaRPr lang="en-US" altLang="zh-CN" sz="3600" dirty="0"/>
          </a:p>
        </p:txBody>
      </p:sp>
      <p:sp>
        <p:nvSpPr>
          <p:cNvPr id="46083" name="文本占位符 34818"/>
          <p:cNvSpPr>
            <a:spLocks noGrp="1"/>
          </p:cNvSpPr>
          <p:nvPr>
            <p:ph idx="1"/>
          </p:nvPr>
        </p:nvSpPr>
        <p:spPr>
          <a:xfrm>
            <a:off x="1546413" y="1761565"/>
            <a:ext cx="8982634" cy="3975661"/>
          </a:xfrm>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solidFill>
                  <a:schemeClr val="folHlink"/>
                </a:solidFill>
                <a:latin typeface="宋体" panose="02010600030101010101" pitchFamily="2" charset="-122"/>
              </a:rPr>
              <a:t>和平</a:t>
            </a:r>
            <a:r>
              <a:rPr lang="zh-CN" altLang="en-US" sz="2400" dirty="0">
                <a:solidFill>
                  <a:schemeClr val="folHlink"/>
                </a:solidFill>
                <a:latin typeface="宋体" panose="02010600030101010101" pitchFamily="2" charset="-122"/>
              </a:rPr>
              <a:t>时期的信息对抗</a:t>
            </a:r>
            <a:r>
              <a:rPr lang="zh-CN" altLang="en-US" sz="2400" dirty="0">
                <a:latin typeface="宋体" panose="02010600030101010101" pitchFamily="2" charset="-122"/>
              </a:rPr>
              <a:t>包括</a:t>
            </a:r>
            <a:r>
              <a:rPr lang="zh-CN" altLang="en-US" sz="2400" dirty="0">
                <a:solidFill>
                  <a:srgbClr val="0070C0"/>
                </a:solidFill>
                <a:latin typeface="宋体" panose="02010600030101010101" pitchFamily="2" charset="-122"/>
              </a:rPr>
              <a:t>政治信息战、经济信息战、文化信息战、网络情报战、心理战</a:t>
            </a:r>
            <a:r>
              <a:rPr lang="zh-CN" altLang="en-US" sz="2400" dirty="0">
                <a:latin typeface="宋体" panose="02010600030101010101" pitchFamily="2" charset="-122"/>
              </a:rPr>
              <a:t>等形式；和平时期信息战的样式基本上都可以应用于危机时期或战争时期，在平时与危机时期，信息对抗主要</a:t>
            </a:r>
            <a:r>
              <a:rPr lang="zh-CN" altLang="en-US" sz="2400" dirty="0">
                <a:solidFill>
                  <a:srgbClr val="0070C0"/>
                </a:solidFill>
                <a:latin typeface="宋体" panose="02010600030101010101" pitchFamily="2" charset="-122"/>
              </a:rPr>
              <a:t>以获取各类情报为主</a:t>
            </a:r>
            <a:r>
              <a:rPr lang="zh-CN" altLang="en-US" sz="2400" dirty="0">
                <a:latin typeface="宋体" panose="02010600030101010101" pitchFamily="2" charset="-122"/>
              </a:rPr>
              <a:t>，不会去破坏对方信息系统与网络的正常运行，但到了</a:t>
            </a:r>
            <a:r>
              <a:rPr lang="zh-CN" altLang="en-US" sz="2400" dirty="0">
                <a:solidFill>
                  <a:schemeClr val="folHlink"/>
                </a:solidFill>
                <a:latin typeface="宋体" panose="02010600030101010101" pitchFamily="2" charset="-122"/>
              </a:rPr>
              <a:t>战争时期</a:t>
            </a:r>
            <a:r>
              <a:rPr lang="zh-CN" altLang="en-US" sz="2400" dirty="0">
                <a:latin typeface="宋体" panose="02010600030101010101" pitchFamily="2" charset="-122"/>
              </a:rPr>
              <a:t>，由于双方已经处于敌对状态，</a:t>
            </a:r>
            <a:r>
              <a:rPr lang="zh-CN" altLang="en-US" sz="2400" dirty="0">
                <a:solidFill>
                  <a:srgbClr val="0070C0"/>
                </a:solidFill>
                <a:latin typeface="宋体" panose="02010600030101010101" pitchFamily="2" charset="-122"/>
              </a:rPr>
              <a:t>对对方的网络及信息系统实施破坏战，甚至是瘫痪战</a:t>
            </a:r>
            <a:r>
              <a:rPr lang="zh-CN" altLang="en-US" sz="2400" dirty="0">
                <a:latin typeface="宋体" panose="02010600030101010101" pitchFamily="2" charset="-122"/>
              </a:rPr>
              <a:t>可能会成为主要的信息对抗样式。</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pPr>
              <a:lnSpc>
                <a:spcPct val="90000"/>
              </a:lnSpc>
            </a:pPr>
            <a:r>
              <a:rPr lang="zh-CN" altLang="en-US" sz="2800" dirty="0">
                <a:latin typeface="宋体" panose="02010600030101010101" pitchFamily="2" charset="-122"/>
              </a:rPr>
              <a:t>按</a:t>
            </a:r>
            <a:r>
              <a:rPr lang="zh-CN" altLang="en-US" sz="2800" dirty="0">
                <a:solidFill>
                  <a:schemeClr val="folHlink"/>
                </a:solidFill>
                <a:latin typeface="宋体" panose="02010600030101010101" pitchFamily="2" charset="-122"/>
              </a:rPr>
              <a:t>杀伤机理</a:t>
            </a:r>
            <a:r>
              <a:rPr lang="zh-CN" altLang="en-US" sz="2800" dirty="0">
                <a:latin typeface="宋体" panose="02010600030101010101" pitchFamily="2" charset="-122"/>
              </a:rPr>
              <a:t>分可以</a:t>
            </a:r>
            <a:r>
              <a:rPr lang="zh-CN" altLang="en-US" sz="2800" dirty="0" smtClean="0">
                <a:latin typeface="宋体" panose="02010600030101010101" pitchFamily="2" charset="-122"/>
              </a:rPr>
              <a:t>分为</a:t>
            </a:r>
            <a:r>
              <a:rPr lang="zh-CN" altLang="en-US" sz="2800" dirty="0" smtClean="0">
                <a:solidFill>
                  <a:srgbClr val="639EF4"/>
                </a:solidFill>
                <a:latin typeface="宋体" panose="02010600030101010101" pitchFamily="2" charset="-122"/>
              </a:rPr>
              <a:t> </a:t>
            </a:r>
            <a:r>
              <a:rPr lang="en-US" altLang="zh-CN" sz="2800" dirty="0" smtClean="0">
                <a:solidFill>
                  <a:srgbClr val="639EF4"/>
                </a:solidFill>
                <a:latin typeface="宋体" panose="02010600030101010101" pitchFamily="2" charset="-122"/>
              </a:rPr>
              <a:t>[</a:t>
            </a:r>
            <a:r>
              <a:rPr lang="zh-CN" altLang="en-US" sz="2800" dirty="0" smtClean="0">
                <a:solidFill>
                  <a:srgbClr val="639EF4"/>
                </a:solidFill>
                <a:latin typeface="宋体" panose="02010600030101010101" pitchFamily="2" charset="-122"/>
              </a:rPr>
              <a:t>填空</a:t>
            </a:r>
            <a:r>
              <a:rPr lang="en-US" altLang="zh-CN" sz="2800" dirty="0" smtClean="0">
                <a:solidFill>
                  <a:srgbClr val="639EF4"/>
                </a:solidFill>
                <a:latin typeface="宋体" panose="02010600030101010101" pitchFamily="2" charset="-122"/>
              </a:rPr>
              <a:t>1]</a:t>
            </a:r>
            <a:r>
              <a:rPr lang="en-US" altLang="zh-CN" sz="2800" dirty="0" smtClean="0">
                <a:solidFill>
                  <a:srgbClr val="000000"/>
                </a:solidFill>
                <a:latin typeface="宋体" panose="02010600030101010101" pitchFamily="2" charset="-122"/>
              </a:rPr>
              <a:t> </a:t>
            </a:r>
            <a:r>
              <a:rPr lang="zh-CN" altLang="en-US" sz="2800" dirty="0" smtClean="0">
                <a:solidFill>
                  <a:srgbClr val="0070C0"/>
                </a:solidFill>
                <a:latin typeface="宋体" panose="02010600030101010101" pitchFamily="2" charset="-122"/>
              </a:rPr>
              <a:t>类</a:t>
            </a:r>
            <a:r>
              <a:rPr lang="zh-CN" altLang="en-US" sz="2800" dirty="0">
                <a:solidFill>
                  <a:srgbClr val="0070C0"/>
                </a:solidFill>
                <a:latin typeface="宋体" panose="02010600030101010101" pitchFamily="2" charset="-122"/>
              </a:rPr>
              <a:t>的信息对抗</a:t>
            </a:r>
            <a:r>
              <a:rPr lang="zh-CN" altLang="en-US" sz="2800" dirty="0">
                <a:latin typeface="宋体" panose="02010600030101010101" pitchFamily="2" charset="-122"/>
              </a:rPr>
              <a:t>（如计算机网络攻击、病毒战、情报战、心理战等</a:t>
            </a:r>
            <a:r>
              <a:rPr lang="zh-CN" altLang="en-US" sz="2800" dirty="0" smtClean="0">
                <a:latin typeface="宋体" panose="02010600030101010101" pitchFamily="2" charset="-122"/>
              </a:rPr>
              <a:t>），</a:t>
            </a:r>
            <a:r>
              <a:rPr lang="zh-CN" altLang="en-US" sz="2800" dirty="0" smtClean="0">
                <a:solidFill>
                  <a:srgbClr val="639EF4"/>
                </a:solidFill>
                <a:latin typeface="宋体" panose="02010600030101010101" pitchFamily="2" charset="-122"/>
              </a:rPr>
              <a:t> </a:t>
            </a:r>
            <a:r>
              <a:rPr lang="en-US" altLang="zh-CN" sz="2800" dirty="0" smtClean="0">
                <a:solidFill>
                  <a:srgbClr val="639EF4"/>
                </a:solidFill>
                <a:latin typeface="宋体" panose="02010600030101010101" pitchFamily="2" charset="-122"/>
              </a:rPr>
              <a:t>[</a:t>
            </a:r>
            <a:r>
              <a:rPr lang="zh-CN" altLang="en-US" sz="2800" dirty="0" smtClean="0">
                <a:solidFill>
                  <a:srgbClr val="639EF4"/>
                </a:solidFill>
                <a:latin typeface="宋体" panose="02010600030101010101" pitchFamily="2" charset="-122"/>
              </a:rPr>
              <a:t>填空</a:t>
            </a:r>
            <a:r>
              <a:rPr lang="en-US" altLang="zh-CN" sz="2800" dirty="0" smtClean="0">
                <a:solidFill>
                  <a:srgbClr val="639EF4"/>
                </a:solidFill>
                <a:latin typeface="宋体" panose="02010600030101010101" pitchFamily="2" charset="-122"/>
              </a:rPr>
              <a:t>2]</a:t>
            </a:r>
            <a:r>
              <a:rPr lang="en-US" altLang="zh-CN" sz="2800" dirty="0" smtClean="0">
                <a:solidFill>
                  <a:srgbClr val="000000"/>
                </a:solidFill>
                <a:latin typeface="宋体" panose="02010600030101010101" pitchFamily="2" charset="-122"/>
              </a:rPr>
              <a:t> </a:t>
            </a:r>
            <a:r>
              <a:rPr lang="zh-CN" altLang="en-US" sz="2800" dirty="0" smtClean="0">
                <a:solidFill>
                  <a:srgbClr val="0070C0"/>
                </a:solidFill>
                <a:latin typeface="宋体" panose="02010600030101010101" pitchFamily="2" charset="-122"/>
              </a:rPr>
              <a:t>类</a:t>
            </a:r>
            <a:r>
              <a:rPr lang="zh-CN" altLang="en-US" sz="2800" dirty="0">
                <a:solidFill>
                  <a:srgbClr val="0070C0"/>
                </a:solidFill>
                <a:latin typeface="宋体" panose="02010600030101010101" pitchFamily="2" charset="-122"/>
              </a:rPr>
              <a:t>信息对抗</a:t>
            </a:r>
            <a:r>
              <a:rPr lang="zh-CN" altLang="en-US" sz="2800" dirty="0">
                <a:latin typeface="宋体" panose="02010600030101010101" pitchFamily="2" charset="-122"/>
              </a:rPr>
              <a:t>（如强力电磁炸弹攻击）和</a:t>
            </a:r>
            <a:r>
              <a:rPr lang="zh-CN" altLang="en-US" sz="2800" dirty="0" smtClean="0">
                <a:solidFill>
                  <a:srgbClr val="0070C0"/>
                </a:solidFill>
                <a:latin typeface="宋体" panose="02010600030101010101" pitchFamily="2" charset="-122"/>
              </a:rPr>
              <a:t>“</a:t>
            </a:r>
            <a:r>
              <a:rPr lang="zh-CN" altLang="en-US" sz="2800" dirty="0" smtClean="0">
                <a:solidFill>
                  <a:srgbClr val="639EF4"/>
                </a:solidFill>
                <a:latin typeface="宋体" panose="02010600030101010101" pitchFamily="2" charset="-122"/>
              </a:rPr>
              <a:t> </a:t>
            </a:r>
            <a:r>
              <a:rPr lang="en-US" altLang="zh-CN" sz="2800" dirty="0" smtClean="0">
                <a:solidFill>
                  <a:srgbClr val="639EF4"/>
                </a:solidFill>
                <a:latin typeface="宋体" panose="02010600030101010101" pitchFamily="2" charset="-122"/>
              </a:rPr>
              <a:t>[</a:t>
            </a:r>
            <a:r>
              <a:rPr lang="zh-CN" altLang="en-US" sz="2800" dirty="0" smtClean="0">
                <a:solidFill>
                  <a:srgbClr val="639EF4"/>
                </a:solidFill>
                <a:latin typeface="宋体" panose="02010600030101010101" pitchFamily="2" charset="-122"/>
              </a:rPr>
              <a:t>填空</a:t>
            </a:r>
            <a:r>
              <a:rPr lang="en-US" altLang="zh-CN" sz="2800" dirty="0" smtClean="0">
                <a:solidFill>
                  <a:srgbClr val="639EF4"/>
                </a:solidFill>
                <a:latin typeface="宋体" panose="02010600030101010101" pitchFamily="2" charset="-122"/>
              </a:rPr>
              <a:t>3]</a:t>
            </a:r>
            <a:r>
              <a:rPr lang="en-US" altLang="zh-CN" sz="2800" dirty="0" smtClean="0">
                <a:solidFill>
                  <a:srgbClr val="000000"/>
                </a:solidFill>
                <a:latin typeface="宋体" panose="02010600030101010101" pitchFamily="2" charset="-122"/>
              </a:rPr>
              <a:t> </a:t>
            </a:r>
            <a:r>
              <a:rPr lang="zh-CN" altLang="en-US" sz="2800" dirty="0" smtClean="0">
                <a:solidFill>
                  <a:srgbClr val="0070C0"/>
                </a:solidFill>
                <a:latin typeface="宋体" panose="02010600030101010101" pitchFamily="2" charset="-122"/>
              </a:rPr>
              <a:t>”</a:t>
            </a:r>
            <a:r>
              <a:rPr lang="zh-CN" altLang="en-US" sz="2800" dirty="0">
                <a:solidFill>
                  <a:srgbClr val="0070C0"/>
                </a:solidFill>
                <a:latin typeface="宋体" panose="02010600030101010101" pitchFamily="2" charset="-122"/>
              </a:rPr>
              <a:t>的信息对抗</a:t>
            </a:r>
            <a:r>
              <a:rPr lang="zh-CN" altLang="en-US" sz="2800" dirty="0">
                <a:latin typeface="宋体" panose="02010600030101010101" pitchFamily="2" charset="-122"/>
              </a:rPr>
              <a:t>（综合利用火力打击与信息武器）；</a:t>
            </a:r>
            <a:endParaRPr lang="zh-CN" altLang="en-US" sz="2800" dirty="0">
              <a:latin typeface="宋体" panose="02010600030101010101" pitchFamily="2" charset="-122"/>
            </a:endParaRPr>
          </a:p>
        </p:txBody>
      </p:sp>
      <p:sp>
        <p:nvSpPr>
          <p:cNvPr id="6" name="圆角矩形 5"/>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矩形 11"/>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600" smtClean="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600" smtClean="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600">
              <a:solidFill>
                <a:srgbClr val="F84F41"/>
              </a:solidFill>
              <a:latin typeface="微软雅黑" panose="020B0503020204020204" charset="-122"/>
              <a:ea typeface="微软雅黑" panose="020B0503020204020204" charset="-122"/>
              <a:sym typeface="微软雅黑" panose="020B0503020204020204" charset="-122"/>
            </a:endParaRP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charset="-122"/>
                  <a:ea typeface="微软雅黑" panose="020B0503020204020204" charset="-122"/>
                  <a:sym typeface="微软雅黑" panose="020B0503020204020204" charset="-122"/>
                </a:rPr>
                <a:t>3</a:t>
              </a:r>
              <a:r>
                <a:rPr lang="zh-CN" altLang="en-US" sz="2000" smtClean="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4" name="图片 3"/>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文本占位符 35842"/>
          <p:cNvSpPr>
            <a:spLocks noGrp="1"/>
          </p:cNvSpPr>
          <p:nvPr>
            <p:ph idx="1"/>
          </p:nvPr>
        </p:nvSpPr>
        <p:spPr>
          <a:xfrm>
            <a:off x="669882" y="1457364"/>
            <a:ext cx="10852237" cy="5041355"/>
          </a:xfrm>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信息</a:t>
            </a:r>
            <a:r>
              <a:rPr lang="zh-CN" altLang="en-US" sz="2400" dirty="0">
                <a:latin typeface="宋体" panose="02010600030101010101" pitchFamily="2" charset="-122"/>
              </a:rPr>
              <a:t>对抗模型抽象描述了</a:t>
            </a:r>
            <a:r>
              <a:rPr lang="zh-CN" altLang="en-US" sz="2400" dirty="0">
                <a:solidFill>
                  <a:srgbClr val="0070C0"/>
                </a:solidFill>
                <a:latin typeface="宋体" panose="02010600030101010101" pitchFamily="2" charset="-122"/>
              </a:rPr>
              <a:t>信息防御行动、进攻行动和其他相关行动</a:t>
            </a:r>
            <a:r>
              <a:rPr lang="zh-CN" altLang="en-US" sz="2400" dirty="0">
                <a:latin typeface="宋体" panose="02010600030101010101" pitchFamily="2" charset="-122"/>
              </a:rPr>
              <a:t>之间的相互关系，图</a:t>
            </a:r>
            <a:r>
              <a:rPr lang="en-US" altLang="zh-CN" sz="2400" dirty="0"/>
              <a:t>1-2</a:t>
            </a:r>
            <a:r>
              <a:rPr lang="zh-CN" altLang="en-US" sz="2400" dirty="0">
                <a:latin typeface="宋体" panose="02010600030101010101" pitchFamily="2" charset="-122"/>
              </a:rPr>
              <a:t>中描述了这三者之间的关系</a:t>
            </a:r>
            <a:r>
              <a:rPr lang="zh-CN" altLang="en-US" sz="2400" dirty="0" smtClean="0">
                <a:latin typeface="宋体" panose="02010600030101010101" pitchFamily="2" charset="-122"/>
              </a:rPr>
              <a:t>。</a:t>
            </a:r>
            <a:endParaRPr lang="en-US" altLang="zh-CN" sz="2400" dirty="0" smtClean="0">
              <a:latin typeface="宋体" panose="02010600030101010101" pitchFamily="2" charset="-122"/>
            </a:endParaRPr>
          </a:p>
        </p:txBody>
      </p:sp>
      <p:grpSp>
        <p:nvGrpSpPr>
          <p:cNvPr id="4" name="组合 3"/>
          <p:cNvGrpSpPr/>
          <p:nvPr/>
        </p:nvGrpSpPr>
        <p:grpSpPr>
          <a:xfrm>
            <a:off x="3827556" y="194380"/>
            <a:ext cx="4536888" cy="1109044"/>
            <a:chOff x="3279913" y="488294"/>
            <a:chExt cx="7160362" cy="1109044"/>
          </a:xfrm>
        </p:grpSpPr>
        <p:grpSp>
          <p:nvGrpSpPr>
            <p:cNvPr id="5" name="组合 4"/>
            <p:cNvGrpSpPr/>
            <p:nvPr/>
          </p:nvGrpSpPr>
          <p:grpSpPr>
            <a:xfrm>
              <a:off x="3279913" y="909457"/>
              <a:ext cx="7160362" cy="687881"/>
              <a:chOff x="3279913" y="909457"/>
              <a:chExt cx="7160362" cy="687881"/>
            </a:xfrm>
          </p:grpSpPr>
          <p:sp>
            <p:nvSpPr>
              <p:cNvPr id="159" name="矩形: 圆角 9"/>
              <p:cNvSpPr/>
              <p:nvPr/>
            </p:nvSpPr>
            <p:spPr>
              <a:xfrm>
                <a:off x="3279913" y="909457"/>
                <a:ext cx="7160362"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853439" y="1032076"/>
                <a:ext cx="5378990" cy="535531"/>
              </a:xfrm>
              <a:prstGeom prst="rect">
                <a:avLst/>
              </a:prstGeom>
              <a:noFill/>
            </p:spPr>
            <p:txBody>
              <a:bodyPr wrap="square" rtlCol="0" anchor="t">
                <a:spAutoFit/>
              </a:bodyPr>
              <a:lstStyle/>
              <a:p>
                <a:pPr lvl="0" fontAlgn="base">
                  <a:lnSpc>
                    <a:spcPct val="90000"/>
                  </a:lnSpc>
                  <a:spcBef>
                    <a:spcPts val="1000"/>
                  </a:spcBef>
                  <a:spcAft>
                    <a:spcPct val="0"/>
                  </a:spcAft>
                  <a:defRPr/>
                </a:pPr>
                <a:r>
                  <a:rPr lang="zh-CN" altLang="en-US" sz="32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信息</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对抗的模型 </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
        <p:nvSpPr>
          <p:cNvPr id="161" name="标题 38913"/>
          <p:cNvSpPr>
            <a:spLocks noGrp="1"/>
          </p:cNvSpPr>
          <p:nvPr>
            <p:ph type="title"/>
          </p:nvPr>
        </p:nvSpPr>
        <p:spPr>
          <a:xfrm>
            <a:off x="2160712" y="5737219"/>
            <a:ext cx="7772400" cy="1143000"/>
          </a:xfrm>
        </p:spPr>
        <p:txBody>
          <a:bodyPr vert="horz" lIns="92075" tIns="46038" rIns="92075" bIns="46038" rtlCol="0" anchor="ctr" anchorCtr="0">
            <a:noAutofit/>
          </a:bodyPr>
          <a:lstStyle/>
          <a:p>
            <a:pPr algn="ctr" fontAlgn="base">
              <a:spcAft>
                <a:spcPct val="0"/>
              </a:spcAft>
              <a:defRPr/>
            </a:pPr>
            <a:r>
              <a:rPr lang="zh-CN" altLang="en-US" sz="2400" b="0" spc="0" dirty="0">
                <a:latin typeface="宋体" panose="02010600030101010101" pitchFamily="2" charset="-122"/>
              </a:rPr>
              <a:t>图</a:t>
            </a:r>
            <a:r>
              <a:rPr lang="en-US" altLang="zh-CN" sz="2400" b="0" spc="0" dirty="0"/>
              <a:t>1-2 </a:t>
            </a:r>
            <a:r>
              <a:rPr lang="zh-CN" altLang="en-US" sz="2400" b="0" spc="0" dirty="0">
                <a:latin typeface="宋体" panose="02010600030101010101" pitchFamily="2" charset="-122"/>
              </a:rPr>
              <a:t>信息对抗模型</a:t>
            </a:r>
            <a:r>
              <a:rPr lang="zh-CN" altLang="en-US" sz="3200" b="0" spc="0" dirty="0"/>
              <a:t> </a:t>
            </a:r>
            <a:endParaRPr lang="zh-CN" altLang="en-US" sz="3200" b="0" spc="0" dirty="0"/>
          </a:p>
        </p:txBody>
      </p:sp>
      <p:grpSp>
        <p:nvGrpSpPr>
          <p:cNvPr id="162" name="组合 38928"/>
          <p:cNvGrpSpPr/>
          <p:nvPr/>
        </p:nvGrpSpPr>
        <p:grpSpPr>
          <a:xfrm>
            <a:off x="2519487" y="2803019"/>
            <a:ext cx="6913562" cy="2984500"/>
            <a:chOff x="657" y="1632"/>
            <a:chExt cx="4355" cy="1880"/>
          </a:xfrm>
        </p:grpSpPr>
        <p:sp>
          <p:nvSpPr>
            <p:cNvPr id="163" name="椭圆 38916"/>
            <p:cNvSpPr/>
            <p:nvPr/>
          </p:nvSpPr>
          <p:spPr>
            <a:xfrm>
              <a:off x="4477" y="1758"/>
              <a:ext cx="535" cy="1672"/>
            </a:xfrm>
            <a:prstGeom prst="ellipse">
              <a:avLst/>
            </a:prstGeom>
            <a:gradFill rotWithShape="1">
              <a:gsLst>
                <a:gs pos="0">
                  <a:schemeClr val="tx1"/>
                </a:gs>
                <a:gs pos="100000">
                  <a:schemeClr val="accent1"/>
                </a:gs>
              </a:gsLst>
              <a:lin ang="2700000" scaled="1"/>
              <a:tileRect/>
            </a:gradFill>
            <a:ln w="9525">
              <a:noFill/>
            </a:ln>
            <a:effectLst>
              <a:prstShdw prst="shdw17" dist="17961" dir="2699999">
                <a:srgbClr val="009999"/>
              </a:prstShdw>
            </a:effectLst>
          </p:spPr>
          <p:txBody>
            <a:bodyPr/>
            <a:lstStyle/>
            <a:p>
              <a:pPr algn="just" eaLnBrk="0" hangingPunct="0"/>
              <a:endParaRPr lang="en-US" altLang="zh-CN" sz="1000" dirty="0">
                <a:latin typeface="Times New Roman" panose="02020603050405020304" pitchFamily="18" charset="0"/>
              </a:endParaRPr>
            </a:p>
            <a:p>
              <a:pPr algn="just" eaLnBrk="0" hangingPunct="0"/>
              <a:r>
                <a:rPr lang="zh-CN" altLang="en-US" sz="2000" dirty="0">
                  <a:solidFill>
                    <a:schemeClr val="bg2"/>
                  </a:solidFill>
                  <a:latin typeface="Times New Roman" panose="02020603050405020304" pitchFamily="18" charset="0"/>
                </a:rPr>
                <a:t>选定的</a:t>
              </a:r>
              <a:endParaRPr lang="zh-CN" altLang="en-US" sz="2000" dirty="0">
                <a:solidFill>
                  <a:schemeClr val="bg2"/>
                </a:solidFill>
                <a:latin typeface="Times New Roman" panose="02020603050405020304" pitchFamily="18" charset="0"/>
              </a:endParaRPr>
            </a:p>
            <a:p>
              <a:pPr algn="just" eaLnBrk="0" hangingPunct="0"/>
              <a:r>
                <a:rPr lang="zh-CN" altLang="en-US" sz="2000" dirty="0">
                  <a:solidFill>
                    <a:schemeClr val="bg2"/>
                  </a:solidFill>
                  <a:latin typeface="Times New Roman" panose="02020603050405020304" pitchFamily="18" charset="0"/>
                </a:rPr>
                <a:t>目标</a:t>
              </a:r>
              <a:endParaRPr lang="zh-CN" altLang="en-US" sz="2000" dirty="0">
                <a:solidFill>
                  <a:schemeClr val="bg2"/>
                </a:solidFill>
                <a:latin typeface="Times New Roman" panose="02020603050405020304" pitchFamily="18" charset="0"/>
              </a:endParaRPr>
            </a:p>
          </p:txBody>
        </p:sp>
        <p:sp>
          <p:nvSpPr>
            <p:cNvPr id="164" name="椭圆 38917"/>
            <p:cNvSpPr/>
            <p:nvPr/>
          </p:nvSpPr>
          <p:spPr>
            <a:xfrm>
              <a:off x="657" y="1736"/>
              <a:ext cx="535" cy="1672"/>
            </a:xfrm>
            <a:prstGeom prst="ellipse">
              <a:avLst/>
            </a:prstGeom>
            <a:gradFill rotWithShape="1">
              <a:gsLst>
                <a:gs pos="0">
                  <a:schemeClr val="tx1"/>
                </a:gs>
                <a:gs pos="100000">
                  <a:schemeClr val="accent1"/>
                </a:gs>
              </a:gsLst>
              <a:lin ang="2700000" scaled="1"/>
              <a:tileRect/>
            </a:gradFill>
            <a:ln w="9525">
              <a:noFill/>
            </a:ln>
            <a:effectLst>
              <a:prstShdw prst="shdw17" dist="17961" dir="2699999">
                <a:srgbClr val="009999"/>
              </a:prstShdw>
            </a:effectLst>
          </p:spPr>
          <p:txBody>
            <a:bodyPr/>
            <a:lstStyle/>
            <a:p>
              <a:pPr algn="just" eaLnBrk="0" hangingPunct="0"/>
              <a:endParaRPr lang="en-US" altLang="zh-CN" sz="1000" dirty="0">
                <a:latin typeface="Times New Roman" panose="02020603050405020304" pitchFamily="18" charset="0"/>
              </a:endParaRPr>
            </a:p>
            <a:p>
              <a:pPr algn="just" eaLnBrk="0" hangingPunct="0"/>
              <a:r>
                <a:rPr lang="zh-CN" altLang="en-US" sz="2000" dirty="0">
                  <a:solidFill>
                    <a:schemeClr val="bg2"/>
                  </a:solidFill>
                  <a:latin typeface="Times New Roman" panose="02020603050405020304" pitchFamily="18" charset="0"/>
                </a:rPr>
                <a:t>敌方信息系统</a:t>
              </a:r>
              <a:endParaRPr lang="zh-CN" altLang="en-US" sz="2000" dirty="0">
                <a:solidFill>
                  <a:schemeClr val="bg2"/>
                </a:solidFill>
                <a:latin typeface="Times New Roman" panose="02020603050405020304" pitchFamily="18" charset="0"/>
              </a:endParaRPr>
            </a:p>
          </p:txBody>
        </p:sp>
        <p:sp>
          <p:nvSpPr>
            <p:cNvPr id="165" name="矩形 38918"/>
            <p:cNvSpPr/>
            <p:nvPr/>
          </p:nvSpPr>
          <p:spPr>
            <a:xfrm>
              <a:off x="2160" y="1661"/>
              <a:ext cx="1499" cy="1814"/>
            </a:xfrm>
            <a:prstGeom prst="rect">
              <a:avLst/>
            </a:prstGeom>
            <a:gradFill rotWithShape="1">
              <a:gsLst>
                <a:gs pos="0">
                  <a:schemeClr val="tx1"/>
                </a:gs>
                <a:gs pos="100000">
                  <a:schemeClr val="accent1"/>
                </a:gs>
              </a:gsLst>
              <a:lin ang="2700000" scaled="1"/>
              <a:tileRect/>
            </a:gradFill>
            <a:ln w="9525">
              <a:noFill/>
            </a:ln>
            <a:effectLst>
              <a:prstShdw prst="shdw17" dist="17961" dir="2699999">
                <a:srgbClr val="009999"/>
              </a:prstShdw>
            </a:effectLst>
          </p:spPr>
          <p:txBody>
            <a:bodyPr/>
            <a:lstStyle/>
            <a:p>
              <a:endParaRPr lang="zh-CN" altLang="en-US" dirty="0">
                <a:latin typeface="Times New Roman" panose="02020603050405020304" pitchFamily="18" charset="0"/>
              </a:endParaRPr>
            </a:p>
          </p:txBody>
        </p:sp>
        <p:sp>
          <p:nvSpPr>
            <p:cNvPr id="166" name="文本框 38920"/>
            <p:cNvSpPr txBox="1"/>
            <p:nvPr/>
          </p:nvSpPr>
          <p:spPr>
            <a:xfrm>
              <a:off x="2695" y="3116"/>
              <a:ext cx="536" cy="314"/>
            </a:xfrm>
            <a:prstGeom prst="rect">
              <a:avLst/>
            </a:prstGeom>
            <a:noFill/>
            <a:ln w="9525">
              <a:noFill/>
            </a:ln>
          </p:spPr>
          <p:txBody>
            <a:bodyPr/>
            <a:lstStyle/>
            <a:p>
              <a:pPr algn="just" eaLnBrk="0" hangingPunct="0"/>
              <a:r>
                <a:rPr lang="zh-CN" altLang="en-US" sz="2000" dirty="0">
                  <a:solidFill>
                    <a:schemeClr val="bg2"/>
                  </a:solidFill>
                  <a:latin typeface="Times New Roman" panose="02020603050405020304" pitchFamily="18" charset="0"/>
                </a:rPr>
                <a:t>冗余</a:t>
              </a:r>
              <a:endParaRPr lang="zh-CN" altLang="en-US" sz="2000" dirty="0">
                <a:solidFill>
                  <a:schemeClr val="bg2"/>
                </a:solidFill>
                <a:latin typeface="Times New Roman" panose="02020603050405020304" pitchFamily="18" charset="0"/>
              </a:endParaRPr>
            </a:p>
          </p:txBody>
        </p:sp>
        <p:sp>
          <p:nvSpPr>
            <p:cNvPr id="167" name="文本框 38922"/>
            <p:cNvSpPr txBox="1"/>
            <p:nvPr/>
          </p:nvSpPr>
          <p:spPr>
            <a:xfrm>
              <a:off x="3338" y="2154"/>
              <a:ext cx="321" cy="1147"/>
            </a:xfrm>
            <a:prstGeom prst="rect">
              <a:avLst/>
            </a:prstGeom>
            <a:noFill/>
            <a:ln w="9525">
              <a:noFill/>
            </a:ln>
          </p:spPr>
          <p:txBody>
            <a:bodyPr vert="eaVert"/>
            <a:lstStyle/>
            <a:p>
              <a:pPr algn="just" eaLnBrk="0" hangingPunct="0"/>
              <a:r>
                <a:rPr lang="zh-CN" altLang="en-US" dirty="0">
                  <a:solidFill>
                    <a:schemeClr val="bg2"/>
                  </a:solidFill>
                  <a:latin typeface="Times New Roman" panose="02020603050405020304" pitchFamily="18" charset="0"/>
                </a:rPr>
                <a:t>加固、作战保密</a:t>
              </a:r>
              <a:endParaRPr lang="zh-CN" altLang="en-US" dirty="0">
                <a:solidFill>
                  <a:schemeClr val="bg2"/>
                </a:solidFill>
                <a:latin typeface="Times New Roman" panose="02020603050405020304" pitchFamily="18" charset="0"/>
              </a:endParaRPr>
            </a:p>
          </p:txBody>
        </p:sp>
        <p:sp>
          <p:nvSpPr>
            <p:cNvPr id="168" name="文本框 38921"/>
            <p:cNvSpPr txBox="1"/>
            <p:nvPr/>
          </p:nvSpPr>
          <p:spPr>
            <a:xfrm>
              <a:off x="2160" y="2160"/>
              <a:ext cx="321" cy="1147"/>
            </a:xfrm>
            <a:prstGeom prst="rect">
              <a:avLst/>
            </a:prstGeom>
            <a:noFill/>
            <a:ln w="9525">
              <a:noFill/>
            </a:ln>
          </p:spPr>
          <p:txBody>
            <a:bodyPr vert="eaVert"/>
            <a:lstStyle/>
            <a:p>
              <a:pPr algn="just" eaLnBrk="0" hangingPunct="0"/>
              <a:r>
                <a:rPr lang="zh-CN" altLang="en-US" dirty="0">
                  <a:solidFill>
                    <a:schemeClr val="bg2"/>
                  </a:solidFill>
                  <a:latin typeface="Times New Roman" panose="02020603050405020304" pitchFamily="18" charset="0"/>
                </a:rPr>
                <a:t>保护、物理安全</a:t>
              </a:r>
              <a:endParaRPr lang="zh-CN" altLang="en-US" dirty="0">
                <a:solidFill>
                  <a:schemeClr val="bg2"/>
                </a:solidFill>
                <a:latin typeface="Times New Roman" panose="02020603050405020304" pitchFamily="18" charset="0"/>
              </a:endParaRPr>
            </a:p>
          </p:txBody>
        </p:sp>
        <p:sp>
          <p:nvSpPr>
            <p:cNvPr id="169" name="文本框 38923"/>
            <p:cNvSpPr txBox="1"/>
            <p:nvPr/>
          </p:nvSpPr>
          <p:spPr>
            <a:xfrm>
              <a:off x="2481" y="1752"/>
              <a:ext cx="807" cy="313"/>
            </a:xfrm>
            <a:prstGeom prst="rect">
              <a:avLst/>
            </a:prstGeom>
            <a:noFill/>
            <a:ln w="9525">
              <a:noFill/>
            </a:ln>
          </p:spPr>
          <p:txBody>
            <a:bodyPr/>
            <a:lstStyle/>
            <a:p>
              <a:pPr algn="just" eaLnBrk="0" hangingPunct="0"/>
              <a:r>
                <a:rPr lang="zh-CN" altLang="en-US" sz="2000" dirty="0">
                  <a:solidFill>
                    <a:schemeClr val="bg2"/>
                  </a:solidFill>
                  <a:latin typeface="Times New Roman" panose="02020603050405020304" pitchFamily="18" charset="0"/>
                </a:rPr>
                <a:t>防御行动</a:t>
              </a:r>
              <a:endParaRPr lang="zh-CN" altLang="en-US" sz="2000" dirty="0">
                <a:solidFill>
                  <a:schemeClr val="bg2"/>
                </a:solidFill>
                <a:latin typeface="Times New Roman" panose="02020603050405020304" pitchFamily="18" charset="0"/>
              </a:endParaRPr>
            </a:p>
          </p:txBody>
        </p:sp>
        <p:sp>
          <p:nvSpPr>
            <p:cNvPr id="170" name="右箭头 38924"/>
            <p:cNvSpPr/>
            <p:nvPr/>
          </p:nvSpPr>
          <p:spPr>
            <a:xfrm>
              <a:off x="3701" y="2363"/>
              <a:ext cx="857" cy="522"/>
            </a:xfrm>
            <a:prstGeom prst="rightArrow">
              <a:avLst>
                <a:gd name="adj1" fmla="val 50000"/>
                <a:gd name="adj2" fmla="val 41036"/>
              </a:avLst>
            </a:prstGeom>
            <a:gradFill rotWithShape="1">
              <a:gsLst>
                <a:gs pos="0">
                  <a:schemeClr val="tx1"/>
                </a:gs>
                <a:gs pos="100000">
                  <a:schemeClr val="accent1"/>
                </a:gs>
              </a:gsLst>
              <a:lin ang="2700000" scaled="1"/>
              <a:tileRect/>
            </a:gradFill>
            <a:ln w="9525">
              <a:noFill/>
            </a:ln>
            <a:effectLst>
              <a:prstShdw prst="shdw17" dist="17961" dir="2699999">
                <a:srgbClr val="009999"/>
              </a:prstShdw>
            </a:effectLst>
          </p:spPr>
          <p:txBody>
            <a:bodyPr/>
            <a:lstStyle/>
            <a:p>
              <a:pPr algn="just" eaLnBrk="0" hangingPunct="0"/>
              <a:r>
                <a:rPr lang="zh-CN" altLang="en-US" dirty="0">
                  <a:solidFill>
                    <a:schemeClr val="bg2"/>
                  </a:solidFill>
                  <a:latin typeface="Times New Roman" panose="02020603050405020304" pitchFamily="18" charset="0"/>
                </a:rPr>
                <a:t>其他行动</a:t>
              </a:r>
              <a:endParaRPr lang="zh-CN" altLang="en-US" dirty="0">
                <a:solidFill>
                  <a:schemeClr val="bg2"/>
                </a:solidFill>
                <a:latin typeface="Times New Roman" panose="02020603050405020304" pitchFamily="18" charset="0"/>
              </a:endParaRPr>
            </a:p>
          </p:txBody>
        </p:sp>
        <p:sp>
          <p:nvSpPr>
            <p:cNvPr id="171" name="左箭头 38925"/>
            <p:cNvSpPr/>
            <p:nvPr/>
          </p:nvSpPr>
          <p:spPr>
            <a:xfrm>
              <a:off x="1196" y="2363"/>
              <a:ext cx="964" cy="522"/>
            </a:xfrm>
            <a:prstGeom prst="leftArrow">
              <a:avLst>
                <a:gd name="adj1" fmla="val 50000"/>
                <a:gd name="adj2" fmla="val 46160"/>
              </a:avLst>
            </a:prstGeom>
            <a:gradFill rotWithShape="1">
              <a:gsLst>
                <a:gs pos="0">
                  <a:schemeClr val="tx1"/>
                </a:gs>
                <a:gs pos="100000">
                  <a:schemeClr val="accent1"/>
                </a:gs>
              </a:gsLst>
              <a:lin ang="2700000" scaled="1"/>
              <a:tileRect/>
            </a:gradFill>
            <a:ln w="9525">
              <a:noFill/>
            </a:ln>
            <a:effectLst>
              <a:prstShdw prst="shdw17" dist="17961" dir="2699999">
                <a:srgbClr val="009999"/>
              </a:prstShdw>
            </a:effectLst>
          </p:spPr>
          <p:txBody>
            <a:bodyPr/>
            <a:lstStyle/>
            <a:p>
              <a:pPr algn="just" eaLnBrk="0" hangingPunct="0"/>
              <a:r>
                <a:rPr lang="zh-CN" altLang="en-US" dirty="0">
                  <a:solidFill>
                    <a:schemeClr val="bg2"/>
                  </a:solidFill>
                  <a:latin typeface="Times New Roman" panose="02020603050405020304" pitchFamily="18" charset="0"/>
                </a:rPr>
                <a:t>进攻性行动</a:t>
              </a:r>
              <a:endParaRPr lang="zh-CN" altLang="en-US" dirty="0">
                <a:solidFill>
                  <a:schemeClr val="bg2"/>
                </a:solidFill>
                <a:latin typeface="Times New Roman" panose="02020603050405020304" pitchFamily="18" charset="0"/>
              </a:endParaRPr>
            </a:p>
          </p:txBody>
        </p:sp>
        <p:sp>
          <p:nvSpPr>
            <p:cNvPr id="172" name="右箭头 38926"/>
            <p:cNvSpPr/>
            <p:nvPr/>
          </p:nvSpPr>
          <p:spPr>
            <a:xfrm>
              <a:off x="1303" y="1632"/>
              <a:ext cx="857" cy="522"/>
            </a:xfrm>
            <a:prstGeom prst="rightArrow">
              <a:avLst>
                <a:gd name="adj1" fmla="val 50000"/>
                <a:gd name="adj2" fmla="val 41036"/>
              </a:avLst>
            </a:prstGeom>
            <a:gradFill rotWithShape="1">
              <a:gsLst>
                <a:gs pos="0">
                  <a:schemeClr val="tx1"/>
                </a:gs>
                <a:gs pos="100000">
                  <a:schemeClr val="accent1"/>
                </a:gs>
              </a:gsLst>
              <a:lin ang="2700000" scaled="1"/>
              <a:tileRect/>
            </a:gradFill>
            <a:ln w="9525">
              <a:noFill/>
            </a:ln>
            <a:effectLst>
              <a:prstShdw prst="shdw17" dist="17961" dir="2699999">
                <a:srgbClr val="009999"/>
              </a:prstShdw>
            </a:effectLst>
          </p:spPr>
          <p:txBody>
            <a:bodyPr/>
            <a:lstStyle/>
            <a:p>
              <a:pPr algn="just" eaLnBrk="0" hangingPunct="0"/>
              <a:r>
                <a:rPr lang="zh-CN" altLang="en-US" dirty="0">
                  <a:solidFill>
                    <a:schemeClr val="bg2"/>
                  </a:solidFill>
                  <a:latin typeface="Times New Roman" panose="02020603050405020304" pitchFamily="18" charset="0"/>
                </a:rPr>
                <a:t>敌方攻击</a:t>
              </a:r>
              <a:endParaRPr lang="zh-CN" altLang="en-US" dirty="0">
                <a:solidFill>
                  <a:schemeClr val="bg2"/>
                </a:solidFill>
                <a:latin typeface="Times New Roman" panose="02020603050405020304" pitchFamily="18" charset="0"/>
              </a:endParaRPr>
            </a:p>
          </p:txBody>
        </p:sp>
        <p:sp>
          <p:nvSpPr>
            <p:cNvPr id="173" name="右箭头 38927"/>
            <p:cNvSpPr/>
            <p:nvPr/>
          </p:nvSpPr>
          <p:spPr>
            <a:xfrm>
              <a:off x="1303" y="2990"/>
              <a:ext cx="857" cy="522"/>
            </a:xfrm>
            <a:prstGeom prst="rightArrow">
              <a:avLst>
                <a:gd name="adj1" fmla="val 50000"/>
                <a:gd name="adj2" fmla="val 41036"/>
              </a:avLst>
            </a:prstGeom>
            <a:gradFill rotWithShape="1">
              <a:gsLst>
                <a:gs pos="0">
                  <a:schemeClr val="tx1"/>
                </a:gs>
                <a:gs pos="100000">
                  <a:schemeClr val="accent1"/>
                </a:gs>
              </a:gsLst>
              <a:lin ang="2700000" scaled="1"/>
              <a:tileRect/>
            </a:gradFill>
            <a:ln w="9525">
              <a:noFill/>
            </a:ln>
            <a:effectLst>
              <a:prstShdw prst="shdw17" dist="17961" dir="2699999">
                <a:srgbClr val="009999"/>
              </a:prstShdw>
            </a:effectLst>
          </p:spPr>
          <p:txBody>
            <a:bodyPr/>
            <a:lstStyle/>
            <a:p>
              <a:pPr algn="just" eaLnBrk="0" hangingPunct="0"/>
              <a:r>
                <a:rPr lang="zh-CN" altLang="en-US" dirty="0">
                  <a:solidFill>
                    <a:schemeClr val="bg2"/>
                  </a:solidFill>
                  <a:latin typeface="Times New Roman" panose="02020603050405020304" pitchFamily="18" charset="0"/>
                </a:rPr>
                <a:t>敌方攻击</a:t>
              </a:r>
              <a:endParaRPr lang="zh-CN" altLang="en-US" dirty="0">
                <a:solidFill>
                  <a:schemeClr val="bg2"/>
                </a:solidFill>
                <a:latin typeface="Times New Roman" panose="02020603050405020304" pitchFamily="18" charset="0"/>
              </a:endParaRPr>
            </a:p>
          </p:txBody>
        </p:sp>
        <p:sp>
          <p:nvSpPr>
            <p:cNvPr id="174" name="椭圆 38919"/>
            <p:cNvSpPr/>
            <p:nvPr/>
          </p:nvSpPr>
          <p:spPr>
            <a:xfrm>
              <a:off x="2481" y="2154"/>
              <a:ext cx="857" cy="940"/>
            </a:xfrm>
            <a:prstGeom prst="ellipse">
              <a:avLst/>
            </a:prstGeom>
            <a:gradFill rotWithShape="1">
              <a:gsLst>
                <a:gs pos="0">
                  <a:schemeClr val="tx1"/>
                </a:gs>
                <a:gs pos="100000">
                  <a:schemeClr val="accent1"/>
                </a:gs>
              </a:gsLst>
              <a:lin ang="2700000" scaled="1"/>
              <a:tileRect/>
            </a:gradFill>
            <a:ln w="9525" cap="flat" cmpd="sng">
              <a:solidFill>
                <a:srgbClr val="FF6600"/>
              </a:solidFill>
              <a:prstDash val="solid"/>
              <a:headEnd type="none" w="med" len="med"/>
              <a:tailEnd type="none" w="med" len="med"/>
            </a:ln>
            <a:effectLst>
              <a:prstShdw prst="shdw17" dist="17961" dir="2699999">
                <a:srgbClr val="993D00"/>
              </a:prstShdw>
            </a:effectLst>
          </p:spPr>
          <p:txBody>
            <a:bodyPr/>
            <a:lstStyle/>
            <a:p>
              <a:pPr algn="just" eaLnBrk="0" hangingPunct="0"/>
              <a:r>
                <a:rPr lang="zh-CN" altLang="en-US" sz="2000" dirty="0">
                  <a:solidFill>
                    <a:schemeClr val="bg2"/>
                  </a:solidFill>
                  <a:latin typeface="Times New Roman" panose="02020603050405020304" pitchFamily="18" charset="0"/>
                </a:rPr>
                <a:t>某国信息系统</a:t>
              </a:r>
              <a:endParaRPr lang="zh-CN" altLang="en-US" sz="2000" dirty="0">
                <a:solidFill>
                  <a:schemeClr val="bg2"/>
                </a:solidFill>
                <a:latin typeface="Times New Roman" panose="02020603050405020304" pitchFamily="18" charset="0"/>
              </a:endParaRPr>
            </a:p>
            <a:p>
              <a:pPr algn="just" eaLnBrk="0" hangingPunct="0"/>
              <a:endParaRPr lang="zh-CN" altLang="en-US" sz="2000" dirty="0">
                <a:solidFill>
                  <a:schemeClr val="bg2"/>
                </a:solidFill>
                <a:latin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36865"/>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49155" name="文本占位符 36866"/>
          <p:cNvSpPr>
            <a:spLocks noGrp="1"/>
          </p:cNvSpPr>
          <p:nvPr>
            <p:ph idx="1"/>
          </p:nvPr>
        </p:nvSpPr>
        <p:spPr>
          <a:xfrm>
            <a:off x="2208213" y="1537438"/>
            <a:ext cx="7772400" cy="4826000"/>
          </a:xfrm>
        </p:spPr>
        <p:txBody>
          <a:bodyPr vert="horz" wrap="square" lIns="91440" tIns="45720" rIns="91440" bIns="45720" rtlCol="0" anchor="t">
            <a:noAutofit/>
          </a:bodyPr>
          <a:lstStyle/>
          <a:p>
            <a:pPr eaLnBrk="1" hangingPunct="1">
              <a:buFont typeface="Wingdings" panose="05000000000000000000" pitchFamily="2" charset="2"/>
              <a:buChar char="u"/>
            </a:pPr>
            <a:r>
              <a:rPr lang="zh-CN" altLang="en-US" sz="2400" dirty="0" smtClean="0">
                <a:solidFill>
                  <a:schemeClr val="folHlink"/>
                </a:solidFill>
                <a:latin typeface="宋体" panose="02010600030101010101" pitchFamily="2" charset="-122"/>
              </a:rPr>
              <a:t>保护</a:t>
            </a:r>
            <a:r>
              <a:rPr lang="zh-CN" altLang="en-US" sz="2400" dirty="0">
                <a:latin typeface="宋体" panose="02010600030101010101" pitchFamily="2" charset="-122"/>
              </a:rPr>
              <a:t>是指保护自己信息系统安全的各种措施；</a:t>
            </a:r>
            <a:endParaRPr lang="zh-CN" altLang="en-US" sz="2400" dirty="0">
              <a:latin typeface="宋体" panose="02010600030101010101" pitchFamily="2" charset="-122"/>
            </a:endParaRPr>
          </a:p>
          <a:p>
            <a:pPr eaLnBrk="1" hangingPunct="1">
              <a:buFont typeface="Wingdings" panose="05000000000000000000" pitchFamily="2" charset="2"/>
              <a:buChar char="u"/>
            </a:pPr>
            <a:r>
              <a:rPr lang="zh-CN" altLang="en-US" sz="2400" dirty="0">
                <a:solidFill>
                  <a:schemeClr val="folHlink"/>
                </a:solidFill>
                <a:latin typeface="宋体" panose="02010600030101010101" pitchFamily="2" charset="-122"/>
              </a:rPr>
              <a:t>加固</a:t>
            </a:r>
            <a:r>
              <a:rPr lang="zh-CN" altLang="en-US" sz="2400" dirty="0">
                <a:latin typeface="宋体" panose="02010600030101010101" pitchFamily="2" charset="-122"/>
              </a:rPr>
              <a:t>是指加固信息系统，增强其抗攻击能力；</a:t>
            </a:r>
            <a:endParaRPr lang="zh-CN" altLang="en-US" sz="2400" dirty="0">
              <a:latin typeface="宋体" panose="02010600030101010101" pitchFamily="2" charset="-122"/>
            </a:endParaRPr>
          </a:p>
          <a:p>
            <a:pPr eaLnBrk="1" hangingPunct="1">
              <a:buFont typeface="Wingdings" panose="05000000000000000000" pitchFamily="2" charset="2"/>
              <a:buChar char="u"/>
            </a:pPr>
            <a:r>
              <a:rPr lang="zh-CN" altLang="en-US" sz="2400" dirty="0">
                <a:solidFill>
                  <a:schemeClr val="folHlink"/>
                </a:solidFill>
                <a:latin typeface="宋体" panose="02010600030101010101" pitchFamily="2" charset="-122"/>
              </a:rPr>
              <a:t>作战保密</a:t>
            </a:r>
            <a:r>
              <a:rPr lang="zh-CN" altLang="en-US" sz="2400" dirty="0">
                <a:latin typeface="宋体" panose="02010600030101010101" pitchFamily="2" charset="-122"/>
              </a:rPr>
              <a:t>是采取作战保密措施，防止敏感信息的泄露；</a:t>
            </a:r>
            <a:endParaRPr lang="zh-CN" altLang="en-US" sz="2400" dirty="0">
              <a:latin typeface="宋体" panose="02010600030101010101" pitchFamily="2" charset="-122"/>
            </a:endParaRPr>
          </a:p>
          <a:p>
            <a:pPr eaLnBrk="1" hangingPunct="1">
              <a:buFont typeface="Wingdings" panose="05000000000000000000" pitchFamily="2" charset="2"/>
              <a:buChar char="u"/>
            </a:pPr>
            <a:r>
              <a:rPr lang="zh-CN" altLang="en-US" sz="2400" dirty="0">
                <a:solidFill>
                  <a:schemeClr val="folHlink"/>
                </a:solidFill>
                <a:latin typeface="宋体" panose="02010600030101010101" pitchFamily="2" charset="-122"/>
              </a:rPr>
              <a:t>冗余</a:t>
            </a:r>
            <a:r>
              <a:rPr lang="zh-CN" altLang="en-US" sz="2400" dirty="0">
                <a:latin typeface="宋体" panose="02010600030101010101" pitchFamily="2" charset="-122"/>
              </a:rPr>
              <a:t>是对信息系统进行冗余设计与配置，也包括对信息进行备份；</a:t>
            </a:r>
            <a:endParaRPr lang="zh-CN" altLang="en-US" sz="2400" dirty="0">
              <a:latin typeface="宋体" panose="02010600030101010101" pitchFamily="2" charset="-122"/>
            </a:endParaRPr>
          </a:p>
          <a:p>
            <a:pPr eaLnBrk="1" hangingPunct="1">
              <a:buFont typeface="Wingdings" panose="05000000000000000000" pitchFamily="2" charset="2"/>
              <a:buChar char="u"/>
            </a:pPr>
            <a:r>
              <a:rPr lang="zh-CN" altLang="en-US" sz="2400" dirty="0">
                <a:solidFill>
                  <a:schemeClr val="folHlink"/>
                </a:solidFill>
                <a:latin typeface="宋体" panose="02010600030101010101" pitchFamily="2" charset="-122"/>
              </a:rPr>
              <a:t>物理安全</a:t>
            </a:r>
            <a:r>
              <a:rPr lang="zh-CN" altLang="en-US" sz="2400" dirty="0">
                <a:latin typeface="宋体" panose="02010600030101010101" pitchFamily="2" charset="-122"/>
              </a:rPr>
              <a:t>是采取一些物理措施保护硬件设施的安全，增强系统的可靠性和抗毁性。</a:t>
            </a:r>
            <a:r>
              <a:rPr lang="zh-CN" altLang="en-US" sz="2400" dirty="0"/>
              <a:t> </a:t>
            </a:r>
            <a:endParaRPr lang="zh-CN" altLang="en-US" sz="2400" dirty="0"/>
          </a:p>
        </p:txBody>
      </p:sp>
      <p:grpSp>
        <p:nvGrpSpPr>
          <p:cNvPr id="5" name="组合 4"/>
          <p:cNvGrpSpPr/>
          <p:nvPr/>
        </p:nvGrpSpPr>
        <p:grpSpPr>
          <a:xfrm>
            <a:off x="4137616" y="459020"/>
            <a:ext cx="3934698" cy="791052"/>
            <a:chOff x="824071" y="1564267"/>
            <a:chExt cx="3934698" cy="791052"/>
          </a:xfrm>
        </p:grpSpPr>
        <p:sp>
          <p:nvSpPr>
            <p:cNvPr id="6" name="矩形: 圆角 9"/>
            <p:cNvSpPr/>
            <p:nvPr/>
          </p:nvSpPr>
          <p:spPr>
            <a:xfrm>
              <a:off x="824071" y="1740416"/>
              <a:ext cx="383838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01522" y="1828091"/>
              <a:ext cx="3057247" cy="480131"/>
            </a:xfrm>
            <a:prstGeom prst="rect">
              <a:avLst/>
            </a:prstGeom>
          </p:spPr>
          <p:txBody>
            <a:bodyPr wrap="none">
              <a:spAutoFit/>
            </a:bodyPr>
            <a:lstStyle/>
            <a:p>
              <a:pPr>
                <a:lnSpc>
                  <a:spcPct val="90000"/>
                </a:lnSpc>
              </a:pPr>
              <a:r>
                <a:rPr lang="zh-CN" altLang="en-US" sz="2800" dirty="0">
                  <a:solidFill>
                    <a:schemeClr val="bg1"/>
                  </a:solidFill>
                  <a:latin typeface="+mj-ea"/>
                </a:rPr>
                <a:t>防御</a:t>
              </a:r>
              <a:r>
                <a:rPr lang="zh-CN" altLang="en-US" sz="2800" dirty="0" smtClean="0">
                  <a:solidFill>
                    <a:schemeClr val="bg1"/>
                  </a:solidFill>
                  <a:latin typeface="+mj-ea"/>
                </a:rPr>
                <a:t>性</a:t>
              </a:r>
              <a:r>
                <a:rPr lang="zh-CN" altLang="en-US" sz="2800" dirty="0">
                  <a:solidFill>
                    <a:schemeClr val="bg1"/>
                  </a:solidFill>
                  <a:latin typeface="+mj-ea"/>
                </a:rPr>
                <a:t>行动包括：</a:t>
              </a:r>
              <a:endParaRPr lang="zh-CN" altLang="en-US" sz="2800" dirty="0">
                <a:solidFill>
                  <a:schemeClr val="bg1"/>
                </a:solidFill>
                <a:latin typeface="+mj-ea"/>
                <a:ea typeface="+mj-ea"/>
              </a:endParaRPr>
            </a:p>
          </p:txBody>
        </p:sp>
        <p:pic>
          <p:nvPicPr>
            <p:cNvPr id="8" name="图片 7"/>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文本占位符 37890"/>
          <p:cNvSpPr>
            <a:spLocks noGrp="1"/>
          </p:cNvSpPr>
          <p:nvPr>
            <p:ph idx="1"/>
          </p:nvPr>
        </p:nvSpPr>
        <p:spPr>
          <a:xfrm>
            <a:off x="1519518" y="1484314"/>
            <a:ext cx="9170894" cy="5184775"/>
          </a:xfrm>
        </p:spPr>
        <p:txBody>
          <a:bodyPr vert="horz" wrap="square" lIns="91440" tIns="45720" rIns="91440" bIns="45720" rtlCol="0" anchor="t">
            <a:noAutofit/>
          </a:bodyPr>
          <a:lstStyle/>
          <a:p>
            <a:pPr eaLnBrk="1" hangingPunct="1">
              <a:lnSpc>
                <a:spcPct val="90000"/>
              </a:lnSpc>
              <a:buClr>
                <a:srgbClr val="CCFFCC"/>
              </a:buClr>
              <a:buFont typeface="Wingdings" panose="05000000000000000000" pitchFamily="2" charset="2"/>
              <a:buChar char="u"/>
            </a:pPr>
            <a:r>
              <a:rPr lang="zh-CN" altLang="en-US" sz="2400" dirty="0">
                <a:latin typeface="宋体" panose="02010600030101010101" pitchFamily="2" charset="-122"/>
              </a:rPr>
              <a:t>摧毁对方信息系统或造成敌人的信息系统饱和，超出其工作能力；</a:t>
            </a:r>
            <a:endParaRPr lang="zh-CN" altLang="en-US" sz="2400" dirty="0">
              <a:latin typeface="宋体" panose="02010600030101010101" pitchFamily="2" charset="-122"/>
            </a:endParaRPr>
          </a:p>
          <a:p>
            <a:pPr eaLnBrk="1" hangingPunct="1">
              <a:lnSpc>
                <a:spcPct val="90000"/>
              </a:lnSpc>
              <a:buClr>
                <a:srgbClr val="CCFFCC"/>
              </a:buClr>
              <a:buFont typeface="Wingdings" panose="05000000000000000000" pitchFamily="2" charset="2"/>
              <a:buChar char="u"/>
            </a:pPr>
            <a:r>
              <a:rPr lang="zh-CN" altLang="en-US" sz="2400" dirty="0">
                <a:latin typeface="宋体" panose="02010600030101010101" pitchFamily="2" charset="-122"/>
              </a:rPr>
              <a:t>利用对方信息系统中的资源；</a:t>
            </a:r>
            <a:endParaRPr lang="zh-CN" altLang="en-US" sz="2400" dirty="0">
              <a:latin typeface="宋体" panose="02010600030101010101" pitchFamily="2" charset="-122"/>
            </a:endParaRPr>
          </a:p>
          <a:p>
            <a:pPr eaLnBrk="1" hangingPunct="1">
              <a:lnSpc>
                <a:spcPct val="90000"/>
              </a:lnSpc>
              <a:buClr>
                <a:srgbClr val="CCFFCC"/>
              </a:buClr>
              <a:buFont typeface="Wingdings" panose="05000000000000000000" pitchFamily="2" charset="2"/>
              <a:buChar char="u"/>
            </a:pPr>
            <a:r>
              <a:rPr lang="zh-CN" altLang="en-US" sz="2400" dirty="0">
                <a:latin typeface="宋体" panose="02010600030101010101" pitchFamily="2" charset="-122"/>
              </a:rPr>
              <a:t>修改、弄假对方信息系统中的信息，破坏其信息完整性；</a:t>
            </a:r>
            <a:endParaRPr lang="zh-CN" altLang="en-US" sz="2400" dirty="0">
              <a:latin typeface="宋体" panose="02010600030101010101" pitchFamily="2" charset="-122"/>
            </a:endParaRPr>
          </a:p>
          <a:p>
            <a:pPr eaLnBrk="1" hangingPunct="1">
              <a:lnSpc>
                <a:spcPct val="90000"/>
              </a:lnSpc>
              <a:buClr>
                <a:srgbClr val="CCFFCC"/>
              </a:buClr>
              <a:buFont typeface="Wingdings" panose="05000000000000000000" pitchFamily="2" charset="2"/>
              <a:buChar char="u"/>
            </a:pPr>
            <a:r>
              <a:rPr lang="zh-CN" altLang="en-US" sz="2400" dirty="0">
                <a:latin typeface="宋体" panose="02010600030101010101" pitchFamily="2" charset="-122"/>
              </a:rPr>
              <a:t>用信息来震慑、恫吓</a:t>
            </a:r>
            <a:r>
              <a:rPr lang="zh-CN" altLang="en-US" sz="1200" dirty="0">
                <a:latin typeface="宋体" panose="02010600030101010101" pitchFamily="2" charset="-122"/>
              </a:rPr>
              <a:t>（音：动贺）</a:t>
            </a:r>
            <a:r>
              <a:rPr lang="zh-CN" altLang="en-US" sz="2400" dirty="0">
                <a:latin typeface="宋体" panose="02010600030101010101" pitchFamily="2" charset="-122"/>
              </a:rPr>
              <a:t>对手，进行心理战；</a:t>
            </a:r>
            <a:endParaRPr lang="zh-CN" altLang="en-US" sz="2400" dirty="0">
              <a:latin typeface="宋体" panose="02010600030101010101" pitchFamily="2" charset="-122"/>
            </a:endParaRPr>
          </a:p>
          <a:p>
            <a:pPr eaLnBrk="1" hangingPunct="1">
              <a:lnSpc>
                <a:spcPct val="90000"/>
              </a:lnSpc>
              <a:buClr>
                <a:srgbClr val="CCFFCC"/>
              </a:buClr>
              <a:buFont typeface="Wingdings" panose="05000000000000000000" pitchFamily="2" charset="2"/>
              <a:buChar char="u"/>
            </a:pPr>
            <a:r>
              <a:rPr lang="zh-CN" altLang="en-US" sz="2400" dirty="0">
                <a:latin typeface="宋体" panose="02010600030101010101" pitchFamily="2" charset="-122"/>
              </a:rPr>
              <a:t>有意向对方提供或泄露一些假信息，增加对手误判的机会；</a:t>
            </a:r>
            <a:endParaRPr lang="zh-CN" altLang="en-US" sz="2400" dirty="0">
              <a:latin typeface="宋体" panose="02010600030101010101" pitchFamily="2" charset="-122"/>
            </a:endParaRPr>
          </a:p>
          <a:p>
            <a:pPr eaLnBrk="1" hangingPunct="1">
              <a:lnSpc>
                <a:spcPct val="90000"/>
              </a:lnSpc>
              <a:buClr>
                <a:srgbClr val="CCFFCC"/>
              </a:buClr>
              <a:buFont typeface="Wingdings" panose="05000000000000000000" pitchFamily="2" charset="2"/>
              <a:buChar char="u"/>
            </a:pPr>
            <a:r>
              <a:rPr lang="zh-CN" altLang="en-US" sz="2400" dirty="0">
                <a:latin typeface="宋体" panose="02010600030101010101" pitchFamily="2" charset="-122"/>
              </a:rPr>
              <a:t>瘫痪对方的各种信息能力（如获取、传输、处理、利用等）；</a:t>
            </a:r>
            <a:endParaRPr lang="zh-CN" altLang="en-US" sz="2400" dirty="0">
              <a:latin typeface="宋体" panose="02010600030101010101" pitchFamily="2" charset="-122"/>
            </a:endParaRPr>
          </a:p>
          <a:p>
            <a:pPr eaLnBrk="1" hangingPunct="1">
              <a:lnSpc>
                <a:spcPct val="90000"/>
              </a:lnSpc>
              <a:buClr>
                <a:srgbClr val="CCFFCC"/>
              </a:buClr>
              <a:buFont typeface="Wingdings" panose="05000000000000000000" pitchFamily="2" charset="2"/>
              <a:buChar char="u"/>
            </a:pPr>
            <a:r>
              <a:rPr lang="zh-CN" altLang="en-US" sz="2400" dirty="0">
                <a:latin typeface="宋体" panose="02010600030101010101" pitchFamily="2" charset="-122"/>
              </a:rPr>
              <a:t>干扰对方的传感器；</a:t>
            </a:r>
            <a:endParaRPr lang="zh-CN" altLang="en-US" sz="2400" dirty="0">
              <a:latin typeface="宋体" panose="02010600030101010101" pitchFamily="2" charset="-122"/>
            </a:endParaRPr>
          </a:p>
          <a:p>
            <a:pPr eaLnBrk="1" hangingPunct="1">
              <a:lnSpc>
                <a:spcPct val="90000"/>
              </a:lnSpc>
              <a:buClr>
                <a:srgbClr val="CCFFCC"/>
              </a:buClr>
              <a:buFont typeface="Wingdings" panose="05000000000000000000" pitchFamily="2" charset="2"/>
              <a:buChar char="u"/>
            </a:pPr>
            <a:r>
              <a:rPr lang="zh-CN" altLang="en-US" sz="2400" dirty="0">
                <a:latin typeface="宋体" panose="02010600030101010101" pitchFamily="2" charset="-122"/>
              </a:rPr>
              <a:t>胁迫对方利用不完整的信息，影响他们的各种行动。</a:t>
            </a:r>
            <a:r>
              <a:rPr lang="zh-CN" altLang="en-US" sz="2400" dirty="0"/>
              <a:t> </a:t>
            </a:r>
            <a:endParaRPr lang="zh-CN" altLang="en-US" sz="2400" dirty="0"/>
          </a:p>
        </p:txBody>
      </p:sp>
      <p:grpSp>
        <p:nvGrpSpPr>
          <p:cNvPr id="4" name="组合 3"/>
          <p:cNvGrpSpPr/>
          <p:nvPr/>
        </p:nvGrpSpPr>
        <p:grpSpPr>
          <a:xfrm>
            <a:off x="4137616" y="459020"/>
            <a:ext cx="3934698" cy="791052"/>
            <a:chOff x="824071" y="1564267"/>
            <a:chExt cx="3934698" cy="791052"/>
          </a:xfrm>
        </p:grpSpPr>
        <p:sp>
          <p:nvSpPr>
            <p:cNvPr id="5" name="矩形: 圆角 9"/>
            <p:cNvSpPr/>
            <p:nvPr/>
          </p:nvSpPr>
          <p:spPr>
            <a:xfrm>
              <a:off x="824071" y="1740416"/>
              <a:ext cx="383838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057247" cy="480131"/>
            </a:xfrm>
            <a:prstGeom prst="rect">
              <a:avLst/>
            </a:prstGeom>
          </p:spPr>
          <p:txBody>
            <a:bodyPr wrap="none">
              <a:spAutoFit/>
            </a:bodyPr>
            <a:lstStyle/>
            <a:p>
              <a:pPr>
                <a:lnSpc>
                  <a:spcPct val="90000"/>
                </a:lnSpc>
              </a:pPr>
              <a:r>
                <a:rPr lang="zh-CN" altLang="en-US" sz="2800" dirty="0">
                  <a:solidFill>
                    <a:schemeClr val="bg1"/>
                  </a:solidFill>
                  <a:latin typeface="+mj-ea"/>
                </a:rPr>
                <a:t>进攻性行动包括：</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文本占位符 39938"/>
          <p:cNvSpPr>
            <a:spLocks noGrp="1"/>
          </p:cNvSpPr>
          <p:nvPr>
            <p:ph idx="1"/>
          </p:nvPr>
        </p:nvSpPr>
        <p:spPr>
          <a:xfrm>
            <a:off x="1021975" y="1748118"/>
            <a:ext cx="10098743" cy="4723707"/>
          </a:xfrm>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solidFill>
                  <a:schemeClr val="folHlink"/>
                </a:solidFill>
                <a:latin typeface="宋体" panose="02010600030101010101" pitchFamily="2" charset="-122"/>
              </a:rPr>
              <a:t>其他</a:t>
            </a:r>
            <a:r>
              <a:rPr lang="zh-CN" altLang="en-US" sz="2400" dirty="0">
                <a:solidFill>
                  <a:schemeClr val="folHlink"/>
                </a:solidFill>
                <a:latin typeface="宋体" panose="02010600030101010101" pitchFamily="2" charset="-122"/>
              </a:rPr>
              <a:t>行动</a:t>
            </a:r>
            <a:r>
              <a:rPr lang="zh-CN" altLang="en-US" sz="2400" dirty="0">
                <a:latin typeface="宋体" panose="02010600030101010101" pitchFamily="2" charset="-122"/>
              </a:rPr>
              <a:t>是指利用信息对某些目标施加影响。例如，利用救灾或人道主义救援等和平行动，改善在受灾国和世界人民心中的形象，达到军事上的影响与利益。例如，日本政府以人道主义援助为由，</a:t>
            </a:r>
            <a:r>
              <a:rPr lang="zh-CN" altLang="en-US" sz="2400" dirty="0">
                <a:solidFill>
                  <a:srgbClr val="0070C0"/>
                </a:solidFill>
                <a:latin typeface="宋体" panose="02010600030101010101" pitchFamily="2" charset="-122"/>
              </a:rPr>
              <a:t>派遣自卫队去伊拉克</a:t>
            </a:r>
            <a:r>
              <a:rPr lang="zh-CN" altLang="en-US" sz="2400" dirty="0">
                <a:latin typeface="宋体" panose="02010600030101010101" pitchFamily="2" charset="-122"/>
              </a:rPr>
              <a:t>就是属于此类行动，既可以突破自卫队的活动范围约束，获得军事上的好处，也希望改变日本旧军队在世界人民心中的恶劣印象；</a:t>
            </a:r>
            <a:r>
              <a:rPr lang="zh-CN" altLang="en-US" sz="2400" dirty="0"/>
              <a:t> </a:t>
            </a:r>
            <a:endParaRPr lang="zh-CN" altLang="en-US" sz="2400" dirty="0"/>
          </a:p>
        </p:txBody>
      </p:sp>
      <p:grpSp>
        <p:nvGrpSpPr>
          <p:cNvPr id="4" name="组合 3"/>
          <p:cNvGrpSpPr/>
          <p:nvPr/>
        </p:nvGrpSpPr>
        <p:grpSpPr>
          <a:xfrm>
            <a:off x="4706890" y="435269"/>
            <a:ext cx="2857479" cy="791052"/>
            <a:chOff x="824072" y="1564267"/>
            <a:chExt cx="2857479" cy="791052"/>
          </a:xfrm>
        </p:grpSpPr>
        <p:sp>
          <p:nvSpPr>
            <p:cNvPr id="5" name="矩形: 圆角 9"/>
            <p:cNvSpPr/>
            <p:nvPr/>
          </p:nvSpPr>
          <p:spPr>
            <a:xfrm>
              <a:off x="824072" y="1740956"/>
              <a:ext cx="272891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1980029" cy="480131"/>
            </a:xfrm>
            <a:prstGeom prst="rect">
              <a:avLst/>
            </a:prstGeom>
          </p:spPr>
          <p:txBody>
            <a:bodyPr wrap="none">
              <a:spAutoFit/>
            </a:bodyPr>
            <a:lstStyle/>
            <a:p>
              <a:pPr>
                <a:lnSpc>
                  <a:spcPct val="90000"/>
                </a:lnSpc>
              </a:pPr>
              <a:r>
                <a:rPr lang="zh-CN" altLang="en-US" sz="2800" dirty="0">
                  <a:solidFill>
                    <a:schemeClr val="bg1"/>
                  </a:solidFill>
                  <a:latin typeface="+mj-ea"/>
                </a:rPr>
                <a:t>其他</a:t>
              </a:r>
              <a:r>
                <a:rPr lang="zh-CN" altLang="en-US" sz="2800" dirty="0" smtClean="0">
                  <a:solidFill>
                    <a:schemeClr val="bg1"/>
                  </a:solidFill>
                  <a:latin typeface="+mj-ea"/>
                </a:rPr>
                <a:t>行动：</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文本占位符 40962"/>
          <p:cNvSpPr>
            <a:spLocks noGrp="1"/>
          </p:cNvSpPr>
          <p:nvPr>
            <p:ph idx="1"/>
          </p:nvPr>
        </p:nvSpPr>
        <p:spPr>
          <a:xfrm>
            <a:off x="1411941" y="1990165"/>
            <a:ext cx="9439835" cy="4495107"/>
          </a:xfrm>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在</a:t>
            </a:r>
            <a:r>
              <a:rPr lang="en-US" altLang="zh-CN" sz="2400" dirty="0">
                <a:latin typeface="宋体" panose="02010600030101010101" pitchFamily="2" charset="-122"/>
              </a:rPr>
              <a:t>2004</a:t>
            </a:r>
            <a:r>
              <a:rPr lang="zh-CN" altLang="en-US" sz="2400" dirty="0">
                <a:latin typeface="宋体" panose="02010600030101010101" pitchFamily="2" charset="-122"/>
              </a:rPr>
              <a:t>年年底发生的</a:t>
            </a:r>
            <a:r>
              <a:rPr lang="zh-CN" altLang="en-US" sz="2400" dirty="0">
                <a:solidFill>
                  <a:srgbClr val="0070C0"/>
                </a:solidFill>
                <a:latin typeface="宋体" panose="02010600030101010101" pitchFamily="2" charset="-122"/>
              </a:rPr>
              <a:t>印度洋海啸</a:t>
            </a:r>
            <a:r>
              <a:rPr lang="zh-CN" altLang="en-US" sz="2400" dirty="0">
                <a:latin typeface="宋体" panose="02010600030101010101" pitchFamily="2" charset="-122"/>
              </a:rPr>
              <a:t>大灾难中，美军派航母舰队去救援印尼灾区难民，也是为了改善美军在世界上尤其是穆斯林世界中的形象，并获得军事上的影响与利益，但此举也引起了印尼政府的担心，他们公开要求外国救灾军队离开的越早越好。 </a:t>
            </a:r>
            <a:endParaRPr lang="zh-CN" altLang="en-US" sz="2400" dirty="0">
              <a:latin typeface="宋体" panose="02010600030101010101" pitchFamily="2" charset="-122"/>
            </a:endParaRPr>
          </a:p>
        </p:txBody>
      </p:sp>
      <p:grpSp>
        <p:nvGrpSpPr>
          <p:cNvPr id="4" name="组合 3"/>
          <p:cNvGrpSpPr/>
          <p:nvPr/>
        </p:nvGrpSpPr>
        <p:grpSpPr>
          <a:xfrm>
            <a:off x="4344045" y="459019"/>
            <a:ext cx="3575626" cy="791052"/>
            <a:chOff x="824071" y="1564267"/>
            <a:chExt cx="3575626" cy="791052"/>
          </a:xfrm>
        </p:grpSpPr>
        <p:sp>
          <p:nvSpPr>
            <p:cNvPr id="5" name="矩形: 圆角 9"/>
            <p:cNvSpPr/>
            <p:nvPr/>
          </p:nvSpPr>
          <p:spPr>
            <a:xfrm>
              <a:off x="824071" y="1740416"/>
              <a:ext cx="3575625"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698175" cy="480131"/>
            </a:xfrm>
            <a:prstGeom prst="rect">
              <a:avLst/>
            </a:prstGeom>
          </p:spPr>
          <p:txBody>
            <a:bodyPr wrap="none">
              <a:spAutoFit/>
            </a:bodyPr>
            <a:lstStyle/>
            <a:p>
              <a:pPr>
                <a:lnSpc>
                  <a:spcPct val="90000"/>
                </a:lnSpc>
              </a:pPr>
              <a:r>
                <a:rPr lang="zh-CN" altLang="en-US" sz="2800" dirty="0">
                  <a:solidFill>
                    <a:schemeClr val="bg1"/>
                  </a:solidFill>
                  <a:latin typeface="+mj-ea"/>
                </a:rPr>
                <a:t>其他行动（续）</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41985"/>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53251" name="文本占位符 41986"/>
          <p:cNvSpPr>
            <a:spLocks noGrp="1"/>
          </p:cNvSpPr>
          <p:nvPr>
            <p:ph idx="1"/>
          </p:nvPr>
        </p:nvSpPr>
        <p:spPr>
          <a:xfrm>
            <a:off x="1246909" y="1470866"/>
            <a:ext cx="9785268" cy="4611687"/>
          </a:xfrm>
        </p:spPr>
        <p:txBody>
          <a:bodyPr vert="horz" wrap="square" lIns="91440" tIns="45720" rIns="91440" bIns="45720" rtlCol="0" anchor="t">
            <a:noAutofit/>
          </a:bodyPr>
          <a:lstStyle/>
          <a:p>
            <a:pPr algn="just" eaLnBrk="1" hangingPunct="1">
              <a:lnSpc>
                <a:spcPct val="150000"/>
              </a:lnSpc>
              <a:buNone/>
            </a:pPr>
            <a:r>
              <a:rPr lang="en-US" altLang="zh-CN" sz="2400" dirty="0">
                <a:latin typeface="宋体" panose="02010600030101010101" pitchFamily="2" charset="-122"/>
              </a:rPr>
              <a:t>     </a:t>
            </a:r>
            <a:r>
              <a:rPr lang="zh-CN" altLang="en-US" sz="2400" dirty="0" smtClean="0">
                <a:latin typeface="宋体" panose="02010600030101010101" pitchFamily="2" charset="-122"/>
              </a:rPr>
              <a:t>进攻型</a:t>
            </a:r>
            <a:r>
              <a:rPr lang="zh-CN" altLang="en-US" sz="2400" dirty="0">
                <a:latin typeface="宋体" panose="02010600030101010101" pitchFamily="2" charset="-122"/>
              </a:rPr>
              <a:t>信息对抗和防御型信息对抗都需要通过双方的</a:t>
            </a:r>
            <a:r>
              <a:rPr lang="en-US" altLang="zh-CN" sz="2400" dirty="0">
                <a:solidFill>
                  <a:schemeClr val="folHlink"/>
                </a:solidFill>
              </a:rPr>
              <a:t>C</a:t>
            </a:r>
            <a:r>
              <a:rPr lang="en-US" altLang="zh-CN" sz="2400" baseline="30000" dirty="0">
                <a:solidFill>
                  <a:schemeClr val="folHlink"/>
                </a:solidFill>
              </a:rPr>
              <a:t>4</a:t>
            </a:r>
            <a:r>
              <a:rPr lang="en-US" altLang="zh-CN" sz="2400" dirty="0">
                <a:solidFill>
                  <a:schemeClr val="folHlink"/>
                </a:solidFill>
              </a:rPr>
              <a:t>ISR</a:t>
            </a:r>
            <a:r>
              <a:rPr lang="zh-CN" altLang="en-US" sz="2400" dirty="0">
                <a:solidFill>
                  <a:schemeClr val="folHlink"/>
                </a:solidFill>
                <a:latin typeface="宋体" panose="02010600030101010101" pitchFamily="2" charset="-122"/>
              </a:rPr>
              <a:t>（指挥自动化系统）</a:t>
            </a:r>
            <a:r>
              <a:rPr lang="zh-CN" altLang="en-US" sz="2400" dirty="0">
                <a:latin typeface="宋体" panose="02010600030101010101" pitchFamily="2" charset="-122"/>
              </a:rPr>
              <a:t>进行，在战场上，双方的</a:t>
            </a:r>
            <a:r>
              <a:rPr lang="en-US" altLang="zh-CN" sz="2400" dirty="0"/>
              <a:t>C</a:t>
            </a:r>
            <a:r>
              <a:rPr lang="en-US" altLang="zh-CN" sz="2400" baseline="30000" dirty="0"/>
              <a:t>4</a:t>
            </a:r>
            <a:r>
              <a:rPr lang="en-US" altLang="zh-CN" sz="2400" dirty="0"/>
              <a:t>ISR</a:t>
            </a:r>
            <a:r>
              <a:rPr lang="zh-CN" altLang="en-US" sz="2400" dirty="0">
                <a:latin typeface="宋体" panose="02010600030101010101" pitchFamily="2" charset="-122"/>
              </a:rPr>
              <a:t>通过无线信道交连，一方通过攻击手段影响对方系统的正常运行，甚至被瘫痪，而另一方则通过信息防御手段尽量保持自己系统的正常运行。因此，</a:t>
            </a:r>
            <a:r>
              <a:rPr lang="en-US" altLang="zh-CN" sz="2400" dirty="0"/>
              <a:t>C</a:t>
            </a:r>
            <a:r>
              <a:rPr lang="en-US" altLang="zh-CN" sz="2400" baseline="30000" dirty="0"/>
              <a:t>4</a:t>
            </a:r>
            <a:r>
              <a:rPr lang="en-US" altLang="zh-CN" sz="2400" dirty="0"/>
              <a:t>ISR</a:t>
            </a:r>
            <a:r>
              <a:rPr lang="zh-CN" altLang="en-US" sz="2400" dirty="0">
                <a:latin typeface="宋体" panose="02010600030101010101" pitchFamily="2" charset="-122"/>
              </a:rPr>
              <a:t>系统对攻防两类信息对抗都非常重要，是信息对抗能力的不可或缺的因素与组成部分</a:t>
            </a:r>
            <a:r>
              <a:rPr lang="zh-CN" altLang="en-US" dirty="0">
                <a:latin typeface="宋体" panose="02010600030101010101" pitchFamily="2" charset="-122"/>
              </a:rPr>
              <a:t>。</a:t>
            </a:r>
            <a:r>
              <a:rPr lang="zh-CN" altLang="en-US" dirty="0"/>
              <a:t> </a:t>
            </a:r>
            <a:endParaRPr lang="zh-CN" altLang="en-US" dirty="0"/>
          </a:p>
        </p:txBody>
      </p:sp>
      <p:grpSp>
        <p:nvGrpSpPr>
          <p:cNvPr id="4" name="组合 3"/>
          <p:cNvGrpSpPr/>
          <p:nvPr/>
        </p:nvGrpSpPr>
        <p:grpSpPr>
          <a:xfrm>
            <a:off x="4489497" y="661070"/>
            <a:ext cx="2728912" cy="614363"/>
            <a:chOff x="824072" y="1740416"/>
            <a:chExt cx="2728912" cy="614363"/>
          </a:xfrm>
        </p:grpSpPr>
        <p:sp>
          <p:nvSpPr>
            <p:cNvPr id="5" name="矩形: 圆角 9"/>
            <p:cNvSpPr/>
            <p:nvPr/>
          </p:nvSpPr>
          <p:spPr>
            <a:xfrm>
              <a:off x="824072" y="1740416"/>
              <a:ext cx="272891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613691" y="1839023"/>
              <a:ext cx="1083951" cy="480131"/>
            </a:xfrm>
            <a:prstGeom prst="rect">
              <a:avLst/>
            </a:prstGeom>
          </p:spPr>
          <p:txBody>
            <a:bodyPr wrap="none">
              <a:spAutoFit/>
            </a:bodyPr>
            <a:lstStyle/>
            <a:p>
              <a:pPr>
                <a:lnSpc>
                  <a:spcPct val="90000"/>
                </a:lnSpc>
              </a:pPr>
              <a:r>
                <a:rPr lang="en-US" altLang="zh-CN" sz="2800" dirty="0" smtClean="0">
                  <a:solidFill>
                    <a:schemeClr val="bg1"/>
                  </a:solidFill>
                  <a:latin typeface="+mj-ea"/>
                  <a:ea typeface="+mj-ea"/>
                </a:rPr>
                <a:t>C</a:t>
              </a:r>
              <a:r>
                <a:rPr lang="en-US" altLang="zh-CN" sz="2800" baseline="30000" dirty="0" smtClean="0">
                  <a:solidFill>
                    <a:schemeClr val="bg1"/>
                  </a:solidFill>
                  <a:latin typeface="+mj-ea"/>
                  <a:ea typeface="+mj-ea"/>
                </a:rPr>
                <a:t>4</a:t>
              </a:r>
              <a:r>
                <a:rPr lang="en-US" altLang="zh-CN" sz="2800" dirty="0" smtClean="0">
                  <a:solidFill>
                    <a:schemeClr val="bg1"/>
                  </a:solidFill>
                  <a:latin typeface="+mj-ea"/>
                  <a:ea typeface="+mj-ea"/>
                </a:rPr>
                <a:t>ISR</a:t>
              </a:r>
              <a:endParaRPr lang="zh-CN" altLang="en-US" sz="2800" dirty="0">
                <a:solidFill>
                  <a:schemeClr val="bg1"/>
                </a:solidFill>
                <a:latin typeface="+mj-ea"/>
                <a:ea typeface="+mj-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45057"/>
          <p:cNvSpPr>
            <a:spLocks noGrp="1"/>
          </p:cNvSpPr>
          <p:nvPr>
            <p:ph type="title"/>
          </p:nvPr>
        </p:nvSpPr>
        <p:spPr>
          <a:xfrm>
            <a:off x="1992313" y="6216650"/>
            <a:ext cx="7772400" cy="381000"/>
          </a:xfrm>
        </p:spPr>
        <p:txBody>
          <a:bodyPr vert="horz" lIns="92075" tIns="46038" rIns="92075" bIns="46038" rtlCol="0" anchor="ctr" anchorCtr="0">
            <a:noAutofit/>
          </a:bodyPr>
          <a:lstStyle/>
          <a:p>
            <a:pPr algn="ctr" fontAlgn="base">
              <a:spcAft>
                <a:spcPct val="0"/>
              </a:spcAft>
              <a:defRPr/>
            </a:pPr>
            <a:r>
              <a:rPr lang="zh-CN" altLang="en-US" sz="2800" b="0" spc="0" dirty="0">
                <a:latin typeface="宋体" panose="02010600030101010101" pitchFamily="2" charset="-122"/>
              </a:rPr>
              <a:t>图</a:t>
            </a:r>
            <a:r>
              <a:rPr lang="en-US" altLang="zh-CN" sz="2800" b="0" spc="0" dirty="0"/>
              <a:t>1-3 </a:t>
            </a:r>
            <a:r>
              <a:rPr lang="zh-CN" altLang="en-US" sz="2800" b="0" spc="0" dirty="0">
                <a:latin typeface="宋体" panose="02010600030101010101" pitchFamily="2" charset="-122"/>
              </a:rPr>
              <a:t>信息对抗的作战模型</a:t>
            </a:r>
            <a:r>
              <a:rPr lang="zh-CN" altLang="en-US" sz="2800" b="0" spc="0" dirty="0"/>
              <a:t> </a:t>
            </a:r>
            <a:endParaRPr lang="zh-CN" altLang="en-US" sz="2800" b="0" spc="0" dirty="0"/>
          </a:p>
        </p:txBody>
      </p:sp>
      <p:grpSp>
        <p:nvGrpSpPr>
          <p:cNvPr id="56323" name="组合 45115"/>
          <p:cNvGrpSpPr/>
          <p:nvPr/>
        </p:nvGrpSpPr>
        <p:grpSpPr>
          <a:xfrm>
            <a:off x="3028950" y="163513"/>
            <a:ext cx="6343650" cy="5867400"/>
            <a:chOff x="948" y="624"/>
            <a:chExt cx="3996" cy="3696"/>
          </a:xfrm>
        </p:grpSpPr>
        <p:sp>
          <p:nvSpPr>
            <p:cNvPr id="56324" name="流程图: 终止 45062"/>
            <p:cNvSpPr/>
            <p:nvPr/>
          </p:nvSpPr>
          <p:spPr>
            <a:xfrm>
              <a:off x="1143" y="624"/>
              <a:ext cx="780" cy="279"/>
            </a:xfrm>
            <a:prstGeom prst="flowChartTerminator">
              <a:avLst/>
            </a:prstGeom>
            <a:solidFill>
              <a:schemeClr val="accent1"/>
            </a:solidFill>
            <a:ln w="9525" cap="flat" cmpd="sng">
              <a:solidFill>
                <a:schemeClr val="tx1"/>
              </a:solidFill>
              <a:prstDash val="solid"/>
              <a:miter/>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战略目的</a:t>
              </a:r>
              <a:endParaRPr lang="zh-CN" altLang="en-US" dirty="0">
                <a:solidFill>
                  <a:schemeClr val="bg2"/>
                </a:solidFill>
                <a:latin typeface="Times New Roman" panose="02020603050405020304" pitchFamily="18" charset="0"/>
              </a:endParaRPr>
            </a:p>
          </p:txBody>
        </p:sp>
        <p:sp>
          <p:nvSpPr>
            <p:cNvPr id="56325" name="流程图: 终止 45063"/>
            <p:cNvSpPr/>
            <p:nvPr/>
          </p:nvSpPr>
          <p:spPr>
            <a:xfrm>
              <a:off x="1533" y="1112"/>
              <a:ext cx="779" cy="279"/>
            </a:xfrm>
            <a:prstGeom prst="flowChartTerminator">
              <a:avLst/>
            </a:prstGeom>
            <a:solidFill>
              <a:schemeClr val="accent1"/>
            </a:solidFill>
            <a:ln w="9525" cap="flat" cmpd="sng">
              <a:solidFill>
                <a:schemeClr val="tx1"/>
              </a:solidFill>
              <a:prstDash val="solid"/>
              <a:miter/>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认知目的</a:t>
              </a:r>
              <a:endParaRPr lang="zh-CN" altLang="en-US" dirty="0">
                <a:solidFill>
                  <a:schemeClr val="bg2"/>
                </a:solidFill>
                <a:latin typeface="Times New Roman" panose="02020603050405020304" pitchFamily="18" charset="0"/>
              </a:endParaRPr>
            </a:p>
          </p:txBody>
        </p:sp>
        <p:sp>
          <p:nvSpPr>
            <p:cNvPr id="56326" name="流程图: 终止 45064"/>
            <p:cNvSpPr/>
            <p:nvPr/>
          </p:nvSpPr>
          <p:spPr>
            <a:xfrm>
              <a:off x="1240" y="1600"/>
              <a:ext cx="1267" cy="279"/>
            </a:xfrm>
            <a:prstGeom prst="flowChartTerminator">
              <a:avLst/>
            </a:prstGeom>
            <a:solidFill>
              <a:schemeClr val="accent1"/>
            </a:solidFill>
            <a:ln w="9525" cap="flat" cmpd="sng">
              <a:solidFill>
                <a:schemeClr val="tx1"/>
              </a:solidFill>
              <a:prstDash val="solid"/>
              <a:miter/>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计划</a:t>
              </a:r>
              <a:endParaRPr lang="zh-CN" altLang="en-US" dirty="0">
                <a:solidFill>
                  <a:schemeClr val="bg2"/>
                </a:solidFill>
                <a:latin typeface="Times New Roman" panose="02020603050405020304" pitchFamily="18" charset="0"/>
              </a:endParaRPr>
            </a:p>
          </p:txBody>
        </p:sp>
        <p:sp>
          <p:nvSpPr>
            <p:cNvPr id="56327" name="流程图: 终止 45065"/>
            <p:cNvSpPr/>
            <p:nvPr/>
          </p:nvSpPr>
          <p:spPr>
            <a:xfrm>
              <a:off x="3774" y="624"/>
              <a:ext cx="780" cy="279"/>
            </a:xfrm>
            <a:prstGeom prst="flowChartTerminator">
              <a:avLst/>
            </a:prstGeom>
            <a:solidFill>
              <a:schemeClr val="accent1"/>
            </a:solidFill>
            <a:ln w="9525" cap="flat" cmpd="sng">
              <a:solidFill>
                <a:schemeClr val="tx1"/>
              </a:solidFill>
              <a:prstDash val="solid"/>
              <a:miter/>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行动</a:t>
              </a:r>
              <a:endParaRPr lang="zh-CN" altLang="en-US" dirty="0">
                <a:solidFill>
                  <a:schemeClr val="bg2"/>
                </a:solidFill>
                <a:latin typeface="Times New Roman" panose="02020603050405020304" pitchFamily="18" charset="0"/>
              </a:endParaRPr>
            </a:p>
          </p:txBody>
        </p:sp>
        <p:sp>
          <p:nvSpPr>
            <p:cNvPr id="56328" name="流程图: 终止 45066"/>
            <p:cNvSpPr/>
            <p:nvPr/>
          </p:nvSpPr>
          <p:spPr>
            <a:xfrm>
              <a:off x="3580" y="1112"/>
              <a:ext cx="779" cy="279"/>
            </a:xfrm>
            <a:prstGeom prst="flowChartTerminator">
              <a:avLst/>
            </a:prstGeom>
            <a:solidFill>
              <a:schemeClr val="accent1"/>
            </a:solidFill>
            <a:ln w="9525" cap="flat" cmpd="sng">
              <a:solidFill>
                <a:schemeClr val="tx1"/>
              </a:solidFill>
              <a:prstDash val="solid"/>
              <a:miter/>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决策</a:t>
              </a:r>
              <a:endParaRPr lang="zh-CN" altLang="en-US" dirty="0">
                <a:solidFill>
                  <a:schemeClr val="bg2"/>
                </a:solidFill>
                <a:latin typeface="Times New Roman" panose="02020603050405020304" pitchFamily="18" charset="0"/>
              </a:endParaRPr>
            </a:p>
          </p:txBody>
        </p:sp>
        <p:sp>
          <p:nvSpPr>
            <p:cNvPr id="56329" name="流程图: 终止 45067"/>
            <p:cNvSpPr/>
            <p:nvPr/>
          </p:nvSpPr>
          <p:spPr>
            <a:xfrm>
              <a:off x="3482" y="1600"/>
              <a:ext cx="780" cy="279"/>
            </a:xfrm>
            <a:prstGeom prst="flowChartTerminator">
              <a:avLst/>
            </a:prstGeom>
            <a:solidFill>
              <a:schemeClr val="accent1"/>
            </a:solidFill>
            <a:ln w="9525" cap="flat" cmpd="sng">
              <a:solidFill>
                <a:schemeClr val="tx1"/>
              </a:solidFill>
              <a:prstDash val="solid"/>
              <a:miter/>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认知</a:t>
              </a:r>
              <a:endParaRPr lang="zh-CN" altLang="en-US" dirty="0">
                <a:solidFill>
                  <a:schemeClr val="bg2"/>
                </a:solidFill>
                <a:latin typeface="Times New Roman" panose="02020603050405020304" pitchFamily="18" charset="0"/>
              </a:endParaRPr>
            </a:p>
          </p:txBody>
        </p:sp>
        <p:grpSp>
          <p:nvGrpSpPr>
            <p:cNvPr id="56330" name="组合 45068"/>
            <p:cNvGrpSpPr/>
            <p:nvPr/>
          </p:nvGrpSpPr>
          <p:grpSpPr>
            <a:xfrm>
              <a:off x="1533" y="2088"/>
              <a:ext cx="585" cy="907"/>
              <a:chOff x="2880" y="4872"/>
              <a:chExt cx="1080" cy="2028"/>
            </a:xfrm>
          </p:grpSpPr>
          <p:sp>
            <p:nvSpPr>
              <p:cNvPr id="56374" name="文本框 45069"/>
              <p:cNvSpPr txBox="1"/>
              <p:nvPr/>
            </p:nvSpPr>
            <p:spPr>
              <a:xfrm>
                <a:off x="2880" y="5340"/>
                <a:ext cx="1080" cy="1092"/>
              </a:xfrm>
              <a:prstGeom prst="rect">
                <a:avLst/>
              </a:prstGeom>
              <a:solidFill>
                <a:schemeClr val="accent1"/>
              </a:solidFill>
              <a:ln w="9525" cap="flat" cmpd="sng">
                <a:solidFill>
                  <a:schemeClr val="tx1"/>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协议栈其他层</a:t>
                </a:r>
                <a:endParaRPr lang="zh-CN" altLang="en-US" dirty="0">
                  <a:solidFill>
                    <a:schemeClr val="bg2"/>
                  </a:solidFill>
                  <a:latin typeface="Times New Roman" panose="02020603050405020304" pitchFamily="18" charset="0"/>
                </a:endParaRPr>
              </a:p>
            </p:txBody>
          </p:sp>
          <p:sp>
            <p:nvSpPr>
              <p:cNvPr id="56375" name="文本框 45070"/>
              <p:cNvSpPr txBox="1"/>
              <p:nvPr/>
            </p:nvSpPr>
            <p:spPr>
              <a:xfrm>
                <a:off x="2880" y="4872"/>
                <a:ext cx="1080" cy="468"/>
              </a:xfrm>
              <a:prstGeom prst="rect">
                <a:avLst/>
              </a:prstGeom>
              <a:solidFill>
                <a:schemeClr val="accent1"/>
              </a:solidFill>
              <a:ln w="9525" cap="flat" cmpd="sng">
                <a:solidFill>
                  <a:schemeClr val="tx1"/>
                </a:solidFill>
                <a:prstDash val="solid"/>
                <a:miter/>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应用层</a:t>
                </a:r>
                <a:endParaRPr lang="zh-CN" altLang="en-US" dirty="0">
                  <a:solidFill>
                    <a:schemeClr val="bg2"/>
                  </a:solidFill>
                  <a:latin typeface="Times New Roman" panose="02020603050405020304" pitchFamily="18" charset="0"/>
                </a:endParaRPr>
              </a:p>
            </p:txBody>
          </p:sp>
          <p:sp>
            <p:nvSpPr>
              <p:cNvPr id="56376" name="文本框 45071"/>
              <p:cNvSpPr txBox="1"/>
              <p:nvPr/>
            </p:nvSpPr>
            <p:spPr>
              <a:xfrm>
                <a:off x="2880" y="6432"/>
                <a:ext cx="1080" cy="468"/>
              </a:xfrm>
              <a:prstGeom prst="rect">
                <a:avLst/>
              </a:prstGeom>
              <a:solidFill>
                <a:schemeClr val="accent1"/>
              </a:solidFill>
              <a:ln w="9525" cap="flat" cmpd="sng">
                <a:solidFill>
                  <a:schemeClr val="tx1"/>
                </a:solidFill>
                <a:prstDash val="solid"/>
                <a:miter/>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链路层</a:t>
                </a:r>
                <a:endParaRPr lang="zh-CN" altLang="en-US" dirty="0">
                  <a:solidFill>
                    <a:schemeClr val="bg2"/>
                  </a:solidFill>
                  <a:latin typeface="Times New Roman" panose="02020603050405020304" pitchFamily="18" charset="0"/>
                </a:endParaRPr>
              </a:p>
            </p:txBody>
          </p:sp>
        </p:grpSp>
        <p:grpSp>
          <p:nvGrpSpPr>
            <p:cNvPr id="56331" name="组合 45072"/>
            <p:cNvGrpSpPr/>
            <p:nvPr/>
          </p:nvGrpSpPr>
          <p:grpSpPr>
            <a:xfrm>
              <a:off x="3580" y="2088"/>
              <a:ext cx="584" cy="907"/>
              <a:chOff x="2880" y="4872"/>
              <a:chExt cx="1080" cy="2028"/>
            </a:xfrm>
          </p:grpSpPr>
          <p:sp>
            <p:nvSpPr>
              <p:cNvPr id="56371" name="文本框 45073"/>
              <p:cNvSpPr txBox="1"/>
              <p:nvPr/>
            </p:nvSpPr>
            <p:spPr>
              <a:xfrm>
                <a:off x="2880" y="5340"/>
                <a:ext cx="1080" cy="1092"/>
              </a:xfrm>
              <a:prstGeom prst="rect">
                <a:avLst/>
              </a:prstGeom>
              <a:solidFill>
                <a:schemeClr val="accent1"/>
              </a:solidFill>
              <a:ln w="9525" cap="flat" cmpd="sng">
                <a:solidFill>
                  <a:schemeClr val="tx1"/>
                </a:solidFill>
                <a:prstDash val="solid"/>
                <a:miter/>
                <a:headEnd type="none" w="med" len="med"/>
                <a:tailEnd type="none" w="med" len="med"/>
              </a:ln>
            </p:spPr>
            <p:txBody>
              <a:bodyPr vert="eaVert"/>
              <a:lstStyle/>
              <a:p>
                <a:pPr algn="ctr" eaLnBrk="0" hangingPunct="0"/>
                <a:r>
                  <a:rPr lang="zh-CN" altLang="en-US" dirty="0">
                    <a:solidFill>
                      <a:schemeClr val="bg2"/>
                    </a:solidFill>
                    <a:latin typeface="Times New Roman" panose="02020603050405020304" pitchFamily="18" charset="0"/>
                  </a:rPr>
                  <a:t>协议栈其他层</a:t>
                </a:r>
                <a:endParaRPr lang="zh-CN" altLang="en-US" dirty="0">
                  <a:solidFill>
                    <a:schemeClr val="bg2"/>
                  </a:solidFill>
                  <a:latin typeface="Times New Roman" panose="02020603050405020304" pitchFamily="18" charset="0"/>
                </a:endParaRPr>
              </a:p>
            </p:txBody>
          </p:sp>
          <p:sp>
            <p:nvSpPr>
              <p:cNvPr id="56372" name="文本框 45074"/>
              <p:cNvSpPr txBox="1"/>
              <p:nvPr/>
            </p:nvSpPr>
            <p:spPr>
              <a:xfrm>
                <a:off x="2880" y="4872"/>
                <a:ext cx="1080" cy="468"/>
              </a:xfrm>
              <a:prstGeom prst="rect">
                <a:avLst/>
              </a:prstGeom>
              <a:solidFill>
                <a:schemeClr val="accent1"/>
              </a:solidFill>
              <a:ln w="9525" cap="flat" cmpd="sng">
                <a:solidFill>
                  <a:schemeClr val="tx1"/>
                </a:solidFill>
                <a:prstDash val="solid"/>
                <a:miter/>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应用层</a:t>
                </a:r>
                <a:endParaRPr lang="zh-CN" altLang="en-US" dirty="0">
                  <a:solidFill>
                    <a:schemeClr val="bg2"/>
                  </a:solidFill>
                  <a:latin typeface="Times New Roman" panose="02020603050405020304" pitchFamily="18" charset="0"/>
                </a:endParaRPr>
              </a:p>
            </p:txBody>
          </p:sp>
          <p:sp>
            <p:nvSpPr>
              <p:cNvPr id="56373" name="文本框 45075"/>
              <p:cNvSpPr txBox="1"/>
              <p:nvPr/>
            </p:nvSpPr>
            <p:spPr>
              <a:xfrm>
                <a:off x="2880" y="6432"/>
                <a:ext cx="1080" cy="468"/>
              </a:xfrm>
              <a:prstGeom prst="rect">
                <a:avLst/>
              </a:prstGeom>
              <a:solidFill>
                <a:schemeClr val="accent1"/>
              </a:solidFill>
              <a:ln w="9525" cap="flat" cmpd="sng">
                <a:solidFill>
                  <a:schemeClr val="tx1"/>
                </a:solidFill>
                <a:prstDash val="solid"/>
                <a:miter/>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链路层</a:t>
                </a:r>
                <a:endParaRPr lang="zh-CN" altLang="en-US" dirty="0">
                  <a:solidFill>
                    <a:schemeClr val="bg2"/>
                  </a:solidFill>
                  <a:latin typeface="Times New Roman" panose="02020603050405020304" pitchFamily="18" charset="0"/>
                </a:endParaRPr>
              </a:p>
            </p:txBody>
          </p:sp>
        </p:grpSp>
        <p:sp>
          <p:nvSpPr>
            <p:cNvPr id="56332" name="直接连接符 45076"/>
            <p:cNvSpPr/>
            <p:nvPr/>
          </p:nvSpPr>
          <p:spPr>
            <a:xfrm>
              <a:off x="2118" y="2228"/>
              <a:ext cx="1462" cy="0"/>
            </a:xfrm>
            <a:prstGeom prst="line">
              <a:avLst/>
            </a:prstGeom>
            <a:ln w="9525" cap="flat" cmpd="sng">
              <a:solidFill>
                <a:schemeClr val="tx1"/>
              </a:solidFill>
              <a:prstDash val="dash"/>
              <a:headEnd type="none" w="med" len="med"/>
              <a:tailEnd type="triangle" w="med" len="med"/>
            </a:ln>
          </p:spPr>
        </p:sp>
        <p:sp>
          <p:nvSpPr>
            <p:cNvPr id="56333" name="直接连接符 45077"/>
            <p:cNvSpPr/>
            <p:nvPr/>
          </p:nvSpPr>
          <p:spPr>
            <a:xfrm>
              <a:off x="2118" y="2577"/>
              <a:ext cx="1462" cy="0"/>
            </a:xfrm>
            <a:prstGeom prst="line">
              <a:avLst/>
            </a:prstGeom>
            <a:ln w="9525" cap="flat" cmpd="sng">
              <a:solidFill>
                <a:schemeClr val="tx1"/>
              </a:solidFill>
              <a:prstDash val="dash"/>
              <a:headEnd type="none" w="med" len="med"/>
              <a:tailEnd type="triangle" w="med" len="med"/>
            </a:ln>
          </p:spPr>
        </p:sp>
        <p:sp>
          <p:nvSpPr>
            <p:cNvPr id="56334" name="直接连接符 45078"/>
            <p:cNvSpPr/>
            <p:nvPr/>
          </p:nvSpPr>
          <p:spPr>
            <a:xfrm>
              <a:off x="2118" y="2856"/>
              <a:ext cx="1462" cy="0"/>
            </a:xfrm>
            <a:prstGeom prst="line">
              <a:avLst/>
            </a:prstGeom>
            <a:ln w="9525" cap="flat" cmpd="sng">
              <a:solidFill>
                <a:schemeClr val="tx1"/>
              </a:solidFill>
              <a:prstDash val="dash"/>
              <a:headEnd type="none" w="med" len="med"/>
              <a:tailEnd type="triangle" w="med" len="med"/>
            </a:ln>
          </p:spPr>
        </p:sp>
        <p:sp>
          <p:nvSpPr>
            <p:cNvPr id="56335" name="直接连接符 45079"/>
            <p:cNvSpPr/>
            <p:nvPr/>
          </p:nvSpPr>
          <p:spPr>
            <a:xfrm>
              <a:off x="948" y="3065"/>
              <a:ext cx="3996" cy="0"/>
            </a:xfrm>
            <a:prstGeom prst="line">
              <a:avLst/>
            </a:prstGeom>
            <a:ln w="28575" cap="flat" cmpd="sng">
              <a:solidFill>
                <a:schemeClr val="tx1"/>
              </a:solidFill>
              <a:prstDash val="sysDot"/>
              <a:headEnd type="none" w="med" len="med"/>
              <a:tailEnd type="none" w="med" len="med"/>
            </a:ln>
          </p:spPr>
        </p:sp>
        <p:sp>
          <p:nvSpPr>
            <p:cNvPr id="56336" name="椭圆 45080"/>
            <p:cNvSpPr/>
            <p:nvPr/>
          </p:nvSpPr>
          <p:spPr>
            <a:xfrm>
              <a:off x="2118" y="3413"/>
              <a:ext cx="1559" cy="349"/>
            </a:xfrm>
            <a:prstGeom prst="ellipse">
              <a:avLst/>
            </a:prstGeom>
            <a:solidFill>
              <a:schemeClr val="accent1"/>
            </a:solidFill>
            <a:ln w="9525" cap="flat" cmpd="sng">
              <a:solidFill>
                <a:schemeClr val="tx1"/>
              </a:solidFill>
              <a:prstDash val="solid"/>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物理网络</a:t>
              </a:r>
              <a:endParaRPr lang="zh-CN" altLang="en-US" dirty="0">
                <a:solidFill>
                  <a:schemeClr val="bg2"/>
                </a:solidFill>
                <a:latin typeface="Times New Roman" panose="02020603050405020304" pitchFamily="18" charset="0"/>
              </a:endParaRPr>
            </a:p>
          </p:txBody>
        </p:sp>
        <p:sp>
          <p:nvSpPr>
            <p:cNvPr id="56337" name="矩形 45081"/>
            <p:cNvSpPr/>
            <p:nvPr/>
          </p:nvSpPr>
          <p:spPr>
            <a:xfrm>
              <a:off x="1630" y="3274"/>
              <a:ext cx="293" cy="209"/>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Times New Roman" panose="02020603050405020304" pitchFamily="18" charset="0"/>
              </a:endParaRPr>
            </a:p>
          </p:txBody>
        </p:sp>
        <p:sp>
          <p:nvSpPr>
            <p:cNvPr id="56338" name="矩形 45082"/>
            <p:cNvSpPr/>
            <p:nvPr/>
          </p:nvSpPr>
          <p:spPr>
            <a:xfrm>
              <a:off x="3774" y="3274"/>
              <a:ext cx="293" cy="209"/>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Times New Roman" panose="02020603050405020304" pitchFamily="18" charset="0"/>
              </a:endParaRPr>
            </a:p>
          </p:txBody>
        </p:sp>
        <p:sp>
          <p:nvSpPr>
            <p:cNvPr id="56339" name="矩形 45083"/>
            <p:cNvSpPr/>
            <p:nvPr/>
          </p:nvSpPr>
          <p:spPr>
            <a:xfrm>
              <a:off x="4262" y="3623"/>
              <a:ext cx="292" cy="209"/>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Times New Roman" panose="02020603050405020304" pitchFamily="18" charset="0"/>
              </a:endParaRPr>
            </a:p>
          </p:txBody>
        </p:sp>
        <p:sp>
          <p:nvSpPr>
            <p:cNvPr id="56340" name="矩形 45084"/>
            <p:cNvSpPr/>
            <p:nvPr/>
          </p:nvSpPr>
          <p:spPr>
            <a:xfrm>
              <a:off x="1630" y="3692"/>
              <a:ext cx="293" cy="21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Times New Roman" panose="02020603050405020304" pitchFamily="18" charset="0"/>
              </a:endParaRPr>
            </a:p>
          </p:txBody>
        </p:sp>
        <p:sp>
          <p:nvSpPr>
            <p:cNvPr id="56341" name="直接连接符 45085"/>
            <p:cNvSpPr/>
            <p:nvPr/>
          </p:nvSpPr>
          <p:spPr>
            <a:xfrm>
              <a:off x="1825" y="2995"/>
              <a:ext cx="0" cy="279"/>
            </a:xfrm>
            <a:prstGeom prst="line">
              <a:avLst/>
            </a:prstGeom>
            <a:ln w="9525" cap="flat" cmpd="sng">
              <a:solidFill>
                <a:schemeClr val="tx1"/>
              </a:solidFill>
              <a:prstDash val="solid"/>
              <a:headEnd type="none" w="med" len="med"/>
              <a:tailEnd type="none" w="med" len="med"/>
            </a:ln>
          </p:spPr>
        </p:sp>
        <p:sp>
          <p:nvSpPr>
            <p:cNvPr id="56342" name="直接连接符 45086"/>
            <p:cNvSpPr/>
            <p:nvPr/>
          </p:nvSpPr>
          <p:spPr>
            <a:xfrm>
              <a:off x="1923" y="3413"/>
              <a:ext cx="292" cy="70"/>
            </a:xfrm>
            <a:prstGeom prst="line">
              <a:avLst/>
            </a:prstGeom>
            <a:ln w="9525" cap="flat" cmpd="sng">
              <a:solidFill>
                <a:schemeClr val="tx1"/>
              </a:solidFill>
              <a:prstDash val="solid"/>
              <a:headEnd type="none" w="med" len="med"/>
              <a:tailEnd type="none" w="med" len="med"/>
            </a:ln>
          </p:spPr>
        </p:sp>
        <p:sp>
          <p:nvSpPr>
            <p:cNvPr id="56343" name="直接连接符 45087"/>
            <p:cNvSpPr/>
            <p:nvPr/>
          </p:nvSpPr>
          <p:spPr>
            <a:xfrm flipV="1">
              <a:off x="1923" y="3692"/>
              <a:ext cx="292" cy="140"/>
            </a:xfrm>
            <a:prstGeom prst="line">
              <a:avLst/>
            </a:prstGeom>
            <a:ln w="9525" cap="flat" cmpd="sng">
              <a:solidFill>
                <a:schemeClr val="tx1"/>
              </a:solidFill>
              <a:prstDash val="solid"/>
              <a:headEnd type="none" w="med" len="med"/>
              <a:tailEnd type="none" w="med" len="med"/>
            </a:ln>
          </p:spPr>
        </p:sp>
        <p:sp>
          <p:nvSpPr>
            <p:cNvPr id="56344" name="直接连接符 45088"/>
            <p:cNvSpPr/>
            <p:nvPr/>
          </p:nvSpPr>
          <p:spPr>
            <a:xfrm flipH="1">
              <a:off x="3677" y="3483"/>
              <a:ext cx="97" cy="70"/>
            </a:xfrm>
            <a:prstGeom prst="line">
              <a:avLst/>
            </a:prstGeom>
            <a:ln w="9525" cap="flat" cmpd="sng">
              <a:solidFill>
                <a:schemeClr val="tx1"/>
              </a:solidFill>
              <a:prstDash val="solid"/>
              <a:headEnd type="none" w="med" len="med"/>
              <a:tailEnd type="none" w="med" len="med"/>
            </a:ln>
          </p:spPr>
        </p:sp>
        <p:sp>
          <p:nvSpPr>
            <p:cNvPr id="56345" name="直接连接符 45089"/>
            <p:cNvSpPr/>
            <p:nvPr/>
          </p:nvSpPr>
          <p:spPr>
            <a:xfrm flipH="1" flipV="1">
              <a:off x="3677" y="3623"/>
              <a:ext cx="585" cy="139"/>
            </a:xfrm>
            <a:prstGeom prst="line">
              <a:avLst/>
            </a:prstGeom>
            <a:ln w="9525" cap="flat" cmpd="sng">
              <a:solidFill>
                <a:schemeClr val="tx1"/>
              </a:solidFill>
              <a:prstDash val="solid"/>
              <a:headEnd type="none" w="med" len="med"/>
              <a:tailEnd type="none" w="med" len="med"/>
            </a:ln>
          </p:spPr>
        </p:sp>
        <p:sp>
          <p:nvSpPr>
            <p:cNvPr id="56346" name="直接连接符 45090"/>
            <p:cNvSpPr/>
            <p:nvPr/>
          </p:nvSpPr>
          <p:spPr>
            <a:xfrm flipV="1">
              <a:off x="3872" y="2995"/>
              <a:ext cx="0" cy="279"/>
            </a:xfrm>
            <a:prstGeom prst="line">
              <a:avLst/>
            </a:prstGeom>
            <a:ln w="9525" cap="flat" cmpd="sng">
              <a:solidFill>
                <a:schemeClr val="tx1"/>
              </a:solidFill>
              <a:prstDash val="solid"/>
              <a:headEnd type="none" w="med" len="med"/>
              <a:tailEnd type="none" w="med" len="med"/>
            </a:ln>
          </p:spPr>
        </p:sp>
        <p:sp>
          <p:nvSpPr>
            <p:cNvPr id="56347" name="流程图: 终止 45091"/>
            <p:cNvSpPr/>
            <p:nvPr/>
          </p:nvSpPr>
          <p:spPr>
            <a:xfrm>
              <a:off x="1338" y="4041"/>
              <a:ext cx="1267" cy="279"/>
            </a:xfrm>
            <a:prstGeom prst="flowChartTerminator">
              <a:avLst/>
            </a:prstGeom>
            <a:solidFill>
              <a:schemeClr val="accent1"/>
            </a:solidFill>
            <a:ln w="9525" cap="flat" cmpd="sng">
              <a:solidFill>
                <a:schemeClr val="tx1"/>
              </a:solidFill>
              <a:prstDash val="solid"/>
              <a:miter/>
              <a:headEnd type="none" w="med" len="med"/>
              <a:tailEnd type="none" w="med" len="med"/>
            </a:ln>
          </p:spPr>
          <p:txBody>
            <a:bodyPr/>
            <a:lstStyle/>
            <a:p>
              <a:pPr algn="just" eaLnBrk="0" hangingPunct="0"/>
              <a:r>
                <a:rPr lang="zh-CN" altLang="en-US" dirty="0">
                  <a:solidFill>
                    <a:schemeClr val="bg2"/>
                  </a:solidFill>
                  <a:latin typeface="Times New Roman" panose="02020603050405020304" pitchFamily="18" charset="0"/>
                </a:rPr>
                <a:t>火力或电磁武器</a:t>
              </a:r>
              <a:endParaRPr lang="zh-CN" altLang="en-US" dirty="0">
                <a:solidFill>
                  <a:schemeClr val="bg2"/>
                </a:solidFill>
                <a:latin typeface="Times New Roman" panose="02020603050405020304" pitchFamily="18" charset="0"/>
              </a:endParaRPr>
            </a:p>
          </p:txBody>
        </p:sp>
        <p:sp>
          <p:nvSpPr>
            <p:cNvPr id="56348" name="直接连接符 45092"/>
            <p:cNvSpPr/>
            <p:nvPr/>
          </p:nvSpPr>
          <p:spPr>
            <a:xfrm>
              <a:off x="1435" y="1879"/>
              <a:ext cx="0" cy="2162"/>
            </a:xfrm>
            <a:prstGeom prst="line">
              <a:avLst/>
            </a:prstGeom>
            <a:ln w="9525" cap="flat" cmpd="sng">
              <a:solidFill>
                <a:schemeClr val="tx1"/>
              </a:solidFill>
              <a:prstDash val="solid"/>
              <a:headEnd type="none" w="med" len="med"/>
              <a:tailEnd type="triangle" w="med" len="med"/>
            </a:ln>
          </p:spPr>
        </p:sp>
        <p:sp>
          <p:nvSpPr>
            <p:cNvPr id="56349" name="矩形 45093"/>
            <p:cNvSpPr/>
            <p:nvPr/>
          </p:nvSpPr>
          <p:spPr>
            <a:xfrm>
              <a:off x="3580" y="3902"/>
              <a:ext cx="292" cy="209"/>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Times New Roman" panose="02020603050405020304" pitchFamily="18" charset="0"/>
              </a:endParaRPr>
            </a:p>
          </p:txBody>
        </p:sp>
        <p:sp>
          <p:nvSpPr>
            <p:cNvPr id="56350" name="矩形 45094"/>
            <p:cNvSpPr/>
            <p:nvPr/>
          </p:nvSpPr>
          <p:spPr>
            <a:xfrm>
              <a:off x="2832" y="3971"/>
              <a:ext cx="480" cy="253"/>
            </a:xfrm>
            <a:prstGeom prst="rect">
              <a:avLst/>
            </a:prstGeom>
            <a:solidFill>
              <a:schemeClr val="accent1"/>
            </a:solidFill>
            <a:ln w="9525" cap="flat" cmpd="sng">
              <a:solidFill>
                <a:schemeClr val="tx1"/>
              </a:solidFill>
              <a:prstDash val="solid"/>
              <a:miter/>
              <a:headEnd type="none" w="med" len="med"/>
              <a:tailEnd type="none" w="med" len="med"/>
            </a:ln>
          </p:spPr>
          <p:txBody>
            <a:bodyPr/>
            <a:lstStyle/>
            <a:p>
              <a:r>
                <a:rPr lang="zh-CN" altLang="en-US" sz="2000" dirty="0">
                  <a:solidFill>
                    <a:schemeClr val="bg2"/>
                  </a:solidFill>
                  <a:latin typeface="Times New Roman" panose="02020603050405020304" pitchFamily="18" charset="0"/>
                </a:rPr>
                <a:t>网站</a:t>
              </a:r>
              <a:endParaRPr lang="zh-CN" altLang="en-US" sz="2000" dirty="0">
                <a:solidFill>
                  <a:schemeClr val="bg2"/>
                </a:solidFill>
                <a:latin typeface="Times New Roman" panose="02020603050405020304" pitchFamily="18" charset="0"/>
              </a:endParaRPr>
            </a:p>
          </p:txBody>
        </p:sp>
        <p:sp>
          <p:nvSpPr>
            <p:cNvPr id="56351" name="任意多边形 45095"/>
            <p:cNvSpPr/>
            <p:nvPr/>
          </p:nvSpPr>
          <p:spPr>
            <a:xfrm>
              <a:off x="4164" y="1937"/>
              <a:ext cx="390" cy="1546"/>
            </a:xfrm>
            <a:custGeom>
              <a:avLst/>
              <a:gdLst>
                <a:gd name="txL" fmla="*/ 0 w 720"/>
                <a:gd name="txT" fmla="*/ 0 h 3458"/>
                <a:gd name="txR" fmla="*/ 720 w 720"/>
                <a:gd name="txB" fmla="*/ 3458 h 3458"/>
              </a:gdLst>
              <a:ahLst/>
              <a:cxnLst>
                <a:cxn ang="0">
                  <a:pos x="0" y="494"/>
                </a:cxn>
                <a:cxn ang="0">
                  <a:pos x="360" y="494"/>
                </a:cxn>
                <a:cxn ang="0">
                  <a:pos x="720" y="3458"/>
                </a:cxn>
              </a:cxnLst>
              <a:rect l="txL" t="txT" r="txR" b="txB"/>
              <a:pathLst>
                <a:path w="720" h="3458">
                  <a:moveTo>
                    <a:pt x="0" y="494"/>
                  </a:moveTo>
                  <a:cubicBezTo>
                    <a:pt x="120" y="247"/>
                    <a:pt x="240" y="0"/>
                    <a:pt x="360" y="494"/>
                  </a:cubicBezTo>
                  <a:cubicBezTo>
                    <a:pt x="480" y="988"/>
                    <a:pt x="660" y="2964"/>
                    <a:pt x="720" y="3458"/>
                  </a:cubicBez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a:p>
          </p:txBody>
        </p:sp>
        <p:sp>
          <p:nvSpPr>
            <p:cNvPr id="56352" name="爆炸形 1 45096"/>
            <p:cNvSpPr/>
            <p:nvPr/>
          </p:nvSpPr>
          <p:spPr>
            <a:xfrm>
              <a:off x="4067" y="3415"/>
              <a:ext cx="585" cy="348"/>
            </a:xfrm>
            <a:prstGeom prst="irregularSeal1">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Times New Roman" panose="02020603050405020304" pitchFamily="18" charset="0"/>
              </a:endParaRPr>
            </a:p>
          </p:txBody>
        </p:sp>
        <p:sp>
          <p:nvSpPr>
            <p:cNvPr id="56353" name="爆炸形 1 45097"/>
            <p:cNvSpPr/>
            <p:nvPr/>
          </p:nvSpPr>
          <p:spPr>
            <a:xfrm>
              <a:off x="3774" y="3902"/>
              <a:ext cx="585" cy="348"/>
            </a:xfrm>
            <a:prstGeom prst="irregularSeal1">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Times New Roman" panose="02020603050405020304" pitchFamily="18" charset="0"/>
              </a:endParaRPr>
            </a:p>
          </p:txBody>
        </p:sp>
        <p:sp>
          <p:nvSpPr>
            <p:cNvPr id="56354" name="直接连接符 45098"/>
            <p:cNvSpPr/>
            <p:nvPr/>
          </p:nvSpPr>
          <p:spPr>
            <a:xfrm>
              <a:off x="3092" y="3762"/>
              <a:ext cx="0" cy="209"/>
            </a:xfrm>
            <a:prstGeom prst="line">
              <a:avLst/>
            </a:prstGeom>
            <a:ln w="9525" cap="flat" cmpd="sng">
              <a:solidFill>
                <a:schemeClr val="tx1"/>
              </a:solidFill>
              <a:prstDash val="solid"/>
              <a:headEnd type="none" w="med" len="med"/>
              <a:tailEnd type="none" w="med" len="med"/>
            </a:ln>
          </p:spPr>
        </p:sp>
        <p:sp>
          <p:nvSpPr>
            <p:cNvPr id="56355" name="直接连接符 45099"/>
            <p:cNvSpPr/>
            <p:nvPr/>
          </p:nvSpPr>
          <p:spPr>
            <a:xfrm>
              <a:off x="3482" y="3692"/>
              <a:ext cx="292" cy="210"/>
            </a:xfrm>
            <a:prstGeom prst="line">
              <a:avLst/>
            </a:prstGeom>
            <a:ln w="9525" cap="flat" cmpd="sng">
              <a:solidFill>
                <a:schemeClr val="tx1"/>
              </a:solidFill>
              <a:prstDash val="solid"/>
              <a:headEnd type="none" w="med" len="med"/>
              <a:tailEnd type="none" w="med" len="med"/>
            </a:ln>
          </p:spPr>
        </p:sp>
        <p:sp>
          <p:nvSpPr>
            <p:cNvPr id="56356" name="直接连接符 45100"/>
            <p:cNvSpPr/>
            <p:nvPr/>
          </p:nvSpPr>
          <p:spPr>
            <a:xfrm>
              <a:off x="1240" y="903"/>
              <a:ext cx="195" cy="697"/>
            </a:xfrm>
            <a:prstGeom prst="line">
              <a:avLst/>
            </a:prstGeom>
            <a:ln w="9525" cap="flat" cmpd="sng">
              <a:solidFill>
                <a:schemeClr val="tx1"/>
              </a:solidFill>
              <a:prstDash val="solid"/>
              <a:headEnd type="none" w="med" len="med"/>
              <a:tailEnd type="triangle" w="med" len="med"/>
            </a:ln>
          </p:spPr>
        </p:sp>
        <p:sp>
          <p:nvSpPr>
            <p:cNvPr id="56357" name="直接连接符 45101"/>
            <p:cNvSpPr/>
            <p:nvPr/>
          </p:nvSpPr>
          <p:spPr>
            <a:xfrm>
              <a:off x="1728" y="903"/>
              <a:ext cx="97" cy="209"/>
            </a:xfrm>
            <a:prstGeom prst="line">
              <a:avLst/>
            </a:prstGeom>
            <a:ln w="9525" cap="flat" cmpd="sng">
              <a:solidFill>
                <a:schemeClr val="tx1"/>
              </a:solidFill>
              <a:prstDash val="solid"/>
              <a:headEnd type="none" w="med" len="med"/>
              <a:tailEnd type="triangle" w="med" len="med"/>
            </a:ln>
          </p:spPr>
        </p:sp>
        <p:sp>
          <p:nvSpPr>
            <p:cNvPr id="56358" name="直接连接符 45102"/>
            <p:cNvSpPr/>
            <p:nvPr/>
          </p:nvSpPr>
          <p:spPr>
            <a:xfrm>
              <a:off x="1923" y="1391"/>
              <a:ext cx="97" cy="209"/>
            </a:xfrm>
            <a:prstGeom prst="line">
              <a:avLst/>
            </a:prstGeom>
            <a:ln w="9525" cap="flat" cmpd="sng">
              <a:solidFill>
                <a:schemeClr val="tx1"/>
              </a:solidFill>
              <a:prstDash val="solid"/>
              <a:headEnd type="none" w="med" len="med"/>
              <a:tailEnd type="triangle" w="med" len="med"/>
            </a:ln>
          </p:spPr>
        </p:sp>
        <p:sp>
          <p:nvSpPr>
            <p:cNvPr id="56359" name="直接连接符 45103"/>
            <p:cNvSpPr/>
            <p:nvPr/>
          </p:nvSpPr>
          <p:spPr>
            <a:xfrm>
              <a:off x="1728" y="1879"/>
              <a:ext cx="97" cy="209"/>
            </a:xfrm>
            <a:prstGeom prst="line">
              <a:avLst/>
            </a:prstGeom>
            <a:ln w="9525" cap="flat" cmpd="sng">
              <a:solidFill>
                <a:schemeClr val="tx1"/>
              </a:solidFill>
              <a:prstDash val="solid"/>
              <a:headEnd type="none" w="med" len="med"/>
              <a:tailEnd type="triangle" w="med" len="med"/>
            </a:ln>
          </p:spPr>
        </p:sp>
        <p:sp>
          <p:nvSpPr>
            <p:cNvPr id="56360" name="直接连接符 45104"/>
            <p:cNvSpPr/>
            <p:nvPr/>
          </p:nvSpPr>
          <p:spPr>
            <a:xfrm flipV="1">
              <a:off x="3774" y="1879"/>
              <a:ext cx="98" cy="209"/>
            </a:xfrm>
            <a:prstGeom prst="line">
              <a:avLst/>
            </a:prstGeom>
            <a:ln w="9525" cap="flat" cmpd="sng">
              <a:solidFill>
                <a:schemeClr val="tx1"/>
              </a:solidFill>
              <a:prstDash val="solid"/>
              <a:headEnd type="none" w="med" len="med"/>
              <a:tailEnd type="triangle" w="med" len="med"/>
            </a:ln>
          </p:spPr>
        </p:sp>
        <p:sp>
          <p:nvSpPr>
            <p:cNvPr id="56361" name="直接连接符 45105"/>
            <p:cNvSpPr/>
            <p:nvPr/>
          </p:nvSpPr>
          <p:spPr>
            <a:xfrm flipV="1">
              <a:off x="3872" y="1391"/>
              <a:ext cx="97" cy="209"/>
            </a:xfrm>
            <a:prstGeom prst="line">
              <a:avLst/>
            </a:prstGeom>
            <a:ln w="9525" cap="flat" cmpd="sng">
              <a:solidFill>
                <a:schemeClr val="tx1"/>
              </a:solidFill>
              <a:prstDash val="solid"/>
              <a:headEnd type="none" w="med" len="med"/>
              <a:tailEnd type="triangle" w="med" len="med"/>
            </a:ln>
          </p:spPr>
        </p:sp>
        <p:sp>
          <p:nvSpPr>
            <p:cNvPr id="56362" name="直接连接符 45106"/>
            <p:cNvSpPr/>
            <p:nvPr/>
          </p:nvSpPr>
          <p:spPr>
            <a:xfrm flipV="1">
              <a:off x="3969" y="903"/>
              <a:ext cx="98" cy="209"/>
            </a:xfrm>
            <a:prstGeom prst="line">
              <a:avLst/>
            </a:prstGeom>
            <a:ln w="9525" cap="flat" cmpd="sng">
              <a:solidFill>
                <a:schemeClr val="tx1"/>
              </a:solidFill>
              <a:prstDash val="solid"/>
              <a:headEnd type="none" w="med" len="med"/>
              <a:tailEnd type="triangle" w="med" len="med"/>
            </a:ln>
          </p:spPr>
        </p:sp>
        <p:sp>
          <p:nvSpPr>
            <p:cNvPr id="56363" name="直接连接符 45107"/>
            <p:cNvSpPr/>
            <p:nvPr/>
          </p:nvSpPr>
          <p:spPr>
            <a:xfrm>
              <a:off x="1923" y="763"/>
              <a:ext cx="1851" cy="0"/>
            </a:xfrm>
            <a:prstGeom prst="line">
              <a:avLst/>
            </a:prstGeom>
            <a:ln w="9525" cap="flat" cmpd="sng">
              <a:solidFill>
                <a:schemeClr val="tx1"/>
              </a:solidFill>
              <a:prstDash val="dash"/>
              <a:headEnd type="none" w="med" len="med"/>
              <a:tailEnd type="triangle" w="med" len="med"/>
            </a:ln>
          </p:spPr>
        </p:sp>
        <p:sp>
          <p:nvSpPr>
            <p:cNvPr id="56364" name="直接连接符 45108"/>
            <p:cNvSpPr/>
            <p:nvPr/>
          </p:nvSpPr>
          <p:spPr>
            <a:xfrm>
              <a:off x="948" y="1949"/>
              <a:ext cx="3996" cy="0"/>
            </a:xfrm>
            <a:prstGeom prst="line">
              <a:avLst/>
            </a:prstGeom>
            <a:ln w="28575" cap="flat" cmpd="sng">
              <a:solidFill>
                <a:schemeClr val="tx1"/>
              </a:solidFill>
              <a:prstDash val="sysDot"/>
              <a:headEnd type="none" w="med" len="med"/>
              <a:tailEnd type="none" w="med" len="med"/>
            </a:ln>
          </p:spPr>
        </p:sp>
        <p:sp>
          <p:nvSpPr>
            <p:cNvPr id="56365" name="直接连接符 45109"/>
            <p:cNvSpPr/>
            <p:nvPr/>
          </p:nvSpPr>
          <p:spPr>
            <a:xfrm>
              <a:off x="2507" y="1740"/>
              <a:ext cx="293" cy="0"/>
            </a:xfrm>
            <a:prstGeom prst="line">
              <a:avLst/>
            </a:prstGeom>
            <a:ln w="9525" cap="flat" cmpd="sng">
              <a:solidFill>
                <a:schemeClr val="tx1"/>
              </a:solidFill>
              <a:prstDash val="dash"/>
              <a:headEnd type="none" w="med" len="med"/>
              <a:tailEnd type="triangle" w="med" len="med"/>
            </a:ln>
          </p:spPr>
        </p:sp>
        <p:sp>
          <p:nvSpPr>
            <p:cNvPr id="56366" name="直接连接符 45110"/>
            <p:cNvSpPr/>
            <p:nvPr/>
          </p:nvSpPr>
          <p:spPr>
            <a:xfrm flipH="1">
              <a:off x="2800" y="1670"/>
              <a:ext cx="195" cy="209"/>
            </a:xfrm>
            <a:prstGeom prst="line">
              <a:avLst/>
            </a:prstGeom>
            <a:ln w="28575" cap="flat" cmpd="sng">
              <a:solidFill>
                <a:schemeClr val="tx1"/>
              </a:solidFill>
              <a:prstDash val="solid"/>
              <a:headEnd type="none" w="med" len="med"/>
              <a:tailEnd type="none" w="med" len="med"/>
            </a:ln>
          </p:spPr>
        </p:sp>
        <p:sp>
          <p:nvSpPr>
            <p:cNvPr id="56367" name="直接连接符 45111"/>
            <p:cNvSpPr/>
            <p:nvPr/>
          </p:nvSpPr>
          <p:spPr>
            <a:xfrm>
              <a:off x="2800" y="1670"/>
              <a:ext cx="195" cy="209"/>
            </a:xfrm>
            <a:prstGeom prst="line">
              <a:avLst/>
            </a:prstGeom>
            <a:ln w="28575" cap="flat" cmpd="sng">
              <a:solidFill>
                <a:schemeClr val="tx1"/>
              </a:solidFill>
              <a:prstDash val="solid"/>
              <a:headEnd type="none" w="med" len="med"/>
              <a:tailEnd type="none" w="med" len="med"/>
            </a:ln>
          </p:spPr>
        </p:sp>
        <p:sp>
          <p:nvSpPr>
            <p:cNvPr id="56368" name="文本框 45112"/>
            <p:cNvSpPr txBox="1"/>
            <p:nvPr/>
          </p:nvSpPr>
          <p:spPr>
            <a:xfrm>
              <a:off x="948" y="1112"/>
              <a:ext cx="292" cy="616"/>
            </a:xfrm>
            <a:prstGeom prst="rect">
              <a:avLst/>
            </a:prstGeom>
            <a:noFill/>
            <a:ln w="9525">
              <a:noFill/>
            </a:ln>
          </p:spPr>
          <p:txBody>
            <a:bodyPr vert="eaVert"/>
            <a:lstStyle/>
            <a:p>
              <a:pPr algn="just" eaLnBrk="0" hangingPunct="0"/>
              <a:r>
                <a:rPr lang="zh-CN" altLang="en-US" b="1" dirty="0">
                  <a:latin typeface="Times New Roman" panose="02020603050405020304" pitchFamily="18" charset="0"/>
                </a:rPr>
                <a:t>认知层</a:t>
              </a:r>
              <a:endParaRPr lang="zh-CN" altLang="en-US" b="1" dirty="0">
                <a:latin typeface="Times New Roman" panose="02020603050405020304" pitchFamily="18" charset="0"/>
              </a:endParaRPr>
            </a:p>
          </p:txBody>
        </p:sp>
        <p:sp>
          <p:nvSpPr>
            <p:cNvPr id="56369" name="文本框 45113"/>
            <p:cNvSpPr txBox="1"/>
            <p:nvPr/>
          </p:nvSpPr>
          <p:spPr>
            <a:xfrm>
              <a:off x="960" y="2112"/>
              <a:ext cx="292" cy="960"/>
            </a:xfrm>
            <a:prstGeom prst="rect">
              <a:avLst/>
            </a:prstGeom>
            <a:noFill/>
            <a:ln w="9525">
              <a:noFill/>
            </a:ln>
          </p:spPr>
          <p:txBody>
            <a:bodyPr vert="eaVert"/>
            <a:lstStyle/>
            <a:p>
              <a:pPr algn="just" eaLnBrk="0" hangingPunct="0"/>
              <a:r>
                <a:rPr lang="zh-CN" altLang="en-US" b="1" dirty="0">
                  <a:latin typeface="Times New Roman" panose="02020603050405020304" pitchFamily="18" charset="0"/>
                </a:rPr>
                <a:t>信息结构层</a:t>
              </a:r>
              <a:endParaRPr lang="zh-CN" altLang="en-US" b="1" dirty="0">
                <a:latin typeface="Times New Roman" panose="02020603050405020304" pitchFamily="18" charset="0"/>
              </a:endParaRPr>
            </a:p>
          </p:txBody>
        </p:sp>
        <p:sp>
          <p:nvSpPr>
            <p:cNvPr id="56370" name="文本框 45114"/>
            <p:cNvSpPr txBox="1"/>
            <p:nvPr/>
          </p:nvSpPr>
          <p:spPr>
            <a:xfrm>
              <a:off x="948" y="3120"/>
              <a:ext cx="292" cy="816"/>
            </a:xfrm>
            <a:prstGeom prst="rect">
              <a:avLst/>
            </a:prstGeom>
            <a:noFill/>
            <a:ln w="9525">
              <a:noFill/>
            </a:ln>
          </p:spPr>
          <p:txBody>
            <a:bodyPr vert="eaVert"/>
            <a:lstStyle/>
            <a:p>
              <a:pPr algn="just" eaLnBrk="0" hangingPunct="0"/>
              <a:r>
                <a:rPr lang="zh-CN" altLang="en-US" b="1" dirty="0">
                  <a:latin typeface="Times New Roman" panose="02020603050405020304" pitchFamily="18" charset="0"/>
                </a:rPr>
                <a:t>物理层</a:t>
              </a:r>
              <a:endParaRPr lang="zh-CN" altLang="en-US" b="1" dirty="0">
                <a:latin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43009"/>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54275" name="文本占位符 43010"/>
          <p:cNvSpPr>
            <a:spLocks noGrp="1"/>
          </p:cNvSpPr>
          <p:nvPr>
            <p:ph idx="1"/>
          </p:nvPr>
        </p:nvSpPr>
        <p:spPr>
          <a:xfrm>
            <a:off x="1092531" y="1694329"/>
            <a:ext cx="10022774" cy="4643026"/>
          </a:xfrm>
        </p:spPr>
        <p:txBody>
          <a:bodyPr vert="horz" wrap="square" lIns="91440" tIns="45720" rIns="91440" bIns="45720" rtlCol="0" anchor="t">
            <a:noAutofit/>
          </a:bodyPr>
          <a:lstStyle/>
          <a:p>
            <a:pPr eaLnBrk="1" hangingPunct="1">
              <a:buNone/>
            </a:pPr>
            <a:r>
              <a:rPr lang="en-US" altLang="zh-CN" sz="2400" dirty="0" smtClean="0">
                <a:latin typeface="宋体" panose="02010600030101010101" pitchFamily="2" charset="-122"/>
              </a:rPr>
              <a:t>     </a:t>
            </a:r>
            <a:r>
              <a:rPr lang="zh-CN" altLang="en-US" sz="2400" dirty="0" smtClean="0">
                <a:latin typeface="宋体" panose="02010600030101010101" pitchFamily="2" charset="-122"/>
              </a:rPr>
              <a:t>图</a:t>
            </a:r>
            <a:r>
              <a:rPr lang="en-US" altLang="zh-CN" sz="2400" dirty="0" smtClean="0"/>
              <a:t>1-3</a:t>
            </a:r>
            <a:r>
              <a:rPr lang="zh-CN" altLang="en-US" sz="2400" dirty="0" smtClean="0">
                <a:latin typeface="宋体" panose="02010600030101010101" pitchFamily="2" charset="-122"/>
              </a:rPr>
              <a:t>是从作战角度描述了信息对抗的作战模型。该图把信息对抗的作战过程划分为三个领域，或称为三个层次：</a:t>
            </a:r>
            <a:r>
              <a:rPr lang="zh-CN" altLang="en-US" sz="2400" dirty="0" smtClean="0">
                <a:solidFill>
                  <a:schemeClr val="folHlink"/>
                </a:solidFill>
                <a:latin typeface="宋体" panose="02010600030101010101" pitchFamily="2" charset="-122"/>
              </a:rPr>
              <a:t>物理空间、计算机空间</a:t>
            </a:r>
            <a:r>
              <a:rPr lang="zh-CN" altLang="en-US" sz="2400" dirty="0" smtClean="0">
                <a:latin typeface="宋体" panose="02010600030101010101" pitchFamily="2" charset="-122"/>
              </a:rPr>
              <a:t>和</a:t>
            </a:r>
            <a:r>
              <a:rPr lang="zh-CN" altLang="en-US" sz="2400" dirty="0" smtClean="0">
                <a:solidFill>
                  <a:schemeClr val="folHlink"/>
                </a:solidFill>
                <a:latin typeface="宋体" panose="02010600030101010101" pitchFamily="2" charset="-122"/>
              </a:rPr>
              <a:t>参战者的认知空间</a:t>
            </a:r>
            <a:r>
              <a:rPr lang="zh-CN" altLang="en-US" sz="2400" dirty="0" smtClean="0">
                <a:latin typeface="宋体" panose="02010600030101010101" pitchFamily="2" charset="-122"/>
              </a:rPr>
              <a:t>。该模型区分了攻击者和目标双方功能的</a:t>
            </a:r>
            <a:r>
              <a:rPr lang="en-US" altLang="zh-CN" sz="2400" dirty="0" smtClean="0"/>
              <a:t>3</a:t>
            </a:r>
            <a:r>
              <a:rPr lang="zh-CN" altLang="en-US" sz="2400" dirty="0" smtClean="0">
                <a:latin typeface="宋体" panose="02010600030101010101" pitchFamily="2" charset="-122"/>
              </a:rPr>
              <a:t>个层次，反映了自下而上的从对攻击者到对目标的影响。</a:t>
            </a:r>
            <a:r>
              <a:rPr lang="zh-CN" altLang="en-US" sz="2400" dirty="0" smtClean="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44033"/>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55299" name="文本占位符 44034"/>
          <p:cNvSpPr>
            <a:spLocks noGrp="1"/>
          </p:cNvSpPr>
          <p:nvPr>
            <p:ph idx="1"/>
          </p:nvPr>
        </p:nvSpPr>
        <p:spPr>
          <a:xfrm>
            <a:off x="1448789" y="1557338"/>
            <a:ext cx="9429007" cy="4538662"/>
          </a:xfrm>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攻击</a:t>
            </a:r>
            <a:r>
              <a:rPr lang="zh-CN" altLang="en-US" sz="2400" dirty="0">
                <a:latin typeface="宋体" panose="02010600030101010101" pitchFamily="2" charset="-122"/>
              </a:rPr>
              <a:t>者通过在各个层次上的攻击活动，达到在</a:t>
            </a:r>
            <a:r>
              <a:rPr lang="zh-CN" altLang="en-US" sz="2400" dirty="0">
                <a:solidFill>
                  <a:schemeClr val="folHlink"/>
                </a:solidFill>
                <a:latin typeface="宋体" panose="02010600030101010101" pitchFamily="2" charset="-122"/>
              </a:rPr>
              <a:t>认知层</a:t>
            </a:r>
            <a:r>
              <a:rPr lang="zh-CN" altLang="en-US" sz="2400" dirty="0">
                <a:latin typeface="宋体" panose="02010600030101010101" pitchFamily="2" charset="-122"/>
              </a:rPr>
              <a:t>上对目标产生影响的目的。信息对抗最高层次的作战对象是决策者、政策制定者、军事指挥员，甚至包括整个国家所有人的认知，希望的结果是左右他们的认知，以致于影响其对战争的决策与行动。</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文本占位符 46082"/>
          <p:cNvSpPr>
            <a:spLocks noGrp="1"/>
          </p:cNvSpPr>
          <p:nvPr>
            <p:ph idx="1"/>
          </p:nvPr>
        </p:nvSpPr>
        <p:spPr>
          <a:xfrm>
            <a:off x="1246909" y="1664136"/>
            <a:ext cx="9844644" cy="3952894"/>
          </a:xfrm>
        </p:spPr>
        <p:txBody>
          <a:bodyPr vert="horz" wrap="square" lIns="91440" tIns="45720" rIns="91440" bIns="45720" rtlCol="0" anchor="t">
            <a:noAutofit/>
          </a:bodyPr>
          <a:lstStyle/>
          <a:p>
            <a:pPr algn="just"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中间</a:t>
            </a:r>
            <a:r>
              <a:rPr lang="zh-CN" altLang="en-US" sz="2400" dirty="0">
                <a:latin typeface="宋体" panose="02010600030101010101" pitchFamily="2" charset="-122"/>
              </a:rPr>
              <a:t>层次是信息结构层，或称为计算机空间层。该层包括信息采集与输入、传输与储存、处理与利用等抽象的信息基础结构，图中利用开放系统互连（</a:t>
            </a:r>
            <a:r>
              <a:rPr lang="en-US" altLang="zh-CN" sz="2400" dirty="0"/>
              <a:t>OSI</a:t>
            </a:r>
            <a:r>
              <a:rPr lang="zh-CN" altLang="en-US" sz="2400" dirty="0">
                <a:latin typeface="宋体" panose="02010600030101010101" pitchFamily="2" charset="-122"/>
              </a:rPr>
              <a:t>）体系结构模型（俗称</a:t>
            </a:r>
            <a:r>
              <a:rPr lang="en-US" altLang="zh-CN" sz="2400" dirty="0"/>
              <a:t>7</a:t>
            </a:r>
            <a:r>
              <a:rPr lang="zh-CN" altLang="en-US" sz="2400" dirty="0">
                <a:latin typeface="宋体" panose="02010600030101010101" pitchFamily="2" charset="-122"/>
              </a:rPr>
              <a:t>层协议栈结构）来描述信息的接收、传输、储存与利用。平常说的恶意软件和利用电脑空间进行攻击就是发生在这个层次中。</a:t>
            </a:r>
            <a:r>
              <a:rPr lang="zh-CN" altLang="en-US" sz="2400" dirty="0"/>
              <a:t> </a:t>
            </a:r>
            <a:endParaRPr lang="zh-CN" altLang="en-US" sz="2400" dirty="0"/>
          </a:p>
        </p:txBody>
      </p:sp>
      <p:grpSp>
        <p:nvGrpSpPr>
          <p:cNvPr id="8" name="组合 7"/>
          <p:cNvGrpSpPr/>
          <p:nvPr/>
        </p:nvGrpSpPr>
        <p:grpSpPr>
          <a:xfrm>
            <a:off x="1398636" y="469288"/>
            <a:ext cx="3934697" cy="791052"/>
            <a:chOff x="824071" y="1564267"/>
            <a:chExt cx="3934697" cy="791052"/>
          </a:xfrm>
        </p:grpSpPr>
        <p:sp>
          <p:nvSpPr>
            <p:cNvPr id="9" name="矩形: 圆角 9"/>
            <p:cNvSpPr/>
            <p:nvPr/>
          </p:nvSpPr>
          <p:spPr>
            <a:xfrm>
              <a:off x="824071" y="1740416"/>
              <a:ext cx="3934697"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093408" y="1831281"/>
              <a:ext cx="1980029" cy="480131"/>
            </a:xfrm>
            <a:prstGeom prst="rect">
              <a:avLst/>
            </a:prstGeom>
          </p:spPr>
          <p:txBody>
            <a:bodyPr wrap="none">
              <a:spAutoFit/>
            </a:bodyPr>
            <a:lstStyle/>
            <a:p>
              <a:pPr>
                <a:lnSpc>
                  <a:spcPct val="90000"/>
                </a:lnSpc>
              </a:pPr>
              <a:r>
                <a:rPr lang="zh-CN" altLang="en-US" sz="2800" dirty="0">
                  <a:solidFill>
                    <a:schemeClr val="bg1"/>
                  </a:solidFill>
                  <a:latin typeface="+mj-ea"/>
                </a:rPr>
                <a:t>信息结构</a:t>
              </a:r>
              <a:r>
                <a:rPr lang="zh-CN" altLang="en-US" sz="2800" dirty="0" smtClean="0">
                  <a:solidFill>
                    <a:schemeClr val="bg1"/>
                  </a:solidFill>
                  <a:latin typeface="+mj-ea"/>
                </a:rPr>
                <a:t>层</a:t>
              </a:r>
              <a:endParaRPr lang="zh-CN" altLang="en-US" sz="2800" dirty="0">
                <a:solidFill>
                  <a:schemeClr val="bg1"/>
                </a:solidFill>
                <a:latin typeface="+mj-ea"/>
                <a:ea typeface="+mj-ea"/>
              </a:endParaRPr>
            </a:p>
          </p:txBody>
        </p:sp>
        <p:pic>
          <p:nvPicPr>
            <p:cNvPr id="11" name="图片 10"/>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文本占位符 47106"/>
          <p:cNvSpPr>
            <a:spLocks noGrp="1"/>
          </p:cNvSpPr>
          <p:nvPr>
            <p:ph idx="1"/>
          </p:nvPr>
        </p:nvSpPr>
        <p:spPr>
          <a:xfrm>
            <a:off x="1246909" y="1743693"/>
            <a:ext cx="9844644" cy="4114800"/>
          </a:xfrm>
        </p:spPr>
        <p:txBody>
          <a:bodyPr vert="horz" wrap="square" lIns="91440" tIns="45720" rIns="91440" bIns="45720" rtlCol="0" anchor="t">
            <a:noAutofit/>
          </a:bodyPr>
          <a:lstStyle/>
          <a:p>
            <a:pPr algn="just" eaLnBrk="1" hangingPunct="1">
              <a:lnSpc>
                <a:spcPts val="3600"/>
              </a:lnSpc>
              <a:buNone/>
            </a:pPr>
            <a:r>
              <a:rPr lang="en-US" altLang="zh-CN" sz="2400" dirty="0">
                <a:latin typeface="宋体" panose="02010600030101010101" pitchFamily="2" charset="-122"/>
              </a:rPr>
              <a:t>     </a:t>
            </a:r>
            <a:r>
              <a:rPr lang="zh-CN" altLang="en-US" sz="2400" dirty="0" smtClean="0">
                <a:latin typeface="宋体" panose="02010600030101010101" pitchFamily="2" charset="-122"/>
              </a:rPr>
              <a:t>这个</a:t>
            </a:r>
            <a:r>
              <a:rPr lang="zh-CN" altLang="en-US" sz="2400" dirty="0">
                <a:latin typeface="宋体" panose="02010600030101010101" pitchFamily="2" charset="-122"/>
              </a:rPr>
              <a:t>层次中包括数据、信息和知识的处理过程和结构，相应的对抗可以影响到系统的功能性行为。需要注意的是，这一层次的应用层可以向上层的人发送信息和知识，影响他们的认知与心理，也可以控制底层的物理域中的目标，如计算机、通信和工业过程。因此，在这个层次中的对抗行为可以在认知层和物理层两层中发生特定的或重叠的双重效果。</a:t>
            </a:r>
            <a:r>
              <a:rPr lang="zh-CN" altLang="en-US" sz="2400" dirty="0"/>
              <a:t> </a:t>
            </a:r>
            <a:endParaRPr lang="zh-CN" altLang="en-US" sz="2400" dirty="0"/>
          </a:p>
        </p:txBody>
      </p:sp>
      <p:grpSp>
        <p:nvGrpSpPr>
          <p:cNvPr id="4" name="组合 3"/>
          <p:cNvGrpSpPr/>
          <p:nvPr/>
        </p:nvGrpSpPr>
        <p:grpSpPr>
          <a:xfrm>
            <a:off x="1398636" y="469288"/>
            <a:ext cx="3934698" cy="791052"/>
            <a:chOff x="824071" y="1564267"/>
            <a:chExt cx="3934698" cy="791052"/>
          </a:xfrm>
        </p:grpSpPr>
        <p:sp>
          <p:nvSpPr>
            <p:cNvPr id="5" name="矩形: 圆角 9"/>
            <p:cNvSpPr/>
            <p:nvPr/>
          </p:nvSpPr>
          <p:spPr>
            <a:xfrm>
              <a:off x="824071" y="1740416"/>
              <a:ext cx="3934697"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057247" cy="480131"/>
            </a:xfrm>
            <a:prstGeom prst="rect">
              <a:avLst/>
            </a:prstGeom>
          </p:spPr>
          <p:txBody>
            <a:bodyPr wrap="none">
              <a:spAutoFit/>
            </a:bodyPr>
            <a:lstStyle/>
            <a:p>
              <a:pPr>
                <a:lnSpc>
                  <a:spcPct val="90000"/>
                </a:lnSpc>
              </a:pPr>
              <a:r>
                <a:rPr lang="zh-CN" altLang="en-US" sz="2800" dirty="0">
                  <a:solidFill>
                    <a:schemeClr val="bg1"/>
                  </a:solidFill>
                  <a:latin typeface="+mj-ea"/>
                </a:rPr>
                <a:t>信息结构层（续）</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文本占位符 48130"/>
          <p:cNvSpPr>
            <a:spLocks noGrp="1"/>
          </p:cNvSpPr>
          <p:nvPr>
            <p:ph idx="1"/>
          </p:nvPr>
        </p:nvSpPr>
        <p:spPr>
          <a:xfrm>
            <a:off x="1104405" y="1604755"/>
            <a:ext cx="10082151" cy="3454130"/>
          </a:xfrm>
        </p:spPr>
        <p:txBody>
          <a:bodyPr vert="horz" wrap="square" lIns="91440" tIns="45720" rIns="91440" bIns="45720" rtlCol="0" anchor="t">
            <a:noAutofit/>
          </a:bodyPr>
          <a:lstStyle/>
          <a:p>
            <a:pPr eaLnBrk="1" hangingPunct="1">
              <a:buNone/>
            </a:pPr>
            <a:r>
              <a:rPr lang="en-US" altLang="zh-CN" sz="2400" dirty="0"/>
              <a:t>      </a:t>
            </a:r>
            <a:r>
              <a:rPr lang="en-US" altLang="zh-CN" sz="2400" dirty="0" smtClean="0"/>
              <a:t>    </a:t>
            </a:r>
            <a:r>
              <a:rPr lang="zh-CN" altLang="en-US" sz="2400" dirty="0" smtClean="0"/>
              <a:t>模型</a:t>
            </a:r>
            <a:r>
              <a:rPr lang="zh-CN" altLang="en-US" sz="2400" dirty="0"/>
              <a:t>的顶层是认知层或心理层，这个层次是抽象的，主要表示对对抗目标的接受者的认知施加影响，达到最终影响作战行为的效果。这种影响可以导致优柔寡断而拖延决策，或影响其决策的正确性，形成一个有偏见或有缺陷的决策。该层次的抽象成分包括目的、计划、认知、心理、信仰和决策等方面。 </a:t>
            </a:r>
            <a:endParaRPr lang="zh-CN" altLang="en-US" sz="2400" dirty="0"/>
          </a:p>
        </p:txBody>
      </p:sp>
      <p:grpSp>
        <p:nvGrpSpPr>
          <p:cNvPr id="4" name="组合 3"/>
          <p:cNvGrpSpPr/>
          <p:nvPr/>
        </p:nvGrpSpPr>
        <p:grpSpPr>
          <a:xfrm>
            <a:off x="1374888" y="504948"/>
            <a:ext cx="2728912" cy="791052"/>
            <a:chOff x="824072" y="1564267"/>
            <a:chExt cx="2728912" cy="791052"/>
          </a:xfrm>
        </p:grpSpPr>
        <p:sp>
          <p:nvSpPr>
            <p:cNvPr id="5" name="矩形: 圆角 9"/>
            <p:cNvSpPr/>
            <p:nvPr/>
          </p:nvSpPr>
          <p:spPr>
            <a:xfrm>
              <a:off x="824072" y="1740416"/>
              <a:ext cx="272891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964774" y="1822349"/>
              <a:ext cx="1261884" cy="480131"/>
            </a:xfrm>
            <a:prstGeom prst="rect">
              <a:avLst/>
            </a:prstGeom>
          </p:spPr>
          <p:txBody>
            <a:bodyPr wrap="none">
              <a:spAutoFit/>
            </a:bodyPr>
            <a:lstStyle/>
            <a:p>
              <a:pPr>
                <a:lnSpc>
                  <a:spcPct val="90000"/>
                </a:lnSpc>
              </a:pPr>
              <a:r>
                <a:rPr lang="zh-CN" altLang="en-US" sz="2800" dirty="0" smtClean="0">
                  <a:solidFill>
                    <a:schemeClr val="bg1"/>
                  </a:solidFill>
                  <a:latin typeface="+mj-ea"/>
                </a:rPr>
                <a:t>认知</a:t>
              </a:r>
              <a:r>
                <a:rPr lang="zh-CN" altLang="en-US" sz="2800" dirty="0">
                  <a:solidFill>
                    <a:schemeClr val="bg1"/>
                  </a:solidFill>
                  <a:latin typeface="+mj-ea"/>
                </a:rPr>
                <a:t>层</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文本占位符 49154"/>
          <p:cNvSpPr>
            <a:spLocks noGrp="1"/>
          </p:cNvSpPr>
          <p:nvPr>
            <p:ph idx="1"/>
          </p:nvPr>
        </p:nvSpPr>
        <p:spPr>
          <a:xfrm>
            <a:off x="1151906" y="1634029"/>
            <a:ext cx="9963398" cy="3992355"/>
          </a:xfrm>
        </p:spPr>
        <p:txBody>
          <a:bodyPr vert="horz" wrap="square" lIns="91440" tIns="45720" rIns="91440" bIns="45720" rtlCol="0" anchor="t">
            <a:noAutofit/>
          </a:bodyPr>
          <a:lstStyle/>
          <a:p>
            <a:pPr eaLnBrk="1" hangingPunct="1">
              <a:buNone/>
            </a:pPr>
            <a:r>
              <a:rPr lang="en-US" altLang="zh-CN" sz="2400" dirty="0"/>
              <a:t>      </a:t>
            </a:r>
            <a:r>
              <a:rPr lang="en-US" altLang="zh-CN" sz="2400" dirty="0" smtClean="0"/>
              <a:t>   </a:t>
            </a:r>
            <a:r>
              <a:rPr lang="zh-CN" altLang="en-US" sz="2400" dirty="0" smtClean="0"/>
              <a:t>第三</a:t>
            </a:r>
            <a:r>
              <a:rPr lang="zh-CN" altLang="en-US" sz="2400" dirty="0"/>
              <a:t>层也是最低层是物理域层，是由信息基础设施中的物理系统组成，它包括实现网络信息系统的计算机、物理网络、电信和辅助结构部分（如电源、设备、运行环境等）。在这个层次中，除了</a:t>
            </a:r>
            <a:r>
              <a:rPr lang="zh-CN" altLang="en-US" sz="2400" dirty="0">
                <a:solidFill>
                  <a:schemeClr val="folHlink"/>
                </a:solidFill>
              </a:rPr>
              <a:t>物理设施</a:t>
            </a:r>
            <a:r>
              <a:rPr lang="zh-CN" altLang="en-US" sz="2400" dirty="0"/>
              <a:t>外，还有大批的</a:t>
            </a:r>
            <a:r>
              <a:rPr lang="zh-CN" altLang="en-US" sz="2400" dirty="0">
                <a:solidFill>
                  <a:schemeClr val="folHlink"/>
                </a:solidFill>
              </a:rPr>
              <a:t>管理人员</a:t>
            </a:r>
            <a:r>
              <a:rPr lang="zh-CN" altLang="en-US" sz="2400" dirty="0"/>
              <a:t>和</a:t>
            </a:r>
            <a:r>
              <a:rPr lang="zh-CN" altLang="en-US" sz="2400" dirty="0">
                <a:solidFill>
                  <a:schemeClr val="folHlink"/>
                </a:solidFill>
              </a:rPr>
              <a:t>操作人员</a:t>
            </a:r>
            <a:r>
              <a:rPr lang="zh-CN" altLang="en-US" sz="2400" dirty="0"/>
              <a:t>。实质上这个层次的作用是技术性的，它影响着整个系统的技术性能。对这个层次的攻击主要是</a:t>
            </a:r>
            <a:r>
              <a:rPr lang="zh-CN" altLang="en-US" sz="2400" dirty="0">
                <a:solidFill>
                  <a:schemeClr val="folHlink"/>
                </a:solidFill>
              </a:rPr>
              <a:t>火力打击</a:t>
            </a:r>
            <a:r>
              <a:rPr lang="zh-CN" altLang="en-US" sz="2400" dirty="0"/>
              <a:t>和</a:t>
            </a:r>
            <a:r>
              <a:rPr lang="zh-CN" altLang="en-US" sz="2400" dirty="0">
                <a:solidFill>
                  <a:schemeClr val="folHlink"/>
                </a:solidFill>
              </a:rPr>
              <a:t>电磁武器毁伤</a:t>
            </a:r>
            <a:r>
              <a:rPr lang="zh-CN" altLang="en-US" sz="2400" dirty="0"/>
              <a:t>。 </a:t>
            </a:r>
            <a:endParaRPr lang="zh-CN" altLang="en-US" sz="2400" dirty="0"/>
          </a:p>
        </p:txBody>
      </p:sp>
      <p:grpSp>
        <p:nvGrpSpPr>
          <p:cNvPr id="4" name="组合 3"/>
          <p:cNvGrpSpPr/>
          <p:nvPr/>
        </p:nvGrpSpPr>
        <p:grpSpPr>
          <a:xfrm>
            <a:off x="1469890" y="477362"/>
            <a:ext cx="2728912" cy="791052"/>
            <a:chOff x="824072" y="1564267"/>
            <a:chExt cx="2728912" cy="791052"/>
          </a:xfrm>
        </p:grpSpPr>
        <p:sp>
          <p:nvSpPr>
            <p:cNvPr id="5" name="矩形: 圆角 9"/>
            <p:cNvSpPr/>
            <p:nvPr/>
          </p:nvSpPr>
          <p:spPr>
            <a:xfrm>
              <a:off x="824072" y="1740416"/>
              <a:ext cx="272891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1620957" cy="480131"/>
            </a:xfrm>
            <a:prstGeom prst="rect">
              <a:avLst/>
            </a:prstGeom>
          </p:spPr>
          <p:txBody>
            <a:bodyPr wrap="none">
              <a:spAutoFit/>
            </a:bodyPr>
            <a:lstStyle/>
            <a:p>
              <a:pPr>
                <a:lnSpc>
                  <a:spcPct val="90000"/>
                </a:lnSpc>
              </a:pPr>
              <a:r>
                <a:rPr lang="zh-CN" altLang="en-US" sz="2800" dirty="0" smtClean="0">
                  <a:solidFill>
                    <a:schemeClr val="bg1"/>
                  </a:solidFill>
                  <a:latin typeface="+mj-ea"/>
                </a:rPr>
                <a:t>物理</a:t>
              </a:r>
              <a:r>
                <a:rPr lang="zh-CN" altLang="en-US" sz="2800" dirty="0">
                  <a:solidFill>
                    <a:schemeClr val="bg1"/>
                  </a:solidFill>
                  <a:latin typeface="+mj-ea"/>
                </a:rPr>
                <a:t>域层</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81943" y="2248925"/>
            <a:ext cx="6709558" cy="648000"/>
          </a:xfrm>
        </p:spPr>
        <p:txBody>
          <a:bodyPr/>
          <a:lstStyle/>
          <a:p>
            <a:r>
              <a:rPr lang="zh-CN" altLang="en-US" dirty="0" smtClean="0">
                <a:solidFill>
                  <a:schemeClr val="bg2">
                    <a:lumMod val="90000"/>
                  </a:schemeClr>
                </a:solidFill>
              </a:rPr>
              <a:t>（</a:t>
            </a:r>
            <a:r>
              <a:rPr lang="en-US" altLang="zh-CN" dirty="0" smtClean="0">
                <a:solidFill>
                  <a:schemeClr val="bg2">
                    <a:lumMod val="90000"/>
                  </a:schemeClr>
                </a:solidFill>
              </a:rPr>
              <a:t>1.2</a:t>
            </a:r>
            <a:r>
              <a:rPr lang="zh-CN" altLang="en-US" b="0" dirty="0">
                <a:solidFill>
                  <a:schemeClr val="bg2">
                    <a:lumMod val="90000"/>
                  </a:schemeClr>
                </a:solidFill>
                <a:latin typeface="宋体" panose="02010600030101010101" pitchFamily="2" charset="-122"/>
              </a:rPr>
              <a:t>信息</a:t>
            </a:r>
            <a:r>
              <a:rPr lang="zh-CN" altLang="en-US" dirty="0">
                <a:solidFill>
                  <a:schemeClr val="bg2">
                    <a:lumMod val="90000"/>
                  </a:schemeClr>
                </a:solidFill>
                <a:latin typeface="宋体" panose="02010600030101010101" pitchFamily="2" charset="-122"/>
              </a:rPr>
              <a:t>对抗的内涵与</a:t>
            </a:r>
            <a:r>
              <a:rPr lang="zh-CN" altLang="en-US" dirty="0" smtClean="0">
                <a:solidFill>
                  <a:schemeClr val="bg2">
                    <a:lumMod val="90000"/>
                  </a:schemeClr>
                </a:solidFill>
                <a:latin typeface="宋体" panose="02010600030101010101" pitchFamily="2" charset="-122"/>
              </a:rPr>
              <a:t>模型</a:t>
            </a:r>
            <a:r>
              <a:rPr lang="zh-CN" altLang="en-US" dirty="0">
                <a:solidFill>
                  <a:schemeClr val="bg2">
                    <a:lumMod val="90000"/>
                  </a:schemeClr>
                </a:solidFill>
              </a:rPr>
              <a:t>）</a:t>
            </a:r>
            <a:br>
              <a:rPr lang="en-US" altLang="zh-CN" dirty="0" smtClean="0">
                <a:solidFill>
                  <a:schemeClr val="bg2">
                    <a:lumMod val="90000"/>
                  </a:schemeClr>
                </a:solidFill>
                <a:latin typeface="宋体" panose="02010600030101010101" pitchFamily="2" charset="-122"/>
              </a:rPr>
            </a:br>
            <a:r>
              <a:rPr lang="en-US" altLang="zh-CN" dirty="0">
                <a:solidFill>
                  <a:schemeClr val="tx2"/>
                </a:solidFill>
                <a:effectLst>
                  <a:outerShdw blurRad="38100" dist="38100" dir="2700000">
                    <a:srgbClr val="000000"/>
                  </a:outerShdw>
                </a:effectLst>
                <a:latin typeface="宋体" panose="02010600030101010101" pitchFamily="2" charset="-122"/>
              </a:rPr>
              <a:t> </a:t>
            </a:r>
            <a:r>
              <a:rPr lang="en-US" altLang="zh-CN" dirty="0" smtClean="0">
                <a:solidFill>
                  <a:schemeClr val="tx2"/>
                </a:solidFill>
                <a:effectLst>
                  <a:outerShdw blurRad="38100" dist="38100" dir="2700000">
                    <a:srgbClr val="000000"/>
                  </a:outerShdw>
                </a:effectLst>
                <a:latin typeface="宋体" panose="02010600030101010101" pitchFamily="2" charset="-122"/>
              </a:rPr>
              <a:t>  </a:t>
            </a:r>
            <a:r>
              <a:rPr lang="zh-CN" altLang="en-US" sz="4400" dirty="0" smtClean="0">
                <a:solidFill>
                  <a:schemeClr val="tx2"/>
                </a:solidFill>
                <a:effectLst>
                  <a:outerShdw blurRad="38100" dist="38100" dir="2700000">
                    <a:srgbClr val="000000"/>
                  </a:outerShdw>
                </a:effectLst>
              </a:rPr>
              <a:t> </a:t>
            </a:r>
            <a:br>
              <a:rPr lang="zh-CN" altLang="en-US" dirty="0">
                <a:solidFill>
                  <a:srgbClr val="002060"/>
                </a:solidFill>
                <a:latin typeface="思源黑体 CN Heavy" panose="020B0A00000000000000" pitchFamily="34" charset="-122"/>
                <a:ea typeface="思源黑体 CN Heavy" panose="020B0A00000000000000" pitchFamily="34" charset="-122"/>
                <a:cs typeface="+mn-ea"/>
                <a:sym typeface="+mn-lt"/>
              </a:rPr>
            </a:br>
            <a:r>
              <a:rPr lang="en-US" altLang="zh-CN" dirty="0" smtClean="0"/>
              <a:t>                   end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ISLIDE.VECTOR" val="28b0fd0e-7ece-4f48-881a-83c93b08799b"/>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RAINPROBLEM" val="ProblemBody"/>
</p:tagLst>
</file>

<file path=ppt/tags/tag14.xml><?xml version="1.0" encoding="utf-8"?>
<p:tagLst xmlns:p="http://schemas.openxmlformats.org/presentationml/2006/main">
  <p:tag name="RAINPROBLEM" val="ProblemSubmit"/>
  <p:tag name="RAINPROBLEMTYPE" val="FillBlank"/>
</p:tagLst>
</file>

<file path=ppt/tags/tag15.xml><?xml version="1.0" encoding="utf-8"?>
<p:tagLst xmlns:p="http://schemas.openxmlformats.org/presentationml/2006/main">
  <p:tag name="PRODUCTVERSIONTIP3" val="PRODUCTVERSIONTIP3"/>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TYPE" val="ProblemTypeMarker"/>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 val="ProblemSetting"/>
  <p:tag name="RAINPROBLEMTYPE" val="FillBlank"/>
</p:tagLst>
</file>

<file path=ppt/tags/tag22.xml><?xml version="1.0" encoding="utf-8"?>
<p:tagLst xmlns:p="http://schemas.openxmlformats.org/presentationml/2006/main">
  <p:tag name="RAINPROBLEM" val="FillBlank"/>
  <p:tag name="PROBLEMBLANKKEYWORD" val="填空"/>
  <p:tag name="PROBLEMSCORE" val="3.0"/>
  <p:tag name="PROBLEMBLANK" val="[{&quot;num&quot;:1,&quot;caseSensitive&quot;:false,&quot;fuzzyMatch&quot;:false,&quot;Score&quot;:1.0,&quot;answers&quot;:[&quot;软杀伤&quot;]},{&quot;num&quot;:2,&quot;caseSensitive&quot;:false,&quot;fuzzyMatch&quot;:false,&quot;Score&quot;:1.0,&quot;answers&quot;:[&quot;硬杀伤&quot;]},{&quot;num&quot;:3,&quot;caseSensitive&quot;:false,&quot;fuzzyMatch&quot;:false,&quot;Score&quot;:1.0,&quot;answers&quot;:[&quot;软硬兼施&quot;]}]"/>
</p:tagLst>
</file>

<file path=ppt/tags/tag23.xml><?xml version="1.0" encoding="utf-8"?>
<p:tagLst xmlns:p="http://schemas.openxmlformats.org/presentationml/2006/main">
  <p:tag name="ISLIDE.VECTOR" val="28b0fd0e-7ece-4f48-881a-83c93b08799b"/>
</p:tagLst>
</file>

<file path=ppt/tags/tag24.xml><?xml version="1.0" encoding="utf-8"?>
<p:tagLst xmlns:p="http://schemas.openxmlformats.org/presentationml/2006/main">
  <p:tag name="KSO_WPP_MARK_KEY" val="01534827-1ec7-4dc0-84b2-564f5b071a7b"/>
  <p:tag name="COMMONDATA" val="eyJoZGlkIjoiMzA1MzljY2Y4ZTIwNzk1OWIzMzdhZjMwODJlM2M5MWEifQ=="/>
  <p:tag name="commondata" val="eyJoZGlkIjoiODVjMzBjMjkyM2FmNTZlZjhmZmMxZWVhN2I1ZDYwZm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思源黑体 CN Heavy"/>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4941</Words>
  <Application>WPS 演示</Application>
  <PresentationFormat>宽屏</PresentationFormat>
  <Paragraphs>292</Paragraphs>
  <Slides>30</Slides>
  <Notes>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30</vt:i4>
      </vt:variant>
    </vt:vector>
  </HeadingPairs>
  <TitlesOfParts>
    <vt:vector size="45" baseType="lpstr">
      <vt:lpstr>Arial</vt:lpstr>
      <vt:lpstr>宋体</vt:lpstr>
      <vt:lpstr>Wingdings</vt:lpstr>
      <vt:lpstr>隶书</vt:lpstr>
      <vt:lpstr>Times New Roman</vt:lpstr>
      <vt:lpstr>华文行楷</vt:lpstr>
      <vt:lpstr>思源黑体 CN Heavy</vt:lpstr>
      <vt:lpstr>黑体</vt:lpstr>
      <vt:lpstr>微软雅黑 Light</vt:lpstr>
      <vt:lpstr>思源黑体 CN Normal</vt:lpstr>
      <vt:lpstr>微软雅黑</vt:lpstr>
      <vt:lpstr>Arial Unicode MS</vt:lpstr>
      <vt:lpstr>等线</vt:lpstr>
      <vt:lpstr>思源黑体 CN Heavy</vt:lpstr>
      <vt:lpstr>Office 主题​​</vt:lpstr>
      <vt:lpstr>《信息对抗技术》 电子讲稿</vt:lpstr>
      <vt:lpstr>PowerPoint 演示文稿</vt:lpstr>
      <vt:lpstr>PowerPoint 演示文稿</vt:lpstr>
      <vt:lpstr> </vt:lpstr>
      <vt:lpstr>PowerPoint 演示文稿</vt:lpstr>
      <vt:lpstr> </vt:lpstr>
      <vt:lpstr> </vt:lpstr>
      <vt:lpstr>PowerPoint 演示文稿</vt:lpstr>
      <vt:lpstr> </vt:lpstr>
      <vt:lpstr>PowerPoint 演示文稿</vt:lpstr>
      <vt:lpstr>伊朗导弹突破美军C4ISR系统，美以指挥链遭重创！</vt:lpstr>
      <vt:lpstr>"A 射 B 导”</vt:lpstr>
      <vt:lpstr>PowerPoint 演示文稿</vt:lpstr>
      <vt:lpstr>PowerPoint 演示文稿</vt:lpstr>
      <vt:lpstr> </vt:lpstr>
      <vt:lpstr>PowerPoint 演示文稿</vt:lpstr>
      <vt:lpstr>图1-2 信息对抗模型 </vt:lpstr>
      <vt:lpstr> </vt:lpstr>
      <vt:lpstr>PowerPoint 演示文稿</vt:lpstr>
      <vt:lpstr>PowerPoint 演示文稿</vt:lpstr>
      <vt:lpstr>PowerPoint 演示文稿</vt:lpstr>
      <vt:lpstr> </vt:lpstr>
      <vt:lpstr>图1-3 信息对抗的作战模型 </vt:lpstr>
      <vt:lpstr> </vt:lpstr>
      <vt:lpstr> </vt:lpstr>
      <vt:lpstr>PowerPoint 演示文稿</vt:lpstr>
      <vt:lpstr>PowerPoint 演示文稿</vt:lpstr>
      <vt:lpstr>PowerPoint 演示文稿</vt:lpstr>
      <vt:lpstr>PowerPoint 演示文稿</vt:lpstr>
      <vt:lpstr>（1.2信息对抗的内涵与模型）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Li安全</cp:lastModifiedBy>
  <cp:revision>190</cp:revision>
  <dcterms:created xsi:type="dcterms:W3CDTF">2019-09-27T01:23:00Z</dcterms:created>
  <dcterms:modified xsi:type="dcterms:W3CDTF">2026-04-07T15:28:26Z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40F4437BEA7D4E3A9CF2F53AA040CAC9</vt:lpwstr>
  </property>
</Properties>
</file>