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5"/>
  </p:handoutMasterIdLst>
  <p:sldIdLst>
    <p:sldId id="288" r:id="rId3"/>
    <p:sldId id="258" r:id="rId4"/>
    <p:sldId id="376" r:id="rId6"/>
    <p:sldId id="292" r:id="rId7"/>
    <p:sldId id="293" r:id="rId8"/>
    <p:sldId id="377" r:id="rId9"/>
    <p:sldId id="295" r:id="rId10"/>
    <p:sldId id="296" r:id="rId11"/>
    <p:sldId id="298" r:id="rId12"/>
    <p:sldId id="299" r:id="rId13"/>
    <p:sldId id="300" r:id="rId14"/>
    <p:sldId id="301" r:id="rId15"/>
    <p:sldId id="302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3" r:id="rId25"/>
    <p:sldId id="314" r:id="rId26"/>
    <p:sldId id="378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3EE"/>
    <a:srgbClr val="E4F0F9"/>
    <a:srgbClr val="CCFFFF"/>
    <a:srgbClr val="000000"/>
    <a:srgbClr val="CCFFCC"/>
    <a:srgbClr val="CCECFF"/>
    <a:srgbClr val="FFFFFF"/>
    <a:srgbClr val="C5EEF3"/>
    <a:srgbClr val="E3C9F7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96" autoAdjust="0"/>
    <p:restoredTop sz="77608" autoAdjust="0"/>
  </p:normalViewPr>
  <p:slideViewPr>
    <p:cSldViewPr snapToGrid="0" showGuides="1">
      <p:cViewPr varScale="1">
        <p:scale>
          <a:sx n="77" d="100"/>
          <a:sy n="77" d="100"/>
        </p:scale>
        <p:origin x="96" y="306"/>
      </p:cViewPr>
      <p:guideLst>
        <p:guide orient="horz" pos="2160"/>
        <p:guide pos="3931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tags" Target="tags/tag5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13D94-3B84-4F7C-A457-BAB026D08D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4C284-C97B-4A78-9B6C-3354FD79A6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这一章将首先回顾</a:t>
            </a:r>
            <a:r>
              <a:rPr lang="en-US" altLang="zh-CN" dirty="0" smtClean="0">
                <a:solidFill>
                  <a:schemeClr val="folHlink"/>
                </a:solidFill>
              </a:rPr>
              <a:t>TCP/IP</a:t>
            </a:r>
            <a:r>
              <a:rPr lang="zh-CN" altLang="en-US" dirty="0" smtClean="0">
                <a:solidFill>
                  <a:schemeClr val="folHlink"/>
                </a:solidFill>
              </a:rPr>
              <a:t>体系结构</a:t>
            </a:r>
            <a:r>
              <a:rPr lang="zh-CN" altLang="en-US" dirty="0" smtClean="0"/>
              <a:t>。参与系统中</a:t>
            </a:r>
            <a:r>
              <a:rPr lang="en-US" altLang="zh-CN" dirty="0" smtClean="0"/>
              <a:t>TCP/IP</a:t>
            </a:r>
            <a:r>
              <a:rPr lang="zh-CN" altLang="en-US" dirty="0" smtClean="0"/>
              <a:t>协议配置和有关网络访问的某些</a:t>
            </a:r>
            <a:r>
              <a:rPr lang="zh-CN" altLang="en-US" dirty="0" smtClean="0">
                <a:solidFill>
                  <a:schemeClr val="folHlink"/>
                </a:solidFill>
              </a:rPr>
              <a:t>重要文件</a:t>
            </a:r>
            <a:r>
              <a:rPr lang="zh-CN" altLang="en-US" dirty="0" smtClean="0"/>
              <a:t>，因为它们本身的重要性以及对系统的安全具有重要的影响，在这一章将做较为详细的探讨。最后将简单介绍</a:t>
            </a:r>
            <a:r>
              <a:rPr lang="en-US" altLang="zh-CN" dirty="0" smtClean="0"/>
              <a:t>TCP/IP</a:t>
            </a:r>
            <a:r>
              <a:rPr lang="zh-CN" altLang="en-US" dirty="0" smtClean="0"/>
              <a:t>的一些</a:t>
            </a:r>
            <a:r>
              <a:rPr lang="zh-CN" altLang="en-US" dirty="0" smtClean="0">
                <a:solidFill>
                  <a:schemeClr val="folHlink"/>
                </a:solidFill>
              </a:rPr>
              <a:t>守护程序及协议</a:t>
            </a:r>
            <a:r>
              <a:rPr lang="zh-CN" altLang="en-US" dirty="0" smtClean="0"/>
              <a:t>。 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C284-C97B-4A78-9B6C-3354FD79A6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chemeClr val="accent2"/>
              </a:buClr>
              <a:buNone/>
            </a:pPr>
            <a:r>
              <a:rPr lang="en-US" altLang="zh-CN" sz="1200" dirty="0" smtClean="0"/>
              <a:t> TCP/IP</a:t>
            </a:r>
            <a:r>
              <a:rPr lang="zh-CN" altLang="en-US" sz="1200" dirty="0" smtClean="0"/>
              <a:t>参考模型与</a:t>
            </a:r>
            <a:r>
              <a:rPr lang="en-US" altLang="zh-CN" sz="1200" dirty="0" smtClean="0"/>
              <a:t>OSI</a:t>
            </a:r>
            <a:r>
              <a:rPr lang="zh-CN" altLang="en-US" sz="1200" dirty="0" smtClean="0"/>
              <a:t>七层结构有很大的区别。由于</a:t>
            </a:r>
            <a:r>
              <a:rPr lang="en-US" altLang="zh-CN" sz="1200" dirty="0" smtClean="0"/>
              <a:t>TCP/IP</a:t>
            </a:r>
            <a:r>
              <a:rPr lang="zh-CN" altLang="en-US" sz="1200" dirty="0" smtClean="0"/>
              <a:t>在设计时考虑到要与具体的物理传送媒体无关，因此在</a:t>
            </a:r>
            <a:r>
              <a:rPr lang="en-US" altLang="zh-CN" sz="1200" dirty="0" smtClean="0"/>
              <a:t>TCP/IP</a:t>
            </a:r>
            <a:r>
              <a:rPr lang="zh-CN" altLang="en-US" sz="1200" dirty="0" smtClean="0"/>
              <a:t>的标准中并没有对</a:t>
            </a:r>
            <a:r>
              <a:rPr lang="en-US" altLang="zh-CN" sz="1200" dirty="0" smtClean="0"/>
              <a:t>OSI</a:t>
            </a:r>
            <a:r>
              <a:rPr lang="zh-CN" altLang="en-US" sz="1200" dirty="0" smtClean="0"/>
              <a:t>结构中的最低两层做出规定。所以，</a:t>
            </a:r>
            <a:r>
              <a:rPr lang="en-US" altLang="zh-CN" sz="1200" dirty="0" smtClean="0">
                <a:solidFill>
                  <a:schemeClr val="folHlink"/>
                </a:solidFill>
              </a:rPr>
              <a:t>TCP/IP</a:t>
            </a:r>
            <a:r>
              <a:rPr lang="zh-CN" altLang="en-US" sz="1200" dirty="0" smtClean="0">
                <a:solidFill>
                  <a:schemeClr val="folHlink"/>
                </a:solidFill>
              </a:rPr>
              <a:t>体系就只有三个层次</a:t>
            </a:r>
            <a:r>
              <a:rPr lang="zh-CN" altLang="en-US" sz="1200" dirty="0" smtClean="0"/>
              <a:t>：</a:t>
            </a:r>
            <a:endParaRPr lang="zh-CN" altLang="en-US" sz="1200" dirty="0" smtClean="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1200" dirty="0" smtClean="0"/>
              <a:t>最高的是</a:t>
            </a:r>
            <a:r>
              <a:rPr lang="zh-CN" altLang="en-US" sz="1200" b="1" dirty="0" smtClean="0">
                <a:solidFill>
                  <a:schemeClr val="folHlink"/>
                </a:solidFill>
              </a:rPr>
              <a:t>应用层</a:t>
            </a:r>
            <a:r>
              <a:rPr lang="en-US" altLang="zh-CN" sz="1200" dirty="0" smtClean="0"/>
              <a:t>(Application Layer)</a:t>
            </a:r>
            <a:r>
              <a:rPr lang="zh-CN" altLang="en-US" sz="1200" dirty="0" smtClean="0"/>
              <a:t>，相当于</a:t>
            </a:r>
            <a:r>
              <a:rPr lang="en-US" altLang="zh-CN" sz="1200" dirty="0" smtClean="0"/>
              <a:t>OSI</a:t>
            </a:r>
            <a:r>
              <a:rPr lang="zh-CN" altLang="en-US" sz="1200" dirty="0" smtClean="0"/>
              <a:t>的最高三层；</a:t>
            </a:r>
            <a:endParaRPr lang="zh-CN" altLang="en-US" sz="1200" dirty="0" smtClean="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1200" dirty="0" smtClean="0"/>
              <a:t>与</a:t>
            </a:r>
            <a:r>
              <a:rPr lang="en-US" altLang="zh-CN" sz="1200" dirty="0" smtClean="0"/>
              <a:t>OSI</a:t>
            </a:r>
            <a:r>
              <a:rPr lang="zh-CN" altLang="en-US" sz="1200" dirty="0" smtClean="0"/>
              <a:t>传输层相当的是</a:t>
            </a:r>
            <a:r>
              <a:rPr lang="zh-CN" altLang="en-US" sz="1200" dirty="0" smtClean="0">
                <a:solidFill>
                  <a:schemeClr val="folHlink"/>
                </a:solidFill>
              </a:rPr>
              <a:t>传</a:t>
            </a:r>
            <a:r>
              <a:rPr lang="zh-CN" altLang="en-US" sz="1200" b="1" dirty="0" smtClean="0">
                <a:solidFill>
                  <a:schemeClr val="folHlink"/>
                </a:solidFill>
              </a:rPr>
              <a:t>输层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Transmission Layer</a:t>
            </a:r>
            <a:r>
              <a:rPr lang="zh-CN" altLang="en-US" sz="1200" dirty="0" smtClean="0"/>
              <a:t>）；</a:t>
            </a:r>
            <a:endParaRPr lang="zh-CN" altLang="en-US" sz="1200" dirty="0" smtClean="0"/>
          </a:p>
          <a:p>
            <a:pPr>
              <a:lnSpc>
                <a:spcPct val="90000"/>
              </a:lnSpc>
              <a:buClr>
                <a:schemeClr val="accent1"/>
              </a:buClr>
              <a:buFont typeface="Wingdings" panose="05000000000000000000" pitchFamily="2" charset="2"/>
              <a:buChar char="u"/>
            </a:pPr>
            <a:r>
              <a:rPr lang="zh-CN" altLang="en-US" sz="1200" dirty="0" smtClean="0"/>
              <a:t>与</a:t>
            </a:r>
            <a:r>
              <a:rPr lang="en-US" altLang="zh-CN" sz="1200" dirty="0" smtClean="0"/>
              <a:t>OSI</a:t>
            </a:r>
            <a:r>
              <a:rPr lang="zh-CN" altLang="en-US" sz="1200" dirty="0" smtClean="0"/>
              <a:t>网络层相当的是</a:t>
            </a:r>
            <a:r>
              <a:rPr lang="zh-CN" altLang="en-US" sz="1200" b="1" dirty="0" smtClean="0">
                <a:solidFill>
                  <a:schemeClr val="folHlink"/>
                </a:solidFill>
              </a:rPr>
              <a:t>互连网层</a:t>
            </a:r>
            <a:r>
              <a:rPr lang="zh-CN" altLang="en-US" sz="1200" dirty="0" smtClean="0"/>
              <a:t>（</a:t>
            </a:r>
            <a:r>
              <a:rPr lang="en-US" altLang="zh-CN" sz="1200" dirty="0" smtClean="0"/>
              <a:t>Internet Layer</a:t>
            </a:r>
            <a:r>
              <a:rPr lang="zh-CN" altLang="en-US" sz="1200" dirty="0" smtClean="0"/>
              <a:t>）。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4C284-C97B-4A78-9B6C-3354FD79A6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4C284-C97B-4A78-9B6C-3354FD79A6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Notes Placeholder 2"/>
          <p:cNvSpPr>
            <a:spLocks noGrp="1" noChangeArrowheads="1"/>
          </p:cNvSpPr>
          <p:nvPr>
            <p:ph type="body" idx="4294967295"/>
          </p:nvPr>
        </p:nvSpPr>
        <p:spPr bwMode="auto"/>
        <p:txBody>
          <a:bodyPr wrap="square" lIns="91440" tIns="45720" rIns="91440" bIns="45720" numCol="1" rtlCol="0" anchor="t" anchorCtr="0" compatLnSpc="1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掩蔽载体（</a:t>
            </a:r>
            <a:r>
              <a:rPr kumimoji="0" lang="en-US" altLang="zh-CN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cover work</a:t>
            </a:r>
            <a:r>
              <a:rPr kumimoji="0" lang="zh-CN" altLang="en-US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隐写</a:t>
            </a:r>
            <a:r>
              <a:rPr kumimoji="0" lang="en-US" altLang="zh-CN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水印载体（</a:t>
            </a:r>
            <a:r>
              <a:rPr kumimoji="0" lang="en-US" altLang="zh-CN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stego/watermarked work</a:t>
            </a:r>
            <a:r>
              <a:rPr kumimoji="0" lang="zh-CN" altLang="en-US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65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掩盖通信的存在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1076" name="Slide Number Placeholder 3"/>
          <p:cNvSpPr>
            <a:spLocks noGrp="1"/>
          </p:cNvSpPr>
          <p:nvPr/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charset="0"/>
                <a:ea typeface="宋体" panose="02010600030101010101" pitchFamily="2" charset="-122"/>
              </a:rPr>
            </a:fld>
            <a:endParaRPr lang="en-US" altLang="zh-CN" sz="12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200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Times New Roman" panose="0202060305040502030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867410" y="1336040"/>
            <a:ext cx="10478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aaa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00F3B7-776C-4126-B62B-37D992D390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92D589-A361-4801-A43C-9A7A53CA31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    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        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            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               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标题 4100"/>
          <p:cNvSpPr>
            <a:spLocks noGrp="1"/>
          </p:cNvSpPr>
          <p:nvPr>
            <p:ph type="ctrTitle" sz="quarter"/>
          </p:nvPr>
        </p:nvSpPr>
        <p:spPr>
          <a:xfrm>
            <a:off x="1725084" y="7620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lvl="0">
              <a:defRPr/>
            </a:lvl1pPr>
          </a:lstStyle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102" name="副标题 4101"/>
          <p:cNvSpPr>
            <a:spLocks noGrp="1"/>
          </p:cNvSpPr>
          <p:nvPr>
            <p:ph type="subTitle" sz="quarter" idx="1"/>
          </p:nvPr>
        </p:nvSpPr>
        <p:spPr>
          <a:xfrm>
            <a:off x="914400" y="3429000"/>
            <a:ext cx="8534400" cy="1752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marL="0" lvl="0" indent="0" algn="ctr">
              <a:defRPr/>
            </a:lvl1pPr>
            <a:lvl2pPr marL="457200" lvl="1" indent="0" algn="ctr">
              <a:defRPr/>
            </a:lvl2pPr>
            <a:lvl3pPr marL="914400" lvl="2" indent="0" algn="ctr">
              <a:defRPr/>
            </a:lvl3pPr>
            <a:lvl4pPr marL="1371600" lvl="3" indent="0" algn="ctr">
              <a:defRPr/>
            </a:lvl4pPr>
            <a:lvl5pPr marL="1828800" lvl="4" indent="0" algn="ctr">
              <a:defRPr/>
            </a:lvl5pPr>
          </a:lstStyle>
          <a:p>
            <a:pPr lvl="0"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103" name="日期占位符 4102"/>
          <p:cNvSpPr>
            <a:spLocks noGrp="1"/>
          </p:cNvSpPr>
          <p:nvPr>
            <p:ph type="dt" sz="quarter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>
              <a:defRPr sz="1400"/>
            </a:lvl1pPr>
          </a:lstStyle>
          <a:p>
            <a:pPr fontAlgn="base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4104" name="页脚占位符 4103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algn="ctr">
              <a:defRPr sz="1400"/>
            </a:lvl1pPr>
          </a:lstStyle>
          <a:p>
            <a:pPr fontAlgn="base"/>
            <a:endParaRPr lang="zh-CN" altLang="en-US" strike="noStrike" noProof="1">
              <a:latin typeface="Times New Roman" panose="02020603050405020304" charset="0"/>
            </a:endParaRPr>
          </a:p>
        </p:txBody>
      </p:sp>
      <p:sp>
        <p:nvSpPr>
          <p:cNvPr id="4105" name="灯片编号占位符 4104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algn="r">
              <a:defRPr sz="14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黑体" panose="0201060906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88065"/>
          <p:cNvSpPr>
            <a:spLocks noGrp="1"/>
          </p:cNvSpPr>
          <p:nvPr>
            <p:ph type="ctrTitle" sz="quarter"/>
          </p:nvPr>
        </p:nvSpPr>
        <p:spPr>
          <a:xfrm>
            <a:off x="2711450" y="1894172"/>
            <a:ext cx="6783388" cy="1154113"/>
          </a:xfrm>
        </p:spPr>
        <p:txBody>
          <a:bodyPr lIns="92075" tIns="46038" rIns="92075" bIns="46038" anchor="b"/>
          <a:lstStyle/>
          <a:p>
            <a:pPr algn="ctr" fontAlgn="base">
              <a:buSzPct val="100000"/>
            </a:pPr>
            <a:r>
              <a:rPr lang="en-US" altLang="zh-CN" sz="5400" noProof="1">
                <a:latin typeface="Times New Roman" panose="02020603050405020304" charset="0"/>
                <a:ea typeface="黑体" panose="02010609060101010101" pitchFamily="2" charset="-122"/>
              </a:rPr>
              <a:t>《</a:t>
            </a:r>
            <a:r>
              <a:rPr lang="zh-CN" altLang="en-US" sz="5400" noProof="1">
                <a:latin typeface="Times New Roman" panose="02020603050405020304" charset="0"/>
                <a:ea typeface="黑体" panose="02010609060101010101" pitchFamily="2" charset="-122"/>
              </a:rPr>
              <a:t>信息对抗技术</a:t>
            </a:r>
            <a:r>
              <a:rPr lang="en-US" altLang="zh-CN" sz="5400" noProof="1">
                <a:latin typeface="Times New Roman" panose="02020603050405020304" charset="0"/>
                <a:ea typeface="黑体" panose="02010609060101010101" pitchFamily="2" charset="-122"/>
              </a:rPr>
              <a:t>》</a:t>
            </a:r>
            <a:br>
              <a:rPr lang="en-US" altLang="zh-CN" sz="5400" dirty="0">
                <a:latin typeface="Times New Roman" panose="02020603050405020304" charset="0"/>
                <a:ea typeface="黑体" panose="02010609060101010101" pitchFamily="2" charset="-122"/>
              </a:rPr>
            </a:br>
            <a:r>
              <a:rPr lang="zh-CN" altLang="en-US" sz="4000" noProof="1">
                <a:latin typeface="Times New Roman" panose="02020603050405020304" charset="0"/>
                <a:ea typeface="隶书" panose="02010509060101010101" pitchFamily="49" charset="-122"/>
              </a:rPr>
              <a:t>电子讲稿</a:t>
            </a:r>
            <a:endParaRPr lang="zh-CN" altLang="en-US" sz="4000" noProof="1">
              <a:latin typeface="Times New Roman" panose="02020603050405020304" charset="0"/>
              <a:ea typeface="隶书" panose="02010509060101010101" pitchFamily="49" charset="-122"/>
            </a:endParaRPr>
          </a:p>
        </p:txBody>
      </p:sp>
      <p:sp>
        <p:nvSpPr>
          <p:cNvPr id="3074" name="副标题 88066"/>
          <p:cNvSpPr>
            <a:spLocks noGrp="1"/>
          </p:cNvSpPr>
          <p:nvPr>
            <p:ph type="subTitle" sz="quarter" idx="1"/>
          </p:nvPr>
        </p:nvSpPr>
        <p:spPr/>
        <p:txBody>
          <a:bodyPr lIns="92075" tIns="46038" rIns="92075" bIns="46038" anchor="ctr"/>
          <a:lstStyle/>
          <a:p>
            <a:endParaRPr lang="en-US" altLang="zh-CN" kern="1200" baseline="0" dirty="0">
              <a:latin typeface="+mn-lt"/>
              <a:ea typeface="+mn-ea"/>
              <a:cs typeface="+mn-cs"/>
            </a:endParaRPr>
          </a:p>
          <a:p>
            <a:endParaRPr lang="en-US" altLang="zh-CN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3075" name="文本框 88067"/>
          <p:cNvSpPr txBox="1"/>
          <p:nvPr/>
        </p:nvSpPr>
        <p:spPr>
          <a:xfrm>
            <a:off x="4544854" y="4190430"/>
            <a:ext cx="3116580" cy="13836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CN" altLang="en-US" sz="2800" dirty="0">
                <a:latin typeface="Times New Roman" panose="02020603050405020304" charset="0"/>
                <a:ea typeface="华文行楷" panose="02010800040101010101" pitchFamily="2" charset="-122"/>
              </a:rPr>
              <a:t>李朝晖</a:t>
            </a:r>
            <a:endParaRPr lang="zh-CN" altLang="en-US" sz="2800" dirty="0">
              <a:latin typeface="Times New Roman" panose="02020603050405020304" charset="0"/>
              <a:ea typeface="华文行楷" panose="02010800040101010101" pitchFamily="2" charset="-122"/>
            </a:endParaRPr>
          </a:p>
          <a:p>
            <a:pPr algn="ctr"/>
            <a:r>
              <a:rPr lang="zh-CN" altLang="en-US" sz="2800" dirty="0">
                <a:latin typeface="Times New Roman" panose="02020603050405020304" charset="0"/>
                <a:ea typeface="华文行楷" panose="02010800040101010101" pitchFamily="2" charset="-122"/>
              </a:rPr>
              <a:t>南开大学 密网学院</a:t>
            </a:r>
            <a:endParaRPr lang="zh-CN" altLang="en-US" sz="2800" dirty="0">
              <a:latin typeface="Times New Roman" panose="02020603050405020304" charset="0"/>
              <a:ea typeface="华文行楷" panose="02010800040101010101" pitchFamily="2" charset="-122"/>
            </a:endParaRPr>
          </a:p>
          <a:p>
            <a:pPr algn="ctr"/>
            <a:r>
              <a:rPr lang="en-US" altLang="zh-CN" sz="2800" smtClean="0">
                <a:latin typeface="Times New Roman" panose="02020603050405020304" charset="0"/>
                <a:ea typeface="宋体" panose="02010600030101010101" pitchFamily="2" charset="-122"/>
              </a:rPr>
              <a:t>2026</a:t>
            </a:r>
            <a:endParaRPr lang="en-US" altLang="zh-CN" sz="28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7"/>
          <p:cNvSpPr txBox="1"/>
          <p:nvPr/>
        </p:nvSpPr>
        <p:spPr>
          <a:xfrm>
            <a:off x="1626920" y="3434063"/>
            <a:ext cx="3286584" cy="14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1217930" fontAlgn="auto"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4265" kern="1200" cap="none" spc="0" normalizeH="0" baseline="0" noProof="1" smtClean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ea"/>
              </a:rPr>
              <a:t>第</a:t>
            </a:r>
            <a:r>
              <a:rPr kumimoji="0" lang="en-US" altLang="zh-CN" sz="4265" kern="1200" cap="none" spc="0" normalizeH="0" baseline="0" noProof="1" smtClean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ea"/>
              </a:rPr>
              <a:t>2</a:t>
            </a:r>
            <a:r>
              <a:rPr kumimoji="0" lang="zh-CN" altLang="en-US" sz="4265" kern="1200" cap="none" spc="0" normalizeH="0" baseline="0" noProof="1" smtClean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ea"/>
              </a:rPr>
              <a:t>章  </a:t>
            </a:r>
            <a:endParaRPr kumimoji="0" lang="en-US" altLang="zh-CN" sz="4265" kern="1200" cap="none" spc="0" normalizeH="0" baseline="0" noProof="1" smtClean="0">
              <a:solidFill>
                <a:srgbClr val="00206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ea"/>
            </a:endParaRPr>
          </a:p>
          <a:p>
            <a:pPr marR="0" defTabSz="1217930" fontAlgn="auto">
              <a:buClrTx/>
              <a:buSzTx/>
              <a:buFont typeface="Arial" panose="020B0604020202020204" pitchFamily="34" charset="0"/>
              <a:defRPr/>
            </a:pPr>
            <a:r>
              <a:rPr lang="zh-CN" altLang="en-US" sz="4265" noProof="1" smtClean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rPr>
              <a:t>理解</a:t>
            </a:r>
            <a:r>
              <a:rPr lang="en-US" altLang="zh-CN" sz="4265" noProof="1" smtClean="0">
                <a:solidFill>
                  <a:srgbClr val="00206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rPr>
              <a:t>TCP/IP</a:t>
            </a:r>
            <a:endParaRPr lang="zh-CN" altLang="en-US" sz="4265" noProof="1">
              <a:solidFill>
                <a:srgbClr val="00206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576451" y="1645590"/>
            <a:ext cx="1622688" cy="1622688"/>
            <a:chOff x="882649" y="2219325"/>
            <a:chExt cx="2070101" cy="2070101"/>
          </a:xfrm>
        </p:grpSpPr>
        <p:sp>
          <p:nvSpPr>
            <p:cNvPr id="21" name="椭圆 20"/>
            <p:cNvSpPr/>
            <p:nvPr/>
          </p:nvSpPr>
          <p:spPr>
            <a:xfrm>
              <a:off x="1019174" y="2355850"/>
              <a:ext cx="1797050" cy="1797050"/>
            </a:xfrm>
            <a:prstGeom prst="ellipse">
              <a:avLst/>
            </a:prstGeom>
            <a:noFill/>
            <a:ln>
              <a:solidFill>
                <a:srgbClr val="0F73E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 smtClean="0">
                  <a:solidFill>
                    <a:schemeClr val="accent5">
                      <a:lumMod val="50000"/>
                    </a:schemeClr>
                  </a:solidFill>
                  <a:effectLst/>
                  <a:latin typeface="+mj-lt"/>
                  <a:ea typeface="微软雅黑 Light" panose="020B0502040204020203" pitchFamily="34" charset="-122"/>
                  <a:cs typeface="+mn-ea"/>
                  <a:sym typeface="+mn-lt"/>
                </a:rPr>
                <a:t>02</a:t>
              </a:r>
              <a:endParaRPr lang="en-US" sz="4000" b="1" dirty="0">
                <a:solidFill>
                  <a:schemeClr val="accent5">
                    <a:lumMod val="50000"/>
                  </a:schemeClr>
                </a:solidFill>
                <a:effectLst/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22" name="空心弧 21"/>
            <p:cNvSpPr/>
            <p:nvPr/>
          </p:nvSpPr>
          <p:spPr>
            <a:xfrm rot="7613872">
              <a:off x="882649" y="2219325"/>
              <a:ext cx="2070101" cy="2070101"/>
            </a:xfrm>
            <a:prstGeom prst="blockArc">
              <a:avLst>
                <a:gd name="adj1" fmla="val 10800000"/>
                <a:gd name="adj2" fmla="val 3959450"/>
                <a:gd name="adj3" fmla="val 6684"/>
              </a:avLst>
            </a:prstGeom>
            <a:solidFill>
              <a:srgbClr val="0F73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5562189" y="1170848"/>
            <a:ext cx="4963698" cy="617070"/>
            <a:chOff x="5493750" y="892151"/>
            <a:chExt cx="4963698" cy="617070"/>
          </a:xfrm>
        </p:grpSpPr>
        <p:sp>
          <p:nvSpPr>
            <p:cNvPr id="23" name="矩形: 圆角 22"/>
            <p:cNvSpPr/>
            <p:nvPr/>
          </p:nvSpPr>
          <p:spPr>
            <a:xfrm>
              <a:off x="5493750" y="892151"/>
              <a:ext cx="4949067" cy="617070"/>
            </a:xfrm>
            <a:prstGeom prst="roundRect">
              <a:avLst>
                <a:gd name="adj" fmla="val 14295"/>
              </a:avLst>
            </a:prstGeom>
            <a:solidFill>
              <a:srgbClr val="0F73EE">
                <a:alpha val="14902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2" name="human-head-silhouette-with-cogwheels_31441"/>
            <p:cNvSpPr>
              <a:spLocks noChangeAspect="1"/>
            </p:cNvSpPr>
            <p:nvPr/>
          </p:nvSpPr>
          <p:spPr bwMode="auto">
            <a:xfrm>
              <a:off x="5632235" y="1103269"/>
              <a:ext cx="322881" cy="405952"/>
            </a:xfrm>
            <a:custGeom>
              <a:avLst/>
              <a:gdLst>
                <a:gd name="connsiteX0" fmla="*/ 332813 w 483894"/>
                <a:gd name="connsiteY0" fmla="*/ 285272 h 608391"/>
                <a:gd name="connsiteX1" fmla="*/ 370636 w 483894"/>
                <a:gd name="connsiteY1" fmla="*/ 323201 h 608391"/>
                <a:gd name="connsiteX2" fmla="*/ 332813 w 483894"/>
                <a:gd name="connsiteY2" fmla="*/ 361130 h 608391"/>
                <a:gd name="connsiteX3" fmla="*/ 294990 w 483894"/>
                <a:gd name="connsiteY3" fmla="*/ 323201 h 608391"/>
                <a:gd name="connsiteX4" fmla="*/ 332813 w 483894"/>
                <a:gd name="connsiteY4" fmla="*/ 285272 h 608391"/>
                <a:gd name="connsiteX5" fmla="*/ 329299 w 483894"/>
                <a:gd name="connsiteY5" fmla="*/ 254544 h 608391"/>
                <a:gd name="connsiteX6" fmla="*/ 308471 w 483894"/>
                <a:gd name="connsiteY6" fmla="*/ 258937 h 608391"/>
                <a:gd name="connsiteX7" fmla="*/ 311405 w 483894"/>
                <a:gd name="connsiteY7" fmla="*/ 272119 h 608391"/>
                <a:gd name="connsiteX8" fmla="*/ 292924 w 483894"/>
                <a:gd name="connsiteY8" fmla="*/ 284422 h 608391"/>
                <a:gd name="connsiteX9" fmla="*/ 281776 w 483894"/>
                <a:gd name="connsiteY9" fmla="*/ 277099 h 608391"/>
                <a:gd name="connsiteX10" fmla="*/ 270042 w 483894"/>
                <a:gd name="connsiteY10" fmla="*/ 294967 h 608391"/>
                <a:gd name="connsiteX11" fmla="*/ 281483 w 483894"/>
                <a:gd name="connsiteY11" fmla="*/ 302290 h 608391"/>
                <a:gd name="connsiteX12" fmla="*/ 277376 w 483894"/>
                <a:gd name="connsiteY12" fmla="*/ 323966 h 608391"/>
                <a:gd name="connsiteX13" fmla="*/ 264175 w 483894"/>
                <a:gd name="connsiteY13" fmla="*/ 326895 h 608391"/>
                <a:gd name="connsiteX14" fmla="*/ 268282 w 483894"/>
                <a:gd name="connsiteY14" fmla="*/ 347399 h 608391"/>
                <a:gd name="connsiteX15" fmla="*/ 281483 w 483894"/>
                <a:gd name="connsiteY15" fmla="*/ 344763 h 608391"/>
                <a:gd name="connsiteX16" fmla="*/ 294097 w 483894"/>
                <a:gd name="connsiteY16" fmla="*/ 363217 h 608391"/>
                <a:gd name="connsiteX17" fmla="*/ 286763 w 483894"/>
                <a:gd name="connsiteY17" fmla="*/ 374348 h 608391"/>
                <a:gd name="connsiteX18" fmla="*/ 304364 w 483894"/>
                <a:gd name="connsiteY18" fmla="*/ 385772 h 608391"/>
                <a:gd name="connsiteX19" fmla="*/ 311698 w 483894"/>
                <a:gd name="connsiteY19" fmla="*/ 374641 h 608391"/>
                <a:gd name="connsiteX20" fmla="*/ 333699 w 483894"/>
                <a:gd name="connsiteY20" fmla="*/ 378742 h 608391"/>
                <a:gd name="connsiteX21" fmla="*/ 336633 w 483894"/>
                <a:gd name="connsiteY21" fmla="*/ 391923 h 608391"/>
                <a:gd name="connsiteX22" fmla="*/ 357167 w 483894"/>
                <a:gd name="connsiteY22" fmla="*/ 387529 h 608391"/>
                <a:gd name="connsiteX23" fmla="*/ 354527 w 483894"/>
                <a:gd name="connsiteY23" fmla="*/ 374348 h 608391"/>
                <a:gd name="connsiteX24" fmla="*/ 372715 w 483894"/>
                <a:gd name="connsiteY24" fmla="*/ 362045 h 608391"/>
                <a:gd name="connsiteX25" fmla="*/ 384155 w 483894"/>
                <a:gd name="connsiteY25" fmla="*/ 369368 h 608391"/>
                <a:gd name="connsiteX26" fmla="*/ 395596 w 483894"/>
                <a:gd name="connsiteY26" fmla="*/ 351500 h 608391"/>
                <a:gd name="connsiteX27" fmla="*/ 384449 w 483894"/>
                <a:gd name="connsiteY27" fmla="*/ 344177 h 608391"/>
                <a:gd name="connsiteX28" fmla="*/ 388556 w 483894"/>
                <a:gd name="connsiteY28" fmla="*/ 322208 h 608391"/>
                <a:gd name="connsiteX29" fmla="*/ 401756 w 483894"/>
                <a:gd name="connsiteY29" fmla="*/ 319572 h 608391"/>
                <a:gd name="connsiteX30" fmla="*/ 397356 w 483894"/>
                <a:gd name="connsiteY30" fmla="*/ 299068 h 608391"/>
                <a:gd name="connsiteX31" fmla="*/ 384155 w 483894"/>
                <a:gd name="connsiteY31" fmla="*/ 301704 h 608391"/>
                <a:gd name="connsiteX32" fmla="*/ 371541 w 483894"/>
                <a:gd name="connsiteY32" fmla="*/ 283250 h 608391"/>
                <a:gd name="connsiteX33" fmla="*/ 378875 w 483894"/>
                <a:gd name="connsiteY33" fmla="*/ 272119 h 608391"/>
                <a:gd name="connsiteX34" fmla="*/ 361274 w 483894"/>
                <a:gd name="connsiteY34" fmla="*/ 260695 h 608391"/>
                <a:gd name="connsiteX35" fmla="*/ 353940 w 483894"/>
                <a:gd name="connsiteY35" fmla="*/ 271826 h 608391"/>
                <a:gd name="connsiteX36" fmla="*/ 331939 w 483894"/>
                <a:gd name="connsiteY36" fmla="*/ 267725 h 608391"/>
                <a:gd name="connsiteX37" fmla="*/ 302012 w 483894"/>
                <a:gd name="connsiteY37" fmla="*/ 100461 h 608391"/>
                <a:gd name="connsiteX38" fmla="*/ 360970 w 483894"/>
                <a:gd name="connsiteY38" fmla="*/ 159348 h 608391"/>
                <a:gd name="connsiteX39" fmla="*/ 302012 w 483894"/>
                <a:gd name="connsiteY39" fmla="*/ 218235 h 608391"/>
                <a:gd name="connsiteX40" fmla="*/ 243054 w 483894"/>
                <a:gd name="connsiteY40" fmla="*/ 159348 h 608391"/>
                <a:gd name="connsiteX41" fmla="*/ 302012 w 483894"/>
                <a:gd name="connsiteY41" fmla="*/ 100461 h 608391"/>
                <a:gd name="connsiteX42" fmla="*/ 309644 w 483894"/>
                <a:gd name="connsiteY42" fmla="*/ 52722 h 608391"/>
                <a:gd name="connsiteX43" fmla="*/ 304951 w 483894"/>
                <a:gd name="connsiteY43" fmla="*/ 72933 h 608391"/>
                <a:gd name="connsiteX44" fmla="*/ 270922 w 483894"/>
                <a:gd name="connsiteY44" fmla="*/ 78792 h 608391"/>
                <a:gd name="connsiteX45" fmla="*/ 259775 w 483894"/>
                <a:gd name="connsiteY45" fmla="*/ 60924 h 608391"/>
                <a:gd name="connsiteX46" fmla="*/ 231907 w 483894"/>
                <a:gd name="connsiteY46" fmla="*/ 78499 h 608391"/>
                <a:gd name="connsiteX47" fmla="*/ 243054 w 483894"/>
                <a:gd name="connsiteY47" fmla="*/ 96074 h 608391"/>
                <a:gd name="connsiteX48" fmla="*/ 222813 w 483894"/>
                <a:gd name="connsiteY48" fmla="*/ 124487 h 608391"/>
                <a:gd name="connsiteX49" fmla="*/ 202278 w 483894"/>
                <a:gd name="connsiteY49" fmla="*/ 119508 h 608391"/>
                <a:gd name="connsiteX50" fmla="*/ 194945 w 483894"/>
                <a:gd name="connsiteY50" fmla="*/ 151729 h 608391"/>
                <a:gd name="connsiteX51" fmla="*/ 215479 w 483894"/>
                <a:gd name="connsiteY51" fmla="*/ 156416 h 608391"/>
                <a:gd name="connsiteX52" fmla="*/ 221346 w 483894"/>
                <a:gd name="connsiteY52" fmla="*/ 190394 h 608391"/>
                <a:gd name="connsiteX53" fmla="*/ 203452 w 483894"/>
                <a:gd name="connsiteY53" fmla="*/ 201525 h 608391"/>
                <a:gd name="connsiteX54" fmla="*/ 220759 w 483894"/>
                <a:gd name="connsiteY54" fmla="*/ 229353 h 608391"/>
                <a:gd name="connsiteX55" fmla="*/ 238654 w 483894"/>
                <a:gd name="connsiteY55" fmla="*/ 218222 h 608391"/>
                <a:gd name="connsiteX56" fmla="*/ 266815 w 483894"/>
                <a:gd name="connsiteY56" fmla="*/ 238433 h 608391"/>
                <a:gd name="connsiteX57" fmla="*/ 262122 w 483894"/>
                <a:gd name="connsiteY57" fmla="*/ 258645 h 608391"/>
                <a:gd name="connsiteX58" fmla="*/ 294097 w 483894"/>
                <a:gd name="connsiteY58" fmla="*/ 265968 h 608391"/>
                <a:gd name="connsiteX59" fmla="*/ 298791 w 483894"/>
                <a:gd name="connsiteY59" fmla="*/ 245756 h 608391"/>
                <a:gd name="connsiteX60" fmla="*/ 333112 w 483894"/>
                <a:gd name="connsiteY60" fmla="*/ 239898 h 608391"/>
                <a:gd name="connsiteX61" fmla="*/ 343966 w 483894"/>
                <a:gd name="connsiteY61" fmla="*/ 257766 h 608391"/>
                <a:gd name="connsiteX62" fmla="*/ 371835 w 483894"/>
                <a:gd name="connsiteY62" fmla="*/ 240191 h 608391"/>
                <a:gd name="connsiteX63" fmla="*/ 360687 w 483894"/>
                <a:gd name="connsiteY63" fmla="*/ 222615 h 608391"/>
                <a:gd name="connsiteX64" fmla="*/ 380928 w 483894"/>
                <a:gd name="connsiteY64" fmla="*/ 194495 h 608391"/>
                <a:gd name="connsiteX65" fmla="*/ 401463 w 483894"/>
                <a:gd name="connsiteY65" fmla="*/ 199182 h 608391"/>
                <a:gd name="connsiteX66" fmla="*/ 408797 w 483894"/>
                <a:gd name="connsiteY66" fmla="*/ 167254 h 608391"/>
                <a:gd name="connsiteX67" fmla="*/ 388262 w 483894"/>
                <a:gd name="connsiteY67" fmla="*/ 162567 h 608391"/>
                <a:gd name="connsiteX68" fmla="*/ 382689 w 483894"/>
                <a:gd name="connsiteY68" fmla="*/ 128295 h 608391"/>
                <a:gd name="connsiteX69" fmla="*/ 400290 w 483894"/>
                <a:gd name="connsiteY69" fmla="*/ 117164 h 608391"/>
                <a:gd name="connsiteX70" fmla="*/ 382982 w 483894"/>
                <a:gd name="connsiteY70" fmla="*/ 89337 h 608391"/>
                <a:gd name="connsiteX71" fmla="*/ 365088 w 483894"/>
                <a:gd name="connsiteY71" fmla="*/ 100468 h 608391"/>
                <a:gd name="connsiteX72" fmla="*/ 336926 w 483894"/>
                <a:gd name="connsiteY72" fmla="*/ 80549 h 608391"/>
                <a:gd name="connsiteX73" fmla="*/ 341620 w 483894"/>
                <a:gd name="connsiteY73" fmla="*/ 60045 h 608391"/>
                <a:gd name="connsiteX74" fmla="*/ 227919 w 483894"/>
                <a:gd name="connsiteY74" fmla="*/ 591 h 608391"/>
                <a:gd name="connsiteX75" fmla="*/ 306124 w 483894"/>
                <a:gd name="connsiteY75" fmla="*/ 3804 h 608391"/>
                <a:gd name="connsiteX76" fmla="*/ 483308 w 483894"/>
                <a:gd name="connsiteY76" fmla="*/ 197717 h 608391"/>
                <a:gd name="connsiteX77" fmla="*/ 387382 w 483894"/>
                <a:gd name="connsiteY77" fmla="*/ 442305 h 608391"/>
                <a:gd name="connsiteX78" fmla="*/ 483894 w 483894"/>
                <a:gd name="connsiteY78" fmla="*/ 608391 h 608391"/>
                <a:gd name="connsiteX79" fmla="*/ 143902 w 483894"/>
                <a:gd name="connsiteY79" fmla="*/ 608391 h 608391"/>
                <a:gd name="connsiteX80" fmla="*/ 181744 w 483894"/>
                <a:gd name="connsiteY80" fmla="*/ 512899 h 608391"/>
                <a:gd name="connsiteX81" fmla="*/ 108993 w 483894"/>
                <a:gd name="connsiteY81" fmla="*/ 524909 h 608391"/>
                <a:gd name="connsiteX82" fmla="*/ 54137 w 483894"/>
                <a:gd name="connsiteY82" fmla="*/ 498839 h 608391"/>
                <a:gd name="connsiteX83" fmla="*/ 57657 w 483894"/>
                <a:gd name="connsiteY83" fmla="*/ 454022 h 608391"/>
                <a:gd name="connsiteX84" fmla="*/ 38589 w 483894"/>
                <a:gd name="connsiteY84" fmla="*/ 405690 h 608391"/>
                <a:gd name="connsiteX85" fmla="*/ 42109 w 483894"/>
                <a:gd name="connsiteY85" fmla="*/ 376984 h 608391"/>
                <a:gd name="connsiteX86" fmla="*/ 160 w 483894"/>
                <a:gd name="connsiteY86" fmla="*/ 355308 h 608391"/>
                <a:gd name="connsiteX87" fmla="*/ 52670 w 483894"/>
                <a:gd name="connsiteY87" fmla="*/ 255130 h 608391"/>
                <a:gd name="connsiteX88" fmla="*/ 38003 w 483894"/>
                <a:gd name="connsiteY88" fmla="*/ 222908 h 608391"/>
                <a:gd name="connsiteX89" fmla="*/ 74378 w 483894"/>
                <a:gd name="connsiteY89" fmla="*/ 82893 h 608391"/>
                <a:gd name="connsiteX90" fmla="*/ 227919 w 483894"/>
                <a:gd name="connsiteY90" fmla="*/ 591 h 60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483894" h="608391">
                  <a:moveTo>
                    <a:pt x="332813" y="285272"/>
                  </a:moveTo>
                  <a:cubicBezTo>
                    <a:pt x="353702" y="285272"/>
                    <a:pt x="370636" y="302253"/>
                    <a:pt x="370636" y="323201"/>
                  </a:cubicBezTo>
                  <a:cubicBezTo>
                    <a:pt x="370636" y="344149"/>
                    <a:pt x="353702" y="361130"/>
                    <a:pt x="332813" y="361130"/>
                  </a:cubicBezTo>
                  <a:cubicBezTo>
                    <a:pt x="311924" y="361130"/>
                    <a:pt x="294990" y="344149"/>
                    <a:pt x="294990" y="323201"/>
                  </a:cubicBezTo>
                  <a:cubicBezTo>
                    <a:pt x="294990" y="302253"/>
                    <a:pt x="311924" y="285272"/>
                    <a:pt x="332813" y="285272"/>
                  </a:cubicBezTo>
                  <a:close/>
                  <a:moveTo>
                    <a:pt x="329299" y="254544"/>
                  </a:moveTo>
                  <a:lnTo>
                    <a:pt x="308471" y="258937"/>
                  </a:lnTo>
                  <a:lnTo>
                    <a:pt x="311405" y="272119"/>
                  </a:lnTo>
                  <a:cubicBezTo>
                    <a:pt x="304364" y="275048"/>
                    <a:pt x="298204" y="279149"/>
                    <a:pt x="292924" y="284422"/>
                  </a:cubicBezTo>
                  <a:lnTo>
                    <a:pt x="281776" y="277099"/>
                  </a:lnTo>
                  <a:lnTo>
                    <a:pt x="270042" y="294967"/>
                  </a:lnTo>
                  <a:lnTo>
                    <a:pt x="281483" y="302290"/>
                  </a:lnTo>
                  <a:cubicBezTo>
                    <a:pt x="278549" y="309027"/>
                    <a:pt x="277083" y="316350"/>
                    <a:pt x="277376" y="323966"/>
                  </a:cubicBezTo>
                  <a:lnTo>
                    <a:pt x="264175" y="326895"/>
                  </a:lnTo>
                  <a:lnTo>
                    <a:pt x="268282" y="347399"/>
                  </a:lnTo>
                  <a:lnTo>
                    <a:pt x="281483" y="344763"/>
                  </a:lnTo>
                  <a:cubicBezTo>
                    <a:pt x="284416" y="351793"/>
                    <a:pt x="288817" y="357944"/>
                    <a:pt x="294097" y="363217"/>
                  </a:cubicBezTo>
                  <a:lnTo>
                    <a:pt x="286763" y="374348"/>
                  </a:lnTo>
                  <a:lnTo>
                    <a:pt x="304364" y="385772"/>
                  </a:lnTo>
                  <a:lnTo>
                    <a:pt x="311698" y="374641"/>
                  </a:lnTo>
                  <a:cubicBezTo>
                    <a:pt x="318738" y="377570"/>
                    <a:pt x="326072" y="378742"/>
                    <a:pt x="333699" y="378742"/>
                  </a:cubicBezTo>
                  <a:lnTo>
                    <a:pt x="336633" y="391923"/>
                  </a:lnTo>
                  <a:lnTo>
                    <a:pt x="357167" y="387529"/>
                  </a:lnTo>
                  <a:lnTo>
                    <a:pt x="354527" y="374348"/>
                  </a:lnTo>
                  <a:cubicBezTo>
                    <a:pt x="361274" y="371419"/>
                    <a:pt x="367728" y="367318"/>
                    <a:pt x="372715" y="362045"/>
                  </a:cubicBezTo>
                  <a:lnTo>
                    <a:pt x="384155" y="369368"/>
                  </a:lnTo>
                  <a:lnTo>
                    <a:pt x="395596" y="351500"/>
                  </a:lnTo>
                  <a:lnTo>
                    <a:pt x="384449" y="344177"/>
                  </a:lnTo>
                  <a:cubicBezTo>
                    <a:pt x="387089" y="337440"/>
                    <a:pt x="388556" y="330117"/>
                    <a:pt x="388556" y="322208"/>
                  </a:cubicBezTo>
                  <a:lnTo>
                    <a:pt x="401756" y="319572"/>
                  </a:lnTo>
                  <a:lnTo>
                    <a:pt x="397356" y="299068"/>
                  </a:lnTo>
                  <a:lnTo>
                    <a:pt x="384155" y="301704"/>
                  </a:lnTo>
                  <a:cubicBezTo>
                    <a:pt x="381222" y="294674"/>
                    <a:pt x="376822" y="288522"/>
                    <a:pt x="371541" y="283250"/>
                  </a:cubicBezTo>
                  <a:lnTo>
                    <a:pt x="378875" y="272119"/>
                  </a:lnTo>
                  <a:lnTo>
                    <a:pt x="361274" y="260695"/>
                  </a:lnTo>
                  <a:lnTo>
                    <a:pt x="353940" y="271826"/>
                  </a:lnTo>
                  <a:cubicBezTo>
                    <a:pt x="347193" y="268897"/>
                    <a:pt x="339566" y="267432"/>
                    <a:pt x="331939" y="267725"/>
                  </a:cubicBezTo>
                  <a:close/>
                  <a:moveTo>
                    <a:pt x="302012" y="100461"/>
                  </a:moveTo>
                  <a:cubicBezTo>
                    <a:pt x="334574" y="100461"/>
                    <a:pt x="360970" y="126826"/>
                    <a:pt x="360970" y="159348"/>
                  </a:cubicBezTo>
                  <a:cubicBezTo>
                    <a:pt x="360970" y="191870"/>
                    <a:pt x="334574" y="218235"/>
                    <a:pt x="302012" y="218235"/>
                  </a:cubicBezTo>
                  <a:cubicBezTo>
                    <a:pt x="269450" y="218235"/>
                    <a:pt x="243054" y="191870"/>
                    <a:pt x="243054" y="159348"/>
                  </a:cubicBezTo>
                  <a:cubicBezTo>
                    <a:pt x="243054" y="126826"/>
                    <a:pt x="269450" y="100461"/>
                    <a:pt x="302012" y="100461"/>
                  </a:cubicBezTo>
                  <a:close/>
                  <a:moveTo>
                    <a:pt x="309644" y="52722"/>
                  </a:moveTo>
                  <a:lnTo>
                    <a:pt x="304951" y="72933"/>
                  </a:lnTo>
                  <a:cubicBezTo>
                    <a:pt x="293510" y="72640"/>
                    <a:pt x="282070" y="74398"/>
                    <a:pt x="270922" y="78792"/>
                  </a:cubicBezTo>
                  <a:lnTo>
                    <a:pt x="259775" y="60924"/>
                  </a:lnTo>
                  <a:lnTo>
                    <a:pt x="231907" y="78499"/>
                  </a:lnTo>
                  <a:lnTo>
                    <a:pt x="243054" y="96074"/>
                  </a:lnTo>
                  <a:cubicBezTo>
                    <a:pt x="234254" y="104276"/>
                    <a:pt x="227507" y="113942"/>
                    <a:pt x="222813" y="124487"/>
                  </a:cubicBezTo>
                  <a:lnTo>
                    <a:pt x="202278" y="119508"/>
                  </a:lnTo>
                  <a:lnTo>
                    <a:pt x="194945" y="151729"/>
                  </a:lnTo>
                  <a:lnTo>
                    <a:pt x="215479" y="156416"/>
                  </a:lnTo>
                  <a:cubicBezTo>
                    <a:pt x="214892" y="167839"/>
                    <a:pt x="216946" y="179263"/>
                    <a:pt x="221346" y="190394"/>
                  </a:cubicBezTo>
                  <a:lnTo>
                    <a:pt x="203452" y="201525"/>
                  </a:lnTo>
                  <a:lnTo>
                    <a:pt x="220759" y="229353"/>
                  </a:lnTo>
                  <a:lnTo>
                    <a:pt x="238654" y="218222"/>
                  </a:lnTo>
                  <a:cubicBezTo>
                    <a:pt x="246574" y="227009"/>
                    <a:pt x="256255" y="233746"/>
                    <a:pt x="266815" y="238433"/>
                  </a:cubicBezTo>
                  <a:lnTo>
                    <a:pt x="262122" y="258645"/>
                  </a:lnTo>
                  <a:lnTo>
                    <a:pt x="294097" y="265968"/>
                  </a:lnTo>
                  <a:lnTo>
                    <a:pt x="298791" y="245756"/>
                  </a:lnTo>
                  <a:cubicBezTo>
                    <a:pt x="310231" y="246049"/>
                    <a:pt x="321965" y="244292"/>
                    <a:pt x="333112" y="239898"/>
                  </a:cubicBezTo>
                  <a:lnTo>
                    <a:pt x="343966" y="257766"/>
                  </a:lnTo>
                  <a:lnTo>
                    <a:pt x="371835" y="240191"/>
                  </a:lnTo>
                  <a:lnTo>
                    <a:pt x="360687" y="222615"/>
                  </a:lnTo>
                  <a:cubicBezTo>
                    <a:pt x="369488" y="214414"/>
                    <a:pt x="376235" y="204747"/>
                    <a:pt x="380928" y="194495"/>
                  </a:cubicBezTo>
                  <a:lnTo>
                    <a:pt x="401463" y="199182"/>
                  </a:lnTo>
                  <a:lnTo>
                    <a:pt x="408797" y="167254"/>
                  </a:lnTo>
                  <a:lnTo>
                    <a:pt x="388262" y="162567"/>
                  </a:lnTo>
                  <a:cubicBezTo>
                    <a:pt x="388849" y="151143"/>
                    <a:pt x="386795" y="139426"/>
                    <a:pt x="382689" y="128295"/>
                  </a:cubicBezTo>
                  <a:lnTo>
                    <a:pt x="400290" y="117164"/>
                  </a:lnTo>
                  <a:lnTo>
                    <a:pt x="382982" y="89337"/>
                  </a:lnTo>
                  <a:lnTo>
                    <a:pt x="365088" y="100468"/>
                  </a:lnTo>
                  <a:cubicBezTo>
                    <a:pt x="357167" y="91973"/>
                    <a:pt x="347487" y="84943"/>
                    <a:pt x="336926" y="80549"/>
                  </a:cubicBezTo>
                  <a:lnTo>
                    <a:pt x="341620" y="60045"/>
                  </a:lnTo>
                  <a:close/>
                  <a:moveTo>
                    <a:pt x="227919" y="591"/>
                  </a:moveTo>
                  <a:cubicBezTo>
                    <a:pt x="252020" y="-809"/>
                    <a:pt x="278183" y="289"/>
                    <a:pt x="306124" y="3804"/>
                  </a:cubicBezTo>
                  <a:cubicBezTo>
                    <a:pt x="417597" y="17864"/>
                    <a:pt x="483014" y="130053"/>
                    <a:pt x="483308" y="197717"/>
                  </a:cubicBezTo>
                  <a:cubicBezTo>
                    <a:pt x="483894" y="332167"/>
                    <a:pt x="388556" y="393974"/>
                    <a:pt x="387382" y="442305"/>
                  </a:cubicBezTo>
                  <a:cubicBezTo>
                    <a:pt x="385329" y="529010"/>
                    <a:pt x="483894" y="608391"/>
                    <a:pt x="483894" y="608391"/>
                  </a:cubicBezTo>
                  <a:lnTo>
                    <a:pt x="143902" y="608391"/>
                  </a:lnTo>
                  <a:cubicBezTo>
                    <a:pt x="143902" y="608391"/>
                    <a:pt x="208439" y="575877"/>
                    <a:pt x="181744" y="512899"/>
                  </a:cubicBezTo>
                  <a:cubicBezTo>
                    <a:pt x="169717" y="514950"/>
                    <a:pt x="135688" y="521394"/>
                    <a:pt x="108993" y="524909"/>
                  </a:cubicBezTo>
                  <a:cubicBezTo>
                    <a:pt x="82298" y="528424"/>
                    <a:pt x="59124" y="512313"/>
                    <a:pt x="54137" y="498839"/>
                  </a:cubicBezTo>
                  <a:cubicBezTo>
                    <a:pt x="49443" y="485658"/>
                    <a:pt x="63817" y="461638"/>
                    <a:pt x="57657" y="454022"/>
                  </a:cubicBezTo>
                  <a:cubicBezTo>
                    <a:pt x="51790" y="446406"/>
                    <a:pt x="31549" y="424437"/>
                    <a:pt x="38589" y="405690"/>
                  </a:cubicBezTo>
                  <a:cubicBezTo>
                    <a:pt x="45630" y="386651"/>
                    <a:pt x="42109" y="376984"/>
                    <a:pt x="42109" y="376984"/>
                  </a:cubicBezTo>
                  <a:cubicBezTo>
                    <a:pt x="42109" y="376984"/>
                    <a:pt x="3681" y="369368"/>
                    <a:pt x="160" y="355308"/>
                  </a:cubicBezTo>
                  <a:cubicBezTo>
                    <a:pt x="-3360" y="341248"/>
                    <a:pt x="52670" y="255130"/>
                    <a:pt x="52670" y="255130"/>
                  </a:cubicBezTo>
                  <a:cubicBezTo>
                    <a:pt x="52670" y="255130"/>
                    <a:pt x="40936" y="234332"/>
                    <a:pt x="38003" y="222908"/>
                  </a:cubicBezTo>
                  <a:cubicBezTo>
                    <a:pt x="35362" y="211777"/>
                    <a:pt x="38003" y="151436"/>
                    <a:pt x="74378" y="82893"/>
                  </a:cubicBezTo>
                  <a:cubicBezTo>
                    <a:pt x="101880" y="31485"/>
                    <a:pt x="155618" y="4793"/>
                    <a:pt x="227919" y="591"/>
                  </a:cubicBezTo>
                  <a:close/>
                </a:path>
              </a:pathLst>
            </a:custGeom>
            <a:solidFill>
              <a:srgbClr val="0F73EE"/>
            </a:solidFill>
            <a:ln>
              <a:noFill/>
            </a:ln>
          </p:spPr>
        </p:sp>
        <p:sp>
          <p:nvSpPr>
            <p:cNvPr id="37" name="矩形: 圆角 36"/>
            <p:cNvSpPr/>
            <p:nvPr/>
          </p:nvSpPr>
          <p:spPr>
            <a:xfrm>
              <a:off x="6096000" y="892151"/>
              <a:ext cx="4361448" cy="617070"/>
            </a:xfrm>
            <a:prstGeom prst="roundRect">
              <a:avLst>
                <a:gd name="adj" fmla="val 14295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rgbClr val="0F73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  <a:sym typeface="+mn-lt"/>
                </a:rPr>
                <a:t>2.1</a:t>
              </a:r>
              <a:r>
                <a:rPr lang="en-US" altLang="zh-CN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+mn-ea"/>
                  <a:sym typeface="+mn-lt"/>
                </a:rPr>
                <a:t> </a:t>
              </a:r>
              <a:r>
                <a:rPr lang="en-US" altLang="zh-CN" sz="2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TCP/IP</a:t>
              </a:r>
              <a:r>
                <a:rPr lang="zh-CN" altLang="en-US" sz="2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参考</a:t>
              </a:r>
              <a:r>
                <a:rPr lang="zh-CN" altLang="en-US" sz="2400" noProof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+mn-ea"/>
                </a:rPr>
                <a:t>模型简介 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5562189" y="2036857"/>
            <a:ext cx="4963698" cy="617070"/>
            <a:chOff x="5493750" y="892151"/>
            <a:chExt cx="4963698" cy="617070"/>
          </a:xfrm>
        </p:grpSpPr>
        <p:sp>
          <p:nvSpPr>
            <p:cNvPr id="68" name="矩形: 圆角 67"/>
            <p:cNvSpPr/>
            <p:nvPr/>
          </p:nvSpPr>
          <p:spPr>
            <a:xfrm>
              <a:off x="5493750" y="892151"/>
              <a:ext cx="4949067" cy="617070"/>
            </a:xfrm>
            <a:prstGeom prst="roundRect">
              <a:avLst>
                <a:gd name="adj" fmla="val 14295"/>
              </a:avLst>
            </a:prstGeom>
            <a:solidFill>
              <a:srgbClr val="0F73EE">
                <a:alpha val="14902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69" name="human-head-silhouette-with-cogwheels_31441"/>
            <p:cNvSpPr>
              <a:spLocks noChangeAspect="1"/>
            </p:cNvSpPr>
            <p:nvPr/>
          </p:nvSpPr>
          <p:spPr bwMode="auto">
            <a:xfrm>
              <a:off x="5632235" y="1103269"/>
              <a:ext cx="322881" cy="405952"/>
            </a:xfrm>
            <a:custGeom>
              <a:avLst/>
              <a:gdLst>
                <a:gd name="connsiteX0" fmla="*/ 332813 w 483894"/>
                <a:gd name="connsiteY0" fmla="*/ 285272 h 608391"/>
                <a:gd name="connsiteX1" fmla="*/ 370636 w 483894"/>
                <a:gd name="connsiteY1" fmla="*/ 323201 h 608391"/>
                <a:gd name="connsiteX2" fmla="*/ 332813 w 483894"/>
                <a:gd name="connsiteY2" fmla="*/ 361130 h 608391"/>
                <a:gd name="connsiteX3" fmla="*/ 294990 w 483894"/>
                <a:gd name="connsiteY3" fmla="*/ 323201 h 608391"/>
                <a:gd name="connsiteX4" fmla="*/ 332813 w 483894"/>
                <a:gd name="connsiteY4" fmla="*/ 285272 h 608391"/>
                <a:gd name="connsiteX5" fmla="*/ 329299 w 483894"/>
                <a:gd name="connsiteY5" fmla="*/ 254544 h 608391"/>
                <a:gd name="connsiteX6" fmla="*/ 308471 w 483894"/>
                <a:gd name="connsiteY6" fmla="*/ 258937 h 608391"/>
                <a:gd name="connsiteX7" fmla="*/ 311405 w 483894"/>
                <a:gd name="connsiteY7" fmla="*/ 272119 h 608391"/>
                <a:gd name="connsiteX8" fmla="*/ 292924 w 483894"/>
                <a:gd name="connsiteY8" fmla="*/ 284422 h 608391"/>
                <a:gd name="connsiteX9" fmla="*/ 281776 w 483894"/>
                <a:gd name="connsiteY9" fmla="*/ 277099 h 608391"/>
                <a:gd name="connsiteX10" fmla="*/ 270042 w 483894"/>
                <a:gd name="connsiteY10" fmla="*/ 294967 h 608391"/>
                <a:gd name="connsiteX11" fmla="*/ 281483 w 483894"/>
                <a:gd name="connsiteY11" fmla="*/ 302290 h 608391"/>
                <a:gd name="connsiteX12" fmla="*/ 277376 w 483894"/>
                <a:gd name="connsiteY12" fmla="*/ 323966 h 608391"/>
                <a:gd name="connsiteX13" fmla="*/ 264175 w 483894"/>
                <a:gd name="connsiteY13" fmla="*/ 326895 h 608391"/>
                <a:gd name="connsiteX14" fmla="*/ 268282 w 483894"/>
                <a:gd name="connsiteY14" fmla="*/ 347399 h 608391"/>
                <a:gd name="connsiteX15" fmla="*/ 281483 w 483894"/>
                <a:gd name="connsiteY15" fmla="*/ 344763 h 608391"/>
                <a:gd name="connsiteX16" fmla="*/ 294097 w 483894"/>
                <a:gd name="connsiteY16" fmla="*/ 363217 h 608391"/>
                <a:gd name="connsiteX17" fmla="*/ 286763 w 483894"/>
                <a:gd name="connsiteY17" fmla="*/ 374348 h 608391"/>
                <a:gd name="connsiteX18" fmla="*/ 304364 w 483894"/>
                <a:gd name="connsiteY18" fmla="*/ 385772 h 608391"/>
                <a:gd name="connsiteX19" fmla="*/ 311698 w 483894"/>
                <a:gd name="connsiteY19" fmla="*/ 374641 h 608391"/>
                <a:gd name="connsiteX20" fmla="*/ 333699 w 483894"/>
                <a:gd name="connsiteY20" fmla="*/ 378742 h 608391"/>
                <a:gd name="connsiteX21" fmla="*/ 336633 w 483894"/>
                <a:gd name="connsiteY21" fmla="*/ 391923 h 608391"/>
                <a:gd name="connsiteX22" fmla="*/ 357167 w 483894"/>
                <a:gd name="connsiteY22" fmla="*/ 387529 h 608391"/>
                <a:gd name="connsiteX23" fmla="*/ 354527 w 483894"/>
                <a:gd name="connsiteY23" fmla="*/ 374348 h 608391"/>
                <a:gd name="connsiteX24" fmla="*/ 372715 w 483894"/>
                <a:gd name="connsiteY24" fmla="*/ 362045 h 608391"/>
                <a:gd name="connsiteX25" fmla="*/ 384155 w 483894"/>
                <a:gd name="connsiteY25" fmla="*/ 369368 h 608391"/>
                <a:gd name="connsiteX26" fmla="*/ 395596 w 483894"/>
                <a:gd name="connsiteY26" fmla="*/ 351500 h 608391"/>
                <a:gd name="connsiteX27" fmla="*/ 384449 w 483894"/>
                <a:gd name="connsiteY27" fmla="*/ 344177 h 608391"/>
                <a:gd name="connsiteX28" fmla="*/ 388556 w 483894"/>
                <a:gd name="connsiteY28" fmla="*/ 322208 h 608391"/>
                <a:gd name="connsiteX29" fmla="*/ 401756 w 483894"/>
                <a:gd name="connsiteY29" fmla="*/ 319572 h 608391"/>
                <a:gd name="connsiteX30" fmla="*/ 397356 w 483894"/>
                <a:gd name="connsiteY30" fmla="*/ 299068 h 608391"/>
                <a:gd name="connsiteX31" fmla="*/ 384155 w 483894"/>
                <a:gd name="connsiteY31" fmla="*/ 301704 h 608391"/>
                <a:gd name="connsiteX32" fmla="*/ 371541 w 483894"/>
                <a:gd name="connsiteY32" fmla="*/ 283250 h 608391"/>
                <a:gd name="connsiteX33" fmla="*/ 378875 w 483894"/>
                <a:gd name="connsiteY33" fmla="*/ 272119 h 608391"/>
                <a:gd name="connsiteX34" fmla="*/ 361274 w 483894"/>
                <a:gd name="connsiteY34" fmla="*/ 260695 h 608391"/>
                <a:gd name="connsiteX35" fmla="*/ 353940 w 483894"/>
                <a:gd name="connsiteY35" fmla="*/ 271826 h 608391"/>
                <a:gd name="connsiteX36" fmla="*/ 331939 w 483894"/>
                <a:gd name="connsiteY36" fmla="*/ 267725 h 608391"/>
                <a:gd name="connsiteX37" fmla="*/ 302012 w 483894"/>
                <a:gd name="connsiteY37" fmla="*/ 100461 h 608391"/>
                <a:gd name="connsiteX38" fmla="*/ 360970 w 483894"/>
                <a:gd name="connsiteY38" fmla="*/ 159348 h 608391"/>
                <a:gd name="connsiteX39" fmla="*/ 302012 w 483894"/>
                <a:gd name="connsiteY39" fmla="*/ 218235 h 608391"/>
                <a:gd name="connsiteX40" fmla="*/ 243054 w 483894"/>
                <a:gd name="connsiteY40" fmla="*/ 159348 h 608391"/>
                <a:gd name="connsiteX41" fmla="*/ 302012 w 483894"/>
                <a:gd name="connsiteY41" fmla="*/ 100461 h 608391"/>
                <a:gd name="connsiteX42" fmla="*/ 309644 w 483894"/>
                <a:gd name="connsiteY42" fmla="*/ 52722 h 608391"/>
                <a:gd name="connsiteX43" fmla="*/ 304951 w 483894"/>
                <a:gd name="connsiteY43" fmla="*/ 72933 h 608391"/>
                <a:gd name="connsiteX44" fmla="*/ 270922 w 483894"/>
                <a:gd name="connsiteY44" fmla="*/ 78792 h 608391"/>
                <a:gd name="connsiteX45" fmla="*/ 259775 w 483894"/>
                <a:gd name="connsiteY45" fmla="*/ 60924 h 608391"/>
                <a:gd name="connsiteX46" fmla="*/ 231907 w 483894"/>
                <a:gd name="connsiteY46" fmla="*/ 78499 h 608391"/>
                <a:gd name="connsiteX47" fmla="*/ 243054 w 483894"/>
                <a:gd name="connsiteY47" fmla="*/ 96074 h 608391"/>
                <a:gd name="connsiteX48" fmla="*/ 222813 w 483894"/>
                <a:gd name="connsiteY48" fmla="*/ 124487 h 608391"/>
                <a:gd name="connsiteX49" fmla="*/ 202278 w 483894"/>
                <a:gd name="connsiteY49" fmla="*/ 119508 h 608391"/>
                <a:gd name="connsiteX50" fmla="*/ 194945 w 483894"/>
                <a:gd name="connsiteY50" fmla="*/ 151729 h 608391"/>
                <a:gd name="connsiteX51" fmla="*/ 215479 w 483894"/>
                <a:gd name="connsiteY51" fmla="*/ 156416 h 608391"/>
                <a:gd name="connsiteX52" fmla="*/ 221346 w 483894"/>
                <a:gd name="connsiteY52" fmla="*/ 190394 h 608391"/>
                <a:gd name="connsiteX53" fmla="*/ 203452 w 483894"/>
                <a:gd name="connsiteY53" fmla="*/ 201525 h 608391"/>
                <a:gd name="connsiteX54" fmla="*/ 220759 w 483894"/>
                <a:gd name="connsiteY54" fmla="*/ 229353 h 608391"/>
                <a:gd name="connsiteX55" fmla="*/ 238654 w 483894"/>
                <a:gd name="connsiteY55" fmla="*/ 218222 h 608391"/>
                <a:gd name="connsiteX56" fmla="*/ 266815 w 483894"/>
                <a:gd name="connsiteY56" fmla="*/ 238433 h 608391"/>
                <a:gd name="connsiteX57" fmla="*/ 262122 w 483894"/>
                <a:gd name="connsiteY57" fmla="*/ 258645 h 608391"/>
                <a:gd name="connsiteX58" fmla="*/ 294097 w 483894"/>
                <a:gd name="connsiteY58" fmla="*/ 265968 h 608391"/>
                <a:gd name="connsiteX59" fmla="*/ 298791 w 483894"/>
                <a:gd name="connsiteY59" fmla="*/ 245756 h 608391"/>
                <a:gd name="connsiteX60" fmla="*/ 333112 w 483894"/>
                <a:gd name="connsiteY60" fmla="*/ 239898 h 608391"/>
                <a:gd name="connsiteX61" fmla="*/ 343966 w 483894"/>
                <a:gd name="connsiteY61" fmla="*/ 257766 h 608391"/>
                <a:gd name="connsiteX62" fmla="*/ 371835 w 483894"/>
                <a:gd name="connsiteY62" fmla="*/ 240191 h 608391"/>
                <a:gd name="connsiteX63" fmla="*/ 360687 w 483894"/>
                <a:gd name="connsiteY63" fmla="*/ 222615 h 608391"/>
                <a:gd name="connsiteX64" fmla="*/ 380928 w 483894"/>
                <a:gd name="connsiteY64" fmla="*/ 194495 h 608391"/>
                <a:gd name="connsiteX65" fmla="*/ 401463 w 483894"/>
                <a:gd name="connsiteY65" fmla="*/ 199182 h 608391"/>
                <a:gd name="connsiteX66" fmla="*/ 408797 w 483894"/>
                <a:gd name="connsiteY66" fmla="*/ 167254 h 608391"/>
                <a:gd name="connsiteX67" fmla="*/ 388262 w 483894"/>
                <a:gd name="connsiteY67" fmla="*/ 162567 h 608391"/>
                <a:gd name="connsiteX68" fmla="*/ 382689 w 483894"/>
                <a:gd name="connsiteY68" fmla="*/ 128295 h 608391"/>
                <a:gd name="connsiteX69" fmla="*/ 400290 w 483894"/>
                <a:gd name="connsiteY69" fmla="*/ 117164 h 608391"/>
                <a:gd name="connsiteX70" fmla="*/ 382982 w 483894"/>
                <a:gd name="connsiteY70" fmla="*/ 89337 h 608391"/>
                <a:gd name="connsiteX71" fmla="*/ 365088 w 483894"/>
                <a:gd name="connsiteY71" fmla="*/ 100468 h 608391"/>
                <a:gd name="connsiteX72" fmla="*/ 336926 w 483894"/>
                <a:gd name="connsiteY72" fmla="*/ 80549 h 608391"/>
                <a:gd name="connsiteX73" fmla="*/ 341620 w 483894"/>
                <a:gd name="connsiteY73" fmla="*/ 60045 h 608391"/>
                <a:gd name="connsiteX74" fmla="*/ 227919 w 483894"/>
                <a:gd name="connsiteY74" fmla="*/ 591 h 608391"/>
                <a:gd name="connsiteX75" fmla="*/ 306124 w 483894"/>
                <a:gd name="connsiteY75" fmla="*/ 3804 h 608391"/>
                <a:gd name="connsiteX76" fmla="*/ 483308 w 483894"/>
                <a:gd name="connsiteY76" fmla="*/ 197717 h 608391"/>
                <a:gd name="connsiteX77" fmla="*/ 387382 w 483894"/>
                <a:gd name="connsiteY77" fmla="*/ 442305 h 608391"/>
                <a:gd name="connsiteX78" fmla="*/ 483894 w 483894"/>
                <a:gd name="connsiteY78" fmla="*/ 608391 h 608391"/>
                <a:gd name="connsiteX79" fmla="*/ 143902 w 483894"/>
                <a:gd name="connsiteY79" fmla="*/ 608391 h 608391"/>
                <a:gd name="connsiteX80" fmla="*/ 181744 w 483894"/>
                <a:gd name="connsiteY80" fmla="*/ 512899 h 608391"/>
                <a:gd name="connsiteX81" fmla="*/ 108993 w 483894"/>
                <a:gd name="connsiteY81" fmla="*/ 524909 h 608391"/>
                <a:gd name="connsiteX82" fmla="*/ 54137 w 483894"/>
                <a:gd name="connsiteY82" fmla="*/ 498839 h 608391"/>
                <a:gd name="connsiteX83" fmla="*/ 57657 w 483894"/>
                <a:gd name="connsiteY83" fmla="*/ 454022 h 608391"/>
                <a:gd name="connsiteX84" fmla="*/ 38589 w 483894"/>
                <a:gd name="connsiteY84" fmla="*/ 405690 h 608391"/>
                <a:gd name="connsiteX85" fmla="*/ 42109 w 483894"/>
                <a:gd name="connsiteY85" fmla="*/ 376984 h 608391"/>
                <a:gd name="connsiteX86" fmla="*/ 160 w 483894"/>
                <a:gd name="connsiteY86" fmla="*/ 355308 h 608391"/>
                <a:gd name="connsiteX87" fmla="*/ 52670 w 483894"/>
                <a:gd name="connsiteY87" fmla="*/ 255130 h 608391"/>
                <a:gd name="connsiteX88" fmla="*/ 38003 w 483894"/>
                <a:gd name="connsiteY88" fmla="*/ 222908 h 608391"/>
                <a:gd name="connsiteX89" fmla="*/ 74378 w 483894"/>
                <a:gd name="connsiteY89" fmla="*/ 82893 h 608391"/>
                <a:gd name="connsiteX90" fmla="*/ 227919 w 483894"/>
                <a:gd name="connsiteY90" fmla="*/ 591 h 60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483894" h="608391">
                  <a:moveTo>
                    <a:pt x="332813" y="285272"/>
                  </a:moveTo>
                  <a:cubicBezTo>
                    <a:pt x="353702" y="285272"/>
                    <a:pt x="370636" y="302253"/>
                    <a:pt x="370636" y="323201"/>
                  </a:cubicBezTo>
                  <a:cubicBezTo>
                    <a:pt x="370636" y="344149"/>
                    <a:pt x="353702" y="361130"/>
                    <a:pt x="332813" y="361130"/>
                  </a:cubicBezTo>
                  <a:cubicBezTo>
                    <a:pt x="311924" y="361130"/>
                    <a:pt x="294990" y="344149"/>
                    <a:pt x="294990" y="323201"/>
                  </a:cubicBezTo>
                  <a:cubicBezTo>
                    <a:pt x="294990" y="302253"/>
                    <a:pt x="311924" y="285272"/>
                    <a:pt x="332813" y="285272"/>
                  </a:cubicBezTo>
                  <a:close/>
                  <a:moveTo>
                    <a:pt x="329299" y="254544"/>
                  </a:moveTo>
                  <a:lnTo>
                    <a:pt x="308471" y="258937"/>
                  </a:lnTo>
                  <a:lnTo>
                    <a:pt x="311405" y="272119"/>
                  </a:lnTo>
                  <a:cubicBezTo>
                    <a:pt x="304364" y="275048"/>
                    <a:pt x="298204" y="279149"/>
                    <a:pt x="292924" y="284422"/>
                  </a:cubicBezTo>
                  <a:lnTo>
                    <a:pt x="281776" y="277099"/>
                  </a:lnTo>
                  <a:lnTo>
                    <a:pt x="270042" y="294967"/>
                  </a:lnTo>
                  <a:lnTo>
                    <a:pt x="281483" y="302290"/>
                  </a:lnTo>
                  <a:cubicBezTo>
                    <a:pt x="278549" y="309027"/>
                    <a:pt x="277083" y="316350"/>
                    <a:pt x="277376" y="323966"/>
                  </a:cubicBezTo>
                  <a:lnTo>
                    <a:pt x="264175" y="326895"/>
                  </a:lnTo>
                  <a:lnTo>
                    <a:pt x="268282" y="347399"/>
                  </a:lnTo>
                  <a:lnTo>
                    <a:pt x="281483" y="344763"/>
                  </a:lnTo>
                  <a:cubicBezTo>
                    <a:pt x="284416" y="351793"/>
                    <a:pt x="288817" y="357944"/>
                    <a:pt x="294097" y="363217"/>
                  </a:cubicBezTo>
                  <a:lnTo>
                    <a:pt x="286763" y="374348"/>
                  </a:lnTo>
                  <a:lnTo>
                    <a:pt x="304364" y="385772"/>
                  </a:lnTo>
                  <a:lnTo>
                    <a:pt x="311698" y="374641"/>
                  </a:lnTo>
                  <a:cubicBezTo>
                    <a:pt x="318738" y="377570"/>
                    <a:pt x="326072" y="378742"/>
                    <a:pt x="333699" y="378742"/>
                  </a:cubicBezTo>
                  <a:lnTo>
                    <a:pt x="336633" y="391923"/>
                  </a:lnTo>
                  <a:lnTo>
                    <a:pt x="357167" y="387529"/>
                  </a:lnTo>
                  <a:lnTo>
                    <a:pt x="354527" y="374348"/>
                  </a:lnTo>
                  <a:cubicBezTo>
                    <a:pt x="361274" y="371419"/>
                    <a:pt x="367728" y="367318"/>
                    <a:pt x="372715" y="362045"/>
                  </a:cubicBezTo>
                  <a:lnTo>
                    <a:pt x="384155" y="369368"/>
                  </a:lnTo>
                  <a:lnTo>
                    <a:pt x="395596" y="351500"/>
                  </a:lnTo>
                  <a:lnTo>
                    <a:pt x="384449" y="344177"/>
                  </a:lnTo>
                  <a:cubicBezTo>
                    <a:pt x="387089" y="337440"/>
                    <a:pt x="388556" y="330117"/>
                    <a:pt x="388556" y="322208"/>
                  </a:cubicBezTo>
                  <a:lnTo>
                    <a:pt x="401756" y="319572"/>
                  </a:lnTo>
                  <a:lnTo>
                    <a:pt x="397356" y="299068"/>
                  </a:lnTo>
                  <a:lnTo>
                    <a:pt x="384155" y="301704"/>
                  </a:lnTo>
                  <a:cubicBezTo>
                    <a:pt x="381222" y="294674"/>
                    <a:pt x="376822" y="288522"/>
                    <a:pt x="371541" y="283250"/>
                  </a:cubicBezTo>
                  <a:lnTo>
                    <a:pt x="378875" y="272119"/>
                  </a:lnTo>
                  <a:lnTo>
                    <a:pt x="361274" y="260695"/>
                  </a:lnTo>
                  <a:lnTo>
                    <a:pt x="353940" y="271826"/>
                  </a:lnTo>
                  <a:cubicBezTo>
                    <a:pt x="347193" y="268897"/>
                    <a:pt x="339566" y="267432"/>
                    <a:pt x="331939" y="267725"/>
                  </a:cubicBezTo>
                  <a:close/>
                  <a:moveTo>
                    <a:pt x="302012" y="100461"/>
                  </a:moveTo>
                  <a:cubicBezTo>
                    <a:pt x="334574" y="100461"/>
                    <a:pt x="360970" y="126826"/>
                    <a:pt x="360970" y="159348"/>
                  </a:cubicBezTo>
                  <a:cubicBezTo>
                    <a:pt x="360970" y="191870"/>
                    <a:pt x="334574" y="218235"/>
                    <a:pt x="302012" y="218235"/>
                  </a:cubicBezTo>
                  <a:cubicBezTo>
                    <a:pt x="269450" y="218235"/>
                    <a:pt x="243054" y="191870"/>
                    <a:pt x="243054" y="159348"/>
                  </a:cubicBezTo>
                  <a:cubicBezTo>
                    <a:pt x="243054" y="126826"/>
                    <a:pt x="269450" y="100461"/>
                    <a:pt x="302012" y="100461"/>
                  </a:cubicBezTo>
                  <a:close/>
                  <a:moveTo>
                    <a:pt x="309644" y="52722"/>
                  </a:moveTo>
                  <a:lnTo>
                    <a:pt x="304951" y="72933"/>
                  </a:lnTo>
                  <a:cubicBezTo>
                    <a:pt x="293510" y="72640"/>
                    <a:pt x="282070" y="74398"/>
                    <a:pt x="270922" y="78792"/>
                  </a:cubicBezTo>
                  <a:lnTo>
                    <a:pt x="259775" y="60924"/>
                  </a:lnTo>
                  <a:lnTo>
                    <a:pt x="231907" y="78499"/>
                  </a:lnTo>
                  <a:lnTo>
                    <a:pt x="243054" y="96074"/>
                  </a:lnTo>
                  <a:cubicBezTo>
                    <a:pt x="234254" y="104276"/>
                    <a:pt x="227507" y="113942"/>
                    <a:pt x="222813" y="124487"/>
                  </a:cubicBezTo>
                  <a:lnTo>
                    <a:pt x="202278" y="119508"/>
                  </a:lnTo>
                  <a:lnTo>
                    <a:pt x="194945" y="151729"/>
                  </a:lnTo>
                  <a:lnTo>
                    <a:pt x="215479" y="156416"/>
                  </a:lnTo>
                  <a:cubicBezTo>
                    <a:pt x="214892" y="167839"/>
                    <a:pt x="216946" y="179263"/>
                    <a:pt x="221346" y="190394"/>
                  </a:cubicBezTo>
                  <a:lnTo>
                    <a:pt x="203452" y="201525"/>
                  </a:lnTo>
                  <a:lnTo>
                    <a:pt x="220759" y="229353"/>
                  </a:lnTo>
                  <a:lnTo>
                    <a:pt x="238654" y="218222"/>
                  </a:lnTo>
                  <a:cubicBezTo>
                    <a:pt x="246574" y="227009"/>
                    <a:pt x="256255" y="233746"/>
                    <a:pt x="266815" y="238433"/>
                  </a:cubicBezTo>
                  <a:lnTo>
                    <a:pt x="262122" y="258645"/>
                  </a:lnTo>
                  <a:lnTo>
                    <a:pt x="294097" y="265968"/>
                  </a:lnTo>
                  <a:lnTo>
                    <a:pt x="298791" y="245756"/>
                  </a:lnTo>
                  <a:cubicBezTo>
                    <a:pt x="310231" y="246049"/>
                    <a:pt x="321965" y="244292"/>
                    <a:pt x="333112" y="239898"/>
                  </a:cubicBezTo>
                  <a:lnTo>
                    <a:pt x="343966" y="257766"/>
                  </a:lnTo>
                  <a:lnTo>
                    <a:pt x="371835" y="240191"/>
                  </a:lnTo>
                  <a:lnTo>
                    <a:pt x="360687" y="222615"/>
                  </a:lnTo>
                  <a:cubicBezTo>
                    <a:pt x="369488" y="214414"/>
                    <a:pt x="376235" y="204747"/>
                    <a:pt x="380928" y="194495"/>
                  </a:cubicBezTo>
                  <a:lnTo>
                    <a:pt x="401463" y="199182"/>
                  </a:lnTo>
                  <a:lnTo>
                    <a:pt x="408797" y="167254"/>
                  </a:lnTo>
                  <a:lnTo>
                    <a:pt x="388262" y="162567"/>
                  </a:lnTo>
                  <a:cubicBezTo>
                    <a:pt x="388849" y="151143"/>
                    <a:pt x="386795" y="139426"/>
                    <a:pt x="382689" y="128295"/>
                  </a:cubicBezTo>
                  <a:lnTo>
                    <a:pt x="400290" y="117164"/>
                  </a:lnTo>
                  <a:lnTo>
                    <a:pt x="382982" y="89337"/>
                  </a:lnTo>
                  <a:lnTo>
                    <a:pt x="365088" y="100468"/>
                  </a:lnTo>
                  <a:cubicBezTo>
                    <a:pt x="357167" y="91973"/>
                    <a:pt x="347487" y="84943"/>
                    <a:pt x="336926" y="80549"/>
                  </a:cubicBezTo>
                  <a:lnTo>
                    <a:pt x="341620" y="60045"/>
                  </a:lnTo>
                  <a:close/>
                  <a:moveTo>
                    <a:pt x="227919" y="591"/>
                  </a:moveTo>
                  <a:cubicBezTo>
                    <a:pt x="252020" y="-809"/>
                    <a:pt x="278183" y="289"/>
                    <a:pt x="306124" y="3804"/>
                  </a:cubicBezTo>
                  <a:cubicBezTo>
                    <a:pt x="417597" y="17864"/>
                    <a:pt x="483014" y="130053"/>
                    <a:pt x="483308" y="197717"/>
                  </a:cubicBezTo>
                  <a:cubicBezTo>
                    <a:pt x="483894" y="332167"/>
                    <a:pt x="388556" y="393974"/>
                    <a:pt x="387382" y="442305"/>
                  </a:cubicBezTo>
                  <a:cubicBezTo>
                    <a:pt x="385329" y="529010"/>
                    <a:pt x="483894" y="608391"/>
                    <a:pt x="483894" y="608391"/>
                  </a:cubicBezTo>
                  <a:lnTo>
                    <a:pt x="143902" y="608391"/>
                  </a:lnTo>
                  <a:cubicBezTo>
                    <a:pt x="143902" y="608391"/>
                    <a:pt x="208439" y="575877"/>
                    <a:pt x="181744" y="512899"/>
                  </a:cubicBezTo>
                  <a:cubicBezTo>
                    <a:pt x="169717" y="514950"/>
                    <a:pt x="135688" y="521394"/>
                    <a:pt x="108993" y="524909"/>
                  </a:cubicBezTo>
                  <a:cubicBezTo>
                    <a:pt x="82298" y="528424"/>
                    <a:pt x="59124" y="512313"/>
                    <a:pt x="54137" y="498839"/>
                  </a:cubicBezTo>
                  <a:cubicBezTo>
                    <a:pt x="49443" y="485658"/>
                    <a:pt x="63817" y="461638"/>
                    <a:pt x="57657" y="454022"/>
                  </a:cubicBezTo>
                  <a:cubicBezTo>
                    <a:pt x="51790" y="446406"/>
                    <a:pt x="31549" y="424437"/>
                    <a:pt x="38589" y="405690"/>
                  </a:cubicBezTo>
                  <a:cubicBezTo>
                    <a:pt x="45630" y="386651"/>
                    <a:pt x="42109" y="376984"/>
                    <a:pt x="42109" y="376984"/>
                  </a:cubicBezTo>
                  <a:cubicBezTo>
                    <a:pt x="42109" y="376984"/>
                    <a:pt x="3681" y="369368"/>
                    <a:pt x="160" y="355308"/>
                  </a:cubicBezTo>
                  <a:cubicBezTo>
                    <a:pt x="-3360" y="341248"/>
                    <a:pt x="52670" y="255130"/>
                    <a:pt x="52670" y="255130"/>
                  </a:cubicBezTo>
                  <a:cubicBezTo>
                    <a:pt x="52670" y="255130"/>
                    <a:pt x="40936" y="234332"/>
                    <a:pt x="38003" y="222908"/>
                  </a:cubicBezTo>
                  <a:cubicBezTo>
                    <a:pt x="35362" y="211777"/>
                    <a:pt x="38003" y="151436"/>
                    <a:pt x="74378" y="82893"/>
                  </a:cubicBezTo>
                  <a:cubicBezTo>
                    <a:pt x="101880" y="31485"/>
                    <a:pt x="155618" y="4793"/>
                    <a:pt x="227919" y="591"/>
                  </a:cubicBezTo>
                  <a:close/>
                </a:path>
              </a:pathLst>
            </a:custGeom>
            <a:solidFill>
              <a:srgbClr val="0F73EE"/>
            </a:solidFill>
            <a:ln>
              <a:noFill/>
            </a:ln>
          </p:spPr>
        </p:sp>
        <p:sp>
          <p:nvSpPr>
            <p:cNvPr id="70" name="矩形: 圆角 69"/>
            <p:cNvSpPr/>
            <p:nvPr/>
          </p:nvSpPr>
          <p:spPr>
            <a:xfrm>
              <a:off x="6096000" y="892151"/>
              <a:ext cx="4361448" cy="617070"/>
            </a:xfrm>
            <a:prstGeom prst="roundRect">
              <a:avLst>
                <a:gd name="adj" fmla="val 14295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rgbClr val="0F73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  <a:sym typeface="+mn-lt"/>
                </a:rPr>
                <a:t>2.2 </a:t>
              </a:r>
              <a:r>
                <a:rPr lang="zh-CN" altLang="en-US" sz="2400" noProof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+mn-ea"/>
                </a:rPr>
                <a:t>部分</a:t>
              </a:r>
              <a:r>
                <a:rPr lang="en-US" altLang="zh-CN" sz="2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TCP/IP</a:t>
              </a:r>
              <a:r>
                <a:rPr lang="zh-CN" altLang="en-US" sz="2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协议</a:t>
              </a:r>
              <a:r>
                <a:rPr lang="zh-CN" altLang="en-US" sz="2400" noProof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  <a:cs typeface="+mn-ea"/>
                </a:rPr>
                <a:t>简介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562189" y="2902866"/>
            <a:ext cx="4963698" cy="617070"/>
            <a:chOff x="5493750" y="892151"/>
            <a:chExt cx="4963698" cy="617070"/>
          </a:xfrm>
        </p:grpSpPr>
        <p:sp>
          <p:nvSpPr>
            <p:cNvPr id="72" name="矩形: 圆角 71"/>
            <p:cNvSpPr/>
            <p:nvPr/>
          </p:nvSpPr>
          <p:spPr>
            <a:xfrm>
              <a:off x="5493750" y="892151"/>
              <a:ext cx="4949067" cy="617070"/>
            </a:xfrm>
            <a:prstGeom prst="roundRect">
              <a:avLst>
                <a:gd name="adj" fmla="val 14295"/>
              </a:avLst>
            </a:prstGeom>
            <a:solidFill>
              <a:srgbClr val="0F73EE">
                <a:alpha val="14902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3" name="human-head-silhouette-with-cogwheels_31441"/>
            <p:cNvSpPr>
              <a:spLocks noChangeAspect="1"/>
            </p:cNvSpPr>
            <p:nvPr/>
          </p:nvSpPr>
          <p:spPr bwMode="auto">
            <a:xfrm>
              <a:off x="5632235" y="1103269"/>
              <a:ext cx="322881" cy="405952"/>
            </a:xfrm>
            <a:custGeom>
              <a:avLst/>
              <a:gdLst>
                <a:gd name="connsiteX0" fmla="*/ 332813 w 483894"/>
                <a:gd name="connsiteY0" fmla="*/ 285272 h 608391"/>
                <a:gd name="connsiteX1" fmla="*/ 370636 w 483894"/>
                <a:gd name="connsiteY1" fmla="*/ 323201 h 608391"/>
                <a:gd name="connsiteX2" fmla="*/ 332813 w 483894"/>
                <a:gd name="connsiteY2" fmla="*/ 361130 h 608391"/>
                <a:gd name="connsiteX3" fmla="*/ 294990 w 483894"/>
                <a:gd name="connsiteY3" fmla="*/ 323201 h 608391"/>
                <a:gd name="connsiteX4" fmla="*/ 332813 w 483894"/>
                <a:gd name="connsiteY4" fmla="*/ 285272 h 608391"/>
                <a:gd name="connsiteX5" fmla="*/ 329299 w 483894"/>
                <a:gd name="connsiteY5" fmla="*/ 254544 h 608391"/>
                <a:gd name="connsiteX6" fmla="*/ 308471 w 483894"/>
                <a:gd name="connsiteY6" fmla="*/ 258937 h 608391"/>
                <a:gd name="connsiteX7" fmla="*/ 311405 w 483894"/>
                <a:gd name="connsiteY7" fmla="*/ 272119 h 608391"/>
                <a:gd name="connsiteX8" fmla="*/ 292924 w 483894"/>
                <a:gd name="connsiteY8" fmla="*/ 284422 h 608391"/>
                <a:gd name="connsiteX9" fmla="*/ 281776 w 483894"/>
                <a:gd name="connsiteY9" fmla="*/ 277099 h 608391"/>
                <a:gd name="connsiteX10" fmla="*/ 270042 w 483894"/>
                <a:gd name="connsiteY10" fmla="*/ 294967 h 608391"/>
                <a:gd name="connsiteX11" fmla="*/ 281483 w 483894"/>
                <a:gd name="connsiteY11" fmla="*/ 302290 h 608391"/>
                <a:gd name="connsiteX12" fmla="*/ 277376 w 483894"/>
                <a:gd name="connsiteY12" fmla="*/ 323966 h 608391"/>
                <a:gd name="connsiteX13" fmla="*/ 264175 w 483894"/>
                <a:gd name="connsiteY13" fmla="*/ 326895 h 608391"/>
                <a:gd name="connsiteX14" fmla="*/ 268282 w 483894"/>
                <a:gd name="connsiteY14" fmla="*/ 347399 h 608391"/>
                <a:gd name="connsiteX15" fmla="*/ 281483 w 483894"/>
                <a:gd name="connsiteY15" fmla="*/ 344763 h 608391"/>
                <a:gd name="connsiteX16" fmla="*/ 294097 w 483894"/>
                <a:gd name="connsiteY16" fmla="*/ 363217 h 608391"/>
                <a:gd name="connsiteX17" fmla="*/ 286763 w 483894"/>
                <a:gd name="connsiteY17" fmla="*/ 374348 h 608391"/>
                <a:gd name="connsiteX18" fmla="*/ 304364 w 483894"/>
                <a:gd name="connsiteY18" fmla="*/ 385772 h 608391"/>
                <a:gd name="connsiteX19" fmla="*/ 311698 w 483894"/>
                <a:gd name="connsiteY19" fmla="*/ 374641 h 608391"/>
                <a:gd name="connsiteX20" fmla="*/ 333699 w 483894"/>
                <a:gd name="connsiteY20" fmla="*/ 378742 h 608391"/>
                <a:gd name="connsiteX21" fmla="*/ 336633 w 483894"/>
                <a:gd name="connsiteY21" fmla="*/ 391923 h 608391"/>
                <a:gd name="connsiteX22" fmla="*/ 357167 w 483894"/>
                <a:gd name="connsiteY22" fmla="*/ 387529 h 608391"/>
                <a:gd name="connsiteX23" fmla="*/ 354527 w 483894"/>
                <a:gd name="connsiteY23" fmla="*/ 374348 h 608391"/>
                <a:gd name="connsiteX24" fmla="*/ 372715 w 483894"/>
                <a:gd name="connsiteY24" fmla="*/ 362045 h 608391"/>
                <a:gd name="connsiteX25" fmla="*/ 384155 w 483894"/>
                <a:gd name="connsiteY25" fmla="*/ 369368 h 608391"/>
                <a:gd name="connsiteX26" fmla="*/ 395596 w 483894"/>
                <a:gd name="connsiteY26" fmla="*/ 351500 h 608391"/>
                <a:gd name="connsiteX27" fmla="*/ 384449 w 483894"/>
                <a:gd name="connsiteY27" fmla="*/ 344177 h 608391"/>
                <a:gd name="connsiteX28" fmla="*/ 388556 w 483894"/>
                <a:gd name="connsiteY28" fmla="*/ 322208 h 608391"/>
                <a:gd name="connsiteX29" fmla="*/ 401756 w 483894"/>
                <a:gd name="connsiteY29" fmla="*/ 319572 h 608391"/>
                <a:gd name="connsiteX30" fmla="*/ 397356 w 483894"/>
                <a:gd name="connsiteY30" fmla="*/ 299068 h 608391"/>
                <a:gd name="connsiteX31" fmla="*/ 384155 w 483894"/>
                <a:gd name="connsiteY31" fmla="*/ 301704 h 608391"/>
                <a:gd name="connsiteX32" fmla="*/ 371541 w 483894"/>
                <a:gd name="connsiteY32" fmla="*/ 283250 h 608391"/>
                <a:gd name="connsiteX33" fmla="*/ 378875 w 483894"/>
                <a:gd name="connsiteY33" fmla="*/ 272119 h 608391"/>
                <a:gd name="connsiteX34" fmla="*/ 361274 w 483894"/>
                <a:gd name="connsiteY34" fmla="*/ 260695 h 608391"/>
                <a:gd name="connsiteX35" fmla="*/ 353940 w 483894"/>
                <a:gd name="connsiteY35" fmla="*/ 271826 h 608391"/>
                <a:gd name="connsiteX36" fmla="*/ 331939 w 483894"/>
                <a:gd name="connsiteY36" fmla="*/ 267725 h 608391"/>
                <a:gd name="connsiteX37" fmla="*/ 302012 w 483894"/>
                <a:gd name="connsiteY37" fmla="*/ 100461 h 608391"/>
                <a:gd name="connsiteX38" fmla="*/ 360970 w 483894"/>
                <a:gd name="connsiteY38" fmla="*/ 159348 h 608391"/>
                <a:gd name="connsiteX39" fmla="*/ 302012 w 483894"/>
                <a:gd name="connsiteY39" fmla="*/ 218235 h 608391"/>
                <a:gd name="connsiteX40" fmla="*/ 243054 w 483894"/>
                <a:gd name="connsiteY40" fmla="*/ 159348 h 608391"/>
                <a:gd name="connsiteX41" fmla="*/ 302012 w 483894"/>
                <a:gd name="connsiteY41" fmla="*/ 100461 h 608391"/>
                <a:gd name="connsiteX42" fmla="*/ 309644 w 483894"/>
                <a:gd name="connsiteY42" fmla="*/ 52722 h 608391"/>
                <a:gd name="connsiteX43" fmla="*/ 304951 w 483894"/>
                <a:gd name="connsiteY43" fmla="*/ 72933 h 608391"/>
                <a:gd name="connsiteX44" fmla="*/ 270922 w 483894"/>
                <a:gd name="connsiteY44" fmla="*/ 78792 h 608391"/>
                <a:gd name="connsiteX45" fmla="*/ 259775 w 483894"/>
                <a:gd name="connsiteY45" fmla="*/ 60924 h 608391"/>
                <a:gd name="connsiteX46" fmla="*/ 231907 w 483894"/>
                <a:gd name="connsiteY46" fmla="*/ 78499 h 608391"/>
                <a:gd name="connsiteX47" fmla="*/ 243054 w 483894"/>
                <a:gd name="connsiteY47" fmla="*/ 96074 h 608391"/>
                <a:gd name="connsiteX48" fmla="*/ 222813 w 483894"/>
                <a:gd name="connsiteY48" fmla="*/ 124487 h 608391"/>
                <a:gd name="connsiteX49" fmla="*/ 202278 w 483894"/>
                <a:gd name="connsiteY49" fmla="*/ 119508 h 608391"/>
                <a:gd name="connsiteX50" fmla="*/ 194945 w 483894"/>
                <a:gd name="connsiteY50" fmla="*/ 151729 h 608391"/>
                <a:gd name="connsiteX51" fmla="*/ 215479 w 483894"/>
                <a:gd name="connsiteY51" fmla="*/ 156416 h 608391"/>
                <a:gd name="connsiteX52" fmla="*/ 221346 w 483894"/>
                <a:gd name="connsiteY52" fmla="*/ 190394 h 608391"/>
                <a:gd name="connsiteX53" fmla="*/ 203452 w 483894"/>
                <a:gd name="connsiteY53" fmla="*/ 201525 h 608391"/>
                <a:gd name="connsiteX54" fmla="*/ 220759 w 483894"/>
                <a:gd name="connsiteY54" fmla="*/ 229353 h 608391"/>
                <a:gd name="connsiteX55" fmla="*/ 238654 w 483894"/>
                <a:gd name="connsiteY55" fmla="*/ 218222 h 608391"/>
                <a:gd name="connsiteX56" fmla="*/ 266815 w 483894"/>
                <a:gd name="connsiteY56" fmla="*/ 238433 h 608391"/>
                <a:gd name="connsiteX57" fmla="*/ 262122 w 483894"/>
                <a:gd name="connsiteY57" fmla="*/ 258645 h 608391"/>
                <a:gd name="connsiteX58" fmla="*/ 294097 w 483894"/>
                <a:gd name="connsiteY58" fmla="*/ 265968 h 608391"/>
                <a:gd name="connsiteX59" fmla="*/ 298791 w 483894"/>
                <a:gd name="connsiteY59" fmla="*/ 245756 h 608391"/>
                <a:gd name="connsiteX60" fmla="*/ 333112 w 483894"/>
                <a:gd name="connsiteY60" fmla="*/ 239898 h 608391"/>
                <a:gd name="connsiteX61" fmla="*/ 343966 w 483894"/>
                <a:gd name="connsiteY61" fmla="*/ 257766 h 608391"/>
                <a:gd name="connsiteX62" fmla="*/ 371835 w 483894"/>
                <a:gd name="connsiteY62" fmla="*/ 240191 h 608391"/>
                <a:gd name="connsiteX63" fmla="*/ 360687 w 483894"/>
                <a:gd name="connsiteY63" fmla="*/ 222615 h 608391"/>
                <a:gd name="connsiteX64" fmla="*/ 380928 w 483894"/>
                <a:gd name="connsiteY64" fmla="*/ 194495 h 608391"/>
                <a:gd name="connsiteX65" fmla="*/ 401463 w 483894"/>
                <a:gd name="connsiteY65" fmla="*/ 199182 h 608391"/>
                <a:gd name="connsiteX66" fmla="*/ 408797 w 483894"/>
                <a:gd name="connsiteY66" fmla="*/ 167254 h 608391"/>
                <a:gd name="connsiteX67" fmla="*/ 388262 w 483894"/>
                <a:gd name="connsiteY67" fmla="*/ 162567 h 608391"/>
                <a:gd name="connsiteX68" fmla="*/ 382689 w 483894"/>
                <a:gd name="connsiteY68" fmla="*/ 128295 h 608391"/>
                <a:gd name="connsiteX69" fmla="*/ 400290 w 483894"/>
                <a:gd name="connsiteY69" fmla="*/ 117164 h 608391"/>
                <a:gd name="connsiteX70" fmla="*/ 382982 w 483894"/>
                <a:gd name="connsiteY70" fmla="*/ 89337 h 608391"/>
                <a:gd name="connsiteX71" fmla="*/ 365088 w 483894"/>
                <a:gd name="connsiteY71" fmla="*/ 100468 h 608391"/>
                <a:gd name="connsiteX72" fmla="*/ 336926 w 483894"/>
                <a:gd name="connsiteY72" fmla="*/ 80549 h 608391"/>
                <a:gd name="connsiteX73" fmla="*/ 341620 w 483894"/>
                <a:gd name="connsiteY73" fmla="*/ 60045 h 608391"/>
                <a:gd name="connsiteX74" fmla="*/ 227919 w 483894"/>
                <a:gd name="connsiteY74" fmla="*/ 591 h 608391"/>
                <a:gd name="connsiteX75" fmla="*/ 306124 w 483894"/>
                <a:gd name="connsiteY75" fmla="*/ 3804 h 608391"/>
                <a:gd name="connsiteX76" fmla="*/ 483308 w 483894"/>
                <a:gd name="connsiteY76" fmla="*/ 197717 h 608391"/>
                <a:gd name="connsiteX77" fmla="*/ 387382 w 483894"/>
                <a:gd name="connsiteY77" fmla="*/ 442305 h 608391"/>
                <a:gd name="connsiteX78" fmla="*/ 483894 w 483894"/>
                <a:gd name="connsiteY78" fmla="*/ 608391 h 608391"/>
                <a:gd name="connsiteX79" fmla="*/ 143902 w 483894"/>
                <a:gd name="connsiteY79" fmla="*/ 608391 h 608391"/>
                <a:gd name="connsiteX80" fmla="*/ 181744 w 483894"/>
                <a:gd name="connsiteY80" fmla="*/ 512899 h 608391"/>
                <a:gd name="connsiteX81" fmla="*/ 108993 w 483894"/>
                <a:gd name="connsiteY81" fmla="*/ 524909 h 608391"/>
                <a:gd name="connsiteX82" fmla="*/ 54137 w 483894"/>
                <a:gd name="connsiteY82" fmla="*/ 498839 h 608391"/>
                <a:gd name="connsiteX83" fmla="*/ 57657 w 483894"/>
                <a:gd name="connsiteY83" fmla="*/ 454022 h 608391"/>
                <a:gd name="connsiteX84" fmla="*/ 38589 w 483894"/>
                <a:gd name="connsiteY84" fmla="*/ 405690 h 608391"/>
                <a:gd name="connsiteX85" fmla="*/ 42109 w 483894"/>
                <a:gd name="connsiteY85" fmla="*/ 376984 h 608391"/>
                <a:gd name="connsiteX86" fmla="*/ 160 w 483894"/>
                <a:gd name="connsiteY86" fmla="*/ 355308 h 608391"/>
                <a:gd name="connsiteX87" fmla="*/ 52670 w 483894"/>
                <a:gd name="connsiteY87" fmla="*/ 255130 h 608391"/>
                <a:gd name="connsiteX88" fmla="*/ 38003 w 483894"/>
                <a:gd name="connsiteY88" fmla="*/ 222908 h 608391"/>
                <a:gd name="connsiteX89" fmla="*/ 74378 w 483894"/>
                <a:gd name="connsiteY89" fmla="*/ 82893 h 608391"/>
                <a:gd name="connsiteX90" fmla="*/ 227919 w 483894"/>
                <a:gd name="connsiteY90" fmla="*/ 591 h 60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483894" h="608391">
                  <a:moveTo>
                    <a:pt x="332813" y="285272"/>
                  </a:moveTo>
                  <a:cubicBezTo>
                    <a:pt x="353702" y="285272"/>
                    <a:pt x="370636" y="302253"/>
                    <a:pt x="370636" y="323201"/>
                  </a:cubicBezTo>
                  <a:cubicBezTo>
                    <a:pt x="370636" y="344149"/>
                    <a:pt x="353702" y="361130"/>
                    <a:pt x="332813" y="361130"/>
                  </a:cubicBezTo>
                  <a:cubicBezTo>
                    <a:pt x="311924" y="361130"/>
                    <a:pt x="294990" y="344149"/>
                    <a:pt x="294990" y="323201"/>
                  </a:cubicBezTo>
                  <a:cubicBezTo>
                    <a:pt x="294990" y="302253"/>
                    <a:pt x="311924" y="285272"/>
                    <a:pt x="332813" y="285272"/>
                  </a:cubicBezTo>
                  <a:close/>
                  <a:moveTo>
                    <a:pt x="329299" y="254544"/>
                  </a:moveTo>
                  <a:lnTo>
                    <a:pt x="308471" y="258937"/>
                  </a:lnTo>
                  <a:lnTo>
                    <a:pt x="311405" y="272119"/>
                  </a:lnTo>
                  <a:cubicBezTo>
                    <a:pt x="304364" y="275048"/>
                    <a:pt x="298204" y="279149"/>
                    <a:pt x="292924" y="284422"/>
                  </a:cubicBezTo>
                  <a:lnTo>
                    <a:pt x="281776" y="277099"/>
                  </a:lnTo>
                  <a:lnTo>
                    <a:pt x="270042" y="294967"/>
                  </a:lnTo>
                  <a:lnTo>
                    <a:pt x="281483" y="302290"/>
                  </a:lnTo>
                  <a:cubicBezTo>
                    <a:pt x="278549" y="309027"/>
                    <a:pt x="277083" y="316350"/>
                    <a:pt x="277376" y="323966"/>
                  </a:cubicBezTo>
                  <a:lnTo>
                    <a:pt x="264175" y="326895"/>
                  </a:lnTo>
                  <a:lnTo>
                    <a:pt x="268282" y="347399"/>
                  </a:lnTo>
                  <a:lnTo>
                    <a:pt x="281483" y="344763"/>
                  </a:lnTo>
                  <a:cubicBezTo>
                    <a:pt x="284416" y="351793"/>
                    <a:pt x="288817" y="357944"/>
                    <a:pt x="294097" y="363217"/>
                  </a:cubicBezTo>
                  <a:lnTo>
                    <a:pt x="286763" y="374348"/>
                  </a:lnTo>
                  <a:lnTo>
                    <a:pt x="304364" y="385772"/>
                  </a:lnTo>
                  <a:lnTo>
                    <a:pt x="311698" y="374641"/>
                  </a:lnTo>
                  <a:cubicBezTo>
                    <a:pt x="318738" y="377570"/>
                    <a:pt x="326072" y="378742"/>
                    <a:pt x="333699" y="378742"/>
                  </a:cubicBezTo>
                  <a:lnTo>
                    <a:pt x="336633" y="391923"/>
                  </a:lnTo>
                  <a:lnTo>
                    <a:pt x="357167" y="387529"/>
                  </a:lnTo>
                  <a:lnTo>
                    <a:pt x="354527" y="374348"/>
                  </a:lnTo>
                  <a:cubicBezTo>
                    <a:pt x="361274" y="371419"/>
                    <a:pt x="367728" y="367318"/>
                    <a:pt x="372715" y="362045"/>
                  </a:cubicBezTo>
                  <a:lnTo>
                    <a:pt x="384155" y="369368"/>
                  </a:lnTo>
                  <a:lnTo>
                    <a:pt x="395596" y="351500"/>
                  </a:lnTo>
                  <a:lnTo>
                    <a:pt x="384449" y="344177"/>
                  </a:lnTo>
                  <a:cubicBezTo>
                    <a:pt x="387089" y="337440"/>
                    <a:pt x="388556" y="330117"/>
                    <a:pt x="388556" y="322208"/>
                  </a:cubicBezTo>
                  <a:lnTo>
                    <a:pt x="401756" y="319572"/>
                  </a:lnTo>
                  <a:lnTo>
                    <a:pt x="397356" y="299068"/>
                  </a:lnTo>
                  <a:lnTo>
                    <a:pt x="384155" y="301704"/>
                  </a:lnTo>
                  <a:cubicBezTo>
                    <a:pt x="381222" y="294674"/>
                    <a:pt x="376822" y="288522"/>
                    <a:pt x="371541" y="283250"/>
                  </a:cubicBezTo>
                  <a:lnTo>
                    <a:pt x="378875" y="272119"/>
                  </a:lnTo>
                  <a:lnTo>
                    <a:pt x="361274" y="260695"/>
                  </a:lnTo>
                  <a:lnTo>
                    <a:pt x="353940" y="271826"/>
                  </a:lnTo>
                  <a:cubicBezTo>
                    <a:pt x="347193" y="268897"/>
                    <a:pt x="339566" y="267432"/>
                    <a:pt x="331939" y="267725"/>
                  </a:cubicBezTo>
                  <a:close/>
                  <a:moveTo>
                    <a:pt x="302012" y="100461"/>
                  </a:moveTo>
                  <a:cubicBezTo>
                    <a:pt x="334574" y="100461"/>
                    <a:pt x="360970" y="126826"/>
                    <a:pt x="360970" y="159348"/>
                  </a:cubicBezTo>
                  <a:cubicBezTo>
                    <a:pt x="360970" y="191870"/>
                    <a:pt x="334574" y="218235"/>
                    <a:pt x="302012" y="218235"/>
                  </a:cubicBezTo>
                  <a:cubicBezTo>
                    <a:pt x="269450" y="218235"/>
                    <a:pt x="243054" y="191870"/>
                    <a:pt x="243054" y="159348"/>
                  </a:cubicBezTo>
                  <a:cubicBezTo>
                    <a:pt x="243054" y="126826"/>
                    <a:pt x="269450" y="100461"/>
                    <a:pt x="302012" y="100461"/>
                  </a:cubicBezTo>
                  <a:close/>
                  <a:moveTo>
                    <a:pt x="309644" y="52722"/>
                  </a:moveTo>
                  <a:lnTo>
                    <a:pt x="304951" y="72933"/>
                  </a:lnTo>
                  <a:cubicBezTo>
                    <a:pt x="293510" y="72640"/>
                    <a:pt x="282070" y="74398"/>
                    <a:pt x="270922" y="78792"/>
                  </a:cubicBezTo>
                  <a:lnTo>
                    <a:pt x="259775" y="60924"/>
                  </a:lnTo>
                  <a:lnTo>
                    <a:pt x="231907" y="78499"/>
                  </a:lnTo>
                  <a:lnTo>
                    <a:pt x="243054" y="96074"/>
                  </a:lnTo>
                  <a:cubicBezTo>
                    <a:pt x="234254" y="104276"/>
                    <a:pt x="227507" y="113942"/>
                    <a:pt x="222813" y="124487"/>
                  </a:cubicBezTo>
                  <a:lnTo>
                    <a:pt x="202278" y="119508"/>
                  </a:lnTo>
                  <a:lnTo>
                    <a:pt x="194945" y="151729"/>
                  </a:lnTo>
                  <a:lnTo>
                    <a:pt x="215479" y="156416"/>
                  </a:lnTo>
                  <a:cubicBezTo>
                    <a:pt x="214892" y="167839"/>
                    <a:pt x="216946" y="179263"/>
                    <a:pt x="221346" y="190394"/>
                  </a:cubicBezTo>
                  <a:lnTo>
                    <a:pt x="203452" y="201525"/>
                  </a:lnTo>
                  <a:lnTo>
                    <a:pt x="220759" y="229353"/>
                  </a:lnTo>
                  <a:lnTo>
                    <a:pt x="238654" y="218222"/>
                  </a:lnTo>
                  <a:cubicBezTo>
                    <a:pt x="246574" y="227009"/>
                    <a:pt x="256255" y="233746"/>
                    <a:pt x="266815" y="238433"/>
                  </a:cubicBezTo>
                  <a:lnTo>
                    <a:pt x="262122" y="258645"/>
                  </a:lnTo>
                  <a:lnTo>
                    <a:pt x="294097" y="265968"/>
                  </a:lnTo>
                  <a:lnTo>
                    <a:pt x="298791" y="245756"/>
                  </a:lnTo>
                  <a:cubicBezTo>
                    <a:pt x="310231" y="246049"/>
                    <a:pt x="321965" y="244292"/>
                    <a:pt x="333112" y="239898"/>
                  </a:cubicBezTo>
                  <a:lnTo>
                    <a:pt x="343966" y="257766"/>
                  </a:lnTo>
                  <a:lnTo>
                    <a:pt x="371835" y="240191"/>
                  </a:lnTo>
                  <a:lnTo>
                    <a:pt x="360687" y="222615"/>
                  </a:lnTo>
                  <a:cubicBezTo>
                    <a:pt x="369488" y="214414"/>
                    <a:pt x="376235" y="204747"/>
                    <a:pt x="380928" y="194495"/>
                  </a:cubicBezTo>
                  <a:lnTo>
                    <a:pt x="401463" y="199182"/>
                  </a:lnTo>
                  <a:lnTo>
                    <a:pt x="408797" y="167254"/>
                  </a:lnTo>
                  <a:lnTo>
                    <a:pt x="388262" y="162567"/>
                  </a:lnTo>
                  <a:cubicBezTo>
                    <a:pt x="388849" y="151143"/>
                    <a:pt x="386795" y="139426"/>
                    <a:pt x="382689" y="128295"/>
                  </a:cubicBezTo>
                  <a:lnTo>
                    <a:pt x="400290" y="117164"/>
                  </a:lnTo>
                  <a:lnTo>
                    <a:pt x="382982" y="89337"/>
                  </a:lnTo>
                  <a:lnTo>
                    <a:pt x="365088" y="100468"/>
                  </a:lnTo>
                  <a:cubicBezTo>
                    <a:pt x="357167" y="91973"/>
                    <a:pt x="347487" y="84943"/>
                    <a:pt x="336926" y="80549"/>
                  </a:cubicBezTo>
                  <a:lnTo>
                    <a:pt x="341620" y="60045"/>
                  </a:lnTo>
                  <a:close/>
                  <a:moveTo>
                    <a:pt x="227919" y="591"/>
                  </a:moveTo>
                  <a:cubicBezTo>
                    <a:pt x="252020" y="-809"/>
                    <a:pt x="278183" y="289"/>
                    <a:pt x="306124" y="3804"/>
                  </a:cubicBezTo>
                  <a:cubicBezTo>
                    <a:pt x="417597" y="17864"/>
                    <a:pt x="483014" y="130053"/>
                    <a:pt x="483308" y="197717"/>
                  </a:cubicBezTo>
                  <a:cubicBezTo>
                    <a:pt x="483894" y="332167"/>
                    <a:pt x="388556" y="393974"/>
                    <a:pt x="387382" y="442305"/>
                  </a:cubicBezTo>
                  <a:cubicBezTo>
                    <a:pt x="385329" y="529010"/>
                    <a:pt x="483894" y="608391"/>
                    <a:pt x="483894" y="608391"/>
                  </a:cubicBezTo>
                  <a:lnTo>
                    <a:pt x="143902" y="608391"/>
                  </a:lnTo>
                  <a:cubicBezTo>
                    <a:pt x="143902" y="608391"/>
                    <a:pt x="208439" y="575877"/>
                    <a:pt x="181744" y="512899"/>
                  </a:cubicBezTo>
                  <a:cubicBezTo>
                    <a:pt x="169717" y="514950"/>
                    <a:pt x="135688" y="521394"/>
                    <a:pt x="108993" y="524909"/>
                  </a:cubicBezTo>
                  <a:cubicBezTo>
                    <a:pt x="82298" y="528424"/>
                    <a:pt x="59124" y="512313"/>
                    <a:pt x="54137" y="498839"/>
                  </a:cubicBezTo>
                  <a:cubicBezTo>
                    <a:pt x="49443" y="485658"/>
                    <a:pt x="63817" y="461638"/>
                    <a:pt x="57657" y="454022"/>
                  </a:cubicBezTo>
                  <a:cubicBezTo>
                    <a:pt x="51790" y="446406"/>
                    <a:pt x="31549" y="424437"/>
                    <a:pt x="38589" y="405690"/>
                  </a:cubicBezTo>
                  <a:cubicBezTo>
                    <a:pt x="45630" y="386651"/>
                    <a:pt x="42109" y="376984"/>
                    <a:pt x="42109" y="376984"/>
                  </a:cubicBezTo>
                  <a:cubicBezTo>
                    <a:pt x="42109" y="376984"/>
                    <a:pt x="3681" y="369368"/>
                    <a:pt x="160" y="355308"/>
                  </a:cubicBezTo>
                  <a:cubicBezTo>
                    <a:pt x="-3360" y="341248"/>
                    <a:pt x="52670" y="255130"/>
                    <a:pt x="52670" y="255130"/>
                  </a:cubicBezTo>
                  <a:cubicBezTo>
                    <a:pt x="52670" y="255130"/>
                    <a:pt x="40936" y="234332"/>
                    <a:pt x="38003" y="222908"/>
                  </a:cubicBezTo>
                  <a:cubicBezTo>
                    <a:pt x="35362" y="211777"/>
                    <a:pt x="38003" y="151436"/>
                    <a:pt x="74378" y="82893"/>
                  </a:cubicBezTo>
                  <a:cubicBezTo>
                    <a:pt x="101880" y="31485"/>
                    <a:pt x="155618" y="4793"/>
                    <a:pt x="227919" y="591"/>
                  </a:cubicBezTo>
                  <a:close/>
                </a:path>
              </a:pathLst>
            </a:custGeom>
            <a:solidFill>
              <a:srgbClr val="0F73EE"/>
            </a:solidFill>
            <a:ln>
              <a:noFill/>
            </a:ln>
          </p:spPr>
        </p:sp>
        <p:sp>
          <p:nvSpPr>
            <p:cNvPr id="74" name="矩形: 圆角 73"/>
            <p:cNvSpPr/>
            <p:nvPr/>
          </p:nvSpPr>
          <p:spPr>
            <a:xfrm>
              <a:off x="6096000" y="892151"/>
              <a:ext cx="4361448" cy="617070"/>
            </a:xfrm>
            <a:prstGeom prst="roundRect">
              <a:avLst>
                <a:gd name="adj" fmla="val 14295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rgbClr val="0F73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  <a:sym typeface="+mn-lt"/>
                </a:rPr>
                <a:t>2.3 </a:t>
              </a:r>
              <a:r>
                <a:rPr lang="zh-CN" altLang="en-US" sz="2400" noProof="1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网络</a:t>
              </a:r>
              <a:r>
                <a:rPr lang="zh-CN" altLang="en-US" sz="2400" noProof="1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配置和网络访问文件 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562189" y="3768875"/>
            <a:ext cx="4963698" cy="617070"/>
            <a:chOff x="5493750" y="892151"/>
            <a:chExt cx="4963698" cy="617070"/>
          </a:xfrm>
        </p:grpSpPr>
        <p:sp>
          <p:nvSpPr>
            <p:cNvPr id="76" name="矩形: 圆角 75"/>
            <p:cNvSpPr/>
            <p:nvPr/>
          </p:nvSpPr>
          <p:spPr>
            <a:xfrm>
              <a:off x="5493750" y="892151"/>
              <a:ext cx="4949067" cy="617070"/>
            </a:xfrm>
            <a:prstGeom prst="roundRect">
              <a:avLst>
                <a:gd name="adj" fmla="val 14295"/>
              </a:avLst>
            </a:prstGeom>
            <a:solidFill>
              <a:srgbClr val="0F73EE">
                <a:alpha val="14902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77" name="human-head-silhouette-with-cogwheels_31441"/>
            <p:cNvSpPr>
              <a:spLocks noChangeAspect="1"/>
            </p:cNvSpPr>
            <p:nvPr/>
          </p:nvSpPr>
          <p:spPr bwMode="auto">
            <a:xfrm>
              <a:off x="5632235" y="1103269"/>
              <a:ext cx="322881" cy="405952"/>
            </a:xfrm>
            <a:custGeom>
              <a:avLst/>
              <a:gdLst>
                <a:gd name="connsiteX0" fmla="*/ 332813 w 483894"/>
                <a:gd name="connsiteY0" fmla="*/ 285272 h 608391"/>
                <a:gd name="connsiteX1" fmla="*/ 370636 w 483894"/>
                <a:gd name="connsiteY1" fmla="*/ 323201 h 608391"/>
                <a:gd name="connsiteX2" fmla="*/ 332813 w 483894"/>
                <a:gd name="connsiteY2" fmla="*/ 361130 h 608391"/>
                <a:gd name="connsiteX3" fmla="*/ 294990 w 483894"/>
                <a:gd name="connsiteY3" fmla="*/ 323201 h 608391"/>
                <a:gd name="connsiteX4" fmla="*/ 332813 w 483894"/>
                <a:gd name="connsiteY4" fmla="*/ 285272 h 608391"/>
                <a:gd name="connsiteX5" fmla="*/ 329299 w 483894"/>
                <a:gd name="connsiteY5" fmla="*/ 254544 h 608391"/>
                <a:gd name="connsiteX6" fmla="*/ 308471 w 483894"/>
                <a:gd name="connsiteY6" fmla="*/ 258937 h 608391"/>
                <a:gd name="connsiteX7" fmla="*/ 311405 w 483894"/>
                <a:gd name="connsiteY7" fmla="*/ 272119 h 608391"/>
                <a:gd name="connsiteX8" fmla="*/ 292924 w 483894"/>
                <a:gd name="connsiteY8" fmla="*/ 284422 h 608391"/>
                <a:gd name="connsiteX9" fmla="*/ 281776 w 483894"/>
                <a:gd name="connsiteY9" fmla="*/ 277099 h 608391"/>
                <a:gd name="connsiteX10" fmla="*/ 270042 w 483894"/>
                <a:gd name="connsiteY10" fmla="*/ 294967 h 608391"/>
                <a:gd name="connsiteX11" fmla="*/ 281483 w 483894"/>
                <a:gd name="connsiteY11" fmla="*/ 302290 h 608391"/>
                <a:gd name="connsiteX12" fmla="*/ 277376 w 483894"/>
                <a:gd name="connsiteY12" fmla="*/ 323966 h 608391"/>
                <a:gd name="connsiteX13" fmla="*/ 264175 w 483894"/>
                <a:gd name="connsiteY13" fmla="*/ 326895 h 608391"/>
                <a:gd name="connsiteX14" fmla="*/ 268282 w 483894"/>
                <a:gd name="connsiteY14" fmla="*/ 347399 h 608391"/>
                <a:gd name="connsiteX15" fmla="*/ 281483 w 483894"/>
                <a:gd name="connsiteY15" fmla="*/ 344763 h 608391"/>
                <a:gd name="connsiteX16" fmla="*/ 294097 w 483894"/>
                <a:gd name="connsiteY16" fmla="*/ 363217 h 608391"/>
                <a:gd name="connsiteX17" fmla="*/ 286763 w 483894"/>
                <a:gd name="connsiteY17" fmla="*/ 374348 h 608391"/>
                <a:gd name="connsiteX18" fmla="*/ 304364 w 483894"/>
                <a:gd name="connsiteY18" fmla="*/ 385772 h 608391"/>
                <a:gd name="connsiteX19" fmla="*/ 311698 w 483894"/>
                <a:gd name="connsiteY19" fmla="*/ 374641 h 608391"/>
                <a:gd name="connsiteX20" fmla="*/ 333699 w 483894"/>
                <a:gd name="connsiteY20" fmla="*/ 378742 h 608391"/>
                <a:gd name="connsiteX21" fmla="*/ 336633 w 483894"/>
                <a:gd name="connsiteY21" fmla="*/ 391923 h 608391"/>
                <a:gd name="connsiteX22" fmla="*/ 357167 w 483894"/>
                <a:gd name="connsiteY22" fmla="*/ 387529 h 608391"/>
                <a:gd name="connsiteX23" fmla="*/ 354527 w 483894"/>
                <a:gd name="connsiteY23" fmla="*/ 374348 h 608391"/>
                <a:gd name="connsiteX24" fmla="*/ 372715 w 483894"/>
                <a:gd name="connsiteY24" fmla="*/ 362045 h 608391"/>
                <a:gd name="connsiteX25" fmla="*/ 384155 w 483894"/>
                <a:gd name="connsiteY25" fmla="*/ 369368 h 608391"/>
                <a:gd name="connsiteX26" fmla="*/ 395596 w 483894"/>
                <a:gd name="connsiteY26" fmla="*/ 351500 h 608391"/>
                <a:gd name="connsiteX27" fmla="*/ 384449 w 483894"/>
                <a:gd name="connsiteY27" fmla="*/ 344177 h 608391"/>
                <a:gd name="connsiteX28" fmla="*/ 388556 w 483894"/>
                <a:gd name="connsiteY28" fmla="*/ 322208 h 608391"/>
                <a:gd name="connsiteX29" fmla="*/ 401756 w 483894"/>
                <a:gd name="connsiteY29" fmla="*/ 319572 h 608391"/>
                <a:gd name="connsiteX30" fmla="*/ 397356 w 483894"/>
                <a:gd name="connsiteY30" fmla="*/ 299068 h 608391"/>
                <a:gd name="connsiteX31" fmla="*/ 384155 w 483894"/>
                <a:gd name="connsiteY31" fmla="*/ 301704 h 608391"/>
                <a:gd name="connsiteX32" fmla="*/ 371541 w 483894"/>
                <a:gd name="connsiteY32" fmla="*/ 283250 h 608391"/>
                <a:gd name="connsiteX33" fmla="*/ 378875 w 483894"/>
                <a:gd name="connsiteY33" fmla="*/ 272119 h 608391"/>
                <a:gd name="connsiteX34" fmla="*/ 361274 w 483894"/>
                <a:gd name="connsiteY34" fmla="*/ 260695 h 608391"/>
                <a:gd name="connsiteX35" fmla="*/ 353940 w 483894"/>
                <a:gd name="connsiteY35" fmla="*/ 271826 h 608391"/>
                <a:gd name="connsiteX36" fmla="*/ 331939 w 483894"/>
                <a:gd name="connsiteY36" fmla="*/ 267725 h 608391"/>
                <a:gd name="connsiteX37" fmla="*/ 302012 w 483894"/>
                <a:gd name="connsiteY37" fmla="*/ 100461 h 608391"/>
                <a:gd name="connsiteX38" fmla="*/ 360970 w 483894"/>
                <a:gd name="connsiteY38" fmla="*/ 159348 h 608391"/>
                <a:gd name="connsiteX39" fmla="*/ 302012 w 483894"/>
                <a:gd name="connsiteY39" fmla="*/ 218235 h 608391"/>
                <a:gd name="connsiteX40" fmla="*/ 243054 w 483894"/>
                <a:gd name="connsiteY40" fmla="*/ 159348 h 608391"/>
                <a:gd name="connsiteX41" fmla="*/ 302012 w 483894"/>
                <a:gd name="connsiteY41" fmla="*/ 100461 h 608391"/>
                <a:gd name="connsiteX42" fmla="*/ 309644 w 483894"/>
                <a:gd name="connsiteY42" fmla="*/ 52722 h 608391"/>
                <a:gd name="connsiteX43" fmla="*/ 304951 w 483894"/>
                <a:gd name="connsiteY43" fmla="*/ 72933 h 608391"/>
                <a:gd name="connsiteX44" fmla="*/ 270922 w 483894"/>
                <a:gd name="connsiteY44" fmla="*/ 78792 h 608391"/>
                <a:gd name="connsiteX45" fmla="*/ 259775 w 483894"/>
                <a:gd name="connsiteY45" fmla="*/ 60924 h 608391"/>
                <a:gd name="connsiteX46" fmla="*/ 231907 w 483894"/>
                <a:gd name="connsiteY46" fmla="*/ 78499 h 608391"/>
                <a:gd name="connsiteX47" fmla="*/ 243054 w 483894"/>
                <a:gd name="connsiteY47" fmla="*/ 96074 h 608391"/>
                <a:gd name="connsiteX48" fmla="*/ 222813 w 483894"/>
                <a:gd name="connsiteY48" fmla="*/ 124487 h 608391"/>
                <a:gd name="connsiteX49" fmla="*/ 202278 w 483894"/>
                <a:gd name="connsiteY49" fmla="*/ 119508 h 608391"/>
                <a:gd name="connsiteX50" fmla="*/ 194945 w 483894"/>
                <a:gd name="connsiteY50" fmla="*/ 151729 h 608391"/>
                <a:gd name="connsiteX51" fmla="*/ 215479 w 483894"/>
                <a:gd name="connsiteY51" fmla="*/ 156416 h 608391"/>
                <a:gd name="connsiteX52" fmla="*/ 221346 w 483894"/>
                <a:gd name="connsiteY52" fmla="*/ 190394 h 608391"/>
                <a:gd name="connsiteX53" fmla="*/ 203452 w 483894"/>
                <a:gd name="connsiteY53" fmla="*/ 201525 h 608391"/>
                <a:gd name="connsiteX54" fmla="*/ 220759 w 483894"/>
                <a:gd name="connsiteY54" fmla="*/ 229353 h 608391"/>
                <a:gd name="connsiteX55" fmla="*/ 238654 w 483894"/>
                <a:gd name="connsiteY55" fmla="*/ 218222 h 608391"/>
                <a:gd name="connsiteX56" fmla="*/ 266815 w 483894"/>
                <a:gd name="connsiteY56" fmla="*/ 238433 h 608391"/>
                <a:gd name="connsiteX57" fmla="*/ 262122 w 483894"/>
                <a:gd name="connsiteY57" fmla="*/ 258645 h 608391"/>
                <a:gd name="connsiteX58" fmla="*/ 294097 w 483894"/>
                <a:gd name="connsiteY58" fmla="*/ 265968 h 608391"/>
                <a:gd name="connsiteX59" fmla="*/ 298791 w 483894"/>
                <a:gd name="connsiteY59" fmla="*/ 245756 h 608391"/>
                <a:gd name="connsiteX60" fmla="*/ 333112 w 483894"/>
                <a:gd name="connsiteY60" fmla="*/ 239898 h 608391"/>
                <a:gd name="connsiteX61" fmla="*/ 343966 w 483894"/>
                <a:gd name="connsiteY61" fmla="*/ 257766 h 608391"/>
                <a:gd name="connsiteX62" fmla="*/ 371835 w 483894"/>
                <a:gd name="connsiteY62" fmla="*/ 240191 h 608391"/>
                <a:gd name="connsiteX63" fmla="*/ 360687 w 483894"/>
                <a:gd name="connsiteY63" fmla="*/ 222615 h 608391"/>
                <a:gd name="connsiteX64" fmla="*/ 380928 w 483894"/>
                <a:gd name="connsiteY64" fmla="*/ 194495 h 608391"/>
                <a:gd name="connsiteX65" fmla="*/ 401463 w 483894"/>
                <a:gd name="connsiteY65" fmla="*/ 199182 h 608391"/>
                <a:gd name="connsiteX66" fmla="*/ 408797 w 483894"/>
                <a:gd name="connsiteY66" fmla="*/ 167254 h 608391"/>
                <a:gd name="connsiteX67" fmla="*/ 388262 w 483894"/>
                <a:gd name="connsiteY67" fmla="*/ 162567 h 608391"/>
                <a:gd name="connsiteX68" fmla="*/ 382689 w 483894"/>
                <a:gd name="connsiteY68" fmla="*/ 128295 h 608391"/>
                <a:gd name="connsiteX69" fmla="*/ 400290 w 483894"/>
                <a:gd name="connsiteY69" fmla="*/ 117164 h 608391"/>
                <a:gd name="connsiteX70" fmla="*/ 382982 w 483894"/>
                <a:gd name="connsiteY70" fmla="*/ 89337 h 608391"/>
                <a:gd name="connsiteX71" fmla="*/ 365088 w 483894"/>
                <a:gd name="connsiteY71" fmla="*/ 100468 h 608391"/>
                <a:gd name="connsiteX72" fmla="*/ 336926 w 483894"/>
                <a:gd name="connsiteY72" fmla="*/ 80549 h 608391"/>
                <a:gd name="connsiteX73" fmla="*/ 341620 w 483894"/>
                <a:gd name="connsiteY73" fmla="*/ 60045 h 608391"/>
                <a:gd name="connsiteX74" fmla="*/ 227919 w 483894"/>
                <a:gd name="connsiteY74" fmla="*/ 591 h 608391"/>
                <a:gd name="connsiteX75" fmla="*/ 306124 w 483894"/>
                <a:gd name="connsiteY75" fmla="*/ 3804 h 608391"/>
                <a:gd name="connsiteX76" fmla="*/ 483308 w 483894"/>
                <a:gd name="connsiteY76" fmla="*/ 197717 h 608391"/>
                <a:gd name="connsiteX77" fmla="*/ 387382 w 483894"/>
                <a:gd name="connsiteY77" fmla="*/ 442305 h 608391"/>
                <a:gd name="connsiteX78" fmla="*/ 483894 w 483894"/>
                <a:gd name="connsiteY78" fmla="*/ 608391 h 608391"/>
                <a:gd name="connsiteX79" fmla="*/ 143902 w 483894"/>
                <a:gd name="connsiteY79" fmla="*/ 608391 h 608391"/>
                <a:gd name="connsiteX80" fmla="*/ 181744 w 483894"/>
                <a:gd name="connsiteY80" fmla="*/ 512899 h 608391"/>
                <a:gd name="connsiteX81" fmla="*/ 108993 w 483894"/>
                <a:gd name="connsiteY81" fmla="*/ 524909 h 608391"/>
                <a:gd name="connsiteX82" fmla="*/ 54137 w 483894"/>
                <a:gd name="connsiteY82" fmla="*/ 498839 h 608391"/>
                <a:gd name="connsiteX83" fmla="*/ 57657 w 483894"/>
                <a:gd name="connsiteY83" fmla="*/ 454022 h 608391"/>
                <a:gd name="connsiteX84" fmla="*/ 38589 w 483894"/>
                <a:gd name="connsiteY84" fmla="*/ 405690 h 608391"/>
                <a:gd name="connsiteX85" fmla="*/ 42109 w 483894"/>
                <a:gd name="connsiteY85" fmla="*/ 376984 h 608391"/>
                <a:gd name="connsiteX86" fmla="*/ 160 w 483894"/>
                <a:gd name="connsiteY86" fmla="*/ 355308 h 608391"/>
                <a:gd name="connsiteX87" fmla="*/ 52670 w 483894"/>
                <a:gd name="connsiteY87" fmla="*/ 255130 h 608391"/>
                <a:gd name="connsiteX88" fmla="*/ 38003 w 483894"/>
                <a:gd name="connsiteY88" fmla="*/ 222908 h 608391"/>
                <a:gd name="connsiteX89" fmla="*/ 74378 w 483894"/>
                <a:gd name="connsiteY89" fmla="*/ 82893 h 608391"/>
                <a:gd name="connsiteX90" fmla="*/ 227919 w 483894"/>
                <a:gd name="connsiteY90" fmla="*/ 591 h 60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483894" h="608391">
                  <a:moveTo>
                    <a:pt x="332813" y="285272"/>
                  </a:moveTo>
                  <a:cubicBezTo>
                    <a:pt x="353702" y="285272"/>
                    <a:pt x="370636" y="302253"/>
                    <a:pt x="370636" y="323201"/>
                  </a:cubicBezTo>
                  <a:cubicBezTo>
                    <a:pt x="370636" y="344149"/>
                    <a:pt x="353702" y="361130"/>
                    <a:pt x="332813" y="361130"/>
                  </a:cubicBezTo>
                  <a:cubicBezTo>
                    <a:pt x="311924" y="361130"/>
                    <a:pt x="294990" y="344149"/>
                    <a:pt x="294990" y="323201"/>
                  </a:cubicBezTo>
                  <a:cubicBezTo>
                    <a:pt x="294990" y="302253"/>
                    <a:pt x="311924" y="285272"/>
                    <a:pt x="332813" y="285272"/>
                  </a:cubicBezTo>
                  <a:close/>
                  <a:moveTo>
                    <a:pt x="329299" y="254544"/>
                  </a:moveTo>
                  <a:lnTo>
                    <a:pt x="308471" y="258937"/>
                  </a:lnTo>
                  <a:lnTo>
                    <a:pt x="311405" y="272119"/>
                  </a:lnTo>
                  <a:cubicBezTo>
                    <a:pt x="304364" y="275048"/>
                    <a:pt x="298204" y="279149"/>
                    <a:pt x="292924" y="284422"/>
                  </a:cubicBezTo>
                  <a:lnTo>
                    <a:pt x="281776" y="277099"/>
                  </a:lnTo>
                  <a:lnTo>
                    <a:pt x="270042" y="294967"/>
                  </a:lnTo>
                  <a:lnTo>
                    <a:pt x="281483" y="302290"/>
                  </a:lnTo>
                  <a:cubicBezTo>
                    <a:pt x="278549" y="309027"/>
                    <a:pt x="277083" y="316350"/>
                    <a:pt x="277376" y="323966"/>
                  </a:cubicBezTo>
                  <a:lnTo>
                    <a:pt x="264175" y="326895"/>
                  </a:lnTo>
                  <a:lnTo>
                    <a:pt x="268282" y="347399"/>
                  </a:lnTo>
                  <a:lnTo>
                    <a:pt x="281483" y="344763"/>
                  </a:lnTo>
                  <a:cubicBezTo>
                    <a:pt x="284416" y="351793"/>
                    <a:pt x="288817" y="357944"/>
                    <a:pt x="294097" y="363217"/>
                  </a:cubicBezTo>
                  <a:lnTo>
                    <a:pt x="286763" y="374348"/>
                  </a:lnTo>
                  <a:lnTo>
                    <a:pt x="304364" y="385772"/>
                  </a:lnTo>
                  <a:lnTo>
                    <a:pt x="311698" y="374641"/>
                  </a:lnTo>
                  <a:cubicBezTo>
                    <a:pt x="318738" y="377570"/>
                    <a:pt x="326072" y="378742"/>
                    <a:pt x="333699" y="378742"/>
                  </a:cubicBezTo>
                  <a:lnTo>
                    <a:pt x="336633" y="391923"/>
                  </a:lnTo>
                  <a:lnTo>
                    <a:pt x="357167" y="387529"/>
                  </a:lnTo>
                  <a:lnTo>
                    <a:pt x="354527" y="374348"/>
                  </a:lnTo>
                  <a:cubicBezTo>
                    <a:pt x="361274" y="371419"/>
                    <a:pt x="367728" y="367318"/>
                    <a:pt x="372715" y="362045"/>
                  </a:cubicBezTo>
                  <a:lnTo>
                    <a:pt x="384155" y="369368"/>
                  </a:lnTo>
                  <a:lnTo>
                    <a:pt x="395596" y="351500"/>
                  </a:lnTo>
                  <a:lnTo>
                    <a:pt x="384449" y="344177"/>
                  </a:lnTo>
                  <a:cubicBezTo>
                    <a:pt x="387089" y="337440"/>
                    <a:pt x="388556" y="330117"/>
                    <a:pt x="388556" y="322208"/>
                  </a:cubicBezTo>
                  <a:lnTo>
                    <a:pt x="401756" y="319572"/>
                  </a:lnTo>
                  <a:lnTo>
                    <a:pt x="397356" y="299068"/>
                  </a:lnTo>
                  <a:lnTo>
                    <a:pt x="384155" y="301704"/>
                  </a:lnTo>
                  <a:cubicBezTo>
                    <a:pt x="381222" y="294674"/>
                    <a:pt x="376822" y="288522"/>
                    <a:pt x="371541" y="283250"/>
                  </a:cubicBezTo>
                  <a:lnTo>
                    <a:pt x="378875" y="272119"/>
                  </a:lnTo>
                  <a:lnTo>
                    <a:pt x="361274" y="260695"/>
                  </a:lnTo>
                  <a:lnTo>
                    <a:pt x="353940" y="271826"/>
                  </a:lnTo>
                  <a:cubicBezTo>
                    <a:pt x="347193" y="268897"/>
                    <a:pt x="339566" y="267432"/>
                    <a:pt x="331939" y="267725"/>
                  </a:cubicBezTo>
                  <a:close/>
                  <a:moveTo>
                    <a:pt x="302012" y="100461"/>
                  </a:moveTo>
                  <a:cubicBezTo>
                    <a:pt x="334574" y="100461"/>
                    <a:pt x="360970" y="126826"/>
                    <a:pt x="360970" y="159348"/>
                  </a:cubicBezTo>
                  <a:cubicBezTo>
                    <a:pt x="360970" y="191870"/>
                    <a:pt x="334574" y="218235"/>
                    <a:pt x="302012" y="218235"/>
                  </a:cubicBezTo>
                  <a:cubicBezTo>
                    <a:pt x="269450" y="218235"/>
                    <a:pt x="243054" y="191870"/>
                    <a:pt x="243054" y="159348"/>
                  </a:cubicBezTo>
                  <a:cubicBezTo>
                    <a:pt x="243054" y="126826"/>
                    <a:pt x="269450" y="100461"/>
                    <a:pt x="302012" y="100461"/>
                  </a:cubicBezTo>
                  <a:close/>
                  <a:moveTo>
                    <a:pt x="309644" y="52722"/>
                  </a:moveTo>
                  <a:lnTo>
                    <a:pt x="304951" y="72933"/>
                  </a:lnTo>
                  <a:cubicBezTo>
                    <a:pt x="293510" y="72640"/>
                    <a:pt x="282070" y="74398"/>
                    <a:pt x="270922" y="78792"/>
                  </a:cubicBezTo>
                  <a:lnTo>
                    <a:pt x="259775" y="60924"/>
                  </a:lnTo>
                  <a:lnTo>
                    <a:pt x="231907" y="78499"/>
                  </a:lnTo>
                  <a:lnTo>
                    <a:pt x="243054" y="96074"/>
                  </a:lnTo>
                  <a:cubicBezTo>
                    <a:pt x="234254" y="104276"/>
                    <a:pt x="227507" y="113942"/>
                    <a:pt x="222813" y="124487"/>
                  </a:cubicBezTo>
                  <a:lnTo>
                    <a:pt x="202278" y="119508"/>
                  </a:lnTo>
                  <a:lnTo>
                    <a:pt x="194945" y="151729"/>
                  </a:lnTo>
                  <a:lnTo>
                    <a:pt x="215479" y="156416"/>
                  </a:lnTo>
                  <a:cubicBezTo>
                    <a:pt x="214892" y="167839"/>
                    <a:pt x="216946" y="179263"/>
                    <a:pt x="221346" y="190394"/>
                  </a:cubicBezTo>
                  <a:lnTo>
                    <a:pt x="203452" y="201525"/>
                  </a:lnTo>
                  <a:lnTo>
                    <a:pt x="220759" y="229353"/>
                  </a:lnTo>
                  <a:lnTo>
                    <a:pt x="238654" y="218222"/>
                  </a:lnTo>
                  <a:cubicBezTo>
                    <a:pt x="246574" y="227009"/>
                    <a:pt x="256255" y="233746"/>
                    <a:pt x="266815" y="238433"/>
                  </a:cubicBezTo>
                  <a:lnTo>
                    <a:pt x="262122" y="258645"/>
                  </a:lnTo>
                  <a:lnTo>
                    <a:pt x="294097" y="265968"/>
                  </a:lnTo>
                  <a:lnTo>
                    <a:pt x="298791" y="245756"/>
                  </a:lnTo>
                  <a:cubicBezTo>
                    <a:pt x="310231" y="246049"/>
                    <a:pt x="321965" y="244292"/>
                    <a:pt x="333112" y="239898"/>
                  </a:cubicBezTo>
                  <a:lnTo>
                    <a:pt x="343966" y="257766"/>
                  </a:lnTo>
                  <a:lnTo>
                    <a:pt x="371835" y="240191"/>
                  </a:lnTo>
                  <a:lnTo>
                    <a:pt x="360687" y="222615"/>
                  </a:lnTo>
                  <a:cubicBezTo>
                    <a:pt x="369488" y="214414"/>
                    <a:pt x="376235" y="204747"/>
                    <a:pt x="380928" y="194495"/>
                  </a:cubicBezTo>
                  <a:lnTo>
                    <a:pt x="401463" y="199182"/>
                  </a:lnTo>
                  <a:lnTo>
                    <a:pt x="408797" y="167254"/>
                  </a:lnTo>
                  <a:lnTo>
                    <a:pt x="388262" y="162567"/>
                  </a:lnTo>
                  <a:cubicBezTo>
                    <a:pt x="388849" y="151143"/>
                    <a:pt x="386795" y="139426"/>
                    <a:pt x="382689" y="128295"/>
                  </a:cubicBezTo>
                  <a:lnTo>
                    <a:pt x="400290" y="117164"/>
                  </a:lnTo>
                  <a:lnTo>
                    <a:pt x="382982" y="89337"/>
                  </a:lnTo>
                  <a:lnTo>
                    <a:pt x="365088" y="100468"/>
                  </a:lnTo>
                  <a:cubicBezTo>
                    <a:pt x="357167" y="91973"/>
                    <a:pt x="347487" y="84943"/>
                    <a:pt x="336926" y="80549"/>
                  </a:cubicBezTo>
                  <a:lnTo>
                    <a:pt x="341620" y="60045"/>
                  </a:lnTo>
                  <a:close/>
                  <a:moveTo>
                    <a:pt x="227919" y="591"/>
                  </a:moveTo>
                  <a:cubicBezTo>
                    <a:pt x="252020" y="-809"/>
                    <a:pt x="278183" y="289"/>
                    <a:pt x="306124" y="3804"/>
                  </a:cubicBezTo>
                  <a:cubicBezTo>
                    <a:pt x="417597" y="17864"/>
                    <a:pt x="483014" y="130053"/>
                    <a:pt x="483308" y="197717"/>
                  </a:cubicBezTo>
                  <a:cubicBezTo>
                    <a:pt x="483894" y="332167"/>
                    <a:pt x="388556" y="393974"/>
                    <a:pt x="387382" y="442305"/>
                  </a:cubicBezTo>
                  <a:cubicBezTo>
                    <a:pt x="385329" y="529010"/>
                    <a:pt x="483894" y="608391"/>
                    <a:pt x="483894" y="608391"/>
                  </a:cubicBezTo>
                  <a:lnTo>
                    <a:pt x="143902" y="608391"/>
                  </a:lnTo>
                  <a:cubicBezTo>
                    <a:pt x="143902" y="608391"/>
                    <a:pt x="208439" y="575877"/>
                    <a:pt x="181744" y="512899"/>
                  </a:cubicBezTo>
                  <a:cubicBezTo>
                    <a:pt x="169717" y="514950"/>
                    <a:pt x="135688" y="521394"/>
                    <a:pt x="108993" y="524909"/>
                  </a:cubicBezTo>
                  <a:cubicBezTo>
                    <a:pt x="82298" y="528424"/>
                    <a:pt x="59124" y="512313"/>
                    <a:pt x="54137" y="498839"/>
                  </a:cubicBezTo>
                  <a:cubicBezTo>
                    <a:pt x="49443" y="485658"/>
                    <a:pt x="63817" y="461638"/>
                    <a:pt x="57657" y="454022"/>
                  </a:cubicBezTo>
                  <a:cubicBezTo>
                    <a:pt x="51790" y="446406"/>
                    <a:pt x="31549" y="424437"/>
                    <a:pt x="38589" y="405690"/>
                  </a:cubicBezTo>
                  <a:cubicBezTo>
                    <a:pt x="45630" y="386651"/>
                    <a:pt x="42109" y="376984"/>
                    <a:pt x="42109" y="376984"/>
                  </a:cubicBezTo>
                  <a:cubicBezTo>
                    <a:pt x="42109" y="376984"/>
                    <a:pt x="3681" y="369368"/>
                    <a:pt x="160" y="355308"/>
                  </a:cubicBezTo>
                  <a:cubicBezTo>
                    <a:pt x="-3360" y="341248"/>
                    <a:pt x="52670" y="255130"/>
                    <a:pt x="52670" y="255130"/>
                  </a:cubicBezTo>
                  <a:cubicBezTo>
                    <a:pt x="52670" y="255130"/>
                    <a:pt x="40936" y="234332"/>
                    <a:pt x="38003" y="222908"/>
                  </a:cubicBezTo>
                  <a:cubicBezTo>
                    <a:pt x="35362" y="211777"/>
                    <a:pt x="38003" y="151436"/>
                    <a:pt x="74378" y="82893"/>
                  </a:cubicBezTo>
                  <a:cubicBezTo>
                    <a:pt x="101880" y="31485"/>
                    <a:pt x="155618" y="4793"/>
                    <a:pt x="227919" y="591"/>
                  </a:cubicBezTo>
                  <a:close/>
                </a:path>
              </a:pathLst>
            </a:custGeom>
            <a:solidFill>
              <a:srgbClr val="0F73EE"/>
            </a:solidFill>
            <a:ln>
              <a:noFill/>
            </a:ln>
          </p:spPr>
        </p:sp>
        <p:sp>
          <p:nvSpPr>
            <p:cNvPr id="78" name="矩形: 圆角 77"/>
            <p:cNvSpPr/>
            <p:nvPr/>
          </p:nvSpPr>
          <p:spPr>
            <a:xfrm>
              <a:off x="6096000" y="892151"/>
              <a:ext cx="4361448" cy="617070"/>
            </a:xfrm>
            <a:prstGeom prst="roundRect">
              <a:avLst>
                <a:gd name="adj" fmla="val 14295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rgbClr val="0F73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>
                <a:lnSpc>
                  <a:spcPct val="90000"/>
                </a:lnSpc>
                <a:buClr>
                  <a:schemeClr val="accent2"/>
                </a:buClr>
              </a:pPr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  <a:sym typeface="+mn-lt"/>
                </a:rPr>
                <a:t>2.4 </a:t>
              </a:r>
              <a:r>
                <a:rPr lang="en-US" altLang="zh-CN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TCP/IP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守护</a:t>
              </a:r>
              <a:r>
                <a:rPr lang="zh-CN" altLang="en-US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程序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554873" y="4634884"/>
            <a:ext cx="4963698" cy="617070"/>
            <a:chOff x="5493750" y="892151"/>
            <a:chExt cx="4963698" cy="617070"/>
          </a:xfrm>
        </p:grpSpPr>
        <p:sp>
          <p:nvSpPr>
            <p:cNvPr id="25" name="矩形: 圆角 75"/>
            <p:cNvSpPr/>
            <p:nvPr/>
          </p:nvSpPr>
          <p:spPr>
            <a:xfrm>
              <a:off x="5493750" y="892151"/>
              <a:ext cx="4949067" cy="617070"/>
            </a:xfrm>
            <a:prstGeom prst="roundRect">
              <a:avLst>
                <a:gd name="adj" fmla="val 14295"/>
              </a:avLst>
            </a:prstGeom>
            <a:solidFill>
              <a:srgbClr val="0F73EE">
                <a:alpha val="14902"/>
              </a:srgb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26" name="human-head-silhouette-with-cogwheels_31441"/>
            <p:cNvSpPr>
              <a:spLocks noChangeAspect="1"/>
            </p:cNvSpPr>
            <p:nvPr/>
          </p:nvSpPr>
          <p:spPr bwMode="auto">
            <a:xfrm>
              <a:off x="5632235" y="1103269"/>
              <a:ext cx="322881" cy="405952"/>
            </a:xfrm>
            <a:custGeom>
              <a:avLst/>
              <a:gdLst>
                <a:gd name="connsiteX0" fmla="*/ 332813 w 483894"/>
                <a:gd name="connsiteY0" fmla="*/ 285272 h 608391"/>
                <a:gd name="connsiteX1" fmla="*/ 370636 w 483894"/>
                <a:gd name="connsiteY1" fmla="*/ 323201 h 608391"/>
                <a:gd name="connsiteX2" fmla="*/ 332813 w 483894"/>
                <a:gd name="connsiteY2" fmla="*/ 361130 h 608391"/>
                <a:gd name="connsiteX3" fmla="*/ 294990 w 483894"/>
                <a:gd name="connsiteY3" fmla="*/ 323201 h 608391"/>
                <a:gd name="connsiteX4" fmla="*/ 332813 w 483894"/>
                <a:gd name="connsiteY4" fmla="*/ 285272 h 608391"/>
                <a:gd name="connsiteX5" fmla="*/ 329299 w 483894"/>
                <a:gd name="connsiteY5" fmla="*/ 254544 h 608391"/>
                <a:gd name="connsiteX6" fmla="*/ 308471 w 483894"/>
                <a:gd name="connsiteY6" fmla="*/ 258937 h 608391"/>
                <a:gd name="connsiteX7" fmla="*/ 311405 w 483894"/>
                <a:gd name="connsiteY7" fmla="*/ 272119 h 608391"/>
                <a:gd name="connsiteX8" fmla="*/ 292924 w 483894"/>
                <a:gd name="connsiteY8" fmla="*/ 284422 h 608391"/>
                <a:gd name="connsiteX9" fmla="*/ 281776 w 483894"/>
                <a:gd name="connsiteY9" fmla="*/ 277099 h 608391"/>
                <a:gd name="connsiteX10" fmla="*/ 270042 w 483894"/>
                <a:gd name="connsiteY10" fmla="*/ 294967 h 608391"/>
                <a:gd name="connsiteX11" fmla="*/ 281483 w 483894"/>
                <a:gd name="connsiteY11" fmla="*/ 302290 h 608391"/>
                <a:gd name="connsiteX12" fmla="*/ 277376 w 483894"/>
                <a:gd name="connsiteY12" fmla="*/ 323966 h 608391"/>
                <a:gd name="connsiteX13" fmla="*/ 264175 w 483894"/>
                <a:gd name="connsiteY13" fmla="*/ 326895 h 608391"/>
                <a:gd name="connsiteX14" fmla="*/ 268282 w 483894"/>
                <a:gd name="connsiteY14" fmla="*/ 347399 h 608391"/>
                <a:gd name="connsiteX15" fmla="*/ 281483 w 483894"/>
                <a:gd name="connsiteY15" fmla="*/ 344763 h 608391"/>
                <a:gd name="connsiteX16" fmla="*/ 294097 w 483894"/>
                <a:gd name="connsiteY16" fmla="*/ 363217 h 608391"/>
                <a:gd name="connsiteX17" fmla="*/ 286763 w 483894"/>
                <a:gd name="connsiteY17" fmla="*/ 374348 h 608391"/>
                <a:gd name="connsiteX18" fmla="*/ 304364 w 483894"/>
                <a:gd name="connsiteY18" fmla="*/ 385772 h 608391"/>
                <a:gd name="connsiteX19" fmla="*/ 311698 w 483894"/>
                <a:gd name="connsiteY19" fmla="*/ 374641 h 608391"/>
                <a:gd name="connsiteX20" fmla="*/ 333699 w 483894"/>
                <a:gd name="connsiteY20" fmla="*/ 378742 h 608391"/>
                <a:gd name="connsiteX21" fmla="*/ 336633 w 483894"/>
                <a:gd name="connsiteY21" fmla="*/ 391923 h 608391"/>
                <a:gd name="connsiteX22" fmla="*/ 357167 w 483894"/>
                <a:gd name="connsiteY22" fmla="*/ 387529 h 608391"/>
                <a:gd name="connsiteX23" fmla="*/ 354527 w 483894"/>
                <a:gd name="connsiteY23" fmla="*/ 374348 h 608391"/>
                <a:gd name="connsiteX24" fmla="*/ 372715 w 483894"/>
                <a:gd name="connsiteY24" fmla="*/ 362045 h 608391"/>
                <a:gd name="connsiteX25" fmla="*/ 384155 w 483894"/>
                <a:gd name="connsiteY25" fmla="*/ 369368 h 608391"/>
                <a:gd name="connsiteX26" fmla="*/ 395596 w 483894"/>
                <a:gd name="connsiteY26" fmla="*/ 351500 h 608391"/>
                <a:gd name="connsiteX27" fmla="*/ 384449 w 483894"/>
                <a:gd name="connsiteY27" fmla="*/ 344177 h 608391"/>
                <a:gd name="connsiteX28" fmla="*/ 388556 w 483894"/>
                <a:gd name="connsiteY28" fmla="*/ 322208 h 608391"/>
                <a:gd name="connsiteX29" fmla="*/ 401756 w 483894"/>
                <a:gd name="connsiteY29" fmla="*/ 319572 h 608391"/>
                <a:gd name="connsiteX30" fmla="*/ 397356 w 483894"/>
                <a:gd name="connsiteY30" fmla="*/ 299068 h 608391"/>
                <a:gd name="connsiteX31" fmla="*/ 384155 w 483894"/>
                <a:gd name="connsiteY31" fmla="*/ 301704 h 608391"/>
                <a:gd name="connsiteX32" fmla="*/ 371541 w 483894"/>
                <a:gd name="connsiteY32" fmla="*/ 283250 h 608391"/>
                <a:gd name="connsiteX33" fmla="*/ 378875 w 483894"/>
                <a:gd name="connsiteY33" fmla="*/ 272119 h 608391"/>
                <a:gd name="connsiteX34" fmla="*/ 361274 w 483894"/>
                <a:gd name="connsiteY34" fmla="*/ 260695 h 608391"/>
                <a:gd name="connsiteX35" fmla="*/ 353940 w 483894"/>
                <a:gd name="connsiteY35" fmla="*/ 271826 h 608391"/>
                <a:gd name="connsiteX36" fmla="*/ 331939 w 483894"/>
                <a:gd name="connsiteY36" fmla="*/ 267725 h 608391"/>
                <a:gd name="connsiteX37" fmla="*/ 302012 w 483894"/>
                <a:gd name="connsiteY37" fmla="*/ 100461 h 608391"/>
                <a:gd name="connsiteX38" fmla="*/ 360970 w 483894"/>
                <a:gd name="connsiteY38" fmla="*/ 159348 h 608391"/>
                <a:gd name="connsiteX39" fmla="*/ 302012 w 483894"/>
                <a:gd name="connsiteY39" fmla="*/ 218235 h 608391"/>
                <a:gd name="connsiteX40" fmla="*/ 243054 w 483894"/>
                <a:gd name="connsiteY40" fmla="*/ 159348 h 608391"/>
                <a:gd name="connsiteX41" fmla="*/ 302012 w 483894"/>
                <a:gd name="connsiteY41" fmla="*/ 100461 h 608391"/>
                <a:gd name="connsiteX42" fmla="*/ 309644 w 483894"/>
                <a:gd name="connsiteY42" fmla="*/ 52722 h 608391"/>
                <a:gd name="connsiteX43" fmla="*/ 304951 w 483894"/>
                <a:gd name="connsiteY43" fmla="*/ 72933 h 608391"/>
                <a:gd name="connsiteX44" fmla="*/ 270922 w 483894"/>
                <a:gd name="connsiteY44" fmla="*/ 78792 h 608391"/>
                <a:gd name="connsiteX45" fmla="*/ 259775 w 483894"/>
                <a:gd name="connsiteY45" fmla="*/ 60924 h 608391"/>
                <a:gd name="connsiteX46" fmla="*/ 231907 w 483894"/>
                <a:gd name="connsiteY46" fmla="*/ 78499 h 608391"/>
                <a:gd name="connsiteX47" fmla="*/ 243054 w 483894"/>
                <a:gd name="connsiteY47" fmla="*/ 96074 h 608391"/>
                <a:gd name="connsiteX48" fmla="*/ 222813 w 483894"/>
                <a:gd name="connsiteY48" fmla="*/ 124487 h 608391"/>
                <a:gd name="connsiteX49" fmla="*/ 202278 w 483894"/>
                <a:gd name="connsiteY49" fmla="*/ 119508 h 608391"/>
                <a:gd name="connsiteX50" fmla="*/ 194945 w 483894"/>
                <a:gd name="connsiteY50" fmla="*/ 151729 h 608391"/>
                <a:gd name="connsiteX51" fmla="*/ 215479 w 483894"/>
                <a:gd name="connsiteY51" fmla="*/ 156416 h 608391"/>
                <a:gd name="connsiteX52" fmla="*/ 221346 w 483894"/>
                <a:gd name="connsiteY52" fmla="*/ 190394 h 608391"/>
                <a:gd name="connsiteX53" fmla="*/ 203452 w 483894"/>
                <a:gd name="connsiteY53" fmla="*/ 201525 h 608391"/>
                <a:gd name="connsiteX54" fmla="*/ 220759 w 483894"/>
                <a:gd name="connsiteY54" fmla="*/ 229353 h 608391"/>
                <a:gd name="connsiteX55" fmla="*/ 238654 w 483894"/>
                <a:gd name="connsiteY55" fmla="*/ 218222 h 608391"/>
                <a:gd name="connsiteX56" fmla="*/ 266815 w 483894"/>
                <a:gd name="connsiteY56" fmla="*/ 238433 h 608391"/>
                <a:gd name="connsiteX57" fmla="*/ 262122 w 483894"/>
                <a:gd name="connsiteY57" fmla="*/ 258645 h 608391"/>
                <a:gd name="connsiteX58" fmla="*/ 294097 w 483894"/>
                <a:gd name="connsiteY58" fmla="*/ 265968 h 608391"/>
                <a:gd name="connsiteX59" fmla="*/ 298791 w 483894"/>
                <a:gd name="connsiteY59" fmla="*/ 245756 h 608391"/>
                <a:gd name="connsiteX60" fmla="*/ 333112 w 483894"/>
                <a:gd name="connsiteY60" fmla="*/ 239898 h 608391"/>
                <a:gd name="connsiteX61" fmla="*/ 343966 w 483894"/>
                <a:gd name="connsiteY61" fmla="*/ 257766 h 608391"/>
                <a:gd name="connsiteX62" fmla="*/ 371835 w 483894"/>
                <a:gd name="connsiteY62" fmla="*/ 240191 h 608391"/>
                <a:gd name="connsiteX63" fmla="*/ 360687 w 483894"/>
                <a:gd name="connsiteY63" fmla="*/ 222615 h 608391"/>
                <a:gd name="connsiteX64" fmla="*/ 380928 w 483894"/>
                <a:gd name="connsiteY64" fmla="*/ 194495 h 608391"/>
                <a:gd name="connsiteX65" fmla="*/ 401463 w 483894"/>
                <a:gd name="connsiteY65" fmla="*/ 199182 h 608391"/>
                <a:gd name="connsiteX66" fmla="*/ 408797 w 483894"/>
                <a:gd name="connsiteY66" fmla="*/ 167254 h 608391"/>
                <a:gd name="connsiteX67" fmla="*/ 388262 w 483894"/>
                <a:gd name="connsiteY67" fmla="*/ 162567 h 608391"/>
                <a:gd name="connsiteX68" fmla="*/ 382689 w 483894"/>
                <a:gd name="connsiteY68" fmla="*/ 128295 h 608391"/>
                <a:gd name="connsiteX69" fmla="*/ 400290 w 483894"/>
                <a:gd name="connsiteY69" fmla="*/ 117164 h 608391"/>
                <a:gd name="connsiteX70" fmla="*/ 382982 w 483894"/>
                <a:gd name="connsiteY70" fmla="*/ 89337 h 608391"/>
                <a:gd name="connsiteX71" fmla="*/ 365088 w 483894"/>
                <a:gd name="connsiteY71" fmla="*/ 100468 h 608391"/>
                <a:gd name="connsiteX72" fmla="*/ 336926 w 483894"/>
                <a:gd name="connsiteY72" fmla="*/ 80549 h 608391"/>
                <a:gd name="connsiteX73" fmla="*/ 341620 w 483894"/>
                <a:gd name="connsiteY73" fmla="*/ 60045 h 608391"/>
                <a:gd name="connsiteX74" fmla="*/ 227919 w 483894"/>
                <a:gd name="connsiteY74" fmla="*/ 591 h 608391"/>
                <a:gd name="connsiteX75" fmla="*/ 306124 w 483894"/>
                <a:gd name="connsiteY75" fmla="*/ 3804 h 608391"/>
                <a:gd name="connsiteX76" fmla="*/ 483308 w 483894"/>
                <a:gd name="connsiteY76" fmla="*/ 197717 h 608391"/>
                <a:gd name="connsiteX77" fmla="*/ 387382 w 483894"/>
                <a:gd name="connsiteY77" fmla="*/ 442305 h 608391"/>
                <a:gd name="connsiteX78" fmla="*/ 483894 w 483894"/>
                <a:gd name="connsiteY78" fmla="*/ 608391 h 608391"/>
                <a:gd name="connsiteX79" fmla="*/ 143902 w 483894"/>
                <a:gd name="connsiteY79" fmla="*/ 608391 h 608391"/>
                <a:gd name="connsiteX80" fmla="*/ 181744 w 483894"/>
                <a:gd name="connsiteY80" fmla="*/ 512899 h 608391"/>
                <a:gd name="connsiteX81" fmla="*/ 108993 w 483894"/>
                <a:gd name="connsiteY81" fmla="*/ 524909 h 608391"/>
                <a:gd name="connsiteX82" fmla="*/ 54137 w 483894"/>
                <a:gd name="connsiteY82" fmla="*/ 498839 h 608391"/>
                <a:gd name="connsiteX83" fmla="*/ 57657 w 483894"/>
                <a:gd name="connsiteY83" fmla="*/ 454022 h 608391"/>
                <a:gd name="connsiteX84" fmla="*/ 38589 w 483894"/>
                <a:gd name="connsiteY84" fmla="*/ 405690 h 608391"/>
                <a:gd name="connsiteX85" fmla="*/ 42109 w 483894"/>
                <a:gd name="connsiteY85" fmla="*/ 376984 h 608391"/>
                <a:gd name="connsiteX86" fmla="*/ 160 w 483894"/>
                <a:gd name="connsiteY86" fmla="*/ 355308 h 608391"/>
                <a:gd name="connsiteX87" fmla="*/ 52670 w 483894"/>
                <a:gd name="connsiteY87" fmla="*/ 255130 h 608391"/>
                <a:gd name="connsiteX88" fmla="*/ 38003 w 483894"/>
                <a:gd name="connsiteY88" fmla="*/ 222908 h 608391"/>
                <a:gd name="connsiteX89" fmla="*/ 74378 w 483894"/>
                <a:gd name="connsiteY89" fmla="*/ 82893 h 608391"/>
                <a:gd name="connsiteX90" fmla="*/ 227919 w 483894"/>
                <a:gd name="connsiteY90" fmla="*/ 591 h 608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483894" h="608391">
                  <a:moveTo>
                    <a:pt x="332813" y="285272"/>
                  </a:moveTo>
                  <a:cubicBezTo>
                    <a:pt x="353702" y="285272"/>
                    <a:pt x="370636" y="302253"/>
                    <a:pt x="370636" y="323201"/>
                  </a:cubicBezTo>
                  <a:cubicBezTo>
                    <a:pt x="370636" y="344149"/>
                    <a:pt x="353702" y="361130"/>
                    <a:pt x="332813" y="361130"/>
                  </a:cubicBezTo>
                  <a:cubicBezTo>
                    <a:pt x="311924" y="361130"/>
                    <a:pt x="294990" y="344149"/>
                    <a:pt x="294990" y="323201"/>
                  </a:cubicBezTo>
                  <a:cubicBezTo>
                    <a:pt x="294990" y="302253"/>
                    <a:pt x="311924" y="285272"/>
                    <a:pt x="332813" y="285272"/>
                  </a:cubicBezTo>
                  <a:close/>
                  <a:moveTo>
                    <a:pt x="329299" y="254544"/>
                  </a:moveTo>
                  <a:lnTo>
                    <a:pt x="308471" y="258937"/>
                  </a:lnTo>
                  <a:lnTo>
                    <a:pt x="311405" y="272119"/>
                  </a:lnTo>
                  <a:cubicBezTo>
                    <a:pt x="304364" y="275048"/>
                    <a:pt x="298204" y="279149"/>
                    <a:pt x="292924" y="284422"/>
                  </a:cubicBezTo>
                  <a:lnTo>
                    <a:pt x="281776" y="277099"/>
                  </a:lnTo>
                  <a:lnTo>
                    <a:pt x="270042" y="294967"/>
                  </a:lnTo>
                  <a:lnTo>
                    <a:pt x="281483" y="302290"/>
                  </a:lnTo>
                  <a:cubicBezTo>
                    <a:pt x="278549" y="309027"/>
                    <a:pt x="277083" y="316350"/>
                    <a:pt x="277376" y="323966"/>
                  </a:cubicBezTo>
                  <a:lnTo>
                    <a:pt x="264175" y="326895"/>
                  </a:lnTo>
                  <a:lnTo>
                    <a:pt x="268282" y="347399"/>
                  </a:lnTo>
                  <a:lnTo>
                    <a:pt x="281483" y="344763"/>
                  </a:lnTo>
                  <a:cubicBezTo>
                    <a:pt x="284416" y="351793"/>
                    <a:pt x="288817" y="357944"/>
                    <a:pt x="294097" y="363217"/>
                  </a:cubicBezTo>
                  <a:lnTo>
                    <a:pt x="286763" y="374348"/>
                  </a:lnTo>
                  <a:lnTo>
                    <a:pt x="304364" y="385772"/>
                  </a:lnTo>
                  <a:lnTo>
                    <a:pt x="311698" y="374641"/>
                  </a:lnTo>
                  <a:cubicBezTo>
                    <a:pt x="318738" y="377570"/>
                    <a:pt x="326072" y="378742"/>
                    <a:pt x="333699" y="378742"/>
                  </a:cubicBezTo>
                  <a:lnTo>
                    <a:pt x="336633" y="391923"/>
                  </a:lnTo>
                  <a:lnTo>
                    <a:pt x="357167" y="387529"/>
                  </a:lnTo>
                  <a:lnTo>
                    <a:pt x="354527" y="374348"/>
                  </a:lnTo>
                  <a:cubicBezTo>
                    <a:pt x="361274" y="371419"/>
                    <a:pt x="367728" y="367318"/>
                    <a:pt x="372715" y="362045"/>
                  </a:cubicBezTo>
                  <a:lnTo>
                    <a:pt x="384155" y="369368"/>
                  </a:lnTo>
                  <a:lnTo>
                    <a:pt x="395596" y="351500"/>
                  </a:lnTo>
                  <a:lnTo>
                    <a:pt x="384449" y="344177"/>
                  </a:lnTo>
                  <a:cubicBezTo>
                    <a:pt x="387089" y="337440"/>
                    <a:pt x="388556" y="330117"/>
                    <a:pt x="388556" y="322208"/>
                  </a:cubicBezTo>
                  <a:lnTo>
                    <a:pt x="401756" y="319572"/>
                  </a:lnTo>
                  <a:lnTo>
                    <a:pt x="397356" y="299068"/>
                  </a:lnTo>
                  <a:lnTo>
                    <a:pt x="384155" y="301704"/>
                  </a:lnTo>
                  <a:cubicBezTo>
                    <a:pt x="381222" y="294674"/>
                    <a:pt x="376822" y="288522"/>
                    <a:pt x="371541" y="283250"/>
                  </a:cubicBezTo>
                  <a:lnTo>
                    <a:pt x="378875" y="272119"/>
                  </a:lnTo>
                  <a:lnTo>
                    <a:pt x="361274" y="260695"/>
                  </a:lnTo>
                  <a:lnTo>
                    <a:pt x="353940" y="271826"/>
                  </a:lnTo>
                  <a:cubicBezTo>
                    <a:pt x="347193" y="268897"/>
                    <a:pt x="339566" y="267432"/>
                    <a:pt x="331939" y="267725"/>
                  </a:cubicBezTo>
                  <a:close/>
                  <a:moveTo>
                    <a:pt x="302012" y="100461"/>
                  </a:moveTo>
                  <a:cubicBezTo>
                    <a:pt x="334574" y="100461"/>
                    <a:pt x="360970" y="126826"/>
                    <a:pt x="360970" y="159348"/>
                  </a:cubicBezTo>
                  <a:cubicBezTo>
                    <a:pt x="360970" y="191870"/>
                    <a:pt x="334574" y="218235"/>
                    <a:pt x="302012" y="218235"/>
                  </a:cubicBezTo>
                  <a:cubicBezTo>
                    <a:pt x="269450" y="218235"/>
                    <a:pt x="243054" y="191870"/>
                    <a:pt x="243054" y="159348"/>
                  </a:cubicBezTo>
                  <a:cubicBezTo>
                    <a:pt x="243054" y="126826"/>
                    <a:pt x="269450" y="100461"/>
                    <a:pt x="302012" y="100461"/>
                  </a:cubicBezTo>
                  <a:close/>
                  <a:moveTo>
                    <a:pt x="309644" y="52722"/>
                  </a:moveTo>
                  <a:lnTo>
                    <a:pt x="304951" y="72933"/>
                  </a:lnTo>
                  <a:cubicBezTo>
                    <a:pt x="293510" y="72640"/>
                    <a:pt x="282070" y="74398"/>
                    <a:pt x="270922" y="78792"/>
                  </a:cubicBezTo>
                  <a:lnTo>
                    <a:pt x="259775" y="60924"/>
                  </a:lnTo>
                  <a:lnTo>
                    <a:pt x="231907" y="78499"/>
                  </a:lnTo>
                  <a:lnTo>
                    <a:pt x="243054" y="96074"/>
                  </a:lnTo>
                  <a:cubicBezTo>
                    <a:pt x="234254" y="104276"/>
                    <a:pt x="227507" y="113942"/>
                    <a:pt x="222813" y="124487"/>
                  </a:cubicBezTo>
                  <a:lnTo>
                    <a:pt x="202278" y="119508"/>
                  </a:lnTo>
                  <a:lnTo>
                    <a:pt x="194945" y="151729"/>
                  </a:lnTo>
                  <a:lnTo>
                    <a:pt x="215479" y="156416"/>
                  </a:lnTo>
                  <a:cubicBezTo>
                    <a:pt x="214892" y="167839"/>
                    <a:pt x="216946" y="179263"/>
                    <a:pt x="221346" y="190394"/>
                  </a:cubicBezTo>
                  <a:lnTo>
                    <a:pt x="203452" y="201525"/>
                  </a:lnTo>
                  <a:lnTo>
                    <a:pt x="220759" y="229353"/>
                  </a:lnTo>
                  <a:lnTo>
                    <a:pt x="238654" y="218222"/>
                  </a:lnTo>
                  <a:cubicBezTo>
                    <a:pt x="246574" y="227009"/>
                    <a:pt x="256255" y="233746"/>
                    <a:pt x="266815" y="238433"/>
                  </a:cubicBezTo>
                  <a:lnTo>
                    <a:pt x="262122" y="258645"/>
                  </a:lnTo>
                  <a:lnTo>
                    <a:pt x="294097" y="265968"/>
                  </a:lnTo>
                  <a:lnTo>
                    <a:pt x="298791" y="245756"/>
                  </a:lnTo>
                  <a:cubicBezTo>
                    <a:pt x="310231" y="246049"/>
                    <a:pt x="321965" y="244292"/>
                    <a:pt x="333112" y="239898"/>
                  </a:cubicBezTo>
                  <a:lnTo>
                    <a:pt x="343966" y="257766"/>
                  </a:lnTo>
                  <a:lnTo>
                    <a:pt x="371835" y="240191"/>
                  </a:lnTo>
                  <a:lnTo>
                    <a:pt x="360687" y="222615"/>
                  </a:lnTo>
                  <a:cubicBezTo>
                    <a:pt x="369488" y="214414"/>
                    <a:pt x="376235" y="204747"/>
                    <a:pt x="380928" y="194495"/>
                  </a:cubicBezTo>
                  <a:lnTo>
                    <a:pt x="401463" y="199182"/>
                  </a:lnTo>
                  <a:lnTo>
                    <a:pt x="408797" y="167254"/>
                  </a:lnTo>
                  <a:lnTo>
                    <a:pt x="388262" y="162567"/>
                  </a:lnTo>
                  <a:cubicBezTo>
                    <a:pt x="388849" y="151143"/>
                    <a:pt x="386795" y="139426"/>
                    <a:pt x="382689" y="128295"/>
                  </a:cubicBezTo>
                  <a:lnTo>
                    <a:pt x="400290" y="117164"/>
                  </a:lnTo>
                  <a:lnTo>
                    <a:pt x="382982" y="89337"/>
                  </a:lnTo>
                  <a:lnTo>
                    <a:pt x="365088" y="100468"/>
                  </a:lnTo>
                  <a:cubicBezTo>
                    <a:pt x="357167" y="91973"/>
                    <a:pt x="347487" y="84943"/>
                    <a:pt x="336926" y="80549"/>
                  </a:cubicBezTo>
                  <a:lnTo>
                    <a:pt x="341620" y="60045"/>
                  </a:lnTo>
                  <a:close/>
                  <a:moveTo>
                    <a:pt x="227919" y="591"/>
                  </a:moveTo>
                  <a:cubicBezTo>
                    <a:pt x="252020" y="-809"/>
                    <a:pt x="278183" y="289"/>
                    <a:pt x="306124" y="3804"/>
                  </a:cubicBezTo>
                  <a:cubicBezTo>
                    <a:pt x="417597" y="17864"/>
                    <a:pt x="483014" y="130053"/>
                    <a:pt x="483308" y="197717"/>
                  </a:cubicBezTo>
                  <a:cubicBezTo>
                    <a:pt x="483894" y="332167"/>
                    <a:pt x="388556" y="393974"/>
                    <a:pt x="387382" y="442305"/>
                  </a:cubicBezTo>
                  <a:cubicBezTo>
                    <a:pt x="385329" y="529010"/>
                    <a:pt x="483894" y="608391"/>
                    <a:pt x="483894" y="608391"/>
                  </a:cubicBezTo>
                  <a:lnTo>
                    <a:pt x="143902" y="608391"/>
                  </a:lnTo>
                  <a:cubicBezTo>
                    <a:pt x="143902" y="608391"/>
                    <a:pt x="208439" y="575877"/>
                    <a:pt x="181744" y="512899"/>
                  </a:cubicBezTo>
                  <a:cubicBezTo>
                    <a:pt x="169717" y="514950"/>
                    <a:pt x="135688" y="521394"/>
                    <a:pt x="108993" y="524909"/>
                  </a:cubicBezTo>
                  <a:cubicBezTo>
                    <a:pt x="82298" y="528424"/>
                    <a:pt x="59124" y="512313"/>
                    <a:pt x="54137" y="498839"/>
                  </a:cubicBezTo>
                  <a:cubicBezTo>
                    <a:pt x="49443" y="485658"/>
                    <a:pt x="63817" y="461638"/>
                    <a:pt x="57657" y="454022"/>
                  </a:cubicBezTo>
                  <a:cubicBezTo>
                    <a:pt x="51790" y="446406"/>
                    <a:pt x="31549" y="424437"/>
                    <a:pt x="38589" y="405690"/>
                  </a:cubicBezTo>
                  <a:cubicBezTo>
                    <a:pt x="45630" y="386651"/>
                    <a:pt x="42109" y="376984"/>
                    <a:pt x="42109" y="376984"/>
                  </a:cubicBezTo>
                  <a:cubicBezTo>
                    <a:pt x="42109" y="376984"/>
                    <a:pt x="3681" y="369368"/>
                    <a:pt x="160" y="355308"/>
                  </a:cubicBezTo>
                  <a:cubicBezTo>
                    <a:pt x="-3360" y="341248"/>
                    <a:pt x="52670" y="255130"/>
                    <a:pt x="52670" y="255130"/>
                  </a:cubicBezTo>
                  <a:cubicBezTo>
                    <a:pt x="52670" y="255130"/>
                    <a:pt x="40936" y="234332"/>
                    <a:pt x="38003" y="222908"/>
                  </a:cubicBezTo>
                  <a:cubicBezTo>
                    <a:pt x="35362" y="211777"/>
                    <a:pt x="38003" y="151436"/>
                    <a:pt x="74378" y="82893"/>
                  </a:cubicBezTo>
                  <a:cubicBezTo>
                    <a:pt x="101880" y="31485"/>
                    <a:pt x="155618" y="4793"/>
                    <a:pt x="227919" y="591"/>
                  </a:cubicBezTo>
                  <a:close/>
                </a:path>
              </a:pathLst>
            </a:custGeom>
            <a:solidFill>
              <a:srgbClr val="0F73EE"/>
            </a:solidFill>
            <a:ln>
              <a:noFill/>
            </a:ln>
          </p:spPr>
        </p:sp>
        <p:sp>
          <p:nvSpPr>
            <p:cNvPr id="27" name="矩形: 圆角 77"/>
            <p:cNvSpPr/>
            <p:nvPr/>
          </p:nvSpPr>
          <p:spPr>
            <a:xfrm>
              <a:off x="6096000" y="892151"/>
              <a:ext cx="4361448" cy="617070"/>
            </a:xfrm>
            <a:prstGeom prst="roundRect">
              <a:avLst>
                <a:gd name="adj" fmla="val 14295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rgbClr val="0F73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just">
                <a:lnSpc>
                  <a:spcPct val="90000"/>
                </a:lnSpc>
                <a:buClr>
                  <a:schemeClr val="accent2"/>
                </a:buClr>
              </a:pPr>
              <a:endParaRPr lang="en-US" altLang="zh-CN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n-ea"/>
              </a:endParaRPr>
            </a:p>
            <a:p>
              <a:pPr algn="just">
                <a:lnSpc>
                  <a:spcPct val="90000"/>
                </a:lnSpc>
                <a:buClr>
                  <a:schemeClr val="accent2"/>
                </a:buClr>
              </a:pPr>
              <a:r>
                <a:rPr lang="en-US" altLang="zh-CN" sz="24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2.5 TCP/IP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  <a:cs typeface="+mn-ea"/>
                </a:rPr>
                <a:t>实用命令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n-ea"/>
              </a:endParaRPr>
            </a:p>
            <a:p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29178" y="1650601"/>
            <a:ext cx="2860078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 noProof="1"/>
              <a:t>OSI/RM</a:t>
            </a:r>
            <a:r>
              <a:rPr lang="zh-CN" altLang="en-US" sz="2800" noProof="1"/>
              <a:t>与</a:t>
            </a:r>
            <a:r>
              <a:rPr lang="en-US" altLang="zh-CN" sz="2800" noProof="1"/>
              <a:t>TCP/IP</a:t>
            </a:r>
            <a:endParaRPr lang="zh-CN" altLang="en-US" sz="2800" dirty="0">
              <a:solidFill>
                <a:srgbClr val="002060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93749" y="2083728"/>
            <a:ext cx="3971449" cy="4529912"/>
            <a:chOff x="1419126" y="2735782"/>
            <a:chExt cx="3318781" cy="3637587"/>
          </a:xfrm>
        </p:grpSpPr>
        <p:grpSp>
          <p:nvGrpSpPr>
            <p:cNvPr id="5" name="组合 4"/>
            <p:cNvGrpSpPr/>
            <p:nvPr/>
          </p:nvGrpSpPr>
          <p:grpSpPr>
            <a:xfrm>
              <a:off x="1419126" y="2735782"/>
              <a:ext cx="3318781" cy="3637587"/>
              <a:chOff x="1980913" y="3125907"/>
              <a:chExt cx="3318781" cy="3637587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80913" y="3125907"/>
                <a:ext cx="3318781" cy="331878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 cstate="print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3150" y="5174724"/>
                <a:ext cx="1588770" cy="1588770"/>
              </a:xfrm>
              <a:prstGeom prst="rect">
                <a:avLst/>
              </a:prstGeom>
            </p:spPr>
          </p:pic>
        </p:grpSp>
        <p:sp>
          <p:nvSpPr>
            <p:cNvPr id="6" name="矩形 5"/>
            <p:cNvSpPr/>
            <p:nvPr/>
          </p:nvSpPr>
          <p:spPr>
            <a:xfrm>
              <a:off x="1745826" y="3600199"/>
              <a:ext cx="2937976" cy="12604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0F73EE"/>
                  </a:solidFill>
                </a:rPr>
                <a:t>OSI/RM</a:t>
              </a:r>
              <a:r>
                <a:rPr lang="en-US" altLang="zh-CN" sz="2400" dirty="0" smtClean="0"/>
                <a:t>:  </a:t>
              </a:r>
              <a:r>
                <a:rPr lang="en-US" altLang="zh-CN" sz="2400" dirty="0"/>
                <a:t>(Open System Interconnection Reference Model</a:t>
              </a:r>
              <a:r>
                <a:rPr lang="en-US" altLang="zh-CN" sz="2400" dirty="0" smtClean="0"/>
                <a:t>，</a:t>
              </a:r>
              <a:r>
                <a:rPr lang="zh-CN" altLang="en-US" sz="2400" dirty="0" smtClean="0"/>
                <a:t>开放系统互连参考模型</a:t>
              </a:r>
              <a:r>
                <a:rPr lang="en-US" altLang="zh-CN" sz="2400" dirty="0"/>
                <a:t>);</a:t>
              </a:r>
              <a:endParaRPr lang="en-US" altLang="zh-CN" sz="24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514472" y="2108387"/>
            <a:ext cx="3971449" cy="4529912"/>
            <a:chOff x="1419126" y="2735782"/>
            <a:chExt cx="3318781" cy="3637587"/>
          </a:xfrm>
        </p:grpSpPr>
        <p:grpSp>
          <p:nvGrpSpPr>
            <p:cNvPr id="10" name="组合 9"/>
            <p:cNvGrpSpPr/>
            <p:nvPr/>
          </p:nvGrpSpPr>
          <p:grpSpPr>
            <a:xfrm>
              <a:off x="1419126" y="2735782"/>
              <a:ext cx="3318781" cy="3637587"/>
              <a:chOff x="1980913" y="3125907"/>
              <a:chExt cx="3318781" cy="3637587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1980913" y="3125907"/>
                <a:ext cx="3318781" cy="3318781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 cstate="print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3150" y="5174724"/>
                <a:ext cx="1588770" cy="1588770"/>
              </a:xfrm>
              <a:prstGeom prst="rect">
                <a:avLst/>
              </a:prstGeom>
            </p:spPr>
          </p:pic>
        </p:grpSp>
        <p:sp>
          <p:nvSpPr>
            <p:cNvPr id="11" name="矩形 10"/>
            <p:cNvSpPr/>
            <p:nvPr/>
          </p:nvSpPr>
          <p:spPr>
            <a:xfrm>
              <a:off x="1741352" y="3580397"/>
              <a:ext cx="2996555" cy="12604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solidFill>
                    <a:srgbClr val="0F73EE"/>
                  </a:solidFill>
                </a:rPr>
                <a:t>TCP/IP</a:t>
              </a:r>
              <a:r>
                <a:rPr lang="en-US" altLang="zh-CN" sz="2400" dirty="0">
                  <a:solidFill>
                    <a:schemeClr val="folHlink"/>
                  </a:solidFill>
                </a:rPr>
                <a:t>:</a:t>
              </a:r>
              <a:r>
                <a:rPr lang="en-US" altLang="zh-CN" sz="2400" dirty="0"/>
                <a:t>（Transmission Control Protocol /Internet Protocol，</a:t>
              </a:r>
              <a:r>
                <a:rPr lang="zh-CN" altLang="en-US" sz="2400" dirty="0"/>
                <a:t>传输控制协议</a:t>
              </a:r>
              <a:r>
                <a:rPr lang="en-US" altLang="zh-CN" sz="2400" dirty="0"/>
                <a:t>/</a:t>
              </a:r>
              <a:r>
                <a:rPr lang="zh-CN" altLang="en-US" sz="2400" dirty="0"/>
                <a:t>互联网络协议）。  </a:t>
              </a:r>
              <a:endParaRPr lang="zh-CN" altLang="en-US" sz="24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705160" y="302366"/>
            <a:ext cx="6635578" cy="1109044"/>
            <a:chOff x="3279913" y="488294"/>
            <a:chExt cx="6635578" cy="1109044"/>
          </a:xfrm>
        </p:grpSpPr>
        <p:grpSp>
          <p:nvGrpSpPr>
            <p:cNvPr id="15" name="组合 14"/>
            <p:cNvGrpSpPr/>
            <p:nvPr/>
          </p:nvGrpSpPr>
          <p:grpSpPr>
            <a:xfrm>
              <a:off x="3279913" y="909457"/>
              <a:ext cx="6635578" cy="687881"/>
              <a:chOff x="3279913" y="909457"/>
              <a:chExt cx="6635578" cy="687881"/>
            </a:xfrm>
          </p:grpSpPr>
          <p:sp>
            <p:nvSpPr>
              <p:cNvPr id="169" name="矩形: 圆角 9"/>
              <p:cNvSpPr/>
              <p:nvPr/>
            </p:nvSpPr>
            <p:spPr>
              <a:xfrm>
                <a:off x="3279913" y="909457"/>
                <a:ext cx="6635578" cy="687881"/>
              </a:xfrm>
              <a:prstGeom prst="roundRect">
                <a:avLst/>
              </a:prstGeom>
              <a:solidFill>
                <a:srgbClr val="0F73EE"/>
              </a:solidFill>
              <a:ln w="127000">
                <a:solidFill>
                  <a:srgbClr val="00B0F0">
                    <a:alpha val="25000"/>
                  </a:srgb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</a:endParaRPr>
              </a:p>
            </p:txBody>
          </p:sp>
          <p:sp>
            <p:nvSpPr>
              <p:cNvPr id="170" name="文本框 169"/>
              <p:cNvSpPr txBox="1"/>
              <p:nvPr/>
            </p:nvSpPr>
            <p:spPr>
              <a:xfrm>
                <a:off x="4648956" y="1032190"/>
                <a:ext cx="4754828" cy="535531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lvl="0" fontAlgn="base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defRPr/>
                </a:pPr>
                <a:r>
                  <a:rPr lang="en-US" altLang="zh-CN" sz="3200" noProof="1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2.1 </a:t>
                </a:r>
                <a:r>
                  <a:rPr lang="en-US" altLang="zh-CN" sz="3200" noProof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TCP/IP</a:t>
                </a:r>
                <a:r>
                  <a:rPr lang="zh-CN" altLang="en-US" sz="3200" noProof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参考模型</a:t>
                </a:r>
                <a:r>
                  <a:rPr lang="zh-CN" altLang="en-US" sz="3200" noProof="1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简介</a:t>
                </a:r>
                <a:endParaRPr lang="zh-CN" altLang="en-US" sz="320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16" name="28b0fd0e-7ece-4f48-881a-83c93b08799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2"/>
              </p:custDataLst>
            </p:nvPr>
          </p:nvGrpSpPr>
          <p:grpSpPr>
            <a:xfrm>
              <a:off x="3459237" y="488294"/>
              <a:ext cx="1104746" cy="1087791"/>
              <a:chOff x="3950910" y="1316832"/>
              <a:chExt cx="4290179" cy="4224337"/>
            </a:xfrm>
          </p:grpSpPr>
          <p:sp>
            <p:nvSpPr>
              <p:cNvPr id="17" name="ïṥļîḋè"/>
              <p:cNvSpPr/>
              <p:nvPr/>
            </p:nvSpPr>
            <p:spPr bwMode="auto">
              <a:xfrm>
                <a:off x="4051407" y="3713164"/>
                <a:ext cx="727736" cy="421048"/>
              </a:xfrm>
              <a:custGeom>
                <a:avLst/>
                <a:gdLst>
                  <a:gd name="T0" fmla="*/ 166 w 202"/>
                  <a:gd name="T1" fmla="*/ 96 h 117"/>
                  <a:gd name="T2" fmla="*/ 36 w 202"/>
                  <a:gd name="T3" fmla="*/ 96 h 117"/>
                  <a:gd name="T4" fmla="*/ 36 w 202"/>
                  <a:gd name="T5" fmla="*/ 21 h 117"/>
                  <a:gd name="T6" fmla="*/ 166 w 202"/>
                  <a:gd name="T7" fmla="*/ 21 h 117"/>
                  <a:gd name="T8" fmla="*/ 166 w 202"/>
                  <a:gd name="T9" fmla="*/ 9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2" h="117">
                    <a:moveTo>
                      <a:pt x="166" y="96"/>
                    </a:moveTo>
                    <a:cubicBezTo>
                      <a:pt x="130" y="117"/>
                      <a:pt x="72" y="117"/>
                      <a:pt x="36" y="96"/>
                    </a:cubicBezTo>
                    <a:cubicBezTo>
                      <a:pt x="0" y="76"/>
                      <a:pt x="0" y="42"/>
                      <a:pt x="36" y="21"/>
                    </a:cubicBezTo>
                    <a:cubicBezTo>
                      <a:pt x="72" y="0"/>
                      <a:pt x="130" y="0"/>
                      <a:pt x="166" y="21"/>
                    </a:cubicBezTo>
                    <a:cubicBezTo>
                      <a:pt x="202" y="42"/>
                      <a:pt x="202" y="76"/>
                      <a:pt x="166" y="96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íṣḻíďe"/>
              <p:cNvSpPr/>
              <p:nvPr/>
            </p:nvSpPr>
            <p:spPr bwMode="auto">
              <a:xfrm>
                <a:off x="4170964" y="3766878"/>
                <a:ext cx="481692" cy="270302"/>
              </a:xfrm>
              <a:custGeom>
                <a:avLst/>
                <a:gdLst>
                  <a:gd name="T0" fmla="*/ 110 w 134"/>
                  <a:gd name="T1" fmla="*/ 11 h 75"/>
                  <a:gd name="T2" fmla="*/ 102 w 134"/>
                  <a:gd name="T3" fmla="*/ 7 h 75"/>
                  <a:gd name="T4" fmla="*/ 102 w 134"/>
                  <a:gd name="T5" fmla="*/ 7 h 75"/>
                  <a:gd name="T6" fmla="*/ 86 w 134"/>
                  <a:gd name="T7" fmla="*/ 0 h 75"/>
                  <a:gd name="T8" fmla="*/ 87 w 134"/>
                  <a:gd name="T9" fmla="*/ 3 h 75"/>
                  <a:gd name="T10" fmla="*/ 49 w 134"/>
                  <a:gd name="T11" fmla="*/ 3 h 75"/>
                  <a:gd name="T12" fmla="*/ 50 w 134"/>
                  <a:gd name="T13" fmla="*/ 0 h 75"/>
                  <a:gd name="T14" fmla="*/ 31 w 134"/>
                  <a:gd name="T15" fmla="*/ 8 h 75"/>
                  <a:gd name="T16" fmla="*/ 31 w 134"/>
                  <a:gd name="T17" fmla="*/ 8 h 75"/>
                  <a:gd name="T18" fmla="*/ 24 w 134"/>
                  <a:gd name="T19" fmla="*/ 11 h 75"/>
                  <a:gd name="T20" fmla="*/ 24 w 134"/>
                  <a:gd name="T21" fmla="*/ 61 h 75"/>
                  <a:gd name="T22" fmla="*/ 110 w 134"/>
                  <a:gd name="T23" fmla="*/ 61 h 75"/>
                  <a:gd name="T24" fmla="*/ 110 w 134"/>
                  <a:gd name="T25" fmla="*/ 1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75">
                    <a:moveTo>
                      <a:pt x="110" y="11"/>
                    </a:moveTo>
                    <a:cubicBezTo>
                      <a:pt x="108" y="10"/>
                      <a:pt x="105" y="9"/>
                      <a:pt x="102" y="7"/>
                    </a:cubicBezTo>
                    <a:cubicBezTo>
                      <a:pt x="102" y="7"/>
                      <a:pt x="102" y="7"/>
                      <a:pt x="102" y="7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75" y="1"/>
                      <a:pt x="62" y="1"/>
                      <a:pt x="49" y="3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9" y="9"/>
                      <a:pt x="26" y="10"/>
                      <a:pt x="24" y="11"/>
                    </a:cubicBezTo>
                    <a:cubicBezTo>
                      <a:pt x="0" y="25"/>
                      <a:pt x="0" y="47"/>
                      <a:pt x="24" y="61"/>
                    </a:cubicBezTo>
                    <a:cubicBezTo>
                      <a:pt x="48" y="75"/>
                      <a:pt x="86" y="75"/>
                      <a:pt x="110" y="61"/>
                    </a:cubicBezTo>
                    <a:cubicBezTo>
                      <a:pt x="134" y="47"/>
                      <a:pt x="134" y="25"/>
                      <a:pt x="110" y="11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íś1îḍê"/>
              <p:cNvSpPr/>
              <p:nvPr/>
            </p:nvSpPr>
            <p:spPr bwMode="auto">
              <a:xfrm>
                <a:off x="4300917" y="3749550"/>
                <a:ext cx="221786" cy="129953"/>
              </a:xfrm>
              <a:custGeom>
                <a:avLst/>
                <a:gdLst>
                  <a:gd name="T0" fmla="*/ 51 w 62"/>
                  <a:gd name="T1" fmla="*/ 29 h 36"/>
                  <a:gd name="T2" fmla="*/ 11 w 62"/>
                  <a:gd name="T3" fmla="*/ 29 h 36"/>
                  <a:gd name="T4" fmla="*/ 11 w 62"/>
                  <a:gd name="T5" fmla="*/ 6 h 36"/>
                  <a:gd name="T6" fmla="*/ 51 w 62"/>
                  <a:gd name="T7" fmla="*/ 6 h 36"/>
                  <a:gd name="T8" fmla="*/ 51 w 62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6">
                    <a:moveTo>
                      <a:pt x="51" y="29"/>
                    </a:moveTo>
                    <a:cubicBezTo>
                      <a:pt x="40" y="36"/>
                      <a:pt x="22" y="36"/>
                      <a:pt x="11" y="29"/>
                    </a:cubicBezTo>
                    <a:cubicBezTo>
                      <a:pt x="0" y="23"/>
                      <a:pt x="0" y="13"/>
                      <a:pt x="11" y="6"/>
                    </a:cubicBezTo>
                    <a:cubicBezTo>
                      <a:pt x="22" y="0"/>
                      <a:pt x="40" y="0"/>
                      <a:pt x="51" y="6"/>
                    </a:cubicBezTo>
                    <a:cubicBezTo>
                      <a:pt x="62" y="13"/>
                      <a:pt x="62" y="23"/>
                      <a:pt x="51" y="29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iš1ïḍe"/>
              <p:cNvSpPr/>
              <p:nvPr/>
            </p:nvSpPr>
            <p:spPr bwMode="auto">
              <a:xfrm>
                <a:off x="4375423" y="3352761"/>
                <a:ext cx="72774" cy="474761"/>
              </a:xfrm>
              <a:custGeom>
                <a:avLst/>
                <a:gdLst>
                  <a:gd name="T0" fmla="*/ 10 w 20"/>
                  <a:gd name="T1" fmla="*/ 132 h 132"/>
                  <a:gd name="T2" fmla="*/ 10 w 20"/>
                  <a:gd name="T3" fmla="*/ 132 h 132"/>
                  <a:gd name="T4" fmla="*/ 0 w 20"/>
                  <a:gd name="T5" fmla="*/ 122 h 132"/>
                  <a:gd name="T6" fmla="*/ 0 w 20"/>
                  <a:gd name="T7" fmla="*/ 0 h 132"/>
                  <a:gd name="T8" fmla="*/ 20 w 20"/>
                  <a:gd name="T9" fmla="*/ 0 h 132"/>
                  <a:gd name="T10" fmla="*/ 20 w 20"/>
                  <a:gd name="T11" fmla="*/ 122 h 132"/>
                  <a:gd name="T12" fmla="*/ 10 w 20"/>
                  <a:gd name="T13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32">
                    <a:moveTo>
                      <a:pt x="10" y="132"/>
                    </a:moveTo>
                    <a:cubicBezTo>
                      <a:pt x="10" y="132"/>
                      <a:pt x="10" y="132"/>
                      <a:pt x="10" y="132"/>
                    </a:cubicBezTo>
                    <a:cubicBezTo>
                      <a:pt x="5" y="132"/>
                      <a:pt x="0" y="128"/>
                      <a:pt x="0" y="12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22"/>
                      <a:pt x="20" y="122"/>
                      <a:pt x="20" y="122"/>
                    </a:cubicBezTo>
                    <a:cubicBezTo>
                      <a:pt x="20" y="128"/>
                      <a:pt x="15" y="132"/>
                      <a:pt x="10" y="132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ísḻiḍè"/>
              <p:cNvSpPr/>
              <p:nvPr/>
            </p:nvSpPr>
            <p:spPr bwMode="auto">
              <a:xfrm>
                <a:off x="4371958" y="3331969"/>
                <a:ext cx="79704" cy="43318"/>
              </a:xfrm>
              <a:custGeom>
                <a:avLst/>
                <a:gdLst>
                  <a:gd name="T0" fmla="*/ 18 w 22"/>
                  <a:gd name="T1" fmla="*/ 10 h 12"/>
                  <a:gd name="T2" fmla="*/ 4 w 22"/>
                  <a:gd name="T3" fmla="*/ 10 h 12"/>
                  <a:gd name="T4" fmla="*/ 4 w 22"/>
                  <a:gd name="T5" fmla="*/ 2 h 12"/>
                  <a:gd name="T6" fmla="*/ 18 w 22"/>
                  <a:gd name="T7" fmla="*/ 2 h 12"/>
                  <a:gd name="T8" fmla="*/ 18 w 22"/>
                  <a:gd name="T9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2">
                    <a:moveTo>
                      <a:pt x="18" y="10"/>
                    </a:moveTo>
                    <a:cubicBezTo>
                      <a:pt x="14" y="12"/>
                      <a:pt x="8" y="12"/>
                      <a:pt x="4" y="10"/>
                    </a:cubicBezTo>
                    <a:cubicBezTo>
                      <a:pt x="0" y="8"/>
                      <a:pt x="0" y="4"/>
                      <a:pt x="4" y="2"/>
                    </a:cubicBezTo>
                    <a:cubicBezTo>
                      <a:pt x="8" y="0"/>
                      <a:pt x="14" y="0"/>
                      <a:pt x="18" y="2"/>
                    </a:cubicBezTo>
                    <a:cubicBezTo>
                      <a:pt x="22" y="4"/>
                      <a:pt x="22" y="8"/>
                      <a:pt x="18" y="10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iSlïḓe"/>
              <p:cNvSpPr/>
              <p:nvPr/>
            </p:nvSpPr>
            <p:spPr bwMode="auto">
              <a:xfrm>
                <a:off x="4382354" y="2924783"/>
                <a:ext cx="58912" cy="443573"/>
              </a:xfrm>
              <a:custGeom>
                <a:avLst/>
                <a:gdLst>
                  <a:gd name="T0" fmla="*/ 8 w 16"/>
                  <a:gd name="T1" fmla="*/ 123 h 123"/>
                  <a:gd name="T2" fmla="*/ 8 w 16"/>
                  <a:gd name="T3" fmla="*/ 123 h 123"/>
                  <a:gd name="T4" fmla="*/ 0 w 16"/>
                  <a:gd name="T5" fmla="*/ 115 h 123"/>
                  <a:gd name="T6" fmla="*/ 0 w 16"/>
                  <a:gd name="T7" fmla="*/ 0 h 123"/>
                  <a:gd name="T8" fmla="*/ 16 w 16"/>
                  <a:gd name="T9" fmla="*/ 0 h 123"/>
                  <a:gd name="T10" fmla="*/ 16 w 16"/>
                  <a:gd name="T11" fmla="*/ 115 h 123"/>
                  <a:gd name="T12" fmla="*/ 8 w 16"/>
                  <a:gd name="T13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23">
                    <a:moveTo>
                      <a:pt x="8" y="123"/>
                    </a:moveTo>
                    <a:cubicBezTo>
                      <a:pt x="8" y="123"/>
                      <a:pt x="8" y="123"/>
                      <a:pt x="8" y="123"/>
                    </a:cubicBezTo>
                    <a:cubicBezTo>
                      <a:pt x="4" y="123"/>
                      <a:pt x="0" y="119"/>
                      <a:pt x="0" y="11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15"/>
                      <a:pt x="16" y="115"/>
                      <a:pt x="16" y="115"/>
                    </a:cubicBezTo>
                    <a:cubicBezTo>
                      <a:pt x="16" y="119"/>
                      <a:pt x="12" y="123"/>
                      <a:pt x="8" y="123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iṣļidé"/>
              <p:cNvSpPr/>
              <p:nvPr/>
            </p:nvSpPr>
            <p:spPr bwMode="auto">
              <a:xfrm>
                <a:off x="4818996" y="3098053"/>
                <a:ext cx="103962" cy="60645"/>
              </a:xfrm>
              <a:custGeom>
                <a:avLst/>
                <a:gdLst>
                  <a:gd name="T0" fmla="*/ 0 w 29"/>
                  <a:gd name="T1" fmla="*/ 12 h 17"/>
                  <a:gd name="T2" fmla="*/ 0 w 29"/>
                  <a:gd name="T3" fmla="*/ 8 h 17"/>
                  <a:gd name="T4" fmla="*/ 7 w 29"/>
                  <a:gd name="T5" fmla="*/ 7 h 17"/>
                  <a:gd name="T6" fmla="*/ 14 w 29"/>
                  <a:gd name="T7" fmla="*/ 1 h 17"/>
                  <a:gd name="T8" fmla="*/ 19 w 29"/>
                  <a:gd name="T9" fmla="*/ 1 h 17"/>
                  <a:gd name="T10" fmla="*/ 24 w 29"/>
                  <a:gd name="T11" fmla="*/ 4 h 17"/>
                  <a:gd name="T12" fmla="*/ 29 w 29"/>
                  <a:gd name="T13" fmla="*/ 3 h 17"/>
                  <a:gd name="T14" fmla="*/ 29 w 29"/>
                  <a:gd name="T15" fmla="*/ 8 h 17"/>
                  <a:gd name="T16" fmla="*/ 29 w 29"/>
                  <a:gd name="T17" fmla="*/ 8 h 17"/>
                  <a:gd name="T18" fmla="*/ 28 w 29"/>
                  <a:gd name="T19" fmla="*/ 9 h 17"/>
                  <a:gd name="T20" fmla="*/ 11 w 29"/>
                  <a:gd name="T21" fmla="*/ 17 h 17"/>
                  <a:gd name="T22" fmla="*/ 7 w 29"/>
                  <a:gd name="T23" fmla="*/ 17 h 17"/>
                  <a:gd name="T24" fmla="*/ 1 w 29"/>
                  <a:gd name="T25" fmla="*/ 13 h 17"/>
                  <a:gd name="T26" fmla="*/ 0 w 29"/>
                  <a:gd name="T27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17">
                    <a:moveTo>
                      <a:pt x="0" y="12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9"/>
                      <a:pt x="29" y="9"/>
                      <a:pt x="28" y="9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0" y="17"/>
                      <a:pt x="8" y="17"/>
                      <a:pt x="7" y="17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3"/>
                      <a:pt x="0" y="12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Sliḋe"/>
              <p:cNvSpPr/>
              <p:nvPr/>
            </p:nvSpPr>
            <p:spPr bwMode="auto">
              <a:xfrm>
                <a:off x="4818996" y="3084192"/>
                <a:ext cx="103962" cy="60645"/>
              </a:xfrm>
              <a:custGeom>
                <a:avLst/>
                <a:gdLst>
                  <a:gd name="T0" fmla="*/ 1 w 29"/>
                  <a:gd name="T1" fmla="*/ 10 h 17"/>
                  <a:gd name="T2" fmla="*/ 14 w 29"/>
                  <a:gd name="T3" fmla="*/ 1 h 17"/>
                  <a:gd name="T4" fmla="*/ 19 w 29"/>
                  <a:gd name="T5" fmla="*/ 1 h 17"/>
                  <a:gd name="T6" fmla="*/ 28 w 29"/>
                  <a:gd name="T7" fmla="*/ 6 h 17"/>
                  <a:gd name="T8" fmla="*/ 28 w 29"/>
                  <a:gd name="T9" fmla="*/ 9 h 17"/>
                  <a:gd name="T10" fmla="*/ 11 w 29"/>
                  <a:gd name="T11" fmla="*/ 16 h 17"/>
                  <a:gd name="T12" fmla="*/ 7 w 29"/>
                  <a:gd name="T13" fmla="*/ 16 h 17"/>
                  <a:gd name="T14" fmla="*/ 1 w 29"/>
                  <a:gd name="T15" fmla="*/ 13 h 17"/>
                  <a:gd name="T16" fmla="*/ 1 w 29"/>
                  <a:gd name="T17" fmla="*/ 1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17">
                    <a:moveTo>
                      <a:pt x="1" y="10"/>
                    </a:moveTo>
                    <a:cubicBezTo>
                      <a:pt x="14" y="1"/>
                      <a:pt x="14" y="1"/>
                      <a:pt x="14" y="1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9" y="7"/>
                      <a:pt x="29" y="8"/>
                      <a:pt x="28" y="9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0" y="17"/>
                      <a:pt x="8" y="17"/>
                      <a:pt x="7" y="16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1"/>
                      <a:pt x="1" y="10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îśḷíḓé"/>
              <p:cNvSpPr/>
              <p:nvPr/>
            </p:nvSpPr>
            <p:spPr bwMode="auto">
              <a:xfrm>
                <a:off x="4602407" y="3108449"/>
                <a:ext cx="237381" cy="90101"/>
              </a:xfrm>
              <a:custGeom>
                <a:avLst/>
                <a:gdLst>
                  <a:gd name="T0" fmla="*/ 39 w 66"/>
                  <a:gd name="T1" fmla="*/ 25 h 25"/>
                  <a:gd name="T2" fmla="*/ 44 w 66"/>
                  <a:gd name="T3" fmla="*/ 24 h 25"/>
                  <a:gd name="T4" fmla="*/ 64 w 66"/>
                  <a:gd name="T5" fmla="*/ 12 h 25"/>
                  <a:gd name="T6" fmla="*/ 65 w 66"/>
                  <a:gd name="T7" fmla="*/ 9 h 25"/>
                  <a:gd name="T8" fmla="*/ 62 w 66"/>
                  <a:gd name="T9" fmla="*/ 8 h 25"/>
                  <a:gd name="T10" fmla="*/ 42 w 66"/>
                  <a:gd name="T11" fmla="*/ 20 h 25"/>
                  <a:gd name="T12" fmla="*/ 36 w 66"/>
                  <a:gd name="T13" fmla="*/ 20 h 25"/>
                  <a:gd name="T14" fmla="*/ 3 w 66"/>
                  <a:gd name="T15" fmla="*/ 1 h 25"/>
                  <a:gd name="T16" fmla="*/ 0 w 66"/>
                  <a:gd name="T17" fmla="*/ 2 h 25"/>
                  <a:gd name="T18" fmla="*/ 1 w 66"/>
                  <a:gd name="T19" fmla="*/ 5 h 25"/>
                  <a:gd name="T20" fmla="*/ 34 w 66"/>
                  <a:gd name="T21" fmla="*/ 24 h 25"/>
                  <a:gd name="T22" fmla="*/ 39 w 66"/>
                  <a:gd name="T2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6" h="25">
                    <a:moveTo>
                      <a:pt x="39" y="25"/>
                    </a:moveTo>
                    <a:cubicBezTo>
                      <a:pt x="41" y="25"/>
                      <a:pt x="43" y="25"/>
                      <a:pt x="44" y="24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6" y="12"/>
                      <a:pt x="66" y="10"/>
                      <a:pt x="65" y="9"/>
                    </a:cubicBezTo>
                    <a:cubicBezTo>
                      <a:pt x="65" y="8"/>
                      <a:pt x="63" y="8"/>
                      <a:pt x="62" y="8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1" y="21"/>
                      <a:pt x="38" y="21"/>
                      <a:pt x="36" y="2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0"/>
                      <a:pt x="0" y="2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34" y="24"/>
                      <a:pt x="34" y="24"/>
                      <a:pt x="34" y="24"/>
                    </a:cubicBezTo>
                    <a:cubicBezTo>
                      <a:pt x="36" y="25"/>
                      <a:pt x="37" y="25"/>
                      <a:pt x="39" y="25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S1îḋe"/>
              <p:cNvSpPr/>
              <p:nvPr/>
            </p:nvSpPr>
            <p:spPr bwMode="auto">
              <a:xfrm>
                <a:off x="4061803" y="2716858"/>
                <a:ext cx="731202" cy="464365"/>
              </a:xfrm>
              <a:custGeom>
                <a:avLst/>
                <a:gdLst>
                  <a:gd name="T0" fmla="*/ 203 w 203"/>
                  <a:gd name="T1" fmla="*/ 64 h 129"/>
                  <a:gd name="T2" fmla="*/ 198 w 203"/>
                  <a:gd name="T3" fmla="*/ 61 h 129"/>
                  <a:gd name="T4" fmla="*/ 130 w 203"/>
                  <a:gd name="T5" fmla="*/ 11 h 129"/>
                  <a:gd name="T6" fmla="*/ 95 w 203"/>
                  <a:gd name="T7" fmla="*/ 5 h 129"/>
                  <a:gd name="T8" fmla="*/ 94 w 203"/>
                  <a:gd name="T9" fmla="*/ 5 h 129"/>
                  <a:gd name="T10" fmla="*/ 94 w 203"/>
                  <a:gd name="T11" fmla="*/ 5 h 129"/>
                  <a:gd name="T12" fmla="*/ 0 w 203"/>
                  <a:gd name="T13" fmla="*/ 60 h 129"/>
                  <a:gd name="T14" fmla="*/ 8 w 203"/>
                  <a:gd name="T15" fmla="*/ 63 h 129"/>
                  <a:gd name="T16" fmla="*/ 41 w 203"/>
                  <a:gd name="T17" fmla="*/ 77 h 129"/>
                  <a:gd name="T18" fmla="*/ 86 w 203"/>
                  <a:gd name="T19" fmla="*/ 109 h 129"/>
                  <a:gd name="T20" fmla="*/ 121 w 203"/>
                  <a:gd name="T21" fmla="*/ 128 h 129"/>
                  <a:gd name="T22" fmla="*/ 123 w 203"/>
                  <a:gd name="T23" fmla="*/ 129 h 129"/>
                  <a:gd name="T24" fmla="*/ 146 w 203"/>
                  <a:gd name="T25" fmla="*/ 105 h 129"/>
                  <a:gd name="T26" fmla="*/ 193 w 203"/>
                  <a:gd name="T27" fmla="*/ 73 h 129"/>
                  <a:gd name="T28" fmla="*/ 198 w 203"/>
                  <a:gd name="T29" fmla="*/ 76 h 129"/>
                  <a:gd name="T30" fmla="*/ 203 w 203"/>
                  <a:gd name="T31" fmla="*/ 64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3" h="129">
                    <a:moveTo>
                      <a:pt x="203" y="64"/>
                    </a:moveTo>
                    <a:cubicBezTo>
                      <a:pt x="201" y="63"/>
                      <a:pt x="200" y="62"/>
                      <a:pt x="198" y="61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17" y="2"/>
                      <a:pt x="105" y="0"/>
                      <a:pt x="95" y="5"/>
                    </a:cubicBezTo>
                    <a:cubicBezTo>
                      <a:pt x="94" y="5"/>
                      <a:pt x="94" y="5"/>
                      <a:pt x="94" y="5"/>
                    </a:cubicBezTo>
                    <a:cubicBezTo>
                      <a:pt x="94" y="5"/>
                      <a:pt x="94" y="5"/>
                      <a:pt x="94" y="5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" y="63"/>
                      <a:pt x="8" y="63"/>
                      <a:pt x="8" y="6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121" y="128"/>
                      <a:pt x="121" y="128"/>
                      <a:pt x="121" y="128"/>
                    </a:cubicBezTo>
                    <a:cubicBezTo>
                      <a:pt x="123" y="129"/>
                      <a:pt x="123" y="129"/>
                      <a:pt x="123" y="129"/>
                    </a:cubicBezTo>
                    <a:cubicBezTo>
                      <a:pt x="131" y="122"/>
                      <a:pt x="141" y="116"/>
                      <a:pt x="146" y="105"/>
                    </a:cubicBezTo>
                    <a:cubicBezTo>
                      <a:pt x="154" y="90"/>
                      <a:pt x="179" y="86"/>
                      <a:pt x="193" y="73"/>
                    </a:cubicBezTo>
                    <a:cubicBezTo>
                      <a:pt x="195" y="74"/>
                      <a:pt x="196" y="75"/>
                      <a:pt x="198" y="76"/>
                    </a:cubicBezTo>
                    <a:cubicBezTo>
                      <a:pt x="201" y="73"/>
                      <a:pt x="201" y="69"/>
                      <a:pt x="203" y="64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îś1íḍê"/>
              <p:cNvSpPr/>
              <p:nvPr/>
            </p:nvSpPr>
            <p:spPr bwMode="auto">
              <a:xfrm>
                <a:off x="4505376" y="2867604"/>
                <a:ext cx="421048" cy="320551"/>
              </a:xfrm>
              <a:custGeom>
                <a:avLst/>
                <a:gdLst>
                  <a:gd name="T0" fmla="*/ 110 w 117"/>
                  <a:gd name="T1" fmla="*/ 0 h 89"/>
                  <a:gd name="T2" fmla="*/ 106 w 117"/>
                  <a:gd name="T3" fmla="*/ 1 h 89"/>
                  <a:gd name="T4" fmla="*/ 106 w 117"/>
                  <a:gd name="T5" fmla="*/ 1 h 89"/>
                  <a:gd name="T6" fmla="*/ 14 w 117"/>
                  <a:gd name="T7" fmla="*/ 55 h 89"/>
                  <a:gd name="T8" fmla="*/ 17 w 117"/>
                  <a:gd name="T9" fmla="*/ 68 h 89"/>
                  <a:gd name="T10" fmla="*/ 21 w 117"/>
                  <a:gd name="T11" fmla="*/ 67 h 89"/>
                  <a:gd name="T12" fmla="*/ 0 w 117"/>
                  <a:gd name="T13" fmla="*/ 87 h 89"/>
                  <a:gd name="T14" fmla="*/ 11 w 117"/>
                  <a:gd name="T15" fmla="*/ 89 h 89"/>
                  <a:gd name="T16" fmla="*/ 101 w 117"/>
                  <a:gd name="T17" fmla="*/ 36 h 89"/>
                  <a:gd name="T18" fmla="*/ 102 w 117"/>
                  <a:gd name="T19" fmla="*/ 36 h 89"/>
                  <a:gd name="T20" fmla="*/ 106 w 117"/>
                  <a:gd name="T21" fmla="*/ 33 h 89"/>
                  <a:gd name="T22" fmla="*/ 106 w 117"/>
                  <a:gd name="T23" fmla="*/ 33 h 89"/>
                  <a:gd name="T24" fmla="*/ 106 w 117"/>
                  <a:gd name="T25" fmla="*/ 33 h 89"/>
                  <a:gd name="T26" fmla="*/ 117 w 117"/>
                  <a:gd name="T27" fmla="*/ 7 h 89"/>
                  <a:gd name="T28" fmla="*/ 117 w 117"/>
                  <a:gd name="T29" fmla="*/ 6 h 89"/>
                  <a:gd name="T30" fmla="*/ 110 w 117"/>
                  <a:gd name="T3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7" h="89">
                    <a:moveTo>
                      <a:pt x="110" y="0"/>
                    </a:moveTo>
                    <a:cubicBezTo>
                      <a:pt x="109" y="0"/>
                      <a:pt x="107" y="0"/>
                      <a:pt x="106" y="1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4" y="55"/>
                      <a:pt x="14" y="55"/>
                      <a:pt x="14" y="55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16" y="75"/>
                      <a:pt x="7" y="80"/>
                      <a:pt x="0" y="87"/>
                    </a:cubicBezTo>
                    <a:cubicBezTo>
                      <a:pt x="11" y="89"/>
                      <a:pt x="11" y="89"/>
                      <a:pt x="11" y="89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1" y="36"/>
                      <a:pt x="102" y="36"/>
                      <a:pt x="102" y="36"/>
                    </a:cubicBezTo>
                    <a:cubicBezTo>
                      <a:pt x="103" y="35"/>
                      <a:pt x="105" y="34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13" y="28"/>
                      <a:pt x="117" y="19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7" y="3"/>
                      <a:pt x="114" y="0"/>
                      <a:pt x="110" y="0"/>
                    </a:cubicBez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ṡļïḋé"/>
              <p:cNvSpPr/>
              <p:nvPr/>
            </p:nvSpPr>
            <p:spPr bwMode="auto">
              <a:xfrm>
                <a:off x="4448197" y="2723789"/>
                <a:ext cx="64111" cy="20792"/>
              </a:xfrm>
              <a:custGeom>
                <a:avLst/>
                <a:gdLst>
                  <a:gd name="T0" fmla="*/ 0 w 18"/>
                  <a:gd name="T1" fmla="*/ 0 h 6"/>
                  <a:gd name="T2" fmla="*/ 18 w 18"/>
                  <a:gd name="T3" fmla="*/ 6 h 6"/>
                  <a:gd name="T4" fmla="*/ 0 w 18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6">
                    <a:moveTo>
                      <a:pt x="0" y="0"/>
                    </a:moveTo>
                    <a:cubicBezTo>
                      <a:pt x="6" y="0"/>
                      <a:pt x="12" y="2"/>
                      <a:pt x="18" y="6"/>
                    </a:cubicBezTo>
                    <a:cubicBezTo>
                      <a:pt x="12" y="2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iSḷîḓè"/>
              <p:cNvSpPr/>
              <p:nvPr/>
            </p:nvSpPr>
            <p:spPr bwMode="auto">
              <a:xfrm>
                <a:off x="4061803" y="2794830"/>
                <a:ext cx="537139" cy="386394"/>
              </a:xfrm>
              <a:custGeom>
                <a:avLst/>
                <a:gdLst>
                  <a:gd name="T0" fmla="*/ 149 w 149"/>
                  <a:gd name="T1" fmla="*/ 79 h 107"/>
                  <a:gd name="T2" fmla="*/ 149 w 149"/>
                  <a:gd name="T3" fmla="*/ 78 h 107"/>
                  <a:gd name="T4" fmla="*/ 142 w 149"/>
                  <a:gd name="T5" fmla="*/ 71 h 107"/>
                  <a:gd name="T6" fmla="*/ 136 w 149"/>
                  <a:gd name="T7" fmla="*/ 78 h 107"/>
                  <a:gd name="T8" fmla="*/ 136 w 149"/>
                  <a:gd name="T9" fmla="*/ 79 h 107"/>
                  <a:gd name="T10" fmla="*/ 129 w 149"/>
                  <a:gd name="T11" fmla="*/ 96 h 107"/>
                  <a:gd name="T12" fmla="*/ 107 w 149"/>
                  <a:gd name="T13" fmla="*/ 91 h 107"/>
                  <a:gd name="T14" fmla="*/ 39 w 149"/>
                  <a:gd name="T15" fmla="*/ 41 h 107"/>
                  <a:gd name="T16" fmla="*/ 9 w 149"/>
                  <a:gd name="T17" fmla="*/ 32 h 107"/>
                  <a:gd name="T18" fmla="*/ 65 w 149"/>
                  <a:gd name="T19" fmla="*/ 0 h 107"/>
                  <a:gd name="T20" fmla="*/ 0 w 149"/>
                  <a:gd name="T21" fmla="*/ 38 h 107"/>
                  <a:gd name="T22" fmla="*/ 8 w 149"/>
                  <a:gd name="T23" fmla="*/ 41 h 107"/>
                  <a:gd name="T24" fmla="*/ 41 w 149"/>
                  <a:gd name="T25" fmla="*/ 55 h 107"/>
                  <a:gd name="T26" fmla="*/ 86 w 149"/>
                  <a:gd name="T27" fmla="*/ 87 h 107"/>
                  <a:gd name="T28" fmla="*/ 121 w 149"/>
                  <a:gd name="T29" fmla="*/ 106 h 107"/>
                  <a:gd name="T30" fmla="*/ 123 w 149"/>
                  <a:gd name="T31" fmla="*/ 107 h 107"/>
                  <a:gd name="T32" fmla="*/ 146 w 149"/>
                  <a:gd name="T33" fmla="*/ 83 h 107"/>
                  <a:gd name="T34" fmla="*/ 149 w 149"/>
                  <a:gd name="T35" fmla="*/ 79 h 107"/>
                  <a:gd name="T36" fmla="*/ 149 w 149"/>
                  <a:gd name="T37" fmla="*/ 7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07">
                    <a:moveTo>
                      <a:pt x="149" y="79"/>
                    </a:moveTo>
                    <a:cubicBezTo>
                      <a:pt x="149" y="78"/>
                      <a:pt x="149" y="78"/>
                      <a:pt x="149" y="78"/>
                    </a:cubicBezTo>
                    <a:cubicBezTo>
                      <a:pt x="149" y="74"/>
                      <a:pt x="146" y="71"/>
                      <a:pt x="142" y="71"/>
                    </a:cubicBezTo>
                    <a:cubicBezTo>
                      <a:pt x="139" y="71"/>
                      <a:pt x="136" y="74"/>
                      <a:pt x="136" y="78"/>
                    </a:cubicBezTo>
                    <a:cubicBezTo>
                      <a:pt x="136" y="79"/>
                      <a:pt x="136" y="79"/>
                      <a:pt x="136" y="79"/>
                    </a:cubicBezTo>
                    <a:cubicBezTo>
                      <a:pt x="136" y="87"/>
                      <a:pt x="133" y="94"/>
                      <a:pt x="129" y="96"/>
                    </a:cubicBezTo>
                    <a:cubicBezTo>
                      <a:pt x="123" y="99"/>
                      <a:pt x="115" y="97"/>
                      <a:pt x="107" y="9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28" y="33"/>
                      <a:pt x="18" y="30"/>
                      <a:pt x="9" y="32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86" y="87"/>
                      <a:pt x="86" y="87"/>
                      <a:pt x="86" y="87"/>
                    </a:cubicBezTo>
                    <a:cubicBezTo>
                      <a:pt x="121" y="106"/>
                      <a:pt x="121" y="106"/>
                      <a:pt x="121" y="106"/>
                    </a:cubicBezTo>
                    <a:cubicBezTo>
                      <a:pt x="123" y="107"/>
                      <a:pt x="123" y="107"/>
                      <a:pt x="123" y="107"/>
                    </a:cubicBezTo>
                    <a:cubicBezTo>
                      <a:pt x="131" y="100"/>
                      <a:pt x="141" y="94"/>
                      <a:pt x="146" y="83"/>
                    </a:cubicBezTo>
                    <a:cubicBezTo>
                      <a:pt x="147" y="82"/>
                      <a:pt x="148" y="81"/>
                      <a:pt x="149" y="79"/>
                    </a:cubicBezTo>
                    <a:cubicBezTo>
                      <a:pt x="149" y="79"/>
                      <a:pt x="149" y="79"/>
                      <a:pt x="149" y="79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ï$ḷïḑe"/>
              <p:cNvSpPr/>
              <p:nvPr/>
            </p:nvSpPr>
            <p:spPr bwMode="auto">
              <a:xfrm>
                <a:off x="4018486" y="2907456"/>
                <a:ext cx="573526" cy="291095"/>
              </a:xfrm>
              <a:custGeom>
                <a:avLst/>
                <a:gdLst>
                  <a:gd name="T0" fmla="*/ 133 w 159"/>
                  <a:gd name="T1" fmla="*/ 81 h 81"/>
                  <a:gd name="T2" fmla="*/ 110 w 159"/>
                  <a:gd name="T3" fmla="*/ 72 h 81"/>
                  <a:gd name="T4" fmla="*/ 41 w 159"/>
                  <a:gd name="T5" fmla="*/ 22 h 81"/>
                  <a:gd name="T6" fmla="*/ 20 w 159"/>
                  <a:gd name="T7" fmla="*/ 17 h 81"/>
                  <a:gd name="T8" fmla="*/ 12 w 159"/>
                  <a:gd name="T9" fmla="*/ 34 h 81"/>
                  <a:gd name="T10" fmla="*/ 6 w 159"/>
                  <a:gd name="T11" fmla="*/ 40 h 81"/>
                  <a:gd name="T12" fmla="*/ 0 w 159"/>
                  <a:gd name="T13" fmla="*/ 34 h 81"/>
                  <a:gd name="T14" fmla="*/ 14 w 159"/>
                  <a:gd name="T15" fmla="*/ 5 h 81"/>
                  <a:gd name="T16" fmla="*/ 49 w 159"/>
                  <a:gd name="T17" fmla="*/ 12 h 81"/>
                  <a:gd name="T18" fmla="*/ 117 w 159"/>
                  <a:gd name="T19" fmla="*/ 62 h 81"/>
                  <a:gd name="T20" fmla="*/ 139 w 159"/>
                  <a:gd name="T21" fmla="*/ 67 h 81"/>
                  <a:gd name="T22" fmla="*/ 146 w 159"/>
                  <a:gd name="T23" fmla="*/ 50 h 81"/>
                  <a:gd name="T24" fmla="*/ 146 w 159"/>
                  <a:gd name="T25" fmla="*/ 49 h 81"/>
                  <a:gd name="T26" fmla="*/ 153 w 159"/>
                  <a:gd name="T27" fmla="*/ 42 h 81"/>
                  <a:gd name="T28" fmla="*/ 159 w 159"/>
                  <a:gd name="T29" fmla="*/ 49 h 81"/>
                  <a:gd name="T30" fmla="*/ 159 w 159"/>
                  <a:gd name="T31" fmla="*/ 50 h 81"/>
                  <a:gd name="T32" fmla="*/ 145 w 159"/>
                  <a:gd name="T33" fmla="*/ 78 h 81"/>
                  <a:gd name="T34" fmla="*/ 133 w 159"/>
                  <a:gd name="T35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9" h="81">
                    <a:moveTo>
                      <a:pt x="133" y="81"/>
                    </a:moveTo>
                    <a:cubicBezTo>
                      <a:pt x="126" y="81"/>
                      <a:pt x="118" y="78"/>
                      <a:pt x="110" y="7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33" y="16"/>
                      <a:pt x="25" y="14"/>
                      <a:pt x="20" y="17"/>
                    </a:cubicBezTo>
                    <a:cubicBezTo>
                      <a:pt x="15" y="19"/>
                      <a:pt x="12" y="25"/>
                      <a:pt x="12" y="34"/>
                    </a:cubicBezTo>
                    <a:cubicBezTo>
                      <a:pt x="12" y="37"/>
                      <a:pt x="10" y="40"/>
                      <a:pt x="6" y="40"/>
                    </a:cubicBezTo>
                    <a:cubicBezTo>
                      <a:pt x="3" y="40"/>
                      <a:pt x="0" y="37"/>
                      <a:pt x="0" y="34"/>
                    </a:cubicBezTo>
                    <a:cubicBezTo>
                      <a:pt x="0" y="20"/>
                      <a:pt x="5" y="10"/>
                      <a:pt x="14" y="5"/>
                    </a:cubicBezTo>
                    <a:cubicBezTo>
                      <a:pt x="24" y="0"/>
                      <a:pt x="37" y="3"/>
                      <a:pt x="49" y="12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25" y="68"/>
                      <a:pt x="133" y="70"/>
                      <a:pt x="139" y="67"/>
                    </a:cubicBezTo>
                    <a:cubicBezTo>
                      <a:pt x="143" y="65"/>
                      <a:pt x="146" y="58"/>
                      <a:pt x="146" y="50"/>
                    </a:cubicBezTo>
                    <a:cubicBezTo>
                      <a:pt x="146" y="49"/>
                      <a:pt x="146" y="49"/>
                      <a:pt x="146" y="49"/>
                    </a:cubicBezTo>
                    <a:cubicBezTo>
                      <a:pt x="146" y="45"/>
                      <a:pt x="149" y="42"/>
                      <a:pt x="153" y="42"/>
                    </a:cubicBezTo>
                    <a:cubicBezTo>
                      <a:pt x="156" y="42"/>
                      <a:pt x="159" y="45"/>
                      <a:pt x="159" y="49"/>
                    </a:cubicBezTo>
                    <a:cubicBezTo>
                      <a:pt x="159" y="50"/>
                      <a:pt x="159" y="50"/>
                      <a:pt x="159" y="50"/>
                    </a:cubicBezTo>
                    <a:cubicBezTo>
                      <a:pt x="159" y="63"/>
                      <a:pt x="154" y="74"/>
                      <a:pt x="145" y="78"/>
                    </a:cubicBezTo>
                    <a:cubicBezTo>
                      <a:pt x="141" y="80"/>
                      <a:pt x="137" y="81"/>
                      <a:pt x="133" y="81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îŝlïḋé"/>
              <p:cNvSpPr/>
              <p:nvPr/>
            </p:nvSpPr>
            <p:spPr bwMode="auto">
              <a:xfrm>
                <a:off x="4158835" y="3576280"/>
                <a:ext cx="188865" cy="263371"/>
              </a:xfrm>
              <a:custGeom>
                <a:avLst/>
                <a:gdLst>
                  <a:gd name="T0" fmla="*/ 41 w 52"/>
                  <a:gd name="T1" fmla="*/ 7 h 73"/>
                  <a:gd name="T2" fmla="*/ 20 w 52"/>
                  <a:gd name="T3" fmla="*/ 10 h 73"/>
                  <a:gd name="T4" fmla="*/ 0 w 52"/>
                  <a:gd name="T5" fmla="*/ 58 h 73"/>
                  <a:gd name="T6" fmla="*/ 20 w 52"/>
                  <a:gd name="T7" fmla="*/ 68 h 73"/>
                  <a:gd name="T8" fmla="*/ 51 w 52"/>
                  <a:gd name="T9" fmla="*/ 27 h 73"/>
                  <a:gd name="T10" fmla="*/ 47 w 52"/>
                  <a:gd name="T11" fmla="*/ 11 h 73"/>
                  <a:gd name="T12" fmla="*/ 41 w 52"/>
                  <a:gd name="T13" fmla="*/ 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73">
                    <a:moveTo>
                      <a:pt x="41" y="7"/>
                    </a:moveTo>
                    <a:cubicBezTo>
                      <a:pt x="41" y="7"/>
                      <a:pt x="28" y="0"/>
                      <a:pt x="20" y="10"/>
                    </a:cubicBezTo>
                    <a:cubicBezTo>
                      <a:pt x="12" y="20"/>
                      <a:pt x="1" y="42"/>
                      <a:pt x="0" y="58"/>
                    </a:cubicBezTo>
                    <a:cubicBezTo>
                      <a:pt x="0" y="73"/>
                      <a:pt x="13" y="72"/>
                      <a:pt x="20" y="68"/>
                    </a:cubicBezTo>
                    <a:cubicBezTo>
                      <a:pt x="28" y="65"/>
                      <a:pt x="49" y="33"/>
                      <a:pt x="51" y="27"/>
                    </a:cubicBezTo>
                    <a:cubicBezTo>
                      <a:pt x="52" y="21"/>
                      <a:pt x="49" y="12"/>
                      <a:pt x="47" y="11"/>
                    </a:cubicBezTo>
                    <a:cubicBezTo>
                      <a:pt x="45" y="9"/>
                      <a:pt x="41" y="7"/>
                      <a:pt x="41" y="7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iŝlîḍê"/>
              <p:cNvSpPr/>
              <p:nvPr/>
            </p:nvSpPr>
            <p:spPr bwMode="auto">
              <a:xfrm>
                <a:off x="4228143" y="3555487"/>
                <a:ext cx="90101" cy="114359"/>
              </a:xfrm>
              <a:custGeom>
                <a:avLst/>
                <a:gdLst>
                  <a:gd name="T0" fmla="*/ 25 w 25"/>
                  <a:gd name="T1" fmla="*/ 10 h 32"/>
                  <a:gd name="T2" fmla="*/ 25 w 25"/>
                  <a:gd name="T3" fmla="*/ 23 h 32"/>
                  <a:gd name="T4" fmla="*/ 21 w 25"/>
                  <a:gd name="T5" fmla="*/ 30 h 32"/>
                  <a:gd name="T6" fmla="*/ 12 w 25"/>
                  <a:gd name="T7" fmla="*/ 31 h 32"/>
                  <a:gd name="T8" fmla="*/ 0 w 25"/>
                  <a:gd name="T9" fmla="*/ 14 h 32"/>
                  <a:gd name="T10" fmla="*/ 25 w 25"/>
                  <a:gd name="T11" fmla="*/ 1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32">
                    <a:moveTo>
                      <a:pt x="25" y="10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6"/>
                      <a:pt x="24" y="28"/>
                      <a:pt x="21" y="30"/>
                    </a:cubicBezTo>
                    <a:cubicBezTo>
                      <a:pt x="19" y="31"/>
                      <a:pt x="16" y="32"/>
                      <a:pt x="12" y="31"/>
                    </a:cubicBezTo>
                    <a:cubicBezTo>
                      <a:pt x="2" y="30"/>
                      <a:pt x="1" y="27"/>
                      <a:pt x="0" y="14"/>
                    </a:cubicBezTo>
                    <a:cubicBezTo>
                      <a:pt x="0" y="0"/>
                      <a:pt x="25" y="10"/>
                      <a:pt x="25" y="10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ŝḷíḋê"/>
              <p:cNvSpPr/>
              <p:nvPr/>
            </p:nvSpPr>
            <p:spPr bwMode="auto">
              <a:xfrm>
                <a:off x="3990763" y="3486179"/>
                <a:ext cx="187132" cy="263371"/>
              </a:xfrm>
              <a:custGeom>
                <a:avLst/>
                <a:gdLst>
                  <a:gd name="T0" fmla="*/ 41 w 52"/>
                  <a:gd name="T1" fmla="*/ 6 h 73"/>
                  <a:gd name="T2" fmla="*/ 20 w 52"/>
                  <a:gd name="T3" fmla="*/ 9 h 73"/>
                  <a:gd name="T4" fmla="*/ 0 w 52"/>
                  <a:gd name="T5" fmla="*/ 57 h 73"/>
                  <a:gd name="T6" fmla="*/ 20 w 52"/>
                  <a:gd name="T7" fmla="*/ 68 h 73"/>
                  <a:gd name="T8" fmla="*/ 51 w 52"/>
                  <a:gd name="T9" fmla="*/ 26 h 73"/>
                  <a:gd name="T10" fmla="*/ 47 w 52"/>
                  <a:gd name="T11" fmla="*/ 10 h 73"/>
                  <a:gd name="T12" fmla="*/ 41 w 52"/>
                  <a:gd name="T13" fmla="*/ 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73">
                    <a:moveTo>
                      <a:pt x="41" y="6"/>
                    </a:moveTo>
                    <a:cubicBezTo>
                      <a:pt x="41" y="6"/>
                      <a:pt x="28" y="0"/>
                      <a:pt x="20" y="9"/>
                    </a:cubicBezTo>
                    <a:cubicBezTo>
                      <a:pt x="12" y="19"/>
                      <a:pt x="1" y="42"/>
                      <a:pt x="0" y="57"/>
                    </a:cubicBezTo>
                    <a:cubicBezTo>
                      <a:pt x="0" y="73"/>
                      <a:pt x="13" y="71"/>
                      <a:pt x="20" y="68"/>
                    </a:cubicBezTo>
                    <a:cubicBezTo>
                      <a:pt x="28" y="64"/>
                      <a:pt x="49" y="33"/>
                      <a:pt x="51" y="26"/>
                    </a:cubicBezTo>
                    <a:cubicBezTo>
                      <a:pt x="52" y="20"/>
                      <a:pt x="49" y="12"/>
                      <a:pt x="47" y="10"/>
                    </a:cubicBezTo>
                    <a:cubicBezTo>
                      <a:pt x="45" y="9"/>
                      <a:pt x="41" y="6"/>
                      <a:pt x="41" y="6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ŝḻidê"/>
              <p:cNvSpPr/>
              <p:nvPr/>
            </p:nvSpPr>
            <p:spPr bwMode="auto">
              <a:xfrm>
                <a:off x="4054872" y="3465387"/>
                <a:ext cx="93566" cy="110893"/>
              </a:xfrm>
              <a:custGeom>
                <a:avLst/>
                <a:gdLst>
                  <a:gd name="T0" fmla="*/ 26 w 26"/>
                  <a:gd name="T1" fmla="*/ 9 h 31"/>
                  <a:gd name="T2" fmla="*/ 26 w 26"/>
                  <a:gd name="T3" fmla="*/ 22 h 31"/>
                  <a:gd name="T4" fmla="*/ 22 w 26"/>
                  <a:gd name="T5" fmla="*/ 29 h 31"/>
                  <a:gd name="T6" fmla="*/ 12 w 26"/>
                  <a:gd name="T7" fmla="*/ 31 h 31"/>
                  <a:gd name="T8" fmla="*/ 1 w 26"/>
                  <a:gd name="T9" fmla="*/ 13 h 31"/>
                  <a:gd name="T10" fmla="*/ 26 w 26"/>
                  <a:gd name="T11" fmla="*/ 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31">
                    <a:moveTo>
                      <a:pt x="26" y="9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6" y="25"/>
                      <a:pt x="25" y="28"/>
                      <a:pt x="22" y="29"/>
                    </a:cubicBezTo>
                    <a:cubicBezTo>
                      <a:pt x="20" y="31"/>
                      <a:pt x="17" y="31"/>
                      <a:pt x="12" y="31"/>
                    </a:cubicBezTo>
                    <a:cubicBezTo>
                      <a:pt x="3" y="29"/>
                      <a:pt x="2" y="26"/>
                      <a:pt x="1" y="13"/>
                    </a:cubicBezTo>
                    <a:cubicBezTo>
                      <a:pt x="0" y="0"/>
                      <a:pt x="26" y="9"/>
                      <a:pt x="26" y="9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î$lîḑe"/>
              <p:cNvSpPr/>
              <p:nvPr/>
            </p:nvSpPr>
            <p:spPr bwMode="auto">
              <a:xfrm>
                <a:off x="3983832" y="2392843"/>
                <a:ext cx="590853" cy="1143586"/>
              </a:xfrm>
              <a:custGeom>
                <a:avLst/>
                <a:gdLst>
                  <a:gd name="T0" fmla="*/ 160 w 164"/>
                  <a:gd name="T1" fmla="*/ 62 h 318"/>
                  <a:gd name="T2" fmla="*/ 93 w 164"/>
                  <a:gd name="T3" fmla="*/ 71 h 318"/>
                  <a:gd name="T4" fmla="*/ 50 w 164"/>
                  <a:gd name="T5" fmla="*/ 114 h 318"/>
                  <a:gd name="T6" fmla="*/ 11 w 164"/>
                  <a:gd name="T7" fmla="*/ 157 h 318"/>
                  <a:gd name="T8" fmla="*/ 1 w 164"/>
                  <a:gd name="T9" fmla="*/ 188 h 318"/>
                  <a:gd name="T10" fmla="*/ 17 w 164"/>
                  <a:gd name="T11" fmla="*/ 308 h 318"/>
                  <a:gd name="T12" fmla="*/ 29 w 164"/>
                  <a:gd name="T13" fmla="*/ 318 h 318"/>
                  <a:gd name="T14" fmla="*/ 35 w 164"/>
                  <a:gd name="T15" fmla="*/ 317 h 318"/>
                  <a:gd name="T16" fmla="*/ 48 w 164"/>
                  <a:gd name="T17" fmla="*/ 302 h 318"/>
                  <a:gd name="T18" fmla="*/ 45 w 164"/>
                  <a:gd name="T19" fmla="*/ 190 h 318"/>
                  <a:gd name="T20" fmla="*/ 127 w 164"/>
                  <a:gd name="T21" fmla="*/ 140 h 318"/>
                  <a:gd name="T22" fmla="*/ 160 w 164"/>
                  <a:gd name="T23" fmla="*/ 6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4" h="318">
                    <a:moveTo>
                      <a:pt x="160" y="62"/>
                    </a:moveTo>
                    <a:cubicBezTo>
                      <a:pt x="156" y="0"/>
                      <a:pt x="93" y="71"/>
                      <a:pt x="93" y="71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11" y="157"/>
                      <a:pt x="11" y="157"/>
                      <a:pt x="11" y="157"/>
                    </a:cubicBezTo>
                    <a:cubicBezTo>
                      <a:pt x="3" y="165"/>
                      <a:pt x="0" y="176"/>
                      <a:pt x="1" y="188"/>
                    </a:cubicBezTo>
                    <a:cubicBezTo>
                      <a:pt x="17" y="308"/>
                      <a:pt x="17" y="308"/>
                      <a:pt x="17" y="308"/>
                    </a:cubicBezTo>
                    <a:cubicBezTo>
                      <a:pt x="18" y="314"/>
                      <a:pt x="23" y="318"/>
                      <a:pt x="29" y="318"/>
                    </a:cubicBezTo>
                    <a:cubicBezTo>
                      <a:pt x="31" y="318"/>
                      <a:pt x="32" y="318"/>
                      <a:pt x="35" y="317"/>
                    </a:cubicBezTo>
                    <a:cubicBezTo>
                      <a:pt x="49" y="315"/>
                      <a:pt x="48" y="302"/>
                      <a:pt x="48" y="302"/>
                    </a:cubicBezTo>
                    <a:cubicBezTo>
                      <a:pt x="45" y="190"/>
                      <a:pt x="45" y="190"/>
                      <a:pt x="45" y="190"/>
                    </a:cubicBezTo>
                    <a:cubicBezTo>
                      <a:pt x="127" y="140"/>
                      <a:pt x="127" y="140"/>
                      <a:pt x="127" y="140"/>
                    </a:cubicBezTo>
                    <a:cubicBezTo>
                      <a:pt x="127" y="140"/>
                      <a:pt x="164" y="124"/>
                      <a:pt x="160" y="62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íṧļïḓé"/>
              <p:cNvSpPr/>
              <p:nvPr/>
            </p:nvSpPr>
            <p:spPr bwMode="auto">
              <a:xfrm>
                <a:off x="4151904" y="2479478"/>
                <a:ext cx="590853" cy="1143586"/>
              </a:xfrm>
              <a:custGeom>
                <a:avLst/>
                <a:gdLst>
                  <a:gd name="T0" fmla="*/ 160 w 164"/>
                  <a:gd name="T1" fmla="*/ 62 h 318"/>
                  <a:gd name="T2" fmla="*/ 93 w 164"/>
                  <a:gd name="T3" fmla="*/ 71 h 318"/>
                  <a:gd name="T4" fmla="*/ 50 w 164"/>
                  <a:gd name="T5" fmla="*/ 114 h 318"/>
                  <a:gd name="T6" fmla="*/ 11 w 164"/>
                  <a:gd name="T7" fmla="*/ 156 h 318"/>
                  <a:gd name="T8" fmla="*/ 1 w 164"/>
                  <a:gd name="T9" fmla="*/ 187 h 318"/>
                  <a:gd name="T10" fmla="*/ 17 w 164"/>
                  <a:gd name="T11" fmla="*/ 307 h 318"/>
                  <a:gd name="T12" fmla="*/ 29 w 164"/>
                  <a:gd name="T13" fmla="*/ 318 h 318"/>
                  <a:gd name="T14" fmla="*/ 35 w 164"/>
                  <a:gd name="T15" fmla="*/ 317 h 318"/>
                  <a:gd name="T16" fmla="*/ 48 w 164"/>
                  <a:gd name="T17" fmla="*/ 302 h 318"/>
                  <a:gd name="T18" fmla="*/ 45 w 164"/>
                  <a:gd name="T19" fmla="*/ 189 h 318"/>
                  <a:gd name="T20" fmla="*/ 127 w 164"/>
                  <a:gd name="T21" fmla="*/ 140 h 318"/>
                  <a:gd name="T22" fmla="*/ 160 w 164"/>
                  <a:gd name="T23" fmla="*/ 6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4" h="318">
                    <a:moveTo>
                      <a:pt x="160" y="62"/>
                    </a:moveTo>
                    <a:cubicBezTo>
                      <a:pt x="157" y="0"/>
                      <a:pt x="93" y="71"/>
                      <a:pt x="93" y="71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11" y="156"/>
                      <a:pt x="11" y="156"/>
                      <a:pt x="11" y="156"/>
                    </a:cubicBezTo>
                    <a:cubicBezTo>
                      <a:pt x="3" y="165"/>
                      <a:pt x="0" y="176"/>
                      <a:pt x="1" y="187"/>
                    </a:cubicBezTo>
                    <a:cubicBezTo>
                      <a:pt x="17" y="307"/>
                      <a:pt x="17" y="307"/>
                      <a:pt x="17" y="307"/>
                    </a:cubicBezTo>
                    <a:cubicBezTo>
                      <a:pt x="18" y="313"/>
                      <a:pt x="23" y="318"/>
                      <a:pt x="29" y="318"/>
                    </a:cubicBezTo>
                    <a:cubicBezTo>
                      <a:pt x="31" y="318"/>
                      <a:pt x="33" y="317"/>
                      <a:pt x="35" y="317"/>
                    </a:cubicBezTo>
                    <a:cubicBezTo>
                      <a:pt x="49" y="315"/>
                      <a:pt x="48" y="302"/>
                      <a:pt x="48" y="302"/>
                    </a:cubicBezTo>
                    <a:cubicBezTo>
                      <a:pt x="45" y="189"/>
                      <a:pt x="45" y="189"/>
                      <a:pt x="45" y="189"/>
                    </a:cubicBezTo>
                    <a:cubicBezTo>
                      <a:pt x="127" y="140"/>
                      <a:pt x="127" y="140"/>
                      <a:pt x="127" y="140"/>
                    </a:cubicBezTo>
                    <a:cubicBezTo>
                      <a:pt x="127" y="140"/>
                      <a:pt x="164" y="124"/>
                      <a:pt x="160" y="62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ïs1ïḓé"/>
              <p:cNvSpPr/>
              <p:nvPr/>
            </p:nvSpPr>
            <p:spPr bwMode="auto">
              <a:xfrm>
                <a:off x="4188291" y="1942339"/>
                <a:ext cx="580457" cy="954721"/>
              </a:xfrm>
              <a:custGeom>
                <a:avLst/>
                <a:gdLst>
                  <a:gd name="T0" fmla="*/ 113 w 161"/>
                  <a:gd name="T1" fmla="*/ 12 h 265"/>
                  <a:gd name="T2" fmla="*/ 160 w 161"/>
                  <a:gd name="T3" fmla="*/ 60 h 265"/>
                  <a:gd name="T4" fmla="*/ 154 w 161"/>
                  <a:gd name="T5" fmla="*/ 234 h 265"/>
                  <a:gd name="T6" fmla="*/ 23 w 161"/>
                  <a:gd name="T7" fmla="*/ 188 h 265"/>
                  <a:gd name="T8" fmla="*/ 53 w 161"/>
                  <a:gd name="T9" fmla="*/ 11 h 265"/>
                  <a:gd name="T10" fmla="*/ 113 w 161"/>
                  <a:gd name="T11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1" h="265">
                    <a:moveTo>
                      <a:pt x="113" y="12"/>
                    </a:moveTo>
                    <a:cubicBezTo>
                      <a:pt x="161" y="32"/>
                      <a:pt x="160" y="60"/>
                      <a:pt x="160" y="60"/>
                    </a:cubicBezTo>
                    <a:cubicBezTo>
                      <a:pt x="160" y="60"/>
                      <a:pt x="151" y="164"/>
                      <a:pt x="154" y="234"/>
                    </a:cubicBezTo>
                    <a:cubicBezTo>
                      <a:pt x="155" y="263"/>
                      <a:pt x="0" y="265"/>
                      <a:pt x="23" y="188"/>
                    </a:cubicBezTo>
                    <a:cubicBezTo>
                      <a:pt x="50" y="96"/>
                      <a:pt x="40" y="22"/>
                      <a:pt x="53" y="11"/>
                    </a:cubicBezTo>
                    <a:cubicBezTo>
                      <a:pt x="65" y="0"/>
                      <a:pt x="101" y="7"/>
                      <a:pt x="113" y="12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íṣļide"/>
              <p:cNvSpPr/>
              <p:nvPr/>
            </p:nvSpPr>
            <p:spPr bwMode="auto">
              <a:xfrm>
                <a:off x="4468990" y="1978725"/>
                <a:ext cx="192331" cy="150746"/>
              </a:xfrm>
              <a:custGeom>
                <a:avLst/>
                <a:gdLst>
                  <a:gd name="T0" fmla="*/ 50 w 53"/>
                  <a:gd name="T1" fmla="*/ 27 h 42"/>
                  <a:gd name="T2" fmla="*/ 22 w 53"/>
                  <a:gd name="T3" fmla="*/ 39 h 42"/>
                  <a:gd name="T4" fmla="*/ 2 w 53"/>
                  <a:gd name="T5" fmla="*/ 15 h 42"/>
                  <a:gd name="T6" fmla="*/ 31 w 53"/>
                  <a:gd name="T7" fmla="*/ 3 h 42"/>
                  <a:gd name="T8" fmla="*/ 50 w 53"/>
                  <a:gd name="T9" fmla="*/ 2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42">
                    <a:moveTo>
                      <a:pt x="50" y="27"/>
                    </a:moveTo>
                    <a:cubicBezTo>
                      <a:pt x="48" y="37"/>
                      <a:pt x="35" y="42"/>
                      <a:pt x="22" y="39"/>
                    </a:cubicBezTo>
                    <a:cubicBezTo>
                      <a:pt x="9" y="35"/>
                      <a:pt x="0" y="25"/>
                      <a:pt x="2" y="15"/>
                    </a:cubicBezTo>
                    <a:cubicBezTo>
                      <a:pt x="5" y="5"/>
                      <a:pt x="18" y="0"/>
                      <a:pt x="31" y="3"/>
                    </a:cubicBezTo>
                    <a:cubicBezTo>
                      <a:pt x="44" y="7"/>
                      <a:pt x="53" y="18"/>
                      <a:pt x="50" y="27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îṣ1ïḋê"/>
              <p:cNvSpPr/>
              <p:nvPr/>
            </p:nvSpPr>
            <p:spPr bwMode="auto">
              <a:xfrm>
                <a:off x="4458593" y="1971795"/>
                <a:ext cx="209658" cy="157677"/>
              </a:xfrm>
              <a:custGeom>
                <a:avLst/>
                <a:gdLst>
                  <a:gd name="T0" fmla="*/ 33 w 58"/>
                  <a:gd name="T1" fmla="*/ 44 h 44"/>
                  <a:gd name="T2" fmla="*/ 24 w 58"/>
                  <a:gd name="T3" fmla="*/ 43 h 44"/>
                  <a:gd name="T4" fmla="*/ 3 w 58"/>
                  <a:gd name="T5" fmla="*/ 16 h 44"/>
                  <a:gd name="T6" fmla="*/ 35 w 58"/>
                  <a:gd name="T7" fmla="*/ 3 h 44"/>
                  <a:gd name="T8" fmla="*/ 56 w 58"/>
                  <a:gd name="T9" fmla="*/ 30 h 44"/>
                  <a:gd name="T10" fmla="*/ 44 w 58"/>
                  <a:gd name="T11" fmla="*/ 42 h 44"/>
                  <a:gd name="T12" fmla="*/ 33 w 58"/>
                  <a:gd name="T13" fmla="*/ 44 h 44"/>
                  <a:gd name="T14" fmla="*/ 26 w 58"/>
                  <a:gd name="T15" fmla="*/ 7 h 44"/>
                  <a:gd name="T16" fmla="*/ 8 w 58"/>
                  <a:gd name="T17" fmla="*/ 18 h 44"/>
                  <a:gd name="T18" fmla="*/ 25 w 58"/>
                  <a:gd name="T19" fmla="*/ 39 h 44"/>
                  <a:gd name="T20" fmla="*/ 42 w 58"/>
                  <a:gd name="T21" fmla="*/ 38 h 44"/>
                  <a:gd name="T22" fmla="*/ 51 w 58"/>
                  <a:gd name="T23" fmla="*/ 29 h 44"/>
                  <a:gd name="T24" fmla="*/ 33 w 58"/>
                  <a:gd name="T25" fmla="*/ 8 h 44"/>
                  <a:gd name="T26" fmla="*/ 26 w 58"/>
                  <a:gd name="T27" fmla="*/ 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44">
                    <a:moveTo>
                      <a:pt x="33" y="44"/>
                    </a:moveTo>
                    <a:cubicBezTo>
                      <a:pt x="30" y="44"/>
                      <a:pt x="27" y="44"/>
                      <a:pt x="24" y="43"/>
                    </a:cubicBezTo>
                    <a:cubicBezTo>
                      <a:pt x="10" y="39"/>
                      <a:pt x="0" y="27"/>
                      <a:pt x="3" y="16"/>
                    </a:cubicBezTo>
                    <a:cubicBezTo>
                      <a:pt x="6" y="5"/>
                      <a:pt x="20" y="0"/>
                      <a:pt x="35" y="3"/>
                    </a:cubicBezTo>
                    <a:cubicBezTo>
                      <a:pt x="49" y="7"/>
                      <a:pt x="58" y="19"/>
                      <a:pt x="56" y="30"/>
                    </a:cubicBezTo>
                    <a:cubicBezTo>
                      <a:pt x="54" y="35"/>
                      <a:pt x="50" y="40"/>
                      <a:pt x="44" y="42"/>
                    </a:cubicBezTo>
                    <a:cubicBezTo>
                      <a:pt x="41" y="43"/>
                      <a:pt x="37" y="44"/>
                      <a:pt x="33" y="44"/>
                    </a:cubicBezTo>
                    <a:close/>
                    <a:moveTo>
                      <a:pt x="26" y="7"/>
                    </a:moveTo>
                    <a:cubicBezTo>
                      <a:pt x="17" y="7"/>
                      <a:pt x="9" y="11"/>
                      <a:pt x="8" y="18"/>
                    </a:cubicBezTo>
                    <a:cubicBezTo>
                      <a:pt x="5" y="26"/>
                      <a:pt x="13" y="35"/>
                      <a:pt x="25" y="39"/>
                    </a:cubicBezTo>
                    <a:cubicBezTo>
                      <a:pt x="31" y="40"/>
                      <a:pt x="37" y="40"/>
                      <a:pt x="42" y="38"/>
                    </a:cubicBezTo>
                    <a:cubicBezTo>
                      <a:pt x="47" y="36"/>
                      <a:pt x="50" y="33"/>
                      <a:pt x="51" y="29"/>
                    </a:cubicBezTo>
                    <a:cubicBezTo>
                      <a:pt x="53" y="20"/>
                      <a:pt x="45" y="11"/>
                      <a:pt x="33" y="8"/>
                    </a:cubicBezTo>
                    <a:cubicBezTo>
                      <a:pt x="31" y="7"/>
                      <a:pt x="28" y="7"/>
                      <a:pt x="26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iṣļíde"/>
              <p:cNvSpPr/>
              <p:nvPr/>
            </p:nvSpPr>
            <p:spPr bwMode="auto">
              <a:xfrm>
                <a:off x="4522703" y="1909417"/>
                <a:ext cx="95299" cy="162874"/>
              </a:xfrm>
              <a:custGeom>
                <a:avLst/>
                <a:gdLst>
                  <a:gd name="T0" fmla="*/ 1 w 26"/>
                  <a:gd name="T1" fmla="*/ 19 h 45"/>
                  <a:gd name="T2" fmla="*/ 0 w 26"/>
                  <a:gd name="T3" fmla="*/ 36 h 45"/>
                  <a:gd name="T4" fmla="*/ 21 w 26"/>
                  <a:gd name="T5" fmla="*/ 41 h 45"/>
                  <a:gd name="T6" fmla="*/ 25 w 26"/>
                  <a:gd name="T7" fmla="*/ 16 h 45"/>
                  <a:gd name="T8" fmla="*/ 1 w 26"/>
                  <a:gd name="T9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45">
                    <a:moveTo>
                      <a:pt x="1" y="19"/>
                    </a:moveTo>
                    <a:cubicBezTo>
                      <a:pt x="1" y="19"/>
                      <a:pt x="1" y="21"/>
                      <a:pt x="0" y="36"/>
                    </a:cubicBezTo>
                    <a:cubicBezTo>
                      <a:pt x="0" y="41"/>
                      <a:pt x="17" y="45"/>
                      <a:pt x="21" y="41"/>
                    </a:cubicBezTo>
                    <a:cubicBezTo>
                      <a:pt x="25" y="37"/>
                      <a:pt x="24" y="32"/>
                      <a:pt x="25" y="16"/>
                    </a:cubicBezTo>
                    <a:cubicBezTo>
                      <a:pt x="26" y="0"/>
                      <a:pt x="1" y="19"/>
                      <a:pt x="1" y="19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ṩ1íḋé"/>
              <p:cNvSpPr/>
              <p:nvPr/>
            </p:nvSpPr>
            <p:spPr bwMode="auto">
              <a:xfrm>
                <a:off x="4522703" y="1968329"/>
                <a:ext cx="90101" cy="74507"/>
              </a:xfrm>
              <a:custGeom>
                <a:avLst/>
                <a:gdLst>
                  <a:gd name="T0" fmla="*/ 25 w 25"/>
                  <a:gd name="T1" fmla="*/ 0 h 21"/>
                  <a:gd name="T2" fmla="*/ 0 w 25"/>
                  <a:gd name="T3" fmla="*/ 21 h 21"/>
                  <a:gd name="T4" fmla="*/ 1 w 25"/>
                  <a:gd name="T5" fmla="*/ 7 h 21"/>
                  <a:gd name="T6" fmla="*/ 25 w 25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21">
                    <a:moveTo>
                      <a:pt x="25" y="0"/>
                    </a:moveTo>
                    <a:cubicBezTo>
                      <a:pt x="25" y="0"/>
                      <a:pt x="21" y="15"/>
                      <a:pt x="0" y="21"/>
                    </a:cubicBezTo>
                    <a:cubicBezTo>
                      <a:pt x="1" y="7"/>
                      <a:pt x="1" y="7"/>
                      <a:pt x="1" y="7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ṥḻiḍe"/>
              <p:cNvSpPr/>
              <p:nvPr/>
            </p:nvSpPr>
            <p:spPr bwMode="auto">
              <a:xfrm>
                <a:off x="4382354" y="1715354"/>
                <a:ext cx="296293" cy="296293"/>
              </a:xfrm>
              <a:custGeom>
                <a:avLst/>
                <a:gdLst>
                  <a:gd name="T0" fmla="*/ 77 w 82"/>
                  <a:gd name="T1" fmla="*/ 32 h 82"/>
                  <a:gd name="T2" fmla="*/ 50 w 82"/>
                  <a:gd name="T3" fmla="*/ 77 h 82"/>
                  <a:gd name="T4" fmla="*/ 5 w 82"/>
                  <a:gd name="T5" fmla="*/ 50 h 82"/>
                  <a:gd name="T6" fmla="*/ 32 w 82"/>
                  <a:gd name="T7" fmla="*/ 5 h 82"/>
                  <a:gd name="T8" fmla="*/ 77 w 82"/>
                  <a:gd name="T9" fmla="*/ 3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7" y="32"/>
                    </a:moveTo>
                    <a:cubicBezTo>
                      <a:pt x="82" y="51"/>
                      <a:pt x="70" y="72"/>
                      <a:pt x="50" y="77"/>
                    </a:cubicBezTo>
                    <a:cubicBezTo>
                      <a:pt x="30" y="82"/>
                      <a:pt x="10" y="70"/>
                      <a:pt x="5" y="50"/>
                    </a:cubicBezTo>
                    <a:cubicBezTo>
                      <a:pt x="0" y="30"/>
                      <a:pt x="12" y="10"/>
                      <a:pt x="32" y="5"/>
                    </a:cubicBezTo>
                    <a:cubicBezTo>
                      <a:pt x="51" y="0"/>
                      <a:pt x="71" y="12"/>
                      <a:pt x="77" y="32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ŝ1íḓè"/>
              <p:cNvSpPr/>
              <p:nvPr/>
            </p:nvSpPr>
            <p:spPr bwMode="auto">
              <a:xfrm>
                <a:off x="4385820" y="1834911"/>
                <a:ext cx="173271" cy="64111"/>
              </a:xfrm>
              <a:custGeom>
                <a:avLst/>
                <a:gdLst>
                  <a:gd name="T0" fmla="*/ 48 w 48"/>
                  <a:gd name="T1" fmla="*/ 9 h 18"/>
                  <a:gd name="T2" fmla="*/ 14 w 48"/>
                  <a:gd name="T3" fmla="*/ 18 h 18"/>
                  <a:gd name="T4" fmla="*/ 3 w 48"/>
                  <a:gd name="T5" fmla="*/ 6 h 18"/>
                  <a:gd name="T6" fmla="*/ 45 w 48"/>
                  <a:gd name="T7" fmla="*/ 0 h 18"/>
                  <a:gd name="T8" fmla="*/ 48 w 48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18">
                    <a:moveTo>
                      <a:pt x="48" y="9"/>
                    </a:moveTo>
                    <a:cubicBezTo>
                      <a:pt x="48" y="9"/>
                      <a:pt x="28" y="18"/>
                      <a:pt x="14" y="18"/>
                    </a:cubicBezTo>
                    <a:cubicBezTo>
                      <a:pt x="0" y="18"/>
                      <a:pt x="3" y="6"/>
                      <a:pt x="3" y="6"/>
                    </a:cubicBezTo>
                    <a:cubicBezTo>
                      <a:pt x="45" y="0"/>
                      <a:pt x="45" y="0"/>
                      <a:pt x="45" y="0"/>
                    </a:cubicBezTo>
                    <a:lnTo>
                      <a:pt x="48" y="9"/>
                    </a:ln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íŝlíďe"/>
              <p:cNvSpPr/>
              <p:nvPr/>
            </p:nvSpPr>
            <p:spPr bwMode="auto">
              <a:xfrm>
                <a:off x="4314778" y="1618323"/>
                <a:ext cx="414117" cy="327482"/>
              </a:xfrm>
              <a:custGeom>
                <a:avLst/>
                <a:gdLst>
                  <a:gd name="T0" fmla="*/ 30 w 115"/>
                  <a:gd name="T1" fmla="*/ 72 h 91"/>
                  <a:gd name="T2" fmla="*/ 63 w 115"/>
                  <a:gd name="T3" fmla="*/ 67 h 91"/>
                  <a:gd name="T4" fmla="*/ 72 w 115"/>
                  <a:gd name="T5" fmla="*/ 73 h 91"/>
                  <a:gd name="T6" fmla="*/ 75 w 115"/>
                  <a:gd name="T7" fmla="*/ 75 h 91"/>
                  <a:gd name="T8" fmla="*/ 88 w 115"/>
                  <a:gd name="T9" fmla="*/ 64 h 91"/>
                  <a:gd name="T10" fmla="*/ 92 w 115"/>
                  <a:gd name="T11" fmla="*/ 74 h 91"/>
                  <a:gd name="T12" fmla="*/ 91 w 115"/>
                  <a:gd name="T13" fmla="*/ 90 h 91"/>
                  <a:gd name="T14" fmla="*/ 96 w 115"/>
                  <a:gd name="T15" fmla="*/ 38 h 91"/>
                  <a:gd name="T16" fmla="*/ 22 w 115"/>
                  <a:gd name="T17" fmla="*/ 28 h 91"/>
                  <a:gd name="T18" fmla="*/ 7 w 115"/>
                  <a:gd name="T19" fmla="*/ 29 h 91"/>
                  <a:gd name="T20" fmla="*/ 30 w 115"/>
                  <a:gd name="T21" fmla="*/ 7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91">
                    <a:moveTo>
                      <a:pt x="30" y="72"/>
                    </a:moveTo>
                    <a:cubicBezTo>
                      <a:pt x="30" y="72"/>
                      <a:pt x="47" y="64"/>
                      <a:pt x="63" y="67"/>
                    </a:cubicBezTo>
                    <a:cubicBezTo>
                      <a:pt x="67" y="68"/>
                      <a:pt x="70" y="70"/>
                      <a:pt x="72" y="73"/>
                    </a:cubicBezTo>
                    <a:cubicBezTo>
                      <a:pt x="73" y="74"/>
                      <a:pt x="74" y="75"/>
                      <a:pt x="75" y="75"/>
                    </a:cubicBezTo>
                    <a:cubicBezTo>
                      <a:pt x="78" y="75"/>
                      <a:pt x="82" y="64"/>
                      <a:pt x="88" y="64"/>
                    </a:cubicBezTo>
                    <a:cubicBezTo>
                      <a:pt x="93" y="63"/>
                      <a:pt x="97" y="67"/>
                      <a:pt x="92" y="74"/>
                    </a:cubicBezTo>
                    <a:cubicBezTo>
                      <a:pt x="88" y="81"/>
                      <a:pt x="89" y="89"/>
                      <a:pt x="91" y="90"/>
                    </a:cubicBezTo>
                    <a:cubicBezTo>
                      <a:pt x="93" y="91"/>
                      <a:pt x="115" y="75"/>
                      <a:pt x="96" y="38"/>
                    </a:cubicBezTo>
                    <a:cubicBezTo>
                      <a:pt x="77" y="0"/>
                      <a:pt x="29" y="20"/>
                      <a:pt x="22" y="28"/>
                    </a:cubicBezTo>
                    <a:cubicBezTo>
                      <a:pt x="22" y="28"/>
                      <a:pt x="14" y="35"/>
                      <a:pt x="7" y="29"/>
                    </a:cubicBezTo>
                    <a:cubicBezTo>
                      <a:pt x="7" y="29"/>
                      <a:pt x="0" y="82"/>
                      <a:pt x="30" y="72"/>
                    </a:cubicBezTo>
                    <a:close/>
                  </a:path>
                </a:pathLst>
              </a:custGeom>
              <a:solidFill>
                <a:srgbClr val="FF2C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iṡľïḓe"/>
              <p:cNvSpPr/>
              <p:nvPr/>
            </p:nvSpPr>
            <p:spPr bwMode="auto">
              <a:xfrm>
                <a:off x="4448197" y="2373782"/>
                <a:ext cx="337878" cy="417583"/>
              </a:xfrm>
              <a:custGeom>
                <a:avLst/>
                <a:gdLst>
                  <a:gd name="T0" fmla="*/ 61 w 94"/>
                  <a:gd name="T1" fmla="*/ 16 h 116"/>
                  <a:gd name="T2" fmla="*/ 61 w 94"/>
                  <a:gd name="T3" fmla="*/ 44 h 116"/>
                  <a:gd name="T4" fmla="*/ 57 w 94"/>
                  <a:gd name="T5" fmla="*/ 53 h 116"/>
                  <a:gd name="T6" fmla="*/ 0 w 94"/>
                  <a:gd name="T7" fmla="*/ 105 h 116"/>
                  <a:gd name="T8" fmla="*/ 6 w 94"/>
                  <a:gd name="T9" fmla="*/ 116 h 116"/>
                  <a:gd name="T10" fmla="*/ 82 w 94"/>
                  <a:gd name="T11" fmla="*/ 60 h 116"/>
                  <a:gd name="T12" fmla="*/ 89 w 94"/>
                  <a:gd name="T13" fmla="*/ 49 h 116"/>
                  <a:gd name="T14" fmla="*/ 94 w 94"/>
                  <a:gd name="T15" fmla="*/ 0 h 116"/>
                  <a:gd name="T16" fmla="*/ 61 w 94"/>
                  <a:gd name="T17" fmla="*/ 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116">
                    <a:moveTo>
                      <a:pt x="61" y="16"/>
                    </a:moveTo>
                    <a:cubicBezTo>
                      <a:pt x="61" y="44"/>
                      <a:pt x="61" y="44"/>
                      <a:pt x="61" y="44"/>
                    </a:cubicBezTo>
                    <a:cubicBezTo>
                      <a:pt x="61" y="48"/>
                      <a:pt x="60" y="51"/>
                      <a:pt x="57" y="53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6" y="116"/>
                      <a:pt x="6" y="116"/>
                      <a:pt x="6" y="116"/>
                    </a:cubicBezTo>
                    <a:cubicBezTo>
                      <a:pt x="82" y="60"/>
                      <a:pt x="82" y="60"/>
                      <a:pt x="82" y="60"/>
                    </a:cubicBezTo>
                    <a:cubicBezTo>
                      <a:pt x="86" y="58"/>
                      <a:pt x="88" y="54"/>
                      <a:pt x="89" y="49"/>
                    </a:cubicBezTo>
                    <a:cubicBezTo>
                      <a:pt x="94" y="0"/>
                      <a:pt x="94" y="0"/>
                      <a:pt x="94" y="0"/>
                    </a:cubicBez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ṡ1ïḍè"/>
              <p:cNvSpPr/>
              <p:nvPr/>
            </p:nvSpPr>
            <p:spPr bwMode="auto">
              <a:xfrm>
                <a:off x="4605873" y="2108679"/>
                <a:ext cx="230450" cy="381195"/>
              </a:xfrm>
              <a:custGeom>
                <a:avLst/>
                <a:gdLst>
                  <a:gd name="T0" fmla="*/ 40 w 64"/>
                  <a:gd name="T1" fmla="*/ 0 h 106"/>
                  <a:gd name="T2" fmla="*/ 64 w 64"/>
                  <a:gd name="T3" fmla="*/ 96 h 106"/>
                  <a:gd name="T4" fmla="*/ 17 w 64"/>
                  <a:gd name="T5" fmla="*/ 100 h 106"/>
                  <a:gd name="T6" fmla="*/ 40 w 64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106">
                    <a:moveTo>
                      <a:pt x="40" y="0"/>
                    </a:moveTo>
                    <a:cubicBezTo>
                      <a:pt x="40" y="0"/>
                      <a:pt x="57" y="27"/>
                      <a:pt x="64" y="96"/>
                    </a:cubicBezTo>
                    <a:cubicBezTo>
                      <a:pt x="64" y="96"/>
                      <a:pt x="34" y="106"/>
                      <a:pt x="17" y="100"/>
                    </a:cubicBezTo>
                    <a:cubicBezTo>
                      <a:pt x="0" y="95"/>
                      <a:pt x="40" y="0"/>
                      <a:pt x="40" y="0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sľïďè"/>
              <p:cNvSpPr/>
              <p:nvPr/>
            </p:nvSpPr>
            <p:spPr bwMode="auto">
              <a:xfrm>
                <a:off x="4628398" y="2229968"/>
                <a:ext cx="27723" cy="230450"/>
              </a:xfrm>
              <a:custGeom>
                <a:avLst/>
                <a:gdLst>
                  <a:gd name="T0" fmla="*/ 8 w 8"/>
                  <a:gd name="T1" fmla="*/ 0 h 64"/>
                  <a:gd name="T2" fmla="*/ 1 w 8"/>
                  <a:gd name="T3" fmla="*/ 54 h 64"/>
                  <a:gd name="T4" fmla="*/ 8 w 8"/>
                  <a:gd name="T5" fmla="*/ 64 h 64"/>
                  <a:gd name="T6" fmla="*/ 8 w 8"/>
                  <a:gd name="T7" fmla="*/ 64 h 64"/>
                  <a:gd name="T8" fmla="*/ 8 w 8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64">
                    <a:moveTo>
                      <a:pt x="8" y="0"/>
                    </a:moveTo>
                    <a:cubicBezTo>
                      <a:pt x="8" y="0"/>
                      <a:pt x="1" y="36"/>
                      <a:pt x="1" y="54"/>
                    </a:cubicBezTo>
                    <a:cubicBezTo>
                      <a:pt x="0" y="58"/>
                      <a:pt x="3" y="63"/>
                      <a:pt x="8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ŝ1ïďé"/>
              <p:cNvSpPr/>
              <p:nvPr/>
            </p:nvSpPr>
            <p:spPr bwMode="auto">
              <a:xfrm>
                <a:off x="3983832" y="2701264"/>
                <a:ext cx="618576" cy="363868"/>
              </a:xfrm>
              <a:custGeom>
                <a:avLst/>
                <a:gdLst>
                  <a:gd name="T0" fmla="*/ 172 w 172"/>
                  <a:gd name="T1" fmla="*/ 51 h 101"/>
                  <a:gd name="T2" fmla="*/ 159 w 172"/>
                  <a:gd name="T3" fmla="*/ 49 h 101"/>
                  <a:gd name="T4" fmla="*/ 77 w 172"/>
                  <a:gd name="T5" fmla="*/ 2 h 101"/>
                  <a:gd name="T6" fmla="*/ 66 w 172"/>
                  <a:gd name="T7" fmla="*/ 2 h 101"/>
                  <a:gd name="T8" fmla="*/ 8 w 172"/>
                  <a:gd name="T9" fmla="*/ 36 h 101"/>
                  <a:gd name="T10" fmla="*/ 0 w 172"/>
                  <a:gd name="T11" fmla="*/ 35 h 101"/>
                  <a:gd name="T12" fmla="*/ 0 w 172"/>
                  <a:gd name="T13" fmla="*/ 43 h 101"/>
                  <a:gd name="T14" fmla="*/ 0 w 172"/>
                  <a:gd name="T15" fmla="*/ 43 h 101"/>
                  <a:gd name="T16" fmla="*/ 2 w 172"/>
                  <a:gd name="T17" fmla="*/ 45 h 101"/>
                  <a:gd name="T18" fmla="*/ 96 w 172"/>
                  <a:gd name="T19" fmla="*/ 99 h 101"/>
                  <a:gd name="T20" fmla="*/ 106 w 172"/>
                  <a:gd name="T21" fmla="*/ 99 h 101"/>
                  <a:gd name="T22" fmla="*/ 169 w 172"/>
                  <a:gd name="T23" fmla="*/ 62 h 101"/>
                  <a:gd name="T24" fmla="*/ 172 w 172"/>
                  <a:gd name="T25" fmla="*/ 59 h 101"/>
                  <a:gd name="T26" fmla="*/ 172 w 172"/>
                  <a:gd name="T27" fmla="*/ 59 h 101"/>
                  <a:gd name="T28" fmla="*/ 172 w 172"/>
                  <a:gd name="T29" fmla="*/ 5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2" h="101">
                    <a:moveTo>
                      <a:pt x="172" y="51"/>
                    </a:moveTo>
                    <a:cubicBezTo>
                      <a:pt x="159" y="49"/>
                      <a:pt x="159" y="49"/>
                      <a:pt x="159" y="49"/>
                    </a:cubicBezTo>
                    <a:cubicBezTo>
                      <a:pt x="77" y="2"/>
                      <a:pt x="77" y="2"/>
                      <a:pt x="77" y="2"/>
                    </a:cubicBezTo>
                    <a:cubicBezTo>
                      <a:pt x="74" y="0"/>
                      <a:pt x="70" y="0"/>
                      <a:pt x="66" y="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1" y="45"/>
                      <a:pt x="2" y="45"/>
                    </a:cubicBezTo>
                    <a:cubicBezTo>
                      <a:pt x="96" y="99"/>
                      <a:pt x="96" y="99"/>
                      <a:pt x="96" y="99"/>
                    </a:cubicBezTo>
                    <a:cubicBezTo>
                      <a:pt x="98" y="101"/>
                      <a:pt x="103" y="100"/>
                      <a:pt x="106" y="99"/>
                    </a:cubicBezTo>
                    <a:cubicBezTo>
                      <a:pt x="169" y="62"/>
                      <a:pt x="169" y="62"/>
                      <a:pt x="169" y="62"/>
                    </a:cubicBezTo>
                    <a:cubicBezTo>
                      <a:pt x="171" y="61"/>
                      <a:pt x="172" y="60"/>
                      <a:pt x="172" y="59"/>
                    </a:cubicBezTo>
                    <a:cubicBezTo>
                      <a:pt x="172" y="59"/>
                      <a:pt x="172" y="59"/>
                      <a:pt x="172" y="59"/>
                    </a:cubicBezTo>
                    <a:lnTo>
                      <a:pt x="172" y="51"/>
                    </a:ln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ïṧḻidè"/>
              <p:cNvSpPr/>
              <p:nvPr/>
            </p:nvSpPr>
            <p:spPr bwMode="auto">
              <a:xfrm>
                <a:off x="3983832" y="2767107"/>
                <a:ext cx="395057" cy="294560"/>
              </a:xfrm>
              <a:custGeom>
                <a:avLst/>
                <a:gdLst>
                  <a:gd name="T0" fmla="*/ 110 w 110"/>
                  <a:gd name="T1" fmla="*/ 3 h 82"/>
                  <a:gd name="T2" fmla="*/ 104 w 110"/>
                  <a:gd name="T3" fmla="*/ 0 h 82"/>
                  <a:gd name="T4" fmla="*/ 40 w 110"/>
                  <a:gd name="T5" fmla="*/ 0 h 82"/>
                  <a:gd name="T6" fmla="*/ 8 w 110"/>
                  <a:gd name="T7" fmla="*/ 18 h 82"/>
                  <a:gd name="T8" fmla="*/ 0 w 110"/>
                  <a:gd name="T9" fmla="*/ 17 h 82"/>
                  <a:gd name="T10" fmla="*/ 0 w 110"/>
                  <a:gd name="T11" fmla="*/ 25 h 82"/>
                  <a:gd name="T12" fmla="*/ 0 w 110"/>
                  <a:gd name="T13" fmla="*/ 25 h 82"/>
                  <a:gd name="T14" fmla="*/ 2 w 110"/>
                  <a:gd name="T15" fmla="*/ 27 h 82"/>
                  <a:gd name="T16" fmla="*/ 96 w 110"/>
                  <a:gd name="T17" fmla="*/ 81 h 82"/>
                  <a:gd name="T18" fmla="*/ 101 w 110"/>
                  <a:gd name="T19" fmla="*/ 82 h 82"/>
                  <a:gd name="T20" fmla="*/ 110 w 110"/>
                  <a:gd name="T21" fmla="*/ 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" h="82">
                    <a:moveTo>
                      <a:pt x="110" y="3"/>
                    </a:moveTo>
                    <a:cubicBezTo>
                      <a:pt x="104" y="0"/>
                      <a:pt x="104" y="0"/>
                      <a:pt x="104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6"/>
                      <a:pt x="1" y="27"/>
                      <a:pt x="2" y="27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2"/>
                      <a:pt x="99" y="82"/>
                      <a:pt x="101" y="82"/>
                    </a:cubicBez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396C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sļiḋê"/>
              <p:cNvSpPr/>
              <p:nvPr/>
            </p:nvSpPr>
            <p:spPr bwMode="auto">
              <a:xfrm>
                <a:off x="3983832" y="2827751"/>
                <a:ext cx="13862" cy="39853"/>
              </a:xfrm>
              <a:custGeom>
                <a:avLst/>
                <a:gdLst>
                  <a:gd name="T0" fmla="*/ 4 w 4"/>
                  <a:gd name="T1" fmla="*/ 0 h 11"/>
                  <a:gd name="T2" fmla="*/ 0 w 4"/>
                  <a:gd name="T3" fmla="*/ 0 h 11"/>
                  <a:gd name="T4" fmla="*/ 0 w 4"/>
                  <a:gd name="T5" fmla="*/ 8 h 11"/>
                  <a:gd name="T6" fmla="*/ 0 w 4"/>
                  <a:gd name="T7" fmla="*/ 8 h 11"/>
                  <a:gd name="T8" fmla="*/ 2 w 4"/>
                  <a:gd name="T9" fmla="*/ 10 h 11"/>
                  <a:gd name="T10" fmla="*/ 4 w 4"/>
                  <a:gd name="T11" fmla="*/ 11 h 11"/>
                  <a:gd name="T12" fmla="*/ 4 w 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1" y="10"/>
                      <a:pt x="2" y="10"/>
                    </a:cubicBezTo>
                    <a:cubicBezTo>
                      <a:pt x="4" y="11"/>
                      <a:pt x="4" y="11"/>
                      <a:pt x="4" y="1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79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íṡḷîde"/>
              <p:cNvSpPr/>
              <p:nvPr/>
            </p:nvSpPr>
            <p:spPr bwMode="auto">
              <a:xfrm>
                <a:off x="4328640" y="3011418"/>
                <a:ext cx="32922" cy="50249"/>
              </a:xfrm>
              <a:custGeom>
                <a:avLst/>
                <a:gdLst>
                  <a:gd name="T0" fmla="*/ 0 w 9"/>
                  <a:gd name="T1" fmla="*/ 14 h 14"/>
                  <a:gd name="T2" fmla="*/ 9 w 9"/>
                  <a:gd name="T3" fmla="*/ 13 h 14"/>
                  <a:gd name="T4" fmla="*/ 9 w 9"/>
                  <a:gd name="T5" fmla="*/ 0 h 14"/>
                  <a:gd name="T6" fmla="*/ 0 w 9"/>
                  <a:gd name="T7" fmla="*/ 0 h 14"/>
                  <a:gd name="T8" fmla="*/ 0 w 9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4">
                    <a:moveTo>
                      <a:pt x="0" y="14"/>
                    </a:moveTo>
                    <a:cubicBezTo>
                      <a:pt x="3" y="14"/>
                      <a:pt x="7" y="14"/>
                      <a:pt x="9" y="1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274F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ïSlîďé"/>
              <p:cNvSpPr/>
              <p:nvPr/>
            </p:nvSpPr>
            <p:spPr bwMode="auto">
              <a:xfrm>
                <a:off x="3983832" y="2677006"/>
                <a:ext cx="622042" cy="360403"/>
              </a:xfrm>
              <a:custGeom>
                <a:avLst/>
                <a:gdLst>
                  <a:gd name="T0" fmla="*/ 96 w 173"/>
                  <a:gd name="T1" fmla="*/ 98 h 100"/>
                  <a:gd name="T2" fmla="*/ 2 w 173"/>
                  <a:gd name="T3" fmla="*/ 45 h 100"/>
                  <a:gd name="T4" fmla="*/ 3 w 173"/>
                  <a:gd name="T5" fmla="*/ 39 h 100"/>
                  <a:gd name="T6" fmla="*/ 66 w 173"/>
                  <a:gd name="T7" fmla="*/ 2 h 100"/>
                  <a:gd name="T8" fmla="*/ 77 w 173"/>
                  <a:gd name="T9" fmla="*/ 2 h 100"/>
                  <a:gd name="T10" fmla="*/ 170 w 173"/>
                  <a:gd name="T11" fmla="*/ 55 h 100"/>
                  <a:gd name="T12" fmla="*/ 169 w 173"/>
                  <a:gd name="T13" fmla="*/ 61 h 100"/>
                  <a:gd name="T14" fmla="*/ 106 w 173"/>
                  <a:gd name="T15" fmla="*/ 98 h 100"/>
                  <a:gd name="T16" fmla="*/ 96 w 173"/>
                  <a:gd name="T17" fmla="*/ 9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3" h="100">
                    <a:moveTo>
                      <a:pt x="96" y="98"/>
                    </a:moveTo>
                    <a:cubicBezTo>
                      <a:pt x="2" y="45"/>
                      <a:pt x="2" y="45"/>
                      <a:pt x="2" y="45"/>
                    </a:cubicBezTo>
                    <a:cubicBezTo>
                      <a:pt x="0" y="43"/>
                      <a:pt x="0" y="40"/>
                      <a:pt x="3" y="39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70" y="0"/>
                      <a:pt x="74" y="0"/>
                      <a:pt x="77" y="2"/>
                    </a:cubicBezTo>
                    <a:cubicBezTo>
                      <a:pt x="170" y="55"/>
                      <a:pt x="170" y="55"/>
                      <a:pt x="170" y="55"/>
                    </a:cubicBezTo>
                    <a:cubicBezTo>
                      <a:pt x="173" y="57"/>
                      <a:pt x="172" y="60"/>
                      <a:pt x="169" y="61"/>
                    </a:cubicBezTo>
                    <a:cubicBezTo>
                      <a:pt x="106" y="98"/>
                      <a:pt x="106" y="98"/>
                      <a:pt x="106" y="98"/>
                    </a:cubicBezTo>
                    <a:cubicBezTo>
                      <a:pt x="103" y="100"/>
                      <a:pt x="98" y="100"/>
                      <a:pt x="96" y="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iṥḷîde"/>
              <p:cNvSpPr/>
              <p:nvPr/>
            </p:nvSpPr>
            <p:spPr bwMode="auto">
              <a:xfrm>
                <a:off x="4034080" y="2748047"/>
                <a:ext cx="450503" cy="259906"/>
              </a:xfrm>
              <a:custGeom>
                <a:avLst/>
                <a:gdLst>
                  <a:gd name="T0" fmla="*/ 80 w 125"/>
                  <a:gd name="T1" fmla="*/ 70 h 72"/>
                  <a:gd name="T2" fmla="*/ 2 w 125"/>
                  <a:gd name="T3" fmla="*/ 25 h 72"/>
                  <a:gd name="T4" fmla="*/ 3 w 125"/>
                  <a:gd name="T5" fmla="*/ 21 h 72"/>
                  <a:gd name="T6" fmla="*/ 37 w 125"/>
                  <a:gd name="T7" fmla="*/ 1 h 72"/>
                  <a:gd name="T8" fmla="*/ 46 w 125"/>
                  <a:gd name="T9" fmla="*/ 1 h 72"/>
                  <a:gd name="T10" fmla="*/ 123 w 125"/>
                  <a:gd name="T11" fmla="*/ 46 h 72"/>
                  <a:gd name="T12" fmla="*/ 123 w 125"/>
                  <a:gd name="T13" fmla="*/ 51 h 72"/>
                  <a:gd name="T14" fmla="*/ 88 w 125"/>
                  <a:gd name="T15" fmla="*/ 70 h 72"/>
                  <a:gd name="T16" fmla="*/ 80 w 125"/>
                  <a:gd name="T17" fmla="*/ 7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5" h="72">
                    <a:moveTo>
                      <a:pt x="80" y="70"/>
                    </a:moveTo>
                    <a:cubicBezTo>
                      <a:pt x="2" y="25"/>
                      <a:pt x="2" y="25"/>
                      <a:pt x="2" y="25"/>
                    </a:cubicBezTo>
                    <a:cubicBezTo>
                      <a:pt x="0" y="24"/>
                      <a:pt x="0" y="22"/>
                      <a:pt x="3" y="2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40" y="0"/>
                      <a:pt x="43" y="0"/>
                      <a:pt x="46" y="1"/>
                    </a:cubicBezTo>
                    <a:cubicBezTo>
                      <a:pt x="123" y="46"/>
                      <a:pt x="123" y="46"/>
                      <a:pt x="123" y="46"/>
                    </a:cubicBezTo>
                    <a:cubicBezTo>
                      <a:pt x="125" y="47"/>
                      <a:pt x="125" y="49"/>
                      <a:pt x="123" y="51"/>
                    </a:cubicBezTo>
                    <a:cubicBezTo>
                      <a:pt x="88" y="70"/>
                      <a:pt x="88" y="70"/>
                      <a:pt x="88" y="70"/>
                    </a:cubicBezTo>
                    <a:cubicBezTo>
                      <a:pt x="86" y="71"/>
                      <a:pt x="82" y="72"/>
                      <a:pt x="80" y="7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ïSļïďe"/>
              <p:cNvSpPr/>
              <p:nvPr/>
            </p:nvSpPr>
            <p:spPr bwMode="auto">
              <a:xfrm>
                <a:off x="4228143" y="2651015"/>
                <a:ext cx="83170" cy="155943"/>
              </a:xfrm>
              <a:custGeom>
                <a:avLst/>
                <a:gdLst>
                  <a:gd name="T0" fmla="*/ 2 w 23"/>
                  <a:gd name="T1" fmla="*/ 7 h 43"/>
                  <a:gd name="T2" fmla="*/ 1 w 23"/>
                  <a:gd name="T3" fmla="*/ 14 h 43"/>
                  <a:gd name="T4" fmla="*/ 2 w 23"/>
                  <a:gd name="T5" fmla="*/ 30 h 43"/>
                  <a:gd name="T6" fmla="*/ 3 w 23"/>
                  <a:gd name="T7" fmla="*/ 36 h 43"/>
                  <a:gd name="T8" fmla="*/ 9 w 23"/>
                  <a:gd name="T9" fmla="*/ 42 h 43"/>
                  <a:gd name="T10" fmla="*/ 9 w 23"/>
                  <a:gd name="T11" fmla="*/ 42 h 43"/>
                  <a:gd name="T12" fmla="*/ 14 w 23"/>
                  <a:gd name="T13" fmla="*/ 38 h 43"/>
                  <a:gd name="T14" fmla="*/ 16 w 23"/>
                  <a:gd name="T15" fmla="*/ 24 h 43"/>
                  <a:gd name="T16" fmla="*/ 21 w 23"/>
                  <a:gd name="T17" fmla="*/ 29 h 43"/>
                  <a:gd name="T18" fmla="*/ 15 w 23"/>
                  <a:gd name="T19" fmla="*/ 8 h 43"/>
                  <a:gd name="T20" fmla="*/ 2 w 23"/>
                  <a:gd name="T21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43">
                    <a:moveTo>
                      <a:pt x="2" y="7"/>
                    </a:moveTo>
                    <a:cubicBezTo>
                      <a:pt x="1" y="14"/>
                      <a:pt x="1" y="14"/>
                      <a:pt x="1" y="14"/>
                    </a:cubicBezTo>
                    <a:cubicBezTo>
                      <a:pt x="0" y="19"/>
                      <a:pt x="0" y="25"/>
                      <a:pt x="2" y="30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9"/>
                      <a:pt x="6" y="41"/>
                      <a:pt x="9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2" y="43"/>
                      <a:pt x="14" y="41"/>
                      <a:pt x="14" y="3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9" y="29"/>
                      <a:pt x="21" y="29"/>
                    </a:cubicBezTo>
                    <a:cubicBezTo>
                      <a:pt x="23" y="29"/>
                      <a:pt x="19" y="15"/>
                      <a:pt x="15" y="8"/>
                    </a:cubicBezTo>
                    <a:cubicBezTo>
                      <a:pt x="11" y="0"/>
                      <a:pt x="2" y="7"/>
                      <a:pt x="2" y="7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iṧľîďè"/>
              <p:cNvSpPr/>
              <p:nvPr/>
            </p:nvSpPr>
            <p:spPr bwMode="auto">
              <a:xfrm>
                <a:off x="4214281" y="2236899"/>
                <a:ext cx="136884" cy="443573"/>
              </a:xfrm>
              <a:custGeom>
                <a:avLst/>
                <a:gdLst>
                  <a:gd name="T0" fmla="*/ 38 w 38"/>
                  <a:gd name="T1" fmla="*/ 20 h 123"/>
                  <a:gd name="T2" fmla="*/ 28 w 38"/>
                  <a:gd name="T3" fmla="*/ 40 h 123"/>
                  <a:gd name="T4" fmla="*/ 24 w 38"/>
                  <a:gd name="T5" fmla="*/ 55 h 123"/>
                  <a:gd name="T6" fmla="*/ 19 w 38"/>
                  <a:gd name="T7" fmla="*/ 123 h 123"/>
                  <a:gd name="T8" fmla="*/ 6 w 38"/>
                  <a:gd name="T9" fmla="*/ 122 h 123"/>
                  <a:gd name="T10" fmla="*/ 0 w 38"/>
                  <a:gd name="T11" fmla="*/ 46 h 123"/>
                  <a:gd name="T12" fmla="*/ 0 w 38"/>
                  <a:gd name="T13" fmla="*/ 39 h 123"/>
                  <a:gd name="T14" fmla="*/ 7 w 38"/>
                  <a:gd name="T15" fmla="*/ 0 h 123"/>
                  <a:gd name="T16" fmla="*/ 38 w 38"/>
                  <a:gd name="T17" fmla="*/ 2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123">
                    <a:moveTo>
                      <a:pt x="38" y="20"/>
                    </a:moveTo>
                    <a:cubicBezTo>
                      <a:pt x="28" y="40"/>
                      <a:pt x="28" y="40"/>
                      <a:pt x="28" y="40"/>
                    </a:cubicBezTo>
                    <a:cubicBezTo>
                      <a:pt x="25" y="44"/>
                      <a:pt x="24" y="50"/>
                      <a:pt x="24" y="55"/>
                    </a:cubicBezTo>
                    <a:cubicBezTo>
                      <a:pt x="19" y="123"/>
                      <a:pt x="19" y="123"/>
                      <a:pt x="19" y="123"/>
                    </a:cubicBezTo>
                    <a:cubicBezTo>
                      <a:pt x="6" y="122"/>
                      <a:pt x="6" y="122"/>
                      <a:pt x="6" y="12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4"/>
                      <a:pt x="0" y="41"/>
                      <a:pt x="0" y="39"/>
                    </a:cubicBezTo>
                    <a:cubicBezTo>
                      <a:pt x="7" y="0"/>
                      <a:pt x="7" y="0"/>
                      <a:pt x="7" y="0"/>
                    </a:cubicBez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îṩḻîḍé"/>
              <p:cNvSpPr/>
              <p:nvPr/>
            </p:nvSpPr>
            <p:spPr bwMode="auto">
              <a:xfrm>
                <a:off x="3957841" y="2533191"/>
                <a:ext cx="381195" cy="518079"/>
              </a:xfrm>
              <a:custGeom>
                <a:avLst/>
                <a:gdLst>
                  <a:gd name="T0" fmla="*/ 99 w 106"/>
                  <a:gd name="T1" fmla="*/ 144 h 144"/>
                  <a:gd name="T2" fmla="*/ 92 w 106"/>
                  <a:gd name="T3" fmla="*/ 133 h 144"/>
                  <a:gd name="T4" fmla="*/ 9 w 106"/>
                  <a:gd name="T5" fmla="*/ 86 h 144"/>
                  <a:gd name="T6" fmla="*/ 4 w 106"/>
                  <a:gd name="T7" fmla="*/ 77 h 144"/>
                  <a:gd name="T8" fmla="*/ 5 w 106"/>
                  <a:gd name="T9" fmla="*/ 9 h 144"/>
                  <a:gd name="T10" fmla="*/ 0 w 106"/>
                  <a:gd name="T11" fmla="*/ 3 h 144"/>
                  <a:gd name="T12" fmla="*/ 4 w 106"/>
                  <a:gd name="T13" fmla="*/ 1 h 144"/>
                  <a:gd name="T14" fmla="*/ 4 w 106"/>
                  <a:gd name="T15" fmla="*/ 1 h 144"/>
                  <a:gd name="T16" fmla="*/ 8 w 106"/>
                  <a:gd name="T17" fmla="*/ 1 h 144"/>
                  <a:gd name="T18" fmla="*/ 101 w 106"/>
                  <a:gd name="T19" fmla="*/ 55 h 144"/>
                  <a:gd name="T20" fmla="*/ 106 w 106"/>
                  <a:gd name="T21" fmla="*/ 64 h 144"/>
                  <a:gd name="T22" fmla="*/ 105 w 106"/>
                  <a:gd name="T23" fmla="*/ 137 h 144"/>
                  <a:gd name="T24" fmla="*/ 104 w 106"/>
                  <a:gd name="T25" fmla="*/ 141 h 144"/>
                  <a:gd name="T26" fmla="*/ 104 w 106"/>
                  <a:gd name="T27" fmla="*/ 141 h 144"/>
                  <a:gd name="T28" fmla="*/ 99 w 106"/>
                  <a:gd name="T2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6" h="144">
                    <a:moveTo>
                      <a:pt x="99" y="144"/>
                    </a:moveTo>
                    <a:cubicBezTo>
                      <a:pt x="92" y="133"/>
                      <a:pt x="92" y="133"/>
                      <a:pt x="92" y="133"/>
                    </a:cubicBezTo>
                    <a:cubicBezTo>
                      <a:pt x="9" y="86"/>
                      <a:pt x="9" y="86"/>
                      <a:pt x="9" y="86"/>
                    </a:cubicBezTo>
                    <a:cubicBezTo>
                      <a:pt x="7" y="84"/>
                      <a:pt x="4" y="80"/>
                      <a:pt x="4" y="77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6" y="0"/>
                      <a:pt x="8" y="1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6"/>
                      <a:pt x="106" y="60"/>
                      <a:pt x="106" y="64"/>
                    </a:cubicBezTo>
                    <a:cubicBezTo>
                      <a:pt x="105" y="137"/>
                      <a:pt x="105" y="137"/>
                      <a:pt x="105" y="137"/>
                    </a:cubicBezTo>
                    <a:cubicBezTo>
                      <a:pt x="105" y="139"/>
                      <a:pt x="105" y="141"/>
                      <a:pt x="104" y="141"/>
                    </a:cubicBezTo>
                    <a:cubicBezTo>
                      <a:pt x="104" y="141"/>
                      <a:pt x="104" y="141"/>
                      <a:pt x="104" y="141"/>
                    </a:cubicBezTo>
                    <a:lnTo>
                      <a:pt x="99" y="144"/>
                    </a:ln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ïṩḷiďê"/>
              <p:cNvSpPr/>
              <p:nvPr/>
            </p:nvSpPr>
            <p:spPr bwMode="auto">
              <a:xfrm>
                <a:off x="3957841" y="2533191"/>
                <a:ext cx="374264" cy="377730"/>
              </a:xfrm>
              <a:custGeom>
                <a:avLst/>
                <a:gdLst>
                  <a:gd name="T0" fmla="*/ 42 w 104"/>
                  <a:gd name="T1" fmla="*/ 105 h 105"/>
                  <a:gd name="T2" fmla="*/ 37 w 104"/>
                  <a:gd name="T3" fmla="*/ 102 h 105"/>
                  <a:gd name="T4" fmla="*/ 5 w 104"/>
                  <a:gd name="T5" fmla="*/ 46 h 105"/>
                  <a:gd name="T6" fmla="*/ 5 w 104"/>
                  <a:gd name="T7" fmla="*/ 9 h 105"/>
                  <a:gd name="T8" fmla="*/ 0 w 104"/>
                  <a:gd name="T9" fmla="*/ 3 h 105"/>
                  <a:gd name="T10" fmla="*/ 4 w 104"/>
                  <a:gd name="T11" fmla="*/ 1 h 105"/>
                  <a:gd name="T12" fmla="*/ 4 w 104"/>
                  <a:gd name="T13" fmla="*/ 1 h 105"/>
                  <a:gd name="T14" fmla="*/ 8 w 104"/>
                  <a:gd name="T15" fmla="*/ 1 h 105"/>
                  <a:gd name="T16" fmla="*/ 101 w 104"/>
                  <a:gd name="T17" fmla="*/ 55 h 105"/>
                  <a:gd name="T18" fmla="*/ 104 w 104"/>
                  <a:gd name="T19" fmla="*/ 59 h 105"/>
                  <a:gd name="T20" fmla="*/ 42 w 104"/>
                  <a:gd name="T21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4" h="105">
                    <a:moveTo>
                      <a:pt x="42" y="105"/>
                    </a:moveTo>
                    <a:cubicBezTo>
                      <a:pt x="37" y="102"/>
                      <a:pt x="37" y="102"/>
                      <a:pt x="37" y="102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6" y="0"/>
                      <a:pt x="8" y="1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2" y="56"/>
                      <a:pt x="103" y="57"/>
                      <a:pt x="104" y="59"/>
                    </a:cubicBezTo>
                    <a:lnTo>
                      <a:pt x="42" y="105"/>
                    </a:lnTo>
                    <a:close/>
                  </a:path>
                </a:pathLst>
              </a:custGeom>
              <a:solidFill>
                <a:srgbClr val="396C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ísḻídè"/>
              <p:cNvSpPr/>
              <p:nvPr/>
            </p:nvSpPr>
            <p:spPr bwMode="auto">
              <a:xfrm>
                <a:off x="3957841" y="2533191"/>
                <a:ext cx="32922" cy="20792"/>
              </a:xfrm>
              <a:custGeom>
                <a:avLst/>
                <a:gdLst>
                  <a:gd name="T0" fmla="*/ 2 w 9"/>
                  <a:gd name="T1" fmla="*/ 6 h 6"/>
                  <a:gd name="T2" fmla="*/ 0 w 9"/>
                  <a:gd name="T3" fmla="*/ 3 h 6"/>
                  <a:gd name="T4" fmla="*/ 4 w 9"/>
                  <a:gd name="T5" fmla="*/ 1 h 6"/>
                  <a:gd name="T6" fmla="*/ 4 w 9"/>
                  <a:gd name="T7" fmla="*/ 1 h 6"/>
                  <a:gd name="T8" fmla="*/ 8 w 9"/>
                  <a:gd name="T9" fmla="*/ 1 h 6"/>
                  <a:gd name="T10" fmla="*/ 9 w 9"/>
                  <a:gd name="T11" fmla="*/ 2 h 6"/>
                  <a:gd name="T12" fmla="*/ 2 w 9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6">
                    <a:moveTo>
                      <a:pt x="2" y="6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6" y="0"/>
                      <a:pt x="8" y="1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579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îśḻíde"/>
              <p:cNvSpPr/>
              <p:nvPr/>
            </p:nvSpPr>
            <p:spPr bwMode="auto">
              <a:xfrm>
                <a:off x="4288788" y="2730720"/>
                <a:ext cx="46784" cy="46784"/>
              </a:xfrm>
              <a:custGeom>
                <a:avLst/>
                <a:gdLst>
                  <a:gd name="T0" fmla="*/ 10 w 13"/>
                  <a:gd name="T1" fmla="*/ 0 h 13"/>
                  <a:gd name="T2" fmla="*/ 13 w 13"/>
                  <a:gd name="T3" fmla="*/ 8 h 13"/>
                  <a:gd name="T4" fmla="*/ 4 w 13"/>
                  <a:gd name="T5" fmla="*/ 13 h 13"/>
                  <a:gd name="T6" fmla="*/ 0 w 13"/>
                  <a:gd name="T7" fmla="*/ 6 h 13"/>
                  <a:gd name="T8" fmla="*/ 10 w 13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0" y="0"/>
                    </a:moveTo>
                    <a:cubicBezTo>
                      <a:pt x="12" y="2"/>
                      <a:pt x="13" y="5"/>
                      <a:pt x="13" y="8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274F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íṩľîḍe"/>
              <p:cNvSpPr/>
              <p:nvPr/>
            </p:nvSpPr>
            <p:spPr bwMode="auto">
              <a:xfrm>
                <a:off x="3950910" y="2540122"/>
                <a:ext cx="370799" cy="514614"/>
              </a:xfrm>
              <a:custGeom>
                <a:avLst/>
                <a:gdLst>
                  <a:gd name="T0" fmla="*/ 98 w 103"/>
                  <a:gd name="T1" fmla="*/ 55 h 143"/>
                  <a:gd name="T2" fmla="*/ 5 w 103"/>
                  <a:gd name="T3" fmla="*/ 1 h 143"/>
                  <a:gd name="T4" fmla="*/ 0 w 103"/>
                  <a:gd name="T5" fmla="*/ 5 h 143"/>
                  <a:gd name="T6" fmla="*/ 0 w 103"/>
                  <a:gd name="T7" fmla="*/ 78 h 143"/>
                  <a:gd name="T8" fmla="*/ 5 w 103"/>
                  <a:gd name="T9" fmla="*/ 87 h 143"/>
                  <a:gd name="T10" fmla="*/ 98 w 103"/>
                  <a:gd name="T11" fmla="*/ 141 h 143"/>
                  <a:gd name="T12" fmla="*/ 103 w 103"/>
                  <a:gd name="T13" fmla="*/ 138 h 143"/>
                  <a:gd name="T14" fmla="*/ 103 w 103"/>
                  <a:gd name="T15" fmla="*/ 64 h 143"/>
                  <a:gd name="T16" fmla="*/ 98 w 103"/>
                  <a:gd name="T17" fmla="*/ 5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143">
                    <a:moveTo>
                      <a:pt x="98" y="55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2" y="0"/>
                      <a:pt x="0" y="1"/>
                      <a:pt x="0" y="5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2"/>
                      <a:pt x="2" y="86"/>
                      <a:pt x="5" y="87"/>
                    </a:cubicBezTo>
                    <a:cubicBezTo>
                      <a:pt x="98" y="141"/>
                      <a:pt x="98" y="141"/>
                      <a:pt x="98" y="141"/>
                    </a:cubicBezTo>
                    <a:cubicBezTo>
                      <a:pt x="101" y="143"/>
                      <a:pt x="103" y="141"/>
                      <a:pt x="103" y="138"/>
                    </a:cubicBezTo>
                    <a:cubicBezTo>
                      <a:pt x="103" y="64"/>
                      <a:pt x="103" y="64"/>
                      <a:pt x="103" y="64"/>
                    </a:cubicBezTo>
                    <a:cubicBezTo>
                      <a:pt x="103" y="61"/>
                      <a:pt x="101" y="57"/>
                      <a:pt x="98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ś1ïdè"/>
              <p:cNvSpPr/>
              <p:nvPr/>
            </p:nvSpPr>
            <p:spPr bwMode="auto">
              <a:xfrm>
                <a:off x="4358096" y="2751512"/>
                <a:ext cx="110893" cy="109161"/>
              </a:xfrm>
              <a:custGeom>
                <a:avLst/>
                <a:gdLst>
                  <a:gd name="T0" fmla="*/ 31 w 31"/>
                  <a:gd name="T1" fmla="*/ 11 h 30"/>
                  <a:gd name="T2" fmla="*/ 30 w 31"/>
                  <a:gd name="T3" fmla="*/ 14 h 30"/>
                  <a:gd name="T4" fmla="*/ 22 w 31"/>
                  <a:gd name="T5" fmla="*/ 22 h 30"/>
                  <a:gd name="T6" fmla="*/ 13 w 31"/>
                  <a:gd name="T7" fmla="*/ 28 h 30"/>
                  <a:gd name="T8" fmla="*/ 3 w 31"/>
                  <a:gd name="T9" fmla="*/ 28 h 30"/>
                  <a:gd name="T10" fmla="*/ 3 w 31"/>
                  <a:gd name="T11" fmla="*/ 28 h 30"/>
                  <a:gd name="T12" fmla="*/ 2 w 31"/>
                  <a:gd name="T13" fmla="*/ 19 h 30"/>
                  <a:gd name="T14" fmla="*/ 12 w 31"/>
                  <a:gd name="T15" fmla="*/ 9 h 30"/>
                  <a:gd name="T16" fmla="*/ 5 w 31"/>
                  <a:gd name="T17" fmla="*/ 12 h 30"/>
                  <a:gd name="T18" fmla="*/ 15 w 31"/>
                  <a:gd name="T19" fmla="*/ 5 h 30"/>
                  <a:gd name="T20" fmla="*/ 25 w 31"/>
                  <a:gd name="T21" fmla="*/ 0 h 30"/>
                  <a:gd name="T22" fmla="*/ 31 w 31"/>
                  <a:gd name="T23" fmla="*/ 1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" h="30">
                    <a:moveTo>
                      <a:pt x="31" y="11"/>
                    </a:moveTo>
                    <a:cubicBezTo>
                      <a:pt x="30" y="14"/>
                      <a:pt x="30" y="14"/>
                      <a:pt x="30" y="14"/>
                    </a:cubicBezTo>
                    <a:cubicBezTo>
                      <a:pt x="28" y="17"/>
                      <a:pt x="25" y="20"/>
                      <a:pt x="22" y="22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30"/>
                      <a:pt x="6" y="30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0" y="26"/>
                      <a:pt x="0" y="22"/>
                      <a:pt x="2" y="1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6" y="14"/>
                      <a:pt x="5" y="12"/>
                    </a:cubicBezTo>
                    <a:cubicBezTo>
                      <a:pt x="4" y="11"/>
                      <a:pt x="10" y="5"/>
                      <a:pt x="15" y="5"/>
                    </a:cubicBezTo>
                    <a:cubicBezTo>
                      <a:pt x="20" y="4"/>
                      <a:pt x="25" y="0"/>
                      <a:pt x="25" y="0"/>
                    </a:cubicBezTo>
                    <a:lnTo>
                      <a:pt x="31" y="11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îṥ1íďé"/>
              <p:cNvSpPr/>
              <p:nvPr/>
            </p:nvSpPr>
            <p:spPr bwMode="auto">
              <a:xfrm>
                <a:off x="4202153" y="1982191"/>
                <a:ext cx="256440" cy="407186"/>
              </a:xfrm>
              <a:custGeom>
                <a:avLst/>
                <a:gdLst>
                  <a:gd name="T0" fmla="*/ 50 w 71"/>
                  <a:gd name="T1" fmla="*/ 0 h 113"/>
                  <a:gd name="T2" fmla="*/ 0 w 71"/>
                  <a:gd name="T3" fmla="*/ 74 h 113"/>
                  <a:gd name="T4" fmla="*/ 42 w 71"/>
                  <a:gd name="T5" fmla="*/ 105 h 113"/>
                  <a:gd name="T6" fmla="*/ 50 w 71"/>
                  <a:gd name="T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13">
                    <a:moveTo>
                      <a:pt x="50" y="0"/>
                    </a:moveTo>
                    <a:cubicBezTo>
                      <a:pt x="50" y="0"/>
                      <a:pt x="14" y="39"/>
                      <a:pt x="0" y="74"/>
                    </a:cubicBezTo>
                    <a:cubicBezTo>
                      <a:pt x="0" y="74"/>
                      <a:pt x="12" y="96"/>
                      <a:pt x="42" y="105"/>
                    </a:cubicBezTo>
                    <a:cubicBezTo>
                      <a:pt x="71" y="113"/>
                      <a:pt x="50" y="0"/>
                      <a:pt x="50" y="0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îṧ1îḍé"/>
              <p:cNvSpPr/>
              <p:nvPr/>
            </p:nvSpPr>
            <p:spPr bwMode="auto">
              <a:xfrm>
                <a:off x="4300917" y="2151996"/>
                <a:ext cx="50249" cy="197528"/>
              </a:xfrm>
              <a:custGeom>
                <a:avLst/>
                <a:gdLst>
                  <a:gd name="T0" fmla="*/ 8 w 14"/>
                  <a:gd name="T1" fmla="*/ 55 h 55"/>
                  <a:gd name="T2" fmla="*/ 14 w 14"/>
                  <a:gd name="T3" fmla="*/ 0 h 55"/>
                  <a:gd name="T4" fmla="*/ 0 w 14"/>
                  <a:gd name="T5" fmla="*/ 52 h 55"/>
                  <a:gd name="T6" fmla="*/ 8 w 14"/>
                  <a:gd name="T7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55">
                    <a:moveTo>
                      <a:pt x="8" y="55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53"/>
                      <a:pt x="5" y="54"/>
                      <a:pt x="8" y="55"/>
                    </a:cubicBez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išḷïdé"/>
              <p:cNvSpPr/>
              <p:nvPr/>
            </p:nvSpPr>
            <p:spPr bwMode="auto">
              <a:xfrm>
                <a:off x="4444732" y="1945805"/>
                <a:ext cx="67576" cy="36387"/>
              </a:xfrm>
              <a:custGeom>
                <a:avLst/>
                <a:gdLst>
                  <a:gd name="T0" fmla="*/ 9 w 19"/>
                  <a:gd name="T1" fmla="*/ 2 h 10"/>
                  <a:gd name="T2" fmla="*/ 0 w 19"/>
                  <a:gd name="T3" fmla="*/ 0 h 10"/>
                  <a:gd name="T4" fmla="*/ 11 w 19"/>
                  <a:gd name="T5" fmla="*/ 9 h 10"/>
                  <a:gd name="T6" fmla="*/ 19 w 19"/>
                  <a:gd name="T7" fmla="*/ 5 h 10"/>
                  <a:gd name="T8" fmla="*/ 9 w 19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0">
                    <a:moveTo>
                      <a:pt x="9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7"/>
                      <a:pt x="11" y="9"/>
                    </a:cubicBezTo>
                    <a:cubicBezTo>
                      <a:pt x="17" y="10"/>
                      <a:pt x="19" y="5"/>
                      <a:pt x="19" y="5"/>
                    </a:cubicBezTo>
                    <a:lnTo>
                      <a:pt x="9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íṩlîḋe"/>
              <p:cNvSpPr/>
              <p:nvPr/>
            </p:nvSpPr>
            <p:spPr bwMode="auto">
              <a:xfrm>
                <a:off x="6955421" y="5116656"/>
                <a:ext cx="734667" cy="424513"/>
              </a:xfrm>
              <a:custGeom>
                <a:avLst/>
                <a:gdLst>
                  <a:gd name="T0" fmla="*/ 167 w 204"/>
                  <a:gd name="T1" fmla="*/ 97 h 118"/>
                  <a:gd name="T2" fmla="*/ 36 w 204"/>
                  <a:gd name="T3" fmla="*/ 97 h 118"/>
                  <a:gd name="T4" fmla="*/ 36 w 204"/>
                  <a:gd name="T5" fmla="*/ 21 h 118"/>
                  <a:gd name="T6" fmla="*/ 167 w 204"/>
                  <a:gd name="T7" fmla="*/ 21 h 118"/>
                  <a:gd name="T8" fmla="*/ 167 w 204"/>
                  <a:gd name="T9" fmla="*/ 97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4" h="118">
                    <a:moveTo>
                      <a:pt x="167" y="97"/>
                    </a:moveTo>
                    <a:cubicBezTo>
                      <a:pt x="131" y="118"/>
                      <a:pt x="72" y="118"/>
                      <a:pt x="36" y="97"/>
                    </a:cubicBezTo>
                    <a:cubicBezTo>
                      <a:pt x="0" y="76"/>
                      <a:pt x="0" y="42"/>
                      <a:pt x="36" y="21"/>
                    </a:cubicBezTo>
                    <a:cubicBezTo>
                      <a:pt x="72" y="0"/>
                      <a:pt x="131" y="0"/>
                      <a:pt x="167" y="21"/>
                    </a:cubicBezTo>
                    <a:cubicBezTo>
                      <a:pt x="204" y="42"/>
                      <a:pt x="204" y="76"/>
                      <a:pt x="167" y="97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s1îḍé"/>
              <p:cNvSpPr/>
              <p:nvPr/>
            </p:nvSpPr>
            <p:spPr bwMode="auto">
              <a:xfrm>
                <a:off x="5016525" y="3411674"/>
                <a:ext cx="3224564" cy="1859193"/>
              </a:xfrm>
              <a:custGeom>
                <a:avLst/>
                <a:gdLst>
                  <a:gd name="T0" fmla="*/ 330 w 895"/>
                  <a:gd name="T1" fmla="*/ 512 h 517"/>
                  <a:gd name="T2" fmla="*/ 10 w 895"/>
                  <a:gd name="T3" fmla="*/ 327 h 517"/>
                  <a:gd name="T4" fmla="*/ 12 w 895"/>
                  <a:gd name="T5" fmla="*/ 306 h 517"/>
                  <a:gd name="T6" fmla="*/ 528 w 895"/>
                  <a:gd name="T7" fmla="*/ 7 h 517"/>
                  <a:gd name="T8" fmla="*/ 565 w 895"/>
                  <a:gd name="T9" fmla="*/ 5 h 517"/>
                  <a:gd name="T10" fmla="*/ 885 w 895"/>
                  <a:gd name="T11" fmla="*/ 190 h 517"/>
                  <a:gd name="T12" fmla="*/ 882 w 895"/>
                  <a:gd name="T13" fmla="*/ 211 h 517"/>
                  <a:gd name="T14" fmla="*/ 367 w 895"/>
                  <a:gd name="T15" fmla="*/ 510 h 517"/>
                  <a:gd name="T16" fmla="*/ 330 w 895"/>
                  <a:gd name="T17" fmla="*/ 512 h 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95" h="517">
                    <a:moveTo>
                      <a:pt x="330" y="512"/>
                    </a:moveTo>
                    <a:cubicBezTo>
                      <a:pt x="10" y="327"/>
                      <a:pt x="10" y="327"/>
                      <a:pt x="10" y="327"/>
                    </a:cubicBezTo>
                    <a:cubicBezTo>
                      <a:pt x="0" y="322"/>
                      <a:pt x="1" y="312"/>
                      <a:pt x="12" y="306"/>
                    </a:cubicBezTo>
                    <a:cubicBezTo>
                      <a:pt x="528" y="7"/>
                      <a:pt x="528" y="7"/>
                      <a:pt x="528" y="7"/>
                    </a:cubicBezTo>
                    <a:cubicBezTo>
                      <a:pt x="539" y="0"/>
                      <a:pt x="556" y="0"/>
                      <a:pt x="565" y="5"/>
                    </a:cubicBezTo>
                    <a:cubicBezTo>
                      <a:pt x="885" y="190"/>
                      <a:pt x="885" y="190"/>
                      <a:pt x="885" y="190"/>
                    </a:cubicBezTo>
                    <a:cubicBezTo>
                      <a:pt x="895" y="195"/>
                      <a:pt x="893" y="205"/>
                      <a:pt x="882" y="211"/>
                    </a:cubicBezTo>
                    <a:cubicBezTo>
                      <a:pt x="367" y="510"/>
                      <a:pt x="367" y="510"/>
                      <a:pt x="367" y="510"/>
                    </a:cubicBezTo>
                    <a:cubicBezTo>
                      <a:pt x="356" y="517"/>
                      <a:pt x="339" y="517"/>
                      <a:pt x="330" y="512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ïṩ1îḑé"/>
              <p:cNvSpPr/>
              <p:nvPr/>
            </p:nvSpPr>
            <p:spPr bwMode="auto">
              <a:xfrm>
                <a:off x="7203199" y="3262661"/>
                <a:ext cx="289362" cy="370799"/>
              </a:xfrm>
              <a:custGeom>
                <a:avLst/>
                <a:gdLst>
                  <a:gd name="T0" fmla="*/ 80 w 80"/>
                  <a:gd name="T1" fmla="*/ 0 h 103"/>
                  <a:gd name="T2" fmla="*/ 74 w 80"/>
                  <a:gd name="T3" fmla="*/ 73 h 103"/>
                  <a:gd name="T4" fmla="*/ 0 w 80"/>
                  <a:gd name="T5" fmla="*/ 51 h 103"/>
                  <a:gd name="T6" fmla="*/ 0 w 80"/>
                  <a:gd name="T7" fmla="*/ 18 h 103"/>
                  <a:gd name="T8" fmla="*/ 80 w 80"/>
                  <a:gd name="T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103">
                    <a:moveTo>
                      <a:pt x="80" y="0"/>
                    </a:moveTo>
                    <a:cubicBezTo>
                      <a:pt x="80" y="0"/>
                      <a:pt x="78" y="44"/>
                      <a:pt x="74" y="73"/>
                    </a:cubicBezTo>
                    <a:cubicBezTo>
                      <a:pt x="71" y="103"/>
                      <a:pt x="0" y="51"/>
                      <a:pt x="0" y="51"/>
                    </a:cubicBezTo>
                    <a:cubicBezTo>
                      <a:pt x="0" y="18"/>
                      <a:pt x="0" y="18"/>
                      <a:pt x="0" y="18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ślíḓè"/>
              <p:cNvSpPr/>
              <p:nvPr/>
            </p:nvSpPr>
            <p:spPr bwMode="auto">
              <a:xfrm>
                <a:off x="7139088" y="5116656"/>
                <a:ext cx="240847" cy="223520"/>
              </a:xfrm>
              <a:custGeom>
                <a:avLst/>
                <a:gdLst>
                  <a:gd name="T0" fmla="*/ 60 w 67"/>
                  <a:gd name="T1" fmla="*/ 29 h 62"/>
                  <a:gd name="T2" fmla="*/ 22 w 67"/>
                  <a:gd name="T3" fmla="*/ 59 h 62"/>
                  <a:gd name="T4" fmla="*/ 5 w 67"/>
                  <a:gd name="T5" fmla="*/ 62 h 62"/>
                  <a:gd name="T6" fmla="*/ 1 w 67"/>
                  <a:gd name="T7" fmla="*/ 54 h 62"/>
                  <a:gd name="T8" fmla="*/ 36 w 67"/>
                  <a:gd name="T9" fmla="*/ 16 h 62"/>
                  <a:gd name="T10" fmla="*/ 60 w 67"/>
                  <a:gd name="T11" fmla="*/ 29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" h="62">
                    <a:moveTo>
                      <a:pt x="60" y="29"/>
                    </a:moveTo>
                    <a:cubicBezTo>
                      <a:pt x="59" y="32"/>
                      <a:pt x="41" y="54"/>
                      <a:pt x="22" y="59"/>
                    </a:cubicBezTo>
                    <a:cubicBezTo>
                      <a:pt x="14" y="62"/>
                      <a:pt x="9" y="62"/>
                      <a:pt x="5" y="62"/>
                    </a:cubicBezTo>
                    <a:cubicBezTo>
                      <a:pt x="2" y="61"/>
                      <a:pt x="0" y="58"/>
                      <a:pt x="1" y="54"/>
                    </a:cubicBezTo>
                    <a:cubicBezTo>
                      <a:pt x="4" y="45"/>
                      <a:pt x="13" y="27"/>
                      <a:pt x="36" y="16"/>
                    </a:cubicBezTo>
                    <a:cubicBezTo>
                      <a:pt x="67" y="0"/>
                      <a:pt x="60" y="29"/>
                      <a:pt x="60" y="29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iŝḻïḑé"/>
              <p:cNvSpPr/>
              <p:nvPr/>
            </p:nvSpPr>
            <p:spPr bwMode="auto">
              <a:xfrm>
                <a:off x="7340082" y="5250073"/>
                <a:ext cx="133419" cy="223520"/>
              </a:xfrm>
              <a:custGeom>
                <a:avLst/>
                <a:gdLst>
                  <a:gd name="T0" fmla="*/ 10 w 37"/>
                  <a:gd name="T1" fmla="*/ 0 h 62"/>
                  <a:gd name="T2" fmla="*/ 1 w 37"/>
                  <a:gd name="T3" fmla="*/ 30 h 62"/>
                  <a:gd name="T4" fmla="*/ 8 w 37"/>
                  <a:gd name="T5" fmla="*/ 56 h 62"/>
                  <a:gd name="T6" fmla="*/ 20 w 37"/>
                  <a:gd name="T7" fmla="*/ 58 h 62"/>
                  <a:gd name="T8" fmla="*/ 35 w 37"/>
                  <a:gd name="T9" fmla="*/ 30 h 62"/>
                  <a:gd name="T10" fmla="*/ 35 w 37"/>
                  <a:gd name="T11" fmla="*/ 3 h 62"/>
                  <a:gd name="T12" fmla="*/ 10 w 37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62">
                    <a:moveTo>
                      <a:pt x="10" y="0"/>
                    </a:moveTo>
                    <a:cubicBezTo>
                      <a:pt x="10" y="0"/>
                      <a:pt x="3" y="17"/>
                      <a:pt x="1" y="30"/>
                    </a:cubicBezTo>
                    <a:cubicBezTo>
                      <a:pt x="0" y="38"/>
                      <a:pt x="4" y="49"/>
                      <a:pt x="8" y="56"/>
                    </a:cubicBezTo>
                    <a:cubicBezTo>
                      <a:pt x="10" y="61"/>
                      <a:pt x="16" y="62"/>
                      <a:pt x="20" y="58"/>
                    </a:cubicBezTo>
                    <a:cubicBezTo>
                      <a:pt x="26" y="53"/>
                      <a:pt x="34" y="43"/>
                      <a:pt x="35" y="30"/>
                    </a:cubicBezTo>
                    <a:cubicBezTo>
                      <a:pt x="37" y="7"/>
                      <a:pt x="35" y="3"/>
                      <a:pt x="35" y="3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íṧ1íḑé"/>
              <p:cNvSpPr/>
              <p:nvPr/>
            </p:nvSpPr>
            <p:spPr bwMode="auto">
              <a:xfrm>
                <a:off x="7132157" y="4177529"/>
                <a:ext cx="414117" cy="1119328"/>
              </a:xfrm>
              <a:custGeom>
                <a:avLst/>
                <a:gdLst>
                  <a:gd name="T0" fmla="*/ 112 w 115"/>
                  <a:gd name="T1" fmla="*/ 23 h 311"/>
                  <a:gd name="T2" fmla="*/ 112 w 115"/>
                  <a:gd name="T3" fmla="*/ 83 h 311"/>
                  <a:gd name="T4" fmla="*/ 100 w 115"/>
                  <a:gd name="T5" fmla="*/ 300 h 311"/>
                  <a:gd name="T6" fmla="*/ 79 w 115"/>
                  <a:gd name="T7" fmla="*/ 308 h 311"/>
                  <a:gd name="T8" fmla="*/ 60 w 115"/>
                  <a:gd name="T9" fmla="*/ 294 h 311"/>
                  <a:gd name="T10" fmla="*/ 30 w 115"/>
                  <a:gd name="T11" fmla="*/ 276 h 311"/>
                  <a:gd name="T12" fmla="*/ 0 w 115"/>
                  <a:gd name="T13" fmla="*/ 0 h 311"/>
                  <a:gd name="T14" fmla="*/ 112 w 115"/>
                  <a:gd name="T15" fmla="*/ 23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311">
                    <a:moveTo>
                      <a:pt x="112" y="23"/>
                    </a:moveTo>
                    <a:cubicBezTo>
                      <a:pt x="112" y="23"/>
                      <a:pt x="115" y="51"/>
                      <a:pt x="112" y="83"/>
                    </a:cubicBezTo>
                    <a:cubicBezTo>
                      <a:pt x="110" y="115"/>
                      <a:pt x="101" y="264"/>
                      <a:pt x="100" y="300"/>
                    </a:cubicBezTo>
                    <a:cubicBezTo>
                      <a:pt x="100" y="300"/>
                      <a:pt x="100" y="311"/>
                      <a:pt x="79" y="308"/>
                    </a:cubicBezTo>
                    <a:cubicBezTo>
                      <a:pt x="58" y="306"/>
                      <a:pt x="60" y="294"/>
                      <a:pt x="60" y="294"/>
                    </a:cubicBezTo>
                    <a:cubicBezTo>
                      <a:pt x="60" y="294"/>
                      <a:pt x="31" y="293"/>
                      <a:pt x="30" y="276"/>
                    </a:cubicBezTo>
                    <a:cubicBezTo>
                      <a:pt x="29" y="259"/>
                      <a:pt x="0" y="68"/>
                      <a:pt x="0" y="0"/>
                    </a:cubicBezTo>
                    <a:lnTo>
                      <a:pt x="112" y="23"/>
                    </a:ln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isľïḋê"/>
              <p:cNvSpPr/>
              <p:nvPr/>
            </p:nvSpPr>
            <p:spPr bwMode="auto">
              <a:xfrm>
                <a:off x="7048987" y="3723560"/>
                <a:ext cx="119557" cy="374264"/>
              </a:xfrm>
              <a:custGeom>
                <a:avLst/>
                <a:gdLst>
                  <a:gd name="T0" fmla="*/ 69 w 69"/>
                  <a:gd name="T1" fmla="*/ 0 h 216"/>
                  <a:gd name="T2" fmla="*/ 33 w 69"/>
                  <a:gd name="T3" fmla="*/ 216 h 216"/>
                  <a:gd name="T4" fmla="*/ 0 w 69"/>
                  <a:gd name="T5" fmla="*/ 216 h 216"/>
                  <a:gd name="T6" fmla="*/ 4 w 69"/>
                  <a:gd name="T7" fmla="*/ 17 h 216"/>
                  <a:gd name="T8" fmla="*/ 69 w 69"/>
                  <a:gd name="T9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216">
                    <a:moveTo>
                      <a:pt x="69" y="0"/>
                    </a:moveTo>
                    <a:lnTo>
                      <a:pt x="33" y="216"/>
                    </a:lnTo>
                    <a:lnTo>
                      <a:pt x="0" y="216"/>
                    </a:lnTo>
                    <a:lnTo>
                      <a:pt x="4" y="17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Sľíďe"/>
              <p:cNvSpPr/>
              <p:nvPr/>
            </p:nvSpPr>
            <p:spPr bwMode="auto">
              <a:xfrm>
                <a:off x="7031660" y="3389148"/>
                <a:ext cx="161142" cy="438375"/>
              </a:xfrm>
              <a:custGeom>
                <a:avLst/>
                <a:gdLst>
                  <a:gd name="T0" fmla="*/ 45 w 45"/>
                  <a:gd name="T1" fmla="*/ 1 h 122"/>
                  <a:gd name="T2" fmla="*/ 14 w 45"/>
                  <a:gd name="T3" fmla="*/ 33 h 122"/>
                  <a:gd name="T4" fmla="*/ 7 w 45"/>
                  <a:gd name="T5" fmla="*/ 111 h 122"/>
                  <a:gd name="T6" fmla="*/ 41 w 45"/>
                  <a:gd name="T7" fmla="*/ 110 h 122"/>
                  <a:gd name="T8" fmla="*/ 45 w 45"/>
                  <a:gd name="T9" fmla="*/ 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122">
                    <a:moveTo>
                      <a:pt x="45" y="1"/>
                    </a:moveTo>
                    <a:cubicBezTo>
                      <a:pt x="45" y="1"/>
                      <a:pt x="22" y="0"/>
                      <a:pt x="14" y="33"/>
                    </a:cubicBezTo>
                    <a:cubicBezTo>
                      <a:pt x="6" y="66"/>
                      <a:pt x="0" y="108"/>
                      <a:pt x="7" y="111"/>
                    </a:cubicBezTo>
                    <a:cubicBezTo>
                      <a:pt x="27" y="122"/>
                      <a:pt x="41" y="110"/>
                      <a:pt x="41" y="110"/>
                    </a:cubicBezTo>
                    <a:lnTo>
                      <a:pt x="45" y="1"/>
                    </a:ln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îṣliḍê"/>
              <p:cNvSpPr/>
              <p:nvPr/>
            </p:nvSpPr>
            <p:spPr bwMode="auto">
              <a:xfrm>
                <a:off x="7081909" y="3389148"/>
                <a:ext cx="561397" cy="972048"/>
              </a:xfrm>
              <a:custGeom>
                <a:avLst/>
                <a:gdLst>
                  <a:gd name="T0" fmla="*/ 24 w 156"/>
                  <a:gd name="T1" fmla="*/ 2 h 270"/>
                  <a:gd name="T2" fmla="*/ 36 w 156"/>
                  <a:gd name="T3" fmla="*/ 1 h 270"/>
                  <a:gd name="T4" fmla="*/ 142 w 156"/>
                  <a:gd name="T5" fmla="*/ 39 h 270"/>
                  <a:gd name="T6" fmla="*/ 121 w 156"/>
                  <a:gd name="T7" fmla="*/ 140 h 270"/>
                  <a:gd name="T8" fmla="*/ 126 w 156"/>
                  <a:gd name="T9" fmla="*/ 212 h 270"/>
                  <a:gd name="T10" fmla="*/ 111 w 156"/>
                  <a:gd name="T11" fmla="*/ 260 h 270"/>
                  <a:gd name="T12" fmla="*/ 33 w 156"/>
                  <a:gd name="T13" fmla="*/ 251 h 270"/>
                  <a:gd name="T14" fmla="*/ 13 w 156"/>
                  <a:gd name="T15" fmla="*/ 205 h 270"/>
                  <a:gd name="T16" fmla="*/ 22 w 156"/>
                  <a:gd name="T17" fmla="*/ 114 h 270"/>
                  <a:gd name="T18" fmla="*/ 7 w 156"/>
                  <a:gd name="T19" fmla="*/ 97 h 270"/>
                  <a:gd name="T20" fmla="*/ 17 w 156"/>
                  <a:gd name="T21" fmla="*/ 52 h 270"/>
                  <a:gd name="T22" fmla="*/ 15 w 156"/>
                  <a:gd name="T23" fmla="*/ 12 h 270"/>
                  <a:gd name="T24" fmla="*/ 24 w 156"/>
                  <a:gd name="T25" fmla="*/ 2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6" h="270">
                    <a:moveTo>
                      <a:pt x="24" y="2"/>
                    </a:moveTo>
                    <a:cubicBezTo>
                      <a:pt x="28" y="1"/>
                      <a:pt x="32" y="0"/>
                      <a:pt x="36" y="1"/>
                    </a:cubicBezTo>
                    <a:cubicBezTo>
                      <a:pt x="56" y="7"/>
                      <a:pt x="129" y="29"/>
                      <a:pt x="142" y="39"/>
                    </a:cubicBezTo>
                    <a:cubicBezTo>
                      <a:pt x="156" y="51"/>
                      <a:pt x="121" y="118"/>
                      <a:pt x="121" y="140"/>
                    </a:cubicBezTo>
                    <a:cubicBezTo>
                      <a:pt x="122" y="162"/>
                      <a:pt x="124" y="188"/>
                      <a:pt x="126" y="212"/>
                    </a:cubicBezTo>
                    <a:cubicBezTo>
                      <a:pt x="128" y="236"/>
                      <a:pt x="131" y="249"/>
                      <a:pt x="111" y="260"/>
                    </a:cubicBezTo>
                    <a:cubicBezTo>
                      <a:pt x="91" y="270"/>
                      <a:pt x="58" y="270"/>
                      <a:pt x="33" y="251"/>
                    </a:cubicBezTo>
                    <a:cubicBezTo>
                      <a:pt x="8" y="232"/>
                      <a:pt x="12" y="219"/>
                      <a:pt x="13" y="205"/>
                    </a:cubicBezTo>
                    <a:cubicBezTo>
                      <a:pt x="14" y="191"/>
                      <a:pt x="23" y="131"/>
                      <a:pt x="22" y="114"/>
                    </a:cubicBezTo>
                    <a:cubicBezTo>
                      <a:pt x="22" y="114"/>
                      <a:pt x="13" y="108"/>
                      <a:pt x="7" y="97"/>
                    </a:cubicBezTo>
                    <a:cubicBezTo>
                      <a:pt x="0" y="86"/>
                      <a:pt x="12" y="65"/>
                      <a:pt x="17" y="52"/>
                    </a:cubicBezTo>
                    <a:cubicBezTo>
                      <a:pt x="21" y="38"/>
                      <a:pt x="14" y="23"/>
                      <a:pt x="15" y="12"/>
                    </a:cubicBezTo>
                    <a:cubicBezTo>
                      <a:pt x="16" y="7"/>
                      <a:pt x="20" y="4"/>
                      <a:pt x="24" y="2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ísļiḍè"/>
              <p:cNvSpPr/>
              <p:nvPr/>
            </p:nvSpPr>
            <p:spPr bwMode="auto">
              <a:xfrm>
                <a:off x="7246516" y="3406475"/>
                <a:ext cx="209658" cy="169805"/>
              </a:xfrm>
              <a:custGeom>
                <a:avLst/>
                <a:gdLst>
                  <a:gd name="T0" fmla="*/ 1 w 58"/>
                  <a:gd name="T1" fmla="*/ 20 h 47"/>
                  <a:gd name="T2" fmla="*/ 26 w 58"/>
                  <a:gd name="T3" fmla="*/ 46 h 47"/>
                  <a:gd name="T4" fmla="*/ 57 w 58"/>
                  <a:gd name="T5" fmla="*/ 27 h 47"/>
                  <a:gd name="T6" fmla="*/ 32 w 58"/>
                  <a:gd name="T7" fmla="*/ 2 h 47"/>
                  <a:gd name="T8" fmla="*/ 1 w 58"/>
                  <a:gd name="T9" fmla="*/ 2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47">
                    <a:moveTo>
                      <a:pt x="1" y="20"/>
                    </a:moveTo>
                    <a:cubicBezTo>
                      <a:pt x="0" y="32"/>
                      <a:pt x="11" y="44"/>
                      <a:pt x="26" y="46"/>
                    </a:cubicBezTo>
                    <a:cubicBezTo>
                      <a:pt x="42" y="47"/>
                      <a:pt x="55" y="39"/>
                      <a:pt x="57" y="27"/>
                    </a:cubicBezTo>
                    <a:cubicBezTo>
                      <a:pt x="58" y="15"/>
                      <a:pt x="47" y="4"/>
                      <a:pt x="32" y="2"/>
                    </a:cubicBezTo>
                    <a:cubicBezTo>
                      <a:pt x="17" y="0"/>
                      <a:pt x="3" y="8"/>
                      <a:pt x="1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iśļídé"/>
              <p:cNvSpPr/>
              <p:nvPr/>
            </p:nvSpPr>
            <p:spPr bwMode="auto">
              <a:xfrm>
                <a:off x="7275972" y="3432466"/>
                <a:ext cx="150746" cy="123023"/>
              </a:xfrm>
              <a:custGeom>
                <a:avLst/>
                <a:gdLst>
                  <a:gd name="T0" fmla="*/ 1 w 42"/>
                  <a:gd name="T1" fmla="*/ 14 h 34"/>
                  <a:gd name="T2" fmla="*/ 19 w 42"/>
                  <a:gd name="T3" fmla="*/ 32 h 34"/>
                  <a:gd name="T4" fmla="*/ 41 w 42"/>
                  <a:gd name="T5" fmla="*/ 19 h 34"/>
                  <a:gd name="T6" fmla="*/ 23 w 42"/>
                  <a:gd name="T7" fmla="*/ 1 h 34"/>
                  <a:gd name="T8" fmla="*/ 1 w 42"/>
                  <a:gd name="T9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34">
                    <a:moveTo>
                      <a:pt x="1" y="14"/>
                    </a:moveTo>
                    <a:cubicBezTo>
                      <a:pt x="0" y="23"/>
                      <a:pt x="8" y="31"/>
                      <a:pt x="19" y="32"/>
                    </a:cubicBezTo>
                    <a:cubicBezTo>
                      <a:pt x="30" y="34"/>
                      <a:pt x="40" y="28"/>
                      <a:pt x="41" y="19"/>
                    </a:cubicBezTo>
                    <a:cubicBezTo>
                      <a:pt x="42" y="10"/>
                      <a:pt x="34" y="2"/>
                      <a:pt x="23" y="1"/>
                    </a:cubicBezTo>
                    <a:cubicBezTo>
                      <a:pt x="12" y="0"/>
                      <a:pt x="2" y="5"/>
                      <a:pt x="1" y="14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îṡḻîḍé"/>
              <p:cNvSpPr/>
              <p:nvPr/>
            </p:nvSpPr>
            <p:spPr bwMode="auto">
              <a:xfrm>
                <a:off x="7293300" y="3342365"/>
                <a:ext cx="102230" cy="150746"/>
              </a:xfrm>
              <a:custGeom>
                <a:avLst/>
                <a:gdLst>
                  <a:gd name="T0" fmla="*/ 7 w 28"/>
                  <a:gd name="T1" fmla="*/ 11 h 42"/>
                  <a:gd name="T2" fmla="*/ 23 w 28"/>
                  <a:gd name="T3" fmla="*/ 5 h 42"/>
                  <a:gd name="T4" fmla="*/ 28 w 28"/>
                  <a:gd name="T5" fmla="*/ 35 h 42"/>
                  <a:gd name="T6" fmla="*/ 1 w 28"/>
                  <a:gd name="T7" fmla="*/ 42 h 42"/>
                  <a:gd name="T8" fmla="*/ 5 w 28"/>
                  <a:gd name="T9" fmla="*/ 18 h 42"/>
                  <a:gd name="T10" fmla="*/ 7 w 28"/>
                  <a:gd name="T11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42">
                    <a:moveTo>
                      <a:pt x="7" y="11"/>
                    </a:moveTo>
                    <a:cubicBezTo>
                      <a:pt x="7" y="11"/>
                      <a:pt x="20" y="0"/>
                      <a:pt x="23" y="5"/>
                    </a:cubicBezTo>
                    <a:cubicBezTo>
                      <a:pt x="26" y="11"/>
                      <a:pt x="28" y="35"/>
                      <a:pt x="28" y="35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0" y="13"/>
                      <a:pt x="7" y="11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íṩ1íḓé"/>
              <p:cNvSpPr/>
              <p:nvPr/>
            </p:nvSpPr>
            <p:spPr bwMode="auto">
              <a:xfrm>
                <a:off x="7168545" y="3134441"/>
                <a:ext cx="291095" cy="291095"/>
              </a:xfrm>
              <a:custGeom>
                <a:avLst/>
                <a:gdLst>
                  <a:gd name="T0" fmla="*/ 1 w 81"/>
                  <a:gd name="T1" fmla="*/ 43 h 81"/>
                  <a:gd name="T2" fmla="*/ 43 w 81"/>
                  <a:gd name="T3" fmla="*/ 80 h 81"/>
                  <a:gd name="T4" fmla="*/ 80 w 81"/>
                  <a:gd name="T5" fmla="*/ 38 h 81"/>
                  <a:gd name="T6" fmla="*/ 38 w 81"/>
                  <a:gd name="T7" fmla="*/ 1 h 81"/>
                  <a:gd name="T8" fmla="*/ 1 w 81"/>
                  <a:gd name="T9" fmla="*/ 4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81">
                    <a:moveTo>
                      <a:pt x="1" y="43"/>
                    </a:moveTo>
                    <a:cubicBezTo>
                      <a:pt x="2" y="64"/>
                      <a:pt x="21" y="81"/>
                      <a:pt x="43" y="80"/>
                    </a:cubicBezTo>
                    <a:cubicBezTo>
                      <a:pt x="64" y="78"/>
                      <a:pt x="81" y="60"/>
                      <a:pt x="80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6" y="2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ïṧḻïḋê"/>
              <p:cNvSpPr/>
              <p:nvPr/>
            </p:nvSpPr>
            <p:spPr bwMode="auto">
              <a:xfrm>
                <a:off x="7301963" y="3375286"/>
                <a:ext cx="86635" cy="97032"/>
              </a:xfrm>
              <a:custGeom>
                <a:avLst/>
                <a:gdLst>
                  <a:gd name="T0" fmla="*/ 23 w 24"/>
                  <a:gd name="T1" fmla="*/ 3 h 27"/>
                  <a:gd name="T2" fmla="*/ 24 w 24"/>
                  <a:gd name="T3" fmla="*/ 7 h 27"/>
                  <a:gd name="T4" fmla="*/ 0 w 24"/>
                  <a:gd name="T5" fmla="*/ 27 h 27"/>
                  <a:gd name="T6" fmla="*/ 3 w 24"/>
                  <a:gd name="T7" fmla="*/ 9 h 27"/>
                  <a:gd name="T8" fmla="*/ 2 w 24"/>
                  <a:gd name="T9" fmla="*/ 4 h 27"/>
                  <a:gd name="T10" fmla="*/ 23 w 24"/>
                  <a:gd name="T11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4"/>
                      <a:pt x="23" y="6"/>
                      <a:pt x="24" y="7"/>
                    </a:cubicBezTo>
                    <a:cubicBezTo>
                      <a:pt x="21" y="21"/>
                      <a:pt x="0" y="27"/>
                      <a:pt x="0" y="27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1" y="6"/>
                      <a:pt x="2" y="4"/>
                    </a:cubicBezTo>
                    <a:cubicBezTo>
                      <a:pt x="10" y="2"/>
                      <a:pt x="20" y="0"/>
                      <a:pt x="23" y="3"/>
                    </a:cubicBez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íṡľíďè"/>
              <p:cNvSpPr/>
              <p:nvPr/>
            </p:nvSpPr>
            <p:spPr bwMode="auto">
              <a:xfrm>
                <a:off x="7168545" y="3134441"/>
                <a:ext cx="291095" cy="291095"/>
              </a:xfrm>
              <a:custGeom>
                <a:avLst/>
                <a:gdLst>
                  <a:gd name="T0" fmla="*/ 1 w 81"/>
                  <a:gd name="T1" fmla="*/ 43 h 81"/>
                  <a:gd name="T2" fmla="*/ 43 w 81"/>
                  <a:gd name="T3" fmla="*/ 80 h 81"/>
                  <a:gd name="T4" fmla="*/ 80 w 81"/>
                  <a:gd name="T5" fmla="*/ 38 h 81"/>
                  <a:gd name="T6" fmla="*/ 38 w 81"/>
                  <a:gd name="T7" fmla="*/ 1 h 81"/>
                  <a:gd name="T8" fmla="*/ 1 w 81"/>
                  <a:gd name="T9" fmla="*/ 4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81">
                    <a:moveTo>
                      <a:pt x="1" y="43"/>
                    </a:moveTo>
                    <a:cubicBezTo>
                      <a:pt x="2" y="64"/>
                      <a:pt x="21" y="81"/>
                      <a:pt x="43" y="80"/>
                    </a:cubicBezTo>
                    <a:cubicBezTo>
                      <a:pt x="64" y="78"/>
                      <a:pt x="81" y="60"/>
                      <a:pt x="80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6" y="2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ïSļïďê"/>
              <p:cNvSpPr/>
              <p:nvPr/>
            </p:nvSpPr>
            <p:spPr bwMode="auto">
              <a:xfrm>
                <a:off x="7553205" y="3879504"/>
                <a:ext cx="109161" cy="384661"/>
              </a:xfrm>
              <a:custGeom>
                <a:avLst/>
                <a:gdLst>
                  <a:gd name="T0" fmla="*/ 63 w 63"/>
                  <a:gd name="T1" fmla="*/ 0 h 222"/>
                  <a:gd name="T2" fmla="*/ 54 w 63"/>
                  <a:gd name="T3" fmla="*/ 218 h 222"/>
                  <a:gd name="T4" fmla="*/ 21 w 63"/>
                  <a:gd name="T5" fmla="*/ 222 h 222"/>
                  <a:gd name="T6" fmla="*/ 0 w 63"/>
                  <a:gd name="T7" fmla="*/ 24 h 222"/>
                  <a:gd name="T8" fmla="*/ 63 w 63"/>
                  <a:gd name="T9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22">
                    <a:moveTo>
                      <a:pt x="63" y="0"/>
                    </a:moveTo>
                    <a:lnTo>
                      <a:pt x="54" y="218"/>
                    </a:lnTo>
                    <a:lnTo>
                      <a:pt x="21" y="222"/>
                    </a:lnTo>
                    <a:lnTo>
                      <a:pt x="0" y="24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ís1ïḓè"/>
              <p:cNvSpPr/>
              <p:nvPr/>
            </p:nvSpPr>
            <p:spPr bwMode="auto">
              <a:xfrm>
                <a:off x="7463105" y="3586676"/>
                <a:ext cx="86635" cy="457434"/>
              </a:xfrm>
              <a:custGeom>
                <a:avLst/>
                <a:gdLst>
                  <a:gd name="T0" fmla="*/ 5 w 24"/>
                  <a:gd name="T1" fmla="*/ 72 h 127"/>
                  <a:gd name="T2" fmla="*/ 20 w 24"/>
                  <a:gd name="T3" fmla="*/ 0 h 127"/>
                  <a:gd name="T4" fmla="*/ 24 w 24"/>
                  <a:gd name="T5" fmla="*/ 49 h 127"/>
                  <a:gd name="T6" fmla="*/ 15 w 24"/>
                  <a:gd name="T7" fmla="*/ 85 h 127"/>
                  <a:gd name="T8" fmla="*/ 17 w 24"/>
                  <a:gd name="T9" fmla="*/ 127 h 127"/>
                  <a:gd name="T10" fmla="*/ 17 w 24"/>
                  <a:gd name="T11" fmla="*/ 127 h 127"/>
                  <a:gd name="T12" fmla="*/ 5 w 24"/>
                  <a:gd name="T13" fmla="*/ 72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7">
                    <a:moveTo>
                      <a:pt x="5" y="72"/>
                    </a:moveTo>
                    <a:cubicBezTo>
                      <a:pt x="10" y="50"/>
                      <a:pt x="20" y="0"/>
                      <a:pt x="20" y="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19" y="64"/>
                      <a:pt x="15" y="78"/>
                      <a:pt x="15" y="85"/>
                    </a:cubicBezTo>
                    <a:cubicBezTo>
                      <a:pt x="15" y="98"/>
                      <a:pt x="16" y="113"/>
                      <a:pt x="17" y="127"/>
                    </a:cubicBezTo>
                    <a:cubicBezTo>
                      <a:pt x="17" y="127"/>
                      <a:pt x="17" y="127"/>
                      <a:pt x="17" y="127"/>
                    </a:cubicBezTo>
                    <a:cubicBezTo>
                      <a:pt x="17" y="127"/>
                      <a:pt x="0" y="95"/>
                      <a:pt x="5" y="72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iS1îďê"/>
              <p:cNvSpPr/>
              <p:nvPr/>
            </p:nvSpPr>
            <p:spPr bwMode="auto">
              <a:xfrm>
                <a:off x="7528947" y="3522567"/>
                <a:ext cx="164608" cy="474761"/>
              </a:xfrm>
              <a:custGeom>
                <a:avLst/>
                <a:gdLst>
                  <a:gd name="T0" fmla="*/ 15 w 46"/>
                  <a:gd name="T1" fmla="*/ 0 h 132"/>
                  <a:gd name="T2" fmla="*/ 34 w 46"/>
                  <a:gd name="T3" fmla="*/ 42 h 132"/>
                  <a:gd name="T4" fmla="*/ 34 w 46"/>
                  <a:gd name="T5" fmla="*/ 123 h 132"/>
                  <a:gd name="T6" fmla="*/ 7 w 46"/>
                  <a:gd name="T7" fmla="*/ 121 h 132"/>
                  <a:gd name="T8" fmla="*/ 1 w 46"/>
                  <a:gd name="T9" fmla="*/ 45 h 132"/>
                  <a:gd name="T10" fmla="*/ 15 w 46"/>
                  <a:gd name="T11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132">
                    <a:moveTo>
                      <a:pt x="15" y="0"/>
                    </a:moveTo>
                    <a:cubicBezTo>
                      <a:pt x="15" y="0"/>
                      <a:pt x="27" y="5"/>
                      <a:pt x="34" y="42"/>
                    </a:cubicBezTo>
                    <a:cubicBezTo>
                      <a:pt x="41" y="80"/>
                      <a:pt x="46" y="118"/>
                      <a:pt x="34" y="123"/>
                    </a:cubicBezTo>
                    <a:cubicBezTo>
                      <a:pt x="21" y="128"/>
                      <a:pt x="11" y="132"/>
                      <a:pt x="7" y="121"/>
                    </a:cubicBezTo>
                    <a:cubicBezTo>
                      <a:pt x="4" y="111"/>
                      <a:pt x="1" y="63"/>
                      <a:pt x="1" y="45"/>
                    </a:cubicBezTo>
                    <a:cubicBezTo>
                      <a:pt x="0" y="27"/>
                      <a:pt x="0" y="3"/>
                      <a:pt x="15" y="0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ïšľïdé"/>
              <p:cNvSpPr/>
              <p:nvPr/>
            </p:nvSpPr>
            <p:spPr bwMode="auto">
              <a:xfrm>
                <a:off x="7298497" y="4397582"/>
                <a:ext cx="50249" cy="838629"/>
              </a:xfrm>
              <a:custGeom>
                <a:avLst/>
                <a:gdLst>
                  <a:gd name="T0" fmla="*/ 14 w 14"/>
                  <a:gd name="T1" fmla="*/ 233 h 233"/>
                  <a:gd name="T2" fmla="*/ 6 w 14"/>
                  <a:gd name="T3" fmla="*/ 232 h 233"/>
                  <a:gd name="T4" fmla="*/ 6 w 14"/>
                  <a:gd name="T5" fmla="*/ 232 h 233"/>
                  <a:gd name="T6" fmla="*/ 0 w 14"/>
                  <a:gd name="T7" fmla="*/ 0 h 233"/>
                  <a:gd name="T8" fmla="*/ 14 w 14"/>
                  <a:gd name="T9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33">
                    <a:moveTo>
                      <a:pt x="14" y="233"/>
                    </a:moveTo>
                    <a:cubicBezTo>
                      <a:pt x="14" y="233"/>
                      <a:pt x="11" y="233"/>
                      <a:pt x="6" y="232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4" y="233"/>
                    </a:lnTo>
                    <a:close/>
                  </a:path>
                </a:pathLst>
              </a:custGeom>
              <a:solidFill>
                <a:srgbClr val="D88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s1îdé"/>
              <p:cNvSpPr/>
              <p:nvPr/>
            </p:nvSpPr>
            <p:spPr bwMode="auto">
              <a:xfrm>
                <a:off x="7405925" y="4241639"/>
                <a:ext cx="400256" cy="544070"/>
              </a:xfrm>
              <a:custGeom>
                <a:avLst/>
                <a:gdLst>
                  <a:gd name="T0" fmla="*/ 6 w 111"/>
                  <a:gd name="T1" fmla="*/ 151 h 151"/>
                  <a:gd name="T2" fmla="*/ 15 w 111"/>
                  <a:gd name="T3" fmla="*/ 140 h 151"/>
                  <a:gd name="T4" fmla="*/ 101 w 111"/>
                  <a:gd name="T5" fmla="*/ 90 h 151"/>
                  <a:gd name="T6" fmla="*/ 106 w 111"/>
                  <a:gd name="T7" fmla="*/ 81 h 151"/>
                  <a:gd name="T8" fmla="*/ 106 w 111"/>
                  <a:gd name="T9" fmla="*/ 10 h 151"/>
                  <a:gd name="T10" fmla="*/ 111 w 111"/>
                  <a:gd name="T11" fmla="*/ 4 h 151"/>
                  <a:gd name="T12" fmla="*/ 106 w 111"/>
                  <a:gd name="T13" fmla="*/ 1 h 151"/>
                  <a:gd name="T14" fmla="*/ 106 w 111"/>
                  <a:gd name="T15" fmla="*/ 1 h 151"/>
                  <a:gd name="T16" fmla="*/ 103 w 111"/>
                  <a:gd name="T17" fmla="*/ 1 h 151"/>
                  <a:gd name="T18" fmla="*/ 5 w 111"/>
                  <a:gd name="T19" fmla="*/ 58 h 151"/>
                  <a:gd name="T20" fmla="*/ 0 w 111"/>
                  <a:gd name="T21" fmla="*/ 67 h 151"/>
                  <a:gd name="T22" fmla="*/ 0 w 111"/>
                  <a:gd name="T23" fmla="*/ 144 h 151"/>
                  <a:gd name="T24" fmla="*/ 2 w 111"/>
                  <a:gd name="T25" fmla="*/ 148 h 151"/>
                  <a:gd name="T26" fmla="*/ 2 w 111"/>
                  <a:gd name="T27" fmla="*/ 148 h 151"/>
                  <a:gd name="T28" fmla="*/ 6 w 111"/>
                  <a:gd name="T2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151">
                    <a:moveTo>
                      <a:pt x="6" y="151"/>
                    </a:moveTo>
                    <a:cubicBezTo>
                      <a:pt x="15" y="140"/>
                      <a:pt x="15" y="140"/>
                      <a:pt x="15" y="140"/>
                    </a:cubicBezTo>
                    <a:cubicBezTo>
                      <a:pt x="101" y="90"/>
                      <a:pt x="101" y="90"/>
                      <a:pt x="101" y="90"/>
                    </a:cubicBezTo>
                    <a:cubicBezTo>
                      <a:pt x="104" y="89"/>
                      <a:pt x="106" y="84"/>
                      <a:pt x="106" y="81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5" y="0"/>
                      <a:pt x="104" y="0"/>
                      <a:pt x="103" y="1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2" y="59"/>
                      <a:pt x="0" y="64"/>
                      <a:pt x="0" y="67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46"/>
                      <a:pt x="1" y="148"/>
                      <a:pt x="2" y="148"/>
                    </a:cubicBezTo>
                    <a:cubicBezTo>
                      <a:pt x="2" y="148"/>
                      <a:pt x="2" y="148"/>
                      <a:pt x="2" y="148"/>
                    </a:cubicBezTo>
                    <a:lnTo>
                      <a:pt x="6" y="151"/>
                    </a:ln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iśľîḑè"/>
              <p:cNvSpPr/>
              <p:nvPr/>
            </p:nvSpPr>
            <p:spPr bwMode="auto">
              <a:xfrm>
                <a:off x="7409390" y="4241639"/>
                <a:ext cx="396790" cy="396790"/>
              </a:xfrm>
              <a:custGeom>
                <a:avLst/>
                <a:gdLst>
                  <a:gd name="T0" fmla="*/ 65 w 110"/>
                  <a:gd name="T1" fmla="*/ 110 h 110"/>
                  <a:gd name="T2" fmla="*/ 71 w 110"/>
                  <a:gd name="T3" fmla="*/ 107 h 110"/>
                  <a:gd name="T4" fmla="*/ 105 w 110"/>
                  <a:gd name="T5" fmla="*/ 48 h 110"/>
                  <a:gd name="T6" fmla="*/ 105 w 110"/>
                  <a:gd name="T7" fmla="*/ 10 h 110"/>
                  <a:gd name="T8" fmla="*/ 110 w 110"/>
                  <a:gd name="T9" fmla="*/ 4 h 110"/>
                  <a:gd name="T10" fmla="*/ 105 w 110"/>
                  <a:gd name="T11" fmla="*/ 1 h 110"/>
                  <a:gd name="T12" fmla="*/ 105 w 110"/>
                  <a:gd name="T13" fmla="*/ 1 h 110"/>
                  <a:gd name="T14" fmla="*/ 102 w 110"/>
                  <a:gd name="T15" fmla="*/ 1 h 110"/>
                  <a:gd name="T16" fmla="*/ 4 w 110"/>
                  <a:gd name="T17" fmla="*/ 58 h 110"/>
                  <a:gd name="T18" fmla="*/ 0 w 110"/>
                  <a:gd name="T19" fmla="*/ 62 h 110"/>
                  <a:gd name="T20" fmla="*/ 65 w 110"/>
                  <a:gd name="T21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" h="110">
                    <a:moveTo>
                      <a:pt x="65" y="110"/>
                    </a:moveTo>
                    <a:cubicBezTo>
                      <a:pt x="71" y="107"/>
                      <a:pt x="71" y="107"/>
                      <a:pt x="71" y="107"/>
                    </a:cubicBezTo>
                    <a:cubicBezTo>
                      <a:pt x="105" y="48"/>
                      <a:pt x="105" y="48"/>
                      <a:pt x="105" y="48"/>
                    </a:cubicBezTo>
                    <a:cubicBezTo>
                      <a:pt x="105" y="10"/>
                      <a:pt x="105" y="10"/>
                      <a:pt x="105" y="10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4" y="0"/>
                      <a:pt x="103" y="0"/>
                      <a:pt x="102" y="1"/>
                    </a:cubicBezTo>
                    <a:cubicBezTo>
                      <a:pt x="4" y="58"/>
                      <a:pt x="4" y="58"/>
                      <a:pt x="4" y="58"/>
                    </a:cubicBezTo>
                    <a:cubicBezTo>
                      <a:pt x="3" y="58"/>
                      <a:pt x="1" y="60"/>
                      <a:pt x="0" y="62"/>
                    </a:cubicBezTo>
                    <a:lnTo>
                      <a:pt x="65" y="110"/>
                    </a:lnTo>
                    <a:close/>
                  </a:path>
                </a:pathLst>
              </a:custGeom>
              <a:solidFill>
                <a:srgbClr val="D29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ïṡļidé"/>
              <p:cNvSpPr/>
              <p:nvPr/>
            </p:nvSpPr>
            <p:spPr bwMode="auto">
              <a:xfrm>
                <a:off x="7769793" y="4241639"/>
                <a:ext cx="36387" cy="22526"/>
              </a:xfrm>
              <a:custGeom>
                <a:avLst/>
                <a:gdLst>
                  <a:gd name="T0" fmla="*/ 8 w 10"/>
                  <a:gd name="T1" fmla="*/ 6 h 6"/>
                  <a:gd name="T2" fmla="*/ 10 w 10"/>
                  <a:gd name="T3" fmla="*/ 4 h 6"/>
                  <a:gd name="T4" fmla="*/ 5 w 10"/>
                  <a:gd name="T5" fmla="*/ 1 h 6"/>
                  <a:gd name="T6" fmla="*/ 5 w 10"/>
                  <a:gd name="T7" fmla="*/ 1 h 6"/>
                  <a:gd name="T8" fmla="*/ 2 w 10"/>
                  <a:gd name="T9" fmla="*/ 1 h 6"/>
                  <a:gd name="T10" fmla="*/ 0 w 10"/>
                  <a:gd name="T11" fmla="*/ 2 h 6"/>
                  <a:gd name="T12" fmla="*/ 8 w 10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6">
                    <a:moveTo>
                      <a:pt x="8" y="6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D29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îš1íďe"/>
              <p:cNvSpPr/>
              <p:nvPr/>
            </p:nvSpPr>
            <p:spPr bwMode="auto">
              <a:xfrm>
                <a:off x="7405925" y="4451297"/>
                <a:ext cx="50249" cy="50249"/>
              </a:xfrm>
              <a:custGeom>
                <a:avLst/>
                <a:gdLst>
                  <a:gd name="T0" fmla="*/ 4 w 14"/>
                  <a:gd name="T1" fmla="*/ 0 h 14"/>
                  <a:gd name="T2" fmla="*/ 0 w 14"/>
                  <a:gd name="T3" fmla="*/ 8 h 14"/>
                  <a:gd name="T4" fmla="*/ 10 w 14"/>
                  <a:gd name="T5" fmla="*/ 14 h 14"/>
                  <a:gd name="T6" fmla="*/ 14 w 14"/>
                  <a:gd name="T7" fmla="*/ 6 h 14"/>
                  <a:gd name="T8" fmla="*/ 4 w 1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4" y="0"/>
                    </a:moveTo>
                    <a:cubicBezTo>
                      <a:pt x="2" y="2"/>
                      <a:pt x="0" y="5"/>
                      <a:pt x="0" y="8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ïŝļíḍe"/>
              <p:cNvSpPr/>
              <p:nvPr/>
            </p:nvSpPr>
            <p:spPr bwMode="auto">
              <a:xfrm>
                <a:off x="7423252" y="4248570"/>
                <a:ext cx="386394" cy="540604"/>
              </a:xfrm>
              <a:custGeom>
                <a:avLst/>
                <a:gdLst>
                  <a:gd name="T0" fmla="*/ 5 w 107"/>
                  <a:gd name="T1" fmla="*/ 58 h 150"/>
                  <a:gd name="T2" fmla="*/ 102 w 107"/>
                  <a:gd name="T3" fmla="*/ 2 h 150"/>
                  <a:gd name="T4" fmla="*/ 107 w 107"/>
                  <a:gd name="T5" fmla="*/ 6 h 150"/>
                  <a:gd name="T6" fmla="*/ 107 w 107"/>
                  <a:gd name="T7" fmla="*/ 82 h 150"/>
                  <a:gd name="T8" fmla="*/ 102 w 107"/>
                  <a:gd name="T9" fmla="*/ 92 h 150"/>
                  <a:gd name="T10" fmla="*/ 5 w 107"/>
                  <a:gd name="T11" fmla="*/ 149 h 150"/>
                  <a:gd name="T12" fmla="*/ 0 w 107"/>
                  <a:gd name="T13" fmla="*/ 145 h 150"/>
                  <a:gd name="T14" fmla="*/ 0 w 107"/>
                  <a:gd name="T15" fmla="*/ 68 h 150"/>
                  <a:gd name="T16" fmla="*/ 5 w 107"/>
                  <a:gd name="T17" fmla="*/ 5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150">
                    <a:moveTo>
                      <a:pt x="5" y="58"/>
                    </a:moveTo>
                    <a:cubicBezTo>
                      <a:pt x="102" y="2"/>
                      <a:pt x="102" y="2"/>
                      <a:pt x="102" y="2"/>
                    </a:cubicBezTo>
                    <a:cubicBezTo>
                      <a:pt x="105" y="0"/>
                      <a:pt x="107" y="2"/>
                      <a:pt x="107" y="6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7" y="86"/>
                      <a:pt x="105" y="90"/>
                      <a:pt x="102" y="92"/>
                    </a:cubicBezTo>
                    <a:cubicBezTo>
                      <a:pt x="5" y="149"/>
                      <a:pt x="5" y="149"/>
                      <a:pt x="5" y="149"/>
                    </a:cubicBezTo>
                    <a:cubicBezTo>
                      <a:pt x="2" y="150"/>
                      <a:pt x="0" y="148"/>
                      <a:pt x="0" y="145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4"/>
                      <a:pt x="2" y="60"/>
                      <a:pt x="5" y="58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ïşḻïḋê"/>
              <p:cNvSpPr/>
              <p:nvPr/>
            </p:nvSpPr>
            <p:spPr bwMode="auto">
              <a:xfrm>
                <a:off x="7567067" y="4180995"/>
                <a:ext cx="95299" cy="266837"/>
              </a:xfrm>
              <a:custGeom>
                <a:avLst/>
                <a:gdLst>
                  <a:gd name="T0" fmla="*/ 22 w 26"/>
                  <a:gd name="T1" fmla="*/ 20 h 74"/>
                  <a:gd name="T2" fmla="*/ 25 w 26"/>
                  <a:gd name="T3" fmla="*/ 53 h 74"/>
                  <a:gd name="T4" fmla="*/ 17 w 26"/>
                  <a:gd name="T5" fmla="*/ 73 h 74"/>
                  <a:gd name="T6" fmla="*/ 11 w 26"/>
                  <a:gd name="T7" fmla="*/ 45 h 74"/>
                  <a:gd name="T8" fmla="*/ 3 w 26"/>
                  <a:gd name="T9" fmla="*/ 52 h 74"/>
                  <a:gd name="T10" fmla="*/ 5 w 26"/>
                  <a:gd name="T11" fmla="*/ 11 h 74"/>
                  <a:gd name="T12" fmla="*/ 22 w 26"/>
                  <a:gd name="T13" fmla="*/ 2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74">
                    <a:moveTo>
                      <a:pt x="22" y="20"/>
                    </a:moveTo>
                    <a:cubicBezTo>
                      <a:pt x="22" y="20"/>
                      <a:pt x="26" y="45"/>
                      <a:pt x="25" y="53"/>
                    </a:cubicBezTo>
                    <a:cubicBezTo>
                      <a:pt x="25" y="61"/>
                      <a:pt x="20" y="74"/>
                      <a:pt x="17" y="73"/>
                    </a:cubicBezTo>
                    <a:cubicBezTo>
                      <a:pt x="14" y="73"/>
                      <a:pt x="17" y="42"/>
                      <a:pt x="11" y="45"/>
                    </a:cubicBezTo>
                    <a:cubicBezTo>
                      <a:pt x="6" y="48"/>
                      <a:pt x="5" y="53"/>
                      <a:pt x="3" y="52"/>
                    </a:cubicBezTo>
                    <a:cubicBezTo>
                      <a:pt x="0" y="50"/>
                      <a:pt x="7" y="23"/>
                      <a:pt x="5" y="11"/>
                    </a:cubicBezTo>
                    <a:cubicBezTo>
                      <a:pt x="3" y="0"/>
                      <a:pt x="22" y="20"/>
                      <a:pt x="22" y="20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ïŝ1íḓè"/>
              <p:cNvSpPr/>
              <p:nvPr/>
            </p:nvSpPr>
            <p:spPr bwMode="auto">
              <a:xfrm>
                <a:off x="7035126" y="4023318"/>
                <a:ext cx="93566" cy="265104"/>
              </a:xfrm>
              <a:custGeom>
                <a:avLst/>
                <a:gdLst>
                  <a:gd name="T0" fmla="*/ 4 w 26"/>
                  <a:gd name="T1" fmla="*/ 21 h 74"/>
                  <a:gd name="T2" fmla="*/ 1 w 26"/>
                  <a:gd name="T3" fmla="*/ 53 h 74"/>
                  <a:gd name="T4" fmla="*/ 9 w 26"/>
                  <a:gd name="T5" fmla="*/ 74 h 74"/>
                  <a:gd name="T6" fmla="*/ 14 w 26"/>
                  <a:gd name="T7" fmla="*/ 45 h 74"/>
                  <a:gd name="T8" fmla="*/ 23 w 26"/>
                  <a:gd name="T9" fmla="*/ 52 h 74"/>
                  <a:gd name="T10" fmla="*/ 21 w 26"/>
                  <a:gd name="T11" fmla="*/ 11 h 74"/>
                  <a:gd name="T12" fmla="*/ 4 w 26"/>
                  <a:gd name="T13" fmla="*/ 2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74">
                    <a:moveTo>
                      <a:pt x="4" y="21"/>
                    </a:moveTo>
                    <a:cubicBezTo>
                      <a:pt x="4" y="21"/>
                      <a:pt x="0" y="45"/>
                      <a:pt x="1" y="53"/>
                    </a:cubicBezTo>
                    <a:cubicBezTo>
                      <a:pt x="1" y="61"/>
                      <a:pt x="6" y="74"/>
                      <a:pt x="9" y="74"/>
                    </a:cubicBezTo>
                    <a:cubicBezTo>
                      <a:pt x="12" y="73"/>
                      <a:pt x="9" y="42"/>
                      <a:pt x="14" y="45"/>
                    </a:cubicBezTo>
                    <a:cubicBezTo>
                      <a:pt x="20" y="48"/>
                      <a:pt x="21" y="54"/>
                      <a:pt x="23" y="52"/>
                    </a:cubicBezTo>
                    <a:cubicBezTo>
                      <a:pt x="26" y="50"/>
                      <a:pt x="19" y="23"/>
                      <a:pt x="21" y="11"/>
                    </a:cubicBezTo>
                    <a:cubicBezTo>
                      <a:pt x="23" y="0"/>
                      <a:pt x="4" y="21"/>
                      <a:pt x="4" y="21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iṩľîḑè"/>
              <p:cNvSpPr/>
              <p:nvPr/>
            </p:nvSpPr>
            <p:spPr bwMode="auto">
              <a:xfrm>
                <a:off x="7172010" y="3215877"/>
                <a:ext cx="190598" cy="102230"/>
              </a:xfrm>
              <a:custGeom>
                <a:avLst/>
                <a:gdLst>
                  <a:gd name="T0" fmla="*/ 24 w 53"/>
                  <a:gd name="T1" fmla="*/ 21 h 28"/>
                  <a:gd name="T2" fmla="*/ 0 w 53"/>
                  <a:gd name="T3" fmla="*/ 23 h 28"/>
                  <a:gd name="T4" fmla="*/ 0 w 53"/>
                  <a:gd name="T5" fmla="*/ 20 h 28"/>
                  <a:gd name="T6" fmla="*/ 1 w 53"/>
                  <a:gd name="T7" fmla="*/ 7 h 28"/>
                  <a:gd name="T8" fmla="*/ 53 w 53"/>
                  <a:gd name="T9" fmla="*/ 0 h 28"/>
                  <a:gd name="T10" fmla="*/ 24 w 53"/>
                  <a:gd name="T11" fmla="*/ 2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28">
                    <a:moveTo>
                      <a:pt x="24" y="21"/>
                    </a:moveTo>
                    <a:cubicBezTo>
                      <a:pt x="4" y="28"/>
                      <a:pt x="1" y="23"/>
                      <a:pt x="0" y="23"/>
                    </a:cubicBezTo>
                    <a:cubicBezTo>
                      <a:pt x="0" y="22"/>
                      <a:pt x="0" y="21"/>
                      <a:pt x="0" y="20"/>
                    </a:cubicBezTo>
                    <a:cubicBezTo>
                      <a:pt x="0" y="15"/>
                      <a:pt x="0" y="11"/>
                      <a:pt x="1" y="7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44" y="14"/>
                      <a:pt x="24" y="21"/>
                    </a:cubicBez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íŝḷïḋè"/>
              <p:cNvSpPr/>
              <p:nvPr/>
            </p:nvSpPr>
            <p:spPr bwMode="auto">
              <a:xfrm>
                <a:off x="7099237" y="3061667"/>
                <a:ext cx="400256" cy="370799"/>
              </a:xfrm>
              <a:custGeom>
                <a:avLst/>
                <a:gdLst>
                  <a:gd name="T0" fmla="*/ 19 w 111"/>
                  <a:gd name="T1" fmla="*/ 23 h 103"/>
                  <a:gd name="T2" fmla="*/ 70 w 111"/>
                  <a:gd name="T3" fmla="*/ 4 h 103"/>
                  <a:gd name="T4" fmla="*/ 108 w 111"/>
                  <a:gd name="T5" fmla="*/ 49 h 103"/>
                  <a:gd name="T6" fmla="*/ 90 w 111"/>
                  <a:gd name="T7" fmla="*/ 103 h 103"/>
                  <a:gd name="T8" fmla="*/ 88 w 111"/>
                  <a:gd name="T9" fmla="*/ 102 h 103"/>
                  <a:gd name="T10" fmla="*/ 80 w 111"/>
                  <a:gd name="T11" fmla="*/ 94 h 103"/>
                  <a:gd name="T12" fmla="*/ 78 w 111"/>
                  <a:gd name="T13" fmla="*/ 79 h 103"/>
                  <a:gd name="T14" fmla="*/ 82 w 111"/>
                  <a:gd name="T15" fmla="*/ 75 h 103"/>
                  <a:gd name="T16" fmla="*/ 87 w 111"/>
                  <a:gd name="T17" fmla="*/ 72 h 103"/>
                  <a:gd name="T18" fmla="*/ 81 w 111"/>
                  <a:gd name="T19" fmla="*/ 57 h 103"/>
                  <a:gd name="T20" fmla="*/ 74 w 111"/>
                  <a:gd name="T21" fmla="*/ 52 h 103"/>
                  <a:gd name="T22" fmla="*/ 69 w 111"/>
                  <a:gd name="T23" fmla="*/ 50 h 103"/>
                  <a:gd name="T24" fmla="*/ 20 w 111"/>
                  <a:gd name="T25" fmla="*/ 56 h 103"/>
                  <a:gd name="T26" fmla="*/ 19 w 111"/>
                  <a:gd name="T27" fmla="*/ 2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103">
                    <a:moveTo>
                      <a:pt x="19" y="23"/>
                    </a:moveTo>
                    <a:cubicBezTo>
                      <a:pt x="23" y="19"/>
                      <a:pt x="40" y="0"/>
                      <a:pt x="70" y="4"/>
                    </a:cubicBezTo>
                    <a:cubicBezTo>
                      <a:pt x="89" y="7"/>
                      <a:pt x="105" y="20"/>
                      <a:pt x="108" y="49"/>
                    </a:cubicBezTo>
                    <a:cubicBezTo>
                      <a:pt x="111" y="69"/>
                      <a:pt x="103" y="88"/>
                      <a:pt x="90" y="103"/>
                    </a:cubicBezTo>
                    <a:cubicBezTo>
                      <a:pt x="89" y="103"/>
                      <a:pt x="89" y="102"/>
                      <a:pt x="88" y="102"/>
                    </a:cubicBezTo>
                    <a:cubicBezTo>
                      <a:pt x="80" y="97"/>
                      <a:pt x="80" y="94"/>
                      <a:pt x="80" y="94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78" y="77"/>
                      <a:pt x="80" y="75"/>
                      <a:pt x="82" y="75"/>
                    </a:cubicBezTo>
                    <a:cubicBezTo>
                      <a:pt x="83" y="75"/>
                      <a:pt x="85" y="74"/>
                      <a:pt x="87" y="72"/>
                    </a:cubicBezTo>
                    <a:cubicBezTo>
                      <a:pt x="91" y="66"/>
                      <a:pt x="89" y="57"/>
                      <a:pt x="81" y="57"/>
                    </a:cubicBezTo>
                    <a:cubicBezTo>
                      <a:pt x="76" y="57"/>
                      <a:pt x="75" y="54"/>
                      <a:pt x="74" y="52"/>
                    </a:cubicBezTo>
                    <a:cubicBezTo>
                      <a:pt x="73" y="50"/>
                      <a:pt x="71" y="49"/>
                      <a:pt x="69" y="50"/>
                    </a:cubicBezTo>
                    <a:cubicBezTo>
                      <a:pt x="60" y="53"/>
                      <a:pt x="35" y="61"/>
                      <a:pt x="20" y="56"/>
                    </a:cubicBezTo>
                    <a:cubicBezTo>
                      <a:pt x="0" y="51"/>
                      <a:pt x="14" y="27"/>
                      <a:pt x="19" y="23"/>
                    </a:cubicBez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î$lïḓè"/>
              <p:cNvSpPr/>
              <p:nvPr/>
            </p:nvSpPr>
            <p:spPr bwMode="auto">
              <a:xfrm>
                <a:off x="7203199" y="3342365"/>
                <a:ext cx="86635" cy="50249"/>
              </a:xfrm>
              <a:custGeom>
                <a:avLst/>
                <a:gdLst>
                  <a:gd name="T0" fmla="*/ 12 w 24"/>
                  <a:gd name="T1" fmla="*/ 4 h 14"/>
                  <a:gd name="T2" fmla="*/ 0 w 24"/>
                  <a:gd name="T3" fmla="*/ 0 h 14"/>
                  <a:gd name="T4" fmla="*/ 14 w 24"/>
                  <a:gd name="T5" fmla="*/ 12 h 14"/>
                  <a:gd name="T6" fmla="*/ 24 w 24"/>
                  <a:gd name="T7" fmla="*/ 7 h 14"/>
                  <a:gd name="T8" fmla="*/ 12 w 24"/>
                  <a:gd name="T9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12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6" y="9"/>
                      <a:pt x="14" y="12"/>
                    </a:cubicBezTo>
                    <a:cubicBezTo>
                      <a:pt x="22" y="14"/>
                      <a:pt x="24" y="7"/>
                      <a:pt x="24" y="7"/>
                    </a:cubicBez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iŝḻíḑé"/>
              <p:cNvSpPr/>
              <p:nvPr/>
            </p:nvSpPr>
            <p:spPr bwMode="auto">
              <a:xfrm>
                <a:off x="7572265" y="4342136"/>
                <a:ext cx="38120" cy="29457"/>
              </a:xfrm>
              <a:custGeom>
                <a:avLst/>
                <a:gdLst>
                  <a:gd name="T0" fmla="*/ 0 w 22"/>
                  <a:gd name="T1" fmla="*/ 13 h 17"/>
                  <a:gd name="T2" fmla="*/ 22 w 22"/>
                  <a:gd name="T3" fmla="*/ 0 h 17"/>
                  <a:gd name="T4" fmla="*/ 14 w 22"/>
                  <a:gd name="T5" fmla="*/ 13 h 17"/>
                  <a:gd name="T6" fmla="*/ 2 w 22"/>
                  <a:gd name="T7" fmla="*/ 17 h 17"/>
                  <a:gd name="T8" fmla="*/ 0 w 22"/>
                  <a:gd name="T9" fmla="*/ 1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7">
                    <a:moveTo>
                      <a:pt x="0" y="13"/>
                    </a:moveTo>
                    <a:lnTo>
                      <a:pt x="22" y="0"/>
                    </a:lnTo>
                    <a:lnTo>
                      <a:pt x="14" y="13"/>
                    </a:lnTo>
                    <a:lnTo>
                      <a:pt x="2" y="17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D29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îs1ïdè"/>
              <p:cNvSpPr/>
              <p:nvPr/>
            </p:nvSpPr>
            <p:spPr bwMode="auto">
              <a:xfrm>
                <a:off x="5049445" y="1316832"/>
                <a:ext cx="1912907" cy="3623088"/>
              </a:xfrm>
              <a:custGeom>
                <a:avLst/>
                <a:gdLst>
                  <a:gd name="T0" fmla="*/ 488 w 531"/>
                  <a:gd name="T1" fmla="*/ 176 h 1007"/>
                  <a:gd name="T2" fmla="*/ 208 w 531"/>
                  <a:gd name="T3" fmla="*/ 8 h 1007"/>
                  <a:gd name="T4" fmla="*/ 172 w 531"/>
                  <a:gd name="T5" fmla="*/ 5 h 1007"/>
                  <a:gd name="T6" fmla="*/ 172 w 531"/>
                  <a:gd name="T7" fmla="*/ 5 h 1007"/>
                  <a:gd name="T8" fmla="*/ 145 w 531"/>
                  <a:gd name="T9" fmla="*/ 14 h 1007"/>
                  <a:gd name="T10" fmla="*/ 165 w 531"/>
                  <a:gd name="T11" fmla="*/ 14 h 1007"/>
                  <a:gd name="T12" fmla="*/ 156 w 531"/>
                  <a:gd name="T13" fmla="*/ 38 h 1007"/>
                  <a:gd name="T14" fmla="*/ 8 w 531"/>
                  <a:gd name="T15" fmla="*/ 718 h 1007"/>
                  <a:gd name="T16" fmla="*/ 43 w 531"/>
                  <a:gd name="T17" fmla="*/ 817 h 1007"/>
                  <a:gd name="T18" fmla="*/ 324 w 531"/>
                  <a:gd name="T19" fmla="*/ 986 h 1007"/>
                  <a:gd name="T20" fmla="*/ 333 w 531"/>
                  <a:gd name="T21" fmla="*/ 990 h 1007"/>
                  <a:gd name="T22" fmla="*/ 322 w 531"/>
                  <a:gd name="T23" fmla="*/ 1007 h 1007"/>
                  <a:gd name="T24" fmla="*/ 345 w 531"/>
                  <a:gd name="T25" fmla="*/ 999 h 1007"/>
                  <a:gd name="T26" fmla="*/ 345 w 531"/>
                  <a:gd name="T27" fmla="*/ 999 h 1007"/>
                  <a:gd name="T28" fmla="*/ 375 w 531"/>
                  <a:gd name="T29" fmla="*/ 956 h 1007"/>
                  <a:gd name="T30" fmla="*/ 523 w 531"/>
                  <a:gd name="T31" fmla="*/ 276 h 1007"/>
                  <a:gd name="T32" fmla="*/ 488 w 531"/>
                  <a:gd name="T33" fmla="*/ 176 h 10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1" h="1007">
                    <a:moveTo>
                      <a:pt x="488" y="176"/>
                    </a:moveTo>
                    <a:cubicBezTo>
                      <a:pt x="208" y="8"/>
                      <a:pt x="208" y="8"/>
                      <a:pt x="208" y="8"/>
                    </a:cubicBezTo>
                    <a:cubicBezTo>
                      <a:pt x="195" y="0"/>
                      <a:pt x="183" y="0"/>
                      <a:pt x="172" y="5"/>
                    </a:cubicBezTo>
                    <a:cubicBezTo>
                      <a:pt x="172" y="5"/>
                      <a:pt x="172" y="5"/>
                      <a:pt x="172" y="5"/>
                    </a:cubicBezTo>
                    <a:cubicBezTo>
                      <a:pt x="145" y="14"/>
                      <a:pt x="145" y="14"/>
                      <a:pt x="145" y="14"/>
                    </a:cubicBezTo>
                    <a:cubicBezTo>
                      <a:pt x="165" y="14"/>
                      <a:pt x="165" y="14"/>
                      <a:pt x="165" y="14"/>
                    </a:cubicBezTo>
                    <a:cubicBezTo>
                      <a:pt x="161" y="21"/>
                      <a:pt x="158" y="29"/>
                      <a:pt x="156" y="38"/>
                    </a:cubicBezTo>
                    <a:cubicBezTo>
                      <a:pt x="8" y="718"/>
                      <a:pt x="8" y="718"/>
                      <a:pt x="8" y="718"/>
                    </a:cubicBezTo>
                    <a:cubicBezTo>
                      <a:pt x="0" y="756"/>
                      <a:pt x="16" y="801"/>
                      <a:pt x="43" y="817"/>
                    </a:cubicBezTo>
                    <a:cubicBezTo>
                      <a:pt x="324" y="986"/>
                      <a:pt x="324" y="986"/>
                      <a:pt x="324" y="986"/>
                    </a:cubicBezTo>
                    <a:cubicBezTo>
                      <a:pt x="327" y="988"/>
                      <a:pt x="330" y="989"/>
                      <a:pt x="333" y="990"/>
                    </a:cubicBezTo>
                    <a:cubicBezTo>
                      <a:pt x="322" y="1007"/>
                      <a:pt x="322" y="1007"/>
                      <a:pt x="322" y="1007"/>
                    </a:cubicBezTo>
                    <a:cubicBezTo>
                      <a:pt x="345" y="999"/>
                      <a:pt x="345" y="999"/>
                      <a:pt x="345" y="999"/>
                    </a:cubicBezTo>
                    <a:cubicBezTo>
                      <a:pt x="345" y="999"/>
                      <a:pt x="345" y="999"/>
                      <a:pt x="345" y="999"/>
                    </a:cubicBezTo>
                    <a:cubicBezTo>
                      <a:pt x="359" y="993"/>
                      <a:pt x="370" y="978"/>
                      <a:pt x="375" y="956"/>
                    </a:cubicBezTo>
                    <a:cubicBezTo>
                      <a:pt x="523" y="276"/>
                      <a:pt x="523" y="276"/>
                      <a:pt x="523" y="276"/>
                    </a:cubicBezTo>
                    <a:cubicBezTo>
                      <a:pt x="531" y="238"/>
                      <a:pt x="516" y="193"/>
                      <a:pt x="488" y="176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îś1îḍè"/>
              <p:cNvSpPr/>
              <p:nvPr/>
            </p:nvSpPr>
            <p:spPr bwMode="auto">
              <a:xfrm>
                <a:off x="4909097" y="1316832"/>
                <a:ext cx="1963156" cy="3673336"/>
              </a:xfrm>
              <a:custGeom>
                <a:avLst/>
                <a:gdLst>
                  <a:gd name="T0" fmla="*/ 323 w 545"/>
                  <a:gd name="T1" fmla="*/ 1004 h 1021"/>
                  <a:gd name="T2" fmla="*/ 43 w 545"/>
                  <a:gd name="T3" fmla="*/ 836 h 1021"/>
                  <a:gd name="T4" fmla="*/ 8 w 545"/>
                  <a:gd name="T5" fmla="*/ 736 h 1021"/>
                  <a:gd name="T6" fmla="*/ 156 w 545"/>
                  <a:gd name="T7" fmla="*/ 56 h 1021"/>
                  <a:gd name="T8" fmla="*/ 222 w 545"/>
                  <a:gd name="T9" fmla="*/ 17 h 1021"/>
                  <a:gd name="T10" fmla="*/ 502 w 545"/>
                  <a:gd name="T11" fmla="*/ 185 h 1021"/>
                  <a:gd name="T12" fmla="*/ 537 w 545"/>
                  <a:gd name="T13" fmla="*/ 285 h 1021"/>
                  <a:gd name="T14" fmla="*/ 389 w 545"/>
                  <a:gd name="T15" fmla="*/ 965 h 1021"/>
                  <a:gd name="T16" fmla="*/ 323 w 545"/>
                  <a:gd name="T17" fmla="*/ 1004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5" h="1021">
                    <a:moveTo>
                      <a:pt x="323" y="1004"/>
                    </a:moveTo>
                    <a:cubicBezTo>
                      <a:pt x="43" y="836"/>
                      <a:pt x="43" y="836"/>
                      <a:pt x="43" y="836"/>
                    </a:cubicBezTo>
                    <a:cubicBezTo>
                      <a:pt x="15" y="819"/>
                      <a:pt x="0" y="775"/>
                      <a:pt x="8" y="736"/>
                    </a:cubicBezTo>
                    <a:cubicBezTo>
                      <a:pt x="156" y="56"/>
                      <a:pt x="156" y="56"/>
                      <a:pt x="156" y="56"/>
                    </a:cubicBezTo>
                    <a:cubicBezTo>
                      <a:pt x="165" y="18"/>
                      <a:pt x="194" y="0"/>
                      <a:pt x="222" y="17"/>
                    </a:cubicBezTo>
                    <a:cubicBezTo>
                      <a:pt x="502" y="185"/>
                      <a:pt x="502" y="185"/>
                      <a:pt x="502" y="185"/>
                    </a:cubicBezTo>
                    <a:cubicBezTo>
                      <a:pt x="530" y="202"/>
                      <a:pt x="545" y="246"/>
                      <a:pt x="537" y="285"/>
                    </a:cubicBezTo>
                    <a:cubicBezTo>
                      <a:pt x="389" y="965"/>
                      <a:pt x="389" y="965"/>
                      <a:pt x="389" y="965"/>
                    </a:cubicBezTo>
                    <a:cubicBezTo>
                      <a:pt x="380" y="1003"/>
                      <a:pt x="351" y="1021"/>
                      <a:pt x="323" y="100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î$1idé"/>
              <p:cNvSpPr/>
              <p:nvPr/>
            </p:nvSpPr>
            <p:spPr bwMode="auto">
              <a:xfrm>
                <a:off x="4966275" y="1398270"/>
                <a:ext cx="1848797" cy="3510461"/>
              </a:xfrm>
              <a:custGeom>
                <a:avLst/>
                <a:gdLst>
                  <a:gd name="T0" fmla="*/ 308 w 513"/>
                  <a:gd name="T1" fmla="*/ 962 h 975"/>
                  <a:gd name="T2" fmla="*/ 34 w 513"/>
                  <a:gd name="T3" fmla="*/ 798 h 975"/>
                  <a:gd name="T4" fmla="*/ 7 w 513"/>
                  <a:gd name="T5" fmla="*/ 720 h 975"/>
                  <a:gd name="T6" fmla="*/ 154 w 513"/>
                  <a:gd name="T7" fmla="*/ 44 h 975"/>
                  <a:gd name="T8" fmla="*/ 205 w 513"/>
                  <a:gd name="T9" fmla="*/ 13 h 975"/>
                  <a:gd name="T10" fmla="*/ 479 w 513"/>
                  <a:gd name="T11" fmla="*/ 177 h 975"/>
                  <a:gd name="T12" fmla="*/ 506 w 513"/>
                  <a:gd name="T13" fmla="*/ 255 h 975"/>
                  <a:gd name="T14" fmla="*/ 359 w 513"/>
                  <a:gd name="T15" fmla="*/ 931 h 975"/>
                  <a:gd name="T16" fmla="*/ 308 w 513"/>
                  <a:gd name="T17" fmla="*/ 962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3" h="975">
                    <a:moveTo>
                      <a:pt x="308" y="962"/>
                    </a:moveTo>
                    <a:cubicBezTo>
                      <a:pt x="34" y="798"/>
                      <a:pt x="34" y="798"/>
                      <a:pt x="34" y="798"/>
                    </a:cubicBezTo>
                    <a:cubicBezTo>
                      <a:pt x="12" y="785"/>
                      <a:pt x="0" y="750"/>
                      <a:pt x="7" y="720"/>
                    </a:cubicBezTo>
                    <a:cubicBezTo>
                      <a:pt x="154" y="44"/>
                      <a:pt x="154" y="44"/>
                      <a:pt x="154" y="44"/>
                    </a:cubicBezTo>
                    <a:cubicBezTo>
                      <a:pt x="161" y="14"/>
                      <a:pt x="184" y="0"/>
                      <a:pt x="205" y="13"/>
                    </a:cubicBezTo>
                    <a:cubicBezTo>
                      <a:pt x="479" y="177"/>
                      <a:pt x="479" y="177"/>
                      <a:pt x="479" y="177"/>
                    </a:cubicBezTo>
                    <a:cubicBezTo>
                      <a:pt x="501" y="190"/>
                      <a:pt x="513" y="225"/>
                      <a:pt x="506" y="255"/>
                    </a:cubicBezTo>
                    <a:cubicBezTo>
                      <a:pt x="359" y="931"/>
                      <a:pt x="359" y="931"/>
                      <a:pt x="359" y="931"/>
                    </a:cubicBezTo>
                    <a:cubicBezTo>
                      <a:pt x="352" y="961"/>
                      <a:pt x="329" y="975"/>
                      <a:pt x="308" y="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ísḷîḋe"/>
              <p:cNvSpPr/>
              <p:nvPr/>
            </p:nvSpPr>
            <p:spPr bwMode="auto">
              <a:xfrm>
                <a:off x="5863817" y="1838377"/>
                <a:ext cx="157677" cy="117824"/>
              </a:xfrm>
              <a:custGeom>
                <a:avLst/>
                <a:gdLst>
                  <a:gd name="T0" fmla="*/ 36 w 44"/>
                  <a:gd name="T1" fmla="*/ 32 h 33"/>
                  <a:gd name="T2" fmla="*/ 5 w 44"/>
                  <a:gd name="T3" fmla="*/ 14 h 33"/>
                  <a:gd name="T4" fmla="*/ 1 w 44"/>
                  <a:gd name="T5" fmla="*/ 5 h 33"/>
                  <a:gd name="T6" fmla="*/ 1 w 44"/>
                  <a:gd name="T7" fmla="*/ 5 h 33"/>
                  <a:gd name="T8" fmla="*/ 8 w 44"/>
                  <a:gd name="T9" fmla="*/ 1 h 33"/>
                  <a:gd name="T10" fmla="*/ 39 w 44"/>
                  <a:gd name="T11" fmla="*/ 19 h 33"/>
                  <a:gd name="T12" fmla="*/ 43 w 44"/>
                  <a:gd name="T13" fmla="*/ 29 h 33"/>
                  <a:gd name="T14" fmla="*/ 43 w 44"/>
                  <a:gd name="T15" fmla="*/ 29 h 33"/>
                  <a:gd name="T16" fmla="*/ 36 w 44"/>
                  <a:gd name="T17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33">
                    <a:moveTo>
                      <a:pt x="36" y="32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2" y="21"/>
                      <a:pt x="44" y="25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2" y="32"/>
                      <a:pt x="39" y="33"/>
                      <a:pt x="36" y="32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îšḻîḋe"/>
              <p:cNvSpPr/>
              <p:nvPr/>
            </p:nvSpPr>
            <p:spPr bwMode="auto">
              <a:xfrm>
                <a:off x="6080406" y="1959666"/>
                <a:ext cx="207925" cy="152478"/>
              </a:xfrm>
              <a:custGeom>
                <a:avLst/>
                <a:gdLst>
                  <a:gd name="T0" fmla="*/ 51 w 58"/>
                  <a:gd name="T1" fmla="*/ 41 h 42"/>
                  <a:gd name="T2" fmla="*/ 4 w 58"/>
                  <a:gd name="T3" fmla="*/ 14 h 42"/>
                  <a:gd name="T4" fmla="*/ 1 w 58"/>
                  <a:gd name="T5" fmla="*/ 5 h 42"/>
                  <a:gd name="T6" fmla="*/ 1 w 58"/>
                  <a:gd name="T7" fmla="*/ 5 h 42"/>
                  <a:gd name="T8" fmla="*/ 7 w 58"/>
                  <a:gd name="T9" fmla="*/ 2 h 42"/>
                  <a:gd name="T10" fmla="*/ 53 w 58"/>
                  <a:gd name="T11" fmla="*/ 28 h 42"/>
                  <a:gd name="T12" fmla="*/ 57 w 58"/>
                  <a:gd name="T13" fmla="*/ 38 h 42"/>
                  <a:gd name="T14" fmla="*/ 57 w 58"/>
                  <a:gd name="T15" fmla="*/ 38 h 42"/>
                  <a:gd name="T16" fmla="*/ 51 w 58"/>
                  <a:gd name="T17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42">
                    <a:moveTo>
                      <a:pt x="51" y="41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6" y="30"/>
                      <a:pt x="58" y="34"/>
                      <a:pt x="57" y="38"/>
                    </a:cubicBezTo>
                    <a:cubicBezTo>
                      <a:pt x="57" y="38"/>
                      <a:pt x="57" y="38"/>
                      <a:pt x="57" y="38"/>
                    </a:cubicBezTo>
                    <a:cubicBezTo>
                      <a:pt x="56" y="41"/>
                      <a:pt x="53" y="42"/>
                      <a:pt x="51" y="4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îŝḻïdé"/>
              <p:cNvSpPr/>
              <p:nvPr/>
            </p:nvSpPr>
            <p:spPr bwMode="auto">
              <a:xfrm>
                <a:off x="5669754" y="2359921"/>
                <a:ext cx="154211" cy="123023"/>
              </a:xfrm>
              <a:custGeom>
                <a:avLst/>
                <a:gdLst>
                  <a:gd name="T0" fmla="*/ 36 w 43"/>
                  <a:gd name="T1" fmla="*/ 33 h 34"/>
                  <a:gd name="T2" fmla="*/ 4 w 43"/>
                  <a:gd name="T3" fmla="*/ 15 h 34"/>
                  <a:gd name="T4" fmla="*/ 1 w 43"/>
                  <a:gd name="T5" fmla="*/ 5 h 34"/>
                  <a:gd name="T6" fmla="*/ 1 w 43"/>
                  <a:gd name="T7" fmla="*/ 5 h 34"/>
                  <a:gd name="T8" fmla="*/ 7 w 43"/>
                  <a:gd name="T9" fmla="*/ 2 h 34"/>
                  <a:gd name="T10" fmla="*/ 39 w 43"/>
                  <a:gd name="T11" fmla="*/ 20 h 34"/>
                  <a:gd name="T12" fmla="*/ 42 w 43"/>
                  <a:gd name="T13" fmla="*/ 29 h 34"/>
                  <a:gd name="T14" fmla="*/ 42 w 43"/>
                  <a:gd name="T15" fmla="*/ 29 h 34"/>
                  <a:gd name="T16" fmla="*/ 36 w 43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34">
                    <a:moveTo>
                      <a:pt x="36" y="3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1" y="22"/>
                      <a:pt x="43" y="26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33"/>
                      <a:pt x="39" y="34"/>
                      <a:pt x="36" y="33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íṥļíḍê"/>
              <p:cNvSpPr/>
              <p:nvPr/>
            </p:nvSpPr>
            <p:spPr bwMode="auto">
              <a:xfrm>
                <a:off x="5853421" y="2467348"/>
                <a:ext cx="211390" cy="155943"/>
              </a:xfrm>
              <a:custGeom>
                <a:avLst/>
                <a:gdLst>
                  <a:gd name="T0" fmla="*/ 51 w 59"/>
                  <a:gd name="T1" fmla="*/ 41 h 43"/>
                  <a:gd name="T2" fmla="*/ 5 w 59"/>
                  <a:gd name="T3" fmla="*/ 14 h 43"/>
                  <a:gd name="T4" fmla="*/ 1 w 59"/>
                  <a:gd name="T5" fmla="*/ 5 h 43"/>
                  <a:gd name="T6" fmla="*/ 1 w 59"/>
                  <a:gd name="T7" fmla="*/ 5 h 43"/>
                  <a:gd name="T8" fmla="*/ 8 w 59"/>
                  <a:gd name="T9" fmla="*/ 2 h 43"/>
                  <a:gd name="T10" fmla="*/ 54 w 59"/>
                  <a:gd name="T11" fmla="*/ 28 h 43"/>
                  <a:gd name="T12" fmla="*/ 58 w 59"/>
                  <a:gd name="T13" fmla="*/ 38 h 43"/>
                  <a:gd name="T14" fmla="*/ 58 w 59"/>
                  <a:gd name="T15" fmla="*/ 38 h 43"/>
                  <a:gd name="T16" fmla="*/ 51 w 59"/>
                  <a:gd name="T17" fmla="*/ 4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3">
                    <a:moveTo>
                      <a:pt x="51" y="4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57" y="30"/>
                      <a:pt x="59" y="34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7" y="41"/>
                      <a:pt x="54" y="43"/>
                      <a:pt x="51" y="4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iSḷïḍé"/>
              <p:cNvSpPr/>
              <p:nvPr/>
            </p:nvSpPr>
            <p:spPr bwMode="auto">
              <a:xfrm>
                <a:off x="5576188" y="1777732"/>
                <a:ext cx="110893" cy="97032"/>
              </a:xfrm>
              <a:custGeom>
                <a:avLst/>
                <a:gdLst>
                  <a:gd name="T0" fmla="*/ 24 w 31"/>
                  <a:gd name="T1" fmla="*/ 25 h 27"/>
                  <a:gd name="T2" fmla="*/ 5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1 h 27"/>
                  <a:gd name="T10" fmla="*/ 27 w 31"/>
                  <a:gd name="T11" fmla="*/ 13 h 27"/>
                  <a:gd name="T12" fmla="*/ 31 w 31"/>
                  <a:gd name="T13" fmla="*/ 22 h 27"/>
                  <a:gd name="T14" fmla="*/ 31 w 31"/>
                  <a:gd name="T15" fmla="*/ 22 h 27"/>
                  <a:gd name="T16" fmla="*/ 24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1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0" y="14"/>
                      <a:pt x="31" y="19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5"/>
                      <a:pt x="27" y="27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ísļiďè"/>
              <p:cNvSpPr/>
              <p:nvPr/>
            </p:nvSpPr>
            <p:spPr bwMode="auto">
              <a:xfrm>
                <a:off x="5647229" y="1925012"/>
                <a:ext cx="259906" cy="180201"/>
              </a:xfrm>
              <a:custGeom>
                <a:avLst/>
                <a:gdLst>
                  <a:gd name="T0" fmla="*/ 64 w 72"/>
                  <a:gd name="T1" fmla="*/ 48 h 50"/>
                  <a:gd name="T2" fmla="*/ 5 w 72"/>
                  <a:gd name="T3" fmla="*/ 14 h 50"/>
                  <a:gd name="T4" fmla="*/ 1 w 72"/>
                  <a:gd name="T5" fmla="*/ 5 h 50"/>
                  <a:gd name="T6" fmla="*/ 1 w 72"/>
                  <a:gd name="T7" fmla="*/ 5 h 50"/>
                  <a:gd name="T8" fmla="*/ 7 w 72"/>
                  <a:gd name="T9" fmla="*/ 2 h 50"/>
                  <a:gd name="T10" fmla="*/ 67 w 72"/>
                  <a:gd name="T11" fmla="*/ 36 h 50"/>
                  <a:gd name="T12" fmla="*/ 71 w 72"/>
                  <a:gd name="T13" fmla="*/ 45 h 50"/>
                  <a:gd name="T14" fmla="*/ 71 w 72"/>
                  <a:gd name="T15" fmla="*/ 45 h 50"/>
                  <a:gd name="T16" fmla="*/ 64 w 72"/>
                  <a:gd name="T17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0">
                    <a:moveTo>
                      <a:pt x="64" y="48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7" y="2"/>
                    </a:cubicBezTo>
                    <a:cubicBezTo>
                      <a:pt x="67" y="36"/>
                      <a:pt x="67" y="36"/>
                      <a:pt x="67" y="36"/>
                    </a:cubicBezTo>
                    <a:cubicBezTo>
                      <a:pt x="70" y="38"/>
                      <a:pt x="72" y="42"/>
                      <a:pt x="71" y="45"/>
                    </a:cubicBezTo>
                    <a:cubicBezTo>
                      <a:pt x="71" y="45"/>
                      <a:pt x="71" y="45"/>
                      <a:pt x="71" y="45"/>
                    </a:cubicBezTo>
                    <a:cubicBezTo>
                      <a:pt x="70" y="49"/>
                      <a:pt x="67" y="50"/>
                      <a:pt x="64" y="48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ïşḻïḋe"/>
              <p:cNvSpPr/>
              <p:nvPr/>
            </p:nvSpPr>
            <p:spPr bwMode="auto">
              <a:xfrm>
                <a:off x="5603911" y="2112144"/>
                <a:ext cx="112626" cy="97032"/>
              </a:xfrm>
              <a:custGeom>
                <a:avLst/>
                <a:gdLst>
                  <a:gd name="T0" fmla="*/ 24 w 31"/>
                  <a:gd name="T1" fmla="*/ 25 h 27"/>
                  <a:gd name="T2" fmla="*/ 5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2 h 27"/>
                  <a:gd name="T10" fmla="*/ 27 w 31"/>
                  <a:gd name="T11" fmla="*/ 13 h 27"/>
                  <a:gd name="T12" fmla="*/ 31 w 31"/>
                  <a:gd name="T13" fmla="*/ 22 h 27"/>
                  <a:gd name="T14" fmla="*/ 31 w 31"/>
                  <a:gd name="T15" fmla="*/ 22 h 27"/>
                  <a:gd name="T16" fmla="*/ 24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0" y="15"/>
                      <a:pt x="31" y="19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6"/>
                      <a:pt x="27" y="27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îš1ïdé"/>
              <p:cNvSpPr/>
              <p:nvPr/>
            </p:nvSpPr>
            <p:spPr bwMode="auto">
              <a:xfrm>
                <a:off x="5867282" y="2690868"/>
                <a:ext cx="233916" cy="162874"/>
              </a:xfrm>
              <a:custGeom>
                <a:avLst/>
                <a:gdLst>
                  <a:gd name="T0" fmla="*/ 57 w 65"/>
                  <a:gd name="T1" fmla="*/ 44 h 45"/>
                  <a:gd name="T2" fmla="*/ 5 w 65"/>
                  <a:gd name="T3" fmla="*/ 14 h 45"/>
                  <a:gd name="T4" fmla="*/ 1 w 65"/>
                  <a:gd name="T5" fmla="*/ 4 h 45"/>
                  <a:gd name="T6" fmla="*/ 1 w 65"/>
                  <a:gd name="T7" fmla="*/ 4 h 45"/>
                  <a:gd name="T8" fmla="*/ 8 w 65"/>
                  <a:gd name="T9" fmla="*/ 1 h 45"/>
                  <a:gd name="T10" fmla="*/ 60 w 65"/>
                  <a:gd name="T11" fmla="*/ 31 h 45"/>
                  <a:gd name="T12" fmla="*/ 64 w 65"/>
                  <a:gd name="T13" fmla="*/ 41 h 45"/>
                  <a:gd name="T14" fmla="*/ 64 w 65"/>
                  <a:gd name="T15" fmla="*/ 41 h 45"/>
                  <a:gd name="T16" fmla="*/ 57 w 65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5">
                    <a:moveTo>
                      <a:pt x="57" y="44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3" y="33"/>
                      <a:pt x="65" y="37"/>
                      <a:pt x="64" y="41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4"/>
                      <a:pt x="60" y="45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îŝ1îḑè"/>
              <p:cNvSpPr/>
              <p:nvPr/>
            </p:nvSpPr>
            <p:spPr bwMode="auto">
              <a:xfrm>
                <a:off x="5560594" y="2299277"/>
                <a:ext cx="86635" cy="81438"/>
              </a:xfrm>
              <a:custGeom>
                <a:avLst/>
                <a:gdLst>
                  <a:gd name="T0" fmla="*/ 17 w 24"/>
                  <a:gd name="T1" fmla="*/ 21 h 23"/>
                  <a:gd name="T2" fmla="*/ 4 w 24"/>
                  <a:gd name="T3" fmla="*/ 14 h 23"/>
                  <a:gd name="T4" fmla="*/ 1 w 24"/>
                  <a:gd name="T5" fmla="*/ 5 h 23"/>
                  <a:gd name="T6" fmla="*/ 1 w 24"/>
                  <a:gd name="T7" fmla="*/ 5 h 23"/>
                  <a:gd name="T8" fmla="*/ 7 w 24"/>
                  <a:gd name="T9" fmla="*/ 2 h 23"/>
                  <a:gd name="T10" fmla="*/ 20 w 24"/>
                  <a:gd name="T11" fmla="*/ 9 h 23"/>
                  <a:gd name="T12" fmla="*/ 24 w 24"/>
                  <a:gd name="T13" fmla="*/ 18 h 23"/>
                  <a:gd name="T14" fmla="*/ 24 w 24"/>
                  <a:gd name="T15" fmla="*/ 18 h 23"/>
                  <a:gd name="T16" fmla="*/ 17 w 24"/>
                  <a:gd name="T17" fmla="*/ 2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3">
                    <a:moveTo>
                      <a:pt x="17" y="21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3" y="11"/>
                      <a:pt x="24" y="15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22"/>
                      <a:pt x="20" y="23"/>
                      <a:pt x="17" y="2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iSḷïḍe"/>
              <p:cNvSpPr/>
              <p:nvPr/>
            </p:nvSpPr>
            <p:spPr bwMode="auto">
              <a:xfrm>
                <a:off x="5517276" y="2486409"/>
                <a:ext cx="98765" cy="90101"/>
              </a:xfrm>
              <a:custGeom>
                <a:avLst/>
                <a:gdLst>
                  <a:gd name="T0" fmla="*/ 20 w 27"/>
                  <a:gd name="T1" fmla="*/ 23 h 25"/>
                  <a:gd name="T2" fmla="*/ 4 w 27"/>
                  <a:gd name="T3" fmla="*/ 14 h 25"/>
                  <a:gd name="T4" fmla="*/ 1 w 27"/>
                  <a:gd name="T5" fmla="*/ 5 h 25"/>
                  <a:gd name="T6" fmla="*/ 1 w 27"/>
                  <a:gd name="T7" fmla="*/ 5 h 25"/>
                  <a:gd name="T8" fmla="*/ 7 w 27"/>
                  <a:gd name="T9" fmla="*/ 2 h 25"/>
                  <a:gd name="T10" fmla="*/ 23 w 27"/>
                  <a:gd name="T11" fmla="*/ 11 h 25"/>
                  <a:gd name="T12" fmla="*/ 27 w 27"/>
                  <a:gd name="T13" fmla="*/ 20 h 25"/>
                  <a:gd name="T14" fmla="*/ 27 w 27"/>
                  <a:gd name="T15" fmla="*/ 20 h 25"/>
                  <a:gd name="T16" fmla="*/ 20 w 27"/>
                  <a:gd name="T17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5">
                    <a:moveTo>
                      <a:pt x="20" y="23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6" y="13"/>
                      <a:pt x="27" y="17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6" y="24"/>
                      <a:pt x="23" y="25"/>
                      <a:pt x="20" y="23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íṧļíḍe"/>
              <p:cNvSpPr/>
              <p:nvPr/>
            </p:nvSpPr>
            <p:spPr bwMode="auto">
              <a:xfrm>
                <a:off x="5643764" y="2557449"/>
                <a:ext cx="190598" cy="143815"/>
              </a:xfrm>
              <a:custGeom>
                <a:avLst/>
                <a:gdLst>
                  <a:gd name="T0" fmla="*/ 45 w 53"/>
                  <a:gd name="T1" fmla="*/ 38 h 40"/>
                  <a:gd name="T2" fmla="*/ 4 w 53"/>
                  <a:gd name="T3" fmla="*/ 15 h 40"/>
                  <a:gd name="T4" fmla="*/ 1 w 53"/>
                  <a:gd name="T5" fmla="*/ 5 h 40"/>
                  <a:gd name="T6" fmla="*/ 1 w 53"/>
                  <a:gd name="T7" fmla="*/ 5 h 40"/>
                  <a:gd name="T8" fmla="*/ 7 w 53"/>
                  <a:gd name="T9" fmla="*/ 2 h 40"/>
                  <a:gd name="T10" fmla="*/ 48 w 53"/>
                  <a:gd name="T11" fmla="*/ 26 h 40"/>
                  <a:gd name="T12" fmla="*/ 52 w 53"/>
                  <a:gd name="T13" fmla="*/ 35 h 40"/>
                  <a:gd name="T14" fmla="*/ 52 w 53"/>
                  <a:gd name="T15" fmla="*/ 35 h 40"/>
                  <a:gd name="T16" fmla="*/ 45 w 53"/>
                  <a:gd name="T17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3" h="40">
                    <a:moveTo>
                      <a:pt x="45" y="38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51" y="27"/>
                      <a:pt x="53" y="32"/>
                      <a:pt x="52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1" y="39"/>
                      <a:pt x="48" y="40"/>
                      <a:pt x="45" y="38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íṩḷíde"/>
              <p:cNvSpPr/>
              <p:nvPr/>
            </p:nvSpPr>
            <p:spPr bwMode="auto">
              <a:xfrm>
                <a:off x="5496483" y="2579975"/>
                <a:ext cx="147281" cy="117824"/>
              </a:xfrm>
              <a:custGeom>
                <a:avLst/>
                <a:gdLst>
                  <a:gd name="T0" fmla="*/ 34 w 41"/>
                  <a:gd name="T1" fmla="*/ 31 h 33"/>
                  <a:gd name="T2" fmla="*/ 4 w 41"/>
                  <a:gd name="T3" fmla="*/ 14 h 33"/>
                  <a:gd name="T4" fmla="*/ 1 w 41"/>
                  <a:gd name="T5" fmla="*/ 5 h 33"/>
                  <a:gd name="T6" fmla="*/ 1 w 41"/>
                  <a:gd name="T7" fmla="*/ 5 h 33"/>
                  <a:gd name="T8" fmla="*/ 7 w 41"/>
                  <a:gd name="T9" fmla="*/ 2 h 33"/>
                  <a:gd name="T10" fmla="*/ 37 w 41"/>
                  <a:gd name="T11" fmla="*/ 19 h 33"/>
                  <a:gd name="T12" fmla="*/ 41 w 41"/>
                  <a:gd name="T13" fmla="*/ 28 h 33"/>
                  <a:gd name="T14" fmla="*/ 41 w 41"/>
                  <a:gd name="T15" fmla="*/ 28 h 33"/>
                  <a:gd name="T16" fmla="*/ 34 w 41"/>
                  <a:gd name="T17" fmla="*/ 3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33">
                    <a:moveTo>
                      <a:pt x="34" y="31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40" y="21"/>
                      <a:pt x="41" y="25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32"/>
                      <a:pt x="37" y="33"/>
                      <a:pt x="34" y="3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îṡlíḓè"/>
              <p:cNvSpPr/>
              <p:nvPr/>
            </p:nvSpPr>
            <p:spPr bwMode="auto">
              <a:xfrm>
                <a:off x="6147981" y="2853742"/>
                <a:ext cx="112626" cy="93566"/>
              </a:xfrm>
              <a:custGeom>
                <a:avLst/>
                <a:gdLst>
                  <a:gd name="T0" fmla="*/ 24 w 31"/>
                  <a:gd name="T1" fmla="*/ 25 h 26"/>
                  <a:gd name="T2" fmla="*/ 5 w 31"/>
                  <a:gd name="T3" fmla="*/ 14 h 26"/>
                  <a:gd name="T4" fmla="*/ 1 w 31"/>
                  <a:gd name="T5" fmla="*/ 5 h 26"/>
                  <a:gd name="T6" fmla="*/ 1 w 31"/>
                  <a:gd name="T7" fmla="*/ 5 h 26"/>
                  <a:gd name="T8" fmla="*/ 8 w 31"/>
                  <a:gd name="T9" fmla="*/ 1 h 26"/>
                  <a:gd name="T10" fmla="*/ 27 w 31"/>
                  <a:gd name="T11" fmla="*/ 12 h 26"/>
                  <a:gd name="T12" fmla="*/ 30 w 31"/>
                  <a:gd name="T13" fmla="*/ 21 h 26"/>
                  <a:gd name="T14" fmla="*/ 30 w 31"/>
                  <a:gd name="T15" fmla="*/ 21 h 26"/>
                  <a:gd name="T16" fmla="*/ 24 w 31"/>
                  <a:gd name="T17" fmla="*/ 2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6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0" y="14"/>
                      <a:pt x="31" y="18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5"/>
                      <a:pt x="27" y="26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ï$1iḋé"/>
              <p:cNvSpPr/>
              <p:nvPr/>
            </p:nvSpPr>
            <p:spPr bwMode="auto">
              <a:xfrm>
                <a:off x="5747726" y="2193581"/>
                <a:ext cx="232183" cy="166340"/>
              </a:xfrm>
              <a:custGeom>
                <a:avLst/>
                <a:gdLst>
                  <a:gd name="T0" fmla="*/ 57 w 64"/>
                  <a:gd name="T1" fmla="*/ 44 h 46"/>
                  <a:gd name="T2" fmla="*/ 4 w 64"/>
                  <a:gd name="T3" fmla="*/ 14 h 46"/>
                  <a:gd name="T4" fmla="*/ 1 w 64"/>
                  <a:gd name="T5" fmla="*/ 5 h 46"/>
                  <a:gd name="T6" fmla="*/ 1 w 64"/>
                  <a:gd name="T7" fmla="*/ 5 h 46"/>
                  <a:gd name="T8" fmla="*/ 7 w 64"/>
                  <a:gd name="T9" fmla="*/ 2 h 46"/>
                  <a:gd name="T10" fmla="*/ 59 w 64"/>
                  <a:gd name="T11" fmla="*/ 32 h 46"/>
                  <a:gd name="T12" fmla="*/ 63 w 64"/>
                  <a:gd name="T13" fmla="*/ 41 h 46"/>
                  <a:gd name="T14" fmla="*/ 63 w 64"/>
                  <a:gd name="T15" fmla="*/ 41 h 46"/>
                  <a:gd name="T16" fmla="*/ 57 w 64"/>
                  <a:gd name="T17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6">
                    <a:moveTo>
                      <a:pt x="57" y="4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2" y="33"/>
                      <a:pt x="64" y="38"/>
                      <a:pt x="63" y="41"/>
                    </a:cubicBezTo>
                    <a:cubicBezTo>
                      <a:pt x="63" y="41"/>
                      <a:pt x="63" y="41"/>
                      <a:pt x="63" y="41"/>
                    </a:cubicBezTo>
                    <a:cubicBezTo>
                      <a:pt x="62" y="45"/>
                      <a:pt x="59" y="46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îŝľiďê"/>
              <p:cNvSpPr/>
              <p:nvPr/>
            </p:nvSpPr>
            <p:spPr bwMode="auto">
              <a:xfrm>
                <a:off x="5626437" y="2018578"/>
                <a:ext cx="370799" cy="244312"/>
              </a:xfrm>
              <a:custGeom>
                <a:avLst/>
                <a:gdLst>
                  <a:gd name="T0" fmla="*/ 95 w 103"/>
                  <a:gd name="T1" fmla="*/ 66 h 68"/>
                  <a:gd name="T2" fmla="*/ 5 w 103"/>
                  <a:gd name="T3" fmla="*/ 14 h 68"/>
                  <a:gd name="T4" fmla="*/ 1 w 103"/>
                  <a:gd name="T5" fmla="*/ 5 h 68"/>
                  <a:gd name="T6" fmla="*/ 1 w 103"/>
                  <a:gd name="T7" fmla="*/ 5 h 68"/>
                  <a:gd name="T8" fmla="*/ 7 w 103"/>
                  <a:gd name="T9" fmla="*/ 2 h 68"/>
                  <a:gd name="T10" fmla="*/ 98 w 103"/>
                  <a:gd name="T11" fmla="*/ 54 h 68"/>
                  <a:gd name="T12" fmla="*/ 102 w 103"/>
                  <a:gd name="T13" fmla="*/ 63 h 68"/>
                  <a:gd name="T14" fmla="*/ 102 w 103"/>
                  <a:gd name="T15" fmla="*/ 63 h 68"/>
                  <a:gd name="T16" fmla="*/ 95 w 103"/>
                  <a:gd name="T17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68">
                    <a:moveTo>
                      <a:pt x="95" y="66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4" y="0"/>
                      <a:pt x="7" y="2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101" y="56"/>
                      <a:pt x="103" y="60"/>
                      <a:pt x="102" y="63"/>
                    </a:cubicBezTo>
                    <a:cubicBezTo>
                      <a:pt x="102" y="63"/>
                      <a:pt x="102" y="63"/>
                      <a:pt x="102" y="63"/>
                    </a:cubicBezTo>
                    <a:cubicBezTo>
                      <a:pt x="101" y="67"/>
                      <a:pt x="98" y="68"/>
                      <a:pt x="95" y="66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îSļïḑé"/>
              <p:cNvSpPr/>
              <p:nvPr/>
            </p:nvSpPr>
            <p:spPr bwMode="auto">
              <a:xfrm>
                <a:off x="5583119" y="2205710"/>
                <a:ext cx="230450" cy="164608"/>
              </a:xfrm>
              <a:custGeom>
                <a:avLst/>
                <a:gdLst>
                  <a:gd name="T0" fmla="*/ 57 w 64"/>
                  <a:gd name="T1" fmla="*/ 44 h 46"/>
                  <a:gd name="T2" fmla="*/ 4 w 64"/>
                  <a:gd name="T3" fmla="*/ 14 h 46"/>
                  <a:gd name="T4" fmla="*/ 1 w 64"/>
                  <a:gd name="T5" fmla="*/ 5 h 46"/>
                  <a:gd name="T6" fmla="*/ 1 w 64"/>
                  <a:gd name="T7" fmla="*/ 5 h 46"/>
                  <a:gd name="T8" fmla="*/ 7 w 64"/>
                  <a:gd name="T9" fmla="*/ 2 h 46"/>
                  <a:gd name="T10" fmla="*/ 59 w 64"/>
                  <a:gd name="T11" fmla="*/ 32 h 46"/>
                  <a:gd name="T12" fmla="*/ 63 w 64"/>
                  <a:gd name="T13" fmla="*/ 41 h 46"/>
                  <a:gd name="T14" fmla="*/ 63 w 64"/>
                  <a:gd name="T15" fmla="*/ 41 h 46"/>
                  <a:gd name="T16" fmla="*/ 57 w 64"/>
                  <a:gd name="T17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6">
                    <a:moveTo>
                      <a:pt x="57" y="4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2" y="33"/>
                      <a:pt x="64" y="38"/>
                      <a:pt x="63" y="41"/>
                    </a:cubicBezTo>
                    <a:cubicBezTo>
                      <a:pt x="63" y="41"/>
                      <a:pt x="63" y="41"/>
                      <a:pt x="63" y="41"/>
                    </a:cubicBezTo>
                    <a:cubicBezTo>
                      <a:pt x="62" y="44"/>
                      <a:pt x="59" y="46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î$ľïḑé"/>
              <p:cNvSpPr/>
              <p:nvPr/>
            </p:nvSpPr>
            <p:spPr bwMode="auto">
              <a:xfrm>
                <a:off x="6011097" y="2346059"/>
                <a:ext cx="112626" cy="97032"/>
              </a:xfrm>
              <a:custGeom>
                <a:avLst/>
                <a:gdLst>
                  <a:gd name="T0" fmla="*/ 23 w 31"/>
                  <a:gd name="T1" fmla="*/ 25 h 27"/>
                  <a:gd name="T2" fmla="*/ 4 w 31"/>
                  <a:gd name="T3" fmla="*/ 14 h 27"/>
                  <a:gd name="T4" fmla="*/ 0 w 31"/>
                  <a:gd name="T5" fmla="*/ 5 h 27"/>
                  <a:gd name="T6" fmla="*/ 0 w 31"/>
                  <a:gd name="T7" fmla="*/ 5 h 27"/>
                  <a:gd name="T8" fmla="*/ 7 w 31"/>
                  <a:gd name="T9" fmla="*/ 2 h 27"/>
                  <a:gd name="T10" fmla="*/ 26 w 31"/>
                  <a:gd name="T11" fmla="*/ 13 h 27"/>
                  <a:gd name="T12" fmla="*/ 30 w 31"/>
                  <a:gd name="T13" fmla="*/ 22 h 27"/>
                  <a:gd name="T14" fmla="*/ 30 w 31"/>
                  <a:gd name="T15" fmla="*/ 22 h 27"/>
                  <a:gd name="T16" fmla="*/ 23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3" y="2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2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14"/>
                      <a:pt x="31" y="18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5"/>
                      <a:pt x="26" y="27"/>
                      <a:pt x="23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ïsḷïďè"/>
              <p:cNvSpPr/>
              <p:nvPr/>
            </p:nvSpPr>
            <p:spPr bwMode="auto">
              <a:xfrm>
                <a:off x="6518780" y="2202245"/>
                <a:ext cx="112626" cy="97032"/>
              </a:xfrm>
              <a:custGeom>
                <a:avLst/>
                <a:gdLst>
                  <a:gd name="T0" fmla="*/ 23 w 31"/>
                  <a:gd name="T1" fmla="*/ 25 h 27"/>
                  <a:gd name="T2" fmla="*/ 5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2 h 27"/>
                  <a:gd name="T10" fmla="*/ 26 w 31"/>
                  <a:gd name="T11" fmla="*/ 13 h 27"/>
                  <a:gd name="T12" fmla="*/ 30 w 31"/>
                  <a:gd name="T13" fmla="*/ 22 h 27"/>
                  <a:gd name="T14" fmla="*/ 30 w 31"/>
                  <a:gd name="T15" fmla="*/ 22 h 27"/>
                  <a:gd name="T16" fmla="*/ 23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3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7" y="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14"/>
                      <a:pt x="31" y="19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5"/>
                      <a:pt x="26" y="27"/>
                      <a:pt x="23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6" name="iṧlíďe"/>
              <p:cNvSpPr/>
              <p:nvPr/>
            </p:nvSpPr>
            <p:spPr bwMode="auto">
              <a:xfrm>
                <a:off x="5539802" y="2392843"/>
                <a:ext cx="270302" cy="187132"/>
              </a:xfrm>
              <a:custGeom>
                <a:avLst/>
                <a:gdLst>
                  <a:gd name="T0" fmla="*/ 67 w 75"/>
                  <a:gd name="T1" fmla="*/ 50 h 52"/>
                  <a:gd name="T2" fmla="*/ 4 w 75"/>
                  <a:gd name="T3" fmla="*/ 14 h 52"/>
                  <a:gd name="T4" fmla="*/ 1 w 75"/>
                  <a:gd name="T5" fmla="*/ 5 h 52"/>
                  <a:gd name="T6" fmla="*/ 1 w 75"/>
                  <a:gd name="T7" fmla="*/ 5 h 52"/>
                  <a:gd name="T8" fmla="*/ 7 w 75"/>
                  <a:gd name="T9" fmla="*/ 2 h 52"/>
                  <a:gd name="T10" fmla="*/ 70 w 75"/>
                  <a:gd name="T11" fmla="*/ 38 h 52"/>
                  <a:gd name="T12" fmla="*/ 74 w 75"/>
                  <a:gd name="T13" fmla="*/ 47 h 52"/>
                  <a:gd name="T14" fmla="*/ 74 w 75"/>
                  <a:gd name="T15" fmla="*/ 47 h 52"/>
                  <a:gd name="T16" fmla="*/ 67 w 75"/>
                  <a:gd name="T17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52">
                    <a:moveTo>
                      <a:pt x="67" y="50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73" y="40"/>
                      <a:pt x="75" y="44"/>
                      <a:pt x="74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3" y="51"/>
                      <a:pt x="70" y="52"/>
                      <a:pt x="67" y="5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7" name="iśļïďé"/>
              <p:cNvSpPr/>
              <p:nvPr/>
            </p:nvSpPr>
            <p:spPr bwMode="auto">
              <a:xfrm>
                <a:off x="5596980" y="1684166"/>
                <a:ext cx="209658" cy="150746"/>
              </a:xfrm>
              <a:custGeom>
                <a:avLst/>
                <a:gdLst>
                  <a:gd name="T0" fmla="*/ 51 w 58"/>
                  <a:gd name="T1" fmla="*/ 40 h 42"/>
                  <a:gd name="T2" fmla="*/ 5 w 58"/>
                  <a:gd name="T3" fmla="*/ 14 h 42"/>
                  <a:gd name="T4" fmla="*/ 1 w 58"/>
                  <a:gd name="T5" fmla="*/ 5 h 42"/>
                  <a:gd name="T6" fmla="*/ 1 w 58"/>
                  <a:gd name="T7" fmla="*/ 5 h 42"/>
                  <a:gd name="T8" fmla="*/ 7 w 58"/>
                  <a:gd name="T9" fmla="*/ 1 h 42"/>
                  <a:gd name="T10" fmla="*/ 53 w 58"/>
                  <a:gd name="T11" fmla="*/ 28 h 42"/>
                  <a:gd name="T12" fmla="*/ 57 w 58"/>
                  <a:gd name="T13" fmla="*/ 37 h 42"/>
                  <a:gd name="T14" fmla="*/ 57 w 58"/>
                  <a:gd name="T15" fmla="*/ 37 h 42"/>
                  <a:gd name="T16" fmla="*/ 51 w 58"/>
                  <a:gd name="T17" fmla="*/ 4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42">
                    <a:moveTo>
                      <a:pt x="51" y="4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4" y="0"/>
                      <a:pt x="7" y="1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6" y="30"/>
                      <a:pt x="58" y="34"/>
                      <a:pt x="57" y="37"/>
                    </a:cubicBezTo>
                    <a:cubicBezTo>
                      <a:pt x="57" y="37"/>
                      <a:pt x="57" y="37"/>
                      <a:pt x="57" y="37"/>
                    </a:cubicBezTo>
                    <a:cubicBezTo>
                      <a:pt x="56" y="41"/>
                      <a:pt x="53" y="42"/>
                      <a:pt x="51" y="4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8" name="îśľïḓê"/>
              <p:cNvSpPr/>
              <p:nvPr/>
            </p:nvSpPr>
            <p:spPr bwMode="auto">
              <a:xfrm>
                <a:off x="5380393" y="2619827"/>
                <a:ext cx="235648" cy="168073"/>
              </a:xfrm>
              <a:custGeom>
                <a:avLst/>
                <a:gdLst>
                  <a:gd name="T0" fmla="*/ 58 w 65"/>
                  <a:gd name="T1" fmla="*/ 45 h 47"/>
                  <a:gd name="T2" fmla="*/ 4 w 65"/>
                  <a:gd name="T3" fmla="*/ 14 h 47"/>
                  <a:gd name="T4" fmla="*/ 1 w 65"/>
                  <a:gd name="T5" fmla="*/ 5 h 47"/>
                  <a:gd name="T6" fmla="*/ 1 w 65"/>
                  <a:gd name="T7" fmla="*/ 5 h 47"/>
                  <a:gd name="T8" fmla="*/ 7 w 65"/>
                  <a:gd name="T9" fmla="*/ 2 h 47"/>
                  <a:gd name="T10" fmla="*/ 61 w 65"/>
                  <a:gd name="T11" fmla="*/ 33 h 47"/>
                  <a:gd name="T12" fmla="*/ 64 w 65"/>
                  <a:gd name="T13" fmla="*/ 42 h 47"/>
                  <a:gd name="T14" fmla="*/ 64 w 65"/>
                  <a:gd name="T15" fmla="*/ 42 h 47"/>
                  <a:gd name="T16" fmla="*/ 58 w 65"/>
                  <a:gd name="T17" fmla="*/ 4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7">
                    <a:moveTo>
                      <a:pt x="58" y="4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61" y="33"/>
                      <a:pt x="61" y="33"/>
                      <a:pt x="61" y="33"/>
                    </a:cubicBezTo>
                    <a:cubicBezTo>
                      <a:pt x="63" y="34"/>
                      <a:pt x="65" y="39"/>
                      <a:pt x="64" y="42"/>
                    </a:cubicBezTo>
                    <a:cubicBezTo>
                      <a:pt x="64" y="42"/>
                      <a:pt x="64" y="42"/>
                      <a:pt x="64" y="42"/>
                    </a:cubicBezTo>
                    <a:cubicBezTo>
                      <a:pt x="64" y="45"/>
                      <a:pt x="61" y="47"/>
                      <a:pt x="58" y="4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9" name="îšḷïḑé"/>
              <p:cNvSpPr/>
              <p:nvPr/>
            </p:nvSpPr>
            <p:spPr bwMode="auto">
              <a:xfrm>
                <a:off x="5576188" y="3278255"/>
                <a:ext cx="154211" cy="121289"/>
              </a:xfrm>
              <a:custGeom>
                <a:avLst/>
                <a:gdLst>
                  <a:gd name="T0" fmla="*/ 36 w 43"/>
                  <a:gd name="T1" fmla="*/ 32 h 34"/>
                  <a:gd name="T2" fmla="*/ 4 w 43"/>
                  <a:gd name="T3" fmla="*/ 14 h 34"/>
                  <a:gd name="T4" fmla="*/ 1 w 43"/>
                  <a:gd name="T5" fmla="*/ 5 h 34"/>
                  <a:gd name="T6" fmla="*/ 1 w 43"/>
                  <a:gd name="T7" fmla="*/ 5 h 34"/>
                  <a:gd name="T8" fmla="*/ 7 w 43"/>
                  <a:gd name="T9" fmla="*/ 2 h 34"/>
                  <a:gd name="T10" fmla="*/ 39 w 43"/>
                  <a:gd name="T11" fmla="*/ 20 h 34"/>
                  <a:gd name="T12" fmla="*/ 42 w 43"/>
                  <a:gd name="T13" fmla="*/ 29 h 34"/>
                  <a:gd name="T14" fmla="*/ 42 w 43"/>
                  <a:gd name="T15" fmla="*/ 29 h 34"/>
                  <a:gd name="T16" fmla="*/ 36 w 43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34">
                    <a:moveTo>
                      <a:pt x="36" y="32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1" y="22"/>
                      <a:pt x="43" y="26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33"/>
                      <a:pt x="39" y="34"/>
                      <a:pt x="36" y="32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0" name="işḷîde"/>
              <p:cNvSpPr/>
              <p:nvPr/>
            </p:nvSpPr>
            <p:spPr bwMode="auto">
              <a:xfrm>
                <a:off x="5787578" y="3403009"/>
                <a:ext cx="213123" cy="152478"/>
              </a:xfrm>
              <a:custGeom>
                <a:avLst/>
                <a:gdLst>
                  <a:gd name="T0" fmla="*/ 51 w 59"/>
                  <a:gd name="T1" fmla="*/ 40 h 42"/>
                  <a:gd name="T2" fmla="*/ 5 w 59"/>
                  <a:gd name="T3" fmla="*/ 14 h 42"/>
                  <a:gd name="T4" fmla="*/ 1 w 59"/>
                  <a:gd name="T5" fmla="*/ 4 h 42"/>
                  <a:gd name="T6" fmla="*/ 1 w 59"/>
                  <a:gd name="T7" fmla="*/ 4 h 42"/>
                  <a:gd name="T8" fmla="*/ 8 w 59"/>
                  <a:gd name="T9" fmla="*/ 1 h 42"/>
                  <a:gd name="T10" fmla="*/ 54 w 59"/>
                  <a:gd name="T11" fmla="*/ 28 h 42"/>
                  <a:gd name="T12" fmla="*/ 58 w 59"/>
                  <a:gd name="T13" fmla="*/ 37 h 42"/>
                  <a:gd name="T14" fmla="*/ 58 w 59"/>
                  <a:gd name="T15" fmla="*/ 37 h 42"/>
                  <a:gd name="T16" fmla="*/ 51 w 59"/>
                  <a:gd name="T17" fmla="*/ 4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2">
                    <a:moveTo>
                      <a:pt x="51" y="4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57" y="30"/>
                      <a:pt x="59" y="34"/>
                      <a:pt x="58" y="37"/>
                    </a:cubicBezTo>
                    <a:cubicBezTo>
                      <a:pt x="58" y="37"/>
                      <a:pt x="58" y="37"/>
                      <a:pt x="58" y="37"/>
                    </a:cubicBezTo>
                    <a:cubicBezTo>
                      <a:pt x="57" y="41"/>
                      <a:pt x="54" y="42"/>
                      <a:pt x="51" y="4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1" name="ïṥḷiďe"/>
              <p:cNvSpPr/>
              <p:nvPr/>
            </p:nvSpPr>
            <p:spPr bwMode="auto">
              <a:xfrm>
                <a:off x="5376927" y="3803265"/>
                <a:ext cx="159409" cy="123023"/>
              </a:xfrm>
              <a:custGeom>
                <a:avLst/>
                <a:gdLst>
                  <a:gd name="T0" fmla="*/ 36 w 44"/>
                  <a:gd name="T1" fmla="*/ 32 h 34"/>
                  <a:gd name="T2" fmla="*/ 5 w 44"/>
                  <a:gd name="T3" fmla="*/ 14 h 34"/>
                  <a:gd name="T4" fmla="*/ 1 w 44"/>
                  <a:gd name="T5" fmla="*/ 5 h 34"/>
                  <a:gd name="T6" fmla="*/ 1 w 44"/>
                  <a:gd name="T7" fmla="*/ 5 h 34"/>
                  <a:gd name="T8" fmla="*/ 8 w 44"/>
                  <a:gd name="T9" fmla="*/ 2 h 34"/>
                  <a:gd name="T10" fmla="*/ 39 w 44"/>
                  <a:gd name="T11" fmla="*/ 20 h 34"/>
                  <a:gd name="T12" fmla="*/ 43 w 44"/>
                  <a:gd name="T13" fmla="*/ 29 h 34"/>
                  <a:gd name="T14" fmla="*/ 43 w 44"/>
                  <a:gd name="T15" fmla="*/ 29 h 34"/>
                  <a:gd name="T16" fmla="*/ 36 w 44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34">
                    <a:moveTo>
                      <a:pt x="36" y="32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2" y="21"/>
                      <a:pt x="44" y="26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2" y="32"/>
                      <a:pt x="39" y="34"/>
                      <a:pt x="36" y="32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2" name="îṩ1íḓè"/>
              <p:cNvSpPr/>
              <p:nvPr/>
            </p:nvSpPr>
            <p:spPr bwMode="auto">
              <a:xfrm>
                <a:off x="5564059" y="3910693"/>
                <a:ext cx="209658" cy="150746"/>
              </a:xfrm>
              <a:custGeom>
                <a:avLst/>
                <a:gdLst>
                  <a:gd name="T0" fmla="*/ 51 w 58"/>
                  <a:gd name="T1" fmla="*/ 40 h 42"/>
                  <a:gd name="T2" fmla="*/ 5 w 58"/>
                  <a:gd name="T3" fmla="*/ 14 h 42"/>
                  <a:gd name="T4" fmla="*/ 1 w 58"/>
                  <a:gd name="T5" fmla="*/ 5 h 42"/>
                  <a:gd name="T6" fmla="*/ 1 w 58"/>
                  <a:gd name="T7" fmla="*/ 5 h 42"/>
                  <a:gd name="T8" fmla="*/ 7 w 58"/>
                  <a:gd name="T9" fmla="*/ 1 h 42"/>
                  <a:gd name="T10" fmla="*/ 53 w 58"/>
                  <a:gd name="T11" fmla="*/ 28 h 42"/>
                  <a:gd name="T12" fmla="*/ 57 w 58"/>
                  <a:gd name="T13" fmla="*/ 37 h 42"/>
                  <a:gd name="T14" fmla="*/ 57 w 58"/>
                  <a:gd name="T15" fmla="*/ 37 h 42"/>
                  <a:gd name="T16" fmla="*/ 51 w 58"/>
                  <a:gd name="T17" fmla="*/ 4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42">
                    <a:moveTo>
                      <a:pt x="51" y="4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1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6" y="30"/>
                      <a:pt x="58" y="34"/>
                      <a:pt x="57" y="37"/>
                    </a:cubicBezTo>
                    <a:cubicBezTo>
                      <a:pt x="57" y="37"/>
                      <a:pt x="57" y="37"/>
                      <a:pt x="57" y="37"/>
                    </a:cubicBezTo>
                    <a:cubicBezTo>
                      <a:pt x="56" y="41"/>
                      <a:pt x="53" y="42"/>
                      <a:pt x="51" y="4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3" name="ïṧľîḋè"/>
              <p:cNvSpPr/>
              <p:nvPr/>
            </p:nvSpPr>
            <p:spPr bwMode="auto">
              <a:xfrm>
                <a:off x="5283361" y="3215877"/>
                <a:ext cx="116092" cy="97032"/>
              </a:xfrm>
              <a:custGeom>
                <a:avLst/>
                <a:gdLst>
                  <a:gd name="T0" fmla="*/ 25 w 32"/>
                  <a:gd name="T1" fmla="*/ 26 h 27"/>
                  <a:gd name="T2" fmla="*/ 5 w 32"/>
                  <a:gd name="T3" fmla="*/ 14 h 27"/>
                  <a:gd name="T4" fmla="*/ 1 w 32"/>
                  <a:gd name="T5" fmla="*/ 5 h 27"/>
                  <a:gd name="T6" fmla="*/ 1 w 32"/>
                  <a:gd name="T7" fmla="*/ 5 h 27"/>
                  <a:gd name="T8" fmla="*/ 8 w 32"/>
                  <a:gd name="T9" fmla="*/ 2 h 27"/>
                  <a:gd name="T10" fmla="*/ 27 w 32"/>
                  <a:gd name="T11" fmla="*/ 13 h 27"/>
                  <a:gd name="T12" fmla="*/ 31 w 32"/>
                  <a:gd name="T13" fmla="*/ 22 h 27"/>
                  <a:gd name="T14" fmla="*/ 31 w 32"/>
                  <a:gd name="T15" fmla="*/ 22 h 27"/>
                  <a:gd name="T16" fmla="*/ 25 w 32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7">
                    <a:moveTo>
                      <a:pt x="25" y="26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0" y="15"/>
                      <a:pt x="32" y="19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6"/>
                      <a:pt x="27" y="27"/>
                      <a:pt x="25" y="26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4" name="i$ľîḍe"/>
              <p:cNvSpPr/>
              <p:nvPr/>
            </p:nvSpPr>
            <p:spPr bwMode="auto">
              <a:xfrm>
                <a:off x="5356135" y="3364890"/>
                <a:ext cx="259906" cy="181935"/>
              </a:xfrm>
              <a:custGeom>
                <a:avLst/>
                <a:gdLst>
                  <a:gd name="T0" fmla="*/ 65 w 72"/>
                  <a:gd name="T1" fmla="*/ 49 h 51"/>
                  <a:gd name="T2" fmla="*/ 5 w 72"/>
                  <a:gd name="T3" fmla="*/ 15 h 51"/>
                  <a:gd name="T4" fmla="*/ 1 w 72"/>
                  <a:gd name="T5" fmla="*/ 5 h 51"/>
                  <a:gd name="T6" fmla="*/ 1 w 72"/>
                  <a:gd name="T7" fmla="*/ 5 h 51"/>
                  <a:gd name="T8" fmla="*/ 8 w 72"/>
                  <a:gd name="T9" fmla="*/ 2 h 51"/>
                  <a:gd name="T10" fmla="*/ 68 w 72"/>
                  <a:gd name="T11" fmla="*/ 36 h 51"/>
                  <a:gd name="T12" fmla="*/ 71 w 72"/>
                  <a:gd name="T13" fmla="*/ 46 h 51"/>
                  <a:gd name="T14" fmla="*/ 71 w 72"/>
                  <a:gd name="T15" fmla="*/ 46 h 51"/>
                  <a:gd name="T16" fmla="*/ 65 w 72"/>
                  <a:gd name="T17" fmla="*/ 4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1">
                    <a:moveTo>
                      <a:pt x="65" y="49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70" y="38"/>
                      <a:pt x="72" y="42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9"/>
                      <a:pt x="68" y="51"/>
                      <a:pt x="65" y="49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5" name="îṩ1îḋe"/>
              <p:cNvSpPr/>
              <p:nvPr/>
            </p:nvSpPr>
            <p:spPr bwMode="auto">
              <a:xfrm>
                <a:off x="5312817" y="3555487"/>
                <a:ext cx="114359" cy="97032"/>
              </a:xfrm>
              <a:custGeom>
                <a:avLst/>
                <a:gdLst>
                  <a:gd name="T0" fmla="*/ 25 w 32"/>
                  <a:gd name="T1" fmla="*/ 25 h 27"/>
                  <a:gd name="T2" fmla="*/ 5 w 32"/>
                  <a:gd name="T3" fmla="*/ 14 h 27"/>
                  <a:gd name="T4" fmla="*/ 1 w 32"/>
                  <a:gd name="T5" fmla="*/ 4 h 27"/>
                  <a:gd name="T6" fmla="*/ 1 w 32"/>
                  <a:gd name="T7" fmla="*/ 4 h 27"/>
                  <a:gd name="T8" fmla="*/ 8 w 32"/>
                  <a:gd name="T9" fmla="*/ 1 h 27"/>
                  <a:gd name="T10" fmla="*/ 27 w 32"/>
                  <a:gd name="T11" fmla="*/ 12 h 27"/>
                  <a:gd name="T12" fmla="*/ 31 w 32"/>
                  <a:gd name="T13" fmla="*/ 22 h 27"/>
                  <a:gd name="T14" fmla="*/ 31 w 32"/>
                  <a:gd name="T15" fmla="*/ 22 h 27"/>
                  <a:gd name="T16" fmla="*/ 25 w 32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7">
                    <a:moveTo>
                      <a:pt x="25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0" y="14"/>
                      <a:pt x="32" y="18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5"/>
                      <a:pt x="27" y="27"/>
                      <a:pt x="25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6" name="íṥlíďè"/>
              <p:cNvSpPr/>
              <p:nvPr/>
            </p:nvSpPr>
            <p:spPr bwMode="auto">
              <a:xfrm>
                <a:off x="5579653" y="4130746"/>
                <a:ext cx="230450" cy="164608"/>
              </a:xfrm>
              <a:custGeom>
                <a:avLst/>
                <a:gdLst>
                  <a:gd name="T0" fmla="*/ 57 w 64"/>
                  <a:gd name="T1" fmla="*/ 44 h 46"/>
                  <a:gd name="T2" fmla="*/ 4 w 64"/>
                  <a:gd name="T3" fmla="*/ 14 h 46"/>
                  <a:gd name="T4" fmla="*/ 1 w 64"/>
                  <a:gd name="T5" fmla="*/ 5 h 46"/>
                  <a:gd name="T6" fmla="*/ 1 w 64"/>
                  <a:gd name="T7" fmla="*/ 5 h 46"/>
                  <a:gd name="T8" fmla="*/ 7 w 64"/>
                  <a:gd name="T9" fmla="*/ 2 h 46"/>
                  <a:gd name="T10" fmla="*/ 59 w 64"/>
                  <a:gd name="T11" fmla="*/ 32 h 46"/>
                  <a:gd name="T12" fmla="*/ 63 w 64"/>
                  <a:gd name="T13" fmla="*/ 41 h 46"/>
                  <a:gd name="T14" fmla="*/ 63 w 64"/>
                  <a:gd name="T15" fmla="*/ 41 h 46"/>
                  <a:gd name="T16" fmla="*/ 57 w 64"/>
                  <a:gd name="T17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6">
                    <a:moveTo>
                      <a:pt x="57" y="4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2" y="34"/>
                      <a:pt x="64" y="38"/>
                      <a:pt x="63" y="41"/>
                    </a:cubicBezTo>
                    <a:cubicBezTo>
                      <a:pt x="63" y="41"/>
                      <a:pt x="63" y="41"/>
                      <a:pt x="63" y="41"/>
                    </a:cubicBezTo>
                    <a:cubicBezTo>
                      <a:pt x="62" y="45"/>
                      <a:pt x="59" y="46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7" name="iṣlíḋè"/>
              <p:cNvSpPr/>
              <p:nvPr/>
            </p:nvSpPr>
            <p:spPr bwMode="auto">
              <a:xfrm>
                <a:off x="5269499" y="3742620"/>
                <a:ext cx="90101" cy="81438"/>
              </a:xfrm>
              <a:custGeom>
                <a:avLst/>
                <a:gdLst>
                  <a:gd name="T0" fmla="*/ 18 w 25"/>
                  <a:gd name="T1" fmla="*/ 21 h 23"/>
                  <a:gd name="T2" fmla="*/ 5 w 25"/>
                  <a:gd name="T3" fmla="*/ 14 h 23"/>
                  <a:gd name="T4" fmla="*/ 1 w 25"/>
                  <a:gd name="T5" fmla="*/ 5 h 23"/>
                  <a:gd name="T6" fmla="*/ 1 w 25"/>
                  <a:gd name="T7" fmla="*/ 5 h 23"/>
                  <a:gd name="T8" fmla="*/ 8 w 25"/>
                  <a:gd name="T9" fmla="*/ 1 h 23"/>
                  <a:gd name="T10" fmla="*/ 20 w 25"/>
                  <a:gd name="T11" fmla="*/ 9 h 23"/>
                  <a:gd name="T12" fmla="*/ 24 w 25"/>
                  <a:gd name="T13" fmla="*/ 18 h 23"/>
                  <a:gd name="T14" fmla="*/ 24 w 25"/>
                  <a:gd name="T15" fmla="*/ 18 h 23"/>
                  <a:gd name="T16" fmla="*/ 18 w 25"/>
                  <a:gd name="T17" fmla="*/ 2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23">
                    <a:moveTo>
                      <a:pt x="18" y="2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3" y="10"/>
                      <a:pt x="25" y="14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21"/>
                      <a:pt x="20" y="23"/>
                      <a:pt x="18" y="2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8" name="ï$líḓê"/>
              <p:cNvSpPr/>
              <p:nvPr/>
            </p:nvSpPr>
            <p:spPr bwMode="auto">
              <a:xfrm>
                <a:off x="5226181" y="3929752"/>
                <a:ext cx="100497" cy="90101"/>
              </a:xfrm>
              <a:custGeom>
                <a:avLst/>
                <a:gdLst>
                  <a:gd name="T0" fmla="*/ 21 w 28"/>
                  <a:gd name="T1" fmla="*/ 23 h 25"/>
                  <a:gd name="T2" fmla="*/ 5 w 28"/>
                  <a:gd name="T3" fmla="*/ 14 h 25"/>
                  <a:gd name="T4" fmla="*/ 1 w 28"/>
                  <a:gd name="T5" fmla="*/ 5 h 25"/>
                  <a:gd name="T6" fmla="*/ 1 w 28"/>
                  <a:gd name="T7" fmla="*/ 5 h 25"/>
                  <a:gd name="T8" fmla="*/ 8 w 28"/>
                  <a:gd name="T9" fmla="*/ 1 h 25"/>
                  <a:gd name="T10" fmla="*/ 23 w 28"/>
                  <a:gd name="T11" fmla="*/ 10 h 25"/>
                  <a:gd name="T12" fmla="*/ 27 w 28"/>
                  <a:gd name="T13" fmla="*/ 20 h 25"/>
                  <a:gd name="T14" fmla="*/ 27 w 28"/>
                  <a:gd name="T15" fmla="*/ 20 h 25"/>
                  <a:gd name="T16" fmla="*/ 21 w 28"/>
                  <a:gd name="T17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25">
                    <a:moveTo>
                      <a:pt x="21" y="23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6" y="12"/>
                      <a:pt x="28" y="16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6" y="23"/>
                      <a:pt x="23" y="25"/>
                      <a:pt x="21" y="23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9" name="iśḷíḍê"/>
              <p:cNvSpPr/>
              <p:nvPr/>
            </p:nvSpPr>
            <p:spPr bwMode="auto">
              <a:xfrm>
                <a:off x="5352669" y="4000793"/>
                <a:ext cx="194063" cy="140350"/>
              </a:xfrm>
              <a:custGeom>
                <a:avLst/>
                <a:gdLst>
                  <a:gd name="T0" fmla="*/ 46 w 54"/>
                  <a:gd name="T1" fmla="*/ 38 h 39"/>
                  <a:gd name="T2" fmla="*/ 5 w 54"/>
                  <a:gd name="T3" fmla="*/ 14 h 39"/>
                  <a:gd name="T4" fmla="*/ 1 w 54"/>
                  <a:gd name="T5" fmla="*/ 5 h 39"/>
                  <a:gd name="T6" fmla="*/ 1 w 54"/>
                  <a:gd name="T7" fmla="*/ 5 h 39"/>
                  <a:gd name="T8" fmla="*/ 8 w 54"/>
                  <a:gd name="T9" fmla="*/ 2 h 39"/>
                  <a:gd name="T10" fmla="*/ 49 w 54"/>
                  <a:gd name="T11" fmla="*/ 25 h 39"/>
                  <a:gd name="T12" fmla="*/ 53 w 54"/>
                  <a:gd name="T13" fmla="*/ 35 h 39"/>
                  <a:gd name="T14" fmla="*/ 53 w 54"/>
                  <a:gd name="T15" fmla="*/ 35 h 39"/>
                  <a:gd name="T16" fmla="*/ 46 w 54"/>
                  <a:gd name="T17" fmla="*/ 3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39">
                    <a:moveTo>
                      <a:pt x="46" y="38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52" y="27"/>
                      <a:pt x="54" y="31"/>
                      <a:pt x="53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8"/>
                      <a:pt x="49" y="39"/>
                      <a:pt x="46" y="38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0" name="ï$1îḑé"/>
              <p:cNvSpPr/>
              <p:nvPr/>
            </p:nvSpPr>
            <p:spPr bwMode="auto">
              <a:xfrm>
                <a:off x="5203657" y="4023318"/>
                <a:ext cx="152478" cy="117824"/>
              </a:xfrm>
              <a:custGeom>
                <a:avLst/>
                <a:gdLst>
                  <a:gd name="T0" fmla="*/ 34 w 42"/>
                  <a:gd name="T1" fmla="*/ 31 h 33"/>
                  <a:gd name="T2" fmla="*/ 5 w 42"/>
                  <a:gd name="T3" fmla="*/ 14 h 33"/>
                  <a:gd name="T4" fmla="*/ 1 w 42"/>
                  <a:gd name="T5" fmla="*/ 5 h 33"/>
                  <a:gd name="T6" fmla="*/ 1 w 42"/>
                  <a:gd name="T7" fmla="*/ 5 h 33"/>
                  <a:gd name="T8" fmla="*/ 8 w 42"/>
                  <a:gd name="T9" fmla="*/ 2 h 33"/>
                  <a:gd name="T10" fmla="*/ 37 w 42"/>
                  <a:gd name="T11" fmla="*/ 19 h 33"/>
                  <a:gd name="T12" fmla="*/ 41 w 42"/>
                  <a:gd name="T13" fmla="*/ 28 h 33"/>
                  <a:gd name="T14" fmla="*/ 41 w 42"/>
                  <a:gd name="T15" fmla="*/ 28 h 33"/>
                  <a:gd name="T16" fmla="*/ 34 w 42"/>
                  <a:gd name="T17" fmla="*/ 3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" h="33">
                    <a:moveTo>
                      <a:pt x="34" y="3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40" y="20"/>
                      <a:pt x="42" y="24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31"/>
                      <a:pt x="37" y="33"/>
                      <a:pt x="34" y="3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1" name="išliďe"/>
              <p:cNvSpPr/>
              <p:nvPr/>
            </p:nvSpPr>
            <p:spPr bwMode="auto">
              <a:xfrm>
                <a:off x="5860352" y="4291888"/>
                <a:ext cx="110893" cy="97032"/>
              </a:xfrm>
              <a:custGeom>
                <a:avLst/>
                <a:gdLst>
                  <a:gd name="T0" fmla="*/ 23 w 31"/>
                  <a:gd name="T1" fmla="*/ 25 h 27"/>
                  <a:gd name="T2" fmla="*/ 4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2 h 27"/>
                  <a:gd name="T10" fmla="*/ 26 w 31"/>
                  <a:gd name="T11" fmla="*/ 13 h 27"/>
                  <a:gd name="T12" fmla="*/ 30 w 31"/>
                  <a:gd name="T13" fmla="*/ 22 h 27"/>
                  <a:gd name="T14" fmla="*/ 30 w 31"/>
                  <a:gd name="T15" fmla="*/ 22 h 27"/>
                  <a:gd name="T16" fmla="*/ 23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3" y="2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14"/>
                      <a:pt x="31" y="19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5"/>
                      <a:pt x="26" y="27"/>
                      <a:pt x="23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2" name="iṥḷiḓé"/>
              <p:cNvSpPr/>
              <p:nvPr/>
            </p:nvSpPr>
            <p:spPr bwMode="auto">
              <a:xfrm>
                <a:off x="5456632" y="3636925"/>
                <a:ext cx="233916" cy="162874"/>
              </a:xfrm>
              <a:custGeom>
                <a:avLst/>
                <a:gdLst>
                  <a:gd name="T0" fmla="*/ 57 w 65"/>
                  <a:gd name="T1" fmla="*/ 44 h 45"/>
                  <a:gd name="T2" fmla="*/ 5 w 65"/>
                  <a:gd name="T3" fmla="*/ 14 h 45"/>
                  <a:gd name="T4" fmla="*/ 1 w 65"/>
                  <a:gd name="T5" fmla="*/ 4 h 45"/>
                  <a:gd name="T6" fmla="*/ 1 w 65"/>
                  <a:gd name="T7" fmla="*/ 4 h 45"/>
                  <a:gd name="T8" fmla="*/ 8 w 65"/>
                  <a:gd name="T9" fmla="*/ 1 h 45"/>
                  <a:gd name="T10" fmla="*/ 60 w 65"/>
                  <a:gd name="T11" fmla="*/ 31 h 45"/>
                  <a:gd name="T12" fmla="*/ 64 w 65"/>
                  <a:gd name="T13" fmla="*/ 41 h 45"/>
                  <a:gd name="T14" fmla="*/ 64 w 65"/>
                  <a:gd name="T15" fmla="*/ 41 h 45"/>
                  <a:gd name="T16" fmla="*/ 57 w 65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5">
                    <a:moveTo>
                      <a:pt x="57" y="44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3" y="33"/>
                      <a:pt x="65" y="37"/>
                      <a:pt x="64" y="41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4"/>
                      <a:pt x="60" y="45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3" name="ïṧḻiḓè"/>
              <p:cNvSpPr/>
              <p:nvPr/>
            </p:nvSpPr>
            <p:spPr bwMode="auto">
              <a:xfrm>
                <a:off x="5333609" y="3458456"/>
                <a:ext cx="372532" cy="247777"/>
              </a:xfrm>
              <a:custGeom>
                <a:avLst/>
                <a:gdLst>
                  <a:gd name="T0" fmla="*/ 96 w 103"/>
                  <a:gd name="T1" fmla="*/ 67 h 69"/>
                  <a:gd name="T2" fmla="*/ 5 w 103"/>
                  <a:gd name="T3" fmla="*/ 15 h 69"/>
                  <a:gd name="T4" fmla="*/ 1 w 103"/>
                  <a:gd name="T5" fmla="*/ 5 h 69"/>
                  <a:gd name="T6" fmla="*/ 1 w 103"/>
                  <a:gd name="T7" fmla="*/ 5 h 69"/>
                  <a:gd name="T8" fmla="*/ 8 w 103"/>
                  <a:gd name="T9" fmla="*/ 2 h 69"/>
                  <a:gd name="T10" fmla="*/ 99 w 103"/>
                  <a:gd name="T11" fmla="*/ 55 h 69"/>
                  <a:gd name="T12" fmla="*/ 103 w 103"/>
                  <a:gd name="T13" fmla="*/ 64 h 69"/>
                  <a:gd name="T14" fmla="*/ 103 w 103"/>
                  <a:gd name="T15" fmla="*/ 64 h 69"/>
                  <a:gd name="T16" fmla="*/ 96 w 103"/>
                  <a:gd name="T17" fmla="*/ 6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69">
                    <a:moveTo>
                      <a:pt x="96" y="67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99" y="55"/>
                      <a:pt x="99" y="55"/>
                      <a:pt x="99" y="55"/>
                    </a:cubicBezTo>
                    <a:cubicBezTo>
                      <a:pt x="102" y="56"/>
                      <a:pt x="103" y="60"/>
                      <a:pt x="103" y="64"/>
                    </a:cubicBezTo>
                    <a:cubicBezTo>
                      <a:pt x="103" y="64"/>
                      <a:pt x="103" y="64"/>
                      <a:pt x="103" y="64"/>
                    </a:cubicBezTo>
                    <a:cubicBezTo>
                      <a:pt x="102" y="67"/>
                      <a:pt x="99" y="69"/>
                      <a:pt x="96" y="67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4" name="ïsļíḑê"/>
              <p:cNvSpPr/>
              <p:nvPr/>
            </p:nvSpPr>
            <p:spPr bwMode="auto">
              <a:xfrm>
                <a:off x="5290292" y="3649054"/>
                <a:ext cx="235648" cy="161142"/>
              </a:xfrm>
              <a:custGeom>
                <a:avLst/>
                <a:gdLst>
                  <a:gd name="T0" fmla="*/ 57 w 65"/>
                  <a:gd name="T1" fmla="*/ 44 h 45"/>
                  <a:gd name="T2" fmla="*/ 5 w 65"/>
                  <a:gd name="T3" fmla="*/ 14 h 45"/>
                  <a:gd name="T4" fmla="*/ 1 w 65"/>
                  <a:gd name="T5" fmla="*/ 4 h 45"/>
                  <a:gd name="T6" fmla="*/ 1 w 65"/>
                  <a:gd name="T7" fmla="*/ 4 h 45"/>
                  <a:gd name="T8" fmla="*/ 8 w 65"/>
                  <a:gd name="T9" fmla="*/ 1 h 45"/>
                  <a:gd name="T10" fmla="*/ 60 w 65"/>
                  <a:gd name="T11" fmla="*/ 31 h 45"/>
                  <a:gd name="T12" fmla="*/ 64 w 65"/>
                  <a:gd name="T13" fmla="*/ 41 h 45"/>
                  <a:gd name="T14" fmla="*/ 64 w 65"/>
                  <a:gd name="T15" fmla="*/ 41 h 45"/>
                  <a:gd name="T16" fmla="*/ 57 w 65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5">
                    <a:moveTo>
                      <a:pt x="57" y="44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3" y="33"/>
                      <a:pt x="65" y="37"/>
                      <a:pt x="64" y="41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4"/>
                      <a:pt x="60" y="45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5" name="iş1íḑê"/>
              <p:cNvSpPr/>
              <p:nvPr/>
            </p:nvSpPr>
            <p:spPr bwMode="auto">
              <a:xfrm>
                <a:off x="5720003" y="3789403"/>
                <a:ext cx="110893" cy="93566"/>
              </a:xfrm>
              <a:custGeom>
                <a:avLst/>
                <a:gdLst>
                  <a:gd name="T0" fmla="*/ 24 w 31"/>
                  <a:gd name="T1" fmla="*/ 25 h 26"/>
                  <a:gd name="T2" fmla="*/ 5 w 31"/>
                  <a:gd name="T3" fmla="*/ 14 h 26"/>
                  <a:gd name="T4" fmla="*/ 1 w 31"/>
                  <a:gd name="T5" fmla="*/ 4 h 26"/>
                  <a:gd name="T6" fmla="*/ 1 w 31"/>
                  <a:gd name="T7" fmla="*/ 4 h 26"/>
                  <a:gd name="T8" fmla="*/ 8 w 31"/>
                  <a:gd name="T9" fmla="*/ 1 h 26"/>
                  <a:gd name="T10" fmla="*/ 27 w 31"/>
                  <a:gd name="T11" fmla="*/ 12 h 26"/>
                  <a:gd name="T12" fmla="*/ 30 w 31"/>
                  <a:gd name="T13" fmla="*/ 21 h 26"/>
                  <a:gd name="T14" fmla="*/ 30 w 31"/>
                  <a:gd name="T15" fmla="*/ 21 h 26"/>
                  <a:gd name="T16" fmla="*/ 24 w 31"/>
                  <a:gd name="T17" fmla="*/ 2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6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9" y="14"/>
                      <a:pt x="31" y="18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5"/>
                      <a:pt x="27" y="26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6" name="íṡḻïḋè"/>
              <p:cNvSpPr/>
              <p:nvPr/>
            </p:nvSpPr>
            <p:spPr bwMode="auto">
              <a:xfrm>
                <a:off x="5246974" y="3836186"/>
                <a:ext cx="270302" cy="187132"/>
              </a:xfrm>
              <a:custGeom>
                <a:avLst/>
                <a:gdLst>
                  <a:gd name="T0" fmla="*/ 68 w 75"/>
                  <a:gd name="T1" fmla="*/ 50 h 52"/>
                  <a:gd name="T2" fmla="*/ 5 w 75"/>
                  <a:gd name="T3" fmla="*/ 14 h 52"/>
                  <a:gd name="T4" fmla="*/ 1 w 75"/>
                  <a:gd name="T5" fmla="*/ 5 h 52"/>
                  <a:gd name="T6" fmla="*/ 1 w 75"/>
                  <a:gd name="T7" fmla="*/ 5 h 52"/>
                  <a:gd name="T8" fmla="*/ 8 w 75"/>
                  <a:gd name="T9" fmla="*/ 1 h 52"/>
                  <a:gd name="T10" fmla="*/ 70 w 75"/>
                  <a:gd name="T11" fmla="*/ 38 h 52"/>
                  <a:gd name="T12" fmla="*/ 74 w 75"/>
                  <a:gd name="T13" fmla="*/ 47 h 52"/>
                  <a:gd name="T14" fmla="*/ 74 w 75"/>
                  <a:gd name="T15" fmla="*/ 47 h 52"/>
                  <a:gd name="T16" fmla="*/ 68 w 75"/>
                  <a:gd name="T17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52">
                    <a:moveTo>
                      <a:pt x="68" y="5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73" y="39"/>
                      <a:pt x="75" y="43"/>
                      <a:pt x="74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4" y="50"/>
                      <a:pt x="71" y="52"/>
                      <a:pt x="68" y="5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7" name="išliḋè"/>
              <p:cNvSpPr/>
              <p:nvPr/>
            </p:nvSpPr>
            <p:spPr bwMode="auto">
              <a:xfrm>
                <a:off x="5305886" y="3122311"/>
                <a:ext cx="211390" cy="155943"/>
              </a:xfrm>
              <a:custGeom>
                <a:avLst/>
                <a:gdLst>
                  <a:gd name="T0" fmla="*/ 51 w 59"/>
                  <a:gd name="T1" fmla="*/ 41 h 43"/>
                  <a:gd name="T2" fmla="*/ 5 w 59"/>
                  <a:gd name="T3" fmla="*/ 14 h 43"/>
                  <a:gd name="T4" fmla="*/ 1 w 59"/>
                  <a:gd name="T5" fmla="*/ 5 h 43"/>
                  <a:gd name="T6" fmla="*/ 1 w 59"/>
                  <a:gd name="T7" fmla="*/ 5 h 43"/>
                  <a:gd name="T8" fmla="*/ 8 w 59"/>
                  <a:gd name="T9" fmla="*/ 2 h 43"/>
                  <a:gd name="T10" fmla="*/ 54 w 59"/>
                  <a:gd name="T11" fmla="*/ 29 h 43"/>
                  <a:gd name="T12" fmla="*/ 58 w 59"/>
                  <a:gd name="T13" fmla="*/ 38 h 43"/>
                  <a:gd name="T14" fmla="*/ 58 w 59"/>
                  <a:gd name="T15" fmla="*/ 38 h 43"/>
                  <a:gd name="T16" fmla="*/ 51 w 59"/>
                  <a:gd name="T17" fmla="*/ 4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3">
                    <a:moveTo>
                      <a:pt x="51" y="4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57" y="30"/>
                      <a:pt x="59" y="34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7" y="41"/>
                      <a:pt x="54" y="43"/>
                      <a:pt x="51" y="4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8" name="i$ļiḑé"/>
              <p:cNvSpPr/>
              <p:nvPr/>
            </p:nvSpPr>
            <p:spPr bwMode="auto">
              <a:xfrm>
                <a:off x="5089298" y="4061437"/>
                <a:ext cx="237381" cy="166340"/>
              </a:xfrm>
              <a:custGeom>
                <a:avLst/>
                <a:gdLst>
                  <a:gd name="T0" fmla="*/ 58 w 66"/>
                  <a:gd name="T1" fmla="*/ 45 h 46"/>
                  <a:gd name="T2" fmla="*/ 5 w 66"/>
                  <a:gd name="T3" fmla="*/ 14 h 46"/>
                  <a:gd name="T4" fmla="*/ 1 w 66"/>
                  <a:gd name="T5" fmla="*/ 5 h 46"/>
                  <a:gd name="T6" fmla="*/ 1 w 66"/>
                  <a:gd name="T7" fmla="*/ 5 h 46"/>
                  <a:gd name="T8" fmla="*/ 8 w 66"/>
                  <a:gd name="T9" fmla="*/ 2 h 46"/>
                  <a:gd name="T10" fmla="*/ 61 w 66"/>
                  <a:gd name="T11" fmla="*/ 32 h 46"/>
                  <a:gd name="T12" fmla="*/ 65 w 66"/>
                  <a:gd name="T13" fmla="*/ 42 h 46"/>
                  <a:gd name="T14" fmla="*/ 65 w 66"/>
                  <a:gd name="T15" fmla="*/ 42 h 46"/>
                  <a:gd name="T16" fmla="*/ 58 w 66"/>
                  <a:gd name="T17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46">
                    <a:moveTo>
                      <a:pt x="58" y="4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61" y="32"/>
                      <a:pt x="61" y="32"/>
                      <a:pt x="61" y="32"/>
                    </a:cubicBezTo>
                    <a:cubicBezTo>
                      <a:pt x="64" y="34"/>
                      <a:pt x="66" y="38"/>
                      <a:pt x="65" y="42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4" y="45"/>
                      <a:pt x="61" y="46"/>
                      <a:pt x="58" y="4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9" name="ïṣľïḓè"/>
              <p:cNvSpPr/>
              <p:nvPr/>
            </p:nvSpPr>
            <p:spPr bwMode="auto">
              <a:xfrm>
                <a:off x="5240043" y="2352990"/>
                <a:ext cx="1221558" cy="1637407"/>
              </a:xfrm>
              <a:custGeom>
                <a:avLst/>
                <a:gdLst>
                  <a:gd name="T0" fmla="*/ 298 w 339"/>
                  <a:gd name="T1" fmla="*/ 325 h 455"/>
                  <a:gd name="T2" fmla="*/ 339 w 339"/>
                  <a:gd name="T3" fmla="*/ 152 h 455"/>
                  <a:gd name="T4" fmla="*/ 266 w 339"/>
                  <a:gd name="T5" fmla="*/ 100 h 455"/>
                  <a:gd name="T6" fmla="*/ 153 w 339"/>
                  <a:gd name="T7" fmla="*/ 34 h 455"/>
                  <a:gd name="T8" fmla="*/ 76 w 339"/>
                  <a:gd name="T9" fmla="*/ 0 h 455"/>
                  <a:gd name="T10" fmla="*/ 35 w 339"/>
                  <a:gd name="T11" fmla="*/ 173 h 455"/>
                  <a:gd name="T12" fmla="*/ 120 w 339"/>
                  <a:gd name="T13" fmla="*/ 444 h 455"/>
                  <a:gd name="T14" fmla="*/ 298 w 339"/>
                  <a:gd name="T15" fmla="*/ 325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9" h="455">
                    <a:moveTo>
                      <a:pt x="298" y="325"/>
                    </a:moveTo>
                    <a:cubicBezTo>
                      <a:pt x="339" y="152"/>
                      <a:pt x="339" y="152"/>
                      <a:pt x="339" y="152"/>
                    </a:cubicBezTo>
                    <a:cubicBezTo>
                      <a:pt x="266" y="100"/>
                      <a:pt x="266" y="100"/>
                      <a:pt x="266" y="100"/>
                    </a:cubicBezTo>
                    <a:cubicBezTo>
                      <a:pt x="230" y="74"/>
                      <a:pt x="192" y="52"/>
                      <a:pt x="153" y="34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35" y="173"/>
                      <a:pt x="35" y="173"/>
                      <a:pt x="35" y="173"/>
                    </a:cubicBezTo>
                    <a:cubicBezTo>
                      <a:pt x="35" y="173"/>
                      <a:pt x="0" y="298"/>
                      <a:pt x="120" y="444"/>
                    </a:cubicBezTo>
                    <a:cubicBezTo>
                      <a:pt x="272" y="455"/>
                      <a:pt x="298" y="325"/>
                      <a:pt x="298" y="325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0" name="ïṧľíḓê"/>
              <p:cNvSpPr/>
              <p:nvPr/>
            </p:nvSpPr>
            <p:spPr bwMode="auto">
              <a:xfrm>
                <a:off x="4839788" y="1734415"/>
                <a:ext cx="1438146" cy="1885184"/>
              </a:xfrm>
              <a:custGeom>
                <a:avLst/>
                <a:gdLst>
                  <a:gd name="T0" fmla="*/ 313 w 399"/>
                  <a:gd name="T1" fmla="*/ 118 h 524"/>
                  <a:gd name="T2" fmla="*/ 180 w 399"/>
                  <a:gd name="T3" fmla="*/ 40 h 524"/>
                  <a:gd name="T4" fmla="*/ 89 w 399"/>
                  <a:gd name="T5" fmla="*/ 0 h 524"/>
                  <a:gd name="T6" fmla="*/ 60 w 399"/>
                  <a:gd name="T7" fmla="*/ 11 h 524"/>
                  <a:gd name="T8" fmla="*/ 84 w 399"/>
                  <a:gd name="T9" fmla="*/ 24 h 524"/>
                  <a:gd name="T10" fmla="*/ 41 w 399"/>
                  <a:gd name="T11" fmla="*/ 204 h 524"/>
                  <a:gd name="T12" fmla="*/ 141 w 399"/>
                  <a:gd name="T13" fmla="*/ 522 h 524"/>
                  <a:gd name="T14" fmla="*/ 212 w 399"/>
                  <a:gd name="T15" fmla="*/ 518 h 524"/>
                  <a:gd name="T16" fmla="*/ 211 w 399"/>
                  <a:gd name="T17" fmla="*/ 520 h 524"/>
                  <a:gd name="T18" fmla="*/ 237 w 399"/>
                  <a:gd name="T19" fmla="*/ 510 h 524"/>
                  <a:gd name="T20" fmla="*/ 244 w 399"/>
                  <a:gd name="T21" fmla="*/ 507 h 524"/>
                  <a:gd name="T22" fmla="*/ 245 w 399"/>
                  <a:gd name="T23" fmla="*/ 507 h 524"/>
                  <a:gd name="T24" fmla="*/ 245 w 399"/>
                  <a:gd name="T25" fmla="*/ 507 h 524"/>
                  <a:gd name="T26" fmla="*/ 350 w 399"/>
                  <a:gd name="T27" fmla="*/ 382 h 524"/>
                  <a:gd name="T28" fmla="*/ 399 w 399"/>
                  <a:gd name="T29" fmla="*/ 179 h 524"/>
                  <a:gd name="T30" fmla="*/ 313 w 399"/>
                  <a:gd name="T31" fmla="*/ 118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9" h="524">
                    <a:moveTo>
                      <a:pt x="313" y="118"/>
                    </a:moveTo>
                    <a:cubicBezTo>
                      <a:pt x="270" y="87"/>
                      <a:pt x="226" y="61"/>
                      <a:pt x="180" y="4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60" y="11"/>
                      <a:pt x="73" y="18"/>
                      <a:pt x="84" y="24"/>
                    </a:cubicBezTo>
                    <a:cubicBezTo>
                      <a:pt x="41" y="204"/>
                      <a:pt x="41" y="204"/>
                      <a:pt x="41" y="204"/>
                    </a:cubicBezTo>
                    <a:cubicBezTo>
                      <a:pt x="41" y="204"/>
                      <a:pt x="0" y="350"/>
                      <a:pt x="141" y="522"/>
                    </a:cubicBezTo>
                    <a:cubicBezTo>
                      <a:pt x="168" y="524"/>
                      <a:pt x="191" y="522"/>
                      <a:pt x="212" y="518"/>
                    </a:cubicBezTo>
                    <a:cubicBezTo>
                      <a:pt x="211" y="519"/>
                      <a:pt x="211" y="520"/>
                      <a:pt x="211" y="520"/>
                    </a:cubicBezTo>
                    <a:cubicBezTo>
                      <a:pt x="237" y="510"/>
                      <a:pt x="237" y="510"/>
                      <a:pt x="237" y="510"/>
                    </a:cubicBezTo>
                    <a:cubicBezTo>
                      <a:pt x="240" y="509"/>
                      <a:pt x="242" y="508"/>
                      <a:pt x="244" y="507"/>
                    </a:cubicBezTo>
                    <a:cubicBezTo>
                      <a:pt x="245" y="507"/>
                      <a:pt x="245" y="507"/>
                      <a:pt x="245" y="507"/>
                    </a:cubicBezTo>
                    <a:cubicBezTo>
                      <a:pt x="245" y="507"/>
                      <a:pt x="245" y="507"/>
                      <a:pt x="245" y="507"/>
                    </a:cubicBezTo>
                    <a:cubicBezTo>
                      <a:pt x="332" y="471"/>
                      <a:pt x="350" y="382"/>
                      <a:pt x="350" y="382"/>
                    </a:cubicBezTo>
                    <a:cubicBezTo>
                      <a:pt x="399" y="179"/>
                      <a:pt x="399" y="179"/>
                      <a:pt x="399" y="179"/>
                    </a:cubicBezTo>
                    <a:lnTo>
                      <a:pt x="313" y="118"/>
                    </a:ln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1" name="iṧḻïḓè"/>
              <p:cNvSpPr/>
              <p:nvPr/>
            </p:nvSpPr>
            <p:spPr bwMode="auto">
              <a:xfrm>
                <a:off x="5056376" y="1734415"/>
                <a:ext cx="1221558" cy="698281"/>
              </a:xfrm>
              <a:custGeom>
                <a:avLst/>
                <a:gdLst>
                  <a:gd name="T0" fmla="*/ 120 w 339"/>
                  <a:gd name="T1" fmla="*/ 40 h 194"/>
                  <a:gd name="T2" fmla="*/ 29 w 339"/>
                  <a:gd name="T3" fmla="*/ 0 h 194"/>
                  <a:gd name="T4" fmla="*/ 0 w 339"/>
                  <a:gd name="T5" fmla="*/ 11 h 194"/>
                  <a:gd name="T6" fmla="*/ 24 w 339"/>
                  <a:gd name="T7" fmla="*/ 24 h 194"/>
                  <a:gd name="T8" fmla="*/ 8 w 339"/>
                  <a:gd name="T9" fmla="*/ 89 h 194"/>
                  <a:gd name="T10" fmla="*/ 169 w 339"/>
                  <a:gd name="T11" fmla="*/ 194 h 194"/>
                  <a:gd name="T12" fmla="*/ 310 w 339"/>
                  <a:gd name="T13" fmla="*/ 190 h 194"/>
                  <a:gd name="T14" fmla="*/ 339 w 339"/>
                  <a:gd name="T15" fmla="*/ 179 h 194"/>
                  <a:gd name="T16" fmla="*/ 253 w 339"/>
                  <a:gd name="T17" fmla="*/ 118 h 194"/>
                  <a:gd name="T18" fmla="*/ 120 w 339"/>
                  <a:gd name="T19" fmla="*/ 4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9" h="194">
                    <a:moveTo>
                      <a:pt x="120" y="4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13" y="18"/>
                      <a:pt x="24" y="24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169" y="194"/>
                      <a:pt x="169" y="194"/>
                      <a:pt x="169" y="194"/>
                    </a:cubicBezTo>
                    <a:cubicBezTo>
                      <a:pt x="310" y="190"/>
                      <a:pt x="310" y="190"/>
                      <a:pt x="310" y="190"/>
                    </a:cubicBezTo>
                    <a:cubicBezTo>
                      <a:pt x="339" y="179"/>
                      <a:pt x="339" y="179"/>
                      <a:pt x="339" y="179"/>
                    </a:cubicBezTo>
                    <a:cubicBezTo>
                      <a:pt x="253" y="118"/>
                      <a:pt x="253" y="118"/>
                      <a:pt x="253" y="118"/>
                    </a:cubicBezTo>
                    <a:cubicBezTo>
                      <a:pt x="210" y="87"/>
                      <a:pt x="166" y="61"/>
                      <a:pt x="120" y="40"/>
                    </a:cubicBez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2" name="î$ļîdê"/>
              <p:cNvSpPr/>
              <p:nvPr/>
            </p:nvSpPr>
            <p:spPr bwMode="auto">
              <a:xfrm>
                <a:off x="5056376" y="1734415"/>
                <a:ext cx="691350" cy="318818"/>
              </a:xfrm>
              <a:custGeom>
                <a:avLst/>
                <a:gdLst>
                  <a:gd name="T0" fmla="*/ 163 w 192"/>
                  <a:gd name="T1" fmla="*/ 89 h 89"/>
                  <a:gd name="T2" fmla="*/ 192 w 192"/>
                  <a:gd name="T3" fmla="*/ 77 h 89"/>
                  <a:gd name="T4" fmla="*/ 120 w 192"/>
                  <a:gd name="T5" fmla="*/ 40 h 89"/>
                  <a:gd name="T6" fmla="*/ 29 w 192"/>
                  <a:gd name="T7" fmla="*/ 0 h 89"/>
                  <a:gd name="T8" fmla="*/ 0 w 192"/>
                  <a:gd name="T9" fmla="*/ 11 h 89"/>
                  <a:gd name="T10" fmla="*/ 24 w 192"/>
                  <a:gd name="T11" fmla="*/ 24 h 89"/>
                  <a:gd name="T12" fmla="*/ 23 w 192"/>
                  <a:gd name="T13" fmla="*/ 28 h 89"/>
                  <a:gd name="T14" fmla="*/ 163 w 192"/>
                  <a:gd name="T15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9">
                    <a:moveTo>
                      <a:pt x="163" y="89"/>
                    </a:moveTo>
                    <a:cubicBezTo>
                      <a:pt x="192" y="77"/>
                      <a:pt x="192" y="77"/>
                      <a:pt x="192" y="77"/>
                    </a:cubicBezTo>
                    <a:cubicBezTo>
                      <a:pt x="168" y="64"/>
                      <a:pt x="144" y="51"/>
                      <a:pt x="120" y="4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13" y="18"/>
                      <a:pt x="24" y="24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79" y="53"/>
                      <a:pt x="163" y="89"/>
                      <a:pt x="163" y="89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3" name="iṧḻíḋè"/>
              <p:cNvSpPr/>
              <p:nvPr/>
            </p:nvSpPr>
            <p:spPr bwMode="auto">
              <a:xfrm>
                <a:off x="5467028" y="1964864"/>
                <a:ext cx="360403" cy="168073"/>
              </a:xfrm>
              <a:custGeom>
                <a:avLst/>
                <a:gdLst>
                  <a:gd name="T0" fmla="*/ 55 w 100"/>
                  <a:gd name="T1" fmla="*/ 0 h 47"/>
                  <a:gd name="T2" fmla="*/ 0 w 100"/>
                  <a:gd name="T3" fmla="*/ 21 h 47"/>
                  <a:gd name="T4" fmla="*/ 46 w 100"/>
                  <a:gd name="T5" fmla="*/ 47 h 47"/>
                  <a:gd name="T6" fmla="*/ 100 w 100"/>
                  <a:gd name="T7" fmla="*/ 27 h 47"/>
                  <a:gd name="T8" fmla="*/ 55 w 100"/>
                  <a:gd name="T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47">
                    <a:moveTo>
                      <a:pt x="55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85" y="17"/>
                      <a:pt x="70" y="9"/>
                      <a:pt x="55" y="0"/>
                    </a:cubicBezTo>
                    <a:close/>
                  </a:path>
                </a:pathLst>
              </a:custGeom>
              <a:solidFill>
                <a:srgbClr val="7E2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4" name="íSľíḍê"/>
              <p:cNvSpPr/>
              <p:nvPr/>
            </p:nvSpPr>
            <p:spPr bwMode="auto">
              <a:xfrm>
                <a:off x="4735826" y="1772534"/>
                <a:ext cx="1438146" cy="1926768"/>
              </a:xfrm>
              <a:custGeom>
                <a:avLst/>
                <a:gdLst>
                  <a:gd name="T0" fmla="*/ 350 w 399"/>
                  <a:gd name="T1" fmla="*/ 383 h 535"/>
                  <a:gd name="T2" fmla="*/ 399 w 399"/>
                  <a:gd name="T3" fmla="*/ 179 h 535"/>
                  <a:gd name="T4" fmla="*/ 313 w 399"/>
                  <a:gd name="T5" fmla="*/ 118 h 535"/>
                  <a:gd name="T6" fmla="*/ 180 w 399"/>
                  <a:gd name="T7" fmla="*/ 41 h 535"/>
                  <a:gd name="T8" fmla="*/ 89 w 399"/>
                  <a:gd name="T9" fmla="*/ 0 h 535"/>
                  <a:gd name="T10" fmla="*/ 41 w 399"/>
                  <a:gd name="T11" fmla="*/ 204 h 535"/>
                  <a:gd name="T12" fmla="*/ 141 w 399"/>
                  <a:gd name="T13" fmla="*/ 522 h 535"/>
                  <a:gd name="T14" fmla="*/ 350 w 399"/>
                  <a:gd name="T15" fmla="*/ 38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9" h="535">
                    <a:moveTo>
                      <a:pt x="350" y="383"/>
                    </a:moveTo>
                    <a:cubicBezTo>
                      <a:pt x="399" y="179"/>
                      <a:pt x="399" y="179"/>
                      <a:pt x="399" y="179"/>
                    </a:cubicBezTo>
                    <a:cubicBezTo>
                      <a:pt x="313" y="118"/>
                      <a:pt x="313" y="118"/>
                      <a:pt x="313" y="118"/>
                    </a:cubicBezTo>
                    <a:cubicBezTo>
                      <a:pt x="270" y="87"/>
                      <a:pt x="226" y="61"/>
                      <a:pt x="180" y="41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41" y="204"/>
                      <a:pt x="41" y="204"/>
                      <a:pt x="41" y="204"/>
                    </a:cubicBezTo>
                    <a:cubicBezTo>
                      <a:pt x="41" y="204"/>
                      <a:pt x="0" y="350"/>
                      <a:pt x="141" y="522"/>
                    </a:cubicBezTo>
                    <a:cubicBezTo>
                      <a:pt x="319" y="535"/>
                      <a:pt x="350" y="383"/>
                      <a:pt x="350" y="383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5" name="íṩļíďè"/>
              <p:cNvSpPr/>
              <p:nvPr/>
            </p:nvSpPr>
            <p:spPr bwMode="auto">
              <a:xfrm>
                <a:off x="4929889" y="1888625"/>
                <a:ext cx="1150515" cy="1691121"/>
              </a:xfrm>
              <a:custGeom>
                <a:avLst/>
                <a:gdLst>
                  <a:gd name="T0" fmla="*/ 98 w 319"/>
                  <a:gd name="T1" fmla="*/ 468 h 470"/>
                  <a:gd name="T2" fmla="*/ 7 w 319"/>
                  <a:gd name="T3" fmla="*/ 266 h 470"/>
                  <a:gd name="T4" fmla="*/ 9 w 319"/>
                  <a:gd name="T5" fmla="*/ 178 h 470"/>
                  <a:gd name="T6" fmla="*/ 51 w 319"/>
                  <a:gd name="T7" fmla="*/ 0 h 470"/>
                  <a:gd name="T8" fmla="*/ 117 w 319"/>
                  <a:gd name="T9" fmla="*/ 29 h 470"/>
                  <a:gd name="T10" fmla="*/ 246 w 319"/>
                  <a:gd name="T11" fmla="*/ 104 h 470"/>
                  <a:gd name="T12" fmla="*/ 319 w 319"/>
                  <a:gd name="T13" fmla="*/ 157 h 470"/>
                  <a:gd name="T14" fmla="*/ 274 w 319"/>
                  <a:gd name="T15" fmla="*/ 345 h 470"/>
                  <a:gd name="T16" fmla="*/ 274 w 319"/>
                  <a:gd name="T17" fmla="*/ 346 h 470"/>
                  <a:gd name="T18" fmla="*/ 241 w 319"/>
                  <a:gd name="T19" fmla="*/ 411 h 470"/>
                  <a:gd name="T20" fmla="*/ 98 w 319"/>
                  <a:gd name="T21" fmla="*/ 468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9" h="470">
                    <a:moveTo>
                      <a:pt x="98" y="468"/>
                    </a:moveTo>
                    <a:cubicBezTo>
                      <a:pt x="35" y="388"/>
                      <a:pt x="13" y="314"/>
                      <a:pt x="7" y="266"/>
                    </a:cubicBezTo>
                    <a:cubicBezTo>
                      <a:pt x="0" y="213"/>
                      <a:pt x="9" y="178"/>
                      <a:pt x="9" y="178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61" y="49"/>
                      <a:pt x="204" y="74"/>
                      <a:pt x="246" y="104"/>
                    </a:cubicBezTo>
                    <a:cubicBezTo>
                      <a:pt x="319" y="157"/>
                      <a:pt x="319" y="157"/>
                      <a:pt x="319" y="157"/>
                    </a:cubicBezTo>
                    <a:cubicBezTo>
                      <a:pt x="274" y="345"/>
                      <a:pt x="274" y="345"/>
                      <a:pt x="274" y="345"/>
                    </a:cubicBezTo>
                    <a:cubicBezTo>
                      <a:pt x="274" y="346"/>
                      <a:pt x="274" y="346"/>
                      <a:pt x="274" y="346"/>
                    </a:cubicBezTo>
                    <a:cubicBezTo>
                      <a:pt x="274" y="347"/>
                      <a:pt x="267" y="380"/>
                      <a:pt x="241" y="411"/>
                    </a:cubicBezTo>
                    <a:cubicBezTo>
                      <a:pt x="208" y="451"/>
                      <a:pt x="160" y="470"/>
                      <a:pt x="98" y="468"/>
                    </a:cubicBez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6" name="ïṧ1ídè"/>
              <p:cNvSpPr/>
              <p:nvPr/>
            </p:nvSpPr>
            <p:spPr bwMode="auto">
              <a:xfrm>
                <a:off x="4120715" y="4681746"/>
                <a:ext cx="852491" cy="492088"/>
              </a:xfrm>
              <a:custGeom>
                <a:avLst/>
                <a:gdLst>
                  <a:gd name="T0" fmla="*/ 195 w 237"/>
                  <a:gd name="T1" fmla="*/ 24 h 137"/>
                  <a:gd name="T2" fmla="*/ 42 w 237"/>
                  <a:gd name="T3" fmla="*/ 24 h 137"/>
                  <a:gd name="T4" fmla="*/ 42 w 237"/>
                  <a:gd name="T5" fmla="*/ 113 h 137"/>
                  <a:gd name="T6" fmla="*/ 195 w 237"/>
                  <a:gd name="T7" fmla="*/ 113 h 137"/>
                  <a:gd name="T8" fmla="*/ 195 w 237"/>
                  <a:gd name="T9" fmla="*/ 24 h 137"/>
                  <a:gd name="T10" fmla="*/ 116 w 237"/>
                  <a:gd name="T11" fmla="*/ 69 h 137"/>
                  <a:gd name="T12" fmla="*/ 77 w 237"/>
                  <a:gd name="T13" fmla="*/ 69 h 137"/>
                  <a:gd name="T14" fmla="*/ 77 w 237"/>
                  <a:gd name="T15" fmla="*/ 47 h 137"/>
                  <a:gd name="T16" fmla="*/ 116 w 237"/>
                  <a:gd name="T17" fmla="*/ 47 h 137"/>
                  <a:gd name="T18" fmla="*/ 116 w 237"/>
                  <a:gd name="T19" fmla="*/ 69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7" h="137">
                    <a:moveTo>
                      <a:pt x="195" y="24"/>
                    </a:moveTo>
                    <a:cubicBezTo>
                      <a:pt x="153" y="0"/>
                      <a:pt x="84" y="0"/>
                      <a:pt x="42" y="24"/>
                    </a:cubicBezTo>
                    <a:cubicBezTo>
                      <a:pt x="0" y="49"/>
                      <a:pt x="0" y="88"/>
                      <a:pt x="42" y="113"/>
                    </a:cubicBezTo>
                    <a:cubicBezTo>
                      <a:pt x="84" y="137"/>
                      <a:pt x="153" y="137"/>
                      <a:pt x="195" y="113"/>
                    </a:cubicBezTo>
                    <a:cubicBezTo>
                      <a:pt x="237" y="88"/>
                      <a:pt x="237" y="49"/>
                      <a:pt x="195" y="24"/>
                    </a:cubicBezTo>
                    <a:close/>
                    <a:moveTo>
                      <a:pt x="116" y="69"/>
                    </a:moveTo>
                    <a:cubicBezTo>
                      <a:pt x="105" y="76"/>
                      <a:pt x="88" y="76"/>
                      <a:pt x="77" y="69"/>
                    </a:cubicBezTo>
                    <a:cubicBezTo>
                      <a:pt x="66" y="63"/>
                      <a:pt x="66" y="53"/>
                      <a:pt x="77" y="47"/>
                    </a:cubicBezTo>
                    <a:cubicBezTo>
                      <a:pt x="88" y="40"/>
                      <a:pt x="105" y="40"/>
                      <a:pt x="116" y="47"/>
                    </a:cubicBezTo>
                    <a:cubicBezTo>
                      <a:pt x="127" y="53"/>
                      <a:pt x="127" y="63"/>
                      <a:pt x="116" y="69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7" name="íSľiḑè"/>
              <p:cNvSpPr/>
              <p:nvPr/>
            </p:nvSpPr>
            <p:spPr bwMode="auto">
              <a:xfrm>
                <a:off x="4732361" y="5016159"/>
                <a:ext cx="1081208" cy="521545"/>
              </a:xfrm>
              <a:custGeom>
                <a:avLst/>
                <a:gdLst>
                  <a:gd name="T0" fmla="*/ 48 w 300"/>
                  <a:gd name="T1" fmla="*/ 0 h 145"/>
                  <a:gd name="T2" fmla="*/ 27 w 300"/>
                  <a:gd name="T3" fmla="*/ 16 h 145"/>
                  <a:gd name="T4" fmla="*/ 0 w 300"/>
                  <a:gd name="T5" fmla="*/ 28 h 145"/>
                  <a:gd name="T6" fmla="*/ 21 w 300"/>
                  <a:gd name="T7" fmla="*/ 40 h 145"/>
                  <a:gd name="T8" fmla="*/ 52 w 300"/>
                  <a:gd name="T9" fmla="*/ 42 h 145"/>
                  <a:gd name="T10" fmla="*/ 67 w 300"/>
                  <a:gd name="T11" fmla="*/ 50 h 145"/>
                  <a:gd name="T12" fmla="*/ 61 w 300"/>
                  <a:gd name="T13" fmla="*/ 54 h 145"/>
                  <a:gd name="T14" fmla="*/ 72 w 300"/>
                  <a:gd name="T15" fmla="*/ 61 h 145"/>
                  <a:gd name="T16" fmla="*/ 85 w 300"/>
                  <a:gd name="T17" fmla="*/ 54 h 145"/>
                  <a:gd name="T18" fmla="*/ 105 w 300"/>
                  <a:gd name="T19" fmla="*/ 65 h 145"/>
                  <a:gd name="T20" fmla="*/ 85 w 300"/>
                  <a:gd name="T21" fmla="*/ 77 h 145"/>
                  <a:gd name="T22" fmla="*/ 100 w 300"/>
                  <a:gd name="T23" fmla="*/ 86 h 145"/>
                  <a:gd name="T24" fmla="*/ 115 w 300"/>
                  <a:gd name="T25" fmla="*/ 94 h 145"/>
                  <a:gd name="T26" fmla="*/ 133 w 300"/>
                  <a:gd name="T27" fmla="*/ 84 h 145"/>
                  <a:gd name="T28" fmla="*/ 160 w 300"/>
                  <a:gd name="T29" fmla="*/ 99 h 145"/>
                  <a:gd name="T30" fmla="*/ 149 w 300"/>
                  <a:gd name="T31" fmla="*/ 105 h 145"/>
                  <a:gd name="T32" fmla="*/ 167 w 300"/>
                  <a:gd name="T33" fmla="*/ 115 h 145"/>
                  <a:gd name="T34" fmla="*/ 177 w 300"/>
                  <a:gd name="T35" fmla="*/ 109 h 145"/>
                  <a:gd name="T36" fmla="*/ 185 w 300"/>
                  <a:gd name="T37" fmla="*/ 114 h 145"/>
                  <a:gd name="T38" fmla="*/ 177 w 300"/>
                  <a:gd name="T39" fmla="*/ 130 h 145"/>
                  <a:gd name="T40" fmla="*/ 203 w 300"/>
                  <a:gd name="T41" fmla="*/ 145 h 145"/>
                  <a:gd name="T42" fmla="*/ 300 w 300"/>
                  <a:gd name="T43" fmla="*/ 145 h 145"/>
                  <a:gd name="T44" fmla="*/ 48 w 300"/>
                  <a:gd name="T45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0" h="145">
                    <a:moveTo>
                      <a:pt x="48" y="0"/>
                    </a:moveTo>
                    <a:cubicBezTo>
                      <a:pt x="42" y="6"/>
                      <a:pt x="35" y="11"/>
                      <a:pt x="27" y="16"/>
                    </a:cubicBezTo>
                    <a:cubicBezTo>
                      <a:pt x="19" y="21"/>
                      <a:pt x="10" y="25"/>
                      <a:pt x="0" y="28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105" y="65"/>
                      <a:pt x="105" y="65"/>
                      <a:pt x="105" y="65"/>
                    </a:cubicBezTo>
                    <a:cubicBezTo>
                      <a:pt x="85" y="77"/>
                      <a:pt x="85" y="77"/>
                      <a:pt x="85" y="77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15" y="94"/>
                      <a:pt x="115" y="94"/>
                      <a:pt x="115" y="94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60" y="99"/>
                      <a:pt x="160" y="99"/>
                      <a:pt x="160" y="99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85" y="114"/>
                      <a:pt x="185" y="114"/>
                      <a:pt x="185" y="114"/>
                    </a:cubicBezTo>
                    <a:cubicBezTo>
                      <a:pt x="177" y="130"/>
                      <a:pt x="177" y="130"/>
                      <a:pt x="177" y="130"/>
                    </a:cubicBezTo>
                    <a:cubicBezTo>
                      <a:pt x="203" y="145"/>
                      <a:pt x="203" y="145"/>
                      <a:pt x="203" y="145"/>
                    </a:cubicBezTo>
                    <a:cubicBezTo>
                      <a:pt x="300" y="145"/>
                      <a:pt x="300" y="145"/>
                      <a:pt x="300" y="145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8" name="i$ļíḓe"/>
              <p:cNvSpPr/>
              <p:nvPr/>
            </p:nvSpPr>
            <p:spPr bwMode="auto">
              <a:xfrm>
                <a:off x="4158835" y="4652291"/>
                <a:ext cx="779717" cy="493822"/>
              </a:xfrm>
              <a:custGeom>
                <a:avLst/>
                <a:gdLst>
                  <a:gd name="T0" fmla="*/ 216 w 216"/>
                  <a:gd name="T1" fmla="*/ 68 h 137"/>
                  <a:gd name="T2" fmla="*/ 216 w 216"/>
                  <a:gd name="T3" fmla="*/ 39 h 137"/>
                  <a:gd name="T4" fmla="*/ 207 w 216"/>
                  <a:gd name="T5" fmla="*/ 44 h 137"/>
                  <a:gd name="T6" fmla="*/ 184 w 216"/>
                  <a:gd name="T7" fmla="*/ 24 h 137"/>
                  <a:gd name="T8" fmla="*/ 31 w 216"/>
                  <a:gd name="T9" fmla="*/ 24 h 137"/>
                  <a:gd name="T10" fmla="*/ 6 w 216"/>
                  <a:gd name="T11" fmla="*/ 47 h 137"/>
                  <a:gd name="T12" fmla="*/ 0 w 216"/>
                  <a:gd name="T13" fmla="*/ 39 h 137"/>
                  <a:gd name="T14" fmla="*/ 0 w 216"/>
                  <a:gd name="T15" fmla="*/ 68 h 137"/>
                  <a:gd name="T16" fmla="*/ 31 w 216"/>
                  <a:gd name="T17" fmla="*/ 112 h 137"/>
                  <a:gd name="T18" fmla="*/ 184 w 216"/>
                  <a:gd name="T19" fmla="*/ 112 h 137"/>
                  <a:gd name="T20" fmla="*/ 216 w 216"/>
                  <a:gd name="T21" fmla="*/ 68 h 137"/>
                  <a:gd name="T22" fmla="*/ 105 w 216"/>
                  <a:gd name="T23" fmla="*/ 49 h 137"/>
                  <a:gd name="T24" fmla="*/ 65 w 216"/>
                  <a:gd name="T25" fmla="*/ 49 h 137"/>
                  <a:gd name="T26" fmla="*/ 65 w 216"/>
                  <a:gd name="T27" fmla="*/ 26 h 137"/>
                  <a:gd name="T28" fmla="*/ 105 w 216"/>
                  <a:gd name="T29" fmla="*/ 26 h 137"/>
                  <a:gd name="T30" fmla="*/ 105 w 216"/>
                  <a:gd name="T31" fmla="*/ 49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16" h="137">
                    <a:moveTo>
                      <a:pt x="216" y="68"/>
                    </a:moveTo>
                    <a:cubicBezTo>
                      <a:pt x="216" y="39"/>
                      <a:pt x="216" y="39"/>
                      <a:pt x="216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02" y="36"/>
                      <a:pt x="194" y="30"/>
                      <a:pt x="184" y="24"/>
                    </a:cubicBezTo>
                    <a:cubicBezTo>
                      <a:pt x="142" y="0"/>
                      <a:pt x="73" y="0"/>
                      <a:pt x="31" y="24"/>
                    </a:cubicBezTo>
                    <a:cubicBezTo>
                      <a:pt x="20" y="31"/>
                      <a:pt x="11" y="39"/>
                      <a:pt x="6" y="47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84"/>
                      <a:pt x="10" y="100"/>
                      <a:pt x="31" y="112"/>
                    </a:cubicBezTo>
                    <a:cubicBezTo>
                      <a:pt x="73" y="137"/>
                      <a:pt x="142" y="137"/>
                      <a:pt x="184" y="112"/>
                    </a:cubicBezTo>
                    <a:cubicBezTo>
                      <a:pt x="205" y="100"/>
                      <a:pt x="216" y="84"/>
                      <a:pt x="216" y="68"/>
                    </a:cubicBezTo>
                    <a:close/>
                    <a:moveTo>
                      <a:pt x="105" y="49"/>
                    </a:moveTo>
                    <a:cubicBezTo>
                      <a:pt x="94" y="55"/>
                      <a:pt x="76" y="55"/>
                      <a:pt x="65" y="49"/>
                    </a:cubicBezTo>
                    <a:cubicBezTo>
                      <a:pt x="55" y="43"/>
                      <a:pt x="55" y="33"/>
                      <a:pt x="65" y="26"/>
                    </a:cubicBezTo>
                    <a:cubicBezTo>
                      <a:pt x="76" y="20"/>
                      <a:pt x="94" y="20"/>
                      <a:pt x="105" y="26"/>
                    </a:cubicBezTo>
                    <a:cubicBezTo>
                      <a:pt x="116" y="33"/>
                      <a:pt x="116" y="43"/>
                      <a:pt x="105" y="49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9" name="îṥļiďé"/>
              <p:cNvSpPr/>
              <p:nvPr/>
            </p:nvSpPr>
            <p:spPr bwMode="auto">
              <a:xfrm>
                <a:off x="4158835" y="4792639"/>
                <a:ext cx="356937" cy="327482"/>
              </a:xfrm>
              <a:custGeom>
                <a:avLst/>
                <a:gdLst>
                  <a:gd name="T0" fmla="*/ 99 w 99"/>
                  <a:gd name="T1" fmla="*/ 52 h 91"/>
                  <a:gd name="T2" fmla="*/ 52 w 99"/>
                  <a:gd name="T3" fmla="*/ 29 h 91"/>
                  <a:gd name="T4" fmla="*/ 11 w 99"/>
                  <a:gd name="T5" fmla="*/ 2 h 91"/>
                  <a:gd name="T6" fmla="*/ 6 w 99"/>
                  <a:gd name="T7" fmla="*/ 8 h 91"/>
                  <a:gd name="T8" fmla="*/ 0 w 99"/>
                  <a:gd name="T9" fmla="*/ 0 h 91"/>
                  <a:gd name="T10" fmla="*/ 0 w 99"/>
                  <a:gd name="T11" fmla="*/ 29 h 91"/>
                  <a:gd name="T12" fmla="*/ 31 w 99"/>
                  <a:gd name="T13" fmla="*/ 73 h 91"/>
                  <a:gd name="T14" fmla="*/ 99 w 99"/>
                  <a:gd name="T15" fmla="*/ 91 h 91"/>
                  <a:gd name="T16" fmla="*/ 99 w 99"/>
                  <a:gd name="T17" fmla="*/ 5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91">
                    <a:moveTo>
                      <a:pt x="99" y="52"/>
                    </a:moveTo>
                    <a:cubicBezTo>
                      <a:pt x="52" y="29"/>
                      <a:pt x="52" y="29"/>
                      <a:pt x="52" y="29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9" y="4"/>
                      <a:pt x="7" y="6"/>
                      <a:pt x="6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5"/>
                      <a:pt x="10" y="61"/>
                      <a:pt x="31" y="73"/>
                    </a:cubicBezTo>
                    <a:cubicBezTo>
                      <a:pt x="50" y="84"/>
                      <a:pt x="74" y="90"/>
                      <a:pt x="99" y="91"/>
                    </a:cubicBezTo>
                    <a:lnTo>
                      <a:pt x="99" y="52"/>
                    </a:ln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0" name="íṣľïḑè"/>
              <p:cNvSpPr/>
              <p:nvPr/>
            </p:nvSpPr>
            <p:spPr bwMode="auto">
              <a:xfrm>
                <a:off x="4120715" y="4544863"/>
                <a:ext cx="852491" cy="492088"/>
              </a:xfrm>
              <a:custGeom>
                <a:avLst/>
                <a:gdLst>
                  <a:gd name="T0" fmla="*/ 195 w 237"/>
                  <a:gd name="T1" fmla="*/ 25 h 137"/>
                  <a:gd name="T2" fmla="*/ 42 w 237"/>
                  <a:gd name="T3" fmla="*/ 25 h 137"/>
                  <a:gd name="T4" fmla="*/ 42 w 237"/>
                  <a:gd name="T5" fmla="*/ 113 h 137"/>
                  <a:gd name="T6" fmla="*/ 195 w 237"/>
                  <a:gd name="T7" fmla="*/ 113 h 137"/>
                  <a:gd name="T8" fmla="*/ 195 w 237"/>
                  <a:gd name="T9" fmla="*/ 25 h 137"/>
                  <a:gd name="T10" fmla="*/ 116 w 237"/>
                  <a:gd name="T11" fmla="*/ 70 h 137"/>
                  <a:gd name="T12" fmla="*/ 77 w 237"/>
                  <a:gd name="T13" fmla="*/ 70 h 137"/>
                  <a:gd name="T14" fmla="*/ 77 w 237"/>
                  <a:gd name="T15" fmla="*/ 47 h 137"/>
                  <a:gd name="T16" fmla="*/ 116 w 237"/>
                  <a:gd name="T17" fmla="*/ 47 h 137"/>
                  <a:gd name="T18" fmla="*/ 116 w 237"/>
                  <a:gd name="T19" fmla="*/ 7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7" h="137">
                    <a:moveTo>
                      <a:pt x="195" y="25"/>
                    </a:moveTo>
                    <a:cubicBezTo>
                      <a:pt x="153" y="0"/>
                      <a:pt x="84" y="0"/>
                      <a:pt x="42" y="25"/>
                    </a:cubicBezTo>
                    <a:cubicBezTo>
                      <a:pt x="0" y="49"/>
                      <a:pt x="0" y="89"/>
                      <a:pt x="42" y="113"/>
                    </a:cubicBezTo>
                    <a:cubicBezTo>
                      <a:pt x="84" y="137"/>
                      <a:pt x="153" y="137"/>
                      <a:pt x="195" y="113"/>
                    </a:cubicBezTo>
                    <a:cubicBezTo>
                      <a:pt x="237" y="89"/>
                      <a:pt x="237" y="49"/>
                      <a:pt x="195" y="25"/>
                    </a:cubicBezTo>
                    <a:close/>
                    <a:moveTo>
                      <a:pt x="116" y="70"/>
                    </a:moveTo>
                    <a:cubicBezTo>
                      <a:pt x="105" y="76"/>
                      <a:pt x="88" y="76"/>
                      <a:pt x="77" y="70"/>
                    </a:cubicBezTo>
                    <a:cubicBezTo>
                      <a:pt x="66" y="63"/>
                      <a:pt x="66" y="53"/>
                      <a:pt x="77" y="47"/>
                    </a:cubicBezTo>
                    <a:cubicBezTo>
                      <a:pt x="88" y="41"/>
                      <a:pt x="105" y="41"/>
                      <a:pt x="116" y="47"/>
                    </a:cubicBezTo>
                    <a:cubicBezTo>
                      <a:pt x="127" y="53"/>
                      <a:pt x="127" y="63"/>
                      <a:pt x="116" y="70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1" name="ïsľiḓè"/>
              <p:cNvSpPr/>
              <p:nvPr/>
            </p:nvSpPr>
            <p:spPr bwMode="auto">
              <a:xfrm>
                <a:off x="4347700" y="4688677"/>
                <a:ext cx="265104" cy="194063"/>
              </a:xfrm>
              <a:custGeom>
                <a:avLst/>
                <a:gdLst>
                  <a:gd name="T0" fmla="*/ 74 w 74"/>
                  <a:gd name="T1" fmla="*/ 0 h 54"/>
                  <a:gd name="T2" fmla="*/ 16 w 74"/>
                  <a:gd name="T3" fmla="*/ 0 h 54"/>
                  <a:gd name="T4" fmla="*/ 0 w 74"/>
                  <a:gd name="T5" fmla="*/ 5 h 54"/>
                  <a:gd name="T6" fmla="*/ 0 w 74"/>
                  <a:gd name="T7" fmla="*/ 54 h 54"/>
                  <a:gd name="T8" fmla="*/ 74 w 74"/>
                  <a:gd name="T9" fmla="*/ 54 h 54"/>
                  <a:gd name="T10" fmla="*/ 74 w 74"/>
                  <a:gd name="T11" fmla="*/ 0 h 54"/>
                  <a:gd name="T12" fmla="*/ 53 w 74"/>
                  <a:gd name="T13" fmla="*/ 39 h 54"/>
                  <a:gd name="T14" fmla="*/ 13 w 74"/>
                  <a:gd name="T15" fmla="*/ 39 h 54"/>
                  <a:gd name="T16" fmla="*/ 13 w 74"/>
                  <a:gd name="T17" fmla="*/ 16 h 54"/>
                  <a:gd name="T18" fmla="*/ 53 w 74"/>
                  <a:gd name="T19" fmla="*/ 16 h 54"/>
                  <a:gd name="T20" fmla="*/ 53 w 74"/>
                  <a:gd name="T21" fmla="*/ 3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54">
                    <a:moveTo>
                      <a:pt x="7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0" y="1"/>
                      <a:pt x="5" y="3"/>
                      <a:pt x="0" y="5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74" y="54"/>
                      <a:pt x="74" y="54"/>
                      <a:pt x="74" y="54"/>
                    </a:cubicBezTo>
                    <a:lnTo>
                      <a:pt x="74" y="0"/>
                    </a:lnTo>
                    <a:close/>
                    <a:moveTo>
                      <a:pt x="53" y="39"/>
                    </a:moveTo>
                    <a:cubicBezTo>
                      <a:pt x="42" y="45"/>
                      <a:pt x="24" y="45"/>
                      <a:pt x="13" y="39"/>
                    </a:cubicBezTo>
                    <a:cubicBezTo>
                      <a:pt x="3" y="33"/>
                      <a:pt x="3" y="23"/>
                      <a:pt x="13" y="16"/>
                    </a:cubicBezTo>
                    <a:cubicBezTo>
                      <a:pt x="24" y="10"/>
                      <a:pt x="42" y="10"/>
                      <a:pt x="53" y="16"/>
                    </a:cubicBezTo>
                    <a:cubicBezTo>
                      <a:pt x="64" y="23"/>
                      <a:pt x="64" y="33"/>
                      <a:pt x="53" y="39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2" name="ïŝḷíde"/>
              <p:cNvSpPr/>
              <p:nvPr/>
            </p:nvSpPr>
            <p:spPr bwMode="auto">
              <a:xfrm>
                <a:off x="4170964" y="4572586"/>
                <a:ext cx="751994" cy="436642"/>
              </a:xfrm>
              <a:custGeom>
                <a:avLst/>
                <a:gdLst>
                  <a:gd name="T0" fmla="*/ 172 w 209"/>
                  <a:gd name="T1" fmla="*/ 22 h 121"/>
                  <a:gd name="T2" fmla="*/ 37 w 209"/>
                  <a:gd name="T3" fmla="*/ 22 h 121"/>
                  <a:gd name="T4" fmla="*/ 37 w 209"/>
                  <a:gd name="T5" fmla="*/ 100 h 121"/>
                  <a:gd name="T6" fmla="*/ 172 w 209"/>
                  <a:gd name="T7" fmla="*/ 100 h 121"/>
                  <a:gd name="T8" fmla="*/ 172 w 209"/>
                  <a:gd name="T9" fmla="*/ 22 h 121"/>
                  <a:gd name="T10" fmla="*/ 102 w 209"/>
                  <a:gd name="T11" fmla="*/ 62 h 121"/>
                  <a:gd name="T12" fmla="*/ 63 w 209"/>
                  <a:gd name="T13" fmla="*/ 62 h 121"/>
                  <a:gd name="T14" fmla="*/ 63 w 209"/>
                  <a:gd name="T15" fmla="*/ 39 h 121"/>
                  <a:gd name="T16" fmla="*/ 102 w 209"/>
                  <a:gd name="T17" fmla="*/ 39 h 121"/>
                  <a:gd name="T18" fmla="*/ 102 w 209"/>
                  <a:gd name="T19" fmla="*/ 62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9" h="121">
                    <a:moveTo>
                      <a:pt x="172" y="22"/>
                    </a:moveTo>
                    <a:cubicBezTo>
                      <a:pt x="135" y="0"/>
                      <a:pt x="75" y="0"/>
                      <a:pt x="37" y="22"/>
                    </a:cubicBezTo>
                    <a:cubicBezTo>
                      <a:pt x="0" y="43"/>
                      <a:pt x="0" y="78"/>
                      <a:pt x="37" y="100"/>
                    </a:cubicBezTo>
                    <a:cubicBezTo>
                      <a:pt x="75" y="121"/>
                      <a:pt x="135" y="121"/>
                      <a:pt x="172" y="100"/>
                    </a:cubicBezTo>
                    <a:cubicBezTo>
                      <a:pt x="209" y="78"/>
                      <a:pt x="209" y="43"/>
                      <a:pt x="172" y="22"/>
                    </a:cubicBezTo>
                    <a:close/>
                    <a:moveTo>
                      <a:pt x="102" y="62"/>
                    </a:moveTo>
                    <a:cubicBezTo>
                      <a:pt x="91" y="68"/>
                      <a:pt x="74" y="68"/>
                      <a:pt x="63" y="62"/>
                    </a:cubicBezTo>
                    <a:cubicBezTo>
                      <a:pt x="52" y="55"/>
                      <a:pt x="52" y="45"/>
                      <a:pt x="63" y="39"/>
                    </a:cubicBezTo>
                    <a:cubicBezTo>
                      <a:pt x="74" y="33"/>
                      <a:pt x="91" y="33"/>
                      <a:pt x="102" y="39"/>
                    </a:cubicBezTo>
                    <a:cubicBezTo>
                      <a:pt x="113" y="45"/>
                      <a:pt x="113" y="55"/>
                      <a:pt x="102" y="62"/>
                    </a:cubicBezTo>
                    <a:close/>
                  </a:path>
                </a:pathLst>
              </a:custGeom>
              <a:solidFill>
                <a:srgbClr val="F2B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3" name="ï$ľiḋe"/>
              <p:cNvSpPr/>
              <p:nvPr/>
            </p:nvSpPr>
            <p:spPr bwMode="auto">
              <a:xfrm>
                <a:off x="4198687" y="4572586"/>
                <a:ext cx="700013" cy="233916"/>
              </a:xfrm>
              <a:custGeom>
                <a:avLst/>
                <a:gdLst>
                  <a:gd name="T0" fmla="*/ 29 w 194"/>
                  <a:gd name="T1" fmla="*/ 30 h 65"/>
                  <a:gd name="T2" fmla="*/ 164 w 194"/>
                  <a:gd name="T3" fmla="*/ 30 h 65"/>
                  <a:gd name="T4" fmla="*/ 192 w 194"/>
                  <a:gd name="T5" fmla="*/ 65 h 65"/>
                  <a:gd name="T6" fmla="*/ 164 w 194"/>
                  <a:gd name="T7" fmla="*/ 22 h 65"/>
                  <a:gd name="T8" fmla="*/ 29 w 194"/>
                  <a:gd name="T9" fmla="*/ 22 h 65"/>
                  <a:gd name="T10" fmla="*/ 2 w 194"/>
                  <a:gd name="T11" fmla="*/ 65 h 65"/>
                  <a:gd name="T12" fmla="*/ 29 w 194"/>
                  <a:gd name="T13" fmla="*/ 3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4" h="65">
                    <a:moveTo>
                      <a:pt x="29" y="30"/>
                    </a:moveTo>
                    <a:cubicBezTo>
                      <a:pt x="67" y="8"/>
                      <a:pt x="127" y="8"/>
                      <a:pt x="164" y="30"/>
                    </a:cubicBezTo>
                    <a:cubicBezTo>
                      <a:pt x="181" y="40"/>
                      <a:pt x="190" y="52"/>
                      <a:pt x="192" y="65"/>
                    </a:cubicBezTo>
                    <a:cubicBezTo>
                      <a:pt x="194" y="49"/>
                      <a:pt x="185" y="34"/>
                      <a:pt x="164" y="22"/>
                    </a:cubicBezTo>
                    <a:cubicBezTo>
                      <a:pt x="127" y="0"/>
                      <a:pt x="67" y="0"/>
                      <a:pt x="29" y="22"/>
                    </a:cubicBezTo>
                    <a:cubicBezTo>
                      <a:pt x="9" y="34"/>
                      <a:pt x="0" y="49"/>
                      <a:pt x="2" y="65"/>
                    </a:cubicBezTo>
                    <a:cubicBezTo>
                      <a:pt x="3" y="52"/>
                      <a:pt x="12" y="40"/>
                      <a:pt x="29" y="30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4" name="íSḷîďè"/>
              <p:cNvSpPr/>
              <p:nvPr/>
            </p:nvSpPr>
            <p:spPr bwMode="auto">
              <a:xfrm>
                <a:off x="4732361" y="4983237"/>
                <a:ext cx="1081208" cy="525010"/>
              </a:xfrm>
              <a:custGeom>
                <a:avLst/>
                <a:gdLst>
                  <a:gd name="T0" fmla="*/ 48 w 300"/>
                  <a:gd name="T1" fmla="*/ 0 h 146"/>
                  <a:gd name="T2" fmla="*/ 27 w 300"/>
                  <a:gd name="T3" fmla="*/ 16 h 146"/>
                  <a:gd name="T4" fmla="*/ 0 w 300"/>
                  <a:gd name="T5" fmla="*/ 28 h 146"/>
                  <a:gd name="T6" fmla="*/ 21 w 300"/>
                  <a:gd name="T7" fmla="*/ 40 h 146"/>
                  <a:gd name="T8" fmla="*/ 52 w 300"/>
                  <a:gd name="T9" fmla="*/ 42 h 146"/>
                  <a:gd name="T10" fmla="*/ 67 w 300"/>
                  <a:gd name="T11" fmla="*/ 51 h 146"/>
                  <a:gd name="T12" fmla="*/ 61 w 300"/>
                  <a:gd name="T13" fmla="*/ 54 h 146"/>
                  <a:gd name="T14" fmla="*/ 72 w 300"/>
                  <a:gd name="T15" fmla="*/ 61 h 146"/>
                  <a:gd name="T16" fmla="*/ 85 w 300"/>
                  <a:gd name="T17" fmla="*/ 54 h 146"/>
                  <a:gd name="T18" fmla="*/ 105 w 300"/>
                  <a:gd name="T19" fmla="*/ 66 h 146"/>
                  <a:gd name="T20" fmla="*/ 85 w 300"/>
                  <a:gd name="T21" fmla="*/ 77 h 146"/>
                  <a:gd name="T22" fmla="*/ 100 w 300"/>
                  <a:gd name="T23" fmla="*/ 86 h 146"/>
                  <a:gd name="T24" fmla="*/ 115 w 300"/>
                  <a:gd name="T25" fmla="*/ 94 h 146"/>
                  <a:gd name="T26" fmla="*/ 133 w 300"/>
                  <a:gd name="T27" fmla="*/ 84 h 146"/>
                  <a:gd name="T28" fmla="*/ 160 w 300"/>
                  <a:gd name="T29" fmla="*/ 100 h 146"/>
                  <a:gd name="T30" fmla="*/ 149 w 300"/>
                  <a:gd name="T31" fmla="*/ 105 h 146"/>
                  <a:gd name="T32" fmla="*/ 167 w 300"/>
                  <a:gd name="T33" fmla="*/ 115 h 146"/>
                  <a:gd name="T34" fmla="*/ 177 w 300"/>
                  <a:gd name="T35" fmla="*/ 110 h 146"/>
                  <a:gd name="T36" fmla="*/ 185 w 300"/>
                  <a:gd name="T37" fmla="*/ 114 h 146"/>
                  <a:gd name="T38" fmla="*/ 177 w 300"/>
                  <a:gd name="T39" fmla="*/ 131 h 146"/>
                  <a:gd name="T40" fmla="*/ 203 w 300"/>
                  <a:gd name="T41" fmla="*/ 146 h 146"/>
                  <a:gd name="T42" fmla="*/ 300 w 300"/>
                  <a:gd name="T43" fmla="*/ 146 h 146"/>
                  <a:gd name="T44" fmla="*/ 48 w 300"/>
                  <a:gd name="T4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0" h="146">
                    <a:moveTo>
                      <a:pt x="48" y="0"/>
                    </a:moveTo>
                    <a:cubicBezTo>
                      <a:pt x="42" y="6"/>
                      <a:pt x="35" y="11"/>
                      <a:pt x="27" y="16"/>
                    </a:cubicBezTo>
                    <a:cubicBezTo>
                      <a:pt x="19" y="21"/>
                      <a:pt x="10" y="25"/>
                      <a:pt x="0" y="28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105" y="66"/>
                      <a:pt x="105" y="66"/>
                      <a:pt x="105" y="66"/>
                    </a:cubicBezTo>
                    <a:cubicBezTo>
                      <a:pt x="85" y="77"/>
                      <a:pt x="85" y="77"/>
                      <a:pt x="85" y="77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15" y="94"/>
                      <a:pt x="115" y="94"/>
                      <a:pt x="115" y="94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60" y="100"/>
                      <a:pt x="160" y="100"/>
                      <a:pt x="160" y="100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77" y="110"/>
                      <a:pt x="177" y="110"/>
                      <a:pt x="177" y="110"/>
                    </a:cubicBezTo>
                    <a:cubicBezTo>
                      <a:pt x="185" y="114"/>
                      <a:pt x="185" y="114"/>
                      <a:pt x="185" y="114"/>
                    </a:cubicBezTo>
                    <a:cubicBezTo>
                      <a:pt x="177" y="131"/>
                      <a:pt x="177" y="131"/>
                      <a:pt x="177" y="131"/>
                    </a:cubicBezTo>
                    <a:cubicBezTo>
                      <a:pt x="203" y="146"/>
                      <a:pt x="203" y="146"/>
                      <a:pt x="203" y="146"/>
                    </a:cubicBezTo>
                    <a:cubicBezTo>
                      <a:pt x="300" y="146"/>
                      <a:pt x="300" y="146"/>
                      <a:pt x="300" y="146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2B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5" name="ïšḻíďè"/>
              <p:cNvSpPr/>
              <p:nvPr/>
            </p:nvSpPr>
            <p:spPr bwMode="auto">
              <a:xfrm>
                <a:off x="4732361" y="4908731"/>
                <a:ext cx="1081208" cy="525010"/>
              </a:xfrm>
              <a:custGeom>
                <a:avLst/>
                <a:gdLst>
                  <a:gd name="T0" fmla="*/ 48 w 300"/>
                  <a:gd name="T1" fmla="*/ 0 h 146"/>
                  <a:gd name="T2" fmla="*/ 27 w 300"/>
                  <a:gd name="T3" fmla="*/ 16 h 146"/>
                  <a:gd name="T4" fmla="*/ 0 w 300"/>
                  <a:gd name="T5" fmla="*/ 28 h 146"/>
                  <a:gd name="T6" fmla="*/ 21 w 300"/>
                  <a:gd name="T7" fmla="*/ 40 h 146"/>
                  <a:gd name="T8" fmla="*/ 52 w 300"/>
                  <a:gd name="T9" fmla="*/ 42 h 146"/>
                  <a:gd name="T10" fmla="*/ 67 w 300"/>
                  <a:gd name="T11" fmla="*/ 51 h 146"/>
                  <a:gd name="T12" fmla="*/ 61 w 300"/>
                  <a:gd name="T13" fmla="*/ 54 h 146"/>
                  <a:gd name="T14" fmla="*/ 72 w 300"/>
                  <a:gd name="T15" fmla="*/ 61 h 146"/>
                  <a:gd name="T16" fmla="*/ 85 w 300"/>
                  <a:gd name="T17" fmla="*/ 54 h 146"/>
                  <a:gd name="T18" fmla="*/ 105 w 300"/>
                  <a:gd name="T19" fmla="*/ 65 h 146"/>
                  <a:gd name="T20" fmla="*/ 85 w 300"/>
                  <a:gd name="T21" fmla="*/ 77 h 146"/>
                  <a:gd name="T22" fmla="*/ 100 w 300"/>
                  <a:gd name="T23" fmla="*/ 86 h 146"/>
                  <a:gd name="T24" fmla="*/ 115 w 300"/>
                  <a:gd name="T25" fmla="*/ 94 h 146"/>
                  <a:gd name="T26" fmla="*/ 133 w 300"/>
                  <a:gd name="T27" fmla="*/ 84 h 146"/>
                  <a:gd name="T28" fmla="*/ 160 w 300"/>
                  <a:gd name="T29" fmla="*/ 99 h 146"/>
                  <a:gd name="T30" fmla="*/ 149 w 300"/>
                  <a:gd name="T31" fmla="*/ 105 h 146"/>
                  <a:gd name="T32" fmla="*/ 167 w 300"/>
                  <a:gd name="T33" fmla="*/ 115 h 146"/>
                  <a:gd name="T34" fmla="*/ 177 w 300"/>
                  <a:gd name="T35" fmla="*/ 109 h 146"/>
                  <a:gd name="T36" fmla="*/ 185 w 300"/>
                  <a:gd name="T37" fmla="*/ 114 h 146"/>
                  <a:gd name="T38" fmla="*/ 177 w 300"/>
                  <a:gd name="T39" fmla="*/ 130 h 146"/>
                  <a:gd name="T40" fmla="*/ 203 w 300"/>
                  <a:gd name="T41" fmla="*/ 146 h 146"/>
                  <a:gd name="T42" fmla="*/ 300 w 300"/>
                  <a:gd name="T43" fmla="*/ 146 h 146"/>
                  <a:gd name="T44" fmla="*/ 48 w 300"/>
                  <a:gd name="T4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0" h="146">
                    <a:moveTo>
                      <a:pt x="48" y="0"/>
                    </a:moveTo>
                    <a:cubicBezTo>
                      <a:pt x="42" y="6"/>
                      <a:pt x="35" y="11"/>
                      <a:pt x="27" y="16"/>
                    </a:cubicBezTo>
                    <a:cubicBezTo>
                      <a:pt x="19" y="21"/>
                      <a:pt x="10" y="25"/>
                      <a:pt x="0" y="28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105" y="65"/>
                      <a:pt x="105" y="65"/>
                      <a:pt x="105" y="65"/>
                    </a:cubicBezTo>
                    <a:cubicBezTo>
                      <a:pt x="85" y="77"/>
                      <a:pt x="85" y="77"/>
                      <a:pt x="85" y="77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15" y="94"/>
                      <a:pt x="115" y="94"/>
                      <a:pt x="115" y="94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60" y="99"/>
                      <a:pt x="160" y="99"/>
                      <a:pt x="160" y="99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85" y="114"/>
                      <a:pt x="185" y="114"/>
                      <a:pt x="185" y="114"/>
                    </a:cubicBezTo>
                    <a:cubicBezTo>
                      <a:pt x="177" y="130"/>
                      <a:pt x="177" y="130"/>
                      <a:pt x="177" y="130"/>
                    </a:cubicBezTo>
                    <a:cubicBezTo>
                      <a:pt x="203" y="146"/>
                      <a:pt x="203" y="146"/>
                      <a:pt x="203" y="146"/>
                    </a:cubicBezTo>
                    <a:cubicBezTo>
                      <a:pt x="300" y="146"/>
                      <a:pt x="300" y="146"/>
                      <a:pt x="300" y="146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6" name="iṩľiḋè"/>
              <p:cNvSpPr/>
              <p:nvPr/>
            </p:nvSpPr>
            <p:spPr bwMode="auto">
              <a:xfrm>
                <a:off x="5463562" y="5433740"/>
                <a:ext cx="350007" cy="74507"/>
              </a:xfrm>
              <a:prstGeom prst="rect">
                <a:avLst/>
              </a:pr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7" name="ïsļíḍe"/>
              <p:cNvSpPr/>
              <p:nvPr/>
            </p:nvSpPr>
            <p:spPr bwMode="auto">
              <a:xfrm>
                <a:off x="5333609" y="5300322"/>
                <a:ext cx="36387" cy="97032"/>
              </a:xfrm>
              <a:custGeom>
                <a:avLst/>
                <a:gdLst>
                  <a:gd name="T0" fmla="*/ 0 w 21"/>
                  <a:gd name="T1" fmla="*/ 56 h 56"/>
                  <a:gd name="T2" fmla="*/ 0 w 21"/>
                  <a:gd name="T3" fmla="*/ 12 h 56"/>
                  <a:gd name="T4" fmla="*/ 21 w 21"/>
                  <a:gd name="T5" fmla="*/ 0 h 56"/>
                  <a:gd name="T6" fmla="*/ 21 w 21"/>
                  <a:gd name="T7" fmla="*/ 46 h 56"/>
                  <a:gd name="T8" fmla="*/ 0 w 21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56">
                    <a:moveTo>
                      <a:pt x="0" y="56"/>
                    </a:moveTo>
                    <a:lnTo>
                      <a:pt x="0" y="12"/>
                    </a:lnTo>
                    <a:lnTo>
                      <a:pt x="21" y="0"/>
                    </a:lnTo>
                    <a:lnTo>
                      <a:pt x="21" y="46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8" name="í$ľíḋé"/>
              <p:cNvSpPr/>
              <p:nvPr/>
            </p:nvSpPr>
            <p:spPr bwMode="auto">
              <a:xfrm>
                <a:off x="5269499" y="5286461"/>
                <a:ext cx="64111" cy="110893"/>
              </a:xfrm>
              <a:custGeom>
                <a:avLst/>
                <a:gdLst>
                  <a:gd name="T0" fmla="*/ 0 w 37"/>
                  <a:gd name="T1" fmla="*/ 0 h 64"/>
                  <a:gd name="T2" fmla="*/ 0 w 37"/>
                  <a:gd name="T3" fmla="*/ 43 h 64"/>
                  <a:gd name="T4" fmla="*/ 37 w 37"/>
                  <a:gd name="T5" fmla="*/ 64 h 64"/>
                  <a:gd name="T6" fmla="*/ 37 w 37"/>
                  <a:gd name="T7" fmla="*/ 20 h 64"/>
                  <a:gd name="T8" fmla="*/ 0 w 37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64">
                    <a:moveTo>
                      <a:pt x="0" y="0"/>
                    </a:moveTo>
                    <a:lnTo>
                      <a:pt x="0" y="43"/>
                    </a:lnTo>
                    <a:lnTo>
                      <a:pt x="37" y="64"/>
                    </a:lnTo>
                    <a:lnTo>
                      <a:pt x="37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9" name="i$ľiḑé"/>
              <p:cNvSpPr/>
              <p:nvPr/>
            </p:nvSpPr>
            <p:spPr bwMode="auto">
              <a:xfrm>
                <a:off x="5146477" y="5210222"/>
                <a:ext cx="65843" cy="110893"/>
              </a:xfrm>
              <a:custGeom>
                <a:avLst/>
                <a:gdLst>
                  <a:gd name="T0" fmla="*/ 38 w 38"/>
                  <a:gd name="T1" fmla="*/ 0 h 64"/>
                  <a:gd name="T2" fmla="*/ 38 w 38"/>
                  <a:gd name="T3" fmla="*/ 44 h 64"/>
                  <a:gd name="T4" fmla="*/ 0 w 38"/>
                  <a:gd name="T5" fmla="*/ 64 h 64"/>
                  <a:gd name="T6" fmla="*/ 0 w 38"/>
                  <a:gd name="T7" fmla="*/ 21 h 64"/>
                  <a:gd name="T8" fmla="*/ 38 w 38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4">
                    <a:moveTo>
                      <a:pt x="38" y="0"/>
                    </a:moveTo>
                    <a:lnTo>
                      <a:pt x="38" y="44"/>
                    </a:lnTo>
                    <a:lnTo>
                      <a:pt x="0" y="64"/>
                    </a:lnTo>
                    <a:lnTo>
                      <a:pt x="0" y="2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0" name="îśliḋê"/>
              <p:cNvSpPr/>
              <p:nvPr/>
            </p:nvSpPr>
            <p:spPr bwMode="auto">
              <a:xfrm>
                <a:off x="5039049" y="5184231"/>
                <a:ext cx="107428" cy="136884"/>
              </a:xfrm>
              <a:custGeom>
                <a:avLst/>
                <a:gdLst>
                  <a:gd name="T0" fmla="*/ 0 w 62"/>
                  <a:gd name="T1" fmla="*/ 0 h 79"/>
                  <a:gd name="T2" fmla="*/ 0 w 62"/>
                  <a:gd name="T3" fmla="*/ 44 h 79"/>
                  <a:gd name="T4" fmla="*/ 62 w 62"/>
                  <a:gd name="T5" fmla="*/ 79 h 79"/>
                  <a:gd name="T6" fmla="*/ 62 w 62"/>
                  <a:gd name="T7" fmla="*/ 36 h 79"/>
                  <a:gd name="T8" fmla="*/ 0 w 62"/>
                  <a:gd name="T9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0" y="0"/>
                    </a:moveTo>
                    <a:lnTo>
                      <a:pt x="0" y="44"/>
                    </a:lnTo>
                    <a:lnTo>
                      <a:pt x="62" y="79"/>
                    </a:lnTo>
                    <a:lnTo>
                      <a:pt x="62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1" name="íŝḷiḋé"/>
              <p:cNvSpPr/>
              <p:nvPr/>
            </p:nvSpPr>
            <p:spPr bwMode="auto">
              <a:xfrm>
                <a:off x="5369996" y="5380027"/>
                <a:ext cx="93566" cy="128220"/>
              </a:xfrm>
              <a:custGeom>
                <a:avLst/>
                <a:gdLst>
                  <a:gd name="T0" fmla="*/ 0 w 54"/>
                  <a:gd name="T1" fmla="*/ 0 h 74"/>
                  <a:gd name="T2" fmla="*/ 0 w 54"/>
                  <a:gd name="T3" fmla="*/ 43 h 74"/>
                  <a:gd name="T4" fmla="*/ 54 w 54"/>
                  <a:gd name="T5" fmla="*/ 74 h 74"/>
                  <a:gd name="T6" fmla="*/ 54 w 54"/>
                  <a:gd name="T7" fmla="*/ 31 h 74"/>
                  <a:gd name="T8" fmla="*/ 0 w 54"/>
                  <a:gd name="T9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74">
                    <a:moveTo>
                      <a:pt x="0" y="0"/>
                    </a:moveTo>
                    <a:lnTo>
                      <a:pt x="0" y="43"/>
                    </a:lnTo>
                    <a:lnTo>
                      <a:pt x="54" y="74"/>
                    </a:lnTo>
                    <a:lnTo>
                      <a:pt x="5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2" name="îṧḻiḋe"/>
              <p:cNvSpPr/>
              <p:nvPr/>
            </p:nvSpPr>
            <p:spPr bwMode="auto">
              <a:xfrm>
                <a:off x="4952414" y="5102794"/>
                <a:ext cx="39853" cy="100497"/>
              </a:xfrm>
              <a:custGeom>
                <a:avLst/>
                <a:gdLst>
                  <a:gd name="T0" fmla="*/ 23 w 23"/>
                  <a:gd name="T1" fmla="*/ 14 h 58"/>
                  <a:gd name="T2" fmla="*/ 23 w 23"/>
                  <a:gd name="T3" fmla="*/ 58 h 58"/>
                  <a:gd name="T4" fmla="*/ 0 w 23"/>
                  <a:gd name="T5" fmla="*/ 43 h 58"/>
                  <a:gd name="T6" fmla="*/ 0 w 23"/>
                  <a:gd name="T7" fmla="*/ 0 h 58"/>
                  <a:gd name="T8" fmla="*/ 23 w 23"/>
                  <a:gd name="T9" fmla="*/ 14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58">
                    <a:moveTo>
                      <a:pt x="23" y="14"/>
                    </a:moveTo>
                    <a:lnTo>
                      <a:pt x="23" y="58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23" y="14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3" name="îSļîḋé"/>
              <p:cNvSpPr/>
              <p:nvPr/>
            </p:nvSpPr>
            <p:spPr bwMode="auto">
              <a:xfrm>
                <a:off x="4808600" y="5052545"/>
                <a:ext cx="110893" cy="81438"/>
              </a:xfrm>
              <a:custGeom>
                <a:avLst/>
                <a:gdLst>
                  <a:gd name="T0" fmla="*/ 0 w 64"/>
                  <a:gd name="T1" fmla="*/ 0 h 47"/>
                  <a:gd name="T2" fmla="*/ 0 w 64"/>
                  <a:gd name="T3" fmla="*/ 43 h 47"/>
                  <a:gd name="T4" fmla="*/ 64 w 64"/>
                  <a:gd name="T5" fmla="*/ 47 h 47"/>
                  <a:gd name="T6" fmla="*/ 64 w 64"/>
                  <a:gd name="T7" fmla="*/ 4 h 47"/>
                  <a:gd name="T8" fmla="*/ 0 w 64"/>
                  <a:gd name="T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47">
                    <a:moveTo>
                      <a:pt x="0" y="0"/>
                    </a:moveTo>
                    <a:lnTo>
                      <a:pt x="0" y="43"/>
                    </a:lnTo>
                    <a:lnTo>
                      <a:pt x="64" y="47"/>
                    </a:lnTo>
                    <a:lnTo>
                      <a:pt x="6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4" name="ïṥḷidé"/>
              <p:cNvSpPr/>
              <p:nvPr/>
            </p:nvSpPr>
            <p:spPr bwMode="auto">
              <a:xfrm>
                <a:off x="4912562" y="4972841"/>
                <a:ext cx="734667" cy="407186"/>
              </a:xfrm>
              <a:custGeom>
                <a:avLst/>
                <a:gdLst>
                  <a:gd name="T0" fmla="*/ 383 w 424"/>
                  <a:gd name="T1" fmla="*/ 235 h 235"/>
                  <a:gd name="T2" fmla="*/ 0 w 424"/>
                  <a:gd name="T3" fmla="*/ 12 h 235"/>
                  <a:gd name="T4" fmla="*/ 21 w 424"/>
                  <a:gd name="T5" fmla="*/ 0 h 235"/>
                  <a:gd name="T6" fmla="*/ 424 w 424"/>
                  <a:gd name="T7" fmla="*/ 233 h 235"/>
                  <a:gd name="T8" fmla="*/ 383 w 424"/>
                  <a:gd name="T9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235">
                    <a:moveTo>
                      <a:pt x="383" y="235"/>
                    </a:moveTo>
                    <a:lnTo>
                      <a:pt x="0" y="12"/>
                    </a:lnTo>
                    <a:lnTo>
                      <a:pt x="21" y="0"/>
                    </a:lnTo>
                    <a:lnTo>
                      <a:pt x="424" y="233"/>
                    </a:lnTo>
                    <a:lnTo>
                      <a:pt x="383" y="235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5" name="išḻïḍe"/>
              <p:cNvSpPr/>
              <p:nvPr/>
            </p:nvSpPr>
            <p:spPr bwMode="auto">
              <a:xfrm>
                <a:off x="4912562" y="4972841"/>
                <a:ext cx="734667" cy="407186"/>
              </a:xfrm>
              <a:custGeom>
                <a:avLst/>
                <a:gdLst>
                  <a:gd name="T0" fmla="*/ 21 w 424"/>
                  <a:gd name="T1" fmla="*/ 10 h 235"/>
                  <a:gd name="T2" fmla="*/ 406 w 424"/>
                  <a:gd name="T3" fmla="*/ 235 h 235"/>
                  <a:gd name="T4" fmla="*/ 424 w 424"/>
                  <a:gd name="T5" fmla="*/ 233 h 235"/>
                  <a:gd name="T6" fmla="*/ 21 w 424"/>
                  <a:gd name="T7" fmla="*/ 0 h 235"/>
                  <a:gd name="T8" fmla="*/ 0 w 424"/>
                  <a:gd name="T9" fmla="*/ 12 h 235"/>
                  <a:gd name="T10" fmla="*/ 8 w 424"/>
                  <a:gd name="T11" fmla="*/ 19 h 235"/>
                  <a:gd name="T12" fmla="*/ 21 w 424"/>
                  <a:gd name="T13" fmla="*/ 1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4" h="235">
                    <a:moveTo>
                      <a:pt x="21" y="10"/>
                    </a:moveTo>
                    <a:lnTo>
                      <a:pt x="406" y="235"/>
                    </a:lnTo>
                    <a:lnTo>
                      <a:pt x="424" y="233"/>
                    </a:lnTo>
                    <a:lnTo>
                      <a:pt x="21" y="0"/>
                    </a:lnTo>
                    <a:lnTo>
                      <a:pt x="0" y="12"/>
                    </a:lnTo>
                    <a:lnTo>
                      <a:pt x="8" y="19"/>
                    </a:lnTo>
                    <a:lnTo>
                      <a:pt x="21" y="10"/>
                    </a:lnTo>
                    <a:close/>
                  </a:path>
                </a:pathLst>
              </a:custGeom>
              <a:solidFill>
                <a:srgbClr val="F2B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6" name="işḻîďê"/>
              <p:cNvSpPr/>
              <p:nvPr/>
            </p:nvSpPr>
            <p:spPr bwMode="auto">
              <a:xfrm>
                <a:off x="4732361" y="5009228"/>
                <a:ext cx="76239" cy="117824"/>
              </a:xfrm>
              <a:custGeom>
                <a:avLst/>
                <a:gdLst>
                  <a:gd name="T0" fmla="*/ 44 w 44"/>
                  <a:gd name="T1" fmla="*/ 68 h 68"/>
                  <a:gd name="T2" fmla="*/ 44 w 44"/>
                  <a:gd name="T3" fmla="*/ 25 h 68"/>
                  <a:gd name="T4" fmla="*/ 0 w 44"/>
                  <a:gd name="T5" fmla="*/ 0 h 68"/>
                  <a:gd name="T6" fmla="*/ 0 w 44"/>
                  <a:gd name="T7" fmla="*/ 43 h 68"/>
                  <a:gd name="T8" fmla="*/ 44 w 4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8">
                    <a:moveTo>
                      <a:pt x="44" y="68"/>
                    </a:moveTo>
                    <a:lnTo>
                      <a:pt x="44" y="25"/>
                    </a:lnTo>
                    <a:lnTo>
                      <a:pt x="0" y="0"/>
                    </a:lnTo>
                    <a:lnTo>
                      <a:pt x="0" y="43"/>
                    </a:lnTo>
                    <a:lnTo>
                      <a:pt x="44" y="68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7" name="íSḻïḓè"/>
              <p:cNvSpPr/>
              <p:nvPr/>
            </p:nvSpPr>
            <p:spPr bwMode="auto">
              <a:xfrm>
                <a:off x="4992267" y="5102794"/>
                <a:ext cx="46784" cy="100497"/>
              </a:xfrm>
              <a:custGeom>
                <a:avLst/>
                <a:gdLst>
                  <a:gd name="T0" fmla="*/ 27 w 27"/>
                  <a:gd name="T1" fmla="*/ 0 h 58"/>
                  <a:gd name="T2" fmla="*/ 27 w 27"/>
                  <a:gd name="T3" fmla="*/ 43 h 58"/>
                  <a:gd name="T4" fmla="*/ 0 w 27"/>
                  <a:gd name="T5" fmla="*/ 58 h 58"/>
                  <a:gd name="T6" fmla="*/ 0 w 27"/>
                  <a:gd name="T7" fmla="*/ 14 h 58"/>
                  <a:gd name="T8" fmla="*/ 27 w 27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58">
                    <a:moveTo>
                      <a:pt x="27" y="0"/>
                    </a:moveTo>
                    <a:lnTo>
                      <a:pt x="27" y="43"/>
                    </a:lnTo>
                    <a:lnTo>
                      <a:pt x="0" y="58"/>
                    </a:lnTo>
                    <a:lnTo>
                      <a:pt x="0" y="1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8" name="ï$1iḑè"/>
              <p:cNvSpPr/>
              <p:nvPr/>
            </p:nvSpPr>
            <p:spPr bwMode="auto">
              <a:xfrm>
                <a:off x="4515772" y="4588180"/>
                <a:ext cx="382928" cy="218321"/>
              </a:xfrm>
              <a:custGeom>
                <a:avLst/>
                <a:gdLst>
                  <a:gd name="T0" fmla="*/ 76 w 106"/>
                  <a:gd name="T1" fmla="*/ 18 h 61"/>
                  <a:gd name="T2" fmla="*/ 0 w 106"/>
                  <a:gd name="T3" fmla="*/ 2 h 61"/>
                  <a:gd name="T4" fmla="*/ 0 w 106"/>
                  <a:gd name="T5" fmla="*/ 10 h 61"/>
                  <a:gd name="T6" fmla="*/ 76 w 106"/>
                  <a:gd name="T7" fmla="*/ 26 h 61"/>
                  <a:gd name="T8" fmla="*/ 104 w 106"/>
                  <a:gd name="T9" fmla="*/ 61 h 61"/>
                  <a:gd name="T10" fmla="*/ 76 w 106"/>
                  <a:gd name="T11" fmla="*/ 1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6" h="61">
                    <a:moveTo>
                      <a:pt x="76" y="18"/>
                    </a:moveTo>
                    <a:cubicBezTo>
                      <a:pt x="55" y="6"/>
                      <a:pt x="27" y="0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7" y="9"/>
                      <a:pt x="55" y="14"/>
                      <a:pt x="76" y="26"/>
                    </a:cubicBezTo>
                    <a:cubicBezTo>
                      <a:pt x="93" y="36"/>
                      <a:pt x="102" y="48"/>
                      <a:pt x="104" y="61"/>
                    </a:cubicBezTo>
                    <a:cubicBezTo>
                      <a:pt x="106" y="45"/>
                      <a:pt x="97" y="30"/>
                      <a:pt x="76" y="18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2127619" y="5520904"/>
            <a:ext cx="7497965" cy="6480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zh-CN" altLang="en-US" sz="2800" dirty="0"/>
              <a:t>图</a:t>
            </a:r>
            <a:r>
              <a:rPr lang="en-US" altLang="zh-CN" sz="2800" dirty="0"/>
              <a:t>2-1 OSI/RM</a:t>
            </a:r>
            <a:r>
              <a:rPr lang="zh-CN" altLang="en-US" sz="2800" dirty="0"/>
              <a:t>和</a:t>
            </a:r>
            <a:r>
              <a:rPr lang="en-US" altLang="zh-CN" sz="2800" dirty="0"/>
              <a:t>TCP/IP</a:t>
            </a:r>
            <a:r>
              <a:rPr lang="zh-CN" altLang="en-US" sz="2800" dirty="0"/>
              <a:t>参考模型比较</a:t>
            </a:r>
            <a:r>
              <a:rPr lang="zh-CN" altLang="en-US" sz="2800" strike="noStrike" noProof="1"/>
              <a:t> </a:t>
            </a:r>
            <a:endParaRPr lang="zh-CN" altLang="en-US" sz="2800" strike="noStrike" noProof="1"/>
          </a:p>
        </p:txBody>
      </p:sp>
      <p:grpSp>
        <p:nvGrpSpPr>
          <p:cNvPr id="2" name="组合 7172"/>
          <p:cNvGrpSpPr/>
          <p:nvPr/>
        </p:nvGrpSpPr>
        <p:grpSpPr>
          <a:xfrm>
            <a:off x="2843785" y="1813561"/>
            <a:ext cx="1768475" cy="3527425"/>
            <a:chOff x="3136" y="8096"/>
            <a:chExt cx="1545" cy="3276"/>
          </a:xfrm>
        </p:grpSpPr>
        <p:sp>
          <p:nvSpPr>
            <p:cNvPr id="7171" name="文本框 7173"/>
            <p:cNvSpPr txBox="1"/>
            <p:nvPr/>
          </p:nvSpPr>
          <p:spPr>
            <a:xfrm>
              <a:off x="3136" y="8564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000" dirty="0">
                  <a:latin typeface="+mn-ea"/>
                </a:rPr>
                <a:t>   </a:t>
              </a:r>
              <a:r>
                <a:rPr lang="zh-CN" altLang="en-US" dirty="0">
                  <a:latin typeface="+mn-ea"/>
                </a:rPr>
                <a:t>表示层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72" name="文本框 7174"/>
            <p:cNvSpPr txBox="1"/>
            <p:nvPr/>
          </p:nvSpPr>
          <p:spPr>
            <a:xfrm>
              <a:off x="3136" y="9032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200" dirty="0">
                  <a:latin typeface="+mn-ea"/>
                </a:rPr>
                <a:t>   </a:t>
              </a:r>
              <a:r>
                <a:rPr lang="zh-CN" altLang="en-US" dirty="0">
                  <a:latin typeface="+mn-ea"/>
                </a:rPr>
                <a:t>会话层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73" name="文本框 7175"/>
            <p:cNvSpPr txBox="1"/>
            <p:nvPr/>
          </p:nvSpPr>
          <p:spPr>
            <a:xfrm>
              <a:off x="3136" y="9500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200" dirty="0">
                  <a:latin typeface="+mn-ea"/>
                </a:rPr>
                <a:t> </a:t>
              </a:r>
              <a:r>
                <a:rPr lang="en-US" altLang="zh-CN" sz="1000" dirty="0">
                  <a:latin typeface="+mn-ea"/>
                </a:rPr>
                <a:t>  </a:t>
              </a:r>
              <a:r>
                <a:rPr lang="zh-CN" altLang="en-US" dirty="0">
                  <a:latin typeface="+mn-ea"/>
                </a:rPr>
                <a:t>传输层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74" name="文本框 7176"/>
            <p:cNvSpPr txBox="1"/>
            <p:nvPr/>
          </p:nvSpPr>
          <p:spPr>
            <a:xfrm>
              <a:off x="3136" y="9968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200" dirty="0">
                  <a:latin typeface="+mn-ea"/>
                </a:rPr>
                <a:t>   </a:t>
              </a:r>
              <a:r>
                <a:rPr lang="zh-CN" altLang="en-US" dirty="0">
                  <a:latin typeface="+mn-ea"/>
                </a:rPr>
                <a:t>网络层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75" name="文本框 7177"/>
            <p:cNvSpPr txBox="1"/>
            <p:nvPr/>
          </p:nvSpPr>
          <p:spPr>
            <a:xfrm>
              <a:off x="3136" y="10436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zh-CN" altLang="en-US" dirty="0">
                  <a:latin typeface="+mn-ea"/>
                </a:rPr>
                <a:t>数据链路层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76" name="文本框 7178"/>
            <p:cNvSpPr txBox="1"/>
            <p:nvPr/>
          </p:nvSpPr>
          <p:spPr>
            <a:xfrm>
              <a:off x="3136" y="10904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000" dirty="0">
                  <a:latin typeface="+mn-ea"/>
                </a:rPr>
                <a:t>   </a:t>
              </a:r>
              <a:r>
                <a:rPr lang="zh-CN" altLang="en-US" dirty="0">
                  <a:latin typeface="+mn-ea"/>
                </a:rPr>
                <a:t>物理层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77" name="文本框 7179"/>
            <p:cNvSpPr txBox="1"/>
            <p:nvPr/>
          </p:nvSpPr>
          <p:spPr>
            <a:xfrm>
              <a:off x="3136" y="8096"/>
              <a:ext cx="1545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000" dirty="0">
                  <a:latin typeface="+mn-ea"/>
                </a:rPr>
                <a:t>   </a:t>
              </a:r>
              <a:r>
                <a:rPr lang="zh-CN" altLang="en-US" dirty="0">
                  <a:latin typeface="+mn-ea"/>
                </a:rPr>
                <a:t>应用层</a:t>
              </a:r>
              <a:endParaRPr lang="zh-CN" altLang="en-US" dirty="0">
                <a:latin typeface="+mn-ea"/>
              </a:endParaRPr>
            </a:p>
          </p:txBody>
        </p:sp>
      </p:grpSp>
      <p:sp>
        <p:nvSpPr>
          <p:cNvPr id="7178" name="文本框 7180"/>
          <p:cNvSpPr txBox="1"/>
          <p:nvPr/>
        </p:nvSpPr>
        <p:spPr>
          <a:xfrm>
            <a:off x="5007548" y="1813560"/>
            <a:ext cx="2357437" cy="503238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en-US" altLang="zh-CN" sz="1200" dirty="0">
                <a:latin typeface="+mn-ea"/>
              </a:rPr>
              <a:t>     </a:t>
            </a:r>
            <a:r>
              <a:rPr lang="zh-CN" altLang="en-US" dirty="0">
                <a:latin typeface="+mn-ea"/>
              </a:rPr>
              <a:t>应用层</a:t>
            </a:r>
            <a:endParaRPr lang="zh-CN" altLang="en-US" dirty="0">
              <a:latin typeface="+mn-ea"/>
            </a:endParaRPr>
          </a:p>
        </p:txBody>
      </p:sp>
      <p:grpSp>
        <p:nvGrpSpPr>
          <p:cNvPr id="7179" name="组合 7181"/>
          <p:cNvGrpSpPr/>
          <p:nvPr/>
        </p:nvGrpSpPr>
        <p:grpSpPr>
          <a:xfrm>
            <a:off x="5007548" y="3324862"/>
            <a:ext cx="2357437" cy="2016579"/>
            <a:chOff x="5045" y="10124"/>
            <a:chExt cx="2060" cy="1872"/>
          </a:xfrm>
        </p:grpSpPr>
        <p:sp>
          <p:nvSpPr>
            <p:cNvPr id="7180" name="文本框 7182"/>
            <p:cNvSpPr txBox="1"/>
            <p:nvPr/>
          </p:nvSpPr>
          <p:spPr>
            <a:xfrm>
              <a:off x="5045" y="10124"/>
              <a:ext cx="2060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200" dirty="0">
                  <a:latin typeface="+mn-ea"/>
                </a:rPr>
                <a:t>     </a:t>
              </a:r>
              <a:r>
                <a:rPr lang="zh-CN" altLang="en-US" dirty="0">
                  <a:latin typeface="+mn-ea"/>
                </a:rPr>
                <a:t>传输层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7181" name="文本框 7183"/>
            <p:cNvSpPr txBox="1"/>
            <p:nvPr/>
          </p:nvSpPr>
          <p:spPr>
            <a:xfrm>
              <a:off x="5045" y="10592"/>
              <a:ext cx="2060" cy="468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algn="ctr" eaLnBrk="0" hangingPunct="0"/>
              <a:r>
                <a:rPr lang="en-US" altLang="zh-CN" sz="1000" dirty="0">
                  <a:latin typeface="+mn-ea"/>
                </a:rPr>
                <a:t>    </a:t>
              </a:r>
              <a:r>
                <a:rPr lang="zh-CN" altLang="en-US" dirty="0">
                  <a:latin typeface="+mn-ea"/>
                </a:rPr>
                <a:t>互连网络层</a:t>
              </a:r>
              <a:endParaRPr lang="zh-CN" altLang="en-US" dirty="0">
                <a:latin typeface="+mn-ea"/>
              </a:endParaRPr>
            </a:p>
            <a:p>
              <a:pPr algn="ctr" eaLnBrk="0" hangingPunct="0"/>
              <a:r>
                <a:rPr lang="zh-CN" altLang="en-US" sz="1000" dirty="0">
                  <a:latin typeface="+mn-ea"/>
                </a:rPr>
                <a:t>  </a:t>
              </a:r>
              <a:r>
                <a:rPr lang="zh-CN" altLang="en-US" sz="900" dirty="0">
                  <a:latin typeface="+mn-ea"/>
                </a:rPr>
                <a:t> </a:t>
              </a:r>
              <a:endParaRPr lang="zh-CN" altLang="en-US" sz="1200" dirty="0">
                <a:latin typeface="+mn-ea"/>
              </a:endParaRPr>
            </a:p>
          </p:txBody>
        </p:sp>
        <p:sp>
          <p:nvSpPr>
            <p:cNvPr id="7182" name="文本框 7184"/>
            <p:cNvSpPr txBox="1"/>
            <p:nvPr/>
          </p:nvSpPr>
          <p:spPr>
            <a:xfrm>
              <a:off x="5045" y="11060"/>
              <a:ext cx="2060" cy="936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 eaLnBrk="0" hangingPunct="0"/>
              <a:r>
                <a:rPr lang="en-US" altLang="zh-CN" sz="1000" dirty="0">
                  <a:latin typeface="+mn-ea"/>
                </a:rPr>
                <a:t> </a:t>
              </a:r>
              <a:r>
                <a:rPr lang="zh-CN" altLang="en-US" sz="2000" dirty="0">
                  <a:latin typeface="+mn-ea"/>
                </a:rPr>
                <a:t>各种网络的接口</a:t>
              </a:r>
              <a:endParaRPr lang="zh-CN" altLang="en-US" sz="2000" dirty="0">
                <a:latin typeface="+mn-ea"/>
              </a:endParaRPr>
            </a:p>
          </p:txBody>
        </p:sp>
      </p:grpSp>
      <p:sp>
        <p:nvSpPr>
          <p:cNvPr id="7183" name="文本框 7185"/>
          <p:cNvSpPr txBox="1"/>
          <p:nvPr/>
        </p:nvSpPr>
        <p:spPr>
          <a:xfrm>
            <a:off x="5007548" y="2316799"/>
            <a:ext cx="2357437" cy="50482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endParaRPr lang="zh-CN" altLang="zh-CN" sz="1000" dirty="0">
              <a:latin typeface="+mn-ea"/>
            </a:endParaRPr>
          </a:p>
        </p:txBody>
      </p:sp>
      <p:sp>
        <p:nvSpPr>
          <p:cNvPr id="7184" name="文本框 7186"/>
          <p:cNvSpPr txBox="1"/>
          <p:nvPr/>
        </p:nvSpPr>
        <p:spPr>
          <a:xfrm>
            <a:off x="5007548" y="2821624"/>
            <a:ext cx="2357437" cy="50323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endParaRPr lang="zh-CN" altLang="zh-CN" sz="1000" dirty="0">
              <a:latin typeface="+mn-ea"/>
            </a:endParaRPr>
          </a:p>
        </p:txBody>
      </p:sp>
      <p:sp>
        <p:nvSpPr>
          <p:cNvPr id="7185" name="直接连接符 7187"/>
          <p:cNvSpPr/>
          <p:nvPr/>
        </p:nvSpPr>
        <p:spPr>
          <a:xfrm flipH="1" flipV="1">
            <a:off x="7411022" y="2485073"/>
            <a:ext cx="468312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186" name="直接连接符 7188"/>
          <p:cNvSpPr/>
          <p:nvPr/>
        </p:nvSpPr>
        <p:spPr>
          <a:xfrm flipH="1">
            <a:off x="7411022" y="3045461"/>
            <a:ext cx="430212" cy="111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187" name="文本框 7189"/>
          <p:cNvSpPr txBox="1"/>
          <p:nvPr/>
        </p:nvSpPr>
        <p:spPr>
          <a:xfrm>
            <a:off x="7868920" y="2667955"/>
            <a:ext cx="1854200" cy="67151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en-US" altLang="zh-CN" dirty="0">
                <a:latin typeface="+mn-ea"/>
              </a:rPr>
              <a:t>TCP/IP</a:t>
            </a:r>
            <a:r>
              <a:rPr lang="zh-CN" altLang="en-US" dirty="0">
                <a:latin typeface="+mn-ea"/>
              </a:rPr>
              <a:t>模型中没有设这两层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占位符 1026"/>
          <p:cNvSpPr>
            <a:spLocks noGrp="1"/>
          </p:cNvSpPr>
          <p:nvPr>
            <p:ph idx="1"/>
          </p:nvPr>
        </p:nvSpPr>
        <p:spPr>
          <a:xfrm>
            <a:off x="1246909" y="1700784"/>
            <a:ext cx="9773392" cy="441960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互连</a:t>
            </a:r>
            <a:r>
              <a:rPr lang="zh-CN" altLang="en-US" dirty="0">
                <a:latin typeface="宋体" panose="02010600030101010101" pitchFamily="2" charset="-122"/>
              </a:rPr>
              <a:t>网层（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层）是支持整个体系结构的关键，它的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主要作用</a:t>
            </a:r>
            <a:r>
              <a:rPr lang="zh-CN" altLang="en-US" dirty="0">
                <a:latin typeface="宋体" panose="02010600030101010101" pitchFamily="2" charset="-122"/>
              </a:rPr>
              <a:t>就是将源端主机的分组数据发送到网络上去，并且使分组数据能够独立地传输到达目的端主机（目的端主机可能与源端主机处于不同的网络上）。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分组数据并非一定按顺序达到目的端主机</a:t>
            </a:r>
            <a:r>
              <a:rPr lang="zh-CN" altLang="en-US" dirty="0">
                <a:latin typeface="宋体" panose="02010600030101010101" pitchFamily="2" charset="-122"/>
              </a:rPr>
              <a:t>，在这种情况下，必须由高层协议将失序的分组重新按顺序排好，然后再交付目的端主机。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511806" y="428166"/>
            <a:ext cx="4997699" cy="791052"/>
            <a:chOff x="824071" y="1564267"/>
            <a:chExt cx="4997699" cy="791052"/>
          </a:xfrm>
        </p:grpSpPr>
        <p:sp>
          <p:nvSpPr>
            <p:cNvPr id="6" name="矩形: 圆角 28"/>
            <p:cNvSpPr/>
            <p:nvPr/>
          </p:nvSpPr>
          <p:spPr>
            <a:xfrm>
              <a:off x="824071" y="1740416"/>
              <a:ext cx="4997699" cy="614363"/>
            </a:xfrm>
            <a:prstGeom prst="roundRect">
              <a:avLst/>
            </a:prstGeom>
            <a:solidFill>
              <a:srgbClr val="0F73EE"/>
            </a:solidFill>
            <a:ln>
              <a:solidFill>
                <a:srgbClr val="FBA7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701522" y="1828091"/>
              <a:ext cx="4016549" cy="4801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800" noProof="1" smtClean="0">
                  <a:solidFill>
                    <a:schemeClr val="bg1"/>
                  </a:solidFill>
                  <a:latin typeface="+mj-ea"/>
                  <a:ea typeface="+mj-ea"/>
                </a:rPr>
                <a:t>2.1.1 </a:t>
              </a:r>
              <a:r>
                <a:rPr lang="en-US" altLang="zh-CN" sz="2800" noProof="1">
                  <a:solidFill>
                    <a:schemeClr val="bg1"/>
                  </a:solidFill>
                  <a:latin typeface="+mj-ea"/>
                  <a:ea typeface="+mj-ea"/>
                </a:rPr>
                <a:t>TCP/IP</a:t>
              </a:r>
              <a:r>
                <a:rPr lang="zh-CN" altLang="en-US" sz="2800" noProof="1">
                  <a:solidFill>
                    <a:schemeClr val="bg1"/>
                  </a:solidFill>
                  <a:latin typeface="+mj-ea"/>
                  <a:ea typeface="+mj-ea"/>
                </a:rPr>
                <a:t>的互连网层 </a:t>
              </a:r>
              <a:endParaRPr lang="zh-CN" altLang="en-US" sz="2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6" y="1564267"/>
              <a:ext cx="751303" cy="7910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061370" y="3069736"/>
            <a:ext cx="2467365" cy="2467365"/>
            <a:chOff x="1061370" y="2012828"/>
            <a:chExt cx="2467365" cy="2467365"/>
          </a:xfrm>
        </p:grpSpPr>
        <p:sp>
          <p:nvSpPr>
            <p:cNvPr id="5" name="椭圆 4"/>
            <p:cNvSpPr/>
            <p:nvPr/>
          </p:nvSpPr>
          <p:spPr>
            <a:xfrm>
              <a:off x="1061370" y="2012828"/>
              <a:ext cx="2467365" cy="2467365"/>
            </a:xfrm>
            <a:prstGeom prst="ellipse">
              <a:avLst/>
            </a:prstGeom>
            <a:solidFill>
              <a:srgbClr val="0F73E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Rectangle 2"/>
            <p:cNvSpPr txBox="1"/>
            <p:nvPr/>
          </p:nvSpPr>
          <p:spPr>
            <a:xfrm>
              <a:off x="1264417" y="2528418"/>
              <a:ext cx="2098460" cy="156174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与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IP</a:t>
              </a: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配合使用的还有三个协议</a:t>
              </a:r>
              <a:r>
                <a:rPr lang="zh-CN" altLang="en-US" sz="2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</a:rPr>
                <a:t>：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sym typeface="黑体" panose="02010609060101010101" pitchFamily="2" charset="-122"/>
              </a:endParaRPr>
            </a:p>
          </p:txBody>
        </p:sp>
      </p:grpSp>
      <p:grpSp>
        <p:nvGrpSpPr>
          <p:cNvPr id="7" name="Group 36"/>
          <p:cNvGrpSpPr/>
          <p:nvPr/>
        </p:nvGrpSpPr>
        <p:grpSpPr>
          <a:xfrm>
            <a:off x="535451" y="2737777"/>
            <a:ext cx="3359333" cy="3305324"/>
            <a:chOff x="6869300" y="3848083"/>
            <a:chExt cx="2609417" cy="2567465"/>
          </a:xfrm>
          <a:solidFill>
            <a:srgbClr val="0F73EE"/>
          </a:solidFill>
        </p:grpSpPr>
        <p:sp>
          <p:nvSpPr>
            <p:cNvPr id="8" name="Freeform 9"/>
            <p:cNvSpPr/>
            <p:nvPr/>
          </p:nvSpPr>
          <p:spPr bwMode="auto">
            <a:xfrm>
              <a:off x="6869300" y="3848083"/>
              <a:ext cx="2609417" cy="2567465"/>
            </a:xfrm>
            <a:custGeom>
              <a:avLst/>
              <a:gdLst>
                <a:gd name="T0" fmla="*/ 865 w 929"/>
                <a:gd name="T1" fmla="*/ 292 h 914"/>
                <a:gd name="T2" fmla="*/ 873 w 929"/>
                <a:gd name="T3" fmla="*/ 274 h 914"/>
                <a:gd name="T4" fmla="*/ 892 w 929"/>
                <a:gd name="T5" fmla="*/ 282 h 914"/>
                <a:gd name="T6" fmla="*/ 892 w 929"/>
                <a:gd name="T7" fmla="*/ 584 h 914"/>
                <a:gd name="T8" fmla="*/ 365 w 929"/>
                <a:gd name="T9" fmla="*/ 852 h 914"/>
                <a:gd name="T10" fmla="*/ 66 w 929"/>
                <a:gd name="T11" fmla="*/ 314 h 914"/>
                <a:gd name="T12" fmla="*/ 354 w 929"/>
                <a:gd name="T13" fmla="*/ 19 h 914"/>
                <a:gd name="T14" fmla="*/ 440 w 929"/>
                <a:gd name="T15" fmla="*/ 1 h 914"/>
                <a:gd name="T16" fmla="*/ 456 w 929"/>
                <a:gd name="T17" fmla="*/ 14 h 914"/>
                <a:gd name="T18" fmla="*/ 443 w 929"/>
                <a:gd name="T19" fmla="*/ 29 h 914"/>
                <a:gd name="T20" fmla="*/ 362 w 929"/>
                <a:gd name="T21" fmla="*/ 46 h 914"/>
                <a:gd name="T22" fmla="*/ 93 w 929"/>
                <a:gd name="T23" fmla="*/ 322 h 914"/>
                <a:gd name="T24" fmla="*/ 373 w 929"/>
                <a:gd name="T25" fmla="*/ 824 h 914"/>
                <a:gd name="T26" fmla="*/ 865 w 929"/>
                <a:gd name="T27" fmla="*/ 574 h 914"/>
                <a:gd name="T28" fmla="*/ 865 w 929"/>
                <a:gd name="T29" fmla="*/ 292 h 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29" h="914">
                  <a:moveTo>
                    <a:pt x="865" y="292"/>
                  </a:moveTo>
                  <a:cubicBezTo>
                    <a:pt x="862" y="285"/>
                    <a:pt x="866" y="277"/>
                    <a:pt x="873" y="274"/>
                  </a:cubicBezTo>
                  <a:cubicBezTo>
                    <a:pt x="881" y="271"/>
                    <a:pt x="889" y="275"/>
                    <a:pt x="892" y="282"/>
                  </a:cubicBezTo>
                  <a:cubicBezTo>
                    <a:pt x="929" y="383"/>
                    <a:pt x="927" y="490"/>
                    <a:pt x="892" y="584"/>
                  </a:cubicBezTo>
                  <a:cubicBezTo>
                    <a:pt x="813" y="797"/>
                    <a:pt x="583" y="914"/>
                    <a:pt x="365" y="852"/>
                  </a:cubicBezTo>
                  <a:cubicBezTo>
                    <a:pt x="134" y="786"/>
                    <a:pt x="0" y="545"/>
                    <a:pt x="66" y="314"/>
                  </a:cubicBezTo>
                  <a:cubicBezTo>
                    <a:pt x="106" y="173"/>
                    <a:pt x="215" y="62"/>
                    <a:pt x="354" y="19"/>
                  </a:cubicBezTo>
                  <a:cubicBezTo>
                    <a:pt x="382" y="10"/>
                    <a:pt x="411" y="4"/>
                    <a:pt x="440" y="1"/>
                  </a:cubicBezTo>
                  <a:cubicBezTo>
                    <a:pt x="448" y="0"/>
                    <a:pt x="455" y="6"/>
                    <a:pt x="456" y="14"/>
                  </a:cubicBezTo>
                  <a:cubicBezTo>
                    <a:pt x="456" y="21"/>
                    <a:pt x="451" y="28"/>
                    <a:pt x="443" y="29"/>
                  </a:cubicBezTo>
                  <a:cubicBezTo>
                    <a:pt x="415" y="32"/>
                    <a:pt x="388" y="37"/>
                    <a:pt x="362" y="46"/>
                  </a:cubicBezTo>
                  <a:cubicBezTo>
                    <a:pt x="232" y="86"/>
                    <a:pt x="131" y="190"/>
                    <a:pt x="93" y="322"/>
                  </a:cubicBezTo>
                  <a:cubicBezTo>
                    <a:pt x="31" y="538"/>
                    <a:pt x="157" y="763"/>
                    <a:pt x="373" y="824"/>
                  </a:cubicBezTo>
                  <a:cubicBezTo>
                    <a:pt x="577" y="883"/>
                    <a:pt x="792" y="773"/>
                    <a:pt x="865" y="574"/>
                  </a:cubicBezTo>
                  <a:cubicBezTo>
                    <a:pt x="898" y="486"/>
                    <a:pt x="900" y="386"/>
                    <a:pt x="865" y="2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Freeform 10"/>
            <p:cNvSpPr/>
            <p:nvPr/>
          </p:nvSpPr>
          <p:spPr bwMode="auto">
            <a:xfrm>
              <a:off x="9195641" y="4575252"/>
              <a:ext cx="202769" cy="199972"/>
            </a:xfrm>
            <a:custGeom>
              <a:avLst/>
              <a:gdLst>
                <a:gd name="T0" fmla="*/ 8 w 72"/>
                <a:gd name="T1" fmla="*/ 51 h 71"/>
                <a:gd name="T2" fmla="*/ 21 w 72"/>
                <a:gd name="T3" fmla="*/ 8 h 71"/>
                <a:gd name="T4" fmla="*/ 63 w 72"/>
                <a:gd name="T5" fmla="*/ 20 h 71"/>
                <a:gd name="T6" fmla="*/ 51 w 72"/>
                <a:gd name="T7" fmla="*/ 63 h 71"/>
                <a:gd name="T8" fmla="*/ 8 w 72"/>
                <a:gd name="T9" fmla="*/ 5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71">
                  <a:moveTo>
                    <a:pt x="8" y="51"/>
                  </a:moveTo>
                  <a:cubicBezTo>
                    <a:pt x="0" y="36"/>
                    <a:pt x="5" y="16"/>
                    <a:pt x="21" y="8"/>
                  </a:cubicBezTo>
                  <a:cubicBezTo>
                    <a:pt x="36" y="0"/>
                    <a:pt x="55" y="5"/>
                    <a:pt x="63" y="20"/>
                  </a:cubicBezTo>
                  <a:cubicBezTo>
                    <a:pt x="72" y="35"/>
                    <a:pt x="66" y="54"/>
                    <a:pt x="51" y="63"/>
                  </a:cubicBezTo>
                  <a:cubicBezTo>
                    <a:pt x="36" y="71"/>
                    <a:pt x="17" y="66"/>
                    <a:pt x="8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054654" y="2357216"/>
            <a:ext cx="1988533" cy="763004"/>
            <a:chOff x="4397979" y="1511803"/>
            <a:chExt cx="1988533" cy="763004"/>
          </a:xfrm>
        </p:grpSpPr>
        <p:sp>
          <p:nvSpPr>
            <p:cNvPr id="11" name="矩形: 圆角 10"/>
            <p:cNvSpPr/>
            <p:nvPr/>
          </p:nvSpPr>
          <p:spPr>
            <a:xfrm>
              <a:off x="4512179" y="1596162"/>
              <a:ext cx="1874333" cy="625978"/>
            </a:xfrm>
            <a:prstGeom prst="roundRect">
              <a:avLst/>
            </a:prstGeom>
            <a:solidFill>
              <a:srgbClr val="0F73EE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397979" y="1511803"/>
              <a:ext cx="1623957" cy="763004"/>
              <a:chOff x="4397979" y="1511803"/>
              <a:chExt cx="1623957" cy="763004"/>
            </a:xfrm>
          </p:grpSpPr>
          <p:sp>
            <p:nvSpPr>
              <p:cNvPr id="13" name="Freeform 17"/>
              <p:cNvSpPr/>
              <p:nvPr/>
            </p:nvSpPr>
            <p:spPr bwMode="auto">
              <a:xfrm>
                <a:off x="4397979" y="1560722"/>
                <a:ext cx="76200" cy="714085"/>
              </a:xfrm>
              <a:custGeom>
                <a:avLst/>
                <a:gdLst>
                  <a:gd name="T0" fmla="*/ 13 w 25"/>
                  <a:gd name="T1" fmla="*/ 0 h 249"/>
                  <a:gd name="T2" fmla="*/ 25 w 25"/>
                  <a:gd name="T3" fmla="*/ 13 h 249"/>
                  <a:gd name="T4" fmla="*/ 16 w 25"/>
                  <a:gd name="T5" fmla="*/ 25 h 249"/>
                  <a:gd name="T6" fmla="*/ 16 w 25"/>
                  <a:gd name="T7" fmla="*/ 224 h 249"/>
                  <a:gd name="T8" fmla="*/ 25 w 25"/>
                  <a:gd name="T9" fmla="*/ 236 h 249"/>
                  <a:gd name="T10" fmla="*/ 13 w 25"/>
                  <a:gd name="T11" fmla="*/ 249 h 249"/>
                  <a:gd name="T12" fmla="*/ 0 w 25"/>
                  <a:gd name="T13" fmla="*/ 236 h 249"/>
                  <a:gd name="T14" fmla="*/ 9 w 25"/>
                  <a:gd name="T15" fmla="*/ 224 h 249"/>
                  <a:gd name="T16" fmla="*/ 9 w 25"/>
                  <a:gd name="T17" fmla="*/ 25 h 249"/>
                  <a:gd name="T18" fmla="*/ 0 w 25"/>
                  <a:gd name="T19" fmla="*/ 13 h 249"/>
                  <a:gd name="T20" fmla="*/ 13 w 25"/>
                  <a:gd name="T21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249">
                    <a:moveTo>
                      <a:pt x="13" y="0"/>
                    </a:moveTo>
                    <a:cubicBezTo>
                      <a:pt x="20" y="0"/>
                      <a:pt x="25" y="7"/>
                      <a:pt x="25" y="13"/>
                    </a:cubicBezTo>
                    <a:cubicBezTo>
                      <a:pt x="25" y="19"/>
                      <a:pt x="22" y="24"/>
                      <a:pt x="16" y="25"/>
                    </a:cubicBezTo>
                    <a:cubicBezTo>
                      <a:pt x="16" y="224"/>
                      <a:pt x="16" y="224"/>
                      <a:pt x="16" y="224"/>
                    </a:cubicBezTo>
                    <a:cubicBezTo>
                      <a:pt x="22" y="225"/>
                      <a:pt x="25" y="230"/>
                      <a:pt x="25" y="236"/>
                    </a:cubicBezTo>
                    <a:cubicBezTo>
                      <a:pt x="25" y="242"/>
                      <a:pt x="20" y="249"/>
                      <a:pt x="13" y="249"/>
                    </a:cubicBezTo>
                    <a:cubicBezTo>
                      <a:pt x="6" y="249"/>
                      <a:pt x="0" y="242"/>
                      <a:pt x="0" y="236"/>
                    </a:cubicBezTo>
                    <a:cubicBezTo>
                      <a:pt x="0" y="230"/>
                      <a:pt x="4" y="225"/>
                      <a:pt x="9" y="224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4" y="24"/>
                      <a:pt x="0" y="19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rgbClr val="0F73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4599752" y="1511803"/>
                <a:ext cx="1422184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ICMP</a:t>
                </a:r>
                <a:r>
                  <a:rPr lang="zh-CN" altLang="en-US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：</a:t>
                </a:r>
                <a:endPara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5790052" y="2404828"/>
            <a:ext cx="60826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Internet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控制报文协议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ICMP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(Internet Control Message Protocol)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；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54654" y="3722663"/>
            <a:ext cx="1988533" cy="763004"/>
            <a:chOff x="4397979" y="1511803"/>
            <a:chExt cx="1988533" cy="763004"/>
          </a:xfrm>
        </p:grpSpPr>
        <p:sp>
          <p:nvSpPr>
            <p:cNvPr id="17" name="矩形: 圆角 16"/>
            <p:cNvSpPr/>
            <p:nvPr/>
          </p:nvSpPr>
          <p:spPr>
            <a:xfrm>
              <a:off x="4512179" y="1596162"/>
              <a:ext cx="1874333" cy="625978"/>
            </a:xfrm>
            <a:prstGeom prst="roundRect">
              <a:avLst/>
            </a:prstGeom>
            <a:solidFill>
              <a:srgbClr val="0F73EE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4397979" y="1511803"/>
              <a:ext cx="1444421" cy="763004"/>
              <a:chOff x="4397979" y="1511803"/>
              <a:chExt cx="1444421" cy="763004"/>
            </a:xfrm>
          </p:grpSpPr>
          <p:sp>
            <p:nvSpPr>
              <p:cNvPr id="19" name="Freeform 17"/>
              <p:cNvSpPr/>
              <p:nvPr/>
            </p:nvSpPr>
            <p:spPr bwMode="auto">
              <a:xfrm>
                <a:off x="4397979" y="1560722"/>
                <a:ext cx="76200" cy="714085"/>
              </a:xfrm>
              <a:custGeom>
                <a:avLst/>
                <a:gdLst>
                  <a:gd name="T0" fmla="*/ 13 w 25"/>
                  <a:gd name="T1" fmla="*/ 0 h 249"/>
                  <a:gd name="T2" fmla="*/ 25 w 25"/>
                  <a:gd name="T3" fmla="*/ 13 h 249"/>
                  <a:gd name="T4" fmla="*/ 16 w 25"/>
                  <a:gd name="T5" fmla="*/ 25 h 249"/>
                  <a:gd name="T6" fmla="*/ 16 w 25"/>
                  <a:gd name="T7" fmla="*/ 224 h 249"/>
                  <a:gd name="T8" fmla="*/ 25 w 25"/>
                  <a:gd name="T9" fmla="*/ 236 h 249"/>
                  <a:gd name="T10" fmla="*/ 13 w 25"/>
                  <a:gd name="T11" fmla="*/ 249 h 249"/>
                  <a:gd name="T12" fmla="*/ 0 w 25"/>
                  <a:gd name="T13" fmla="*/ 236 h 249"/>
                  <a:gd name="T14" fmla="*/ 9 w 25"/>
                  <a:gd name="T15" fmla="*/ 224 h 249"/>
                  <a:gd name="T16" fmla="*/ 9 w 25"/>
                  <a:gd name="T17" fmla="*/ 25 h 249"/>
                  <a:gd name="T18" fmla="*/ 0 w 25"/>
                  <a:gd name="T19" fmla="*/ 13 h 249"/>
                  <a:gd name="T20" fmla="*/ 13 w 25"/>
                  <a:gd name="T21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249">
                    <a:moveTo>
                      <a:pt x="13" y="0"/>
                    </a:moveTo>
                    <a:cubicBezTo>
                      <a:pt x="20" y="0"/>
                      <a:pt x="25" y="7"/>
                      <a:pt x="25" y="13"/>
                    </a:cubicBezTo>
                    <a:cubicBezTo>
                      <a:pt x="25" y="19"/>
                      <a:pt x="22" y="24"/>
                      <a:pt x="16" y="25"/>
                    </a:cubicBezTo>
                    <a:cubicBezTo>
                      <a:pt x="16" y="224"/>
                      <a:pt x="16" y="224"/>
                      <a:pt x="16" y="224"/>
                    </a:cubicBezTo>
                    <a:cubicBezTo>
                      <a:pt x="22" y="225"/>
                      <a:pt x="25" y="230"/>
                      <a:pt x="25" y="236"/>
                    </a:cubicBezTo>
                    <a:cubicBezTo>
                      <a:pt x="25" y="242"/>
                      <a:pt x="20" y="249"/>
                      <a:pt x="13" y="249"/>
                    </a:cubicBezTo>
                    <a:cubicBezTo>
                      <a:pt x="6" y="249"/>
                      <a:pt x="0" y="242"/>
                      <a:pt x="0" y="236"/>
                    </a:cubicBezTo>
                    <a:cubicBezTo>
                      <a:pt x="0" y="230"/>
                      <a:pt x="4" y="225"/>
                      <a:pt x="9" y="224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4" y="24"/>
                      <a:pt x="0" y="19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rgbClr val="0F73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4599752" y="1511803"/>
                <a:ext cx="1242648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ARP</a:t>
                </a:r>
                <a:r>
                  <a:rPr lang="zh-CN" altLang="en-US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：</a:t>
                </a:r>
                <a:endParaRPr lang="en-US" altLang="zh-CN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21" name="矩形 20"/>
          <p:cNvSpPr/>
          <p:nvPr/>
        </p:nvSpPr>
        <p:spPr>
          <a:xfrm>
            <a:off x="5828877" y="3749431"/>
            <a:ext cx="57100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地址转换协议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ARP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(Address Resolution Protocol)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；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054654" y="5088109"/>
            <a:ext cx="1988533" cy="763004"/>
            <a:chOff x="4397979" y="1511803"/>
            <a:chExt cx="1988533" cy="763004"/>
          </a:xfrm>
        </p:grpSpPr>
        <p:sp>
          <p:nvSpPr>
            <p:cNvPr id="23" name="矩形: 圆角 22"/>
            <p:cNvSpPr/>
            <p:nvPr/>
          </p:nvSpPr>
          <p:spPr>
            <a:xfrm>
              <a:off x="4512179" y="1596162"/>
              <a:ext cx="1874333" cy="625978"/>
            </a:xfrm>
            <a:prstGeom prst="roundRect">
              <a:avLst/>
            </a:prstGeom>
            <a:solidFill>
              <a:srgbClr val="0F73EE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397979" y="1511803"/>
              <a:ext cx="1683269" cy="763004"/>
              <a:chOff x="4397979" y="1511803"/>
              <a:chExt cx="1683269" cy="763004"/>
            </a:xfrm>
          </p:grpSpPr>
          <p:sp>
            <p:nvSpPr>
              <p:cNvPr id="25" name="Freeform 17"/>
              <p:cNvSpPr/>
              <p:nvPr/>
            </p:nvSpPr>
            <p:spPr bwMode="auto">
              <a:xfrm>
                <a:off x="4397979" y="1560722"/>
                <a:ext cx="76200" cy="714085"/>
              </a:xfrm>
              <a:custGeom>
                <a:avLst/>
                <a:gdLst>
                  <a:gd name="T0" fmla="*/ 13 w 25"/>
                  <a:gd name="T1" fmla="*/ 0 h 249"/>
                  <a:gd name="T2" fmla="*/ 25 w 25"/>
                  <a:gd name="T3" fmla="*/ 13 h 249"/>
                  <a:gd name="T4" fmla="*/ 16 w 25"/>
                  <a:gd name="T5" fmla="*/ 25 h 249"/>
                  <a:gd name="T6" fmla="*/ 16 w 25"/>
                  <a:gd name="T7" fmla="*/ 224 h 249"/>
                  <a:gd name="T8" fmla="*/ 25 w 25"/>
                  <a:gd name="T9" fmla="*/ 236 h 249"/>
                  <a:gd name="T10" fmla="*/ 13 w 25"/>
                  <a:gd name="T11" fmla="*/ 249 h 249"/>
                  <a:gd name="T12" fmla="*/ 0 w 25"/>
                  <a:gd name="T13" fmla="*/ 236 h 249"/>
                  <a:gd name="T14" fmla="*/ 9 w 25"/>
                  <a:gd name="T15" fmla="*/ 224 h 249"/>
                  <a:gd name="T16" fmla="*/ 9 w 25"/>
                  <a:gd name="T17" fmla="*/ 25 h 249"/>
                  <a:gd name="T18" fmla="*/ 0 w 25"/>
                  <a:gd name="T19" fmla="*/ 13 h 249"/>
                  <a:gd name="T20" fmla="*/ 13 w 25"/>
                  <a:gd name="T21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249">
                    <a:moveTo>
                      <a:pt x="13" y="0"/>
                    </a:moveTo>
                    <a:cubicBezTo>
                      <a:pt x="20" y="0"/>
                      <a:pt x="25" y="7"/>
                      <a:pt x="25" y="13"/>
                    </a:cubicBezTo>
                    <a:cubicBezTo>
                      <a:pt x="25" y="19"/>
                      <a:pt x="22" y="24"/>
                      <a:pt x="16" y="25"/>
                    </a:cubicBezTo>
                    <a:cubicBezTo>
                      <a:pt x="16" y="224"/>
                      <a:pt x="16" y="224"/>
                      <a:pt x="16" y="224"/>
                    </a:cubicBezTo>
                    <a:cubicBezTo>
                      <a:pt x="22" y="225"/>
                      <a:pt x="25" y="230"/>
                      <a:pt x="25" y="236"/>
                    </a:cubicBezTo>
                    <a:cubicBezTo>
                      <a:pt x="25" y="242"/>
                      <a:pt x="20" y="249"/>
                      <a:pt x="13" y="249"/>
                    </a:cubicBezTo>
                    <a:cubicBezTo>
                      <a:pt x="6" y="249"/>
                      <a:pt x="0" y="242"/>
                      <a:pt x="0" y="236"/>
                    </a:cubicBezTo>
                    <a:cubicBezTo>
                      <a:pt x="0" y="230"/>
                      <a:pt x="4" y="225"/>
                      <a:pt x="9" y="224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4" y="24"/>
                      <a:pt x="0" y="19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rgbClr val="0F73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4599752" y="1511803"/>
                <a:ext cx="1481496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RARP</a:t>
                </a:r>
                <a:r>
                  <a:rPr lang="zh-CN" altLang="en-US" sz="280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：</a:t>
                </a:r>
                <a:endParaRPr lang="en-US" altLang="zh-CN" sz="2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27" name="矩形 26"/>
          <p:cNvSpPr/>
          <p:nvPr/>
        </p:nvSpPr>
        <p:spPr>
          <a:xfrm>
            <a:off x="5828877" y="5094034"/>
            <a:ext cx="57100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反向地址转换协议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RARP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(Reverse Address Resolution Protocol)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文本占位符 8194"/>
          <p:cNvSpPr txBox="1"/>
          <p:nvPr/>
        </p:nvSpPr>
        <p:spPr>
          <a:xfrm>
            <a:off x="1264417" y="943572"/>
            <a:ext cx="9473184" cy="1505220"/>
          </a:xfr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altLang="zh-CN" dirty="0" smtClean="0"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solidFill>
                  <a:srgbClr val="0F73EE"/>
                </a:solidFill>
                <a:latin typeface="宋体" panose="02010600030101010101" pitchFamily="2" charset="-122"/>
              </a:rPr>
              <a:t>互连网层主要的协议</a:t>
            </a:r>
            <a:r>
              <a:rPr lang="zh-CN" altLang="en-US" dirty="0" smtClean="0">
                <a:latin typeface="宋体" panose="02010600030101010101" pitchFamily="2" charset="-122"/>
              </a:rPr>
              <a:t>就是</a:t>
            </a:r>
            <a:r>
              <a:rPr lang="en-US" altLang="zh-CN" dirty="0" smtClean="0">
                <a:latin typeface="宋体" panose="02010600030101010101" pitchFamily="2" charset="-122"/>
              </a:rPr>
              <a:t>: </a:t>
            </a:r>
            <a:r>
              <a:rPr lang="zh-CN" altLang="en-US" dirty="0" smtClean="0">
                <a:solidFill>
                  <a:srgbClr val="00B0F0"/>
                </a:solidFill>
                <a:latin typeface="宋体" panose="02010600030101010101" pitchFamily="2" charset="-122"/>
              </a:rPr>
              <a:t>无连接</a:t>
            </a:r>
            <a:r>
              <a:rPr lang="zh-CN" altLang="en-US" dirty="0" smtClean="0">
                <a:latin typeface="宋体" panose="02010600030101010101" pitchFamily="2" charset="-122"/>
              </a:rPr>
              <a:t>的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</a:rPr>
              <a:t>互连网协议</a:t>
            </a:r>
            <a:r>
              <a:rPr lang="en-US" altLang="zh-CN" b="1" dirty="0" smtClean="0">
                <a:solidFill>
                  <a:srgbClr val="FF0000"/>
                </a:solidFill>
              </a:rPr>
              <a:t>IP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Internet Protocol</a:t>
            </a:r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dirty="0" smtClean="0">
                <a:latin typeface="宋体" panose="02010600030101010101" pitchFamily="2" charset="-122"/>
              </a:rPr>
              <a:t>。数据传输单位是数据报。</a:t>
            </a:r>
            <a:endParaRPr lang="zh-CN" altLang="en-US" dirty="0" smtClean="0">
              <a:latin typeface="宋体" panose="02010600030101010101" pitchFamily="2" charset="-122"/>
            </a:endParaRPr>
          </a:p>
          <a:p>
            <a:pPr>
              <a:buClr>
                <a:schemeClr val="accent2"/>
              </a:buClr>
            </a:pPr>
            <a:r>
              <a:rPr lang="zh-CN" altLang="en-US" dirty="0" smtClean="0">
                <a:latin typeface="宋体" panose="02010600030101010101" pitchFamily="2" charset="-122"/>
              </a:rPr>
              <a:t>    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10242" name="文本占位符 9218"/>
          <p:cNvSpPr>
            <a:spLocks noGrp="1"/>
          </p:cNvSpPr>
          <p:nvPr>
            <p:ph idx="1"/>
          </p:nvPr>
        </p:nvSpPr>
        <p:spPr>
          <a:xfrm>
            <a:off x="1377696" y="1869250"/>
            <a:ext cx="9717024" cy="4043870"/>
          </a:xfrm>
        </p:spPr>
        <p:txBody>
          <a:bodyPr anchor="t"/>
          <a:lstStyle/>
          <a:p>
            <a:pPr>
              <a:lnSpc>
                <a:spcPts val="3600"/>
              </a:lnSpc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 smtClean="0">
                <a:latin typeface="宋体" panose="02010600030101010101" pitchFamily="2" charset="-122"/>
              </a:rPr>
              <a:t>前面</a:t>
            </a:r>
            <a:r>
              <a:rPr lang="zh-CN" altLang="en-US" sz="2800" dirty="0">
                <a:latin typeface="宋体" panose="02010600030101010101" pitchFamily="2" charset="-122"/>
              </a:rPr>
              <a:t>我们已经提到，由于</a:t>
            </a:r>
            <a:r>
              <a:rPr lang="en-US" altLang="zh-CN" sz="2800" dirty="0"/>
              <a:t>TCP/IP</a:t>
            </a:r>
            <a:r>
              <a:rPr lang="zh-CN" altLang="en-US" sz="2800" dirty="0">
                <a:latin typeface="宋体" panose="02010600030101010101" pitchFamily="2" charset="-122"/>
              </a:rPr>
              <a:t>参考模型在设计时考虑到要与具体的物理传送媒体无关，因此在</a:t>
            </a:r>
            <a:r>
              <a:rPr lang="en-US" altLang="zh-CN" sz="2800" dirty="0"/>
              <a:t>TCP/IP</a:t>
            </a:r>
            <a:r>
              <a:rPr lang="zh-CN" altLang="en-US" sz="2800" dirty="0">
                <a:latin typeface="宋体" panose="02010600030101010101" pitchFamily="2" charset="-122"/>
              </a:rPr>
              <a:t>参考模型的标准中并没有对</a:t>
            </a:r>
            <a:r>
              <a:rPr lang="en-US" altLang="zh-CN" sz="2800" dirty="0"/>
              <a:t>OSI</a:t>
            </a:r>
            <a:r>
              <a:rPr lang="zh-CN" altLang="en-US" sz="2800" dirty="0">
                <a:latin typeface="宋体" panose="02010600030101010101" pitchFamily="2" charset="-122"/>
              </a:rPr>
              <a:t>结构中的最低两层做出规定。但必须指出的是，一个与互连网络相连的主机必须使用某种协议才能将</a:t>
            </a:r>
            <a:r>
              <a:rPr lang="en-US" altLang="zh-CN" sz="2800" dirty="0"/>
              <a:t>IP</a:t>
            </a:r>
            <a:r>
              <a:rPr lang="zh-CN" altLang="en-US" sz="2800" dirty="0">
                <a:latin typeface="宋体" panose="02010600030101010101" pitchFamily="2" charset="-122"/>
              </a:rPr>
              <a:t>数据报发送到网络上去，而且随主机和网络的不同而各不相同，如数据链路层中典型的协议有</a:t>
            </a:r>
            <a:r>
              <a:rPr lang="zh-CN" altLang="en-US" sz="2800" b="1" dirty="0">
                <a:latin typeface="宋体" panose="02010600030101010101" pitchFamily="2" charset="-122"/>
              </a:rPr>
              <a:t>高级链路数据控制</a:t>
            </a:r>
            <a:r>
              <a:rPr lang="en-US" altLang="zh-CN" sz="2800" b="1" dirty="0"/>
              <a:t>HDLC</a:t>
            </a:r>
            <a:r>
              <a:rPr lang="zh-CN" altLang="en-US" sz="2800" dirty="0">
                <a:latin typeface="宋体" panose="02010600030101010101" pitchFamily="2" charset="-122"/>
              </a:rPr>
              <a:t>（</a:t>
            </a:r>
            <a:r>
              <a:rPr lang="en-US" altLang="zh-CN" sz="2800" dirty="0"/>
              <a:t>High-level Data Link Control</a:t>
            </a:r>
            <a:r>
              <a:rPr lang="zh-CN" altLang="en-US" sz="2800" dirty="0" smtClean="0">
                <a:latin typeface="宋体" panose="02010600030101010101" pitchFamily="2" charset="-122"/>
              </a:rPr>
              <a:t>）；物理层</a:t>
            </a:r>
            <a:r>
              <a:rPr lang="zh-CN" altLang="en-US" sz="2800" dirty="0">
                <a:latin typeface="宋体" panose="02010600030101010101" pitchFamily="2" charset="-122"/>
              </a:rPr>
              <a:t>中典型的协议有</a:t>
            </a:r>
            <a:r>
              <a:rPr lang="en-US" altLang="zh-CN" sz="2800" b="1" dirty="0"/>
              <a:t>EIA-232-D</a:t>
            </a:r>
            <a:r>
              <a:rPr lang="zh-CN" altLang="en-US" sz="2800" dirty="0">
                <a:latin typeface="宋体" panose="02010600030101010101" pitchFamily="2" charset="-122"/>
              </a:rPr>
              <a:t>、</a:t>
            </a:r>
            <a:r>
              <a:rPr lang="en-US" altLang="zh-CN" sz="2800" b="1" dirty="0"/>
              <a:t>RS-449</a:t>
            </a:r>
            <a:r>
              <a:rPr lang="zh-CN" altLang="en-US" sz="2800" dirty="0">
                <a:latin typeface="宋体" panose="02010600030101010101" pitchFamily="2" charset="-122"/>
              </a:rPr>
              <a:t>及</a:t>
            </a:r>
            <a:r>
              <a:rPr lang="en-US" altLang="zh-CN" sz="2800" b="1" dirty="0"/>
              <a:t>X.21</a:t>
            </a:r>
            <a:r>
              <a:rPr lang="zh-CN" altLang="en-US" sz="2800" dirty="0">
                <a:latin typeface="宋体" panose="02010600030101010101" pitchFamily="2" charset="-122"/>
              </a:rPr>
              <a:t>等。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占位符 10242"/>
          <p:cNvSpPr>
            <a:spLocks noGrp="1"/>
          </p:cNvSpPr>
          <p:nvPr>
            <p:ph idx="1"/>
          </p:nvPr>
        </p:nvSpPr>
        <p:spPr>
          <a:xfrm>
            <a:off x="669882" y="1649568"/>
            <a:ext cx="10852237" cy="2755393"/>
          </a:xfrm>
        </p:spPr>
        <p:txBody>
          <a:bodyPr anchor="t"/>
          <a:lstStyle/>
          <a:p>
            <a:r>
              <a:rPr lang="en-US" altLang="zh-CN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传</a:t>
            </a:r>
            <a:r>
              <a:rPr lang="zh-CN" altLang="en-US" dirty="0" smtClean="0">
                <a:latin typeface="宋体" panose="02010600030101010101" pitchFamily="2" charset="-122"/>
              </a:rPr>
              <a:t>输</a:t>
            </a:r>
            <a:r>
              <a:rPr lang="zh-CN" altLang="en-US" dirty="0">
                <a:latin typeface="宋体" panose="02010600030101010101" pitchFamily="2" charset="-122"/>
              </a:rPr>
              <a:t>层可使用两种不同的</a:t>
            </a:r>
            <a:r>
              <a:rPr lang="zh-CN" altLang="en-US" dirty="0" smtClean="0">
                <a:latin typeface="宋体" panose="02010600030101010101" pitchFamily="2" charset="-122"/>
              </a:rPr>
              <a:t>协议：</a:t>
            </a:r>
            <a:r>
              <a:rPr lang="en-US" altLang="zh-CN" dirty="0" smtClean="0"/>
              <a:t>TCP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UDP</a:t>
            </a:r>
            <a:r>
              <a:rPr lang="zh-CN" altLang="en-US" dirty="0" smtClean="0">
                <a:latin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r>
              <a:rPr lang="zh-CN" altLang="en-US" b="1" dirty="0" smtClean="0">
                <a:solidFill>
                  <a:schemeClr val="folHlink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rgbClr val="0F73EE"/>
                </a:solidFill>
                <a:latin typeface="宋体" panose="02010600030101010101" pitchFamily="2" charset="-122"/>
              </a:rPr>
              <a:t>传输控制协议</a:t>
            </a:r>
            <a:r>
              <a:rPr lang="en-US" altLang="zh-CN" b="1" dirty="0">
                <a:solidFill>
                  <a:srgbClr val="0F73EE"/>
                </a:solidFill>
              </a:rPr>
              <a:t>TCP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Transmission Control Protocol</a:t>
            </a:r>
            <a:r>
              <a:rPr lang="zh-CN" altLang="en-US" dirty="0">
                <a:latin typeface="宋体" panose="02010600030101010101" pitchFamily="2" charset="-122"/>
              </a:rPr>
              <a:t>），是可靠的、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面向连接</a:t>
            </a:r>
            <a:r>
              <a:rPr lang="zh-CN" altLang="en-US" dirty="0">
                <a:latin typeface="宋体" panose="02010600030101010101" pitchFamily="2" charset="-122"/>
              </a:rPr>
              <a:t>的协议，保证从源端主机发出的数据流无差错、按顺序地达到网络上的目的主机。数据流的传输单位是</a:t>
            </a:r>
            <a:r>
              <a:rPr lang="zh-CN" altLang="en-US" b="1" dirty="0">
                <a:solidFill>
                  <a:srgbClr val="00B0F0"/>
                </a:solidFill>
                <a:latin typeface="宋体" panose="02010600030101010101" pitchFamily="2" charset="-122"/>
              </a:rPr>
              <a:t>报文段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Segment</a:t>
            </a:r>
            <a:r>
              <a:rPr lang="zh-CN" altLang="en-US" dirty="0">
                <a:latin typeface="宋体" panose="02010600030101010101" pitchFamily="2" charset="-122"/>
              </a:rPr>
              <a:t>）。</a:t>
            </a:r>
            <a:r>
              <a:rPr lang="en-US" altLang="zh-CN" dirty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协议首先将要发送的数据流分成组，然后分别交付互连网层。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文本占位符 11266"/>
          <p:cNvSpPr txBox="1"/>
          <p:nvPr/>
        </p:nvSpPr>
        <p:spPr>
          <a:xfrm>
            <a:off x="669882" y="4404961"/>
            <a:ext cx="10852237" cy="2166527"/>
          </a:xfrm>
        </p:spPr>
        <p:txBody>
          <a:bodyPr vert="horz" lIns="101600" tIns="0" rIns="82550" bIns="0" rtlCol="0" anchor="t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>
                <a:latin typeface="宋体" panose="02010600030101010101" pitchFamily="2" charset="-122"/>
              </a:rPr>
              <a:t>    目的端的</a:t>
            </a:r>
            <a:r>
              <a:rPr lang="en-US" altLang="zh-CN" dirty="0" smtClean="0"/>
              <a:t>TCP</a:t>
            </a:r>
            <a:r>
              <a:rPr lang="zh-CN" altLang="en-US" dirty="0" smtClean="0">
                <a:latin typeface="宋体" panose="02010600030101010101" pitchFamily="2" charset="-122"/>
              </a:rPr>
              <a:t>协议进程把接收到的分组按顺序重新组装并交付目的端主机。同时，</a:t>
            </a:r>
            <a:r>
              <a:rPr lang="en-US" altLang="zh-CN" dirty="0" smtClean="0"/>
              <a:t>TCP</a:t>
            </a:r>
            <a:r>
              <a:rPr lang="zh-CN" altLang="en-US" dirty="0" smtClean="0">
                <a:latin typeface="宋体" panose="02010600030101010101" pitchFamily="2" charset="-122"/>
              </a:rPr>
              <a:t>协议也具有</a:t>
            </a:r>
            <a:r>
              <a:rPr lang="zh-CN" altLang="en-US" dirty="0" smtClean="0">
                <a:solidFill>
                  <a:srgbClr val="00B0F0"/>
                </a:solidFill>
                <a:latin typeface="宋体" panose="02010600030101010101" pitchFamily="2" charset="-122"/>
              </a:rPr>
              <a:t>流量控制功能</a:t>
            </a:r>
            <a:r>
              <a:rPr lang="zh-CN" altLang="en-US" dirty="0" smtClean="0">
                <a:latin typeface="宋体" panose="02010600030101010101" pitchFamily="2" charset="-122"/>
              </a:rPr>
              <a:t>，保证在目的端主机处理速度较慢的情况下，仍然能够来的及接收和处理源端主机发送来的分组。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3761742" y="504948"/>
            <a:ext cx="4668515" cy="791052"/>
            <a:chOff x="824071" y="1564267"/>
            <a:chExt cx="4668515" cy="791052"/>
          </a:xfrm>
        </p:grpSpPr>
        <p:sp>
          <p:nvSpPr>
            <p:cNvPr id="6" name="矩形: 圆角 28"/>
            <p:cNvSpPr/>
            <p:nvPr/>
          </p:nvSpPr>
          <p:spPr>
            <a:xfrm>
              <a:off x="824071" y="1740416"/>
              <a:ext cx="4668515" cy="614363"/>
            </a:xfrm>
            <a:prstGeom prst="roundRect">
              <a:avLst/>
            </a:prstGeom>
            <a:solidFill>
              <a:srgbClr val="0F73EE"/>
            </a:solidFill>
            <a:ln>
              <a:solidFill>
                <a:srgbClr val="FBA7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701522" y="1828091"/>
              <a:ext cx="3657476" cy="4801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800" noProof="1" smtClean="0">
                  <a:solidFill>
                    <a:schemeClr val="bg1"/>
                  </a:solidFill>
                  <a:latin typeface="+mj-ea"/>
                  <a:ea typeface="+mj-ea"/>
                </a:rPr>
                <a:t>2.1.2 </a:t>
              </a:r>
              <a:r>
                <a:rPr lang="en-US" altLang="zh-CN" sz="2800" noProof="1">
                  <a:solidFill>
                    <a:schemeClr val="bg1"/>
                  </a:solidFill>
                  <a:latin typeface="+mj-ea"/>
                  <a:ea typeface="+mj-ea"/>
                </a:rPr>
                <a:t>TCP/IP</a:t>
              </a:r>
              <a:r>
                <a:rPr lang="zh-CN" altLang="en-US" sz="2800" noProof="1">
                  <a:solidFill>
                    <a:schemeClr val="bg1"/>
                  </a:solidFill>
                  <a:latin typeface="+mj-ea"/>
                  <a:ea typeface="+mj-ea"/>
                </a:rPr>
                <a:t>的传输层 </a:t>
              </a:r>
              <a:endParaRPr lang="zh-CN" altLang="en-US" sz="2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6" y="1564267"/>
              <a:ext cx="751303" cy="7910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2289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13314" name="文本占位符 12290"/>
          <p:cNvSpPr>
            <a:spLocks noGrp="1"/>
          </p:cNvSpPr>
          <p:nvPr>
            <p:ph idx="1"/>
          </p:nvPr>
        </p:nvSpPr>
        <p:spPr>
          <a:xfrm>
            <a:off x="981456" y="1625185"/>
            <a:ext cx="10229087" cy="3434495"/>
          </a:xfrm>
        </p:spPr>
        <p:txBody>
          <a:bodyPr anchor="t"/>
          <a:lstStyle/>
          <a:p>
            <a:pPr>
              <a:lnSpc>
                <a:spcPts val="3600"/>
              </a:lnSpc>
            </a:pPr>
            <a:r>
              <a:rPr lang="zh-CN" altLang="en-US" b="1" dirty="0" smtClean="0">
                <a:solidFill>
                  <a:schemeClr val="folHlink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rgbClr val="0F73EE"/>
                </a:solidFill>
                <a:latin typeface="宋体" panose="02010600030101010101" pitchFamily="2" charset="-122"/>
              </a:rPr>
              <a:t>用户</a:t>
            </a:r>
            <a:r>
              <a:rPr lang="zh-CN" altLang="en-US" b="1" dirty="0">
                <a:solidFill>
                  <a:srgbClr val="0F73EE"/>
                </a:solidFill>
                <a:latin typeface="宋体" panose="02010600030101010101" pitchFamily="2" charset="-122"/>
              </a:rPr>
              <a:t>数据报协议</a:t>
            </a:r>
            <a:r>
              <a:rPr lang="en-US" altLang="zh-CN" b="1" dirty="0">
                <a:solidFill>
                  <a:srgbClr val="0F73EE"/>
                </a:solidFill>
              </a:rPr>
              <a:t>UDP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User Datagram Protocol</a:t>
            </a:r>
            <a:r>
              <a:rPr lang="zh-CN" altLang="en-US" dirty="0">
                <a:latin typeface="宋体" panose="02010600030101010101" pitchFamily="2" charset="-122"/>
              </a:rPr>
              <a:t>），是</a:t>
            </a:r>
            <a:r>
              <a:rPr lang="zh-CN" altLang="en-US" b="1" dirty="0">
                <a:solidFill>
                  <a:srgbClr val="00B0F0"/>
                </a:solidFill>
                <a:latin typeface="宋体" panose="02010600030101010101" pitchFamily="2" charset="-122"/>
              </a:rPr>
              <a:t>无连接</a:t>
            </a:r>
            <a:r>
              <a:rPr lang="zh-CN" altLang="en-US" dirty="0">
                <a:latin typeface="宋体" panose="02010600030101010101" pitchFamily="2" charset="-122"/>
              </a:rPr>
              <a:t>的、不可靠的协议，不能保证数据按顺序达到，也不提供流量控制功能。数据传输单位是</a:t>
            </a:r>
            <a:r>
              <a:rPr lang="zh-CN" altLang="en-US" b="1" dirty="0">
                <a:solidFill>
                  <a:srgbClr val="00B0F0"/>
                </a:solidFill>
                <a:latin typeface="宋体" panose="02010600030101010101" pitchFamily="2" charset="-122"/>
              </a:rPr>
              <a:t>数据报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Datagram</a:t>
            </a:r>
            <a:r>
              <a:rPr lang="zh-CN" altLang="en-US" dirty="0">
                <a:latin typeface="宋体" panose="02010600030101010101" pitchFamily="2" charset="-122"/>
              </a:rPr>
              <a:t>）。</a:t>
            </a:r>
            <a:r>
              <a:rPr lang="en-US" altLang="zh-CN" dirty="0"/>
              <a:t>UDP</a:t>
            </a:r>
            <a:r>
              <a:rPr lang="zh-CN" altLang="en-US" dirty="0">
                <a:latin typeface="宋体" panose="02010600030101010101" pitchFamily="2" charset="-122"/>
              </a:rPr>
              <a:t>协议广泛用于突发性的数据传输、</a:t>
            </a:r>
            <a:r>
              <a:rPr lang="en-US" altLang="zh-CN" dirty="0"/>
              <a:t>Client/Server</a:t>
            </a:r>
            <a:r>
              <a:rPr lang="zh-CN" altLang="en-US" dirty="0">
                <a:latin typeface="宋体" panose="02010600030101010101" pitchFamily="2" charset="-122"/>
              </a:rPr>
              <a:t>类型的请求</a:t>
            </a:r>
            <a:r>
              <a:rPr lang="en-US" altLang="zh-CN" dirty="0"/>
              <a:t>/</a:t>
            </a:r>
            <a:r>
              <a:rPr lang="zh-CN" altLang="en-US" dirty="0">
                <a:latin typeface="宋体" panose="02010600030101010101" pitchFamily="2" charset="-122"/>
              </a:rPr>
              <a:t>应答的交互以及</a:t>
            </a:r>
            <a:r>
              <a:rPr lang="zh-CN" altLang="en-US" u="sng" dirty="0">
                <a:latin typeface="宋体" panose="02010600030101010101" pitchFamily="2" charset="-122"/>
              </a:rPr>
              <a:t>及时</a:t>
            </a:r>
            <a:r>
              <a:rPr lang="zh-CN" altLang="en-US" dirty="0">
                <a:latin typeface="宋体" panose="02010600030101010101" pitchFamily="2" charset="-122"/>
              </a:rPr>
              <a:t>传送比精确地交付更重要的应用场合，例如语音、图象等信息的传输。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3314"/>
          <p:cNvSpPr>
            <a:spLocks noGrp="1"/>
          </p:cNvSpPr>
          <p:nvPr>
            <p:ph idx="1"/>
          </p:nvPr>
        </p:nvSpPr>
        <p:spPr>
          <a:xfrm>
            <a:off x="1426464" y="1473013"/>
            <a:ext cx="9570720" cy="4876800"/>
          </a:xfrm>
        </p:spPr>
        <p:txBody>
          <a:bodyPr anchor="t"/>
          <a:lstStyle/>
          <a:p>
            <a:pPr algn="just"/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在</a:t>
            </a:r>
            <a:r>
              <a:rPr lang="zh-CN" altLang="en-US" dirty="0">
                <a:latin typeface="宋体" panose="02010600030101010101" pitchFamily="2" charset="-122"/>
              </a:rPr>
              <a:t>传输层之上就是应用层。在应用层中由许多著名协议，如远程通信协议</a:t>
            </a:r>
            <a:r>
              <a:rPr lang="en-US" altLang="zh-CN" b="1" dirty="0">
                <a:solidFill>
                  <a:srgbClr val="00B0F0"/>
                </a:solidFill>
              </a:rPr>
              <a:t>TELNET</a:t>
            </a:r>
            <a:r>
              <a:rPr lang="zh-CN" altLang="en-US" dirty="0">
                <a:latin typeface="宋体" panose="02010600030101010101" pitchFamily="2" charset="-122"/>
              </a:rPr>
              <a:t>，文件传送协议</a:t>
            </a:r>
            <a:r>
              <a:rPr lang="en-US" altLang="zh-CN" b="1" dirty="0">
                <a:solidFill>
                  <a:srgbClr val="00B0F0"/>
                </a:solidFill>
              </a:rPr>
              <a:t>FTP</a:t>
            </a:r>
            <a:r>
              <a:rPr lang="en-US" altLang="zh-CN" dirty="0"/>
              <a:t>(File Transfer Protocol) </a:t>
            </a:r>
            <a:r>
              <a:rPr lang="zh-CN" altLang="en-US" dirty="0">
                <a:latin typeface="宋体" panose="02010600030101010101" pitchFamily="2" charset="-122"/>
              </a:rPr>
              <a:t>，简单邮件传送协议</a:t>
            </a:r>
            <a:r>
              <a:rPr lang="en-US" altLang="zh-CN" b="1" dirty="0">
                <a:solidFill>
                  <a:srgbClr val="00B0F0"/>
                </a:solidFill>
              </a:rPr>
              <a:t>SMTP</a:t>
            </a:r>
            <a:r>
              <a:rPr lang="en-US" altLang="zh-CN" dirty="0"/>
              <a:t>(Simple Mail Transfer Protocol)</a:t>
            </a:r>
            <a:r>
              <a:rPr lang="zh-CN" altLang="en-US" dirty="0">
                <a:latin typeface="宋体" panose="02010600030101010101" pitchFamily="2" charset="-122"/>
              </a:rPr>
              <a:t>等。</a:t>
            </a:r>
            <a:r>
              <a:rPr lang="zh-CN" altLang="en-US" dirty="0"/>
              <a:t> </a:t>
            </a:r>
            <a:endParaRPr lang="zh-CN" altLang="en-US" dirty="0"/>
          </a:p>
          <a:p>
            <a:pPr algn="just"/>
            <a:r>
              <a:rPr lang="zh-CN" altLang="en-US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另外</a:t>
            </a:r>
            <a:r>
              <a:rPr lang="zh-CN" altLang="en-US" dirty="0">
                <a:latin typeface="宋体" panose="02010600030101010101" pitchFamily="2" charset="-122"/>
              </a:rPr>
              <a:t>，许多其他的应用协议在不断地添加到应用层中去。例如，</a:t>
            </a:r>
            <a:r>
              <a:rPr lang="zh-CN" altLang="en-US" b="1" dirty="0">
                <a:latin typeface="宋体" panose="02010600030101010101" pitchFamily="2" charset="-122"/>
              </a:rPr>
              <a:t>域名服务协议</a:t>
            </a:r>
            <a:r>
              <a:rPr lang="en-US" altLang="zh-CN" b="1" dirty="0">
                <a:solidFill>
                  <a:srgbClr val="00B0F0"/>
                </a:solidFill>
              </a:rPr>
              <a:t>DNS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Domain Name Service</a:t>
            </a:r>
            <a:r>
              <a:rPr lang="zh-CN" altLang="en-US" dirty="0">
                <a:latin typeface="宋体" panose="02010600030101010101" pitchFamily="2" charset="-122"/>
              </a:rPr>
              <a:t>）用于完成主机地址到网络地址的映射；</a:t>
            </a:r>
            <a:r>
              <a:rPr lang="zh-CN" altLang="en-US" b="1" dirty="0">
                <a:latin typeface="宋体" panose="02010600030101010101" pitchFamily="2" charset="-122"/>
              </a:rPr>
              <a:t>超文本传输协议</a:t>
            </a:r>
            <a:r>
              <a:rPr lang="en-US" altLang="zh-CN" b="1" dirty="0">
                <a:solidFill>
                  <a:srgbClr val="00B0F0"/>
                </a:solidFill>
              </a:rPr>
              <a:t>HTTP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Hyper Text Transfer Protocol</a:t>
            </a:r>
            <a:r>
              <a:rPr lang="zh-CN" altLang="en-US" dirty="0">
                <a:latin typeface="宋体" panose="02010600030101010101" pitchFamily="2" charset="-122"/>
              </a:rPr>
              <a:t>）用于在</a:t>
            </a:r>
            <a:r>
              <a:rPr lang="en-US" altLang="zh-CN" dirty="0"/>
              <a:t>WWW</a:t>
            </a:r>
            <a:r>
              <a:rPr lang="zh-CN" altLang="en-US" dirty="0"/>
              <a:t>（</a:t>
            </a:r>
            <a:r>
              <a:rPr lang="en-US" altLang="zh-CN" dirty="0"/>
              <a:t>World Wide  Web</a:t>
            </a:r>
            <a:r>
              <a:rPr lang="zh-CN" altLang="en-US" dirty="0"/>
              <a:t>）</a:t>
            </a:r>
            <a:r>
              <a:rPr lang="zh-CN" altLang="en-US" dirty="0">
                <a:latin typeface="宋体" panose="02010600030101010101" pitchFamily="2" charset="-122"/>
              </a:rPr>
              <a:t>上获取网页等。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944361" y="457200"/>
            <a:ext cx="4534926" cy="791052"/>
            <a:chOff x="824072" y="1564267"/>
            <a:chExt cx="4534926" cy="791052"/>
          </a:xfrm>
        </p:grpSpPr>
        <p:sp>
          <p:nvSpPr>
            <p:cNvPr id="5" name="矩形: 圆角 28"/>
            <p:cNvSpPr/>
            <p:nvPr/>
          </p:nvSpPr>
          <p:spPr>
            <a:xfrm>
              <a:off x="824072" y="1740416"/>
              <a:ext cx="4534926" cy="614363"/>
            </a:xfrm>
            <a:prstGeom prst="roundRect">
              <a:avLst/>
            </a:prstGeom>
            <a:solidFill>
              <a:srgbClr val="0F73EE"/>
            </a:solidFill>
            <a:ln>
              <a:solidFill>
                <a:srgbClr val="FBA7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701522" y="1828091"/>
              <a:ext cx="3657476" cy="4801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800" noProof="1" smtClean="0">
                  <a:solidFill>
                    <a:schemeClr val="bg1"/>
                  </a:solidFill>
                  <a:latin typeface="+mj-ea"/>
                  <a:ea typeface="+mj-ea"/>
                </a:rPr>
                <a:t>2.1.3 </a:t>
              </a:r>
              <a:r>
                <a:rPr lang="en-US" altLang="zh-CN" sz="2800" noProof="1">
                  <a:solidFill>
                    <a:schemeClr val="bg1"/>
                  </a:solidFill>
                  <a:latin typeface="+mj-ea"/>
                  <a:ea typeface="+mj-ea"/>
                </a:rPr>
                <a:t>TCP/IP</a:t>
              </a:r>
              <a:r>
                <a:rPr lang="zh-CN" altLang="en-US" sz="2800" noProof="1">
                  <a:solidFill>
                    <a:schemeClr val="bg1"/>
                  </a:solidFill>
                  <a:latin typeface="+mj-ea"/>
                  <a:ea typeface="+mj-ea"/>
                </a:rPr>
                <a:t>的应用层 </a:t>
              </a:r>
              <a:endParaRPr lang="zh-CN" altLang="en-US" sz="2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6" y="1564267"/>
              <a:ext cx="751303" cy="7910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占位符 14338"/>
          <p:cNvSpPr>
            <a:spLocks noGrp="1"/>
          </p:cNvSpPr>
          <p:nvPr>
            <p:ph idx="1"/>
          </p:nvPr>
        </p:nvSpPr>
        <p:spPr>
          <a:xfrm>
            <a:off x="1068779" y="2051905"/>
            <a:ext cx="10129652" cy="2715168"/>
          </a:xfrm>
        </p:spPr>
        <p:txBody>
          <a:bodyPr anchor="t"/>
          <a:lstStyle/>
          <a:p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如果</a:t>
            </a:r>
            <a:r>
              <a:rPr lang="zh-CN" altLang="en-US" dirty="0">
                <a:latin typeface="宋体" panose="02010600030101010101" pitchFamily="2" charset="-122"/>
              </a:rPr>
              <a:t>希望了解黑客对网络的攻击的原理和防护方法，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必须深刻地了解网络运行的内在机理</a:t>
            </a:r>
            <a:r>
              <a:rPr lang="zh-CN" altLang="en-US" dirty="0">
                <a:latin typeface="宋体" panose="02010600030101010101" pitchFamily="2" charset="-122"/>
              </a:rPr>
              <a:t>，即协议运转的内部细节。这里简要介绍</a:t>
            </a:r>
            <a:r>
              <a:rPr lang="en-US" altLang="zh-CN" dirty="0"/>
              <a:t>TCP/IP</a:t>
            </a:r>
            <a:r>
              <a:rPr lang="zh-CN" altLang="en-US" dirty="0">
                <a:latin typeface="宋体" panose="02010600030101010101" pitchFamily="2" charset="-122"/>
              </a:rPr>
              <a:t>协议族中的部分重要协议，这些协议常常是网络黑客利用或者攻击的主要目标。熟悉这些协议将为学习后继章节打下基础。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815816" y="278615"/>
            <a:ext cx="6635578" cy="1109044"/>
            <a:chOff x="3279913" y="488294"/>
            <a:chExt cx="6635578" cy="1109044"/>
          </a:xfrm>
        </p:grpSpPr>
        <p:grpSp>
          <p:nvGrpSpPr>
            <p:cNvPr id="6" name="组合 5"/>
            <p:cNvGrpSpPr/>
            <p:nvPr/>
          </p:nvGrpSpPr>
          <p:grpSpPr>
            <a:xfrm>
              <a:off x="3279913" y="909457"/>
              <a:ext cx="6635578" cy="687881"/>
              <a:chOff x="3279913" y="909457"/>
              <a:chExt cx="6635578" cy="687881"/>
            </a:xfrm>
          </p:grpSpPr>
          <p:sp>
            <p:nvSpPr>
              <p:cNvPr id="160" name="矩形: 圆角 9"/>
              <p:cNvSpPr/>
              <p:nvPr/>
            </p:nvSpPr>
            <p:spPr>
              <a:xfrm>
                <a:off x="3279913" y="909457"/>
                <a:ext cx="6635578" cy="687881"/>
              </a:xfrm>
              <a:prstGeom prst="roundRect">
                <a:avLst/>
              </a:prstGeom>
              <a:solidFill>
                <a:srgbClr val="0F73EE"/>
              </a:solidFill>
              <a:ln w="127000">
                <a:solidFill>
                  <a:srgbClr val="00B0F0">
                    <a:alpha val="25000"/>
                  </a:srgb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 Light" panose="020B0502040204020203" pitchFamily="34" charset="-122"/>
                  <a:ea typeface="微软雅黑 Light" panose="020B0502040204020203" pitchFamily="34" charset="-122"/>
                  <a:cs typeface="+mn-ea"/>
                </a:endParaRPr>
              </a:p>
            </p:txBody>
          </p:sp>
          <p:sp>
            <p:nvSpPr>
              <p:cNvPr id="161" name="文本框 160"/>
              <p:cNvSpPr txBox="1"/>
              <p:nvPr/>
            </p:nvSpPr>
            <p:spPr>
              <a:xfrm>
                <a:off x="4648956" y="1032190"/>
                <a:ext cx="4754828" cy="535531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lvl="0" fontAlgn="base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defRPr/>
                </a:pPr>
                <a:r>
                  <a:rPr lang="en-US" altLang="zh-CN" sz="3200" noProof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2.2 </a:t>
                </a:r>
                <a:r>
                  <a:rPr lang="zh-CN" altLang="en-US" sz="3200" noProof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部分</a:t>
                </a:r>
                <a:r>
                  <a:rPr lang="en-US" altLang="zh-CN" sz="3200" noProof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TCP/IP</a:t>
                </a:r>
                <a:r>
                  <a:rPr lang="zh-CN" altLang="en-US" sz="3200" noProof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协议</a:t>
                </a:r>
                <a:r>
                  <a:rPr lang="zh-CN" altLang="en-US" sz="3200" noProof="1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CN Heavy" panose="020B0A00000000000000" pitchFamily="34" charset="-122"/>
                    <a:ea typeface="思源黑体 CN Heavy" panose="020B0A00000000000000" pitchFamily="34" charset="-122"/>
                  </a:rPr>
                  <a:t>简介</a:t>
                </a:r>
                <a:endParaRPr lang="zh-CN" altLang="en-US" sz="320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sym typeface="+mn-ea"/>
                </a:endParaRPr>
              </a:p>
            </p:txBody>
          </p:sp>
        </p:grpSp>
        <p:grpSp>
          <p:nvGrpSpPr>
            <p:cNvPr id="7" name="28b0fd0e-7ece-4f48-881a-83c93b08799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3459237" y="488294"/>
              <a:ext cx="1104746" cy="1087791"/>
              <a:chOff x="3950910" y="1316832"/>
              <a:chExt cx="4290179" cy="4224337"/>
            </a:xfrm>
          </p:grpSpPr>
          <p:sp>
            <p:nvSpPr>
              <p:cNvPr id="8" name="ïṥļîḋè"/>
              <p:cNvSpPr/>
              <p:nvPr/>
            </p:nvSpPr>
            <p:spPr bwMode="auto">
              <a:xfrm>
                <a:off x="4051407" y="3713164"/>
                <a:ext cx="727736" cy="421048"/>
              </a:xfrm>
              <a:custGeom>
                <a:avLst/>
                <a:gdLst>
                  <a:gd name="T0" fmla="*/ 166 w 202"/>
                  <a:gd name="T1" fmla="*/ 96 h 117"/>
                  <a:gd name="T2" fmla="*/ 36 w 202"/>
                  <a:gd name="T3" fmla="*/ 96 h 117"/>
                  <a:gd name="T4" fmla="*/ 36 w 202"/>
                  <a:gd name="T5" fmla="*/ 21 h 117"/>
                  <a:gd name="T6" fmla="*/ 166 w 202"/>
                  <a:gd name="T7" fmla="*/ 21 h 117"/>
                  <a:gd name="T8" fmla="*/ 166 w 202"/>
                  <a:gd name="T9" fmla="*/ 9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2" h="117">
                    <a:moveTo>
                      <a:pt x="166" y="96"/>
                    </a:moveTo>
                    <a:cubicBezTo>
                      <a:pt x="130" y="117"/>
                      <a:pt x="72" y="117"/>
                      <a:pt x="36" y="96"/>
                    </a:cubicBezTo>
                    <a:cubicBezTo>
                      <a:pt x="0" y="76"/>
                      <a:pt x="0" y="42"/>
                      <a:pt x="36" y="21"/>
                    </a:cubicBezTo>
                    <a:cubicBezTo>
                      <a:pt x="72" y="0"/>
                      <a:pt x="130" y="0"/>
                      <a:pt x="166" y="21"/>
                    </a:cubicBezTo>
                    <a:cubicBezTo>
                      <a:pt x="202" y="42"/>
                      <a:pt x="202" y="76"/>
                      <a:pt x="166" y="96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" name="íṣḻíďe"/>
              <p:cNvSpPr/>
              <p:nvPr/>
            </p:nvSpPr>
            <p:spPr bwMode="auto">
              <a:xfrm>
                <a:off x="4170964" y="3766878"/>
                <a:ext cx="481692" cy="270302"/>
              </a:xfrm>
              <a:custGeom>
                <a:avLst/>
                <a:gdLst>
                  <a:gd name="T0" fmla="*/ 110 w 134"/>
                  <a:gd name="T1" fmla="*/ 11 h 75"/>
                  <a:gd name="T2" fmla="*/ 102 w 134"/>
                  <a:gd name="T3" fmla="*/ 7 h 75"/>
                  <a:gd name="T4" fmla="*/ 102 w 134"/>
                  <a:gd name="T5" fmla="*/ 7 h 75"/>
                  <a:gd name="T6" fmla="*/ 86 w 134"/>
                  <a:gd name="T7" fmla="*/ 0 h 75"/>
                  <a:gd name="T8" fmla="*/ 87 w 134"/>
                  <a:gd name="T9" fmla="*/ 3 h 75"/>
                  <a:gd name="T10" fmla="*/ 49 w 134"/>
                  <a:gd name="T11" fmla="*/ 3 h 75"/>
                  <a:gd name="T12" fmla="*/ 50 w 134"/>
                  <a:gd name="T13" fmla="*/ 0 h 75"/>
                  <a:gd name="T14" fmla="*/ 31 w 134"/>
                  <a:gd name="T15" fmla="*/ 8 h 75"/>
                  <a:gd name="T16" fmla="*/ 31 w 134"/>
                  <a:gd name="T17" fmla="*/ 8 h 75"/>
                  <a:gd name="T18" fmla="*/ 24 w 134"/>
                  <a:gd name="T19" fmla="*/ 11 h 75"/>
                  <a:gd name="T20" fmla="*/ 24 w 134"/>
                  <a:gd name="T21" fmla="*/ 61 h 75"/>
                  <a:gd name="T22" fmla="*/ 110 w 134"/>
                  <a:gd name="T23" fmla="*/ 61 h 75"/>
                  <a:gd name="T24" fmla="*/ 110 w 134"/>
                  <a:gd name="T25" fmla="*/ 1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4" h="75">
                    <a:moveTo>
                      <a:pt x="110" y="11"/>
                    </a:moveTo>
                    <a:cubicBezTo>
                      <a:pt x="108" y="10"/>
                      <a:pt x="105" y="9"/>
                      <a:pt x="102" y="7"/>
                    </a:cubicBezTo>
                    <a:cubicBezTo>
                      <a:pt x="102" y="7"/>
                      <a:pt x="102" y="7"/>
                      <a:pt x="102" y="7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75" y="1"/>
                      <a:pt x="62" y="1"/>
                      <a:pt x="49" y="3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9" y="9"/>
                      <a:pt x="26" y="10"/>
                      <a:pt x="24" y="11"/>
                    </a:cubicBezTo>
                    <a:cubicBezTo>
                      <a:pt x="0" y="25"/>
                      <a:pt x="0" y="47"/>
                      <a:pt x="24" y="61"/>
                    </a:cubicBezTo>
                    <a:cubicBezTo>
                      <a:pt x="48" y="75"/>
                      <a:pt x="86" y="75"/>
                      <a:pt x="110" y="61"/>
                    </a:cubicBezTo>
                    <a:cubicBezTo>
                      <a:pt x="134" y="47"/>
                      <a:pt x="134" y="25"/>
                      <a:pt x="110" y="11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" name="íś1îḍê"/>
              <p:cNvSpPr/>
              <p:nvPr/>
            </p:nvSpPr>
            <p:spPr bwMode="auto">
              <a:xfrm>
                <a:off x="4300917" y="3749550"/>
                <a:ext cx="221786" cy="129953"/>
              </a:xfrm>
              <a:custGeom>
                <a:avLst/>
                <a:gdLst>
                  <a:gd name="T0" fmla="*/ 51 w 62"/>
                  <a:gd name="T1" fmla="*/ 29 h 36"/>
                  <a:gd name="T2" fmla="*/ 11 w 62"/>
                  <a:gd name="T3" fmla="*/ 29 h 36"/>
                  <a:gd name="T4" fmla="*/ 11 w 62"/>
                  <a:gd name="T5" fmla="*/ 6 h 36"/>
                  <a:gd name="T6" fmla="*/ 51 w 62"/>
                  <a:gd name="T7" fmla="*/ 6 h 36"/>
                  <a:gd name="T8" fmla="*/ 51 w 62"/>
                  <a:gd name="T9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36">
                    <a:moveTo>
                      <a:pt x="51" y="29"/>
                    </a:moveTo>
                    <a:cubicBezTo>
                      <a:pt x="40" y="36"/>
                      <a:pt x="22" y="36"/>
                      <a:pt x="11" y="29"/>
                    </a:cubicBezTo>
                    <a:cubicBezTo>
                      <a:pt x="0" y="23"/>
                      <a:pt x="0" y="13"/>
                      <a:pt x="11" y="6"/>
                    </a:cubicBezTo>
                    <a:cubicBezTo>
                      <a:pt x="22" y="0"/>
                      <a:pt x="40" y="0"/>
                      <a:pt x="51" y="6"/>
                    </a:cubicBezTo>
                    <a:cubicBezTo>
                      <a:pt x="62" y="13"/>
                      <a:pt x="62" y="23"/>
                      <a:pt x="51" y="29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iš1ïḍe"/>
              <p:cNvSpPr/>
              <p:nvPr/>
            </p:nvSpPr>
            <p:spPr bwMode="auto">
              <a:xfrm>
                <a:off x="4375423" y="3352761"/>
                <a:ext cx="72774" cy="474761"/>
              </a:xfrm>
              <a:custGeom>
                <a:avLst/>
                <a:gdLst>
                  <a:gd name="T0" fmla="*/ 10 w 20"/>
                  <a:gd name="T1" fmla="*/ 132 h 132"/>
                  <a:gd name="T2" fmla="*/ 10 w 20"/>
                  <a:gd name="T3" fmla="*/ 132 h 132"/>
                  <a:gd name="T4" fmla="*/ 0 w 20"/>
                  <a:gd name="T5" fmla="*/ 122 h 132"/>
                  <a:gd name="T6" fmla="*/ 0 w 20"/>
                  <a:gd name="T7" fmla="*/ 0 h 132"/>
                  <a:gd name="T8" fmla="*/ 20 w 20"/>
                  <a:gd name="T9" fmla="*/ 0 h 132"/>
                  <a:gd name="T10" fmla="*/ 20 w 20"/>
                  <a:gd name="T11" fmla="*/ 122 h 132"/>
                  <a:gd name="T12" fmla="*/ 10 w 20"/>
                  <a:gd name="T13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132">
                    <a:moveTo>
                      <a:pt x="10" y="132"/>
                    </a:moveTo>
                    <a:cubicBezTo>
                      <a:pt x="10" y="132"/>
                      <a:pt x="10" y="132"/>
                      <a:pt x="10" y="132"/>
                    </a:cubicBezTo>
                    <a:cubicBezTo>
                      <a:pt x="5" y="132"/>
                      <a:pt x="0" y="128"/>
                      <a:pt x="0" y="12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22"/>
                      <a:pt x="20" y="122"/>
                      <a:pt x="20" y="122"/>
                    </a:cubicBezTo>
                    <a:cubicBezTo>
                      <a:pt x="20" y="128"/>
                      <a:pt x="15" y="132"/>
                      <a:pt x="10" y="132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ísḻiḍè"/>
              <p:cNvSpPr/>
              <p:nvPr/>
            </p:nvSpPr>
            <p:spPr bwMode="auto">
              <a:xfrm>
                <a:off x="4371958" y="3331969"/>
                <a:ext cx="79704" cy="43318"/>
              </a:xfrm>
              <a:custGeom>
                <a:avLst/>
                <a:gdLst>
                  <a:gd name="T0" fmla="*/ 18 w 22"/>
                  <a:gd name="T1" fmla="*/ 10 h 12"/>
                  <a:gd name="T2" fmla="*/ 4 w 22"/>
                  <a:gd name="T3" fmla="*/ 10 h 12"/>
                  <a:gd name="T4" fmla="*/ 4 w 22"/>
                  <a:gd name="T5" fmla="*/ 2 h 12"/>
                  <a:gd name="T6" fmla="*/ 18 w 22"/>
                  <a:gd name="T7" fmla="*/ 2 h 12"/>
                  <a:gd name="T8" fmla="*/ 18 w 22"/>
                  <a:gd name="T9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2">
                    <a:moveTo>
                      <a:pt x="18" y="10"/>
                    </a:moveTo>
                    <a:cubicBezTo>
                      <a:pt x="14" y="12"/>
                      <a:pt x="8" y="12"/>
                      <a:pt x="4" y="10"/>
                    </a:cubicBezTo>
                    <a:cubicBezTo>
                      <a:pt x="0" y="8"/>
                      <a:pt x="0" y="4"/>
                      <a:pt x="4" y="2"/>
                    </a:cubicBezTo>
                    <a:cubicBezTo>
                      <a:pt x="8" y="0"/>
                      <a:pt x="14" y="0"/>
                      <a:pt x="18" y="2"/>
                    </a:cubicBezTo>
                    <a:cubicBezTo>
                      <a:pt x="22" y="4"/>
                      <a:pt x="22" y="8"/>
                      <a:pt x="18" y="10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Slïḓe"/>
              <p:cNvSpPr/>
              <p:nvPr/>
            </p:nvSpPr>
            <p:spPr bwMode="auto">
              <a:xfrm>
                <a:off x="4382354" y="2924783"/>
                <a:ext cx="58912" cy="443573"/>
              </a:xfrm>
              <a:custGeom>
                <a:avLst/>
                <a:gdLst>
                  <a:gd name="T0" fmla="*/ 8 w 16"/>
                  <a:gd name="T1" fmla="*/ 123 h 123"/>
                  <a:gd name="T2" fmla="*/ 8 w 16"/>
                  <a:gd name="T3" fmla="*/ 123 h 123"/>
                  <a:gd name="T4" fmla="*/ 0 w 16"/>
                  <a:gd name="T5" fmla="*/ 115 h 123"/>
                  <a:gd name="T6" fmla="*/ 0 w 16"/>
                  <a:gd name="T7" fmla="*/ 0 h 123"/>
                  <a:gd name="T8" fmla="*/ 16 w 16"/>
                  <a:gd name="T9" fmla="*/ 0 h 123"/>
                  <a:gd name="T10" fmla="*/ 16 w 16"/>
                  <a:gd name="T11" fmla="*/ 115 h 123"/>
                  <a:gd name="T12" fmla="*/ 8 w 16"/>
                  <a:gd name="T13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123">
                    <a:moveTo>
                      <a:pt x="8" y="123"/>
                    </a:moveTo>
                    <a:cubicBezTo>
                      <a:pt x="8" y="123"/>
                      <a:pt x="8" y="123"/>
                      <a:pt x="8" y="123"/>
                    </a:cubicBezTo>
                    <a:cubicBezTo>
                      <a:pt x="4" y="123"/>
                      <a:pt x="0" y="119"/>
                      <a:pt x="0" y="11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15"/>
                      <a:pt x="16" y="115"/>
                      <a:pt x="16" y="115"/>
                    </a:cubicBezTo>
                    <a:cubicBezTo>
                      <a:pt x="16" y="119"/>
                      <a:pt x="12" y="123"/>
                      <a:pt x="8" y="123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iṣļidé"/>
              <p:cNvSpPr/>
              <p:nvPr/>
            </p:nvSpPr>
            <p:spPr bwMode="auto">
              <a:xfrm>
                <a:off x="4818996" y="3098053"/>
                <a:ext cx="103962" cy="60645"/>
              </a:xfrm>
              <a:custGeom>
                <a:avLst/>
                <a:gdLst>
                  <a:gd name="T0" fmla="*/ 0 w 29"/>
                  <a:gd name="T1" fmla="*/ 12 h 17"/>
                  <a:gd name="T2" fmla="*/ 0 w 29"/>
                  <a:gd name="T3" fmla="*/ 8 h 17"/>
                  <a:gd name="T4" fmla="*/ 7 w 29"/>
                  <a:gd name="T5" fmla="*/ 7 h 17"/>
                  <a:gd name="T6" fmla="*/ 14 w 29"/>
                  <a:gd name="T7" fmla="*/ 1 h 17"/>
                  <a:gd name="T8" fmla="*/ 19 w 29"/>
                  <a:gd name="T9" fmla="*/ 1 h 17"/>
                  <a:gd name="T10" fmla="*/ 24 w 29"/>
                  <a:gd name="T11" fmla="*/ 4 h 17"/>
                  <a:gd name="T12" fmla="*/ 29 w 29"/>
                  <a:gd name="T13" fmla="*/ 3 h 17"/>
                  <a:gd name="T14" fmla="*/ 29 w 29"/>
                  <a:gd name="T15" fmla="*/ 8 h 17"/>
                  <a:gd name="T16" fmla="*/ 29 w 29"/>
                  <a:gd name="T17" fmla="*/ 8 h 17"/>
                  <a:gd name="T18" fmla="*/ 28 w 29"/>
                  <a:gd name="T19" fmla="*/ 9 h 17"/>
                  <a:gd name="T20" fmla="*/ 11 w 29"/>
                  <a:gd name="T21" fmla="*/ 17 h 17"/>
                  <a:gd name="T22" fmla="*/ 7 w 29"/>
                  <a:gd name="T23" fmla="*/ 17 h 17"/>
                  <a:gd name="T24" fmla="*/ 1 w 29"/>
                  <a:gd name="T25" fmla="*/ 13 h 17"/>
                  <a:gd name="T26" fmla="*/ 0 w 29"/>
                  <a:gd name="T27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17">
                    <a:moveTo>
                      <a:pt x="0" y="12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29" y="9"/>
                      <a:pt x="29" y="9"/>
                      <a:pt x="28" y="9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0" y="17"/>
                      <a:pt x="8" y="17"/>
                      <a:pt x="7" y="17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0" y="13"/>
                      <a:pt x="0" y="12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iSliḋe"/>
              <p:cNvSpPr/>
              <p:nvPr/>
            </p:nvSpPr>
            <p:spPr bwMode="auto">
              <a:xfrm>
                <a:off x="4818996" y="3084192"/>
                <a:ext cx="103962" cy="60645"/>
              </a:xfrm>
              <a:custGeom>
                <a:avLst/>
                <a:gdLst>
                  <a:gd name="T0" fmla="*/ 1 w 29"/>
                  <a:gd name="T1" fmla="*/ 10 h 17"/>
                  <a:gd name="T2" fmla="*/ 14 w 29"/>
                  <a:gd name="T3" fmla="*/ 1 h 17"/>
                  <a:gd name="T4" fmla="*/ 19 w 29"/>
                  <a:gd name="T5" fmla="*/ 1 h 17"/>
                  <a:gd name="T6" fmla="*/ 28 w 29"/>
                  <a:gd name="T7" fmla="*/ 6 h 17"/>
                  <a:gd name="T8" fmla="*/ 28 w 29"/>
                  <a:gd name="T9" fmla="*/ 9 h 17"/>
                  <a:gd name="T10" fmla="*/ 11 w 29"/>
                  <a:gd name="T11" fmla="*/ 16 h 17"/>
                  <a:gd name="T12" fmla="*/ 7 w 29"/>
                  <a:gd name="T13" fmla="*/ 16 h 17"/>
                  <a:gd name="T14" fmla="*/ 1 w 29"/>
                  <a:gd name="T15" fmla="*/ 13 h 17"/>
                  <a:gd name="T16" fmla="*/ 1 w 29"/>
                  <a:gd name="T17" fmla="*/ 1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17">
                    <a:moveTo>
                      <a:pt x="1" y="10"/>
                    </a:moveTo>
                    <a:cubicBezTo>
                      <a:pt x="14" y="1"/>
                      <a:pt x="14" y="1"/>
                      <a:pt x="14" y="1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8" y="6"/>
                      <a:pt x="28" y="6"/>
                      <a:pt x="28" y="6"/>
                    </a:cubicBezTo>
                    <a:cubicBezTo>
                      <a:pt x="29" y="7"/>
                      <a:pt x="29" y="8"/>
                      <a:pt x="28" y="9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10" y="17"/>
                      <a:pt x="8" y="17"/>
                      <a:pt x="7" y="16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1"/>
                      <a:pt x="1" y="10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îśḷíḓé"/>
              <p:cNvSpPr/>
              <p:nvPr/>
            </p:nvSpPr>
            <p:spPr bwMode="auto">
              <a:xfrm>
                <a:off x="4602407" y="3108449"/>
                <a:ext cx="237381" cy="90101"/>
              </a:xfrm>
              <a:custGeom>
                <a:avLst/>
                <a:gdLst>
                  <a:gd name="T0" fmla="*/ 39 w 66"/>
                  <a:gd name="T1" fmla="*/ 25 h 25"/>
                  <a:gd name="T2" fmla="*/ 44 w 66"/>
                  <a:gd name="T3" fmla="*/ 24 h 25"/>
                  <a:gd name="T4" fmla="*/ 64 w 66"/>
                  <a:gd name="T5" fmla="*/ 12 h 25"/>
                  <a:gd name="T6" fmla="*/ 65 w 66"/>
                  <a:gd name="T7" fmla="*/ 9 h 25"/>
                  <a:gd name="T8" fmla="*/ 62 w 66"/>
                  <a:gd name="T9" fmla="*/ 8 h 25"/>
                  <a:gd name="T10" fmla="*/ 42 w 66"/>
                  <a:gd name="T11" fmla="*/ 20 h 25"/>
                  <a:gd name="T12" fmla="*/ 36 w 66"/>
                  <a:gd name="T13" fmla="*/ 20 h 25"/>
                  <a:gd name="T14" fmla="*/ 3 w 66"/>
                  <a:gd name="T15" fmla="*/ 1 h 25"/>
                  <a:gd name="T16" fmla="*/ 0 w 66"/>
                  <a:gd name="T17" fmla="*/ 2 h 25"/>
                  <a:gd name="T18" fmla="*/ 1 w 66"/>
                  <a:gd name="T19" fmla="*/ 5 h 25"/>
                  <a:gd name="T20" fmla="*/ 34 w 66"/>
                  <a:gd name="T21" fmla="*/ 24 h 25"/>
                  <a:gd name="T22" fmla="*/ 39 w 66"/>
                  <a:gd name="T2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6" h="25">
                    <a:moveTo>
                      <a:pt x="39" y="25"/>
                    </a:moveTo>
                    <a:cubicBezTo>
                      <a:pt x="41" y="25"/>
                      <a:pt x="43" y="25"/>
                      <a:pt x="44" y="24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6" y="12"/>
                      <a:pt x="66" y="10"/>
                      <a:pt x="65" y="9"/>
                    </a:cubicBezTo>
                    <a:cubicBezTo>
                      <a:pt x="65" y="8"/>
                      <a:pt x="63" y="8"/>
                      <a:pt x="62" y="8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1" y="21"/>
                      <a:pt x="38" y="21"/>
                      <a:pt x="36" y="2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0"/>
                      <a:pt x="1" y="0"/>
                      <a:pt x="0" y="2"/>
                    </a:cubicBezTo>
                    <a:cubicBezTo>
                      <a:pt x="0" y="3"/>
                      <a:pt x="0" y="4"/>
                      <a:pt x="1" y="5"/>
                    </a:cubicBezTo>
                    <a:cubicBezTo>
                      <a:pt x="34" y="24"/>
                      <a:pt x="34" y="24"/>
                      <a:pt x="34" y="24"/>
                    </a:cubicBezTo>
                    <a:cubicBezTo>
                      <a:pt x="36" y="25"/>
                      <a:pt x="37" y="25"/>
                      <a:pt x="39" y="25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S1îḋe"/>
              <p:cNvSpPr/>
              <p:nvPr/>
            </p:nvSpPr>
            <p:spPr bwMode="auto">
              <a:xfrm>
                <a:off x="4061803" y="2716858"/>
                <a:ext cx="731202" cy="464365"/>
              </a:xfrm>
              <a:custGeom>
                <a:avLst/>
                <a:gdLst>
                  <a:gd name="T0" fmla="*/ 203 w 203"/>
                  <a:gd name="T1" fmla="*/ 64 h 129"/>
                  <a:gd name="T2" fmla="*/ 198 w 203"/>
                  <a:gd name="T3" fmla="*/ 61 h 129"/>
                  <a:gd name="T4" fmla="*/ 130 w 203"/>
                  <a:gd name="T5" fmla="*/ 11 h 129"/>
                  <a:gd name="T6" fmla="*/ 95 w 203"/>
                  <a:gd name="T7" fmla="*/ 5 h 129"/>
                  <a:gd name="T8" fmla="*/ 94 w 203"/>
                  <a:gd name="T9" fmla="*/ 5 h 129"/>
                  <a:gd name="T10" fmla="*/ 94 w 203"/>
                  <a:gd name="T11" fmla="*/ 5 h 129"/>
                  <a:gd name="T12" fmla="*/ 0 w 203"/>
                  <a:gd name="T13" fmla="*/ 60 h 129"/>
                  <a:gd name="T14" fmla="*/ 8 w 203"/>
                  <a:gd name="T15" fmla="*/ 63 h 129"/>
                  <a:gd name="T16" fmla="*/ 41 w 203"/>
                  <a:gd name="T17" fmla="*/ 77 h 129"/>
                  <a:gd name="T18" fmla="*/ 86 w 203"/>
                  <a:gd name="T19" fmla="*/ 109 h 129"/>
                  <a:gd name="T20" fmla="*/ 121 w 203"/>
                  <a:gd name="T21" fmla="*/ 128 h 129"/>
                  <a:gd name="T22" fmla="*/ 123 w 203"/>
                  <a:gd name="T23" fmla="*/ 129 h 129"/>
                  <a:gd name="T24" fmla="*/ 146 w 203"/>
                  <a:gd name="T25" fmla="*/ 105 h 129"/>
                  <a:gd name="T26" fmla="*/ 193 w 203"/>
                  <a:gd name="T27" fmla="*/ 73 h 129"/>
                  <a:gd name="T28" fmla="*/ 198 w 203"/>
                  <a:gd name="T29" fmla="*/ 76 h 129"/>
                  <a:gd name="T30" fmla="*/ 203 w 203"/>
                  <a:gd name="T31" fmla="*/ 64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03" h="129">
                    <a:moveTo>
                      <a:pt x="203" y="64"/>
                    </a:moveTo>
                    <a:cubicBezTo>
                      <a:pt x="201" y="63"/>
                      <a:pt x="200" y="62"/>
                      <a:pt x="198" y="61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17" y="2"/>
                      <a:pt x="105" y="0"/>
                      <a:pt x="95" y="5"/>
                    </a:cubicBezTo>
                    <a:cubicBezTo>
                      <a:pt x="94" y="5"/>
                      <a:pt x="94" y="5"/>
                      <a:pt x="94" y="5"/>
                    </a:cubicBezTo>
                    <a:cubicBezTo>
                      <a:pt x="94" y="5"/>
                      <a:pt x="94" y="5"/>
                      <a:pt x="94" y="5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" y="63"/>
                      <a:pt x="8" y="63"/>
                      <a:pt x="8" y="63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86" y="109"/>
                      <a:pt x="86" y="109"/>
                      <a:pt x="86" y="109"/>
                    </a:cubicBezTo>
                    <a:cubicBezTo>
                      <a:pt x="121" y="128"/>
                      <a:pt x="121" y="128"/>
                      <a:pt x="121" y="128"/>
                    </a:cubicBezTo>
                    <a:cubicBezTo>
                      <a:pt x="123" y="129"/>
                      <a:pt x="123" y="129"/>
                      <a:pt x="123" y="129"/>
                    </a:cubicBezTo>
                    <a:cubicBezTo>
                      <a:pt x="131" y="122"/>
                      <a:pt x="141" y="116"/>
                      <a:pt x="146" y="105"/>
                    </a:cubicBezTo>
                    <a:cubicBezTo>
                      <a:pt x="154" y="90"/>
                      <a:pt x="179" y="86"/>
                      <a:pt x="193" y="73"/>
                    </a:cubicBezTo>
                    <a:cubicBezTo>
                      <a:pt x="195" y="74"/>
                      <a:pt x="196" y="75"/>
                      <a:pt x="198" y="76"/>
                    </a:cubicBezTo>
                    <a:cubicBezTo>
                      <a:pt x="201" y="73"/>
                      <a:pt x="201" y="69"/>
                      <a:pt x="203" y="64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îś1íḍê"/>
              <p:cNvSpPr/>
              <p:nvPr/>
            </p:nvSpPr>
            <p:spPr bwMode="auto">
              <a:xfrm>
                <a:off x="4505376" y="2867604"/>
                <a:ext cx="421048" cy="320551"/>
              </a:xfrm>
              <a:custGeom>
                <a:avLst/>
                <a:gdLst>
                  <a:gd name="T0" fmla="*/ 110 w 117"/>
                  <a:gd name="T1" fmla="*/ 0 h 89"/>
                  <a:gd name="T2" fmla="*/ 106 w 117"/>
                  <a:gd name="T3" fmla="*/ 1 h 89"/>
                  <a:gd name="T4" fmla="*/ 106 w 117"/>
                  <a:gd name="T5" fmla="*/ 1 h 89"/>
                  <a:gd name="T6" fmla="*/ 14 w 117"/>
                  <a:gd name="T7" fmla="*/ 55 h 89"/>
                  <a:gd name="T8" fmla="*/ 17 w 117"/>
                  <a:gd name="T9" fmla="*/ 68 h 89"/>
                  <a:gd name="T10" fmla="*/ 21 w 117"/>
                  <a:gd name="T11" fmla="*/ 67 h 89"/>
                  <a:gd name="T12" fmla="*/ 0 w 117"/>
                  <a:gd name="T13" fmla="*/ 87 h 89"/>
                  <a:gd name="T14" fmla="*/ 11 w 117"/>
                  <a:gd name="T15" fmla="*/ 89 h 89"/>
                  <a:gd name="T16" fmla="*/ 101 w 117"/>
                  <a:gd name="T17" fmla="*/ 36 h 89"/>
                  <a:gd name="T18" fmla="*/ 102 w 117"/>
                  <a:gd name="T19" fmla="*/ 36 h 89"/>
                  <a:gd name="T20" fmla="*/ 106 w 117"/>
                  <a:gd name="T21" fmla="*/ 33 h 89"/>
                  <a:gd name="T22" fmla="*/ 106 w 117"/>
                  <a:gd name="T23" fmla="*/ 33 h 89"/>
                  <a:gd name="T24" fmla="*/ 106 w 117"/>
                  <a:gd name="T25" fmla="*/ 33 h 89"/>
                  <a:gd name="T26" fmla="*/ 117 w 117"/>
                  <a:gd name="T27" fmla="*/ 7 h 89"/>
                  <a:gd name="T28" fmla="*/ 117 w 117"/>
                  <a:gd name="T29" fmla="*/ 6 h 89"/>
                  <a:gd name="T30" fmla="*/ 110 w 117"/>
                  <a:gd name="T3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7" h="89">
                    <a:moveTo>
                      <a:pt x="110" y="0"/>
                    </a:moveTo>
                    <a:cubicBezTo>
                      <a:pt x="109" y="0"/>
                      <a:pt x="107" y="0"/>
                      <a:pt x="106" y="1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4" y="55"/>
                      <a:pt x="14" y="55"/>
                      <a:pt x="14" y="55"/>
                    </a:cubicBezTo>
                    <a:cubicBezTo>
                      <a:pt x="17" y="68"/>
                      <a:pt x="17" y="68"/>
                      <a:pt x="17" y="68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16" y="75"/>
                      <a:pt x="7" y="80"/>
                      <a:pt x="0" y="87"/>
                    </a:cubicBezTo>
                    <a:cubicBezTo>
                      <a:pt x="11" y="89"/>
                      <a:pt x="11" y="89"/>
                      <a:pt x="11" y="89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01" y="36"/>
                      <a:pt x="102" y="36"/>
                      <a:pt x="102" y="36"/>
                    </a:cubicBezTo>
                    <a:cubicBezTo>
                      <a:pt x="103" y="35"/>
                      <a:pt x="105" y="34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06" y="33"/>
                      <a:pt x="106" y="33"/>
                      <a:pt x="106" y="33"/>
                    </a:cubicBezTo>
                    <a:cubicBezTo>
                      <a:pt x="113" y="28"/>
                      <a:pt x="117" y="19"/>
                      <a:pt x="117" y="7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7" y="3"/>
                      <a:pt x="114" y="0"/>
                      <a:pt x="110" y="0"/>
                    </a:cubicBez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ïṡļïḋé"/>
              <p:cNvSpPr/>
              <p:nvPr/>
            </p:nvSpPr>
            <p:spPr bwMode="auto">
              <a:xfrm>
                <a:off x="4448197" y="2723789"/>
                <a:ext cx="64111" cy="20792"/>
              </a:xfrm>
              <a:custGeom>
                <a:avLst/>
                <a:gdLst>
                  <a:gd name="T0" fmla="*/ 0 w 18"/>
                  <a:gd name="T1" fmla="*/ 0 h 6"/>
                  <a:gd name="T2" fmla="*/ 18 w 18"/>
                  <a:gd name="T3" fmla="*/ 6 h 6"/>
                  <a:gd name="T4" fmla="*/ 0 w 18"/>
                  <a:gd name="T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" h="6">
                    <a:moveTo>
                      <a:pt x="0" y="0"/>
                    </a:moveTo>
                    <a:cubicBezTo>
                      <a:pt x="6" y="0"/>
                      <a:pt x="12" y="2"/>
                      <a:pt x="18" y="6"/>
                    </a:cubicBezTo>
                    <a:cubicBezTo>
                      <a:pt x="12" y="2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iSḷîḓè"/>
              <p:cNvSpPr/>
              <p:nvPr/>
            </p:nvSpPr>
            <p:spPr bwMode="auto">
              <a:xfrm>
                <a:off x="4061803" y="2794830"/>
                <a:ext cx="537139" cy="386394"/>
              </a:xfrm>
              <a:custGeom>
                <a:avLst/>
                <a:gdLst>
                  <a:gd name="T0" fmla="*/ 149 w 149"/>
                  <a:gd name="T1" fmla="*/ 79 h 107"/>
                  <a:gd name="T2" fmla="*/ 149 w 149"/>
                  <a:gd name="T3" fmla="*/ 78 h 107"/>
                  <a:gd name="T4" fmla="*/ 142 w 149"/>
                  <a:gd name="T5" fmla="*/ 71 h 107"/>
                  <a:gd name="T6" fmla="*/ 136 w 149"/>
                  <a:gd name="T7" fmla="*/ 78 h 107"/>
                  <a:gd name="T8" fmla="*/ 136 w 149"/>
                  <a:gd name="T9" fmla="*/ 79 h 107"/>
                  <a:gd name="T10" fmla="*/ 129 w 149"/>
                  <a:gd name="T11" fmla="*/ 96 h 107"/>
                  <a:gd name="T12" fmla="*/ 107 w 149"/>
                  <a:gd name="T13" fmla="*/ 91 h 107"/>
                  <a:gd name="T14" fmla="*/ 39 w 149"/>
                  <a:gd name="T15" fmla="*/ 41 h 107"/>
                  <a:gd name="T16" fmla="*/ 9 w 149"/>
                  <a:gd name="T17" fmla="*/ 32 h 107"/>
                  <a:gd name="T18" fmla="*/ 65 w 149"/>
                  <a:gd name="T19" fmla="*/ 0 h 107"/>
                  <a:gd name="T20" fmla="*/ 0 w 149"/>
                  <a:gd name="T21" fmla="*/ 38 h 107"/>
                  <a:gd name="T22" fmla="*/ 8 w 149"/>
                  <a:gd name="T23" fmla="*/ 41 h 107"/>
                  <a:gd name="T24" fmla="*/ 41 w 149"/>
                  <a:gd name="T25" fmla="*/ 55 h 107"/>
                  <a:gd name="T26" fmla="*/ 86 w 149"/>
                  <a:gd name="T27" fmla="*/ 87 h 107"/>
                  <a:gd name="T28" fmla="*/ 121 w 149"/>
                  <a:gd name="T29" fmla="*/ 106 h 107"/>
                  <a:gd name="T30" fmla="*/ 123 w 149"/>
                  <a:gd name="T31" fmla="*/ 107 h 107"/>
                  <a:gd name="T32" fmla="*/ 146 w 149"/>
                  <a:gd name="T33" fmla="*/ 83 h 107"/>
                  <a:gd name="T34" fmla="*/ 149 w 149"/>
                  <a:gd name="T35" fmla="*/ 79 h 107"/>
                  <a:gd name="T36" fmla="*/ 149 w 149"/>
                  <a:gd name="T37" fmla="*/ 79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07">
                    <a:moveTo>
                      <a:pt x="149" y="79"/>
                    </a:moveTo>
                    <a:cubicBezTo>
                      <a:pt x="149" y="78"/>
                      <a:pt x="149" y="78"/>
                      <a:pt x="149" y="78"/>
                    </a:cubicBezTo>
                    <a:cubicBezTo>
                      <a:pt x="149" y="74"/>
                      <a:pt x="146" y="71"/>
                      <a:pt x="142" y="71"/>
                    </a:cubicBezTo>
                    <a:cubicBezTo>
                      <a:pt x="139" y="71"/>
                      <a:pt x="136" y="74"/>
                      <a:pt x="136" y="78"/>
                    </a:cubicBezTo>
                    <a:cubicBezTo>
                      <a:pt x="136" y="79"/>
                      <a:pt x="136" y="79"/>
                      <a:pt x="136" y="79"/>
                    </a:cubicBezTo>
                    <a:cubicBezTo>
                      <a:pt x="136" y="87"/>
                      <a:pt x="133" y="94"/>
                      <a:pt x="129" y="96"/>
                    </a:cubicBezTo>
                    <a:cubicBezTo>
                      <a:pt x="123" y="99"/>
                      <a:pt x="115" y="97"/>
                      <a:pt x="107" y="9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28" y="33"/>
                      <a:pt x="18" y="30"/>
                      <a:pt x="9" y="32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86" y="87"/>
                      <a:pt x="86" y="87"/>
                      <a:pt x="86" y="87"/>
                    </a:cubicBezTo>
                    <a:cubicBezTo>
                      <a:pt x="121" y="106"/>
                      <a:pt x="121" y="106"/>
                      <a:pt x="121" y="106"/>
                    </a:cubicBezTo>
                    <a:cubicBezTo>
                      <a:pt x="123" y="107"/>
                      <a:pt x="123" y="107"/>
                      <a:pt x="123" y="107"/>
                    </a:cubicBezTo>
                    <a:cubicBezTo>
                      <a:pt x="131" y="100"/>
                      <a:pt x="141" y="94"/>
                      <a:pt x="146" y="83"/>
                    </a:cubicBezTo>
                    <a:cubicBezTo>
                      <a:pt x="147" y="82"/>
                      <a:pt x="148" y="81"/>
                      <a:pt x="149" y="79"/>
                    </a:cubicBezTo>
                    <a:cubicBezTo>
                      <a:pt x="149" y="79"/>
                      <a:pt x="149" y="79"/>
                      <a:pt x="149" y="79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ï$ḷïḑe"/>
              <p:cNvSpPr/>
              <p:nvPr/>
            </p:nvSpPr>
            <p:spPr bwMode="auto">
              <a:xfrm>
                <a:off x="4018486" y="2907456"/>
                <a:ext cx="573526" cy="291095"/>
              </a:xfrm>
              <a:custGeom>
                <a:avLst/>
                <a:gdLst>
                  <a:gd name="T0" fmla="*/ 133 w 159"/>
                  <a:gd name="T1" fmla="*/ 81 h 81"/>
                  <a:gd name="T2" fmla="*/ 110 w 159"/>
                  <a:gd name="T3" fmla="*/ 72 h 81"/>
                  <a:gd name="T4" fmla="*/ 41 w 159"/>
                  <a:gd name="T5" fmla="*/ 22 h 81"/>
                  <a:gd name="T6" fmla="*/ 20 w 159"/>
                  <a:gd name="T7" fmla="*/ 17 h 81"/>
                  <a:gd name="T8" fmla="*/ 12 w 159"/>
                  <a:gd name="T9" fmla="*/ 34 h 81"/>
                  <a:gd name="T10" fmla="*/ 6 w 159"/>
                  <a:gd name="T11" fmla="*/ 40 h 81"/>
                  <a:gd name="T12" fmla="*/ 0 w 159"/>
                  <a:gd name="T13" fmla="*/ 34 h 81"/>
                  <a:gd name="T14" fmla="*/ 14 w 159"/>
                  <a:gd name="T15" fmla="*/ 5 h 81"/>
                  <a:gd name="T16" fmla="*/ 49 w 159"/>
                  <a:gd name="T17" fmla="*/ 12 h 81"/>
                  <a:gd name="T18" fmla="*/ 117 w 159"/>
                  <a:gd name="T19" fmla="*/ 62 h 81"/>
                  <a:gd name="T20" fmla="*/ 139 w 159"/>
                  <a:gd name="T21" fmla="*/ 67 h 81"/>
                  <a:gd name="T22" fmla="*/ 146 w 159"/>
                  <a:gd name="T23" fmla="*/ 50 h 81"/>
                  <a:gd name="T24" fmla="*/ 146 w 159"/>
                  <a:gd name="T25" fmla="*/ 49 h 81"/>
                  <a:gd name="T26" fmla="*/ 153 w 159"/>
                  <a:gd name="T27" fmla="*/ 42 h 81"/>
                  <a:gd name="T28" fmla="*/ 159 w 159"/>
                  <a:gd name="T29" fmla="*/ 49 h 81"/>
                  <a:gd name="T30" fmla="*/ 159 w 159"/>
                  <a:gd name="T31" fmla="*/ 50 h 81"/>
                  <a:gd name="T32" fmla="*/ 145 w 159"/>
                  <a:gd name="T33" fmla="*/ 78 h 81"/>
                  <a:gd name="T34" fmla="*/ 133 w 159"/>
                  <a:gd name="T35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9" h="81">
                    <a:moveTo>
                      <a:pt x="133" y="81"/>
                    </a:moveTo>
                    <a:cubicBezTo>
                      <a:pt x="126" y="81"/>
                      <a:pt x="118" y="78"/>
                      <a:pt x="110" y="72"/>
                    </a:cubicBezTo>
                    <a:cubicBezTo>
                      <a:pt x="41" y="22"/>
                      <a:pt x="41" y="22"/>
                      <a:pt x="41" y="22"/>
                    </a:cubicBezTo>
                    <a:cubicBezTo>
                      <a:pt x="33" y="16"/>
                      <a:pt x="25" y="14"/>
                      <a:pt x="20" y="17"/>
                    </a:cubicBezTo>
                    <a:cubicBezTo>
                      <a:pt x="15" y="19"/>
                      <a:pt x="12" y="25"/>
                      <a:pt x="12" y="34"/>
                    </a:cubicBezTo>
                    <a:cubicBezTo>
                      <a:pt x="12" y="37"/>
                      <a:pt x="10" y="40"/>
                      <a:pt x="6" y="40"/>
                    </a:cubicBezTo>
                    <a:cubicBezTo>
                      <a:pt x="3" y="40"/>
                      <a:pt x="0" y="37"/>
                      <a:pt x="0" y="34"/>
                    </a:cubicBezTo>
                    <a:cubicBezTo>
                      <a:pt x="0" y="20"/>
                      <a:pt x="5" y="10"/>
                      <a:pt x="14" y="5"/>
                    </a:cubicBezTo>
                    <a:cubicBezTo>
                      <a:pt x="24" y="0"/>
                      <a:pt x="37" y="3"/>
                      <a:pt x="49" y="12"/>
                    </a:cubicBezTo>
                    <a:cubicBezTo>
                      <a:pt x="117" y="62"/>
                      <a:pt x="117" y="62"/>
                      <a:pt x="117" y="62"/>
                    </a:cubicBezTo>
                    <a:cubicBezTo>
                      <a:pt x="125" y="68"/>
                      <a:pt x="133" y="70"/>
                      <a:pt x="139" y="67"/>
                    </a:cubicBezTo>
                    <a:cubicBezTo>
                      <a:pt x="143" y="65"/>
                      <a:pt x="146" y="58"/>
                      <a:pt x="146" y="50"/>
                    </a:cubicBezTo>
                    <a:cubicBezTo>
                      <a:pt x="146" y="49"/>
                      <a:pt x="146" y="49"/>
                      <a:pt x="146" y="49"/>
                    </a:cubicBezTo>
                    <a:cubicBezTo>
                      <a:pt x="146" y="45"/>
                      <a:pt x="149" y="42"/>
                      <a:pt x="153" y="42"/>
                    </a:cubicBezTo>
                    <a:cubicBezTo>
                      <a:pt x="156" y="42"/>
                      <a:pt x="159" y="45"/>
                      <a:pt x="159" y="49"/>
                    </a:cubicBezTo>
                    <a:cubicBezTo>
                      <a:pt x="159" y="50"/>
                      <a:pt x="159" y="50"/>
                      <a:pt x="159" y="50"/>
                    </a:cubicBezTo>
                    <a:cubicBezTo>
                      <a:pt x="159" y="63"/>
                      <a:pt x="154" y="74"/>
                      <a:pt x="145" y="78"/>
                    </a:cubicBezTo>
                    <a:cubicBezTo>
                      <a:pt x="141" y="80"/>
                      <a:pt x="137" y="81"/>
                      <a:pt x="133" y="81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îŝlïḋé"/>
              <p:cNvSpPr/>
              <p:nvPr/>
            </p:nvSpPr>
            <p:spPr bwMode="auto">
              <a:xfrm>
                <a:off x="4158835" y="3576280"/>
                <a:ext cx="188865" cy="263371"/>
              </a:xfrm>
              <a:custGeom>
                <a:avLst/>
                <a:gdLst>
                  <a:gd name="T0" fmla="*/ 41 w 52"/>
                  <a:gd name="T1" fmla="*/ 7 h 73"/>
                  <a:gd name="T2" fmla="*/ 20 w 52"/>
                  <a:gd name="T3" fmla="*/ 10 h 73"/>
                  <a:gd name="T4" fmla="*/ 0 w 52"/>
                  <a:gd name="T5" fmla="*/ 58 h 73"/>
                  <a:gd name="T6" fmla="*/ 20 w 52"/>
                  <a:gd name="T7" fmla="*/ 68 h 73"/>
                  <a:gd name="T8" fmla="*/ 51 w 52"/>
                  <a:gd name="T9" fmla="*/ 27 h 73"/>
                  <a:gd name="T10" fmla="*/ 47 w 52"/>
                  <a:gd name="T11" fmla="*/ 11 h 73"/>
                  <a:gd name="T12" fmla="*/ 41 w 52"/>
                  <a:gd name="T13" fmla="*/ 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73">
                    <a:moveTo>
                      <a:pt x="41" y="7"/>
                    </a:moveTo>
                    <a:cubicBezTo>
                      <a:pt x="41" y="7"/>
                      <a:pt x="28" y="0"/>
                      <a:pt x="20" y="10"/>
                    </a:cubicBezTo>
                    <a:cubicBezTo>
                      <a:pt x="12" y="20"/>
                      <a:pt x="1" y="42"/>
                      <a:pt x="0" y="58"/>
                    </a:cubicBezTo>
                    <a:cubicBezTo>
                      <a:pt x="0" y="73"/>
                      <a:pt x="13" y="72"/>
                      <a:pt x="20" y="68"/>
                    </a:cubicBezTo>
                    <a:cubicBezTo>
                      <a:pt x="28" y="65"/>
                      <a:pt x="49" y="33"/>
                      <a:pt x="51" y="27"/>
                    </a:cubicBezTo>
                    <a:cubicBezTo>
                      <a:pt x="52" y="21"/>
                      <a:pt x="49" y="12"/>
                      <a:pt x="47" y="11"/>
                    </a:cubicBezTo>
                    <a:cubicBezTo>
                      <a:pt x="45" y="9"/>
                      <a:pt x="41" y="7"/>
                      <a:pt x="41" y="7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iŝlîḍê"/>
              <p:cNvSpPr/>
              <p:nvPr/>
            </p:nvSpPr>
            <p:spPr bwMode="auto">
              <a:xfrm>
                <a:off x="4228143" y="3555487"/>
                <a:ext cx="90101" cy="114359"/>
              </a:xfrm>
              <a:custGeom>
                <a:avLst/>
                <a:gdLst>
                  <a:gd name="T0" fmla="*/ 25 w 25"/>
                  <a:gd name="T1" fmla="*/ 10 h 32"/>
                  <a:gd name="T2" fmla="*/ 25 w 25"/>
                  <a:gd name="T3" fmla="*/ 23 h 32"/>
                  <a:gd name="T4" fmla="*/ 21 w 25"/>
                  <a:gd name="T5" fmla="*/ 30 h 32"/>
                  <a:gd name="T6" fmla="*/ 12 w 25"/>
                  <a:gd name="T7" fmla="*/ 31 h 32"/>
                  <a:gd name="T8" fmla="*/ 0 w 25"/>
                  <a:gd name="T9" fmla="*/ 14 h 32"/>
                  <a:gd name="T10" fmla="*/ 25 w 25"/>
                  <a:gd name="T11" fmla="*/ 1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" h="32">
                    <a:moveTo>
                      <a:pt x="25" y="10"/>
                    </a:move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26"/>
                      <a:pt x="24" y="28"/>
                      <a:pt x="21" y="30"/>
                    </a:cubicBezTo>
                    <a:cubicBezTo>
                      <a:pt x="19" y="31"/>
                      <a:pt x="16" y="32"/>
                      <a:pt x="12" y="31"/>
                    </a:cubicBezTo>
                    <a:cubicBezTo>
                      <a:pt x="2" y="30"/>
                      <a:pt x="1" y="27"/>
                      <a:pt x="0" y="14"/>
                    </a:cubicBezTo>
                    <a:cubicBezTo>
                      <a:pt x="0" y="0"/>
                      <a:pt x="25" y="10"/>
                      <a:pt x="25" y="10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îŝḷíḋê"/>
              <p:cNvSpPr/>
              <p:nvPr/>
            </p:nvSpPr>
            <p:spPr bwMode="auto">
              <a:xfrm>
                <a:off x="3990763" y="3486179"/>
                <a:ext cx="187132" cy="263371"/>
              </a:xfrm>
              <a:custGeom>
                <a:avLst/>
                <a:gdLst>
                  <a:gd name="T0" fmla="*/ 41 w 52"/>
                  <a:gd name="T1" fmla="*/ 6 h 73"/>
                  <a:gd name="T2" fmla="*/ 20 w 52"/>
                  <a:gd name="T3" fmla="*/ 9 h 73"/>
                  <a:gd name="T4" fmla="*/ 0 w 52"/>
                  <a:gd name="T5" fmla="*/ 57 h 73"/>
                  <a:gd name="T6" fmla="*/ 20 w 52"/>
                  <a:gd name="T7" fmla="*/ 68 h 73"/>
                  <a:gd name="T8" fmla="*/ 51 w 52"/>
                  <a:gd name="T9" fmla="*/ 26 h 73"/>
                  <a:gd name="T10" fmla="*/ 47 w 52"/>
                  <a:gd name="T11" fmla="*/ 10 h 73"/>
                  <a:gd name="T12" fmla="*/ 41 w 52"/>
                  <a:gd name="T13" fmla="*/ 6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73">
                    <a:moveTo>
                      <a:pt x="41" y="6"/>
                    </a:moveTo>
                    <a:cubicBezTo>
                      <a:pt x="41" y="6"/>
                      <a:pt x="28" y="0"/>
                      <a:pt x="20" y="9"/>
                    </a:cubicBezTo>
                    <a:cubicBezTo>
                      <a:pt x="12" y="19"/>
                      <a:pt x="1" y="42"/>
                      <a:pt x="0" y="57"/>
                    </a:cubicBezTo>
                    <a:cubicBezTo>
                      <a:pt x="0" y="73"/>
                      <a:pt x="13" y="71"/>
                      <a:pt x="20" y="68"/>
                    </a:cubicBezTo>
                    <a:cubicBezTo>
                      <a:pt x="28" y="64"/>
                      <a:pt x="49" y="33"/>
                      <a:pt x="51" y="26"/>
                    </a:cubicBezTo>
                    <a:cubicBezTo>
                      <a:pt x="52" y="20"/>
                      <a:pt x="49" y="12"/>
                      <a:pt x="47" y="10"/>
                    </a:cubicBezTo>
                    <a:cubicBezTo>
                      <a:pt x="45" y="9"/>
                      <a:pt x="41" y="6"/>
                      <a:pt x="41" y="6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îŝḻidê"/>
              <p:cNvSpPr/>
              <p:nvPr/>
            </p:nvSpPr>
            <p:spPr bwMode="auto">
              <a:xfrm>
                <a:off x="4054872" y="3465387"/>
                <a:ext cx="93566" cy="110893"/>
              </a:xfrm>
              <a:custGeom>
                <a:avLst/>
                <a:gdLst>
                  <a:gd name="T0" fmla="*/ 26 w 26"/>
                  <a:gd name="T1" fmla="*/ 9 h 31"/>
                  <a:gd name="T2" fmla="*/ 26 w 26"/>
                  <a:gd name="T3" fmla="*/ 22 h 31"/>
                  <a:gd name="T4" fmla="*/ 22 w 26"/>
                  <a:gd name="T5" fmla="*/ 29 h 31"/>
                  <a:gd name="T6" fmla="*/ 12 w 26"/>
                  <a:gd name="T7" fmla="*/ 31 h 31"/>
                  <a:gd name="T8" fmla="*/ 1 w 26"/>
                  <a:gd name="T9" fmla="*/ 13 h 31"/>
                  <a:gd name="T10" fmla="*/ 26 w 26"/>
                  <a:gd name="T11" fmla="*/ 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31">
                    <a:moveTo>
                      <a:pt x="26" y="9"/>
                    </a:moveTo>
                    <a:cubicBezTo>
                      <a:pt x="26" y="22"/>
                      <a:pt x="26" y="22"/>
                      <a:pt x="26" y="22"/>
                    </a:cubicBezTo>
                    <a:cubicBezTo>
                      <a:pt x="26" y="25"/>
                      <a:pt x="25" y="28"/>
                      <a:pt x="22" y="29"/>
                    </a:cubicBezTo>
                    <a:cubicBezTo>
                      <a:pt x="20" y="31"/>
                      <a:pt x="17" y="31"/>
                      <a:pt x="12" y="31"/>
                    </a:cubicBezTo>
                    <a:cubicBezTo>
                      <a:pt x="3" y="29"/>
                      <a:pt x="2" y="26"/>
                      <a:pt x="1" y="13"/>
                    </a:cubicBezTo>
                    <a:cubicBezTo>
                      <a:pt x="0" y="0"/>
                      <a:pt x="26" y="9"/>
                      <a:pt x="26" y="9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î$lîḑe"/>
              <p:cNvSpPr/>
              <p:nvPr/>
            </p:nvSpPr>
            <p:spPr bwMode="auto">
              <a:xfrm>
                <a:off x="3983832" y="2392843"/>
                <a:ext cx="590853" cy="1143586"/>
              </a:xfrm>
              <a:custGeom>
                <a:avLst/>
                <a:gdLst>
                  <a:gd name="T0" fmla="*/ 160 w 164"/>
                  <a:gd name="T1" fmla="*/ 62 h 318"/>
                  <a:gd name="T2" fmla="*/ 93 w 164"/>
                  <a:gd name="T3" fmla="*/ 71 h 318"/>
                  <a:gd name="T4" fmla="*/ 50 w 164"/>
                  <a:gd name="T5" fmla="*/ 114 h 318"/>
                  <a:gd name="T6" fmla="*/ 11 w 164"/>
                  <a:gd name="T7" fmla="*/ 157 h 318"/>
                  <a:gd name="T8" fmla="*/ 1 w 164"/>
                  <a:gd name="T9" fmla="*/ 188 h 318"/>
                  <a:gd name="T10" fmla="*/ 17 w 164"/>
                  <a:gd name="T11" fmla="*/ 308 h 318"/>
                  <a:gd name="T12" fmla="*/ 29 w 164"/>
                  <a:gd name="T13" fmla="*/ 318 h 318"/>
                  <a:gd name="T14" fmla="*/ 35 w 164"/>
                  <a:gd name="T15" fmla="*/ 317 h 318"/>
                  <a:gd name="T16" fmla="*/ 48 w 164"/>
                  <a:gd name="T17" fmla="*/ 302 h 318"/>
                  <a:gd name="T18" fmla="*/ 45 w 164"/>
                  <a:gd name="T19" fmla="*/ 190 h 318"/>
                  <a:gd name="T20" fmla="*/ 127 w 164"/>
                  <a:gd name="T21" fmla="*/ 140 h 318"/>
                  <a:gd name="T22" fmla="*/ 160 w 164"/>
                  <a:gd name="T23" fmla="*/ 6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4" h="318">
                    <a:moveTo>
                      <a:pt x="160" y="62"/>
                    </a:moveTo>
                    <a:cubicBezTo>
                      <a:pt x="156" y="0"/>
                      <a:pt x="93" y="71"/>
                      <a:pt x="93" y="71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11" y="157"/>
                      <a:pt x="11" y="157"/>
                      <a:pt x="11" y="157"/>
                    </a:cubicBezTo>
                    <a:cubicBezTo>
                      <a:pt x="3" y="165"/>
                      <a:pt x="0" y="176"/>
                      <a:pt x="1" y="188"/>
                    </a:cubicBezTo>
                    <a:cubicBezTo>
                      <a:pt x="17" y="308"/>
                      <a:pt x="17" y="308"/>
                      <a:pt x="17" y="308"/>
                    </a:cubicBezTo>
                    <a:cubicBezTo>
                      <a:pt x="18" y="314"/>
                      <a:pt x="23" y="318"/>
                      <a:pt x="29" y="318"/>
                    </a:cubicBezTo>
                    <a:cubicBezTo>
                      <a:pt x="31" y="318"/>
                      <a:pt x="32" y="318"/>
                      <a:pt x="35" y="317"/>
                    </a:cubicBezTo>
                    <a:cubicBezTo>
                      <a:pt x="49" y="315"/>
                      <a:pt x="48" y="302"/>
                      <a:pt x="48" y="302"/>
                    </a:cubicBezTo>
                    <a:cubicBezTo>
                      <a:pt x="45" y="190"/>
                      <a:pt x="45" y="190"/>
                      <a:pt x="45" y="190"/>
                    </a:cubicBezTo>
                    <a:cubicBezTo>
                      <a:pt x="127" y="140"/>
                      <a:pt x="127" y="140"/>
                      <a:pt x="127" y="140"/>
                    </a:cubicBezTo>
                    <a:cubicBezTo>
                      <a:pt x="127" y="140"/>
                      <a:pt x="164" y="124"/>
                      <a:pt x="160" y="62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íṧļïḓé"/>
              <p:cNvSpPr/>
              <p:nvPr/>
            </p:nvSpPr>
            <p:spPr bwMode="auto">
              <a:xfrm>
                <a:off x="4151904" y="2479478"/>
                <a:ext cx="590853" cy="1143586"/>
              </a:xfrm>
              <a:custGeom>
                <a:avLst/>
                <a:gdLst>
                  <a:gd name="T0" fmla="*/ 160 w 164"/>
                  <a:gd name="T1" fmla="*/ 62 h 318"/>
                  <a:gd name="T2" fmla="*/ 93 w 164"/>
                  <a:gd name="T3" fmla="*/ 71 h 318"/>
                  <a:gd name="T4" fmla="*/ 50 w 164"/>
                  <a:gd name="T5" fmla="*/ 114 h 318"/>
                  <a:gd name="T6" fmla="*/ 11 w 164"/>
                  <a:gd name="T7" fmla="*/ 156 h 318"/>
                  <a:gd name="T8" fmla="*/ 1 w 164"/>
                  <a:gd name="T9" fmla="*/ 187 h 318"/>
                  <a:gd name="T10" fmla="*/ 17 w 164"/>
                  <a:gd name="T11" fmla="*/ 307 h 318"/>
                  <a:gd name="T12" fmla="*/ 29 w 164"/>
                  <a:gd name="T13" fmla="*/ 318 h 318"/>
                  <a:gd name="T14" fmla="*/ 35 w 164"/>
                  <a:gd name="T15" fmla="*/ 317 h 318"/>
                  <a:gd name="T16" fmla="*/ 48 w 164"/>
                  <a:gd name="T17" fmla="*/ 302 h 318"/>
                  <a:gd name="T18" fmla="*/ 45 w 164"/>
                  <a:gd name="T19" fmla="*/ 189 h 318"/>
                  <a:gd name="T20" fmla="*/ 127 w 164"/>
                  <a:gd name="T21" fmla="*/ 140 h 318"/>
                  <a:gd name="T22" fmla="*/ 160 w 164"/>
                  <a:gd name="T23" fmla="*/ 6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4" h="318">
                    <a:moveTo>
                      <a:pt x="160" y="62"/>
                    </a:moveTo>
                    <a:cubicBezTo>
                      <a:pt x="157" y="0"/>
                      <a:pt x="93" y="71"/>
                      <a:pt x="93" y="71"/>
                    </a:cubicBezTo>
                    <a:cubicBezTo>
                      <a:pt x="50" y="114"/>
                      <a:pt x="50" y="114"/>
                      <a:pt x="50" y="114"/>
                    </a:cubicBezTo>
                    <a:cubicBezTo>
                      <a:pt x="11" y="156"/>
                      <a:pt x="11" y="156"/>
                      <a:pt x="11" y="156"/>
                    </a:cubicBezTo>
                    <a:cubicBezTo>
                      <a:pt x="3" y="165"/>
                      <a:pt x="0" y="176"/>
                      <a:pt x="1" y="187"/>
                    </a:cubicBezTo>
                    <a:cubicBezTo>
                      <a:pt x="17" y="307"/>
                      <a:pt x="17" y="307"/>
                      <a:pt x="17" y="307"/>
                    </a:cubicBezTo>
                    <a:cubicBezTo>
                      <a:pt x="18" y="313"/>
                      <a:pt x="23" y="318"/>
                      <a:pt x="29" y="318"/>
                    </a:cubicBezTo>
                    <a:cubicBezTo>
                      <a:pt x="31" y="318"/>
                      <a:pt x="33" y="317"/>
                      <a:pt x="35" y="317"/>
                    </a:cubicBezTo>
                    <a:cubicBezTo>
                      <a:pt x="49" y="315"/>
                      <a:pt x="48" y="302"/>
                      <a:pt x="48" y="302"/>
                    </a:cubicBezTo>
                    <a:cubicBezTo>
                      <a:pt x="45" y="189"/>
                      <a:pt x="45" y="189"/>
                      <a:pt x="45" y="189"/>
                    </a:cubicBezTo>
                    <a:cubicBezTo>
                      <a:pt x="127" y="140"/>
                      <a:pt x="127" y="140"/>
                      <a:pt x="127" y="140"/>
                    </a:cubicBezTo>
                    <a:cubicBezTo>
                      <a:pt x="127" y="140"/>
                      <a:pt x="164" y="124"/>
                      <a:pt x="160" y="62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s1ïḓé"/>
              <p:cNvSpPr/>
              <p:nvPr/>
            </p:nvSpPr>
            <p:spPr bwMode="auto">
              <a:xfrm>
                <a:off x="4188291" y="1942339"/>
                <a:ext cx="580457" cy="954721"/>
              </a:xfrm>
              <a:custGeom>
                <a:avLst/>
                <a:gdLst>
                  <a:gd name="T0" fmla="*/ 113 w 161"/>
                  <a:gd name="T1" fmla="*/ 12 h 265"/>
                  <a:gd name="T2" fmla="*/ 160 w 161"/>
                  <a:gd name="T3" fmla="*/ 60 h 265"/>
                  <a:gd name="T4" fmla="*/ 154 w 161"/>
                  <a:gd name="T5" fmla="*/ 234 h 265"/>
                  <a:gd name="T6" fmla="*/ 23 w 161"/>
                  <a:gd name="T7" fmla="*/ 188 h 265"/>
                  <a:gd name="T8" fmla="*/ 53 w 161"/>
                  <a:gd name="T9" fmla="*/ 11 h 265"/>
                  <a:gd name="T10" fmla="*/ 113 w 161"/>
                  <a:gd name="T11" fmla="*/ 12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1" h="265">
                    <a:moveTo>
                      <a:pt x="113" y="12"/>
                    </a:moveTo>
                    <a:cubicBezTo>
                      <a:pt x="161" y="32"/>
                      <a:pt x="160" y="60"/>
                      <a:pt x="160" y="60"/>
                    </a:cubicBezTo>
                    <a:cubicBezTo>
                      <a:pt x="160" y="60"/>
                      <a:pt x="151" y="164"/>
                      <a:pt x="154" y="234"/>
                    </a:cubicBezTo>
                    <a:cubicBezTo>
                      <a:pt x="155" y="263"/>
                      <a:pt x="0" y="265"/>
                      <a:pt x="23" y="188"/>
                    </a:cubicBezTo>
                    <a:cubicBezTo>
                      <a:pt x="50" y="96"/>
                      <a:pt x="40" y="22"/>
                      <a:pt x="53" y="11"/>
                    </a:cubicBezTo>
                    <a:cubicBezTo>
                      <a:pt x="65" y="0"/>
                      <a:pt x="101" y="7"/>
                      <a:pt x="113" y="12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íṣļide"/>
              <p:cNvSpPr/>
              <p:nvPr/>
            </p:nvSpPr>
            <p:spPr bwMode="auto">
              <a:xfrm>
                <a:off x="4468990" y="1978725"/>
                <a:ext cx="192331" cy="150746"/>
              </a:xfrm>
              <a:custGeom>
                <a:avLst/>
                <a:gdLst>
                  <a:gd name="T0" fmla="*/ 50 w 53"/>
                  <a:gd name="T1" fmla="*/ 27 h 42"/>
                  <a:gd name="T2" fmla="*/ 22 w 53"/>
                  <a:gd name="T3" fmla="*/ 39 h 42"/>
                  <a:gd name="T4" fmla="*/ 2 w 53"/>
                  <a:gd name="T5" fmla="*/ 15 h 42"/>
                  <a:gd name="T6" fmla="*/ 31 w 53"/>
                  <a:gd name="T7" fmla="*/ 3 h 42"/>
                  <a:gd name="T8" fmla="*/ 50 w 53"/>
                  <a:gd name="T9" fmla="*/ 2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42">
                    <a:moveTo>
                      <a:pt x="50" y="27"/>
                    </a:moveTo>
                    <a:cubicBezTo>
                      <a:pt x="48" y="37"/>
                      <a:pt x="35" y="42"/>
                      <a:pt x="22" y="39"/>
                    </a:cubicBezTo>
                    <a:cubicBezTo>
                      <a:pt x="9" y="35"/>
                      <a:pt x="0" y="25"/>
                      <a:pt x="2" y="15"/>
                    </a:cubicBezTo>
                    <a:cubicBezTo>
                      <a:pt x="5" y="5"/>
                      <a:pt x="18" y="0"/>
                      <a:pt x="31" y="3"/>
                    </a:cubicBezTo>
                    <a:cubicBezTo>
                      <a:pt x="44" y="7"/>
                      <a:pt x="53" y="18"/>
                      <a:pt x="50" y="27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ṣ1ïḋê"/>
              <p:cNvSpPr/>
              <p:nvPr/>
            </p:nvSpPr>
            <p:spPr bwMode="auto">
              <a:xfrm>
                <a:off x="4458593" y="1971795"/>
                <a:ext cx="209658" cy="157677"/>
              </a:xfrm>
              <a:custGeom>
                <a:avLst/>
                <a:gdLst>
                  <a:gd name="T0" fmla="*/ 33 w 58"/>
                  <a:gd name="T1" fmla="*/ 44 h 44"/>
                  <a:gd name="T2" fmla="*/ 24 w 58"/>
                  <a:gd name="T3" fmla="*/ 43 h 44"/>
                  <a:gd name="T4" fmla="*/ 3 w 58"/>
                  <a:gd name="T5" fmla="*/ 16 h 44"/>
                  <a:gd name="T6" fmla="*/ 35 w 58"/>
                  <a:gd name="T7" fmla="*/ 3 h 44"/>
                  <a:gd name="T8" fmla="*/ 56 w 58"/>
                  <a:gd name="T9" fmla="*/ 30 h 44"/>
                  <a:gd name="T10" fmla="*/ 44 w 58"/>
                  <a:gd name="T11" fmla="*/ 42 h 44"/>
                  <a:gd name="T12" fmla="*/ 33 w 58"/>
                  <a:gd name="T13" fmla="*/ 44 h 44"/>
                  <a:gd name="T14" fmla="*/ 26 w 58"/>
                  <a:gd name="T15" fmla="*/ 7 h 44"/>
                  <a:gd name="T16" fmla="*/ 8 w 58"/>
                  <a:gd name="T17" fmla="*/ 18 h 44"/>
                  <a:gd name="T18" fmla="*/ 25 w 58"/>
                  <a:gd name="T19" fmla="*/ 39 h 44"/>
                  <a:gd name="T20" fmla="*/ 42 w 58"/>
                  <a:gd name="T21" fmla="*/ 38 h 44"/>
                  <a:gd name="T22" fmla="*/ 51 w 58"/>
                  <a:gd name="T23" fmla="*/ 29 h 44"/>
                  <a:gd name="T24" fmla="*/ 33 w 58"/>
                  <a:gd name="T25" fmla="*/ 8 h 44"/>
                  <a:gd name="T26" fmla="*/ 26 w 58"/>
                  <a:gd name="T27" fmla="*/ 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8" h="44">
                    <a:moveTo>
                      <a:pt x="33" y="44"/>
                    </a:moveTo>
                    <a:cubicBezTo>
                      <a:pt x="30" y="44"/>
                      <a:pt x="27" y="44"/>
                      <a:pt x="24" y="43"/>
                    </a:cubicBezTo>
                    <a:cubicBezTo>
                      <a:pt x="10" y="39"/>
                      <a:pt x="0" y="27"/>
                      <a:pt x="3" y="16"/>
                    </a:cubicBezTo>
                    <a:cubicBezTo>
                      <a:pt x="6" y="5"/>
                      <a:pt x="20" y="0"/>
                      <a:pt x="35" y="3"/>
                    </a:cubicBezTo>
                    <a:cubicBezTo>
                      <a:pt x="49" y="7"/>
                      <a:pt x="58" y="19"/>
                      <a:pt x="56" y="30"/>
                    </a:cubicBezTo>
                    <a:cubicBezTo>
                      <a:pt x="54" y="35"/>
                      <a:pt x="50" y="40"/>
                      <a:pt x="44" y="42"/>
                    </a:cubicBezTo>
                    <a:cubicBezTo>
                      <a:pt x="41" y="43"/>
                      <a:pt x="37" y="44"/>
                      <a:pt x="33" y="44"/>
                    </a:cubicBezTo>
                    <a:close/>
                    <a:moveTo>
                      <a:pt x="26" y="7"/>
                    </a:moveTo>
                    <a:cubicBezTo>
                      <a:pt x="17" y="7"/>
                      <a:pt x="9" y="11"/>
                      <a:pt x="8" y="18"/>
                    </a:cubicBezTo>
                    <a:cubicBezTo>
                      <a:pt x="5" y="26"/>
                      <a:pt x="13" y="35"/>
                      <a:pt x="25" y="39"/>
                    </a:cubicBezTo>
                    <a:cubicBezTo>
                      <a:pt x="31" y="40"/>
                      <a:pt x="37" y="40"/>
                      <a:pt x="42" y="38"/>
                    </a:cubicBezTo>
                    <a:cubicBezTo>
                      <a:pt x="47" y="36"/>
                      <a:pt x="50" y="33"/>
                      <a:pt x="51" y="29"/>
                    </a:cubicBezTo>
                    <a:cubicBezTo>
                      <a:pt x="53" y="20"/>
                      <a:pt x="45" y="11"/>
                      <a:pt x="33" y="8"/>
                    </a:cubicBezTo>
                    <a:cubicBezTo>
                      <a:pt x="31" y="7"/>
                      <a:pt x="28" y="7"/>
                      <a:pt x="26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iṣļíde"/>
              <p:cNvSpPr/>
              <p:nvPr/>
            </p:nvSpPr>
            <p:spPr bwMode="auto">
              <a:xfrm>
                <a:off x="4522703" y="1909417"/>
                <a:ext cx="95299" cy="162874"/>
              </a:xfrm>
              <a:custGeom>
                <a:avLst/>
                <a:gdLst>
                  <a:gd name="T0" fmla="*/ 1 w 26"/>
                  <a:gd name="T1" fmla="*/ 19 h 45"/>
                  <a:gd name="T2" fmla="*/ 0 w 26"/>
                  <a:gd name="T3" fmla="*/ 36 h 45"/>
                  <a:gd name="T4" fmla="*/ 21 w 26"/>
                  <a:gd name="T5" fmla="*/ 41 h 45"/>
                  <a:gd name="T6" fmla="*/ 25 w 26"/>
                  <a:gd name="T7" fmla="*/ 16 h 45"/>
                  <a:gd name="T8" fmla="*/ 1 w 26"/>
                  <a:gd name="T9" fmla="*/ 19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45">
                    <a:moveTo>
                      <a:pt x="1" y="19"/>
                    </a:moveTo>
                    <a:cubicBezTo>
                      <a:pt x="1" y="19"/>
                      <a:pt x="1" y="21"/>
                      <a:pt x="0" y="36"/>
                    </a:cubicBezTo>
                    <a:cubicBezTo>
                      <a:pt x="0" y="41"/>
                      <a:pt x="17" y="45"/>
                      <a:pt x="21" y="41"/>
                    </a:cubicBezTo>
                    <a:cubicBezTo>
                      <a:pt x="25" y="37"/>
                      <a:pt x="24" y="32"/>
                      <a:pt x="25" y="16"/>
                    </a:cubicBezTo>
                    <a:cubicBezTo>
                      <a:pt x="26" y="0"/>
                      <a:pt x="1" y="19"/>
                      <a:pt x="1" y="19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íṩ1íḋé"/>
              <p:cNvSpPr/>
              <p:nvPr/>
            </p:nvSpPr>
            <p:spPr bwMode="auto">
              <a:xfrm>
                <a:off x="4522703" y="1968329"/>
                <a:ext cx="90101" cy="74507"/>
              </a:xfrm>
              <a:custGeom>
                <a:avLst/>
                <a:gdLst>
                  <a:gd name="T0" fmla="*/ 25 w 25"/>
                  <a:gd name="T1" fmla="*/ 0 h 21"/>
                  <a:gd name="T2" fmla="*/ 0 w 25"/>
                  <a:gd name="T3" fmla="*/ 21 h 21"/>
                  <a:gd name="T4" fmla="*/ 1 w 25"/>
                  <a:gd name="T5" fmla="*/ 7 h 21"/>
                  <a:gd name="T6" fmla="*/ 25 w 25"/>
                  <a:gd name="T7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21">
                    <a:moveTo>
                      <a:pt x="25" y="0"/>
                    </a:moveTo>
                    <a:cubicBezTo>
                      <a:pt x="25" y="0"/>
                      <a:pt x="21" y="15"/>
                      <a:pt x="0" y="21"/>
                    </a:cubicBezTo>
                    <a:cubicBezTo>
                      <a:pt x="1" y="7"/>
                      <a:pt x="1" y="7"/>
                      <a:pt x="1" y="7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iṥḻiḍe"/>
              <p:cNvSpPr/>
              <p:nvPr/>
            </p:nvSpPr>
            <p:spPr bwMode="auto">
              <a:xfrm>
                <a:off x="4382354" y="1715354"/>
                <a:ext cx="296293" cy="296293"/>
              </a:xfrm>
              <a:custGeom>
                <a:avLst/>
                <a:gdLst>
                  <a:gd name="T0" fmla="*/ 77 w 82"/>
                  <a:gd name="T1" fmla="*/ 32 h 82"/>
                  <a:gd name="T2" fmla="*/ 50 w 82"/>
                  <a:gd name="T3" fmla="*/ 77 h 82"/>
                  <a:gd name="T4" fmla="*/ 5 w 82"/>
                  <a:gd name="T5" fmla="*/ 50 h 82"/>
                  <a:gd name="T6" fmla="*/ 32 w 82"/>
                  <a:gd name="T7" fmla="*/ 5 h 82"/>
                  <a:gd name="T8" fmla="*/ 77 w 82"/>
                  <a:gd name="T9" fmla="*/ 3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7" y="32"/>
                    </a:moveTo>
                    <a:cubicBezTo>
                      <a:pt x="82" y="51"/>
                      <a:pt x="70" y="72"/>
                      <a:pt x="50" y="77"/>
                    </a:cubicBezTo>
                    <a:cubicBezTo>
                      <a:pt x="30" y="82"/>
                      <a:pt x="10" y="70"/>
                      <a:pt x="5" y="50"/>
                    </a:cubicBezTo>
                    <a:cubicBezTo>
                      <a:pt x="0" y="30"/>
                      <a:pt x="12" y="10"/>
                      <a:pt x="32" y="5"/>
                    </a:cubicBezTo>
                    <a:cubicBezTo>
                      <a:pt x="51" y="0"/>
                      <a:pt x="71" y="12"/>
                      <a:pt x="77" y="32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ŝ1íḓè"/>
              <p:cNvSpPr/>
              <p:nvPr/>
            </p:nvSpPr>
            <p:spPr bwMode="auto">
              <a:xfrm>
                <a:off x="4385820" y="1834911"/>
                <a:ext cx="173271" cy="64111"/>
              </a:xfrm>
              <a:custGeom>
                <a:avLst/>
                <a:gdLst>
                  <a:gd name="T0" fmla="*/ 48 w 48"/>
                  <a:gd name="T1" fmla="*/ 9 h 18"/>
                  <a:gd name="T2" fmla="*/ 14 w 48"/>
                  <a:gd name="T3" fmla="*/ 18 h 18"/>
                  <a:gd name="T4" fmla="*/ 3 w 48"/>
                  <a:gd name="T5" fmla="*/ 6 h 18"/>
                  <a:gd name="T6" fmla="*/ 45 w 48"/>
                  <a:gd name="T7" fmla="*/ 0 h 18"/>
                  <a:gd name="T8" fmla="*/ 48 w 48"/>
                  <a:gd name="T9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18">
                    <a:moveTo>
                      <a:pt x="48" y="9"/>
                    </a:moveTo>
                    <a:cubicBezTo>
                      <a:pt x="48" y="9"/>
                      <a:pt x="28" y="18"/>
                      <a:pt x="14" y="18"/>
                    </a:cubicBezTo>
                    <a:cubicBezTo>
                      <a:pt x="0" y="18"/>
                      <a:pt x="3" y="6"/>
                      <a:pt x="3" y="6"/>
                    </a:cubicBezTo>
                    <a:cubicBezTo>
                      <a:pt x="45" y="0"/>
                      <a:pt x="45" y="0"/>
                      <a:pt x="45" y="0"/>
                    </a:cubicBezTo>
                    <a:lnTo>
                      <a:pt x="48" y="9"/>
                    </a:ln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íŝlíďe"/>
              <p:cNvSpPr/>
              <p:nvPr/>
            </p:nvSpPr>
            <p:spPr bwMode="auto">
              <a:xfrm>
                <a:off x="4314778" y="1618323"/>
                <a:ext cx="414117" cy="327482"/>
              </a:xfrm>
              <a:custGeom>
                <a:avLst/>
                <a:gdLst>
                  <a:gd name="T0" fmla="*/ 30 w 115"/>
                  <a:gd name="T1" fmla="*/ 72 h 91"/>
                  <a:gd name="T2" fmla="*/ 63 w 115"/>
                  <a:gd name="T3" fmla="*/ 67 h 91"/>
                  <a:gd name="T4" fmla="*/ 72 w 115"/>
                  <a:gd name="T5" fmla="*/ 73 h 91"/>
                  <a:gd name="T6" fmla="*/ 75 w 115"/>
                  <a:gd name="T7" fmla="*/ 75 h 91"/>
                  <a:gd name="T8" fmla="*/ 88 w 115"/>
                  <a:gd name="T9" fmla="*/ 64 h 91"/>
                  <a:gd name="T10" fmla="*/ 92 w 115"/>
                  <a:gd name="T11" fmla="*/ 74 h 91"/>
                  <a:gd name="T12" fmla="*/ 91 w 115"/>
                  <a:gd name="T13" fmla="*/ 90 h 91"/>
                  <a:gd name="T14" fmla="*/ 96 w 115"/>
                  <a:gd name="T15" fmla="*/ 38 h 91"/>
                  <a:gd name="T16" fmla="*/ 22 w 115"/>
                  <a:gd name="T17" fmla="*/ 28 h 91"/>
                  <a:gd name="T18" fmla="*/ 7 w 115"/>
                  <a:gd name="T19" fmla="*/ 29 h 91"/>
                  <a:gd name="T20" fmla="*/ 30 w 115"/>
                  <a:gd name="T21" fmla="*/ 7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5" h="91">
                    <a:moveTo>
                      <a:pt x="30" y="72"/>
                    </a:moveTo>
                    <a:cubicBezTo>
                      <a:pt x="30" y="72"/>
                      <a:pt x="47" y="64"/>
                      <a:pt x="63" y="67"/>
                    </a:cubicBezTo>
                    <a:cubicBezTo>
                      <a:pt x="67" y="68"/>
                      <a:pt x="70" y="70"/>
                      <a:pt x="72" y="73"/>
                    </a:cubicBezTo>
                    <a:cubicBezTo>
                      <a:pt x="73" y="74"/>
                      <a:pt x="74" y="75"/>
                      <a:pt x="75" y="75"/>
                    </a:cubicBezTo>
                    <a:cubicBezTo>
                      <a:pt x="78" y="75"/>
                      <a:pt x="82" y="64"/>
                      <a:pt x="88" y="64"/>
                    </a:cubicBezTo>
                    <a:cubicBezTo>
                      <a:pt x="93" y="63"/>
                      <a:pt x="97" y="67"/>
                      <a:pt x="92" y="74"/>
                    </a:cubicBezTo>
                    <a:cubicBezTo>
                      <a:pt x="88" y="81"/>
                      <a:pt x="89" y="89"/>
                      <a:pt x="91" y="90"/>
                    </a:cubicBezTo>
                    <a:cubicBezTo>
                      <a:pt x="93" y="91"/>
                      <a:pt x="115" y="75"/>
                      <a:pt x="96" y="38"/>
                    </a:cubicBezTo>
                    <a:cubicBezTo>
                      <a:pt x="77" y="0"/>
                      <a:pt x="29" y="20"/>
                      <a:pt x="22" y="28"/>
                    </a:cubicBezTo>
                    <a:cubicBezTo>
                      <a:pt x="22" y="28"/>
                      <a:pt x="14" y="35"/>
                      <a:pt x="7" y="29"/>
                    </a:cubicBezTo>
                    <a:cubicBezTo>
                      <a:pt x="7" y="29"/>
                      <a:pt x="0" y="82"/>
                      <a:pt x="30" y="72"/>
                    </a:cubicBezTo>
                    <a:close/>
                  </a:path>
                </a:pathLst>
              </a:custGeom>
              <a:solidFill>
                <a:srgbClr val="FF2C9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iṡľïḓe"/>
              <p:cNvSpPr/>
              <p:nvPr/>
            </p:nvSpPr>
            <p:spPr bwMode="auto">
              <a:xfrm>
                <a:off x="4448197" y="2373782"/>
                <a:ext cx="337878" cy="417583"/>
              </a:xfrm>
              <a:custGeom>
                <a:avLst/>
                <a:gdLst>
                  <a:gd name="T0" fmla="*/ 61 w 94"/>
                  <a:gd name="T1" fmla="*/ 16 h 116"/>
                  <a:gd name="T2" fmla="*/ 61 w 94"/>
                  <a:gd name="T3" fmla="*/ 44 h 116"/>
                  <a:gd name="T4" fmla="*/ 57 w 94"/>
                  <a:gd name="T5" fmla="*/ 53 h 116"/>
                  <a:gd name="T6" fmla="*/ 0 w 94"/>
                  <a:gd name="T7" fmla="*/ 105 h 116"/>
                  <a:gd name="T8" fmla="*/ 6 w 94"/>
                  <a:gd name="T9" fmla="*/ 116 h 116"/>
                  <a:gd name="T10" fmla="*/ 82 w 94"/>
                  <a:gd name="T11" fmla="*/ 60 h 116"/>
                  <a:gd name="T12" fmla="*/ 89 w 94"/>
                  <a:gd name="T13" fmla="*/ 49 h 116"/>
                  <a:gd name="T14" fmla="*/ 94 w 94"/>
                  <a:gd name="T15" fmla="*/ 0 h 116"/>
                  <a:gd name="T16" fmla="*/ 61 w 94"/>
                  <a:gd name="T17" fmla="*/ 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116">
                    <a:moveTo>
                      <a:pt x="61" y="16"/>
                    </a:moveTo>
                    <a:cubicBezTo>
                      <a:pt x="61" y="44"/>
                      <a:pt x="61" y="44"/>
                      <a:pt x="61" y="44"/>
                    </a:cubicBezTo>
                    <a:cubicBezTo>
                      <a:pt x="61" y="48"/>
                      <a:pt x="60" y="51"/>
                      <a:pt x="57" y="53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6" y="116"/>
                      <a:pt x="6" y="116"/>
                      <a:pt x="6" y="116"/>
                    </a:cubicBezTo>
                    <a:cubicBezTo>
                      <a:pt x="82" y="60"/>
                      <a:pt x="82" y="60"/>
                      <a:pt x="82" y="60"/>
                    </a:cubicBezTo>
                    <a:cubicBezTo>
                      <a:pt x="86" y="58"/>
                      <a:pt x="88" y="54"/>
                      <a:pt x="89" y="49"/>
                    </a:cubicBezTo>
                    <a:cubicBezTo>
                      <a:pt x="94" y="0"/>
                      <a:pt x="94" y="0"/>
                      <a:pt x="94" y="0"/>
                    </a:cubicBez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iṡ1ïḍè"/>
              <p:cNvSpPr/>
              <p:nvPr/>
            </p:nvSpPr>
            <p:spPr bwMode="auto">
              <a:xfrm>
                <a:off x="4605873" y="2108679"/>
                <a:ext cx="230450" cy="381195"/>
              </a:xfrm>
              <a:custGeom>
                <a:avLst/>
                <a:gdLst>
                  <a:gd name="T0" fmla="*/ 40 w 64"/>
                  <a:gd name="T1" fmla="*/ 0 h 106"/>
                  <a:gd name="T2" fmla="*/ 64 w 64"/>
                  <a:gd name="T3" fmla="*/ 96 h 106"/>
                  <a:gd name="T4" fmla="*/ 17 w 64"/>
                  <a:gd name="T5" fmla="*/ 100 h 106"/>
                  <a:gd name="T6" fmla="*/ 40 w 64"/>
                  <a:gd name="T7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4" h="106">
                    <a:moveTo>
                      <a:pt x="40" y="0"/>
                    </a:moveTo>
                    <a:cubicBezTo>
                      <a:pt x="40" y="0"/>
                      <a:pt x="57" y="27"/>
                      <a:pt x="64" y="96"/>
                    </a:cubicBezTo>
                    <a:cubicBezTo>
                      <a:pt x="64" y="96"/>
                      <a:pt x="34" y="106"/>
                      <a:pt x="17" y="100"/>
                    </a:cubicBezTo>
                    <a:cubicBezTo>
                      <a:pt x="0" y="95"/>
                      <a:pt x="40" y="0"/>
                      <a:pt x="40" y="0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sľïďè"/>
              <p:cNvSpPr/>
              <p:nvPr/>
            </p:nvSpPr>
            <p:spPr bwMode="auto">
              <a:xfrm>
                <a:off x="4628398" y="2229968"/>
                <a:ext cx="27723" cy="230450"/>
              </a:xfrm>
              <a:custGeom>
                <a:avLst/>
                <a:gdLst>
                  <a:gd name="T0" fmla="*/ 8 w 8"/>
                  <a:gd name="T1" fmla="*/ 0 h 64"/>
                  <a:gd name="T2" fmla="*/ 1 w 8"/>
                  <a:gd name="T3" fmla="*/ 54 h 64"/>
                  <a:gd name="T4" fmla="*/ 8 w 8"/>
                  <a:gd name="T5" fmla="*/ 64 h 64"/>
                  <a:gd name="T6" fmla="*/ 8 w 8"/>
                  <a:gd name="T7" fmla="*/ 64 h 64"/>
                  <a:gd name="T8" fmla="*/ 8 w 8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64">
                    <a:moveTo>
                      <a:pt x="8" y="0"/>
                    </a:moveTo>
                    <a:cubicBezTo>
                      <a:pt x="8" y="0"/>
                      <a:pt x="1" y="36"/>
                      <a:pt x="1" y="54"/>
                    </a:cubicBezTo>
                    <a:cubicBezTo>
                      <a:pt x="0" y="58"/>
                      <a:pt x="3" y="63"/>
                      <a:pt x="8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iŝ1ïďé"/>
              <p:cNvSpPr/>
              <p:nvPr/>
            </p:nvSpPr>
            <p:spPr bwMode="auto">
              <a:xfrm>
                <a:off x="3983832" y="2701264"/>
                <a:ext cx="618576" cy="363868"/>
              </a:xfrm>
              <a:custGeom>
                <a:avLst/>
                <a:gdLst>
                  <a:gd name="T0" fmla="*/ 172 w 172"/>
                  <a:gd name="T1" fmla="*/ 51 h 101"/>
                  <a:gd name="T2" fmla="*/ 159 w 172"/>
                  <a:gd name="T3" fmla="*/ 49 h 101"/>
                  <a:gd name="T4" fmla="*/ 77 w 172"/>
                  <a:gd name="T5" fmla="*/ 2 h 101"/>
                  <a:gd name="T6" fmla="*/ 66 w 172"/>
                  <a:gd name="T7" fmla="*/ 2 h 101"/>
                  <a:gd name="T8" fmla="*/ 8 w 172"/>
                  <a:gd name="T9" fmla="*/ 36 h 101"/>
                  <a:gd name="T10" fmla="*/ 0 w 172"/>
                  <a:gd name="T11" fmla="*/ 35 h 101"/>
                  <a:gd name="T12" fmla="*/ 0 w 172"/>
                  <a:gd name="T13" fmla="*/ 43 h 101"/>
                  <a:gd name="T14" fmla="*/ 0 w 172"/>
                  <a:gd name="T15" fmla="*/ 43 h 101"/>
                  <a:gd name="T16" fmla="*/ 2 w 172"/>
                  <a:gd name="T17" fmla="*/ 45 h 101"/>
                  <a:gd name="T18" fmla="*/ 96 w 172"/>
                  <a:gd name="T19" fmla="*/ 99 h 101"/>
                  <a:gd name="T20" fmla="*/ 106 w 172"/>
                  <a:gd name="T21" fmla="*/ 99 h 101"/>
                  <a:gd name="T22" fmla="*/ 169 w 172"/>
                  <a:gd name="T23" fmla="*/ 62 h 101"/>
                  <a:gd name="T24" fmla="*/ 172 w 172"/>
                  <a:gd name="T25" fmla="*/ 59 h 101"/>
                  <a:gd name="T26" fmla="*/ 172 w 172"/>
                  <a:gd name="T27" fmla="*/ 59 h 101"/>
                  <a:gd name="T28" fmla="*/ 172 w 172"/>
                  <a:gd name="T29" fmla="*/ 5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2" h="101">
                    <a:moveTo>
                      <a:pt x="172" y="51"/>
                    </a:moveTo>
                    <a:cubicBezTo>
                      <a:pt x="159" y="49"/>
                      <a:pt x="159" y="49"/>
                      <a:pt x="159" y="49"/>
                    </a:cubicBezTo>
                    <a:cubicBezTo>
                      <a:pt x="77" y="2"/>
                      <a:pt x="77" y="2"/>
                      <a:pt x="77" y="2"/>
                    </a:cubicBezTo>
                    <a:cubicBezTo>
                      <a:pt x="74" y="0"/>
                      <a:pt x="70" y="0"/>
                      <a:pt x="66" y="2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4"/>
                      <a:pt x="1" y="45"/>
                      <a:pt x="2" y="45"/>
                    </a:cubicBezTo>
                    <a:cubicBezTo>
                      <a:pt x="96" y="99"/>
                      <a:pt x="96" y="99"/>
                      <a:pt x="96" y="99"/>
                    </a:cubicBezTo>
                    <a:cubicBezTo>
                      <a:pt x="98" y="101"/>
                      <a:pt x="103" y="100"/>
                      <a:pt x="106" y="99"/>
                    </a:cubicBezTo>
                    <a:cubicBezTo>
                      <a:pt x="169" y="62"/>
                      <a:pt x="169" y="62"/>
                      <a:pt x="169" y="62"/>
                    </a:cubicBezTo>
                    <a:cubicBezTo>
                      <a:pt x="171" y="61"/>
                      <a:pt x="172" y="60"/>
                      <a:pt x="172" y="59"/>
                    </a:cubicBezTo>
                    <a:cubicBezTo>
                      <a:pt x="172" y="59"/>
                      <a:pt x="172" y="59"/>
                      <a:pt x="172" y="59"/>
                    </a:cubicBezTo>
                    <a:lnTo>
                      <a:pt x="172" y="51"/>
                    </a:ln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ïṧḻidè"/>
              <p:cNvSpPr/>
              <p:nvPr/>
            </p:nvSpPr>
            <p:spPr bwMode="auto">
              <a:xfrm>
                <a:off x="3983832" y="2767107"/>
                <a:ext cx="395057" cy="294560"/>
              </a:xfrm>
              <a:custGeom>
                <a:avLst/>
                <a:gdLst>
                  <a:gd name="T0" fmla="*/ 110 w 110"/>
                  <a:gd name="T1" fmla="*/ 3 h 82"/>
                  <a:gd name="T2" fmla="*/ 104 w 110"/>
                  <a:gd name="T3" fmla="*/ 0 h 82"/>
                  <a:gd name="T4" fmla="*/ 40 w 110"/>
                  <a:gd name="T5" fmla="*/ 0 h 82"/>
                  <a:gd name="T6" fmla="*/ 8 w 110"/>
                  <a:gd name="T7" fmla="*/ 18 h 82"/>
                  <a:gd name="T8" fmla="*/ 0 w 110"/>
                  <a:gd name="T9" fmla="*/ 17 h 82"/>
                  <a:gd name="T10" fmla="*/ 0 w 110"/>
                  <a:gd name="T11" fmla="*/ 25 h 82"/>
                  <a:gd name="T12" fmla="*/ 0 w 110"/>
                  <a:gd name="T13" fmla="*/ 25 h 82"/>
                  <a:gd name="T14" fmla="*/ 2 w 110"/>
                  <a:gd name="T15" fmla="*/ 27 h 82"/>
                  <a:gd name="T16" fmla="*/ 96 w 110"/>
                  <a:gd name="T17" fmla="*/ 81 h 82"/>
                  <a:gd name="T18" fmla="*/ 101 w 110"/>
                  <a:gd name="T19" fmla="*/ 82 h 82"/>
                  <a:gd name="T20" fmla="*/ 110 w 110"/>
                  <a:gd name="T21" fmla="*/ 3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" h="82">
                    <a:moveTo>
                      <a:pt x="110" y="3"/>
                    </a:moveTo>
                    <a:cubicBezTo>
                      <a:pt x="104" y="0"/>
                      <a:pt x="104" y="0"/>
                      <a:pt x="104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6"/>
                      <a:pt x="1" y="27"/>
                      <a:pt x="2" y="27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2"/>
                      <a:pt x="99" y="82"/>
                      <a:pt x="101" y="82"/>
                    </a:cubicBezTo>
                    <a:lnTo>
                      <a:pt x="110" y="3"/>
                    </a:lnTo>
                    <a:close/>
                  </a:path>
                </a:pathLst>
              </a:custGeom>
              <a:solidFill>
                <a:srgbClr val="396C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ïsļiḋê"/>
              <p:cNvSpPr/>
              <p:nvPr/>
            </p:nvSpPr>
            <p:spPr bwMode="auto">
              <a:xfrm>
                <a:off x="3983832" y="2827751"/>
                <a:ext cx="13862" cy="39853"/>
              </a:xfrm>
              <a:custGeom>
                <a:avLst/>
                <a:gdLst>
                  <a:gd name="T0" fmla="*/ 4 w 4"/>
                  <a:gd name="T1" fmla="*/ 0 h 11"/>
                  <a:gd name="T2" fmla="*/ 0 w 4"/>
                  <a:gd name="T3" fmla="*/ 0 h 11"/>
                  <a:gd name="T4" fmla="*/ 0 w 4"/>
                  <a:gd name="T5" fmla="*/ 8 h 11"/>
                  <a:gd name="T6" fmla="*/ 0 w 4"/>
                  <a:gd name="T7" fmla="*/ 8 h 11"/>
                  <a:gd name="T8" fmla="*/ 2 w 4"/>
                  <a:gd name="T9" fmla="*/ 10 h 11"/>
                  <a:gd name="T10" fmla="*/ 4 w 4"/>
                  <a:gd name="T11" fmla="*/ 11 h 11"/>
                  <a:gd name="T12" fmla="*/ 4 w 4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1"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9"/>
                      <a:pt x="1" y="10"/>
                      <a:pt x="2" y="10"/>
                    </a:cubicBezTo>
                    <a:cubicBezTo>
                      <a:pt x="4" y="11"/>
                      <a:pt x="4" y="11"/>
                      <a:pt x="4" y="11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579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íṡḷîde"/>
              <p:cNvSpPr/>
              <p:nvPr/>
            </p:nvSpPr>
            <p:spPr bwMode="auto">
              <a:xfrm>
                <a:off x="4328640" y="3011418"/>
                <a:ext cx="32922" cy="50249"/>
              </a:xfrm>
              <a:custGeom>
                <a:avLst/>
                <a:gdLst>
                  <a:gd name="T0" fmla="*/ 0 w 9"/>
                  <a:gd name="T1" fmla="*/ 14 h 14"/>
                  <a:gd name="T2" fmla="*/ 9 w 9"/>
                  <a:gd name="T3" fmla="*/ 13 h 14"/>
                  <a:gd name="T4" fmla="*/ 9 w 9"/>
                  <a:gd name="T5" fmla="*/ 0 h 14"/>
                  <a:gd name="T6" fmla="*/ 0 w 9"/>
                  <a:gd name="T7" fmla="*/ 0 h 14"/>
                  <a:gd name="T8" fmla="*/ 0 w 9"/>
                  <a:gd name="T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14">
                    <a:moveTo>
                      <a:pt x="0" y="14"/>
                    </a:moveTo>
                    <a:cubicBezTo>
                      <a:pt x="3" y="14"/>
                      <a:pt x="7" y="14"/>
                      <a:pt x="9" y="1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274F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Slîďé"/>
              <p:cNvSpPr/>
              <p:nvPr/>
            </p:nvSpPr>
            <p:spPr bwMode="auto">
              <a:xfrm>
                <a:off x="3983832" y="2677006"/>
                <a:ext cx="622042" cy="360403"/>
              </a:xfrm>
              <a:custGeom>
                <a:avLst/>
                <a:gdLst>
                  <a:gd name="T0" fmla="*/ 96 w 173"/>
                  <a:gd name="T1" fmla="*/ 98 h 100"/>
                  <a:gd name="T2" fmla="*/ 2 w 173"/>
                  <a:gd name="T3" fmla="*/ 45 h 100"/>
                  <a:gd name="T4" fmla="*/ 3 w 173"/>
                  <a:gd name="T5" fmla="*/ 39 h 100"/>
                  <a:gd name="T6" fmla="*/ 66 w 173"/>
                  <a:gd name="T7" fmla="*/ 2 h 100"/>
                  <a:gd name="T8" fmla="*/ 77 w 173"/>
                  <a:gd name="T9" fmla="*/ 2 h 100"/>
                  <a:gd name="T10" fmla="*/ 170 w 173"/>
                  <a:gd name="T11" fmla="*/ 55 h 100"/>
                  <a:gd name="T12" fmla="*/ 169 w 173"/>
                  <a:gd name="T13" fmla="*/ 61 h 100"/>
                  <a:gd name="T14" fmla="*/ 106 w 173"/>
                  <a:gd name="T15" fmla="*/ 98 h 100"/>
                  <a:gd name="T16" fmla="*/ 96 w 173"/>
                  <a:gd name="T17" fmla="*/ 9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3" h="100">
                    <a:moveTo>
                      <a:pt x="96" y="98"/>
                    </a:moveTo>
                    <a:cubicBezTo>
                      <a:pt x="2" y="45"/>
                      <a:pt x="2" y="45"/>
                      <a:pt x="2" y="45"/>
                    </a:cubicBezTo>
                    <a:cubicBezTo>
                      <a:pt x="0" y="43"/>
                      <a:pt x="0" y="40"/>
                      <a:pt x="3" y="39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70" y="0"/>
                      <a:pt x="74" y="0"/>
                      <a:pt x="77" y="2"/>
                    </a:cubicBezTo>
                    <a:cubicBezTo>
                      <a:pt x="170" y="55"/>
                      <a:pt x="170" y="55"/>
                      <a:pt x="170" y="55"/>
                    </a:cubicBezTo>
                    <a:cubicBezTo>
                      <a:pt x="173" y="57"/>
                      <a:pt x="172" y="60"/>
                      <a:pt x="169" y="61"/>
                    </a:cubicBezTo>
                    <a:cubicBezTo>
                      <a:pt x="106" y="98"/>
                      <a:pt x="106" y="98"/>
                      <a:pt x="106" y="98"/>
                    </a:cubicBezTo>
                    <a:cubicBezTo>
                      <a:pt x="103" y="100"/>
                      <a:pt x="98" y="100"/>
                      <a:pt x="96" y="9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ṥḷîde"/>
              <p:cNvSpPr/>
              <p:nvPr/>
            </p:nvSpPr>
            <p:spPr bwMode="auto">
              <a:xfrm>
                <a:off x="4034080" y="2748047"/>
                <a:ext cx="450503" cy="259906"/>
              </a:xfrm>
              <a:custGeom>
                <a:avLst/>
                <a:gdLst>
                  <a:gd name="T0" fmla="*/ 80 w 125"/>
                  <a:gd name="T1" fmla="*/ 70 h 72"/>
                  <a:gd name="T2" fmla="*/ 2 w 125"/>
                  <a:gd name="T3" fmla="*/ 25 h 72"/>
                  <a:gd name="T4" fmla="*/ 3 w 125"/>
                  <a:gd name="T5" fmla="*/ 21 h 72"/>
                  <a:gd name="T6" fmla="*/ 37 w 125"/>
                  <a:gd name="T7" fmla="*/ 1 h 72"/>
                  <a:gd name="T8" fmla="*/ 46 w 125"/>
                  <a:gd name="T9" fmla="*/ 1 h 72"/>
                  <a:gd name="T10" fmla="*/ 123 w 125"/>
                  <a:gd name="T11" fmla="*/ 46 h 72"/>
                  <a:gd name="T12" fmla="*/ 123 w 125"/>
                  <a:gd name="T13" fmla="*/ 51 h 72"/>
                  <a:gd name="T14" fmla="*/ 88 w 125"/>
                  <a:gd name="T15" fmla="*/ 70 h 72"/>
                  <a:gd name="T16" fmla="*/ 80 w 125"/>
                  <a:gd name="T17" fmla="*/ 7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5" h="72">
                    <a:moveTo>
                      <a:pt x="80" y="70"/>
                    </a:moveTo>
                    <a:cubicBezTo>
                      <a:pt x="2" y="25"/>
                      <a:pt x="2" y="25"/>
                      <a:pt x="2" y="25"/>
                    </a:cubicBezTo>
                    <a:cubicBezTo>
                      <a:pt x="0" y="24"/>
                      <a:pt x="0" y="22"/>
                      <a:pt x="3" y="2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40" y="0"/>
                      <a:pt x="43" y="0"/>
                      <a:pt x="46" y="1"/>
                    </a:cubicBezTo>
                    <a:cubicBezTo>
                      <a:pt x="123" y="46"/>
                      <a:pt x="123" y="46"/>
                      <a:pt x="123" y="46"/>
                    </a:cubicBezTo>
                    <a:cubicBezTo>
                      <a:pt x="125" y="47"/>
                      <a:pt x="125" y="49"/>
                      <a:pt x="123" y="51"/>
                    </a:cubicBezTo>
                    <a:cubicBezTo>
                      <a:pt x="88" y="70"/>
                      <a:pt x="88" y="70"/>
                      <a:pt x="88" y="70"/>
                    </a:cubicBezTo>
                    <a:cubicBezTo>
                      <a:pt x="86" y="71"/>
                      <a:pt x="82" y="72"/>
                      <a:pt x="80" y="7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ïSļïďe"/>
              <p:cNvSpPr/>
              <p:nvPr/>
            </p:nvSpPr>
            <p:spPr bwMode="auto">
              <a:xfrm>
                <a:off x="4228143" y="2651015"/>
                <a:ext cx="83170" cy="155943"/>
              </a:xfrm>
              <a:custGeom>
                <a:avLst/>
                <a:gdLst>
                  <a:gd name="T0" fmla="*/ 2 w 23"/>
                  <a:gd name="T1" fmla="*/ 7 h 43"/>
                  <a:gd name="T2" fmla="*/ 1 w 23"/>
                  <a:gd name="T3" fmla="*/ 14 h 43"/>
                  <a:gd name="T4" fmla="*/ 2 w 23"/>
                  <a:gd name="T5" fmla="*/ 30 h 43"/>
                  <a:gd name="T6" fmla="*/ 3 w 23"/>
                  <a:gd name="T7" fmla="*/ 36 h 43"/>
                  <a:gd name="T8" fmla="*/ 9 w 23"/>
                  <a:gd name="T9" fmla="*/ 42 h 43"/>
                  <a:gd name="T10" fmla="*/ 9 w 23"/>
                  <a:gd name="T11" fmla="*/ 42 h 43"/>
                  <a:gd name="T12" fmla="*/ 14 w 23"/>
                  <a:gd name="T13" fmla="*/ 38 h 43"/>
                  <a:gd name="T14" fmla="*/ 16 w 23"/>
                  <a:gd name="T15" fmla="*/ 24 h 43"/>
                  <a:gd name="T16" fmla="*/ 21 w 23"/>
                  <a:gd name="T17" fmla="*/ 29 h 43"/>
                  <a:gd name="T18" fmla="*/ 15 w 23"/>
                  <a:gd name="T19" fmla="*/ 8 h 43"/>
                  <a:gd name="T20" fmla="*/ 2 w 23"/>
                  <a:gd name="T21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3" h="43">
                    <a:moveTo>
                      <a:pt x="2" y="7"/>
                    </a:moveTo>
                    <a:cubicBezTo>
                      <a:pt x="1" y="14"/>
                      <a:pt x="1" y="14"/>
                      <a:pt x="1" y="14"/>
                    </a:cubicBezTo>
                    <a:cubicBezTo>
                      <a:pt x="0" y="19"/>
                      <a:pt x="0" y="25"/>
                      <a:pt x="2" y="30"/>
                    </a:cubicBezTo>
                    <a:cubicBezTo>
                      <a:pt x="3" y="36"/>
                      <a:pt x="3" y="36"/>
                      <a:pt x="3" y="36"/>
                    </a:cubicBezTo>
                    <a:cubicBezTo>
                      <a:pt x="3" y="39"/>
                      <a:pt x="6" y="41"/>
                      <a:pt x="9" y="42"/>
                    </a:cubicBezTo>
                    <a:cubicBezTo>
                      <a:pt x="9" y="42"/>
                      <a:pt x="9" y="42"/>
                      <a:pt x="9" y="42"/>
                    </a:cubicBezTo>
                    <a:cubicBezTo>
                      <a:pt x="12" y="43"/>
                      <a:pt x="14" y="41"/>
                      <a:pt x="14" y="38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4"/>
                      <a:pt x="19" y="29"/>
                      <a:pt x="21" y="29"/>
                    </a:cubicBezTo>
                    <a:cubicBezTo>
                      <a:pt x="23" y="29"/>
                      <a:pt x="19" y="15"/>
                      <a:pt x="15" y="8"/>
                    </a:cubicBezTo>
                    <a:cubicBezTo>
                      <a:pt x="11" y="0"/>
                      <a:pt x="2" y="7"/>
                      <a:pt x="2" y="7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ṧľîďè"/>
              <p:cNvSpPr/>
              <p:nvPr/>
            </p:nvSpPr>
            <p:spPr bwMode="auto">
              <a:xfrm>
                <a:off x="4214281" y="2236899"/>
                <a:ext cx="136884" cy="443573"/>
              </a:xfrm>
              <a:custGeom>
                <a:avLst/>
                <a:gdLst>
                  <a:gd name="T0" fmla="*/ 38 w 38"/>
                  <a:gd name="T1" fmla="*/ 20 h 123"/>
                  <a:gd name="T2" fmla="*/ 28 w 38"/>
                  <a:gd name="T3" fmla="*/ 40 h 123"/>
                  <a:gd name="T4" fmla="*/ 24 w 38"/>
                  <a:gd name="T5" fmla="*/ 55 h 123"/>
                  <a:gd name="T6" fmla="*/ 19 w 38"/>
                  <a:gd name="T7" fmla="*/ 123 h 123"/>
                  <a:gd name="T8" fmla="*/ 6 w 38"/>
                  <a:gd name="T9" fmla="*/ 122 h 123"/>
                  <a:gd name="T10" fmla="*/ 0 w 38"/>
                  <a:gd name="T11" fmla="*/ 46 h 123"/>
                  <a:gd name="T12" fmla="*/ 0 w 38"/>
                  <a:gd name="T13" fmla="*/ 39 h 123"/>
                  <a:gd name="T14" fmla="*/ 7 w 38"/>
                  <a:gd name="T15" fmla="*/ 0 h 123"/>
                  <a:gd name="T16" fmla="*/ 38 w 38"/>
                  <a:gd name="T17" fmla="*/ 2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123">
                    <a:moveTo>
                      <a:pt x="38" y="20"/>
                    </a:moveTo>
                    <a:cubicBezTo>
                      <a:pt x="28" y="40"/>
                      <a:pt x="28" y="40"/>
                      <a:pt x="28" y="40"/>
                    </a:cubicBezTo>
                    <a:cubicBezTo>
                      <a:pt x="25" y="44"/>
                      <a:pt x="24" y="50"/>
                      <a:pt x="24" y="55"/>
                    </a:cubicBezTo>
                    <a:cubicBezTo>
                      <a:pt x="19" y="123"/>
                      <a:pt x="19" y="123"/>
                      <a:pt x="19" y="123"/>
                    </a:cubicBezTo>
                    <a:cubicBezTo>
                      <a:pt x="6" y="122"/>
                      <a:pt x="6" y="122"/>
                      <a:pt x="6" y="122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44"/>
                      <a:pt x="0" y="41"/>
                      <a:pt x="0" y="39"/>
                    </a:cubicBezTo>
                    <a:cubicBezTo>
                      <a:pt x="7" y="0"/>
                      <a:pt x="7" y="0"/>
                      <a:pt x="7" y="0"/>
                    </a:cubicBez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îṩḻîḍé"/>
              <p:cNvSpPr/>
              <p:nvPr/>
            </p:nvSpPr>
            <p:spPr bwMode="auto">
              <a:xfrm>
                <a:off x="3957841" y="2533191"/>
                <a:ext cx="381195" cy="518079"/>
              </a:xfrm>
              <a:custGeom>
                <a:avLst/>
                <a:gdLst>
                  <a:gd name="T0" fmla="*/ 99 w 106"/>
                  <a:gd name="T1" fmla="*/ 144 h 144"/>
                  <a:gd name="T2" fmla="*/ 92 w 106"/>
                  <a:gd name="T3" fmla="*/ 133 h 144"/>
                  <a:gd name="T4" fmla="*/ 9 w 106"/>
                  <a:gd name="T5" fmla="*/ 86 h 144"/>
                  <a:gd name="T6" fmla="*/ 4 w 106"/>
                  <a:gd name="T7" fmla="*/ 77 h 144"/>
                  <a:gd name="T8" fmla="*/ 5 w 106"/>
                  <a:gd name="T9" fmla="*/ 9 h 144"/>
                  <a:gd name="T10" fmla="*/ 0 w 106"/>
                  <a:gd name="T11" fmla="*/ 3 h 144"/>
                  <a:gd name="T12" fmla="*/ 4 w 106"/>
                  <a:gd name="T13" fmla="*/ 1 h 144"/>
                  <a:gd name="T14" fmla="*/ 4 w 106"/>
                  <a:gd name="T15" fmla="*/ 1 h 144"/>
                  <a:gd name="T16" fmla="*/ 8 w 106"/>
                  <a:gd name="T17" fmla="*/ 1 h 144"/>
                  <a:gd name="T18" fmla="*/ 101 w 106"/>
                  <a:gd name="T19" fmla="*/ 55 h 144"/>
                  <a:gd name="T20" fmla="*/ 106 w 106"/>
                  <a:gd name="T21" fmla="*/ 64 h 144"/>
                  <a:gd name="T22" fmla="*/ 105 w 106"/>
                  <a:gd name="T23" fmla="*/ 137 h 144"/>
                  <a:gd name="T24" fmla="*/ 104 w 106"/>
                  <a:gd name="T25" fmla="*/ 141 h 144"/>
                  <a:gd name="T26" fmla="*/ 104 w 106"/>
                  <a:gd name="T27" fmla="*/ 141 h 144"/>
                  <a:gd name="T28" fmla="*/ 99 w 106"/>
                  <a:gd name="T2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6" h="144">
                    <a:moveTo>
                      <a:pt x="99" y="144"/>
                    </a:moveTo>
                    <a:cubicBezTo>
                      <a:pt x="92" y="133"/>
                      <a:pt x="92" y="133"/>
                      <a:pt x="92" y="133"/>
                    </a:cubicBezTo>
                    <a:cubicBezTo>
                      <a:pt x="9" y="86"/>
                      <a:pt x="9" y="86"/>
                      <a:pt x="9" y="86"/>
                    </a:cubicBezTo>
                    <a:cubicBezTo>
                      <a:pt x="7" y="84"/>
                      <a:pt x="4" y="80"/>
                      <a:pt x="4" y="77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6" y="0"/>
                      <a:pt x="8" y="1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3" y="56"/>
                      <a:pt x="106" y="60"/>
                      <a:pt x="106" y="64"/>
                    </a:cubicBezTo>
                    <a:cubicBezTo>
                      <a:pt x="105" y="137"/>
                      <a:pt x="105" y="137"/>
                      <a:pt x="105" y="137"/>
                    </a:cubicBezTo>
                    <a:cubicBezTo>
                      <a:pt x="105" y="139"/>
                      <a:pt x="105" y="141"/>
                      <a:pt x="104" y="141"/>
                    </a:cubicBezTo>
                    <a:cubicBezTo>
                      <a:pt x="104" y="141"/>
                      <a:pt x="104" y="141"/>
                      <a:pt x="104" y="141"/>
                    </a:cubicBezTo>
                    <a:lnTo>
                      <a:pt x="99" y="144"/>
                    </a:ln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ïṩḷiďê"/>
              <p:cNvSpPr/>
              <p:nvPr/>
            </p:nvSpPr>
            <p:spPr bwMode="auto">
              <a:xfrm>
                <a:off x="3957841" y="2533191"/>
                <a:ext cx="374264" cy="377730"/>
              </a:xfrm>
              <a:custGeom>
                <a:avLst/>
                <a:gdLst>
                  <a:gd name="T0" fmla="*/ 42 w 104"/>
                  <a:gd name="T1" fmla="*/ 105 h 105"/>
                  <a:gd name="T2" fmla="*/ 37 w 104"/>
                  <a:gd name="T3" fmla="*/ 102 h 105"/>
                  <a:gd name="T4" fmla="*/ 5 w 104"/>
                  <a:gd name="T5" fmla="*/ 46 h 105"/>
                  <a:gd name="T6" fmla="*/ 5 w 104"/>
                  <a:gd name="T7" fmla="*/ 9 h 105"/>
                  <a:gd name="T8" fmla="*/ 0 w 104"/>
                  <a:gd name="T9" fmla="*/ 3 h 105"/>
                  <a:gd name="T10" fmla="*/ 4 w 104"/>
                  <a:gd name="T11" fmla="*/ 1 h 105"/>
                  <a:gd name="T12" fmla="*/ 4 w 104"/>
                  <a:gd name="T13" fmla="*/ 1 h 105"/>
                  <a:gd name="T14" fmla="*/ 8 w 104"/>
                  <a:gd name="T15" fmla="*/ 1 h 105"/>
                  <a:gd name="T16" fmla="*/ 101 w 104"/>
                  <a:gd name="T17" fmla="*/ 55 h 105"/>
                  <a:gd name="T18" fmla="*/ 104 w 104"/>
                  <a:gd name="T19" fmla="*/ 59 h 105"/>
                  <a:gd name="T20" fmla="*/ 42 w 104"/>
                  <a:gd name="T21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4" h="105">
                    <a:moveTo>
                      <a:pt x="42" y="105"/>
                    </a:moveTo>
                    <a:cubicBezTo>
                      <a:pt x="37" y="102"/>
                      <a:pt x="37" y="102"/>
                      <a:pt x="37" y="102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6" y="0"/>
                      <a:pt x="8" y="1"/>
                    </a:cubicBezTo>
                    <a:cubicBezTo>
                      <a:pt x="101" y="55"/>
                      <a:pt x="101" y="55"/>
                      <a:pt x="101" y="55"/>
                    </a:cubicBezTo>
                    <a:cubicBezTo>
                      <a:pt x="102" y="56"/>
                      <a:pt x="103" y="57"/>
                      <a:pt x="104" y="59"/>
                    </a:cubicBezTo>
                    <a:lnTo>
                      <a:pt x="42" y="105"/>
                    </a:lnTo>
                    <a:close/>
                  </a:path>
                </a:pathLst>
              </a:custGeom>
              <a:solidFill>
                <a:srgbClr val="396C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ísḻídè"/>
              <p:cNvSpPr/>
              <p:nvPr/>
            </p:nvSpPr>
            <p:spPr bwMode="auto">
              <a:xfrm>
                <a:off x="3957841" y="2533191"/>
                <a:ext cx="32922" cy="20792"/>
              </a:xfrm>
              <a:custGeom>
                <a:avLst/>
                <a:gdLst>
                  <a:gd name="T0" fmla="*/ 2 w 9"/>
                  <a:gd name="T1" fmla="*/ 6 h 6"/>
                  <a:gd name="T2" fmla="*/ 0 w 9"/>
                  <a:gd name="T3" fmla="*/ 3 h 6"/>
                  <a:gd name="T4" fmla="*/ 4 w 9"/>
                  <a:gd name="T5" fmla="*/ 1 h 6"/>
                  <a:gd name="T6" fmla="*/ 4 w 9"/>
                  <a:gd name="T7" fmla="*/ 1 h 6"/>
                  <a:gd name="T8" fmla="*/ 8 w 9"/>
                  <a:gd name="T9" fmla="*/ 1 h 6"/>
                  <a:gd name="T10" fmla="*/ 9 w 9"/>
                  <a:gd name="T11" fmla="*/ 2 h 6"/>
                  <a:gd name="T12" fmla="*/ 2 w 9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6">
                    <a:moveTo>
                      <a:pt x="2" y="6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6" y="0"/>
                      <a:pt x="8" y="1"/>
                    </a:cubicBezTo>
                    <a:cubicBezTo>
                      <a:pt x="9" y="2"/>
                      <a:pt x="9" y="2"/>
                      <a:pt x="9" y="2"/>
                    </a:cubicBezTo>
                    <a:lnTo>
                      <a:pt x="2" y="6"/>
                    </a:lnTo>
                    <a:close/>
                  </a:path>
                </a:pathLst>
              </a:custGeom>
              <a:solidFill>
                <a:srgbClr val="5793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îśḻíde"/>
              <p:cNvSpPr/>
              <p:nvPr/>
            </p:nvSpPr>
            <p:spPr bwMode="auto">
              <a:xfrm>
                <a:off x="4288788" y="2730720"/>
                <a:ext cx="46784" cy="46784"/>
              </a:xfrm>
              <a:custGeom>
                <a:avLst/>
                <a:gdLst>
                  <a:gd name="T0" fmla="*/ 10 w 13"/>
                  <a:gd name="T1" fmla="*/ 0 h 13"/>
                  <a:gd name="T2" fmla="*/ 13 w 13"/>
                  <a:gd name="T3" fmla="*/ 8 h 13"/>
                  <a:gd name="T4" fmla="*/ 4 w 13"/>
                  <a:gd name="T5" fmla="*/ 13 h 13"/>
                  <a:gd name="T6" fmla="*/ 0 w 13"/>
                  <a:gd name="T7" fmla="*/ 6 h 13"/>
                  <a:gd name="T8" fmla="*/ 10 w 13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0" y="0"/>
                    </a:moveTo>
                    <a:cubicBezTo>
                      <a:pt x="12" y="2"/>
                      <a:pt x="13" y="5"/>
                      <a:pt x="13" y="8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0" y="6"/>
                      <a:pt x="0" y="6"/>
                      <a:pt x="0" y="6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274F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íṩľîḍe"/>
              <p:cNvSpPr/>
              <p:nvPr/>
            </p:nvSpPr>
            <p:spPr bwMode="auto">
              <a:xfrm>
                <a:off x="3950910" y="2540122"/>
                <a:ext cx="370799" cy="514614"/>
              </a:xfrm>
              <a:custGeom>
                <a:avLst/>
                <a:gdLst>
                  <a:gd name="T0" fmla="*/ 98 w 103"/>
                  <a:gd name="T1" fmla="*/ 55 h 143"/>
                  <a:gd name="T2" fmla="*/ 5 w 103"/>
                  <a:gd name="T3" fmla="*/ 1 h 143"/>
                  <a:gd name="T4" fmla="*/ 0 w 103"/>
                  <a:gd name="T5" fmla="*/ 5 h 143"/>
                  <a:gd name="T6" fmla="*/ 0 w 103"/>
                  <a:gd name="T7" fmla="*/ 78 h 143"/>
                  <a:gd name="T8" fmla="*/ 5 w 103"/>
                  <a:gd name="T9" fmla="*/ 87 h 143"/>
                  <a:gd name="T10" fmla="*/ 98 w 103"/>
                  <a:gd name="T11" fmla="*/ 141 h 143"/>
                  <a:gd name="T12" fmla="*/ 103 w 103"/>
                  <a:gd name="T13" fmla="*/ 138 h 143"/>
                  <a:gd name="T14" fmla="*/ 103 w 103"/>
                  <a:gd name="T15" fmla="*/ 64 h 143"/>
                  <a:gd name="T16" fmla="*/ 98 w 103"/>
                  <a:gd name="T17" fmla="*/ 55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143">
                    <a:moveTo>
                      <a:pt x="98" y="55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2" y="0"/>
                      <a:pt x="0" y="1"/>
                      <a:pt x="0" y="5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0" y="82"/>
                      <a:pt x="2" y="86"/>
                      <a:pt x="5" y="87"/>
                    </a:cubicBezTo>
                    <a:cubicBezTo>
                      <a:pt x="98" y="141"/>
                      <a:pt x="98" y="141"/>
                      <a:pt x="98" y="141"/>
                    </a:cubicBezTo>
                    <a:cubicBezTo>
                      <a:pt x="101" y="143"/>
                      <a:pt x="103" y="141"/>
                      <a:pt x="103" y="138"/>
                    </a:cubicBezTo>
                    <a:cubicBezTo>
                      <a:pt x="103" y="64"/>
                      <a:pt x="103" y="64"/>
                      <a:pt x="103" y="64"/>
                    </a:cubicBezTo>
                    <a:cubicBezTo>
                      <a:pt x="103" y="61"/>
                      <a:pt x="101" y="57"/>
                      <a:pt x="98" y="5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1ïdè"/>
              <p:cNvSpPr/>
              <p:nvPr/>
            </p:nvSpPr>
            <p:spPr bwMode="auto">
              <a:xfrm>
                <a:off x="4358096" y="2751512"/>
                <a:ext cx="110893" cy="109161"/>
              </a:xfrm>
              <a:custGeom>
                <a:avLst/>
                <a:gdLst>
                  <a:gd name="T0" fmla="*/ 31 w 31"/>
                  <a:gd name="T1" fmla="*/ 11 h 30"/>
                  <a:gd name="T2" fmla="*/ 30 w 31"/>
                  <a:gd name="T3" fmla="*/ 14 h 30"/>
                  <a:gd name="T4" fmla="*/ 22 w 31"/>
                  <a:gd name="T5" fmla="*/ 22 h 30"/>
                  <a:gd name="T6" fmla="*/ 13 w 31"/>
                  <a:gd name="T7" fmla="*/ 28 h 30"/>
                  <a:gd name="T8" fmla="*/ 3 w 31"/>
                  <a:gd name="T9" fmla="*/ 28 h 30"/>
                  <a:gd name="T10" fmla="*/ 3 w 31"/>
                  <a:gd name="T11" fmla="*/ 28 h 30"/>
                  <a:gd name="T12" fmla="*/ 2 w 31"/>
                  <a:gd name="T13" fmla="*/ 19 h 30"/>
                  <a:gd name="T14" fmla="*/ 12 w 31"/>
                  <a:gd name="T15" fmla="*/ 9 h 30"/>
                  <a:gd name="T16" fmla="*/ 5 w 31"/>
                  <a:gd name="T17" fmla="*/ 12 h 30"/>
                  <a:gd name="T18" fmla="*/ 15 w 31"/>
                  <a:gd name="T19" fmla="*/ 5 h 30"/>
                  <a:gd name="T20" fmla="*/ 25 w 31"/>
                  <a:gd name="T21" fmla="*/ 0 h 30"/>
                  <a:gd name="T22" fmla="*/ 31 w 31"/>
                  <a:gd name="T23" fmla="*/ 11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" h="30">
                    <a:moveTo>
                      <a:pt x="31" y="11"/>
                    </a:moveTo>
                    <a:cubicBezTo>
                      <a:pt x="30" y="14"/>
                      <a:pt x="30" y="14"/>
                      <a:pt x="30" y="14"/>
                    </a:cubicBezTo>
                    <a:cubicBezTo>
                      <a:pt x="28" y="17"/>
                      <a:pt x="25" y="20"/>
                      <a:pt x="22" y="22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0" y="30"/>
                      <a:pt x="6" y="30"/>
                      <a:pt x="3" y="28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0" y="26"/>
                      <a:pt x="0" y="22"/>
                      <a:pt x="2" y="19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6" y="14"/>
                      <a:pt x="5" y="12"/>
                    </a:cubicBezTo>
                    <a:cubicBezTo>
                      <a:pt x="4" y="11"/>
                      <a:pt x="10" y="5"/>
                      <a:pt x="15" y="5"/>
                    </a:cubicBezTo>
                    <a:cubicBezTo>
                      <a:pt x="20" y="4"/>
                      <a:pt x="25" y="0"/>
                      <a:pt x="25" y="0"/>
                    </a:cubicBezTo>
                    <a:lnTo>
                      <a:pt x="31" y="11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îṥ1íďé"/>
              <p:cNvSpPr/>
              <p:nvPr/>
            </p:nvSpPr>
            <p:spPr bwMode="auto">
              <a:xfrm>
                <a:off x="4202153" y="1982191"/>
                <a:ext cx="256440" cy="407186"/>
              </a:xfrm>
              <a:custGeom>
                <a:avLst/>
                <a:gdLst>
                  <a:gd name="T0" fmla="*/ 50 w 71"/>
                  <a:gd name="T1" fmla="*/ 0 h 113"/>
                  <a:gd name="T2" fmla="*/ 0 w 71"/>
                  <a:gd name="T3" fmla="*/ 74 h 113"/>
                  <a:gd name="T4" fmla="*/ 42 w 71"/>
                  <a:gd name="T5" fmla="*/ 105 h 113"/>
                  <a:gd name="T6" fmla="*/ 50 w 71"/>
                  <a:gd name="T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1" h="113">
                    <a:moveTo>
                      <a:pt x="50" y="0"/>
                    </a:moveTo>
                    <a:cubicBezTo>
                      <a:pt x="50" y="0"/>
                      <a:pt x="14" y="39"/>
                      <a:pt x="0" y="74"/>
                    </a:cubicBezTo>
                    <a:cubicBezTo>
                      <a:pt x="0" y="74"/>
                      <a:pt x="12" y="96"/>
                      <a:pt x="42" y="105"/>
                    </a:cubicBezTo>
                    <a:cubicBezTo>
                      <a:pt x="71" y="113"/>
                      <a:pt x="50" y="0"/>
                      <a:pt x="50" y="0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îṧ1îḍé"/>
              <p:cNvSpPr/>
              <p:nvPr/>
            </p:nvSpPr>
            <p:spPr bwMode="auto">
              <a:xfrm>
                <a:off x="4300917" y="2151996"/>
                <a:ext cx="50249" cy="197528"/>
              </a:xfrm>
              <a:custGeom>
                <a:avLst/>
                <a:gdLst>
                  <a:gd name="T0" fmla="*/ 8 w 14"/>
                  <a:gd name="T1" fmla="*/ 55 h 55"/>
                  <a:gd name="T2" fmla="*/ 14 w 14"/>
                  <a:gd name="T3" fmla="*/ 0 h 55"/>
                  <a:gd name="T4" fmla="*/ 0 w 14"/>
                  <a:gd name="T5" fmla="*/ 52 h 55"/>
                  <a:gd name="T6" fmla="*/ 8 w 14"/>
                  <a:gd name="T7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" h="55">
                    <a:moveTo>
                      <a:pt x="8" y="55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53"/>
                      <a:pt x="5" y="54"/>
                      <a:pt x="8" y="55"/>
                    </a:cubicBez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išḷïdé"/>
              <p:cNvSpPr/>
              <p:nvPr/>
            </p:nvSpPr>
            <p:spPr bwMode="auto">
              <a:xfrm>
                <a:off x="4444732" y="1945805"/>
                <a:ext cx="67576" cy="36387"/>
              </a:xfrm>
              <a:custGeom>
                <a:avLst/>
                <a:gdLst>
                  <a:gd name="T0" fmla="*/ 9 w 19"/>
                  <a:gd name="T1" fmla="*/ 2 h 10"/>
                  <a:gd name="T2" fmla="*/ 0 w 19"/>
                  <a:gd name="T3" fmla="*/ 0 h 10"/>
                  <a:gd name="T4" fmla="*/ 11 w 19"/>
                  <a:gd name="T5" fmla="*/ 9 h 10"/>
                  <a:gd name="T6" fmla="*/ 19 w 19"/>
                  <a:gd name="T7" fmla="*/ 5 h 10"/>
                  <a:gd name="T8" fmla="*/ 9 w 19"/>
                  <a:gd name="T9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0">
                    <a:moveTo>
                      <a:pt x="9" y="2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4" y="7"/>
                      <a:pt x="11" y="9"/>
                    </a:cubicBezTo>
                    <a:cubicBezTo>
                      <a:pt x="17" y="10"/>
                      <a:pt x="19" y="5"/>
                      <a:pt x="19" y="5"/>
                    </a:cubicBezTo>
                    <a:lnTo>
                      <a:pt x="9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íṩlîḋe"/>
              <p:cNvSpPr/>
              <p:nvPr/>
            </p:nvSpPr>
            <p:spPr bwMode="auto">
              <a:xfrm>
                <a:off x="6955421" y="5116656"/>
                <a:ext cx="734667" cy="424513"/>
              </a:xfrm>
              <a:custGeom>
                <a:avLst/>
                <a:gdLst>
                  <a:gd name="T0" fmla="*/ 167 w 204"/>
                  <a:gd name="T1" fmla="*/ 97 h 118"/>
                  <a:gd name="T2" fmla="*/ 36 w 204"/>
                  <a:gd name="T3" fmla="*/ 97 h 118"/>
                  <a:gd name="T4" fmla="*/ 36 w 204"/>
                  <a:gd name="T5" fmla="*/ 21 h 118"/>
                  <a:gd name="T6" fmla="*/ 167 w 204"/>
                  <a:gd name="T7" fmla="*/ 21 h 118"/>
                  <a:gd name="T8" fmla="*/ 167 w 204"/>
                  <a:gd name="T9" fmla="*/ 97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4" h="118">
                    <a:moveTo>
                      <a:pt x="167" y="97"/>
                    </a:moveTo>
                    <a:cubicBezTo>
                      <a:pt x="131" y="118"/>
                      <a:pt x="72" y="118"/>
                      <a:pt x="36" y="97"/>
                    </a:cubicBezTo>
                    <a:cubicBezTo>
                      <a:pt x="0" y="76"/>
                      <a:pt x="0" y="42"/>
                      <a:pt x="36" y="21"/>
                    </a:cubicBezTo>
                    <a:cubicBezTo>
                      <a:pt x="72" y="0"/>
                      <a:pt x="131" y="0"/>
                      <a:pt x="167" y="21"/>
                    </a:cubicBezTo>
                    <a:cubicBezTo>
                      <a:pt x="204" y="42"/>
                      <a:pt x="204" y="76"/>
                      <a:pt x="167" y="97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is1îḍé"/>
              <p:cNvSpPr/>
              <p:nvPr/>
            </p:nvSpPr>
            <p:spPr bwMode="auto">
              <a:xfrm>
                <a:off x="5016525" y="3411674"/>
                <a:ext cx="3224564" cy="1859193"/>
              </a:xfrm>
              <a:custGeom>
                <a:avLst/>
                <a:gdLst>
                  <a:gd name="T0" fmla="*/ 330 w 895"/>
                  <a:gd name="T1" fmla="*/ 512 h 517"/>
                  <a:gd name="T2" fmla="*/ 10 w 895"/>
                  <a:gd name="T3" fmla="*/ 327 h 517"/>
                  <a:gd name="T4" fmla="*/ 12 w 895"/>
                  <a:gd name="T5" fmla="*/ 306 h 517"/>
                  <a:gd name="T6" fmla="*/ 528 w 895"/>
                  <a:gd name="T7" fmla="*/ 7 h 517"/>
                  <a:gd name="T8" fmla="*/ 565 w 895"/>
                  <a:gd name="T9" fmla="*/ 5 h 517"/>
                  <a:gd name="T10" fmla="*/ 885 w 895"/>
                  <a:gd name="T11" fmla="*/ 190 h 517"/>
                  <a:gd name="T12" fmla="*/ 882 w 895"/>
                  <a:gd name="T13" fmla="*/ 211 h 517"/>
                  <a:gd name="T14" fmla="*/ 367 w 895"/>
                  <a:gd name="T15" fmla="*/ 510 h 517"/>
                  <a:gd name="T16" fmla="*/ 330 w 895"/>
                  <a:gd name="T17" fmla="*/ 512 h 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95" h="517">
                    <a:moveTo>
                      <a:pt x="330" y="512"/>
                    </a:moveTo>
                    <a:cubicBezTo>
                      <a:pt x="10" y="327"/>
                      <a:pt x="10" y="327"/>
                      <a:pt x="10" y="327"/>
                    </a:cubicBezTo>
                    <a:cubicBezTo>
                      <a:pt x="0" y="322"/>
                      <a:pt x="1" y="312"/>
                      <a:pt x="12" y="306"/>
                    </a:cubicBezTo>
                    <a:cubicBezTo>
                      <a:pt x="528" y="7"/>
                      <a:pt x="528" y="7"/>
                      <a:pt x="528" y="7"/>
                    </a:cubicBezTo>
                    <a:cubicBezTo>
                      <a:pt x="539" y="0"/>
                      <a:pt x="556" y="0"/>
                      <a:pt x="565" y="5"/>
                    </a:cubicBezTo>
                    <a:cubicBezTo>
                      <a:pt x="885" y="190"/>
                      <a:pt x="885" y="190"/>
                      <a:pt x="885" y="190"/>
                    </a:cubicBezTo>
                    <a:cubicBezTo>
                      <a:pt x="895" y="195"/>
                      <a:pt x="893" y="205"/>
                      <a:pt x="882" y="211"/>
                    </a:cubicBezTo>
                    <a:cubicBezTo>
                      <a:pt x="367" y="510"/>
                      <a:pt x="367" y="510"/>
                      <a:pt x="367" y="510"/>
                    </a:cubicBezTo>
                    <a:cubicBezTo>
                      <a:pt x="356" y="517"/>
                      <a:pt x="339" y="517"/>
                      <a:pt x="330" y="512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ṩ1îḑé"/>
              <p:cNvSpPr/>
              <p:nvPr/>
            </p:nvSpPr>
            <p:spPr bwMode="auto">
              <a:xfrm>
                <a:off x="7203199" y="3262661"/>
                <a:ext cx="289362" cy="370799"/>
              </a:xfrm>
              <a:custGeom>
                <a:avLst/>
                <a:gdLst>
                  <a:gd name="T0" fmla="*/ 80 w 80"/>
                  <a:gd name="T1" fmla="*/ 0 h 103"/>
                  <a:gd name="T2" fmla="*/ 74 w 80"/>
                  <a:gd name="T3" fmla="*/ 73 h 103"/>
                  <a:gd name="T4" fmla="*/ 0 w 80"/>
                  <a:gd name="T5" fmla="*/ 51 h 103"/>
                  <a:gd name="T6" fmla="*/ 0 w 80"/>
                  <a:gd name="T7" fmla="*/ 18 h 103"/>
                  <a:gd name="T8" fmla="*/ 80 w 80"/>
                  <a:gd name="T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103">
                    <a:moveTo>
                      <a:pt x="80" y="0"/>
                    </a:moveTo>
                    <a:cubicBezTo>
                      <a:pt x="80" y="0"/>
                      <a:pt x="78" y="44"/>
                      <a:pt x="74" y="73"/>
                    </a:cubicBezTo>
                    <a:cubicBezTo>
                      <a:pt x="71" y="103"/>
                      <a:pt x="0" y="51"/>
                      <a:pt x="0" y="51"/>
                    </a:cubicBezTo>
                    <a:cubicBezTo>
                      <a:pt x="0" y="18"/>
                      <a:pt x="0" y="18"/>
                      <a:pt x="0" y="18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íślíḓè"/>
              <p:cNvSpPr/>
              <p:nvPr/>
            </p:nvSpPr>
            <p:spPr bwMode="auto">
              <a:xfrm>
                <a:off x="7139088" y="5116656"/>
                <a:ext cx="240847" cy="223520"/>
              </a:xfrm>
              <a:custGeom>
                <a:avLst/>
                <a:gdLst>
                  <a:gd name="T0" fmla="*/ 60 w 67"/>
                  <a:gd name="T1" fmla="*/ 29 h 62"/>
                  <a:gd name="T2" fmla="*/ 22 w 67"/>
                  <a:gd name="T3" fmla="*/ 59 h 62"/>
                  <a:gd name="T4" fmla="*/ 5 w 67"/>
                  <a:gd name="T5" fmla="*/ 62 h 62"/>
                  <a:gd name="T6" fmla="*/ 1 w 67"/>
                  <a:gd name="T7" fmla="*/ 54 h 62"/>
                  <a:gd name="T8" fmla="*/ 36 w 67"/>
                  <a:gd name="T9" fmla="*/ 16 h 62"/>
                  <a:gd name="T10" fmla="*/ 60 w 67"/>
                  <a:gd name="T11" fmla="*/ 29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" h="62">
                    <a:moveTo>
                      <a:pt x="60" y="29"/>
                    </a:moveTo>
                    <a:cubicBezTo>
                      <a:pt x="59" y="32"/>
                      <a:pt x="41" y="54"/>
                      <a:pt x="22" y="59"/>
                    </a:cubicBezTo>
                    <a:cubicBezTo>
                      <a:pt x="14" y="62"/>
                      <a:pt x="9" y="62"/>
                      <a:pt x="5" y="62"/>
                    </a:cubicBezTo>
                    <a:cubicBezTo>
                      <a:pt x="2" y="61"/>
                      <a:pt x="0" y="58"/>
                      <a:pt x="1" y="54"/>
                    </a:cubicBezTo>
                    <a:cubicBezTo>
                      <a:pt x="4" y="45"/>
                      <a:pt x="13" y="27"/>
                      <a:pt x="36" y="16"/>
                    </a:cubicBezTo>
                    <a:cubicBezTo>
                      <a:pt x="67" y="0"/>
                      <a:pt x="60" y="29"/>
                      <a:pt x="60" y="29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iŝḻïḑé"/>
              <p:cNvSpPr/>
              <p:nvPr/>
            </p:nvSpPr>
            <p:spPr bwMode="auto">
              <a:xfrm>
                <a:off x="7340082" y="5250073"/>
                <a:ext cx="133419" cy="223520"/>
              </a:xfrm>
              <a:custGeom>
                <a:avLst/>
                <a:gdLst>
                  <a:gd name="T0" fmla="*/ 10 w 37"/>
                  <a:gd name="T1" fmla="*/ 0 h 62"/>
                  <a:gd name="T2" fmla="*/ 1 w 37"/>
                  <a:gd name="T3" fmla="*/ 30 h 62"/>
                  <a:gd name="T4" fmla="*/ 8 w 37"/>
                  <a:gd name="T5" fmla="*/ 56 h 62"/>
                  <a:gd name="T6" fmla="*/ 20 w 37"/>
                  <a:gd name="T7" fmla="*/ 58 h 62"/>
                  <a:gd name="T8" fmla="*/ 35 w 37"/>
                  <a:gd name="T9" fmla="*/ 30 h 62"/>
                  <a:gd name="T10" fmla="*/ 35 w 37"/>
                  <a:gd name="T11" fmla="*/ 3 h 62"/>
                  <a:gd name="T12" fmla="*/ 10 w 37"/>
                  <a:gd name="T1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62">
                    <a:moveTo>
                      <a:pt x="10" y="0"/>
                    </a:moveTo>
                    <a:cubicBezTo>
                      <a:pt x="10" y="0"/>
                      <a:pt x="3" y="17"/>
                      <a:pt x="1" y="30"/>
                    </a:cubicBezTo>
                    <a:cubicBezTo>
                      <a:pt x="0" y="38"/>
                      <a:pt x="4" y="49"/>
                      <a:pt x="8" y="56"/>
                    </a:cubicBezTo>
                    <a:cubicBezTo>
                      <a:pt x="10" y="61"/>
                      <a:pt x="16" y="62"/>
                      <a:pt x="20" y="58"/>
                    </a:cubicBezTo>
                    <a:cubicBezTo>
                      <a:pt x="26" y="53"/>
                      <a:pt x="34" y="43"/>
                      <a:pt x="35" y="30"/>
                    </a:cubicBezTo>
                    <a:cubicBezTo>
                      <a:pt x="37" y="7"/>
                      <a:pt x="35" y="3"/>
                      <a:pt x="35" y="3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íṧ1íḑé"/>
              <p:cNvSpPr/>
              <p:nvPr/>
            </p:nvSpPr>
            <p:spPr bwMode="auto">
              <a:xfrm>
                <a:off x="7132157" y="4177529"/>
                <a:ext cx="414117" cy="1119328"/>
              </a:xfrm>
              <a:custGeom>
                <a:avLst/>
                <a:gdLst>
                  <a:gd name="T0" fmla="*/ 112 w 115"/>
                  <a:gd name="T1" fmla="*/ 23 h 311"/>
                  <a:gd name="T2" fmla="*/ 112 w 115"/>
                  <a:gd name="T3" fmla="*/ 83 h 311"/>
                  <a:gd name="T4" fmla="*/ 100 w 115"/>
                  <a:gd name="T5" fmla="*/ 300 h 311"/>
                  <a:gd name="T6" fmla="*/ 79 w 115"/>
                  <a:gd name="T7" fmla="*/ 308 h 311"/>
                  <a:gd name="T8" fmla="*/ 60 w 115"/>
                  <a:gd name="T9" fmla="*/ 294 h 311"/>
                  <a:gd name="T10" fmla="*/ 30 w 115"/>
                  <a:gd name="T11" fmla="*/ 276 h 311"/>
                  <a:gd name="T12" fmla="*/ 0 w 115"/>
                  <a:gd name="T13" fmla="*/ 0 h 311"/>
                  <a:gd name="T14" fmla="*/ 112 w 115"/>
                  <a:gd name="T15" fmla="*/ 23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311">
                    <a:moveTo>
                      <a:pt x="112" y="23"/>
                    </a:moveTo>
                    <a:cubicBezTo>
                      <a:pt x="112" y="23"/>
                      <a:pt x="115" y="51"/>
                      <a:pt x="112" y="83"/>
                    </a:cubicBezTo>
                    <a:cubicBezTo>
                      <a:pt x="110" y="115"/>
                      <a:pt x="101" y="264"/>
                      <a:pt x="100" y="300"/>
                    </a:cubicBezTo>
                    <a:cubicBezTo>
                      <a:pt x="100" y="300"/>
                      <a:pt x="100" y="311"/>
                      <a:pt x="79" y="308"/>
                    </a:cubicBezTo>
                    <a:cubicBezTo>
                      <a:pt x="58" y="306"/>
                      <a:pt x="60" y="294"/>
                      <a:pt x="60" y="294"/>
                    </a:cubicBezTo>
                    <a:cubicBezTo>
                      <a:pt x="60" y="294"/>
                      <a:pt x="31" y="293"/>
                      <a:pt x="30" y="276"/>
                    </a:cubicBezTo>
                    <a:cubicBezTo>
                      <a:pt x="29" y="259"/>
                      <a:pt x="0" y="68"/>
                      <a:pt x="0" y="0"/>
                    </a:cubicBezTo>
                    <a:lnTo>
                      <a:pt x="112" y="23"/>
                    </a:ln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isľïḋê"/>
              <p:cNvSpPr/>
              <p:nvPr/>
            </p:nvSpPr>
            <p:spPr bwMode="auto">
              <a:xfrm>
                <a:off x="7048987" y="3723560"/>
                <a:ext cx="119557" cy="374264"/>
              </a:xfrm>
              <a:custGeom>
                <a:avLst/>
                <a:gdLst>
                  <a:gd name="T0" fmla="*/ 69 w 69"/>
                  <a:gd name="T1" fmla="*/ 0 h 216"/>
                  <a:gd name="T2" fmla="*/ 33 w 69"/>
                  <a:gd name="T3" fmla="*/ 216 h 216"/>
                  <a:gd name="T4" fmla="*/ 0 w 69"/>
                  <a:gd name="T5" fmla="*/ 216 h 216"/>
                  <a:gd name="T6" fmla="*/ 4 w 69"/>
                  <a:gd name="T7" fmla="*/ 17 h 216"/>
                  <a:gd name="T8" fmla="*/ 69 w 69"/>
                  <a:gd name="T9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216">
                    <a:moveTo>
                      <a:pt x="69" y="0"/>
                    </a:moveTo>
                    <a:lnTo>
                      <a:pt x="33" y="216"/>
                    </a:lnTo>
                    <a:lnTo>
                      <a:pt x="0" y="216"/>
                    </a:lnTo>
                    <a:lnTo>
                      <a:pt x="4" y="17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îSľíďe"/>
              <p:cNvSpPr/>
              <p:nvPr/>
            </p:nvSpPr>
            <p:spPr bwMode="auto">
              <a:xfrm>
                <a:off x="7031660" y="3389148"/>
                <a:ext cx="161142" cy="438375"/>
              </a:xfrm>
              <a:custGeom>
                <a:avLst/>
                <a:gdLst>
                  <a:gd name="T0" fmla="*/ 45 w 45"/>
                  <a:gd name="T1" fmla="*/ 1 h 122"/>
                  <a:gd name="T2" fmla="*/ 14 w 45"/>
                  <a:gd name="T3" fmla="*/ 33 h 122"/>
                  <a:gd name="T4" fmla="*/ 7 w 45"/>
                  <a:gd name="T5" fmla="*/ 111 h 122"/>
                  <a:gd name="T6" fmla="*/ 41 w 45"/>
                  <a:gd name="T7" fmla="*/ 110 h 122"/>
                  <a:gd name="T8" fmla="*/ 45 w 45"/>
                  <a:gd name="T9" fmla="*/ 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" h="122">
                    <a:moveTo>
                      <a:pt x="45" y="1"/>
                    </a:moveTo>
                    <a:cubicBezTo>
                      <a:pt x="45" y="1"/>
                      <a:pt x="22" y="0"/>
                      <a:pt x="14" y="33"/>
                    </a:cubicBezTo>
                    <a:cubicBezTo>
                      <a:pt x="6" y="66"/>
                      <a:pt x="0" y="108"/>
                      <a:pt x="7" y="111"/>
                    </a:cubicBezTo>
                    <a:cubicBezTo>
                      <a:pt x="27" y="122"/>
                      <a:pt x="41" y="110"/>
                      <a:pt x="41" y="110"/>
                    </a:cubicBezTo>
                    <a:lnTo>
                      <a:pt x="45" y="1"/>
                    </a:ln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îṣliḍê"/>
              <p:cNvSpPr/>
              <p:nvPr/>
            </p:nvSpPr>
            <p:spPr bwMode="auto">
              <a:xfrm>
                <a:off x="7081909" y="3389148"/>
                <a:ext cx="561397" cy="972048"/>
              </a:xfrm>
              <a:custGeom>
                <a:avLst/>
                <a:gdLst>
                  <a:gd name="T0" fmla="*/ 24 w 156"/>
                  <a:gd name="T1" fmla="*/ 2 h 270"/>
                  <a:gd name="T2" fmla="*/ 36 w 156"/>
                  <a:gd name="T3" fmla="*/ 1 h 270"/>
                  <a:gd name="T4" fmla="*/ 142 w 156"/>
                  <a:gd name="T5" fmla="*/ 39 h 270"/>
                  <a:gd name="T6" fmla="*/ 121 w 156"/>
                  <a:gd name="T7" fmla="*/ 140 h 270"/>
                  <a:gd name="T8" fmla="*/ 126 w 156"/>
                  <a:gd name="T9" fmla="*/ 212 h 270"/>
                  <a:gd name="T10" fmla="*/ 111 w 156"/>
                  <a:gd name="T11" fmla="*/ 260 h 270"/>
                  <a:gd name="T12" fmla="*/ 33 w 156"/>
                  <a:gd name="T13" fmla="*/ 251 h 270"/>
                  <a:gd name="T14" fmla="*/ 13 w 156"/>
                  <a:gd name="T15" fmla="*/ 205 h 270"/>
                  <a:gd name="T16" fmla="*/ 22 w 156"/>
                  <a:gd name="T17" fmla="*/ 114 h 270"/>
                  <a:gd name="T18" fmla="*/ 7 w 156"/>
                  <a:gd name="T19" fmla="*/ 97 h 270"/>
                  <a:gd name="T20" fmla="*/ 17 w 156"/>
                  <a:gd name="T21" fmla="*/ 52 h 270"/>
                  <a:gd name="T22" fmla="*/ 15 w 156"/>
                  <a:gd name="T23" fmla="*/ 12 h 270"/>
                  <a:gd name="T24" fmla="*/ 24 w 156"/>
                  <a:gd name="T25" fmla="*/ 2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6" h="270">
                    <a:moveTo>
                      <a:pt x="24" y="2"/>
                    </a:moveTo>
                    <a:cubicBezTo>
                      <a:pt x="28" y="1"/>
                      <a:pt x="32" y="0"/>
                      <a:pt x="36" y="1"/>
                    </a:cubicBezTo>
                    <a:cubicBezTo>
                      <a:pt x="56" y="7"/>
                      <a:pt x="129" y="29"/>
                      <a:pt x="142" y="39"/>
                    </a:cubicBezTo>
                    <a:cubicBezTo>
                      <a:pt x="156" y="51"/>
                      <a:pt x="121" y="118"/>
                      <a:pt x="121" y="140"/>
                    </a:cubicBezTo>
                    <a:cubicBezTo>
                      <a:pt x="122" y="162"/>
                      <a:pt x="124" y="188"/>
                      <a:pt x="126" y="212"/>
                    </a:cubicBezTo>
                    <a:cubicBezTo>
                      <a:pt x="128" y="236"/>
                      <a:pt x="131" y="249"/>
                      <a:pt x="111" y="260"/>
                    </a:cubicBezTo>
                    <a:cubicBezTo>
                      <a:pt x="91" y="270"/>
                      <a:pt x="58" y="270"/>
                      <a:pt x="33" y="251"/>
                    </a:cubicBezTo>
                    <a:cubicBezTo>
                      <a:pt x="8" y="232"/>
                      <a:pt x="12" y="219"/>
                      <a:pt x="13" y="205"/>
                    </a:cubicBezTo>
                    <a:cubicBezTo>
                      <a:pt x="14" y="191"/>
                      <a:pt x="23" y="131"/>
                      <a:pt x="22" y="114"/>
                    </a:cubicBezTo>
                    <a:cubicBezTo>
                      <a:pt x="22" y="114"/>
                      <a:pt x="13" y="108"/>
                      <a:pt x="7" y="97"/>
                    </a:cubicBezTo>
                    <a:cubicBezTo>
                      <a:pt x="0" y="86"/>
                      <a:pt x="12" y="65"/>
                      <a:pt x="17" y="52"/>
                    </a:cubicBezTo>
                    <a:cubicBezTo>
                      <a:pt x="21" y="38"/>
                      <a:pt x="14" y="23"/>
                      <a:pt x="15" y="12"/>
                    </a:cubicBezTo>
                    <a:cubicBezTo>
                      <a:pt x="16" y="7"/>
                      <a:pt x="20" y="4"/>
                      <a:pt x="24" y="2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ísļiḍè"/>
              <p:cNvSpPr/>
              <p:nvPr/>
            </p:nvSpPr>
            <p:spPr bwMode="auto">
              <a:xfrm>
                <a:off x="7246516" y="3406475"/>
                <a:ext cx="209658" cy="169805"/>
              </a:xfrm>
              <a:custGeom>
                <a:avLst/>
                <a:gdLst>
                  <a:gd name="T0" fmla="*/ 1 w 58"/>
                  <a:gd name="T1" fmla="*/ 20 h 47"/>
                  <a:gd name="T2" fmla="*/ 26 w 58"/>
                  <a:gd name="T3" fmla="*/ 46 h 47"/>
                  <a:gd name="T4" fmla="*/ 57 w 58"/>
                  <a:gd name="T5" fmla="*/ 27 h 47"/>
                  <a:gd name="T6" fmla="*/ 32 w 58"/>
                  <a:gd name="T7" fmla="*/ 2 h 47"/>
                  <a:gd name="T8" fmla="*/ 1 w 58"/>
                  <a:gd name="T9" fmla="*/ 2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47">
                    <a:moveTo>
                      <a:pt x="1" y="20"/>
                    </a:moveTo>
                    <a:cubicBezTo>
                      <a:pt x="0" y="32"/>
                      <a:pt x="11" y="44"/>
                      <a:pt x="26" y="46"/>
                    </a:cubicBezTo>
                    <a:cubicBezTo>
                      <a:pt x="42" y="47"/>
                      <a:pt x="55" y="39"/>
                      <a:pt x="57" y="27"/>
                    </a:cubicBezTo>
                    <a:cubicBezTo>
                      <a:pt x="58" y="15"/>
                      <a:pt x="47" y="4"/>
                      <a:pt x="32" y="2"/>
                    </a:cubicBezTo>
                    <a:cubicBezTo>
                      <a:pt x="17" y="0"/>
                      <a:pt x="3" y="8"/>
                      <a:pt x="1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śļídé"/>
              <p:cNvSpPr/>
              <p:nvPr/>
            </p:nvSpPr>
            <p:spPr bwMode="auto">
              <a:xfrm>
                <a:off x="7275972" y="3432466"/>
                <a:ext cx="150746" cy="123023"/>
              </a:xfrm>
              <a:custGeom>
                <a:avLst/>
                <a:gdLst>
                  <a:gd name="T0" fmla="*/ 1 w 42"/>
                  <a:gd name="T1" fmla="*/ 14 h 34"/>
                  <a:gd name="T2" fmla="*/ 19 w 42"/>
                  <a:gd name="T3" fmla="*/ 32 h 34"/>
                  <a:gd name="T4" fmla="*/ 41 w 42"/>
                  <a:gd name="T5" fmla="*/ 19 h 34"/>
                  <a:gd name="T6" fmla="*/ 23 w 42"/>
                  <a:gd name="T7" fmla="*/ 1 h 34"/>
                  <a:gd name="T8" fmla="*/ 1 w 42"/>
                  <a:gd name="T9" fmla="*/ 1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34">
                    <a:moveTo>
                      <a:pt x="1" y="14"/>
                    </a:moveTo>
                    <a:cubicBezTo>
                      <a:pt x="0" y="23"/>
                      <a:pt x="8" y="31"/>
                      <a:pt x="19" y="32"/>
                    </a:cubicBezTo>
                    <a:cubicBezTo>
                      <a:pt x="30" y="34"/>
                      <a:pt x="40" y="28"/>
                      <a:pt x="41" y="19"/>
                    </a:cubicBezTo>
                    <a:cubicBezTo>
                      <a:pt x="42" y="10"/>
                      <a:pt x="34" y="2"/>
                      <a:pt x="23" y="1"/>
                    </a:cubicBezTo>
                    <a:cubicBezTo>
                      <a:pt x="12" y="0"/>
                      <a:pt x="2" y="5"/>
                      <a:pt x="1" y="14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îṡḻîḍé"/>
              <p:cNvSpPr/>
              <p:nvPr/>
            </p:nvSpPr>
            <p:spPr bwMode="auto">
              <a:xfrm>
                <a:off x="7293300" y="3342365"/>
                <a:ext cx="102230" cy="150746"/>
              </a:xfrm>
              <a:custGeom>
                <a:avLst/>
                <a:gdLst>
                  <a:gd name="T0" fmla="*/ 7 w 28"/>
                  <a:gd name="T1" fmla="*/ 11 h 42"/>
                  <a:gd name="T2" fmla="*/ 23 w 28"/>
                  <a:gd name="T3" fmla="*/ 5 h 42"/>
                  <a:gd name="T4" fmla="*/ 28 w 28"/>
                  <a:gd name="T5" fmla="*/ 35 h 42"/>
                  <a:gd name="T6" fmla="*/ 1 w 28"/>
                  <a:gd name="T7" fmla="*/ 42 h 42"/>
                  <a:gd name="T8" fmla="*/ 5 w 28"/>
                  <a:gd name="T9" fmla="*/ 18 h 42"/>
                  <a:gd name="T10" fmla="*/ 7 w 28"/>
                  <a:gd name="T11" fmla="*/ 1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42">
                    <a:moveTo>
                      <a:pt x="7" y="11"/>
                    </a:moveTo>
                    <a:cubicBezTo>
                      <a:pt x="7" y="11"/>
                      <a:pt x="20" y="0"/>
                      <a:pt x="23" y="5"/>
                    </a:cubicBezTo>
                    <a:cubicBezTo>
                      <a:pt x="26" y="11"/>
                      <a:pt x="28" y="35"/>
                      <a:pt x="28" y="35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0" y="13"/>
                      <a:pt x="7" y="11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íṩ1íḓé"/>
              <p:cNvSpPr/>
              <p:nvPr/>
            </p:nvSpPr>
            <p:spPr bwMode="auto">
              <a:xfrm>
                <a:off x="7168545" y="3134441"/>
                <a:ext cx="291095" cy="291095"/>
              </a:xfrm>
              <a:custGeom>
                <a:avLst/>
                <a:gdLst>
                  <a:gd name="T0" fmla="*/ 1 w 81"/>
                  <a:gd name="T1" fmla="*/ 43 h 81"/>
                  <a:gd name="T2" fmla="*/ 43 w 81"/>
                  <a:gd name="T3" fmla="*/ 80 h 81"/>
                  <a:gd name="T4" fmla="*/ 80 w 81"/>
                  <a:gd name="T5" fmla="*/ 38 h 81"/>
                  <a:gd name="T6" fmla="*/ 38 w 81"/>
                  <a:gd name="T7" fmla="*/ 1 h 81"/>
                  <a:gd name="T8" fmla="*/ 1 w 81"/>
                  <a:gd name="T9" fmla="*/ 4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81">
                    <a:moveTo>
                      <a:pt x="1" y="43"/>
                    </a:moveTo>
                    <a:cubicBezTo>
                      <a:pt x="2" y="64"/>
                      <a:pt x="21" y="81"/>
                      <a:pt x="43" y="80"/>
                    </a:cubicBezTo>
                    <a:cubicBezTo>
                      <a:pt x="64" y="78"/>
                      <a:pt x="81" y="60"/>
                      <a:pt x="80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6" y="2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ïṧḻïḋê"/>
              <p:cNvSpPr/>
              <p:nvPr/>
            </p:nvSpPr>
            <p:spPr bwMode="auto">
              <a:xfrm>
                <a:off x="7301963" y="3375286"/>
                <a:ext cx="86635" cy="97032"/>
              </a:xfrm>
              <a:custGeom>
                <a:avLst/>
                <a:gdLst>
                  <a:gd name="T0" fmla="*/ 23 w 24"/>
                  <a:gd name="T1" fmla="*/ 3 h 27"/>
                  <a:gd name="T2" fmla="*/ 24 w 24"/>
                  <a:gd name="T3" fmla="*/ 7 h 27"/>
                  <a:gd name="T4" fmla="*/ 0 w 24"/>
                  <a:gd name="T5" fmla="*/ 27 h 27"/>
                  <a:gd name="T6" fmla="*/ 3 w 24"/>
                  <a:gd name="T7" fmla="*/ 9 h 27"/>
                  <a:gd name="T8" fmla="*/ 2 w 24"/>
                  <a:gd name="T9" fmla="*/ 4 h 27"/>
                  <a:gd name="T10" fmla="*/ 23 w 24"/>
                  <a:gd name="T11" fmla="*/ 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7">
                    <a:moveTo>
                      <a:pt x="23" y="3"/>
                    </a:moveTo>
                    <a:cubicBezTo>
                      <a:pt x="23" y="4"/>
                      <a:pt x="23" y="6"/>
                      <a:pt x="24" y="7"/>
                    </a:cubicBezTo>
                    <a:cubicBezTo>
                      <a:pt x="21" y="21"/>
                      <a:pt x="0" y="27"/>
                      <a:pt x="0" y="27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9"/>
                      <a:pt x="1" y="6"/>
                      <a:pt x="2" y="4"/>
                    </a:cubicBezTo>
                    <a:cubicBezTo>
                      <a:pt x="10" y="2"/>
                      <a:pt x="20" y="0"/>
                      <a:pt x="23" y="3"/>
                    </a:cubicBez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íṡľíďè"/>
              <p:cNvSpPr/>
              <p:nvPr/>
            </p:nvSpPr>
            <p:spPr bwMode="auto">
              <a:xfrm>
                <a:off x="7168545" y="3134441"/>
                <a:ext cx="291095" cy="291095"/>
              </a:xfrm>
              <a:custGeom>
                <a:avLst/>
                <a:gdLst>
                  <a:gd name="T0" fmla="*/ 1 w 81"/>
                  <a:gd name="T1" fmla="*/ 43 h 81"/>
                  <a:gd name="T2" fmla="*/ 43 w 81"/>
                  <a:gd name="T3" fmla="*/ 80 h 81"/>
                  <a:gd name="T4" fmla="*/ 80 w 81"/>
                  <a:gd name="T5" fmla="*/ 38 h 81"/>
                  <a:gd name="T6" fmla="*/ 38 w 81"/>
                  <a:gd name="T7" fmla="*/ 1 h 81"/>
                  <a:gd name="T8" fmla="*/ 1 w 81"/>
                  <a:gd name="T9" fmla="*/ 43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81">
                    <a:moveTo>
                      <a:pt x="1" y="43"/>
                    </a:moveTo>
                    <a:cubicBezTo>
                      <a:pt x="2" y="64"/>
                      <a:pt x="21" y="81"/>
                      <a:pt x="43" y="80"/>
                    </a:cubicBezTo>
                    <a:cubicBezTo>
                      <a:pt x="64" y="78"/>
                      <a:pt x="81" y="60"/>
                      <a:pt x="80" y="38"/>
                    </a:cubicBezTo>
                    <a:cubicBezTo>
                      <a:pt x="78" y="16"/>
                      <a:pt x="60" y="0"/>
                      <a:pt x="38" y="1"/>
                    </a:cubicBezTo>
                    <a:cubicBezTo>
                      <a:pt x="16" y="2"/>
                      <a:pt x="0" y="21"/>
                      <a:pt x="1" y="43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ïSļïďê"/>
              <p:cNvSpPr/>
              <p:nvPr/>
            </p:nvSpPr>
            <p:spPr bwMode="auto">
              <a:xfrm>
                <a:off x="7553205" y="3879504"/>
                <a:ext cx="109161" cy="384661"/>
              </a:xfrm>
              <a:custGeom>
                <a:avLst/>
                <a:gdLst>
                  <a:gd name="T0" fmla="*/ 63 w 63"/>
                  <a:gd name="T1" fmla="*/ 0 h 222"/>
                  <a:gd name="T2" fmla="*/ 54 w 63"/>
                  <a:gd name="T3" fmla="*/ 218 h 222"/>
                  <a:gd name="T4" fmla="*/ 21 w 63"/>
                  <a:gd name="T5" fmla="*/ 222 h 222"/>
                  <a:gd name="T6" fmla="*/ 0 w 63"/>
                  <a:gd name="T7" fmla="*/ 24 h 222"/>
                  <a:gd name="T8" fmla="*/ 63 w 63"/>
                  <a:gd name="T9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22">
                    <a:moveTo>
                      <a:pt x="63" y="0"/>
                    </a:moveTo>
                    <a:lnTo>
                      <a:pt x="54" y="218"/>
                    </a:lnTo>
                    <a:lnTo>
                      <a:pt x="21" y="222"/>
                    </a:lnTo>
                    <a:lnTo>
                      <a:pt x="0" y="24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ís1ïḓè"/>
              <p:cNvSpPr/>
              <p:nvPr/>
            </p:nvSpPr>
            <p:spPr bwMode="auto">
              <a:xfrm>
                <a:off x="7463105" y="3586676"/>
                <a:ext cx="86635" cy="457434"/>
              </a:xfrm>
              <a:custGeom>
                <a:avLst/>
                <a:gdLst>
                  <a:gd name="T0" fmla="*/ 5 w 24"/>
                  <a:gd name="T1" fmla="*/ 72 h 127"/>
                  <a:gd name="T2" fmla="*/ 20 w 24"/>
                  <a:gd name="T3" fmla="*/ 0 h 127"/>
                  <a:gd name="T4" fmla="*/ 24 w 24"/>
                  <a:gd name="T5" fmla="*/ 49 h 127"/>
                  <a:gd name="T6" fmla="*/ 15 w 24"/>
                  <a:gd name="T7" fmla="*/ 85 h 127"/>
                  <a:gd name="T8" fmla="*/ 17 w 24"/>
                  <a:gd name="T9" fmla="*/ 127 h 127"/>
                  <a:gd name="T10" fmla="*/ 17 w 24"/>
                  <a:gd name="T11" fmla="*/ 127 h 127"/>
                  <a:gd name="T12" fmla="*/ 5 w 24"/>
                  <a:gd name="T13" fmla="*/ 72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127">
                    <a:moveTo>
                      <a:pt x="5" y="72"/>
                    </a:moveTo>
                    <a:cubicBezTo>
                      <a:pt x="10" y="50"/>
                      <a:pt x="20" y="0"/>
                      <a:pt x="20" y="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19" y="64"/>
                      <a:pt x="15" y="78"/>
                      <a:pt x="15" y="85"/>
                    </a:cubicBezTo>
                    <a:cubicBezTo>
                      <a:pt x="15" y="98"/>
                      <a:pt x="16" y="113"/>
                      <a:pt x="17" y="127"/>
                    </a:cubicBezTo>
                    <a:cubicBezTo>
                      <a:pt x="17" y="127"/>
                      <a:pt x="17" y="127"/>
                      <a:pt x="17" y="127"/>
                    </a:cubicBezTo>
                    <a:cubicBezTo>
                      <a:pt x="17" y="127"/>
                      <a:pt x="0" y="95"/>
                      <a:pt x="5" y="72"/>
                    </a:cubicBezTo>
                    <a:close/>
                  </a:path>
                </a:pathLst>
              </a:custGeom>
              <a:solidFill>
                <a:srgbClr val="8A2A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iS1îďê"/>
              <p:cNvSpPr/>
              <p:nvPr/>
            </p:nvSpPr>
            <p:spPr bwMode="auto">
              <a:xfrm>
                <a:off x="7528947" y="3522567"/>
                <a:ext cx="164608" cy="474761"/>
              </a:xfrm>
              <a:custGeom>
                <a:avLst/>
                <a:gdLst>
                  <a:gd name="T0" fmla="*/ 15 w 46"/>
                  <a:gd name="T1" fmla="*/ 0 h 132"/>
                  <a:gd name="T2" fmla="*/ 34 w 46"/>
                  <a:gd name="T3" fmla="*/ 42 h 132"/>
                  <a:gd name="T4" fmla="*/ 34 w 46"/>
                  <a:gd name="T5" fmla="*/ 123 h 132"/>
                  <a:gd name="T6" fmla="*/ 7 w 46"/>
                  <a:gd name="T7" fmla="*/ 121 h 132"/>
                  <a:gd name="T8" fmla="*/ 1 w 46"/>
                  <a:gd name="T9" fmla="*/ 45 h 132"/>
                  <a:gd name="T10" fmla="*/ 15 w 46"/>
                  <a:gd name="T11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" h="132">
                    <a:moveTo>
                      <a:pt x="15" y="0"/>
                    </a:moveTo>
                    <a:cubicBezTo>
                      <a:pt x="15" y="0"/>
                      <a:pt x="27" y="5"/>
                      <a:pt x="34" y="42"/>
                    </a:cubicBezTo>
                    <a:cubicBezTo>
                      <a:pt x="41" y="80"/>
                      <a:pt x="46" y="118"/>
                      <a:pt x="34" y="123"/>
                    </a:cubicBezTo>
                    <a:cubicBezTo>
                      <a:pt x="21" y="128"/>
                      <a:pt x="11" y="132"/>
                      <a:pt x="7" y="121"/>
                    </a:cubicBezTo>
                    <a:cubicBezTo>
                      <a:pt x="4" y="111"/>
                      <a:pt x="1" y="63"/>
                      <a:pt x="1" y="45"/>
                    </a:cubicBezTo>
                    <a:cubicBezTo>
                      <a:pt x="0" y="27"/>
                      <a:pt x="0" y="3"/>
                      <a:pt x="15" y="0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ïšľïdé"/>
              <p:cNvSpPr/>
              <p:nvPr/>
            </p:nvSpPr>
            <p:spPr bwMode="auto">
              <a:xfrm>
                <a:off x="7298497" y="4397582"/>
                <a:ext cx="50249" cy="838629"/>
              </a:xfrm>
              <a:custGeom>
                <a:avLst/>
                <a:gdLst>
                  <a:gd name="T0" fmla="*/ 14 w 14"/>
                  <a:gd name="T1" fmla="*/ 233 h 233"/>
                  <a:gd name="T2" fmla="*/ 6 w 14"/>
                  <a:gd name="T3" fmla="*/ 232 h 233"/>
                  <a:gd name="T4" fmla="*/ 6 w 14"/>
                  <a:gd name="T5" fmla="*/ 232 h 233"/>
                  <a:gd name="T6" fmla="*/ 0 w 14"/>
                  <a:gd name="T7" fmla="*/ 0 h 233"/>
                  <a:gd name="T8" fmla="*/ 14 w 14"/>
                  <a:gd name="T9" fmla="*/ 233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33">
                    <a:moveTo>
                      <a:pt x="14" y="233"/>
                    </a:moveTo>
                    <a:cubicBezTo>
                      <a:pt x="14" y="233"/>
                      <a:pt x="11" y="233"/>
                      <a:pt x="6" y="232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4" y="233"/>
                    </a:lnTo>
                    <a:close/>
                  </a:path>
                </a:pathLst>
              </a:custGeom>
              <a:solidFill>
                <a:srgbClr val="D88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îs1îdé"/>
              <p:cNvSpPr/>
              <p:nvPr/>
            </p:nvSpPr>
            <p:spPr bwMode="auto">
              <a:xfrm>
                <a:off x="7405925" y="4241639"/>
                <a:ext cx="400256" cy="544070"/>
              </a:xfrm>
              <a:custGeom>
                <a:avLst/>
                <a:gdLst>
                  <a:gd name="T0" fmla="*/ 6 w 111"/>
                  <a:gd name="T1" fmla="*/ 151 h 151"/>
                  <a:gd name="T2" fmla="*/ 15 w 111"/>
                  <a:gd name="T3" fmla="*/ 140 h 151"/>
                  <a:gd name="T4" fmla="*/ 101 w 111"/>
                  <a:gd name="T5" fmla="*/ 90 h 151"/>
                  <a:gd name="T6" fmla="*/ 106 w 111"/>
                  <a:gd name="T7" fmla="*/ 81 h 151"/>
                  <a:gd name="T8" fmla="*/ 106 w 111"/>
                  <a:gd name="T9" fmla="*/ 10 h 151"/>
                  <a:gd name="T10" fmla="*/ 111 w 111"/>
                  <a:gd name="T11" fmla="*/ 4 h 151"/>
                  <a:gd name="T12" fmla="*/ 106 w 111"/>
                  <a:gd name="T13" fmla="*/ 1 h 151"/>
                  <a:gd name="T14" fmla="*/ 106 w 111"/>
                  <a:gd name="T15" fmla="*/ 1 h 151"/>
                  <a:gd name="T16" fmla="*/ 103 w 111"/>
                  <a:gd name="T17" fmla="*/ 1 h 151"/>
                  <a:gd name="T18" fmla="*/ 5 w 111"/>
                  <a:gd name="T19" fmla="*/ 58 h 151"/>
                  <a:gd name="T20" fmla="*/ 0 w 111"/>
                  <a:gd name="T21" fmla="*/ 67 h 151"/>
                  <a:gd name="T22" fmla="*/ 0 w 111"/>
                  <a:gd name="T23" fmla="*/ 144 h 151"/>
                  <a:gd name="T24" fmla="*/ 2 w 111"/>
                  <a:gd name="T25" fmla="*/ 148 h 151"/>
                  <a:gd name="T26" fmla="*/ 2 w 111"/>
                  <a:gd name="T27" fmla="*/ 148 h 151"/>
                  <a:gd name="T28" fmla="*/ 6 w 111"/>
                  <a:gd name="T29" fmla="*/ 151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1" h="151">
                    <a:moveTo>
                      <a:pt x="6" y="151"/>
                    </a:moveTo>
                    <a:cubicBezTo>
                      <a:pt x="15" y="140"/>
                      <a:pt x="15" y="140"/>
                      <a:pt x="15" y="140"/>
                    </a:cubicBezTo>
                    <a:cubicBezTo>
                      <a:pt x="101" y="90"/>
                      <a:pt x="101" y="90"/>
                      <a:pt x="101" y="90"/>
                    </a:cubicBezTo>
                    <a:cubicBezTo>
                      <a:pt x="104" y="89"/>
                      <a:pt x="106" y="84"/>
                      <a:pt x="106" y="81"/>
                    </a:cubicBezTo>
                    <a:cubicBezTo>
                      <a:pt x="106" y="10"/>
                      <a:pt x="106" y="10"/>
                      <a:pt x="106" y="10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6" y="1"/>
                      <a:pt x="106" y="1"/>
                      <a:pt x="106" y="1"/>
                    </a:cubicBezTo>
                    <a:cubicBezTo>
                      <a:pt x="105" y="0"/>
                      <a:pt x="104" y="0"/>
                      <a:pt x="103" y="1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2" y="59"/>
                      <a:pt x="0" y="64"/>
                      <a:pt x="0" y="67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46"/>
                      <a:pt x="1" y="148"/>
                      <a:pt x="2" y="148"/>
                    </a:cubicBezTo>
                    <a:cubicBezTo>
                      <a:pt x="2" y="148"/>
                      <a:pt x="2" y="148"/>
                      <a:pt x="2" y="148"/>
                    </a:cubicBezTo>
                    <a:lnTo>
                      <a:pt x="6" y="151"/>
                    </a:ln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iśľîḑè"/>
              <p:cNvSpPr/>
              <p:nvPr/>
            </p:nvSpPr>
            <p:spPr bwMode="auto">
              <a:xfrm>
                <a:off x="7409390" y="4241639"/>
                <a:ext cx="396790" cy="396790"/>
              </a:xfrm>
              <a:custGeom>
                <a:avLst/>
                <a:gdLst>
                  <a:gd name="T0" fmla="*/ 65 w 110"/>
                  <a:gd name="T1" fmla="*/ 110 h 110"/>
                  <a:gd name="T2" fmla="*/ 71 w 110"/>
                  <a:gd name="T3" fmla="*/ 107 h 110"/>
                  <a:gd name="T4" fmla="*/ 105 w 110"/>
                  <a:gd name="T5" fmla="*/ 48 h 110"/>
                  <a:gd name="T6" fmla="*/ 105 w 110"/>
                  <a:gd name="T7" fmla="*/ 10 h 110"/>
                  <a:gd name="T8" fmla="*/ 110 w 110"/>
                  <a:gd name="T9" fmla="*/ 4 h 110"/>
                  <a:gd name="T10" fmla="*/ 105 w 110"/>
                  <a:gd name="T11" fmla="*/ 1 h 110"/>
                  <a:gd name="T12" fmla="*/ 105 w 110"/>
                  <a:gd name="T13" fmla="*/ 1 h 110"/>
                  <a:gd name="T14" fmla="*/ 102 w 110"/>
                  <a:gd name="T15" fmla="*/ 1 h 110"/>
                  <a:gd name="T16" fmla="*/ 4 w 110"/>
                  <a:gd name="T17" fmla="*/ 58 h 110"/>
                  <a:gd name="T18" fmla="*/ 0 w 110"/>
                  <a:gd name="T19" fmla="*/ 62 h 110"/>
                  <a:gd name="T20" fmla="*/ 65 w 110"/>
                  <a:gd name="T21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" h="110">
                    <a:moveTo>
                      <a:pt x="65" y="110"/>
                    </a:moveTo>
                    <a:cubicBezTo>
                      <a:pt x="71" y="107"/>
                      <a:pt x="71" y="107"/>
                      <a:pt x="71" y="107"/>
                    </a:cubicBezTo>
                    <a:cubicBezTo>
                      <a:pt x="105" y="48"/>
                      <a:pt x="105" y="48"/>
                      <a:pt x="105" y="48"/>
                    </a:cubicBezTo>
                    <a:cubicBezTo>
                      <a:pt x="105" y="10"/>
                      <a:pt x="105" y="10"/>
                      <a:pt x="105" y="10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5" y="1"/>
                      <a:pt x="105" y="1"/>
                      <a:pt x="105" y="1"/>
                    </a:cubicBezTo>
                    <a:cubicBezTo>
                      <a:pt x="104" y="0"/>
                      <a:pt x="103" y="0"/>
                      <a:pt x="102" y="1"/>
                    </a:cubicBezTo>
                    <a:cubicBezTo>
                      <a:pt x="4" y="58"/>
                      <a:pt x="4" y="58"/>
                      <a:pt x="4" y="58"/>
                    </a:cubicBezTo>
                    <a:cubicBezTo>
                      <a:pt x="3" y="58"/>
                      <a:pt x="1" y="60"/>
                      <a:pt x="0" y="62"/>
                    </a:cubicBezTo>
                    <a:lnTo>
                      <a:pt x="65" y="110"/>
                    </a:lnTo>
                    <a:close/>
                  </a:path>
                </a:pathLst>
              </a:custGeom>
              <a:solidFill>
                <a:srgbClr val="D29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ïṡļidé"/>
              <p:cNvSpPr/>
              <p:nvPr/>
            </p:nvSpPr>
            <p:spPr bwMode="auto">
              <a:xfrm>
                <a:off x="7769793" y="4241639"/>
                <a:ext cx="36387" cy="22526"/>
              </a:xfrm>
              <a:custGeom>
                <a:avLst/>
                <a:gdLst>
                  <a:gd name="T0" fmla="*/ 8 w 10"/>
                  <a:gd name="T1" fmla="*/ 6 h 6"/>
                  <a:gd name="T2" fmla="*/ 10 w 10"/>
                  <a:gd name="T3" fmla="*/ 4 h 6"/>
                  <a:gd name="T4" fmla="*/ 5 w 10"/>
                  <a:gd name="T5" fmla="*/ 1 h 6"/>
                  <a:gd name="T6" fmla="*/ 5 w 10"/>
                  <a:gd name="T7" fmla="*/ 1 h 6"/>
                  <a:gd name="T8" fmla="*/ 2 w 10"/>
                  <a:gd name="T9" fmla="*/ 1 h 6"/>
                  <a:gd name="T10" fmla="*/ 0 w 10"/>
                  <a:gd name="T11" fmla="*/ 2 h 6"/>
                  <a:gd name="T12" fmla="*/ 8 w 10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6">
                    <a:moveTo>
                      <a:pt x="8" y="6"/>
                    </a:moveTo>
                    <a:cubicBezTo>
                      <a:pt x="10" y="4"/>
                      <a:pt x="10" y="4"/>
                      <a:pt x="10" y="4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D29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îš1íďe"/>
              <p:cNvSpPr/>
              <p:nvPr/>
            </p:nvSpPr>
            <p:spPr bwMode="auto">
              <a:xfrm>
                <a:off x="7405925" y="4451297"/>
                <a:ext cx="50249" cy="50249"/>
              </a:xfrm>
              <a:custGeom>
                <a:avLst/>
                <a:gdLst>
                  <a:gd name="T0" fmla="*/ 4 w 14"/>
                  <a:gd name="T1" fmla="*/ 0 h 14"/>
                  <a:gd name="T2" fmla="*/ 0 w 14"/>
                  <a:gd name="T3" fmla="*/ 8 h 14"/>
                  <a:gd name="T4" fmla="*/ 10 w 14"/>
                  <a:gd name="T5" fmla="*/ 14 h 14"/>
                  <a:gd name="T6" fmla="*/ 14 w 14"/>
                  <a:gd name="T7" fmla="*/ 6 h 14"/>
                  <a:gd name="T8" fmla="*/ 4 w 1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4" y="0"/>
                    </a:moveTo>
                    <a:cubicBezTo>
                      <a:pt x="2" y="2"/>
                      <a:pt x="0" y="5"/>
                      <a:pt x="0" y="8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4" y="6"/>
                      <a:pt x="14" y="6"/>
                      <a:pt x="14" y="6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ïŝļíḍe"/>
              <p:cNvSpPr/>
              <p:nvPr/>
            </p:nvSpPr>
            <p:spPr bwMode="auto">
              <a:xfrm>
                <a:off x="7423252" y="4248570"/>
                <a:ext cx="386394" cy="540604"/>
              </a:xfrm>
              <a:custGeom>
                <a:avLst/>
                <a:gdLst>
                  <a:gd name="T0" fmla="*/ 5 w 107"/>
                  <a:gd name="T1" fmla="*/ 58 h 150"/>
                  <a:gd name="T2" fmla="*/ 102 w 107"/>
                  <a:gd name="T3" fmla="*/ 2 h 150"/>
                  <a:gd name="T4" fmla="*/ 107 w 107"/>
                  <a:gd name="T5" fmla="*/ 6 h 150"/>
                  <a:gd name="T6" fmla="*/ 107 w 107"/>
                  <a:gd name="T7" fmla="*/ 82 h 150"/>
                  <a:gd name="T8" fmla="*/ 102 w 107"/>
                  <a:gd name="T9" fmla="*/ 92 h 150"/>
                  <a:gd name="T10" fmla="*/ 5 w 107"/>
                  <a:gd name="T11" fmla="*/ 149 h 150"/>
                  <a:gd name="T12" fmla="*/ 0 w 107"/>
                  <a:gd name="T13" fmla="*/ 145 h 150"/>
                  <a:gd name="T14" fmla="*/ 0 w 107"/>
                  <a:gd name="T15" fmla="*/ 68 h 150"/>
                  <a:gd name="T16" fmla="*/ 5 w 107"/>
                  <a:gd name="T17" fmla="*/ 5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150">
                    <a:moveTo>
                      <a:pt x="5" y="58"/>
                    </a:moveTo>
                    <a:cubicBezTo>
                      <a:pt x="102" y="2"/>
                      <a:pt x="102" y="2"/>
                      <a:pt x="102" y="2"/>
                    </a:cubicBezTo>
                    <a:cubicBezTo>
                      <a:pt x="105" y="0"/>
                      <a:pt x="107" y="2"/>
                      <a:pt x="107" y="6"/>
                    </a:cubicBezTo>
                    <a:cubicBezTo>
                      <a:pt x="107" y="82"/>
                      <a:pt x="107" y="82"/>
                      <a:pt x="107" y="82"/>
                    </a:cubicBezTo>
                    <a:cubicBezTo>
                      <a:pt x="107" y="86"/>
                      <a:pt x="105" y="90"/>
                      <a:pt x="102" y="92"/>
                    </a:cubicBezTo>
                    <a:cubicBezTo>
                      <a:pt x="5" y="149"/>
                      <a:pt x="5" y="149"/>
                      <a:pt x="5" y="149"/>
                    </a:cubicBezTo>
                    <a:cubicBezTo>
                      <a:pt x="2" y="150"/>
                      <a:pt x="0" y="148"/>
                      <a:pt x="0" y="145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4"/>
                      <a:pt x="2" y="60"/>
                      <a:pt x="5" y="58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ïşḻïḋê"/>
              <p:cNvSpPr/>
              <p:nvPr/>
            </p:nvSpPr>
            <p:spPr bwMode="auto">
              <a:xfrm>
                <a:off x="7567067" y="4180995"/>
                <a:ext cx="95299" cy="266837"/>
              </a:xfrm>
              <a:custGeom>
                <a:avLst/>
                <a:gdLst>
                  <a:gd name="T0" fmla="*/ 22 w 26"/>
                  <a:gd name="T1" fmla="*/ 20 h 74"/>
                  <a:gd name="T2" fmla="*/ 25 w 26"/>
                  <a:gd name="T3" fmla="*/ 53 h 74"/>
                  <a:gd name="T4" fmla="*/ 17 w 26"/>
                  <a:gd name="T5" fmla="*/ 73 h 74"/>
                  <a:gd name="T6" fmla="*/ 11 w 26"/>
                  <a:gd name="T7" fmla="*/ 45 h 74"/>
                  <a:gd name="T8" fmla="*/ 3 w 26"/>
                  <a:gd name="T9" fmla="*/ 52 h 74"/>
                  <a:gd name="T10" fmla="*/ 5 w 26"/>
                  <a:gd name="T11" fmla="*/ 11 h 74"/>
                  <a:gd name="T12" fmla="*/ 22 w 26"/>
                  <a:gd name="T13" fmla="*/ 2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74">
                    <a:moveTo>
                      <a:pt x="22" y="20"/>
                    </a:moveTo>
                    <a:cubicBezTo>
                      <a:pt x="22" y="20"/>
                      <a:pt x="26" y="45"/>
                      <a:pt x="25" y="53"/>
                    </a:cubicBezTo>
                    <a:cubicBezTo>
                      <a:pt x="25" y="61"/>
                      <a:pt x="20" y="74"/>
                      <a:pt x="17" y="73"/>
                    </a:cubicBezTo>
                    <a:cubicBezTo>
                      <a:pt x="14" y="73"/>
                      <a:pt x="17" y="42"/>
                      <a:pt x="11" y="45"/>
                    </a:cubicBezTo>
                    <a:cubicBezTo>
                      <a:pt x="6" y="48"/>
                      <a:pt x="5" y="53"/>
                      <a:pt x="3" y="52"/>
                    </a:cubicBezTo>
                    <a:cubicBezTo>
                      <a:pt x="0" y="50"/>
                      <a:pt x="7" y="23"/>
                      <a:pt x="5" y="11"/>
                    </a:cubicBezTo>
                    <a:cubicBezTo>
                      <a:pt x="3" y="0"/>
                      <a:pt x="22" y="20"/>
                      <a:pt x="22" y="20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ïŝ1íḓè"/>
              <p:cNvSpPr/>
              <p:nvPr/>
            </p:nvSpPr>
            <p:spPr bwMode="auto">
              <a:xfrm>
                <a:off x="7035126" y="4023318"/>
                <a:ext cx="93566" cy="265104"/>
              </a:xfrm>
              <a:custGeom>
                <a:avLst/>
                <a:gdLst>
                  <a:gd name="T0" fmla="*/ 4 w 26"/>
                  <a:gd name="T1" fmla="*/ 21 h 74"/>
                  <a:gd name="T2" fmla="*/ 1 w 26"/>
                  <a:gd name="T3" fmla="*/ 53 h 74"/>
                  <a:gd name="T4" fmla="*/ 9 w 26"/>
                  <a:gd name="T5" fmla="*/ 74 h 74"/>
                  <a:gd name="T6" fmla="*/ 14 w 26"/>
                  <a:gd name="T7" fmla="*/ 45 h 74"/>
                  <a:gd name="T8" fmla="*/ 23 w 26"/>
                  <a:gd name="T9" fmla="*/ 52 h 74"/>
                  <a:gd name="T10" fmla="*/ 21 w 26"/>
                  <a:gd name="T11" fmla="*/ 11 h 74"/>
                  <a:gd name="T12" fmla="*/ 4 w 26"/>
                  <a:gd name="T13" fmla="*/ 21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" h="74">
                    <a:moveTo>
                      <a:pt x="4" y="21"/>
                    </a:moveTo>
                    <a:cubicBezTo>
                      <a:pt x="4" y="21"/>
                      <a:pt x="0" y="45"/>
                      <a:pt x="1" y="53"/>
                    </a:cubicBezTo>
                    <a:cubicBezTo>
                      <a:pt x="1" y="61"/>
                      <a:pt x="6" y="74"/>
                      <a:pt x="9" y="74"/>
                    </a:cubicBezTo>
                    <a:cubicBezTo>
                      <a:pt x="12" y="73"/>
                      <a:pt x="9" y="42"/>
                      <a:pt x="14" y="45"/>
                    </a:cubicBezTo>
                    <a:cubicBezTo>
                      <a:pt x="20" y="48"/>
                      <a:pt x="21" y="54"/>
                      <a:pt x="23" y="52"/>
                    </a:cubicBezTo>
                    <a:cubicBezTo>
                      <a:pt x="26" y="50"/>
                      <a:pt x="19" y="23"/>
                      <a:pt x="21" y="11"/>
                    </a:cubicBezTo>
                    <a:cubicBezTo>
                      <a:pt x="23" y="0"/>
                      <a:pt x="4" y="21"/>
                      <a:pt x="4" y="21"/>
                    </a:cubicBezTo>
                    <a:close/>
                  </a:path>
                </a:pathLst>
              </a:custGeom>
              <a:solidFill>
                <a:srgbClr val="FFC2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iṩľîḑè"/>
              <p:cNvSpPr/>
              <p:nvPr/>
            </p:nvSpPr>
            <p:spPr bwMode="auto">
              <a:xfrm>
                <a:off x="7172010" y="3215877"/>
                <a:ext cx="190598" cy="102230"/>
              </a:xfrm>
              <a:custGeom>
                <a:avLst/>
                <a:gdLst>
                  <a:gd name="T0" fmla="*/ 24 w 53"/>
                  <a:gd name="T1" fmla="*/ 21 h 28"/>
                  <a:gd name="T2" fmla="*/ 0 w 53"/>
                  <a:gd name="T3" fmla="*/ 23 h 28"/>
                  <a:gd name="T4" fmla="*/ 0 w 53"/>
                  <a:gd name="T5" fmla="*/ 20 h 28"/>
                  <a:gd name="T6" fmla="*/ 1 w 53"/>
                  <a:gd name="T7" fmla="*/ 7 h 28"/>
                  <a:gd name="T8" fmla="*/ 53 w 53"/>
                  <a:gd name="T9" fmla="*/ 0 h 28"/>
                  <a:gd name="T10" fmla="*/ 24 w 53"/>
                  <a:gd name="T11" fmla="*/ 2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3" h="28">
                    <a:moveTo>
                      <a:pt x="24" y="21"/>
                    </a:moveTo>
                    <a:cubicBezTo>
                      <a:pt x="4" y="28"/>
                      <a:pt x="1" y="23"/>
                      <a:pt x="0" y="23"/>
                    </a:cubicBezTo>
                    <a:cubicBezTo>
                      <a:pt x="0" y="22"/>
                      <a:pt x="0" y="21"/>
                      <a:pt x="0" y="20"/>
                    </a:cubicBezTo>
                    <a:cubicBezTo>
                      <a:pt x="0" y="15"/>
                      <a:pt x="0" y="11"/>
                      <a:pt x="1" y="7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44" y="14"/>
                      <a:pt x="24" y="21"/>
                    </a:cubicBezTo>
                    <a:close/>
                  </a:path>
                </a:pathLst>
              </a:custGeom>
              <a:solidFill>
                <a:srgbClr val="EA9C9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íŝḷïḋè"/>
              <p:cNvSpPr/>
              <p:nvPr/>
            </p:nvSpPr>
            <p:spPr bwMode="auto">
              <a:xfrm>
                <a:off x="7099237" y="3061667"/>
                <a:ext cx="400256" cy="370799"/>
              </a:xfrm>
              <a:custGeom>
                <a:avLst/>
                <a:gdLst>
                  <a:gd name="T0" fmla="*/ 19 w 111"/>
                  <a:gd name="T1" fmla="*/ 23 h 103"/>
                  <a:gd name="T2" fmla="*/ 70 w 111"/>
                  <a:gd name="T3" fmla="*/ 4 h 103"/>
                  <a:gd name="T4" fmla="*/ 108 w 111"/>
                  <a:gd name="T5" fmla="*/ 49 h 103"/>
                  <a:gd name="T6" fmla="*/ 90 w 111"/>
                  <a:gd name="T7" fmla="*/ 103 h 103"/>
                  <a:gd name="T8" fmla="*/ 88 w 111"/>
                  <a:gd name="T9" fmla="*/ 102 h 103"/>
                  <a:gd name="T10" fmla="*/ 80 w 111"/>
                  <a:gd name="T11" fmla="*/ 94 h 103"/>
                  <a:gd name="T12" fmla="*/ 78 w 111"/>
                  <a:gd name="T13" fmla="*/ 79 h 103"/>
                  <a:gd name="T14" fmla="*/ 82 w 111"/>
                  <a:gd name="T15" fmla="*/ 75 h 103"/>
                  <a:gd name="T16" fmla="*/ 87 w 111"/>
                  <a:gd name="T17" fmla="*/ 72 h 103"/>
                  <a:gd name="T18" fmla="*/ 81 w 111"/>
                  <a:gd name="T19" fmla="*/ 57 h 103"/>
                  <a:gd name="T20" fmla="*/ 74 w 111"/>
                  <a:gd name="T21" fmla="*/ 52 h 103"/>
                  <a:gd name="T22" fmla="*/ 69 w 111"/>
                  <a:gd name="T23" fmla="*/ 50 h 103"/>
                  <a:gd name="T24" fmla="*/ 20 w 111"/>
                  <a:gd name="T25" fmla="*/ 56 h 103"/>
                  <a:gd name="T26" fmla="*/ 19 w 111"/>
                  <a:gd name="T27" fmla="*/ 2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103">
                    <a:moveTo>
                      <a:pt x="19" y="23"/>
                    </a:moveTo>
                    <a:cubicBezTo>
                      <a:pt x="23" y="19"/>
                      <a:pt x="40" y="0"/>
                      <a:pt x="70" y="4"/>
                    </a:cubicBezTo>
                    <a:cubicBezTo>
                      <a:pt x="89" y="7"/>
                      <a:pt x="105" y="20"/>
                      <a:pt x="108" y="49"/>
                    </a:cubicBezTo>
                    <a:cubicBezTo>
                      <a:pt x="111" y="69"/>
                      <a:pt x="103" y="88"/>
                      <a:pt x="90" y="103"/>
                    </a:cubicBezTo>
                    <a:cubicBezTo>
                      <a:pt x="89" y="103"/>
                      <a:pt x="89" y="102"/>
                      <a:pt x="88" y="102"/>
                    </a:cubicBezTo>
                    <a:cubicBezTo>
                      <a:pt x="80" y="97"/>
                      <a:pt x="80" y="94"/>
                      <a:pt x="80" y="94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78" y="77"/>
                      <a:pt x="80" y="75"/>
                      <a:pt x="82" y="75"/>
                    </a:cubicBezTo>
                    <a:cubicBezTo>
                      <a:pt x="83" y="75"/>
                      <a:pt x="85" y="74"/>
                      <a:pt x="87" y="72"/>
                    </a:cubicBezTo>
                    <a:cubicBezTo>
                      <a:pt x="91" y="66"/>
                      <a:pt x="89" y="57"/>
                      <a:pt x="81" y="57"/>
                    </a:cubicBezTo>
                    <a:cubicBezTo>
                      <a:pt x="76" y="57"/>
                      <a:pt x="75" y="54"/>
                      <a:pt x="74" y="52"/>
                    </a:cubicBezTo>
                    <a:cubicBezTo>
                      <a:pt x="73" y="50"/>
                      <a:pt x="71" y="49"/>
                      <a:pt x="69" y="50"/>
                    </a:cubicBezTo>
                    <a:cubicBezTo>
                      <a:pt x="60" y="53"/>
                      <a:pt x="35" y="61"/>
                      <a:pt x="20" y="56"/>
                    </a:cubicBezTo>
                    <a:cubicBezTo>
                      <a:pt x="0" y="51"/>
                      <a:pt x="14" y="27"/>
                      <a:pt x="19" y="23"/>
                    </a:cubicBezTo>
                    <a:close/>
                  </a:path>
                </a:pathLst>
              </a:custGeom>
              <a:solidFill>
                <a:srgbClr val="6614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î$lïḓè"/>
              <p:cNvSpPr/>
              <p:nvPr/>
            </p:nvSpPr>
            <p:spPr bwMode="auto">
              <a:xfrm>
                <a:off x="7203199" y="3342365"/>
                <a:ext cx="86635" cy="50249"/>
              </a:xfrm>
              <a:custGeom>
                <a:avLst/>
                <a:gdLst>
                  <a:gd name="T0" fmla="*/ 12 w 24"/>
                  <a:gd name="T1" fmla="*/ 4 h 14"/>
                  <a:gd name="T2" fmla="*/ 0 w 24"/>
                  <a:gd name="T3" fmla="*/ 0 h 14"/>
                  <a:gd name="T4" fmla="*/ 14 w 24"/>
                  <a:gd name="T5" fmla="*/ 12 h 14"/>
                  <a:gd name="T6" fmla="*/ 24 w 24"/>
                  <a:gd name="T7" fmla="*/ 7 h 14"/>
                  <a:gd name="T8" fmla="*/ 12 w 24"/>
                  <a:gd name="T9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4">
                    <a:moveTo>
                      <a:pt x="12" y="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6" y="9"/>
                      <a:pt x="14" y="12"/>
                    </a:cubicBezTo>
                    <a:cubicBezTo>
                      <a:pt x="22" y="14"/>
                      <a:pt x="24" y="7"/>
                      <a:pt x="24" y="7"/>
                    </a:cubicBez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iŝḻíḑé"/>
              <p:cNvSpPr/>
              <p:nvPr/>
            </p:nvSpPr>
            <p:spPr bwMode="auto">
              <a:xfrm>
                <a:off x="7572265" y="4342136"/>
                <a:ext cx="38120" cy="29457"/>
              </a:xfrm>
              <a:custGeom>
                <a:avLst/>
                <a:gdLst>
                  <a:gd name="T0" fmla="*/ 0 w 22"/>
                  <a:gd name="T1" fmla="*/ 13 h 17"/>
                  <a:gd name="T2" fmla="*/ 22 w 22"/>
                  <a:gd name="T3" fmla="*/ 0 h 17"/>
                  <a:gd name="T4" fmla="*/ 14 w 22"/>
                  <a:gd name="T5" fmla="*/ 13 h 17"/>
                  <a:gd name="T6" fmla="*/ 2 w 22"/>
                  <a:gd name="T7" fmla="*/ 17 h 17"/>
                  <a:gd name="T8" fmla="*/ 0 w 22"/>
                  <a:gd name="T9" fmla="*/ 1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7">
                    <a:moveTo>
                      <a:pt x="0" y="13"/>
                    </a:moveTo>
                    <a:lnTo>
                      <a:pt x="22" y="0"/>
                    </a:lnTo>
                    <a:lnTo>
                      <a:pt x="14" y="13"/>
                    </a:lnTo>
                    <a:lnTo>
                      <a:pt x="2" y="17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D29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îs1ïdè"/>
              <p:cNvSpPr/>
              <p:nvPr/>
            </p:nvSpPr>
            <p:spPr bwMode="auto">
              <a:xfrm>
                <a:off x="5049445" y="1316832"/>
                <a:ext cx="1912907" cy="3623088"/>
              </a:xfrm>
              <a:custGeom>
                <a:avLst/>
                <a:gdLst>
                  <a:gd name="T0" fmla="*/ 488 w 531"/>
                  <a:gd name="T1" fmla="*/ 176 h 1007"/>
                  <a:gd name="T2" fmla="*/ 208 w 531"/>
                  <a:gd name="T3" fmla="*/ 8 h 1007"/>
                  <a:gd name="T4" fmla="*/ 172 w 531"/>
                  <a:gd name="T5" fmla="*/ 5 h 1007"/>
                  <a:gd name="T6" fmla="*/ 172 w 531"/>
                  <a:gd name="T7" fmla="*/ 5 h 1007"/>
                  <a:gd name="T8" fmla="*/ 145 w 531"/>
                  <a:gd name="T9" fmla="*/ 14 h 1007"/>
                  <a:gd name="T10" fmla="*/ 165 w 531"/>
                  <a:gd name="T11" fmla="*/ 14 h 1007"/>
                  <a:gd name="T12" fmla="*/ 156 w 531"/>
                  <a:gd name="T13" fmla="*/ 38 h 1007"/>
                  <a:gd name="T14" fmla="*/ 8 w 531"/>
                  <a:gd name="T15" fmla="*/ 718 h 1007"/>
                  <a:gd name="T16" fmla="*/ 43 w 531"/>
                  <a:gd name="T17" fmla="*/ 817 h 1007"/>
                  <a:gd name="T18" fmla="*/ 324 w 531"/>
                  <a:gd name="T19" fmla="*/ 986 h 1007"/>
                  <a:gd name="T20" fmla="*/ 333 w 531"/>
                  <a:gd name="T21" fmla="*/ 990 h 1007"/>
                  <a:gd name="T22" fmla="*/ 322 w 531"/>
                  <a:gd name="T23" fmla="*/ 1007 h 1007"/>
                  <a:gd name="T24" fmla="*/ 345 w 531"/>
                  <a:gd name="T25" fmla="*/ 999 h 1007"/>
                  <a:gd name="T26" fmla="*/ 345 w 531"/>
                  <a:gd name="T27" fmla="*/ 999 h 1007"/>
                  <a:gd name="T28" fmla="*/ 375 w 531"/>
                  <a:gd name="T29" fmla="*/ 956 h 1007"/>
                  <a:gd name="T30" fmla="*/ 523 w 531"/>
                  <a:gd name="T31" fmla="*/ 276 h 1007"/>
                  <a:gd name="T32" fmla="*/ 488 w 531"/>
                  <a:gd name="T33" fmla="*/ 176 h 10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31" h="1007">
                    <a:moveTo>
                      <a:pt x="488" y="176"/>
                    </a:moveTo>
                    <a:cubicBezTo>
                      <a:pt x="208" y="8"/>
                      <a:pt x="208" y="8"/>
                      <a:pt x="208" y="8"/>
                    </a:cubicBezTo>
                    <a:cubicBezTo>
                      <a:pt x="195" y="0"/>
                      <a:pt x="183" y="0"/>
                      <a:pt x="172" y="5"/>
                    </a:cubicBezTo>
                    <a:cubicBezTo>
                      <a:pt x="172" y="5"/>
                      <a:pt x="172" y="5"/>
                      <a:pt x="172" y="5"/>
                    </a:cubicBezTo>
                    <a:cubicBezTo>
                      <a:pt x="145" y="14"/>
                      <a:pt x="145" y="14"/>
                      <a:pt x="145" y="14"/>
                    </a:cubicBezTo>
                    <a:cubicBezTo>
                      <a:pt x="165" y="14"/>
                      <a:pt x="165" y="14"/>
                      <a:pt x="165" y="14"/>
                    </a:cubicBezTo>
                    <a:cubicBezTo>
                      <a:pt x="161" y="21"/>
                      <a:pt x="158" y="29"/>
                      <a:pt x="156" y="38"/>
                    </a:cubicBezTo>
                    <a:cubicBezTo>
                      <a:pt x="8" y="718"/>
                      <a:pt x="8" y="718"/>
                      <a:pt x="8" y="718"/>
                    </a:cubicBezTo>
                    <a:cubicBezTo>
                      <a:pt x="0" y="756"/>
                      <a:pt x="16" y="801"/>
                      <a:pt x="43" y="817"/>
                    </a:cubicBezTo>
                    <a:cubicBezTo>
                      <a:pt x="324" y="986"/>
                      <a:pt x="324" y="986"/>
                      <a:pt x="324" y="986"/>
                    </a:cubicBezTo>
                    <a:cubicBezTo>
                      <a:pt x="327" y="988"/>
                      <a:pt x="330" y="989"/>
                      <a:pt x="333" y="990"/>
                    </a:cubicBezTo>
                    <a:cubicBezTo>
                      <a:pt x="322" y="1007"/>
                      <a:pt x="322" y="1007"/>
                      <a:pt x="322" y="1007"/>
                    </a:cubicBezTo>
                    <a:cubicBezTo>
                      <a:pt x="345" y="999"/>
                      <a:pt x="345" y="999"/>
                      <a:pt x="345" y="999"/>
                    </a:cubicBezTo>
                    <a:cubicBezTo>
                      <a:pt x="345" y="999"/>
                      <a:pt x="345" y="999"/>
                      <a:pt x="345" y="999"/>
                    </a:cubicBezTo>
                    <a:cubicBezTo>
                      <a:pt x="359" y="993"/>
                      <a:pt x="370" y="978"/>
                      <a:pt x="375" y="956"/>
                    </a:cubicBezTo>
                    <a:cubicBezTo>
                      <a:pt x="523" y="276"/>
                      <a:pt x="523" y="276"/>
                      <a:pt x="523" y="276"/>
                    </a:cubicBezTo>
                    <a:cubicBezTo>
                      <a:pt x="531" y="238"/>
                      <a:pt x="516" y="193"/>
                      <a:pt x="488" y="176"/>
                    </a:cubicBezTo>
                    <a:close/>
                  </a:path>
                </a:pathLst>
              </a:custGeom>
              <a:solidFill>
                <a:srgbClr val="173D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îś1îḍè"/>
              <p:cNvSpPr/>
              <p:nvPr/>
            </p:nvSpPr>
            <p:spPr bwMode="auto">
              <a:xfrm>
                <a:off x="4909097" y="1316832"/>
                <a:ext cx="1963156" cy="3673336"/>
              </a:xfrm>
              <a:custGeom>
                <a:avLst/>
                <a:gdLst>
                  <a:gd name="T0" fmla="*/ 323 w 545"/>
                  <a:gd name="T1" fmla="*/ 1004 h 1021"/>
                  <a:gd name="T2" fmla="*/ 43 w 545"/>
                  <a:gd name="T3" fmla="*/ 836 h 1021"/>
                  <a:gd name="T4" fmla="*/ 8 w 545"/>
                  <a:gd name="T5" fmla="*/ 736 h 1021"/>
                  <a:gd name="T6" fmla="*/ 156 w 545"/>
                  <a:gd name="T7" fmla="*/ 56 h 1021"/>
                  <a:gd name="T8" fmla="*/ 222 w 545"/>
                  <a:gd name="T9" fmla="*/ 17 h 1021"/>
                  <a:gd name="T10" fmla="*/ 502 w 545"/>
                  <a:gd name="T11" fmla="*/ 185 h 1021"/>
                  <a:gd name="T12" fmla="*/ 537 w 545"/>
                  <a:gd name="T13" fmla="*/ 285 h 1021"/>
                  <a:gd name="T14" fmla="*/ 389 w 545"/>
                  <a:gd name="T15" fmla="*/ 965 h 1021"/>
                  <a:gd name="T16" fmla="*/ 323 w 545"/>
                  <a:gd name="T17" fmla="*/ 1004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5" h="1021">
                    <a:moveTo>
                      <a:pt x="323" y="1004"/>
                    </a:moveTo>
                    <a:cubicBezTo>
                      <a:pt x="43" y="836"/>
                      <a:pt x="43" y="836"/>
                      <a:pt x="43" y="836"/>
                    </a:cubicBezTo>
                    <a:cubicBezTo>
                      <a:pt x="15" y="819"/>
                      <a:pt x="0" y="775"/>
                      <a:pt x="8" y="736"/>
                    </a:cubicBezTo>
                    <a:cubicBezTo>
                      <a:pt x="156" y="56"/>
                      <a:pt x="156" y="56"/>
                      <a:pt x="156" y="56"/>
                    </a:cubicBezTo>
                    <a:cubicBezTo>
                      <a:pt x="165" y="18"/>
                      <a:pt x="194" y="0"/>
                      <a:pt x="222" y="17"/>
                    </a:cubicBezTo>
                    <a:cubicBezTo>
                      <a:pt x="502" y="185"/>
                      <a:pt x="502" y="185"/>
                      <a:pt x="502" y="185"/>
                    </a:cubicBezTo>
                    <a:cubicBezTo>
                      <a:pt x="530" y="202"/>
                      <a:pt x="545" y="246"/>
                      <a:pt x="537" y="285"/>
                    </a:cubicBezTo>
                    <a:cubicBezTo>
                      <a:pt x="389" y="965"/>
                      <a:pt x="389" y="965"/>
                      <a:pt x="389" y="965"/>
                    </a:cubicBezTo>
                    <a:cubicBezTo>
                      <a:pt x="380" y="1003"/>
                      <a:pt x="351" y="1021"/>
                      <a:pt x="323" y="100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î$1idé"/>
              <p:cNvSpPr/>
              <p:nvPr/>
            </p:nvSpPr>
            <p:spPr bwMode="auto">
              <a:xfrm>
                <a:off x="4966275" y="1398270"/>
                <a:ext cx="1848797" cy="3510461"/>
              </a:xfrm>
              <a:custGeom>
                <a:avLst/>
                <a:gdLst>
                  <a:gd name="T0" fmla="*/ 308 w 513"/>
                  <a:gd name="T1" fmla="*/ 962 h 975"/>
                  <a:gd name="T2" fmla="*/ 34 w 513"/>
                  <a:gd name="T3" fmla="*/ 798 h 975"/>
                  <a:gd name="T4" fmla="*/ 7 w 513"/>
                  <a:gd name="T5" fmla="*/ 720 h 975"/>
                  <a:gd name="T6" fmla="*/ 154 w 513"/>
                  <a:gd name="T7" fmla="*/ 44 h 975"/>
                  <a:gd name="T8" fmla="*/ 205 w 513"/>
                  <a:gd name="T9" fmla="*/ 13 h 975"/>
                  <a:gd name="T10" fmla="*/ 479 w 513"/>
                  <a:gd name="T11" fmla="*/ 177 h 975"/>
                  <a:gd name="T12" fmla="*/ 506 w 513"/>
                  <a:gd name="T13" fmla="*/ 255 h 975"/>
                  <a:gd name="T14" fmla="*/ 359 w 513"/>
                  <a:gd name="T15" fmla="*/ 931 h 975"/>
                  <a:gd name="T16" fmla="*/ 308 w 513"/>
                  <a:gd name="T17" fmla="*/ 962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3" h="975">
                    <a:moveTo>
                      <a:pt x="308" y="962"/>
                    </a:moveTo>
                    <a:cubicBezTo>
                      <a:pt x="34" y="798"/>
                      <a:pt x="34" y="798"/>
                      <a:pt x="34" y="798"/>
                    </a:cubicBezTo>
                    <a:cubicBezTo>
                      <a:pt x="12" y="785"/>
                      <a:pt x="0" y="750"/>
                      <a:pt x="7" y="720"/>
                    </a:cubicBezTo>
                    <a:cubicBezTo>
                      <a:pt x="154" y="44"/>
                      <a:pt x="154" y="44"/>
                      <a:pt x="154" y="44"/>
                    </a:cubicBezTo>
                    <a:cubicBezTo>
                      <a:pt x="161" y="14"/>
                      <a:pt x="184" y="0"/>
                      <a:pt x="205" y="13"/>
                    </a:cubicBezTo>
                    <a:cubicBezTo>
                      <a:pt x="479" y="177"/>
                      <a:pt x="479" y="177"/>
                      <a:pt x="479" y="177"/>
                    </a:cubicBezTo>
                    <a:cubicBezTo>
                      <a:pt x="501" y="190"/>
                      <a:pt x="513" y="225"/>
                      <a:pt x="506" y="255"/>
                    </a:cubicBezTo>
                    <a:cubicBezTo>
                      <a:pt x="359" y="931"/>
                      <a:pt x="359" y="931"/>
                      <a:pt x="359" y="931"/>
                    </a:cubicBezTo>
                    <a:cubicBezTo>
                      <a:pt x="352" y="961"/>
                      <a:pt x="329" y="975"/>
                      <a:pt x="308" y="9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ísḷîḋe"/>
              <p:cNvSpPr/>
              <p:nvPr/>
            </p:nvSpPr>
            <p:spPr bwMode="auto">
              <a:xfrm>
                <a:off x="5863817" y="1838377"/>
                <a:ext cx="157677" cy="117824"/>
              </a:xfrm>
              <a:custGeom>
                <a:avLst/>
                <a:gdLst>
                  <a:gd name="T0" fmla="*/ 36 w 44"/>
                  <a:gd name="T1" fmla="*/ 32 h 33"/>
                  <a:gd name="T2" fmla="*/ 5 w 44"/>
                  <a:gd name="T3" fmla="*/ 14 h 33"/>
                  <a:gd name="T4" fmla="*/ 1 w 44"/>
                  <a:gd name="T5" fmla="*/ 5 h 33"/>
                  <a:gd name="T6" fmla="*/ 1 w 44"/>
                  <a:gd name="T7" fmla="*/ 5 h 33"/>
                  <a:gd name="T8" fmla="*/ 8 w 44"/>
                  <a:gd name="T9" fmla="*/ 1 h 33"/>
                  <a:gd name="T10" fmla="*/ 39 w 44"/>
                  <a:gd name="T11" fmla="*/ 19 h 33"/>
                  <a:gd name="T12" fmla="*/ 43 w 44"/>
                  <a:gd name="T13" fmla="*/ 29 h 33"/>
                  <a:gd name="T14" fmla="*/ 43 w 44"/>
                  <a:gd name="T15" fmla="*/ 29 h 33"/>
                  <a:gd name="T16" fmla="*/ 36 w 44"/>
                  <a:gd name="T17" fmla="*/ 32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33">
                    <a:moveTo>
                      <a:pt x="36" y="32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42" y="21"/>
                      <a:pt x="44" y="25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2" y="32"/>
                      <a:pt x="39" y="33"/>
                      <a:pt x="36" y="32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îšḻîḋe"/>
              <p:cNvSpPr/>
              <p:nvPr/>
            </p:nvSpPr>
            <p:spPr bwMode="auto">
              <a:xfrm>
                <a:off x="6080406" y="1959666"/>
                <a:ext cx="207925" cy="152478"/>
              </a:xfrm>
              <a:custGeom>
                <a:avLst/>
                <a:gdLst>
                  <a:gd name="T0" fmla="*/ 51 w 58"/>
                  <a:gd name="T1" fmla="*/ 41 h 42"/>
                  <a:gd name="T2" fmla="*/ 4 w 58"/>
                  <a:gd name="T3" fmla="*/ 14 h 42"/>
                  <a:gd name="T4" fmla="*/ 1 w 58"/>
                  <a:gd name="T5" fmla="*/ 5 h 42"/>
                  <a:gd name="T6" fmla="*/ 1 w 58"/>
                  <a:gd name="T7" fmla="*/ 5 h 42"/>
                  <a:gd name="T8" fmla="*/ 7 w 58"/>
                  <a:gd name="T9" fmla="*/ 2 h 42"/>
                  <a:gd name="T10" fmla="*/ 53 w 58"/>
                  <a:gd name="T11" fmla="*/ 28 h 42"/>
                  <a:gd name="T12" fmla="*/ 57 w 58"/>
                  <a:gd name="T13" fmla="*/ 38 h 42"/>
                  <a:gd name="T14" fmla="*/ 57 w 58"/>
                  <a:gd name="T15" fmla="*/ 38 h 42"/>
                  <a:gd name="T16" fmla="*/ 51 w 58"/>
                  <a:gd name="T17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42">
                    <a:moveTo>
                      <a:pt x="51" y="41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6" y="30"/>
                      <a:pt x="58" y="34"/>
                      <a:pt x="57" y="38"/>
                    </a:cubicBezTo>
                    <a:cubicBezTo>
                      <a:pt x="57" y="38"/>
                      <a:pt x="57" y="38"/>
                      <a:pt x="57" y="38"/>
                    </a:cubicBezTo>
                    <a:cubicBezTo>
                      <a:pt x="56" y="41"/>
                      <a:pt x="53" y="42"/>
                      <a:pt x="51" y="4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îŝḻïdé"/>
              <p:cNvSpPr/>
              <p:nvPr/>
            </p:nvSpPr>
            <p:spPr bwMode="auto">
              <a:xfrm>
                <a:off x="5669754" y="2359921"/>
                <a:ext cx="154211" cy="123023"/>
              </a:xfrm>
              <a:custGeom>
                <a:avLst/>
                <a:gdLst>
                  <a:gd name="T0" fmla="*/ 36 w 43"/>
                  <a:gd name="T1" fmla="*/ 33 h 34"/>
                  <a:gd name="T2" fmla="*/ 4 w 43"/>
                  <a:gd name="T3" fmla="*/ 15 h 34"/>
                  <a:gd name="T4" fmla="*/ 1 w 43"/>
                  <a:gd name="T5" fmla="*/ 5 h 34"/>
                  <a:gd name="T6" fmla="*/ 1 w 43"/>
                  <a:gd name="T7" fmla="*/ 5 h 34"/>
                  <a:gd name="T8" fmla="*/ 7 w 43"/>
                  <a:gd name="T9" fmla="*/ 2 h 34"/>
                  <a:gd name="T10" fmla="*/ 39 w 43"/>
                  <a:gd name="T11" fmla="*/ 20 h 34"/>
                  <a:gd name="T12" fmla="*/ 42 w 43"/>
                  <a:gd name="T13" fmla="*/ 29 h 34"/>
                  <a:gd name="T14" fmla="*/ 42 w 43"/>
                  <a:gd name="T15" fmla="*/ 29 h 34"/>
                  <a:gd name="T16" fmla="*/ 36 w 43"/>
                  <a:gd name="T17" fmla="*/ 3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34">
                    <a:moveTo>
                      <a:pt x="36" y="33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1" y="22"/>
                      <a:pt x="43" y="26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33"/>
                      <a:pt x="39" y="34"/>
                      <a:pt x="36" y="33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íṥļíḍê"/>
              <p:cNvSpPr/>
              <p:nvPr/>
            </p:nvSpPr>
            <p:spPr bwMode="auto">
              <a:xfrm>
                <a:off x="5853421" y="2467348"/>
                <a:ext cx="211390" cy="155943"/>
              </a:xfrm>
              <a:custGeom>
                <a:avLst/>
                <a:gdLst>
                  <a:gd name="T0" fmla="*/ 51 w 59"/>
                  <a:gd name="T1" fmla="*/ 41 h 43"/>
                  <a:gd name="T2" fmla="*/ 5 w 59"/>
                  <a:gd name="T3" fmla="*/ 14 h 43"/>
                  <a:gd name="T4" fmla="*/ 1 w 59"/>
                  <a:gd name="T5" fmla="*/ 5 h 43"/>
                  <a:gd name="T6" fmla="*/ 1 w 59"/>
                  <a:gd name="T7" fmla="*/ 5 h 43"/>
                  <a:gd name="T8" fmla="*/ 8 w 59"/>
                  <a:gd name="T9" fmla="*/ 2 h 43"/>
                  <a:gd name="T10" fmla="*/ 54 w 59"/>
                  <a:gd name="T11" fmla="*/ 28 h 43"/>
                  <a:gd name="T12" fmla="*/ 58 w 59"/>
                  <a:gd name="T13" fmla="*/ 38 h 43"/>
                  <a:gd name="T14" fmla="*/ 58 w 59"/>
                  <a:gd name="T15" fmla="*/ 38 h 43"/>
                  <a:gd name="T16" fmla="*/ 51 w 59"/>
                  <a:gd name="T17" fmla="*/ 4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3">
                    <a:moveTo>
                      <a:pt x="51" y="4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57" y="30"/>
                      <a:pt x="59" y="34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7" y="41"/>
                      <a:pt x="54" y="43"/>
                      <a:pt x="51" y="4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iSḷïḍé"/>
              <p:cNvSpPr/>
              <p:nvPr/>
            </p:nvSpPr>
            <p:spPr bwMode="auto">
              <a:xfrm>
                <a:off x="5576188" y="1777732"/>
                <a:ext cx="110893" cy="97032"/>
              </a:xfrm>
              <a:custGeom>
                <a:avLst/>
                <a:gdLst>
                  <a:gd name="T0" fmla="*/ 24 w 31"/>
                  <a:gd name="T1" fmla="*/ 25 h 27"/>
                  <a:gd name="T2" fmla="*/ 5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1 h 27"/>
                  <a:gd name="T10" fmla="*/ 27 w 31"/>
                  <a:gd name="T11" fmla="*/ 13 h 27"/>
                  <a:gd name="T12" fmla="*/ 31 w 31"/>
                  <a:gd name="T13" fmla="*/ 22 h 27"/>
                  <a:gd name="T14" fmla="*/ 31 w 31"/>
                  <a:gd name="T15" fmla="*/ 22 h 27"/>
                  <a:gd name="T16" fmla="*/ 24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1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0" y="14"/>
                      <a:pt x="31" y="19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5"/>
                      <a:pt x="27" y="27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ísļiďè"/>
              <p:cNvSpPr/>
              <p:nvPr/>
            </p:nvSpPr>
            <p:spPr bwMode="auto">
              <a:xfrm>
                <a:off x="5647229" y="1925012"/>
                <a:ext cx="259906" cy="180201"/>
              </a:xfrm>
              <a:custGeom>
                <a:avLst/>
                <a:gdLst>
                  <a:gd name="T0" fmla="*/ 64 w 72"/>
                  <a:gd name="T1" fmla="*/ 48 h 50"/>
                  <a:gd name="T2" fmla="*/ 5 w 72"/>
                  <a:gd name="T3" fmla="*/ 14 h 50"/>
                  <a:gd name="T4" fmla="*/ 1 w 72"/>
                  <a:gd name="T5" fmla="*/ 5 h 50"/>
                  <a:gd name="T6" fmla="*/ 1 w 72"/>
                  <a:gd name="T7" fmla="*/ 5 h 50"/>
                  <a:gd name="T8" fmla="*/ 7 w 72"/>
                  <a:gd name="T9" fmla="*/ 2 h 50"/>
                  <a:gd name="T10" fmla="*/ 67 w 72"/>
                  <a:gd name="T11" fmla="*/ 36 h 50"/>
                  <a:gd name="T12" fmla="*/ 71 w 72"/>
                  <a:gd name="T13" fmla="*/ 45 h 50"/>
                  <a:gd name="T14" fmla="*/ 71 w 72"/>
                  <a:gd name="T15" fmla="*/ 45 h 50"/>
                  <a:gd name="T16" fmla="*/ 64 w 72"/>
                  <a:gd name="T17" fmla="*/ 48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0">
                    <a:moveTo>
                      <a:pt x="64" y="48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7" y="2"/>
                    </a:cubicBezTo>
                    <a:cubicBezTo>
                      <a:pt x="67" y="36"/>
                      <a:pt x="67" y="36"/>
                      <a:pt x="67" y="36"/>
                    </a:cubicBezTo>
                    <a:cubicBezTo>
                      <a:pt x="70" y="38"/>
                      <a:pt x="72" y="42"/>
                      <a:pt x="71" y="45"/>
                    </a:cubicBezTo>
                    <a:cubicBezTo>
                      <a:pt x="71" y="45"/>
                      <a:pt x="71" y="45"/>
                      <a:pt x="71" y="45"/>
                    </a:cubicBezTo>
                    <a:cubicBezTo>
                      <a:pt x="70" y="49"/>
                      <a:pt x="67" y="50"/>
                      <a:pt x="64" y="48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ïşḻïḋe"/>
              <p:cNvSpPr/>
              <p:nvPr/>
            </p:nvSpPr>
            <p:spPr bwMode="auto">
              <a:xfrm>
                <a:off x="5603911" y="2112144"/>
                <a:ext cx="112626" cy="97032"/>
              </a:xfrm>
              <a:custGeom>
                <a:avLst/>
                <a:gdLst>
                  <a:gd name="T0" fmla="*/ 24 w 31"/>
                  <a:gd name="T1" fmla="*/ 25 h 27"/>
                  <a:gd name="T2" fmla="*/ 5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2 h 27"/>
                  <a:gd name="T10" fmla="*/ 27 w 31"/>
                  <a:gd name="T11" fmla="*/ 13 h 27"/>
                  <a:gd name="T12" fmla="*/ 31 w 31"/>
                  <a:gd name="T13" fmla="*/ 22 h 27"/>
                  <a:gd name="T14" fmla="*/ 31 w 31"/>
                  <a:gd name="T15" fmla="*/ 22 h 27"/>
                  <a:gd name="T16" fmla="*/ 24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0" y="15"/>
                      <a:pt x="31" y="19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6"/>
                      <a:pt x="27" y="27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îš1ïdé"/>
              <p:cNvSpPr/>
              <p:nvPr/>
            </p:nvSpPr>
            <p:spPr bwMode="auto">
              <a:xfrm>
                <a:off x="5867282" y="2690868"/>
                <a:ext cx="233916" cy="162874"/>
              </a:xfrm>
              <a:custGeom>
                <a:avLst/>
                <a:gdLst>
                  <a:gd name="T0" fmla="*/ 57 w 65"/>
                  <a:gd name="T1" fmla="*/ 44 h 45"/>
                  <a:gd name="T2" fmla="*/ 5 w 65"/>
                  <a:gd name="T3" fmla="*/ 14 h 45"/>
                  <a:gd name="T4" fmla="*/ 1 w 65"/>
                  <a:gd name="T5" fmla="*/ 4 h 45"/>
                  <a:gd name="T6" fmla="*/ 1 w 65"/>
                  <a:gd name="T7" fmla="*/ 4 h 45"/>
                  <a:gd name="T8" fmla="*/ 8 w 65"/>
                  <a:gd name="T9" fmla="*/ 1 h 45"/>
                  <a:gd name="T10" fmla="*/ 60 w 65"/>
                  <a:gd name="T11" fmla="*/ 31 h 45"/>
                  <a:gd name="T12" fmla="*/ 64 w 65"/>
                  <a:gd name="T13" fmla="*/ 41 h 45"/>
                  <a:gd name="T14" fmla="*/ 64 w 65"/>
                  <a:gd name="T15" fmla="*/ 41 h 45"/>
                  <a:gd name="T16" fmla="*/ 57 w 65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5">
                    <a:moveTo>
                      <a:pt x="57" y="44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3" y="33"/>
                      <a:pt x="65" y="37"/>
                      <a:pt x="64" y="41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4"/>
                      <a:pt x="60" y="45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îŝ1îḑè"/>
              <p:cNvSpPr/>
              <p:nvPr/>
            </p:nvSpPr>
            <p:spPr bwMode="auto">
              <a:xfrm>
                <a:off x="5560594" y="2299277"/>
                <a:ext cx="86635" cy="81438"/>
              </a:xfrm>
              <a:custGeom>
                <a:avLst/>
                <a:gdLst>
                  <a:gd name="T0" fmla="*/ 17 w 24"/>
                  <a:gd name="T1" fmla="*/ 21 h 23"/>
                  <a:gd name="T2" fmla="*/ 4 w 24"/>
                  <a:gd name="T3" fmla="*/ 14 h 23"/>
                  <a:gd name="T4" fmla="*/ 1 w 24"/>
                  <a:gd name="T5" fmla="*/ 5 h 23"/>
                  <a:gd name="T6" fmla="*/ 1 w 24"/>
                  <a:gd name="T7" fmla="*/ 5 h 23"/>
                  <a:gd name="T8" fmla="*/ 7 w 24"/>
                  <a:gd name="T9" fmla="*/ 2 h 23"/>
                  <a:gd name="T10" fmla="*/ 20 w 24"/>
                  <a:gd name="T11" fmla="*/ 9 h 23"/>
                  <a:gd name="T12" fmla="*/ 24 w 24"/>
                  <a:gd name="T13" fmla="*/ 18 h 23"/>
                  <a:gd name="T14" fmla="*/ 24 w 24"/>
                  <a:gd name="T15" fmla="*/ 18 h 23"/>
                  <a:gd name="T16" fmla="*/ 17 w 24"/>
                  <a:gd name="T17" fmla="*/ 2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3">
                    <a:moveTo>
                      <a:pt x="17" y="21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3" y="11"/>
                      <a:pt x="24" y="15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22"/>
                      <a:pt x="20" y="23"/>
                      <a:pt x="17" y="2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iSḷïḍe"/>
              <p:cNvSpPr/>
              <p:nvPr/>
            </p:nvSpPr>
            <p:spPr bwMode="auto">
              <a:xfrm>
                <a:off x="5517276" y="2486409"/>
                <a:ext cx="98765" cy="90101"/>
              </a:xfrm>
              <a:custGeom>
                <a:avLst/>
                <a:gdLst>
                  <a:gd name="T0" fmla="*/ 20 w 27"/>
                  <a:gd name="T1" fmla="*/ 23 h 25"/>
                  <a:gd name="T2" fmla="*/ 4 w 27"/>
                  <a:gd name="T3" fmla="*/ 14 h 25"/>
                  <a:gd name="T4" fmla="*/ 1 w 27"/>
                  <a:gd name="T5" fmla="*/ 5 h 25"/>
                  <a:gd name="T6" fmla="*/ 1 w 27"/>
                  <a:gd name="T7" fmla="*/ 5 h 25"/>
                  <a:gd name="T8" fmla="*/ 7 w 27"/>
                  <a:gd name="T9" fmla="*/ 2 h 25"/>
                  <a:gd name="T10" fmla="*/ 23 w 27"/>
                  <a:gd name="T11" fmla="*/ 11 h 25"/>
                  <a:gd name="T12" fmla="*/ 27 w 27"/>
                  <a:gd name="T13" fmla="*/ 20 h 25"/>
                  <a:gd name="T14" fmla="*/ 27 w 27"/>
                  <a:gd name="T15" fmla="*/ 20 h 25"/>
                  <a:gd name="T16" fmla="*/ 20 w 27"/>
                  <a:gd name="T17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5">
                    <a:moveTo>
                      <a:pt x="20" y="23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6" y="13"/>
                      <a:pt x="27" y="17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6" y="24"/>
                      <a:pt x="23" y="25"/>
                      <a:pt x="20" y="23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íṧļíḍe"/>
              <p:cNvSpPr/>
              <p:nvPr/>
            </p:nvSpPr>
            <p:spPr bwMode="auto">
              <a:xfrm>
                <a:off x="5643764" y="2557449"/>
                <a:ext cx="190598" cy="143815"/>
              </a:xfrm>
              <a:custGeom>
                <a:avLst/>
                <a:gdLst>
                  <a:gd name="T0" fmla="*/ 45 w 53"/>
                  <a:gd name="T1" fmla="*/ 38 h 40"/>
                  <a:gd name="T2" fmla="*/ 4 w 53"/>
                  <a:gd name="T3" fmla="*/ 15 h 40"/>
                  <a:gd name="T4" fmla="*/ 1 w 53"/>
                  <a:gd name="T5" fmla="*/ 5 h 40"/>
                  <a:gd name="T6" fmla="*/ 1 w 53"/>
                  <a:gd name="T7" fmla="*/ 5 h 40"/>
                  <a:gd name="T8" fmla="*/ 7 w 53"/>
                  <a:gd name="T9" fmla="*/ 2 h 40"/>
                  <a:gd name="T10" fmla="*/ 48 w 53"/>
                  <a:gd name="T11" fmla="*/ 26 h 40"/>
                  <a:gd name="T12" fmla="*/ 52 w 53"/>
                  <a:gd name="T13" fmla="*/ 35 h 40"/>
                  <a:gd name="T14" fmla="*/ 52 w 53"/>
                  <a:gd name="T15" fmla="*/ 35 h 40"/>
                  <a:gd name="T16" fmla="*/ 45 w 53"/>
                  <a:gd name="T17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3" h="40">
                    <a:moveTo>
                      <a:pt x="45" y="38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51" y="27"/>
                      <a:pt x="53" y="32"/>
                      <a:pt x="52" y="35"/>
                    </a:cubicBezTo>
                    <a:cubicBezTo>
                      <a:pt x="52" y="35"/>
                      <a:pt x="52" y="35"/>
                      <a:pt x="52" y="35"/>
                    </a:cubicBezTo>
                    <a:cubicBezTo>
                      <a:pt x="51" y="39"/>
                      <a:pt x="48" y="40"/>
                      <a:pt x="45" y="38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íṩḷíde"/>
              <p:cNvSpPr/>
              <p:nvPr/>
            </p:nvSpPr>
            <p:spPr bwMode="auto">
              <a:xfrm>
                <a:off x="5496483" y="2579975"/>
                <a:ext cx="147281" cy="117824"/>
              </a:xfrm>
              <a:custGeom>
                <a:avLst/>
                <a:gdLst>
                  <a:gd name="T0" fmla="*/ 34 w 41"/>
                  <a:gd name="T1" fmla="*/ 31 h 33"/>
                  <a:gd name="T2" fmla="*/ 4 w 41"/>
                  <a:gd name="T3" fmla="*/ 14 h 33"/>
                  <a:gd name="T4" fmla="*/ 1 w 41"/>
                  <a:gd name="T5" fmla="*/ 5 h 33"/>
                  <a:gd name="T6" fmla="*/ 1 w 41"/>
                  <a:gd name="T7" fmla="*/ 5 h 33"/>
                  <a:gd name="T8" fmla="*/ 7 w 41"/>
                  <a:gd name="T9" fmla="*/ 2 h 33"/>
                  <a:gd name="T10" fmla="*/ 37 w 41"/>
                  <a:gd name="T11" fmla="*/ 19 h 33"/>
                  <a:gd name="T12" fmla="*/ 41 w 41"/>
                  <a:gd name="T13" fmla="*/ 28 h 33"/>
                  <a:gd name="T14" fmla="*/ 41 w 41"/>
                  <a:gd name="T15" fmla="*/ 28 h 33"/>
                  <a:gd name="T16" fmla="*/ 34 w 41"/>
                  <a:gd name="T17" fmla="*/ 3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33">
                    <a:moveTo>
                      <a:pt x="34" y="31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40" y="21"/>
                      <a:pt x="41" y="25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32"/>
                      <a:pt x="37" y="33"/>
                      <a:pt x="34" y="3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îṡlíḓè"/>
              <p:cNvSpPr/>
              <p:nvPr/>
            </p:nvSpPr>
            <p:spPr bwMode="auto">
              <a:xfrm>
                <a:off x="6147981" y="2853742"/>
                <a:ext cx="112626" cy="93566"/>
              </a:xfrm>
              <a:custGeom>
                <a:avLst/>
                <a:gdLst>
                  <a:gd name="T0" fmla="*/ 24 w 31"/>
                  <a:gd name="T1" fmla="*/ 25 h 26"/>
                  <a:gd name="T2" fmla="*/ 5 w 31"/>
                  <a:gd name="T3" fmla="*/ 14 h 26"/>
                  <a:gd name="T4" fmla="*/ 1 w 31"/>
                  <a:gd name="T5" fmla="*/ 5 h 26"/>
                  <a:gd name="T6" fmla="*/ 1 w 31"/>
                  <a:gd name="T7" fmla="*/ 5 h 26"/>
                  <a:gd name="T8" fmla="*/ 8 w 31"/>
                  <a:gd name="T9" fmla="*/ 1 h 26"/>
                  <a:gd name="T10" fmla="*/ 27 w 31"/>
                  <a:gd name="T11" fmla="*/ 12 h 26"/>
                  <a:gd name="T12" fmla="*/ 30 w 31"/>
                  <a:gd name="T13" fmla="*/ 21 h 26"/>
                  <a:gd name="T14" fmla="*/ 30 w 31"/>
                  <a:gd name="T15" fmla="*/ 21 h 26"/>
                  <a:gd name="T16" fmla="*/ 24 w 31"/>
                  <a:gd name="T17" fmla="*/ 2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6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0" y="14"/>
                      <a:pt x="31" y="18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5"/>
                      <a:pt x="27" y="26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ï$1iḋé"/>
              <p:cNvSpPr/>
              <p:nvPr/>
            </p:nvSpPr>
            <p:spPr bwMode="auto">
              <a:xfrm>
                <a:off x="5747726" y="2193581"/>
                <a:ext cx="232183" cy="166340"/>
              </a:xfrm>
              <a:custGeom>
                <a:avLst/>
                <a:gdLst>
                  <a:gd name="T0" fmla="*/ 57 w 64"/>
                  <a:gd name="T1" fmla="*/ 44 h 46"/>
                  <a:gd name="T2" fmla="*/ 4 w 64"/>
                  <a:gd name="T3" fmla="*/ 14 h 46"/>
                  <a:gd name="T4" fmla="*/ 1 w 64"/>
                  <a:gd name="T5" fmla="*/ 5 h 46"/>
                  <a:gd name="T6" fmla="*/ 1 w 64"/>
                  <a:gd name="T7" fmla="*/ 5 h 46"/>
                  <a:gd name="T8" fmla="*/ 7 w 64"/>
                  <a:gd name="T9" fmla="*/ 2 h 46"/>
                  <a:gd name="T10" fmla="*/ 59 w 64"/>
                  <a:gd name="T11" fmla="*/ 32 h 46"/>
                  <a:gd name="T12" fmla="*/ 63 w 64"/>
                  <a:gd name="T13" fmla="*/ 41 h 46"/>
                  <a:gd name="T14" fmla="*/ 63 w 64"/>
                  <a:gd name="T15" fmla="*/ 41 h 46"/>
                  <a:gd name="T16" fmla="*/ 57 w 64"/>
                  <a:gd name="T17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6">
                    <a:moveTo>
                      <a:pt x="57" y="4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2" y="33"/>
                      <a:pt x="64" y="38"/>
                      <a:pt x="63" y="41"/>
                    </a:cubicBezTo>
                    <a:cubicBezTo>
                      <a:pt x="63" y="41"/>
                      <a:pt x="63" y="41"/>
                      <a:pt x="63" y="41"/>
                    </a:cubicBezTo>
                    <a:cubicBezTo>
                      <a:pt x="62" y="45"/>
                      <a:pt x="59" y="46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îŝľiďê"/>
              <p:cNvSpPr/>
              <p:nvPr/>
            </p:nvSpPr>
            <p:spPr bwMode="auto">
              <a:xfrm>
                <a:off x="5626437" y="2018578"/>
                <a:ext cx="370799" cy="244312"/>
              </a:xfrm>
              <a:custGeom>
                <a:avLst/>
                <a:gdLst>
                  <a:gd name="T0" fmla="*/ 95 w 103"/>
                  <a:gd name="T1" fmla="*/ 66 h 68"/>
                  <a:gd name="T2" fmla="*/ 5 w 103"/>
                  <a:gd name="T3" fmla="*/ 14 h 68"/>
                  <a:gd name="T4" fmla="*/ 1 w 103"/>
                  <a:gd name="T5" fmla="*/ 5 h 68"/>
                  <a:gd name="T6" fmla="*/ 1 w 103"/>
                  <a:gd name="T7" fmla="*/ 5 h 68"/>
                  <a:gd name="T8" fmla="*/ 7 w 103"/>
                  <a:gd name="T9" fmla="*/ 2 h 68"/>
                  <a:gd name="T10" fmla="*/ 98 w 103"/>
                  <a:gd name="T11" fmla="*/ 54 h 68"/>
                  <a:gd name="T12" fmla="*/ 102 w 103"/>
                  <a:gd name="T13" fmla="*/ 63 h 68"/>
                  <a:gd name="T14" fmla="*/ 102 w 103"/>
                  <a:gd name="T15" fmla="*/ 63 h 68"/>
                  <a:gd name="T16" fmla="*/ 95 w 103"/>
                  <a:gd name="T17" fmla="*/ 6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68">
                    <a:moveTo>
                      <a:pt x="95" y="66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4" y="0"/>
                      <a:pt x="7" y="2"/>
                    </a:cubicBezTo>
                    <a:cubicBezTo>
                      <a:pt x="98" y="54"/>
                      <a:pt x="98" y="54"/>
                      <a:pt x="98" y="54"/>
                    </a:cubicBezTo>
                    <a:cubicBezTo>
                      <a:pt x="101" y="56"/>
                      <a:pt x="103" y="60"/>
                      <a:pt x="102" y="63"/>
                    </a:cubicBezTo>
                    <a:cubicBezTo>
                      <a:pt x="102" y="63"/>
                      <a:pt x="102" y="63"/>
                      <a:pt x="102" y="63"/>
                    </a:cubicBezTo>
                    <a:cubicBezTo>
                      <a:pt x="101" y="67"/>
                      <a:pt x="98" y="68"/>
                      <a:pt x="95" y="66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îSļïḑé"/>
              <p:cNvSpPr/>
              <p:nvPr/>
            </p:nvSpPr>
            <p:spPr bwMode="auto">
              <a:xfrm>
                <a:off x="5583119" y="2205710"/>
                <a:ext cx="230450" cy="164608"/>
              </a:xfrm>
              <a:custGeom>
                <a:avLst/>
                <a:gdLst>
                  <a:gd name="T0" fmla="*/ 57 w 64"/>
                  <a:gd name="T1" fmla="*/ 44 h 46"/>
                  <a:gd name="T2" fmla="*/ 4 w 64"/>
                  <a:gd name="T3" fmla="*/ 14 h 46"/>
                  <a:gd name="T4" fmla="*/ 1 w 64"/>
                  <a:gd name="T5" fmla="*/ 5 h 46"/>
                  <a:gd name="T6" fmla="*/ 1 w 64"/>
                  <a:gd name="T7" fmla="*/ 5 h 46"/>
                  <a:gd name="T8" fmla="*/ 7 w 64"/>
                  <a:gd name="T9" fmla="*/ 2 h 46"/>
                  <a:gd name="T10" fmla="*/ 59 w 64"/>
                  <a:gd name="T11" fmla="*/ 32 h 46"/>
                  <a:gd name="T12" fmla="*/ 63 w 64"/>
                  <a:gd name="T13" fmla="*/ 41 h 46"/>
                  <a:gd name="T14" fmla="*/ 63 w 64"/>
                  <a:gd name="T15" fmla="*/ 41 h 46"/>
                  <a:gd name="T16" fmla="*/ 57 w 64"/>
                  <a:gd name="T17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6">
                    <a:moveTo>
                      <a:pt x="57" y="4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2" y="33"/>
                      <a:pt x="64" y="38"/>
                      <a:pt x="63" y="41"/>
                    </a:cubicBezTo>
                    <a:cubicBezTo>
                      <a:pt x="63" y="41"/>
                      <a:pt x="63" y="41"/>
                      <a:pt x="63" y="41"/>
                    </a:cubicBezTo>
                    <a:cubicBezTo>
                      <a:pt x="62" y="44"/>
                      <a:pt x="59" y="46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î$ľïḑé"/>
              <p:cNvSpPr/>
              <p:nvPr/>
            </p:nvSpPr>
            <p:spPr bwMode="auto">
              <a:xfrm>
                <a:off x="6011097" y="2346059"/>
                <a:ext cx="112626" cy="97032"/>
              </a:xfrm>
              <a:custGeom>
                <a:avLst/>
                <a:gdLst>
                  <a:gd name="T0" fmla="*/ 23 w 31"/>
                  <a:gd name="T1" fmla="*/ 25 h 27"/>
                  <a:gd name="T2" fmla="*/ 4 w 31"/>
                  <a:gd name="T3" fmla="*/ 14 h 27"/>
                  <a:gd name="T4" fmla="*/ 0 w 31"/>
                  <a:gd name="T5" fmla="*/ 5 h 27"/>
                  <a:gd name="T6" fmla="*/ 0 w 31"/>
                  <a:gd name="T7" fmla="*/ 5 h 27"/>
                  <a:gd name="T8" fmla="*/ 7 w 31"/>
                  <a:gd name="T9" fmla="*/ 2 h 27"/>
                  <a:gd name="T10" fmla="*/ 26 w 31"/>
                  <a:gd name="T11" fmla="*/ 13 h 27"/>
                  <a:gd name="T12" fmla="*/ 30 w 31"/>
                  <a:gd name="T13" fmla="*/ 22 h 27"/>
                  <a:gd name="T14" fmla="*/ 30 w 31"/>
                  <a:gd name="T15" fmla="*/ 22 h 27"/>
                  <a:gd name="T16" fmla="*/ 23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3" y="2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2"/>
                      <a:pt x="0" y="8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" y="1"/>
                      <a:pt x="4" y="0"/>
                      <a:pt x="7" y="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14"/>
                      <a:pt x="31" y="18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5"/>
                      <a:pt x="26" y="27"/>
                      <a:pt x="23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ïsḷïďè"/>
              <p:cNvSpPr/>
              <p:nvPr/>
            </p:nvSpPr>
            <p:spPr bwMode="auto">
              <a:xfrm>
                <a:off x="6518780" y="2202245"/>
                <a:ext cx="112626" cy="97032"/>
              </a:xfrm>
              <a:custGeom>
                <a:avLst/>
                <a:gdLst>
                  <a:gd name="T0" fmla="*/ 23 w 31"/>
                  <a:gd name="T1" fmla="*/ 25 h 27"/>
                  <a:gd name="T2" fmla="*/ 5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2 h 27"/>
                  <a:gd name="T10" fmla="*/ 26 w 31"/>
                  <a:gd name="T11" fmla="*/ 13 h 27"/>
                  <a:gd name="T12" fmla="*/ 30 w 31"/>
                  <a:gd name="T13" fmla="*/ 22 h 27"/>
                  <a:gd name="T14" fmla="*/ 30 w 31"/>
                  <a:gd name="T15" fmla="*/ 22 h 27"/>
                  <a:gd name="T16" fmla="*/ 23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3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7" y="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14"/>
                      <a:pt x="31" y="19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5"/>
                      <a:pt x="26" y="27"/>
                      <a:pt x="23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iṧlíďe"/>
              <p:cNvSpPr/>
              <p:nvPr/>
            </p:nvSpPr>
            <p:spPr bwMode="auto">
              <a:xfrm>
                <a:off x="5539802" y="2392843"/>
                <a:ext cx="270302" cy="187132"/>
              </a:xfrm>
              <a:custGeom>
                <a:avLst/>
                <a:gdLst>
                  <a:gd name="T0" fmla="*/ 67 w 75"/>
                  <a:gd name="T1" fmla="*/ 50 h 52"/>
                  <a:gd name="T2" fmla="*/ 4 w 75"/>
                  <a:gd name="T3" fmla="*/ 14 h 52"/>
                  <a:gd name="T4" fmla="*/ 1 w 75"/>
                  <a:gd name="T5" fmla="*/ 5 h 52"/>
                  <a:gd name="T6" fmla="*/ 1 w 75"/>
                  <a:gd name="T7" fmla="*/ 5 h 52"/>
                  <a:gd name="T8" fmla="*/ 7 w 75"/>
                  <a:gd name="T9" fmla="*/ 2 h 52"/>
                  <a:gd name="T10" fmla="*/ 70 w 75"/>
                  <a:gd name="T11" fmla="*/ 38 h 52"/>
                  <a:gd name="T12" fmla="*/ 74 w 75"/>
                  <a:gd name="T13" fmla="*/ 47 h 52"/>
                  <a:gd name="T14" fmla="*/ 74 w 75"/>
                  <a:gd name="T15" fmla="*/ 47 h 52"/>
                  <a:gd name="T16" fmla="*/ 67 w 75"/>
                  <a:gd name="T17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52">
                    <a:moveTo>
                      <a:pt x="67" y="50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73" y="40"/>
                      <a:pt x="75" y="44"/>
                      <a:pt x="74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3" y="51"/>
                      <a:pt x="70" y="52"/>
                      <a:pt x="67" y="5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iśļïďé"/>
              <p:cNvSpPr/>
              <p:nvPr/>
            </p:nvSpPr>
            <p:spPr bwMode="auto">
              <a:xfrm>
                <a:off x="5596980" y="1684166"/>
                <a:ext cx="209658" cy="150746"/>
              </a:xfrm>
              <a:custGeom>
                <a:avLst/>
                <a:gdLst>
                  <a:gd name="T0" fmla="*/ 51 w 58"/>
                  <a:gd name="T1" fmla="*/ 40 h 42"/>
                  <a:gd name="T2" fmla="*/ 5 w 58"/>
                  <a:gd name="T3" fmla="*/ 14 h 42"/>
                  <a:gd name="T4" fmla="*/ 1 w 58"/>
                  <a:gd name="T5" fmla="*/ 5 h 42"/>
                  <a:gd name="T6" fmla="*/ 1 w 58"/>
                  <a:gd name="T7" fmla="*/ 5 h 42"/>
                  <a:gd name="T8" fmla="*/ 7 w 58"/>
                  <a:gd name="T9" fmla="*/ 1 h 42"/>
                  <a:gd name="T10" fmla="*/ 53 w 58"/>
                  <a:gd name="T11" fmla="*/ 28 h 42"/>
                  <a:gd name="T12" fmla="*/ 57 w 58"/>
                  <a:gd name="T13" fmla="*/ 37 h 42"/>
                  <a:gd name="T14" fmla="*/ 57 w 58"/>
                  <a:gd name="T15" fmla="*/ 37 h 42"/>
                  <a:gd name="T16" fmla="*/ 51 w 58"/>
                  <a:gd name="T17" fmla="*/ 4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42">
                    <a:moveTo>
                      <a:pt x="51" y="4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4" y="0"/>
                      <a:pt x="7" y="1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6" y="30"/>
                      <a:pt x="58" y="34"/>
                      <a:pt x="57" y="37"/>
                    </a:cubicBezTo>
                    <a:cubicBezTo>
                      <a:pt x="57" y="37"/>
                      <a:pt x="57" y="37"/>
                      <a:pt x="57" y="37"/>
                    </a:cubicBezTo>
                    <a:cubicBezTo>
                      <a:pt x="56" y="41"/>
                      <a:pt x="53" y="42"/>
                      <a:pt x="51" y="4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îśľïḓê"/>
              <p:cNvSpPr/>
              <p:nvPr/>
            </p:nvSpPr>
            <p:spPr bwMode="auto">
              <a:xfrm>
                <a:off x="5380393" y="2619827"/>
                <a:ext cx="235648" cy="168073"/>
              </a:xfrm>
              <a:custGeom>
                <a:avLst/>
                <a:gdLst>
                  <a:gd name="T0" fmla="*/ 58 w 65"/>
                  <a:gd name="T1" fmla="*/ 45 h 47"/>
                  <a:gd name="T2" fmla="*/ 4 w 65"/>
                  <a:gd name="T3" fmla="*/ 14 h 47"/>
                  <a:gd name="T4" fmla="*/ 1 w 65"/>
                  <a:gd name="T5" fmla="*/ 5 h 47"/>
                  <a:gd name="T6" fmla="*/ 1 w 65"/>
                  <a:gd name="T7" fmla="*/ 5 h 47"/>
                  <a:gd name="T8" fmla="*/ 7 w 65"/>
                  <a:gd name="T9" fmla="*/ 2 h 47"/>
                  <a:gd name="T10" fmla="*/ 61 w 65"/>
                  <a:gd name="T11" fmla="*/ 33 h 47"/>
                  <a:gd name="T12" fmla="*/ 64 w 65"/>
                  <a:gd name="T13" fmla="*/ 42 h 47"/>
                  <a:gd name="T14" fmla="*/ 64 w 65"/>
                  <a:gd name="T15" fmla="*/ 42 h 47"/>
                  <a:gd name="T16" fmla="*/ 58 w 65"/>
                  <a:gd name="T17" fmla="*/ 4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7">
                    <a:moveTo>
                      <a:pt x="58" y="4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61" y="33"/>
                      <a:pt x="61" y="33"/>
                      <a:pt x="61" y="33"/>
                    </a:cubicBezTo>
                    <a:cubicBezTo>
                      <a:pt x="63" y="34"/>
                      <a:pt x="65" y="39"/>
                      <a:pt x="64" y="42"/>
                    </a:cubicBezTo>
                    <a:cubicBezTo>
                      <a:pt x="64" y="42"/>
                      <a:pt x="64" y="42"/>
                      <a:pt x="64" y="42"/>
                    </a:cubicBezTo>
                    <a:cubicBezTo>
                      <a:pt x="64" y="45"/>
                      <a:pt x="61" y="47"/>
                      <a:pt x="58" y="4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îšḷïḑé"/>
              <p:cNvSpPr/>
              <p:nvPr/>
            </p:nvSpPr>
            <p:spPr bwMode="auto">
              <a:xfrm>
                <a:off x="5576188" y="3278255"/>
                <a:ext cx="154211" cy="121289"/>
              </a:xfrm>
              <a:custGeom>
                <a:avLst/>
                <a:gdLst>
                  <a:gd name="T0" fmla="*/ 36 w 43"/>
                  <a:gd name="T1" fmla="*/ 32 h 34"/>
                  <a:gd name="T2" fmla="*/ 4 w 43"/>
                  <a:gd name="T3" fmla="*/ 14 h 34"/>
                  <a:gd name="T4" fmla="*/ 1 w 43"/>
                  <a:gd name="T5" fmla="*/ 5 h 34"/>
                  <a:gd name="T6" fmla="*/ 1 w 43"/>
                  <a:gd name="T7" fmla="*/ 5 h 34"/>
                  <a:gd name="T8" fmla="*/ 7 w 43"/>
                  <a:gd name="T9" fmla="*/ 2 h 34"/>
                  <a:gd name="T10" fmla="*/ 39 w 43"/>
                  <a:gd name="T11" fmla="*/ 20 h 34"/>
                  <a:gd name="T12" fmla="*/ 42 w 43"/>
                  <a:gd name="T13" fmla="*/ 29 h 34"/>
                  <a:gd name="T14" fmla="*/ 42 w 43"/>
                  <a:gd name="T15" fmla="*/ 29 h 34"/>
                  <a:gd name="T16" fmla="*/ 36 w 43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34">
                    <a:moveTo>
                      <a:pt x="36" y="32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1" y="22"/>
                      <a:pt x="43" y="26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33"/>
                      <a:pt x="39" y="34"/>
                      <a:pt x="36" y="32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işḷîde"/>
              <p:cNvSpPr/>
              <p:nvPr/>
            </p:nvSpPr>
            <p:spPr bwMode="auto">
              <a:xfrm>
                <a:off x="5787578" y="3403009"/>
                <a:ext cx="213123" cy="152478"/>
              </a:xfrm>
              <a:custGeom>
                <a:avLst/>
                <a:gdLst>
                  <a:gd name="T0" fmla="*/ 51 w 59"/>
                  <a:gd name="T1" fmla="*/ 40 h 42"/>
                  <a:gd name="T2" fmla="*/ 5 w 59"/>
                  <a:gd name="T3" fmla="*/ 14 h 42"/>
                  <a:gd name="T4" fmla="*/ 1 w 59"/>
                  <a:gd name="T5" fmla="*/ 4 h 42"/>
                  <a:gd name="T6" fmla="*/ 1 w 59"/>
                  <a:gd name="T7" fmla="*/ 4 h 42"/>
                  <a:gd name="T8" fmla="*/ 8 w 59"/>
                  <a:gd name="T9" fmla="*/ 1 h 42"/>
                  <a:gd name="T10" fmla="*/ 54 w 59"/>
                  <a:gd name="T11" fmla="*/ 28 h 42"/>
                  <a:gd name="T12" fmla="*/ 58 w 59"/>
                  <a:gd name="T13" fmla="*/ 37 h 42"/>
                  <a:gd name="T14" fmla="*/ 58 w 59"/>
                  <a:gd name="T15" fmla="*/ 37 h 42"/>
                  <a:gd name="T16" fmla="*/ 51 w 59"/>
                  <a:gd name="T17" fmla="*/ 4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2">
                    <a:moveTo>
                      <a:pt x="51" y="4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54" y="28"/>
                      <a:pt x="54" y="28"/>
                      <a:pt x="54" y="28"/>
                    </a:cubicBezTo>
                    <a:cubicBezTo>
                      <a:pt x="57" y="30"/>
                      <a:pt x="59" y="34"/>
                      <a:pt x="58" y="37"/>
                    </a:cubicBezTo>
                    <a:cubicBezTo>
                      <a:pt x="58" y="37"/>
                      <a:pt x="58" y="37"/>
                      <a:pt x="58" y="37"/>
                    </a:cubicBezTo>
                    <a:cubicBezTo>
                      <a:pt x="57" y="41"/>
                      <a:pt x="54" y="42"/>
                      <a:pt x="51" y="4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ïṥḷiďe"/>
              <p:cNvSpPr/>
              <p:nvPr/>
            </p:nvSpPr>
            <p:spPr bwMode="auto">
              <a:xfrm>
                <a:off x="5376927" y="3803265"/>
                <a:ext cx="159409" cy="123023"/>
              </a:xfrm>
              <a:custGeom>
                <a:avLst/>
                <a:gdLst>
                  <a:gd name="T0" fmla="*/ 36 w 44"/>
                  <a:gd name="T1" fmla="*/ 32 h 34"/>
                  <a:gd name="T2" fmla="*/ 5 w 44"/>
                  <a:gd name="T3" fmla="*/ 14 h 34"/>
                  <a:gd name="T4" fmla="*/ 1 w 44"/>
                  <a:gd name="T5" fmla="*/ 5 h 34"/>
                  <a:gd name="T6" fmla="*/ 1 w 44"/>
                  <a:gd name="T7" fmla="*/ 5 h 34"/>
                  <a:gd name="T8" fmla="*/ 8 w 44"/>
                  <a:gd name="T9" fmla="*/ 2 h 34"/>
                  <a:gd name="T10" fmla="*/ 39 w 44"/>
                  <a:gd name="T11" fmla="*/ 20 h 34"/>
                  <a:gd name="T12" fmla="*/ 43 w 44"/>
                  <a:gd name="T13" fmla="*/ 29 h 34"/>
                  <a:gd name="T14" fmla="*/ 43 w 44"/>
                  <a:gd name="T15" fmla="*/ 29 h 34"/>
                  <a:gd name="T16" fmla="*/ 36 w 44"/>
                  <a:gd name="T17" fmla="*/ 32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34">
                    <a:moveTo>
                      <a:pt x="36" y="32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2" y="21"/>
                      <a:pt x="44" y="26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2" y="32"/>
                      <a:pt x="39" y="34"/>
                      <a:pt x="36" y="32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3" name="îṩ1íḓè"/>
              <p:cNvSpPr/>
              <p:nvPr/>
            </p:nvSpPr>
            <p:spPr bwMode="auto">
              <a:xfrm>
                <a:off x="5564059" y="3910693"/>
                <a:ext cx="209658" cy="150746"/>
              </a:xfrm>
              <a:custGeom>
                <a:avLst/>
                <a:gdLst>
                  <a:gd name="T0" fmla="*/ 51 w 58"/>
                  <a:gd name="T1" fmla="*/ 40 h 42"/>
                  <a:gd name="T2" fmla="*/ 5 w 58"/>
                  <a:gd name="T3" fmla="*/ 14 h 42"/>
                  <a:gd name="T4" fmla="*/ 1 w 58"/>
                  <a:gd name="T5" fmla="*/ 5 h 42"/>
                  <a:gd name="T6" fmla="*/ 1 w 58"/>
                  <a:gd name="T7" fmla="*/ 5 h 42"/>
                  <a:gd name="T8" fmla="*/ 7 w 58"/>
                  <a:gd name="T9" fmla="*/ 1 h 42"/>
                  <a:gd name="T10" fmla="*/ 53 w 58"/>
                  <a:gd name="T11" fmla="*/ 28 h 42"/>
                  <a:gd name="T12" fmla="*/ 57 w 58"/>
                  <a:gd name="T13" fmla="*/ 37 h 42"/>
                  <a:gd name="T14" fmla="*/ 57 w 58"/>
                  <a:gd name="T15" fmla="*/ 37 h 42"/>
                  <a:gd name="T16" fmla="*/ 51 w 58"/>
                  <a:gd name="T17" fmla="*/ 4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42">
                    <a:moveTo>
                      <a:pt x="51" y="4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1"/>
                      <a:pt x="4" y="0"/>
                      <a:pt x="7" y="1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6" y="30"/>
                      <a:pt x="58" y="34"/>
                      <a:pt x="57" y="37"/>
                    </a:cubicBezTo>
                    <a:cubicBezTo>
                      <a:pt x="57" y="37"/>
                      <a:pt x="57" y="37"/>
                      <a:pt x="57" y="37"/>
                    </a:cubicBezTo>
                    <a:cubicBezTo>
                      <a:pt x="56" y="41"/>
                      <a:pt x="53" y="42"/>
                      <a:pt x="51" y="4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4" name="ïṧľîḋè"/>
              <p:cNvSpPr/>
              <p:nvPr/>
            </p:nvSpPr>
            <p:spPr bwMode="auto">
              <a:xfrm>
                <a:off x="5283361" y="3215877"/>
                <a:ext cx="116092" cy="97032"/>
              </a:xfrm>
              <a:custGeom>
                <a:avLst/>
                <a:gdLst>
                  <a:gd name="T0" fmla="*/ 25 w 32"/>
                  <a:gd name="T1" fmla="*/ 26 h 27"/>
                  <a:gd name="T2" fmla="*/ 5 w 32"/>
                  <a:gd name="T3" fmla="*/ 14 h 27"/>
                  <a:gd name="T4" fmla="*/ 1 w 32"/>
                  <a:gd name="T5" fmla="*/ 5 h 27"/>
                  <a:gd name="T6" fmla="*/ 1 w 32"/>
                  <a:gd name="T7" fmla="*/ 5 h 27"/>
                  <a:gd name="T8" fmla="*/ 8 w 32"/>
                  <a:gd name="T9" fmla="*/ 2 h 27"/>
                  <a:gd name="T10" fmla="*/ 27 w 32"/>
                  <a:gd name="T11" fmla="*/ 13 h 27"/>
                  <a:gd name="T12" fmla="*/ 31 w 32"/>
                  <a:gd name="T13" fmla="*/ 22 h 27"/>
                  <a:gd name="T14" fmla="*/ 31 w 32"/>
                  <a:gd name="T15" fmla="*/ 22 h 27"/>
                  <a:gd name="T16" fmla="*/ 25 w 32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7">
                    <a:moveTo>
                      <a:pt x="25" y="26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30" y="15"/>
                      <a:pt x="32" y="19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6"/>
                      <a:pt x="27" y="27"/>
                      <a:pt x="25" y="26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5" name="i$ľîḍe"/>
              <p:cNvSpPr/>
              <p:nvPr/>
            </p:nvSpPr>
            <p:spPr bwMode="auto">
              <a:xfrm>
                <a:off x="5356135" y="3364890"/>
                <a:ext cx="259906" cy="181935"/>
              </a:xfrm>
              <a:custGeom>
                <a:avLst/>
                <a:gdLst>
                  <a:gd name="T0" fmla="*/ 65 w 72"/>
                  <a:gd name="T1" fmla="*/ 49 h 51"/>
                  <a:gd name="T2" fmla="*/ 5 w 72"/>
                  <a:gd name="T3" fmla="*/ 15 h 51"/>
                  <a:gd name="T4" fmla="*/ 1 w 72"/>
                  <a:gd name="T5" fmla="*/ 5 h 51"/>
                  <a:gd name="T6" fmla="*/ 1 w 72"/>
                  <a:gd name="T7" fmla="*/ 5 h 51"/>
                  <a:gd name="T8" fmla="*/ 8 w 72"/>
                  <a:gd name="T9" fmla="*/ 2 h 51"/>
                  <a:gd name="T10" fmla="*/ 68 w 72"/>
                  <a:gd name="T11" fmla="*/ 36 h 51"/>
                  <a:gd name="T12" fmla="*/ 71 w 72"/>
                  <a:gd name="T13" fmla="*/ 46 h 51"/>
                  <a:gd name="T14" fmla="*/ 71 w 72"/>
                  <a:gd name="T15" fmla="*/ 46 h 51"/>
                  <a:gd name="T16" fmla="*/ 65 w 72"/>
                  <a:gd name="T17" fmla="*/ 49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1">
                    <a:moveTo>
                      <a:pt x="65" y="49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70" y="38"/>
                      <a:pt x="72" y="42"/>
                      <a:pt x="71" y="46"/>
                    </a:cubicBezTo>
                    <a:cubicBezTo>
                      <a:pt x="71" y="46"/>
                      <a:pt x="71" y="46"/>
                      <a:pt x="71" y="46"/>
                    </a:cubicBezTo>
                    <a:cubicBezTo>
                      <a:pt x="71" y="49"/>
                      <a:pt x="68" y="51"/>
                      <a:pt x="65" y="49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6" name="îṩ1îḋe"/>
              <p:cNvSpPr/>
              <p:nvPr/>
            </p:nvSpPr>
            <p:spPr bwMode="auto">
              <a:xfrm>
                <a:off x="5312817" y="3555487"/>
                <a:ext cx="114359" cy="97032"/>
              </a:xfrm>
              <a:custGeom>
                <a:avLst/>
                <a:gdLst>
                  <a:gd name="T0" fmla="*/ 25 w 32"/>
                  <a:gd name="T1" fmla="*/ 25 h 27"/>
                  <a:gd name="T2" fmla="*/ 5 w 32"/>
                  <a:gd name="T3" fmla="*/ 14 h 27"/>
                  <a:gd name="T4" fmla="*/ 1 w 32"/>
                  <a:gd name="T5" fmla="*/ 4 h 27"/>
                  <a:gd name="T6" fmla="*/ 1 w 32"/>
                  <a:gd name="T7" fmla="*/ 4 h 27"/>
                  <a:gd name="T8" fmla="*/ 8 w 32"/>
                  <a:gd name="T9" fmla="*/ 1 h 27"/>
                  <a:gd name="T10" fmla="*/ 27 w 32"/>
                  <a:gd name="T11" fmla="*/ 12 h 27"/>
                  <a:gd name="T12" fmla="*/ 31 w 32"/>
                  <a:gd name="T13" fmla="*/ 22 h 27"/>
                  <a:gd name="T14" fmla="*/ 31 w 32"/>
                  <a:gd name="T15" fmla="*/ 22 h 27"/>
                  <a:gd name="T16" fmla="*/ 25 w 32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7">
                    <a:moveTo>
                      <a:pt x="25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0" y="14"/>
                      <a:pt x="32" y="18"/>
                      <a:pt x="31" y="22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30" y="25"/>
                      <a:pt x="27" y="27"/>
                      <a:pt x="25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7" name="íṥlíďè"/>
              <p:cNvSpPr/>
              <p:nvPr/>
            </p:nvSpPr>
            <p:spPr bwMode="auto">
              <a:xfrm>
                <a:off x="5579653" y="4130746"/>
                <a:ext cx="230450" cy="164608"/>
              </a:xfrm>
              <a:custGeom>
                <a:avLst/>
                <a:gdLst>
                  <a:gd name="T0" fmla="*/ 57 w 64"/>
                  <a:gd name="T1" fmla="*/ 44 h 46"/>
                  <a:gd name="T2" fmla="*/ 4 w 64"/>
                  <a:gd name="T3" fmla="*/ 14 h 46"/>
                  <a:gd name="T4" fmla="*/ 1 w 64"/>
                  <a:gd name="T5" fmla="*/ 5 h 46"/>
                  <a:gd name="T6" fmla="*/ 1 w 64"/>
                  <a:gd name="T7" fmla="*/ 5 h 46"/>
                  <a:gd name="T8" fmla="*/ 7 w 64"/>
                  <a:gd name="T9" fmla="*/ 2 h 46"/>
                  <a:gd name="T10" fmla="*/ 59 w 64"/>
                  <a:gd name="T11" fmla="*/ 32 h 46"/>
                  <a:gd name="T12" fmla="*/ 63 w 64"/>
                  <a:gd name="T13" fmla="*/ 41 h 46"/>
                  <a:gd name="T14" fmla="*/ 63 w 64"/>
                  <a:gd name="T15" fmla="*/ 41 h 46"/>
                  <a:gd name="T16" fmla="*/ 57 w 64"/>
                  <a:gd name="T17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6">
                    <a:moveTo>
                      <a:pt x="57" y="44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2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2" y="34"/>
                      <a:pt x="64" y="38"/>
                      <a:pt x="63" y="41"/>
                    </a:cubicBezTo>
                    <a:cubicBezTo>
                      <a:pt x="63" y="41"/>
                      <a:pt x="63" y="41"/>
                      <a:pt x="63" y="41"/>
                    </a:cubicBezTo>
                    <a:cubicBezTo>
                      <a:pt x="62" y="45"/>
                      <a:pt x="59" y="46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8" name="iṣlíḋè"/>
              <p:cNvSpPr/>
              <p:nvPr/>
            </p:nvSpPr>
            <p:spPr bwMode="auto">
              <a:xfrm>
                <a:off x="5269499" y="3742620"/>
                <a:ext cx="90101" cy="81438"/>
              </a:xfrm>
              <a:custGeom>
                <a:avLst/>
                <a:gdLst>
                  <a:gd name="T0" fmla="*/ 18 w 25"/>
                  <a:gd name="T1" fmla="*/ 21 h 23"/>
                  <a:gd name="T2" fmla="*/ 5 w 25"/>
                  <a:gd name="T3" fmla="*/ 14 h 23"/>
                  <a:gd name="T4" fmla="*/ 1 w 25"/>
                  <a:gd name="T5" fmla="*/ 5 h 23"/>
                  <a:gd name="T6" fmla="*/ 1 w 25"/>
                  <a:gd name="T7" fmla="*/ 5 h 23"/>
                  <a:gd name="T8" fmla="*/ 8 w 25"/>
                  <a:gd name="T9" fmla="*/ 1 h 23"/>
                  <a:gd name="T10" fmla="*/ 20 w 25"/>
                  <a:gd name="T11" fmla="*/ 9 h 23"/>
                  <a:gd name="T12" fmla="*/ 24 w 25"/>
                  <a:gd name="T13" fmla="*/ 18 h 23"/>
                  <a:gd name="T14" fmla="*/ 24 w 25"/>
                  <a:gd name="T15" fmla="*/ 18 h 23"/>
                  <a:gd name="T16" fmla="*/ 18 w 25"/>
                  <a:gd name="T17" fmla="*/ 2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23">
                    <a:moveTo>
                      <a:pt x="18" y="2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3" y="10"/>
                      <a:pt x="25" y="14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21"/>
                      <a:pt x="20" y="23"/>
                      <a:pt x="18" y="2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9" name="ï$líḓê"/>
              <p:cNvSpPr/>
              <p:nvPr/>
            </p:nvSpPr>
            <p:spPr bwMode="auto">
              <a:xfrm>
                <a:off x="5226181" y="3929752"/>
                <a:ext cx="100497" cy="90101"/>
              </a:xfrm>
              <a:custGeom>
                <a:avLst/>
                <a:gdLst>
                  <a:gd name="T0" fmla="*/ 21 w 28"/>
                  <a:gd name="T1" fmla="*/ 23 h 25"/>
                  <a:gd name="T2" fmla="*/ 5 w 28"/>
                  <a:gd name="T3" fmla="*/ 14 h 25"/>
                  <a:gd name="T4" fmla="*/ 1 w 28"/>
                  <a:gd name="T5" fmla="*/ 5 h 25"/>
                  <a:gd name="T6" fmla="*/ 1 w 28"/>
                  <a:gd name="T7" fmla="*/ 5 h 25"/>
                  <a:gd name="T8" fmla="*/ 8 w 28"/>
                  <a:gd name="T9" fmla="*/ 1 h 25"/>
                  <a:gd name="T10" fmla="*/ 23 w 28"/>
                  <a:gd name="T11" fmla="*/ 10 h 25"/>
                  <a:gd name="T12" fmla="*/ 27 w 28"/>
                  <a:gd name="T13" fmla="*/ 20 h 25"/>
                  <a:gd name="T14" fmla="*/ 27 w 28"/>
                  <a:gd name="T15" fmla="*/ 20 h 25"/>
                  <a:gd name="T16" fmla="*/ 21 w 28"/>
                  <a:gd name="T17" fmla="*/ 2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25">
                    <a:moveTo>
                      <a:pt x="21" y="23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3" y="10"/>
                      <a:pt x="23" y="10"/>
                      <a:pt x="23" y="10"/>
                    </a:cubicBezTo>
                    <a:cubicBezTo>
                      <a:pt x="26" y="12"/>
                      <a:pt x="28" y="16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6" y="23"/>
                      <a:pt x="23" y="25"/>
                      <a:pt x="21" y="23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0" name="iśḷíḍê"/>
              <p:cNvSpPr/>
              <p:nvPr/>
            </p:nvSpPr>
            <p:spPr bwMode="auto">
              <a:xfrm>
                <a:off x="5352669" y="4000793"/>
                <a:ext cx="194063" cy="140350"/>
              </a:xfrm>
              <a:custGeom>
                <a:avLst/>
                <a:gdLst>
                  <a:gd name="T0" fmla="*/ 46 w 54"/>
                  <a:gd name="T1" fmla="*/ 38 h 39"/>
                  <a:gd name="T2" fmla="*/ 5 w 54"/>
                  <a:gd name="T3" fmla="*/ 14 h 39"/>
                  <a:gd name="T4" fmla="*/ 1 w 54"/>
                  <a:gd name="T5" fmla="*/ 5 h 39"/>
                  <a:gd name="T6" fmla="*/ 1 w 54"/>
                  <a:gd name="T7" fmla="*/ 5 h 39"/>
                  <a:gd name="T8" fmla="*/ 8 w 54"/>
                  <a:gd name="T9" fmla="*/ 2 h 39"/>
                  <a:gd name="T10" fmla="*/ 49 w 54"/>
                  <a:gd name="T11" fmla="*/ 25 h 39"/>
                  <a:gd name="T12" fmla="*/ 53 w 54"/>
                  <a:gd name="T13" fmla="*/ 35 h 39"/>
                  <a:gd name="T14" fmla="*/ 53 w 54"/>
                  <a:gd name="T15" fmla="*/ 35 h 39"/>
                  <a:gd name="T16" fmla="*/ 46 w 54"/>
                  <a:gd name="T17" fmla="*/ 3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39">
                    <a:moveTo>
                      <a:pt x="46" y="38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49" y="25"/>
                      <a:pt x="49" y="25"/>
                      <a:pt x="49" y="25"/>
                    </a:cubicBezTo>
                    <a:cubicBezTo>
                      <a:pt x="52" y="27"/>
                      <a:pt x="54" y="31"/>
                      <a:pt x="53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2" y="38"/>
                      <a:pt x="49" y="39"/>
                      <a:pt x="46" y="38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1" name="ï$1îḑé"/>
              <p:cNvSpPr/>
              <p:nvPr/>
            </p:nvSpPr>
            <p:spPr bwMode="auto">
              <a:xfrm>
                <a:off x="5203657" y="4023318"/>
                <a:ext cx="152478" cy="117824"/>
              </a:xfrm>
              <a:custGeom>
                <a:avLst/>
                <a:gdLst>
                  <a:gd name="T0" fmla="*/ 34 w 42"/>
                  <a:gd name="T1" fmla="*/ 31 h 33"/>
                  <a:gd name="T2" fmla="*/ 5 w 42"/>
                  <a:gd name="T3" fmla="*/ 14 h 33"/>
                  <a:gd name="T4" fmla="*/ 1 w 42"/>
                  <a:gd name="T5" fmla="*/ 5 h 33"/>
                  <a:gd name="T6" fmla="*/ 1 w 42"/>
                  <a:gd name="T7" fmla="*/ 5 h 33"/>
                  <a:gd name="T8" fmla="*/ 8 w 42"/>
                  <a:gd name="T9" fmla="*/ 2 h 33"/>
                  <a:gd name="T10" fmla="*/ 37 w 42"/>
                  <a:gd name="T11" fmla="*/ 19 h 33"/>
                  <a:gd name="T12" fmla="*/ 41 w 42"/>
                  <a:gd name="T13" fmla="*/ 28 h 33"/>
                  <a:gd name="T14" fmla="*/ 41 w 42"/>
                  <a:gd name="T15" fmla="*/ 28 h 33"/>
                  <a:gd name="T16" fmla="*/ 34 w 42"/>
                  <a:gd name="T17" fmla="*/ 3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" h="33">
                    <a:moveTo>
                      <a:pt x="34" y="3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40" y="20"/>
                      <a:pt x="42" y="24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31"/>
                      <a:pt x="37" y="33"/>
                      <a:pt x="34" y="3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2" name="išliďe"/>
              <p:cNvSpPr/>
              <p:nvPr/>
            </p:nvSpPr>
            <p:spPr bwMode="auto">
              <a:xfrm>
                <a:off x="5860352" y="4291888"/>
                <a:ext cx="110893" cy="97032"/>
              </a:xfrm>
              <a:custGeom>
                <a:avLst/>
                <a:gdLst>
                  <a:gd name="T0" fmla="*/ 23 w 31"/>
                  <a:gd name="T1" fmla="*/ 25 h 27"/>
                  <a:gd name="T2" fmla="*/ 4 w 31"/>
                  <a:gd name="T3" fmla="*/ 14 h 27"/>
                  <a:gd name="T4" fmla="*/ 1 w 31"/>
                  <a:gd name="T5" fmla="*/ 5 h 27"/>
                  <a:gd name="T6" fmla="*/ 1 w 31"/>
                  <a:gd name="T7" fmla="*/ 5 h 27"/>
                  <a:gd name="T8" fmla="*/ 7 w 31"/>
                  <a:gd name="T9" fmla="*/ 2 h 27"/>
                  <a:gd name="T10" fmla="*/ 26 w 31"/>
                  <a:gd name="T11" fmla="*/ 13 h 27"/>
                  <a:gd name="T12" fmla="*/ 30 w 31"/>
                  <a:gd name="T13" fmla="*/ 22 h 27"/>
                  <a:gd name="T14" fmla="*/ 30 w 31"/>
                  <a:gd name="T15" fmla="*/ 22 h 27"/>
                  <a:gd name="T16" fmla="*/ 23 w 31"/>
                  <a:gd name="T17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7">
                    <a:moveTo>
                      <a:pt x="23" y="2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2"/>
                      <a:pt x="4" y="0"/>
                      <a:pt x="7" y="2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9" y="14"/>
                      <a:pt x="31" y="19"/>
                      <a:pt x="30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29" y="25"/>
                      <a:pt x="26" y="27"/>
                      <a:pt x="23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3" name="iṥḷiḓé"/>
              <p:cNvSpPr/>
              <p:nvPr/>
            </p:nvSpPr>
            <p:spPr bwMode="auto">
              <a:xfrm>
                <a:off x="5456632" y="3636925"/>
                <a:ext cx="233916" cy="162874"/>
              </a:xfrm>
              <a:custGeom>
                <a:avLst/>
                <a:gdLst>
                  <a:gd name="T0" fmla="*/ 57 w 65"/>
                  <a:gd name="T1" fmla="*/ 44 h 45"/>
                  <a:gd name="T2" fmla="*/ 5 w 65"/>
                  <a:gd name="T3" fmla="*/ 14 h 45"/>
                  <a:gd name="T4" fmla="*/ 1 w 65"/>
                  <a:gd name="T5" fmla="*/ 4 h 45"/>
                  <a:gd name="T6" fmla="*/ 1 w 65"/>
                  <a:gd name="T7" fmla="*/ 4 h 45"/>
                  <a:gd name="T8" fmla="*/ 8 w 65"/>
                  <a:gd name="T9" fmla="*/ 1 h 45"/>
                  <a:gd name="T10" fmla="*/ 60 w 65"/>
                  <a:gd name="T11" fmla="*/ 31 h 45"/>
                  <a:gd name="T12" fmla="*/ 64 w 65"/>
                  <a:gd name="T13" fmla="*/ 41 h 45"/>
                  <a:gd name="T14" fmla="*/ 64 w 65"/>
                  <a:gd name="T15" fmla="*/ 41 h 45"/>
                  <a:gd name="T16" fmla="*/ 57 w 65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5">
                    <a:moveTo>
                      <a:pt x="57" y="44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3" y="33"/>
                      <a:pt x="65" y="37"/>
                      <a:pt x="64" y="41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4"/>
                      <a:pt x="60" y="45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4" name="ïṧḻiḓè"/>
              <p:cNvSpPr/>
              <p:nvPr/>
            </p:nvSpPr>
            <p:spPr bwMode="auto">
              <a:xfrm>
                <a:off x="5333609" y="3458456"/>
                <a:ext cx="372532" cy="247777"/>
              </a:xfrm>
              <a:custGeom>
                <a:avLst/>
                <a:gdLst>
                  <a:gd name="T0" fmla="*/ 96 w 103"/>
                  <a:gd name="T1" fmla="*/ 67 h 69"/>
                  <a:gd name="T2" fmla="*/ 5 w 103"/>
                  <a:gd name="T3" fmla="*/ 15 h 69"/>
                  <a:gd name="T4" fmla="*/ 1 w 103"/>
                  <a:gd name="T5" fmla="*/ 5 h 69"/>
                  <a:gd name="T6" fmla="*/ 1 w 103"/>
                  <a:gd name="T7" fmla="*/ 5 h 69"/>
                  <a:gd name="T8" fmla="*/ 8 w 103"/>
                  <a:gd name="T9" fmla="*/ 2 h 69"/>
                  <a:gd name="T10" fmla="*/ 99 w 103"/>
                  <a:gd name="T11" fmla="*/ 55 h 69"/>
                  <a:gd name="T12" fmla="*/ 103 w 103"/>
                  <a:gd name="T13" fmla="*/ 64 h 69"/>
                  <a:gd name="T14" fmla="*/ 103 w 103"/>
                  <a:gd name="T15" fmla="*/ 64 h 69"/>
                  <a:gd name="T16" fmla="*/ 96 w 103"/>
                  <a:gd name="T17" fmla="*/ 67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69">
                    <a:moveTo>
                      <a:pt x="96" y="67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99" y="55"/>
                      <a:pt x="99" y="55"/>
                      <a:pt x="99" y="55"/>
                    </a:cubicBezTo>
                    <a:cubicBezTo>
                      <a:pt x="102" y="56"/>
                      <a:pt x="103" y="60"/>
                      <a:pt x="103" y="64"/>
                    </a:cubicBezTo>
                    <a:cubicBezTo>
                      <a:pt x="103" y="64"/>
                      <a:pt x="103" y="64"/>
                      <a:pt x="103" y="64"/>
                    </a:cubicBezTo>
                    <a:cubicBezTo>
                      <a:pt x="102" y="67"/>
                      <a:pt x="99" y="69"/>
                      <a:pt x="96" y="67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5" name="ïsļíḑê"/>
              <p:cNvSpPr/>
              <p:nvPr/>
            </p:nvSpPr>
            <p:spPr bwMode="auto">
              <a:xfrm>
                <a:off x="5290292" y="3649054"/>
                <a:ext cx="235648" cy="161142"/>
              </a:xfrm>
              <a:custGeom>
                <a:avLst/>
                <a:gdLst>
                  <a:gd name="T0" fmla="*/ 57 w 65"/>
                  <a:gd name="T1" fmla="*/ 44 h 45"/>
                  <a:gd name="T2" fmla="*/ 5 w 65"/>
                  <a:gd name="T3" fmla="*/ 14 h 45"/>
                  <a:gd name="T4" fmla="*/ 1 w 65"/>
                  <a:gd name="T5" fmla="*/ 4 h 45"/>
                  <a:gd name="T6" fmla="*/ 1 w 65"/>
                  <a:gd name="T7" fmla="*/ 4 h 45"/>
                  <a:gd name="T8" fmla="*/ 8 w 65"/>
                  <a:gd name="T9" fmla="*/ 1 h 45"/>
                  <a:gd name="T10" fmla="*/ 60 w 65"/>
                  <a:gd name="T11" fmla="*/ 31 h 45"/>
                  <a:gd name="T12" fmla="*/ 64 w 65"/>
                  <a:gd name="T13" fmla="*/ 41 h 45"/>
                  <a:gd name="T14" fmla="*/ 64 w 65"/>
                  <a:gd name="T15" fmla="*/ 41 h 45"/>
                  <a:gd name="T16" fmla="*/ 57 w 65"/>
                  <a:gd name="T17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" h="45">
                    <a:moveTo>
                      <a:pt x="57" y="44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3" y="33"/>
                      <a:pt x="65" y="37"/>
                      <a:pt x="64" y="41"/>
                    </a:cubicBezTo>
                    <a:cubicBezTo>
                      <a:pt x="64" y="41"/>
                      <a:pt x="64" y="41"/>
                      <a:pt x="64" y="41"/>
                    </a:cubicBezTo>
                    <a:cubicBezTo>
                      <a:pt x="63" y="44"/>
                      <a:pt x="60" y="45"/>
                      <a:pt x="57" y="44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6" name="iş1íḑê"/>
              <p:cNvSpPr/>
              <p:nvPr/>
            </p:nvSpPr>
            <p:spPr bwMode="auto">
              <a:xfrm>
                <a:off x="5720003" y="3789403"/>
                <a:ext cx="110893" cy="93566"/>
              </a:xfrm>
              <a:custGeom>
                <a:avLst/>
                <a:gdLst>
                  <a:gd name="T0" fmla="*/ 24 w 31"/>
                  <a:gd name="T1" fmla="*/ 25 h 26"/>
                  <a:gd name="T2" fmla="*/ 5 w 31"/>
                  <a:gd name="T3" fmla="*/ 14 h 26"/>
                  <a:gd name="T4" fmla="*/ 1 w 31"/>
                  <a:gd name="T5" fmla="*/ 4 h 26"/>
                  <a:gd name="T6" fmla="*/ 1 w 31"/>
                  <a:gd name="T7" fmla="*/ 4 h 26"/>
                  <a:gd name="T8" fmla="*/ 8 w 31"/>
                  <a:gd name="T9" fmla="*/ 1 h 26"/>
                  <a:gd name="T10" fmla="*/ 27 w 31"/>
                  <a:gd name="T11" fmla="*/ 12 h 26"/>
                  <a:gd name="T12" fmla="*/ 30 w 31"/>
                  <a:gd name="T13" fmla="*/ 21 h 26"/>
                  <a:gd name="T14" fmla="*/ 30 w 31"/>
                  <a:gd name="T15" fmla="*/ 21 h 26"/>
                  <a:gd name="T16" fmla="*/ 24 w 31"/>
                  <a:gd name="T17" fmla="*/ 25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" h="26">
                    <a:moveTo>
                      <a:pt x="24" y="2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29" y="14"/>
                      <a:pt x="31" y="18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5"/>
                      <a:pt x="27" y="26"/>
                      <a:pt x="24" y="2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7" name="íṡḻïḋè"/>
              <p:cNvSpPr/>
              <p:nvPr/>
            </p:nvSpPr>
            <p:spPr bwMode="auto">
              <a:xfrm>
                <a:off x="5246974" y="3836186"/>
                <a:ext cx="270302" cy="187132"/>
              </a:xfrm>
              <a:custGeom>
                <a:avLst/>
                <a:gdLst>
                  <a:gd name="T0" fmla="*/ 68 w 75"/>
                  <a:gd name="T1" fmla="*/ 50 h 52"/>
                  <a:gd name="T2" fmla="*/ 5 w 75"/>
                  <a:gd name="T3" fmla="*/ 14 h 52"/>
                  <a:gd name="T4" fmla="*/ 1 w 75"/>
                  <a:gd name="T5" fmla="*/ 5 h 52"/>
                  <a:gd name="T6" fmla="*/ 1 w 75"/>
                  <a:gd name="T7" fmla="*/ 5 h 52"/>
                  <a:gd name="T8" fmla="*/ 8 w 75"/>
                  <a:gd name="T9" fmla="*/ 1 h 52"/>
                  <a:gd name="T10" fmla="*/ 70 w 75"/>
                  <a:gd name="T11" fmla="*/ 38 h 52"/>
                  <a:gd name="T12" fmla="*/ 74 w 75"/>
                  <a:gd name="T13" fmla="*/ 47 h 52"/>
                  <a:gd name="T14" fmla="*/ 74 w 75"/>
                  <a:gd name="T15" fmla="*/ 47 h 52"/>
                  <a:gd name="T16" fmla="*/ 68 w 75"/>
                  <a:gd name="T17" fmla="*/ 5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5" h="52">
                    <a:moveTo>
                      <a:pt x="68" y="50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1"/>
                    </a:cubicBezTo>
                    <a:cubicBezTo>
                      <a:pt x="70" y="38"/>
                      <a:pt x="70" y="38"/>
                      <a:pt x="70" y="38"/>
                    </a:cubicBezTo>
                    <a:cubicBezTo>
                      <a:pt x="73" y="39"/>
                      <a:pt x="75" y="43"/>
                      <a:pt x="74" y="47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4" y="50"/>
                      <a:pt x="71" y="52"/>
                      <a:pt x="68" y="50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8" name="išliḋè"/>
              <p:cNvSpPr/>
              <p:nvPr/>
            </p:nvSpPr>
            <p:spPr bwMode="auto">
              <a:xfrm>
                <a:off x="5305886" y="3122311"/>
                <a:ext cx="211390" cy="155943"/>
              </a:xfrm>
              <a:custGeom>
                <a:avLst/>
                <a:gdLst>
                  <a:gd name="T0" fmla="*/ 51 w 59"/>
                  <a:gd name="T1" fmla="*/ 41 h 43"/>
                  <a:gd name="T2" fmla="*/ 5 w 59"/>
                  <a:gd name="T3" fmla="*/ 14 h 43"/>
                  <a:gd name="T4" fmla="*/ 1 w 59"/>
                  <a:gd name="T5" fmla="*/ 5 h 43"/>
                  <a:gd name="T6" fmla="*/ 1 w 59"/>
                  <a:gd name="T7" fmla="*/ 5 h 43"/>
                  <a:gd name="T8" fmla="*/ 8 w 59"/>
                  <a:gd name="T9" fmla="*/ 2 h 43"/>
                  <a:gd name="T10" fmla="*/ 54 w 59"/>
                  <a:gd name="T11" fmla="*/ 29 h 43"/>
                  <a:gd name="T12" fmla="*/ 58 w 59"/>
                  <a:gd name="T13" fmla="*/ 38 h 43"/>
                  <a:gd name="T14" fmla="*/ 58 w 59"/>
                  <a:gd name="T15" fmla="*/ 38 h 43"/>
                  <a:gd name="T16" fmla="*/ 51 w 59"/>
                  <a:gd name="T17" fmla="*/ 4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" h="43">
                    <a:moveTo>
                      <a:pt x="51" y="41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3"/>
                      <a:pt x="0" y="9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2"/>
                      <a:pt x="5" y="0"/>
                      <a:pt x="8" y="2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57" y="30"/>
                      <a:pt x="59" y="34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7" y="41"/>
                      <a:pt x="54" y="43"/>
                      <a:pt x="51" y="41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9" name="i$ļiḑé"/>
              <p:cNvSpPr/>
              <p:nvPr/>
            </p:nvSpPr>
            <p:spPr bwMode="auto">
              <a:xfrm>
                <a:off x="5089298" y="4061437"/>
                <a:ext cx="237381" cy="166340"/>
              </a:xfrm>
              <a:custGeom>
                <a:avLst/>
                <a:gdLst>
                  <a:gd name="T0" fmla="*/ 58 w 66"/>
                  <a:gd name="T1" fmla="*/ 45 h 46"/>
                  <a:gd name="T2" fmla="*/ 5 w 66"/>
                  <a:gd name="T3" fmla="*/ 14 h 46"/>
                  <a:gd name="T4" fmla="*/ 1 w 66"/>
                  <a:gd name="T5" fmla="*/ 5 h 46"/>
                  <a:gd name="T6" fmla="*/ 1 w 66"/>
                  <a:gd name="T7" fmla="*/ 5 h 46"/>
                  <a:gd name="T8" fmla="*/ 8 w 66"/>
                  <a:gd name="T9" fmla="*/ 2 h 46"/>
                  <a:gd name="T10" fmla="*/ 61 w 66"/>
                  <a:gd name="T11" fmla="*/ 32 h 46"/>
                  <a:gd name="T12" fmla="*/ 65 w 66"/>
                  <a:gd name="T13" fmla="*/ 42 h 46"/>
                  <a:gd name="T14" fmla="*/ 65 w 66"/>
                  <a:gd name="T15" fmla="*/ 42 h 46"/>
                  <a:gd name="T16" fmla="*/ 58 w 66"/>
                  <a:gd name="T17" fmla="*/ 4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" h="46">
                    <a:moveTo>
                      <a:pt x="58" y="45"/>
                    </a:moveTo>
                    <a:cubicBezTo>
                      <a:pt x="5" y="14"/>
                      <a:pt x="5" y="14"/>
                      <a:pt x="5" y="14"/>
                    </a:cubicBezTo>
                    <a:cubicBezTo>
                      <a:pt x="2" y="12"/>
                      <a:pt x="0" y="8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1"/>
                      <a:pt x="5" y="0"/>
                      <a:pt x="8" y="2"/>
                    </a:cubicBezTo>
                    <a:cubicBezTo>
                      <a:pt x="61" y="32"/>
                      <a:pt x="61" y="32"/>
                      <a:pt x="61" y="32"/>
                    </a:cubicBezTo>
                    <a:cubicBezTo>
                      <a:pt x="64" y="34"/>
                      <a:pt x="66" y="38"/>
                      <a:pt x="65" y="42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4" y="45"/>
                      <a:pt x="61" y="46"/>
                      <a:pt x="58" y="45"/>
                    </a:cubicBezTo>
                    <a:close/>
                  </a:path>
                </a:pathLst>
              </a:custGeom>
              <a:solidFill>
                <a:srgbClr val="D4E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0" name="ïṣľïḓè"/>
              <p:cNvSpPr/>
              <p:nvPr/>
            </p:nvSpPr>
            <p:spPr bwMode="auto">
              <a:xfrm>
                <a:off x="5240043" y="2352990"/>
                <a:ext cx="1221558" cy="1637407"/>
              </a:xfrm>
              <a:custGeom>
                <a:avLst/>
                <a:gdLst>
                  <a:gd name="T0" fmla="*/ 298 w 339"/>
                  <a:gd name="T1" fmla="*/ 325 h 455"/>
                  <a:gd name="T2" fmla="*/ 339 w 339"/>
                  <a:gd name="T3" fmla="*/ 152 h 455"/>
                  <a:gd name="T4" fmla="*/ 266 w 339"/>
                  <a:gd name="T5" fmla="*/ 100 h 455"/>
                  <a:gd name="T6" fmla="*/ 153 w 339"/>
                  <a:gd name="T7" fmla="*/ 34 h 455"/>
                  <a:gd name="T8" fmla="*/ 76 w 339"/>
                  <a:gd name="T9" fmla="*/ 0 h 455"/>
                  <a:gd name="T10" fmla="*/ 35 w 339"/>
                  <a:gd name="T11" fmla="*/ 173 h 455"/>
                  <a:gd name="T12" fmla="*/ 120 w 339"/>
                  <a:gd name="T13" fmla="*/ 444 h 455"/>
                  <a:gd name="T14" fmla="*/ 298 w 339"/>
                  <a:gd name="T15" fmla="*/ 325 h 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9" h="455">
                    <a:moveTo>
                      <a:pt x="298" y="325"/>
                    </a:moveTo>
                    <a:cubicBezTo>
                      <a:pt x="339" y="152"/>
                      <a:pt x="339" y="152"/>
                      <a:pt x="339" y="152"/>
                    </a:cubicBezTo>
                    <a:cubicBezTo>
                      <a:pt x="266" y="100"/>
                      <a:pt x="266" y="100"/>
                      <a:pt x="266" y="100"/>
                    </a:cubicBezTo>
                    <a:cubicBezTo>
                      <a:pt x="230" y="74"/>
                      <a:pt x="192" y="52"/>
                      <a:pt x="153" y="34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35" y="173"/>
                      <a:pt x="35" y="173"/>
                      <a:pt x="35" y="173"/>
                    </a:cubicBezTo>
                    <a:cubicBezTo>
                      <a:pt x="35" y="173"/>
                      <a:pt x="0" y="298"/>
                      <a:pt x="120" y="444"/>
                    </a:cubicBezTo>
                    <a:cubicBezTo>
                      <a:pt x="272" y="455"/>
                      <a:pt x="298" y="325"/>
                      <a:pt x="298" y="325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1" name="ïṧľíḓê"/>
              <p:cNvSpPr/>
              <p:nvPr/>
            </p:nvSpPr>
            <p:spPr bwMode="auto">
              <a:xfrm>
                <a:off x="4839788" y="1734415"/>
                <a:ext cx="1438146" cy="1885184"/>
              </a:xfrm>
              <a:custGeom>
                <a:avLst/>
                <a:gdLst>
                  <a:gd name="T0" fmla="*/ 313 w 399"/>
                  <a:gd name="T1" fmla="*/ 118 h 524"/>
                  <a:gd name="T2" fmla="*/ 180 w 399"/>
                  <a:gd name="T3" fmla="*/ 40 h 524"/>
                  <a:gd name="T4" fmla="*/ 89 w 399"/>
                  <a:gd name="T5" fmla="*/ 0 h 524"/>
                  <a:gd name="T6" fmla="*/ 60 w 399"/>
                  <a:gd name="T7" fmla="*/ 11 h 524"/>
                  <a:gd name="T8" fmla="*/ 84 w 399"/>
                  <a:gd name="T9" fmla="*/ 24 h 524"/>
                  <a:gd name="T10" fmla="*/ 41 w 399"/>
                  <a:gd name="T11" fmla="*/ 204 h 524"/>
                  <a:gd name="T12" fmla="*/ 141 w 399"/>
                  <a:gd name="T13" fmla="*/ 522 h 524"/>
                  <a:gd name="T14" fmla="*/ 212 w 399"/>
                  <a:gd name="T15" fmla="*/ 518 h 524"/>
                  <a:gd name="T16" fmla="*/ 211 w 399"/>
                  <a:gd name="T17" fmla="*/ 520 h 524"/>
                  <a:gd name="T18" fmla="*/ 237 w 399"/>
                  <a:gd name="T19" fmla="*/ 510 h 524"/>
                  <a:gd name="T20" fmla="*/ 244 w 399"/>
                  <a:gd name="T21" fmla="*/ 507 h 524"/>
                  <a:gd name="T22" fmla="*/ 245 w 399"/>
                  <a:gd name="T23" fmla="*/ 507 h 524"/>
                  <a:gd name="T24" fmla="*/ 245 w 399"/>
                  <a:gd name="T25" fmla="*/ 507 h 524"/>
                  <a:gd name="T26" fmla="*/ 350 w 399"/>
                  <a:gd name="T27" fmla="*/ 382 h 524"/>
                  <a:gd name="T28" fmla="*/ 399 w 399"/>
                  <a:gd name="T29" fmla="*/ 179 h 524"/>
                  <a:gd name="T30" fmla="*/ 313 w 399"/>
                  <a:gd name="T31" fmla="*/ 118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99" h="524">
                    <a:moveTo>
                      <a:pt x="313" y="118"/>
                    </a:moveTo>
                    <a:cubicBezTo>
                      <a:pt x="270" y="87"/>
                      <a:pt x="226" y="61"/>
                      <a:pt x="180" y="40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60" y="11"/>
                      <a:pt x="60" y="11"/>
                      <a:pt x="60" y="11"/>
                    </a:cubicBezTo>
                    <a:cubicBezTo>
                      <a:pt x="60" y="11"/>
                      <a:pt x="73" y="18"/>
                      <a:pt x="84" y="24"/>
                    </a:cubicBezTo>
                    <a:cubicBezTo>
                      <a:pt x="41" y="204"/>
                      <a:pt x="41" y="204"/>
                      <a:pt x="41" y="204"/>
                    </a:cubicBezTo>
                    <a:cubicBezTo>
                      <a:pt x="41" y="204"/>
                      <a:pt x="0" y="350"/>
                      <a:pt x="141" y="522"/>
                    </a:cubicBezTo>
                    <a:cubicBezTo>
                      <a:pt x="168" y="524"/>
                      <a:pt x="191" y="522"/>
                      <a:pt x="212" y="518"/>
                    </a:cubicBezTo>
                    <a:cubicBezTo>
                      <a:pt x="211" y="519"/>
                      <a:pt x="211" y="520"/>
                      <a:pt x="211" y="520"/>
                    </a:cubicBezTo>
                    <a:cubicBezTo>
                      <a:pt x="237" y="510"/>
                      <a:pt x="237" y="510"/>
                      <a:pt x="237" y="510"/>
                    </a:cubicBezTo>
                    <a:cubicBezTo>
                      <a:pt x="240" y="509"/>
                      <a:pt x="242" y="508"/>
                      <a:pt x="244" y="507"/>
                    </a:cubicBezTo>
                    <a:cubicBezTo>
                      <a:pt x="245" y="507"/>
                      <a:pt x="245" y="507"/>
                      <a:pt x="245" y="507"/>
                    </a:cubicBezTo>
                    <a:cubicBezTo>
                      <a:pt x="245" y="507"/>
                      <a:pt x="245" y="507"/>
                      <a:pt x="245" y="507"/>
                    </a:cubicBezTo>
                    <a:cubicBezTo>
                      <a:pt x="332" y="471"/>
                      <a:pt x="350" y="382"/>
                      <a:pt x="350" y="382"/>
                    </a:cubicBezTo>
                    <a:cubicBezTo>
                      <a:pt x="399" y="179"/>
                      <a:pt x="399" y="179"/>
                      <a:pt x="399" y="179"/>
                    </a:cubicBezTo>
                    <a:lnTo>
                      <a:pt x="313" y="118"/>
                    </a:ln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2" name="iṧḻïḓè"/>
              <p:cNvSpPr/>
              <p:nvPr/>
            </p:nvSpPr>
            <p:spPr bwMode="auto">
              <a:xfrm>
                <a:off x="5056376" y="1734415"/>
                <a:ext cx="1221558" cy="698281"/>
              </a:xfrm>
              <a:custGeom>
                <a:avLst/>
                <a:gdLst>
                  <a:gd name="T0" fmla="*/ 120 w 339"/>
                  <a:gd name="T1" fmla="*/ 40 h 194"/>
                  <a:gd name="T2" fmla="*/ 29 w 339"/>
                  <a:gd name="T3" fmla="*/ 0 h 194"/>
                  <a:gd name="T4" fmla="*/ 0 w 339"/>
                  <a:gd name="T5" fmla="*/ 11 h 194"/>
                  <a:gd name="T6" fmla="*/ 24 w 339"/>
                  <a:gd name="T7" fmla="*/ 24 h 194"/>
                  <a:gd name="T8" fmla="*/ 8 w 339"/>
                  <a:gd name="T9" fmla="*/ 89 h 194"/>
                  <a:gd name="T10" fmla="*/ 169 w 339"/>
                  <a:gd name="T11" fmla="*/ 194 h 194"/>
                  <a:gd name="T12" fmla="*/ 310 w 339"/>
                  <a:gd name="T13" fmla="*/ 190 h 194"/>
                  <a:gd name="T14" fmla="*/ 339 w 339"/>
                  <a:gd name="T15" fmla="*/ 179 h 194"/>
                  <a:gd name="T16" fmla="*/ 253 w 339"/>
                  <a:gd name="T17" fmla="*/ 118 h 194"/>
                  <a:gd name="T18" fmla="*/ 120 w 339"/>
                  <a:gd name="T19" fmla="*/ 4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9" h="194">
                    <a:moveTo>
                      <a:pt x="120" y="4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13" y="18"/>
                      <a:pt x="24" y="24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169" y="194"/>
                      <a:pt x="169" y="194"/>
                      <a:pt x="169" y="194"/>
                    </a:cubicBezTo>
                    <a:cubicBezTo>
                      <a:pt x="310" y="190"/>
                      <a:pt x="310" y="190"/>
                      <a:pt x="310" y="190"/>
                    </a:cubicBezTo>
                    <a:cubicBezTo>
                      <a:pt x="339" y="179"/>
                      <a:pt x="339" y="179"/>
                      <a:pt x="339" y="179"/>
                    </a:cubicBezTo>
                    <a:cubicBezTo>
                      <a:pt x="253" y="118"/>
                      <a:pt x="253" y="118"/>
                      <a:pt x="253" y="118"/>
                    </a:cubicBezTo>
                    <a:cubicBezTo>
                      <a:pt x="210" y="87"/>
                      <a:pt x="166" y="61"/>
                      <a:pt x="120" y="40"/>
                    </a:cubicBez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3" name="î$ļîdê"/>
              <p:cNvSpPr/>
              <p:nvPr/>
            </p:nvSpPr>
            <p:spPr bwMode="auto">
              <a:xfrm>
                <a:off x="5056376" y="1734415"/>
                <a:ext cx="691350" cy="318818"/>
              </a:xfrm>
              <a:custGeom>
                <a:avLst/>
                <a:gdLst>
                  <a:gd name="T0" fmla="*/ 163 w 192"/>
                  <a:gd name="T1" fmla="*/ 89 h 89"/>
                  <a:gd name="T2" fmla="*/ 192 w 192"/>
                  <a:gd name="T3" fmla="*/ 77 h 89"/>
                  <a:gd name="T4" fmla="*/ 120 w 192"/>
                  <a:gd name="T5" fmla="*/ 40 h 89"/>
                  <a:gd name="T6" fmla="*/ 29 w 192"/>
                  <a:gd name="T7" fmla="*/ 0 h 89"/>
                  <a:gd name="T8" fmla="*/ 0 w 192"/>
                  <a:gd name="T9" fmla="*/ 11 h 89"/>
                  <a:gd name="T10" fmla="*/ 24 w 192"/>
                  <a:gd name="T11" fmla="*/ 24 h 89"/>
                  <a:gd name="T12" fmla="*/ 23 w 192"/>
                  <a:gd name="T13" fmla="*/ 28 h 89"/>
                  <a:gd name="T14" fmla="*/ 163 w 192"/>
                  <a:gd name="T15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89">
                    <a:moveTo>
                      <a:pt x="163" y="89"/>
                    </a:moveTo>
                    <a:cubicBezTo>
                      <a:pt x="192" y="77"/>
                      <a:pt x="192" y="77"/>
                      <a:pt x="192" y="77"/>
                    </a:cubicBezTo>
                    <a:cubicBezTo>
                      <a:pt x="168" y="64"/>
                      <a:pt x="144" y="51"/>
                      <a:pt x="120" y="4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13" y="18"/>
                      <a:pt x="24" y="24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79" y="53"/>
                      <a:pt x="163" y="89"/>
                      <a:pt x="163" y="89"/>
                    </a:cubicBezTo>
                    <a:close/>
                  </a:path>
                </a:pathLst>
              </a:custGeom>
              <a:solidFill>
                <a:srgbClr val="B45EF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4" name="iṧḻíḋè"/>
              <p:cNvSpPr/>
              <p:nvPr/>
            </p:nvSpPr>
            <p:spPr bwMode="auto">
              <a:xfrm>
                <a:off x="5467028" y="1964864"/>
                <a:ext cx="360403" cy="168073"/>
              </a:xfrm>
              <a:custGeom>
                <a:avLst/>
                <a:gdLst>
                  <a:gd name="T0" fmla="*/ 55 w 100"/>
                  <a:gd name="T1" fmla="*/ 0 h 47"/>
                  <a:gd name="T2" fmla="*/ 0 w 100"/>
                  <a:gd name="T3" fmla="*/ 21 h 47"/>
                  <a:gd name="T4" fmla="*/ 46 w 100"/>
                  <a:gd name="T5" fmla="*/ 47 h 47"/>
                  <a:gd name="T6" fmla="*/ 100 w 100"/>
                  <a:gd name="T7" fmla="*/ 27 h 47"/>
                  <a:gd name="T8" fmla="*/ 55 w 100"/>
                  <a:gd name="T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47">
                    <a:moveTo>
                      <a:pt x="55" y="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46" y="47"/>
                      <a:pt x="46" y="47"/>
                      <a:pt x="46" y="47"/>
                    </a:cubicBezTo>
                    <a:cubicBezTo>
                      <a:pt x="100" y="27"/>
                      <a:pt x="100" y="27"/>
                      <a:pt x="100" y="27"/>
                    </a:cubicBezTo>
                    <a:cubicBezTo>
                      <a:pt x="85" y="17"/>
                      <a:pt x="70" y="9"/>
                      <a:pt x="55" y="0"/>
                    </a:cubicBezTo>
                    <a:close/>
                  </a:path>
                </a:pathLst>
              </a:custGeom>
              <a:solidFill>
                <a:srgbClr val="7E2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5" name="íSľíḍê"/>
              <p:cNvSpPr/>
              <p:nvPr/>
            </p:nvSpPr>
            <p:spPr bwMode="auto">
              <a:xfrm>
                <a:off x="4735826" y="1772534"/>
                <a:ext cx="1438146" cy="1926768"/>
              </a:xfrm>
              <a:custGeom>
                <a:avLst/>
                <a:gdLst>
                  <a:gd name="T0" fmla="*/ 350 w 399"/>
                  <a:gd name="T1" fmla="*/ 383 h 535"/>
                  <a:gd name="T2" fmla="*/ 399 w 399"/>
                  <a:gd name="T3" fmla="*/ 179 h 535"/>
                  <a:gd name="T4" fmla="*/ 313 w 399"/>
                  <a:gd name="T5" fmla="*/ 118 h 535"/>
                  <a:gd name="T6" fmla="*/ 180 w 399"/>
                  <a:gd name="T7" fmla="*/ 41 h 535"/>
                  <a:gd name="T8" fmla="*/ 89 w 399"/>
                  <a:gd name="T9" fmla="*/ 0 h 535"/>
                  <a:gd name="T10" fmla="*/ 41 w 399"/>
                  <a:gd name="T11" fmla="*/ 204 h 535"/>
                  <a:gd name="T12" fmla="*/ 141 w 399"/>
                  <a:gd name="T13" fmla="*/ 522 h 535"/>
                  <a:gd name="T14" fmla="*/ 350 w 399"/>
                  <a:gd name="T15" fmla="*/ 38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9" h="535">
                    <a:moveTo>
                      <a:pt x="350" y="383"/>
                    </a:moveTo>
                    <a:cubicBezTo>
                      <a:pt x="399" y="179"/>
                      <a:pt x="399" y="179"/>
                      <a:pt x="399" y="179"/>
                    </a:cubicBezTo>
                    <a:cubicBezTo>
                      <a:pt x="313" y="118"/>
                      <a:pt x="313" y="118"/>
                      <a:pt x="313" y="118"/>
                    </a:cubicBezTo>
                    <a:cubicBezTo>
                      <a:pt x="270" y="87"/>
                      <a:pt x="226" y="61"/>
                      <a:pt x="180" y="41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41" y="204"/>
                      <a:pt x="41" y="204"/>
                      <a:pt x="41" y="204"/>
                    </a:cubicBezTo>
                    <a:cubicBezTo>
                      <a:pt x="41" y="204"/>
                      <a:pt x="0" y="350"/>
                      <a:pt x="141" y="522"/>
                    </a:cubicBezTo>
                    <a:cubicBezTo>
                      <a:pt x="319" y="535"/>
                      <a:pt x="350" y="383"/>
                      <a:pt x="350" y="383"/>
                    </a:cubicBezTo>
                    <a:close/>
                  </a:path>
                </a:pathLst>
              </a:custGeom>
              <a:solidFill>
                <a:srgbClr val="983B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6" name="íṩļíďè"/>
              <p:cNvSpPr/>
              <p:nvPr/>
            </p:nvSpPr>
            <p:spPr bwMode="auto">
              <a:xfrm>
                <a:off x="4929889" y="1888625"/>
                <a:ext cx="1150515" cy="1691121"/>
              </a:xfrm>
              <a:custGeom>
                <a:avLst/>
                <a:gdLst>
                  <a:gd name="T0" fmla="*/ 98 w 319"/>
                  <a:gd name="T1" fmla="*/ 468 h 470"/>
                  <a:gd name="T2" fmla="*/ 7 w 319"/>
                  <a:gd name="T3" fmla="*/ 266 h 470"/>
                  <a:gd name="T4" fmla="*/ 9 w 319"/>
                  <a:gd name="T5" fmla="*/ 178 h 470"/>
                  <a:gd name="T6" fmla="*/ 51 w 319"/>
                  <a:gd name="T7" fmla="*/ 0 h 470"/>
                  <a:gd name="T8" fmla="*/ 117 w 319"/>
                  <a:gd name="T9" fmla="*/ 29 h 470"/>
                  <a:gd name="T10" fmla="*/ 246 w 319"/>
                  <a:gd name="T11" fmla="*/ 104 h 470"/>
                  <a:gd name="T12" fmla="*/ 319 w 319"/>
                  <a:gd name="T13" fmla="*/ 157 h 470"/>
                  <a:gd name="T14" fmla="*/ 274 w 319"/>
                  <a:gd name="T15" fmla="*/ 345 h 470"/>
                  <a:gd name="T16" fmla="*/ 274 w 319"/>
                  <a:gd name="T17" fmla="*/ 346 h 470"/>
                  <a:gd name="T18" fmla="*/ 241 w 319"/>
                  <a:gd name="T19" fmla="*/ 411 h 470"/>
                  <a:gd name="T20" fmla="*/ 98 w 319"/>
                  <a:gd name="T21" fmla="*/ 468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9" h="470">
                    <a:moveTo>
                      <a:pt x="98" y="468"/>
                    </a:moveTo>
                    <a:cubicBezTo>
                      <a:pt x="35" y="388"/>
                      <a:pt x="13" y="314"/>
                      <a:pt x="7" y="266"/>
                    </a:cubicBezTo>
                    <a:cubicBezTo>
                      <a:pt x="0" y="213"/>
                      <a:pt x="9" y="178"/>
                      <a:pt x="9" y="178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61" y="49"/>
                      <a:pt x="204" y="74"/>
                      <a:pt x="246" y="104"/>
                    </a:cubicBezTo>
                    <a:cubicBezTo>
                      <a:pt x="319" y="157"/>
                      <a:pt x="319" y="157"/>
                      <a:pt x="319" y="157"/>
                    </a:cubicBezTo>
                    <a:cubicBezTo>
                      <a:pt x="274" y="345"/>
                      <a:pt x="274" y="345"/>
                      <a:pt x="274" y="345"/>
                    </a:cubicBezTo>
                    <a:cubicBezTo>
                      <a:pt x="274" y="346"/>
                      <a:pt x="274" y="346"/>
                      <a:pt x="274" y="346"/>
                    </a:cubicBezTo>
                    <a:cubicBezTo>
                      <a:pt x="274" y="347"/>
                      <a:pt x="267" y="380"/>
                      <a:pt x="241" y="411"/>
                    </a:cubicBezTo>
                    <a:cubicBezTo>
                      <a:pt x="208" y="451"/>
                      <a:pt x="160" y="470"/>
                      <a:pt x="98" y="468"/>
                    </a:cubicBezTo>
                    <a:close/>
                  </a:path>
                </a:pathLst>
              </a:custGeom>
              <a:solidFill>
                <a:srgbClr val="721B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7" name="ïṧ1ídè"/>
              <p:cNvSpPr/>
              <p:nvPr/>
            </p:nvSpPr>
            <p:spPr bwMode="auto">
              <a:xfrm>
                <a:off x="4120715" y="4681746"/>
                <a:ext cx="852491" cy="492088"/>
              </a:xfrm>
              <a:custGeom>
                <a:avLst/>
                <a:gdLst>
                  <a:gd name="T0" fmla="*/ 195 w 237"/>
                  <a:gd name="T1" fmla="*/ 24 h 137"/>
                  <a:gd name="T2" fmla="*/ 42 w 237"/>
                  <a:gd name="T3" fmla="*/ 24 h 137"/>
                  <a:gd name="T4" fmla="*/ 42 w 237"/>
                  <a:gd name="T5" fmla="*/ 113 h 137"/>
                  <a:gd name="T6" fmla="*/ 195 w 237"/>
                  <a:gd name="T7" fmla="*/ 113 h 137"/>
                  <a:gd name="T8" fmla="*/ 195 w 237"/>
                  <a:gd name="T9" fmla="*/ 24 h 137"/>
                  <a:gd name="T10" fmla="*/ 116 w 237"/>
                  <a:gd name="T11" fmla="*/ 69 h 137"/>
                  <a:gd name="T12" fmla="*/ 77 w 237"/>
                  <a:gd name="T13" fmla="*/ 69 h 137"/>
                  <a:gd name="T14" fmla="*/ 77 w 237"/>
                  <a:gd name="T15" fmla="*/ 47 h 137"/>
                  <a:gd name="T16" fmla="*/ 116 w 237"/>
                  <a:gd name="T17" fmla="*/ 47 h 137"/>
                  <a:gd name="T18" fmla="*/ 116 w 237"/>
                  <a:gd name="T19" fmla="*/ 69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7" h="137">
                    <a:moveTo>
                      <a:pt x="195" y="24"/>
                    </a:moveTo>
                    <a:cubicBezTo>
                      <a:pt x="153" y="0"/>
                      <a:pt x="84" y="0"/>
                      <a:pt x="42" y="24"/>
                    </a:cubicBezTo>
                    <a:cubicBezTo>
                      <a:pt x="0" y="49"/>
                      <a:pt x="0" y="88"/>
                      <a:pt x="42" y="113"/>
                    </a:cubicBezTo>
                    <a:cubicBezTo>
                      <a:pt x="84" y="137"/>
                      <a:pt x="153" y="137"/>
                      <a:pt x="195" y="113"/>
                    </a:cubicBezTo>
                    <a:cubicBezTo>
                      <a:pt x="237" y="88"/>
                      <a:pt x="237" y="49"/>
                      <a:pt x="195" y="24"/>
                    </a:cubicBezTo>
                    <a:close/>
                    <a:moveTo>
                      <a:pt x="116" y="69"/>
                    </a:moveTo>
                    <a:cubicBezTo>
                      <a:pt x="105" y="76"/>
                      <a:pt x="88" y="76"/>
                      <a:pt x="77" y="69"/>
                    </a:cubicBezTo>
                    <a:cubicBezTo>
                      <a:pt x="66" y="63"/>
                      <a:pt x="66" y="53"/>
                      <a:pt x="77" y="47"/>
                    </a:cubicBezTo>
                    <a:cubicBezTo>
                      <a:pt x="88" y="40"/>
                      <a:pt x="105" y="40"/>
                      <a:pt x="116" y="47"/>
                    </a:cubicBezTo>
                    <a:cubicBezTo>
                      <a:pt x="127" y="53"/>
                      <a:pt x="127" y="63"/>
                      <a:pt x="116" y="69"/>
                    </a:cubicBez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8" name="íSľiḑè"/>
              <p:cNvSpPr/>
              <p:nvPr/>
            </p:nvSpPr>
            <p:spPr bwMode="auto">
              <a:xfrm>
                <a:off x="4732361" y="5016159"/>
                <a:ext cx="1081208" cy="521545"/>
              </a:xfrm>
              <a:custGeom>
                <a:avLst/>
                <a:gdLst>
                  <a:gd name="T0" fmla="*/ 48 w 300"/>
                  <a:gd name="T1" fmla="*/ 0 h 145"/>
                  <a:gd name="T2" fmla="*/ 27 w 300"/>
                  <a:gd name="T3" fmla="*/ 16 h 145"/>
                  <a:gd name="T4" fmla="*/ 0 w 300"/>
                  <a:gd name="T5" fmla="*/ 28 h 145"/>
                  <a:gd name="T6" fmla="*/ 21 w 300"/>
                  <a:gd name="T7" fmla="*/ 40 h 145"/>
                  <a:gd name="T8" fmla="*/ 52 w 300"/>
                  <a:gd name="T9" fmla="*/ 42 h 145"/>
                  <a:gd name="T10" fmla="*/ 67 w 300"/>
                  <a:gd name="T11" fmla="*/ 50 h 145"/>
                  <a:gd name="T12" fmla="*/ 61 w 300"/>
                  <a:gd name="T13" fmla="*/ 54 h 145"/>
                  <a:gd name="T14" fmla="*/ 72 w 300"/>
                  <a:gd name="T15" fmla="*/ 61 h 145"/>
                  <a:gd name="T16" fmla="*/ 85 w 300"/>
                  <a:gd name="T17" fmla="*/ 54 h 145"/>
                  <a:gd name="T18" fmla="*/ 105 w 300"/>
                  <a:gd name="T19" fmla="*/ 65 h 145"/>
                  <a:gd name="T20" fmla="*/ 85 w 300"/>
                  <a:gd name="T21" fmla="*/ 77 h 145"/>
                  <a:gd name="T22" fmla="*/ 100 w 300"/>
                  <a:gd name="T23" fmla="*/ 86 h 145"/>
                  <a:gd name="T24" fmla="*/ 115 w 300"/>
                  <a:gd name="T25" fmla="*/ 94 h 145"/>
                  <a:gd name="T26" fmla="*/ 133 w 300"/>
                  <a:gd name="T27" fmla="*/ 84 h 145"/>
                  <a:gd name="T28" fmla="*/ 160 w 300"/>
                  <a:gd name="T29" fmla="*/ 99 h 145"/>
                  <a:gd name="T30" fmla="*/ 149 w 300"/>
                  <a:gd name="T31" fmla="*/ 105 h 145"/>
                  <a:gd name="T32" fmla="*/ 167 w 300"/>
                  <a:gd name="T33" fmla="*/ 115 h 145"/>
                  <a:gd name="T34" fmla="*/ 177 w 300"/>
                  <a:gd name="T35" fmla="*/ 109 h 145"/>
                  <a:gd name="T36" fmla="*/ 185 w 300"/>
                  <a:gd name="T37" fmla="*/ 114 h 145"/>
                  <a:gd name="T38" fmla="*/ 177 w 300"/>
                  <a:gd name="T39" fmla="*/ 130 h 145"/>
                  <a:gd name="T40" fmla="*/ 203 w 300"/>
                  <a:gd name="T41" fmla="*/ 145 h 145"/>
                  <a:gd name="T42" fmla="*/ 300 w 300"/>
                  <a:gd name="T43" fmla="*/ 145 h 145"/>
                  <a:gd name="T44" fmla="*/ 48 w 300"/>
                  <a:gd name="T45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0" h="145">
                    <a:moveTo>
                      <a:pt x="48" y="0"/>
                    </a:moveTo>
                    <a:cubicBezTo>
                      <a:pt x="42" y="6"/>
                      <a:pt x="35" y="11"/>
                      <a:pt x="27" y="16"/>
                    </a:cubicBezTo>
                    <a:cubicBezTo>
                      <a:pt x="19" y="21"/>
                      <a:pt x="10" y="25"/>
                      <a:pt x="0" y="28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105" y="65"/>
                      <a:pt x="105" y="65"/>
                      <a:pt x="105" y="65"/>
                    </a:cubicBezTo>
                    <a:cubicBezTo>
                      <a:pt x="85" y="77"/>
                      <a:pt x="85" y="77"/>
                      <a:pt x="85" y="77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15" y="94"/>
                      <a:pt x="115" y="94"/>
                      <a:pt x="115" y="94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60" y="99"/>
                      <a:pt x="160" y="99"/>
                      <a:pt x="160" y="99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85" y="114"/>
                      <a:pt x="185" y="114"/>
                      <a:pt x="185" y="114"/>
                    </a:cubicBezTo>
                    <a:cubicBezTo>
                      <a:pt x="177" y="130"/>
                      <a:pt x="177" y="130"/>
                      <a:pt x="177" y="130"/>
                    </a:cubicBezTo>
                    <a:cubicBezTo>
                      <a:pt x="203" y="145"/>
                      <a:pt x="203" y="145"/>
                      <a:pt x="203" y="145"/>
                    </a:cubicBezTo>
                    <a:cubicBezTo>
                      <a:pt x="300" y="145"/>
                      <a:pt x="300" y="145"/>
                      <a:pt x="300" y="145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B2D3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9" name="i$ļíḓe"/>
              <p:cNvSpPr/>
              <p:nvPr/>
            </p:nvSpPr>
            <p:spPr bwMode="auto">
              <a:xfrm>
                <a:off x="4158835" y="4652291"/>
                <a:ext cx="779717" cy="493822"/>
              </a:xfrm>
              <a:custGeom>
                <a:avLst/>
                <a:gdLst>
                  <a:gd name="T0" fmla="*/ 216 w 216"/>
                  <a:gd name="T1" fmla="*/ 68 h 137"/>
                  <a:gd name="T2" fmla="*/ 216 w 216"/>
                  <a:gd name="T3" fmla="*/ 39 h 137"/>
                  <a:gd name="T4" fmla="*/ 207 w 216"/>
                  <a:gd name="T5" fmla="*/ 44 h 137"/>
                  <a:gd name="T6" fmla="*/ 184 w 216"/>
                  <a:gd name="T7" fmla="*/ 24 h 137"/>
                  <a:gd name="T8" fmla="*/ 31 w 216"/>
                  <a:gd name="T9" fmla="*/ 24 h 137"/>
                  <a:gd name="T10" fmla="*/ 6 w 216"/>
                  <a:gd name="T11" fmla="*/ 47 h 137"/>
                  <a:gd name="T12" fmla="*/ 0 w 216"/>
                  <a:gd name="T13" fmla="*/ 39 h 137"/>
                  <a:gd name="T14" fmla="*/ 0 w 216"/>
                  <a:gd name="T15" fmla="*/ 68 h 137"/>
                  <a:gd name="T16" fmla="*/ 31 w 216"/>
                  <a:gd name="T17" fmla="*/ 112 h 137"/>
                  <a:gd name="T18" fmla="*/ 184 w 216"/>
                  <a:gd name="T19" fmla="*/ 112 h 137"/>
                  <a:gd name="T20" fmla="*/ 216 w 216"/>
                  <a:gd name="T21" fmla="*/ 68 h 137"/>
                  <a:gd name="T22" fmla="*/ 105 w 216"/>
                  <a:gd name="T23" fmla="*/ 49 h 137"/>
                  <a:gd name="T24" fmla="*/ 65 w 216"/>
                  <a:gd name="T25" fmla="*/ 49 h 137"/>
                  <a:gd name="T26" fmla="*/ 65 w 216"/>
                  <a:gd name="T27" fmla="*/ 26 h 137"/>
                  <a:gd name="T28" fmla="*/ 105 w 216"/>
                  <a:gd name="T29" fmla="*/ 26 h 137"/>
                  <a:gd name="T30" fmla="*/ 105 w 216"/>
                  <a:gd name="T31" fmla="*/ 49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16" h="137">
                    <a:moveTo>
                      <a:pt x="216" y="68"/>
                    </a:moveTo>
                    <a:cubicBezTo>
                      <a:pt x="216" y="39"/>
                      <a:pt x="216" y="39"/>
                      <a:pt x="216" y="39"/>
                    </a:cubicBezTo>
                    <a:cubicBezTo>
                      <a:pt x="207" y="44"/>
                      <a:pt x="207" y="44"/>
                      <a:pt x="207" y="44"/>
                    </a:cubicBezTo>
                    <a:cubicBezTo>
                      <a:pt x="202" y="36"/>
                      <a:pt x="194" y="30"/>
                      <a:pt x="184" y="24"/>
                    </a:cubicBezTo>
                    <a:cubicBezTo>
                      <a:pt x="142" y="0"/>
                      <a:pt x="73" y="0"/>
                      <a:pt x="31" y="24"/>
                    </a:cubicBezTo>
                    <a:cubicBezTo>
                      <a:pt x="20" y="31"/>
                      <a:pt x="11" y="39"/>
                      <a:pt x="6" y="47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84"/>
                      <a:pt x="10" y="100"/>
                      <a:pt x="31" y="112"/>
                    </a:cubicBezTo>
                    <a:cubicBezTo>
                      <a:pt x="73" y="137"/>
                      <a:pt x="142" y="137"/>
                      <a:pt x="184" y="112"/>
                    </a:cubicBezTo>
                    <a:cubicBezTo>
                      <a:pt x="205" y="100"/>
                      <a:pt x="216" y="84"/>
                      <a:pt x="216" y="68"/>
                    </a:cubicBezTo>
                    <a:close/>
                    <a:moveTo>
                      <a:pt x="105" y="49"/>
                    </a:moveTo>
                    <a:cubicBezTo>
                      <a:pt x="94" y="55"/>
                      <a:pt x="76" y="55"/>
                      <a:pt x="65" y="49"/>
                    </a:cubicBezTo>
                    <a:cubicBezTo>
                      <a:pt x="55" y="43"/>
                      <a:pt x="55" y="33"/>
                      <a:pt x="65" y="26"/>
                    </a:cubicBezTo>
                    <a:cubicBezTo>
                      <a:pt x="76" y="20"/>
                      <a:pt x="94" y="20"/>
                      <a:pt x="105" y="26"/>
                    </a:cubicBezTo>
                    <a:cubicBezTo>
                      <a:pt x="116" y="33"/>
                      <a:pt x="116" y="43"/>
                      <a:pt x="105" y="49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0" name="îṥļiďé"/>
              <p:cNvSpPr/>
              <p:nvPr/>
            </p:nvSpPr>
            <p:spPr bwMode="auto">
              <a:xfrm>
                <a:off x="4158835" y="4792639"/>
                <a:ext cx="356937" cy="327482"/>
              </a:xfrm>
              <a:custGeom>
                <a:avLst/>
                <a:gdLst>
                  <a:gd name="T0" fmla="*/ 99 w 99"/>
                  <a:gd name="T1" fmla="*/ 52 h 91"/>
                  <a:gd name="T2" fmla="*/ 52 w 99"/>
                  <a:gd name="T3" fmla="*/ 29 h 91"/>
                  <a:gd name="T4" fmla="*/ 11 w 99"/>
                  <a:gd name="T5" fmla="*/ 2 h 91"/>
                  <a:gd name="T6" fmla="*/ 6 w 99"/>
                  <a:gd name="T7" fmla="*/ 8 h 91"/>
                  <a:gd name="T8" fmla="*/ 0 w 99"/>
                  <a:gd name="T9" fmla="*/ 0 h 91"/>
                  <a:gd name="T10" fmla="*/ 0 w 99"/>
                  <a:gd name="T11" fmla="*/ 29 h 91"/>
                  <a:gd name="T12" fmla="*/ 31 w 99"/>
                  <a:gd name="T13" fmla="*/ 73 h 91"/>
                  <a:gd name="T14" fmla="*/ 99 w 99"/>
                  <a:gd name="T15" fmla="*/ 91 h 91"/>
                  <a:gd name="T16" fmla="*/ 99 w 99"/>
                  <a:gd name="T17" fmla="*/ 52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91">
                    <a:moveTo>
                      <a:pt x="99" y="52"/>
                    </a:moveTo>
                    <a:cubicBezTo>
                      <a:pt x="52" y="29"/>
                      <a:pt x="52" y="29"/>
                      <a:pt x="52" y="29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9" y="4"/>
                      <a:pt x="7" y="6"/>
                      <a:pt x="6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5"/>
                      <a:pt x="10" y="61"/>
                      <a:pt x="31" y="73"/>
                    </a:cubicBezTo>
                    <a:cubicBezTo>
                      <a:pt x="50" y="84"/>
                      <a:pt x="74" y="90"/>
                      <a:pt x="99" y="91"/>
                    </a:cubicBezTo>
                    <a:lnTo>
                      <a:pt x="99" y="52"/>
                    </a:ln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1" name="íṣľïḑè"/>
              <p:cNvSpPr/>
              <p:nvPr/>
            </p:nvSpPr>
            <p:spPr bwMode="auto">
              <a:xfrm>
                <a:off x="4120715" y="4544863"/>
                <a:ext cx="852491" cy="492088"/>
              </a:xfrm>
              <a:custGeom>
                <a:avLst/>
                <a:gdLst>
                  <a:gd name="T0" fmla="*/ 195 w 237"/>
                  <a:gd name="T1" fmla="*/ 25 h 137"/>
                  <a:gd name="T2" fmla="*/ 42 w 237"/>
                  <a:gd name="T3" fmla="*/ 25 h 137"/>
                  <a:gd name="T4" fmla="*/ 42 w 237"/>
                  <a:gd name="T5" fmla="*/ 113 h 137"/>
                  <a:gd name="T6" fmla="*/ 195 w 237"/>
                  <a:gd name="T7" fmla="*/ 113 h 137"/>
                  <a:gd name="T8" fmla="*/ 195 w 237"/>
                  <a:gd name="T9" fmla="*/ 25 h 137"/>
                  <a:gd name="T10" fmla="*/ 116 w 237"/>
                  <a:gd name="T11" fmla="*/ 70 h 137"/>
                  <a:gd name="T12" fmla="*/ 77 w 237"/>
                  <a:gd name="T13" fmla="*/ 70 h 137"/>
                  <a:gd name="T14" fmla="*/ 77 w 237"/>
                  <a:gd name="T15" fmla="*/ 47 h 137"/>
                  <a:gd name="T16" fmla="*/ 116 w 237"/>
                  <a:gd name="T17" fmla="*/ 47 h 137"/>
                  <a:gd name="T18" fmla="*/ 116 w 237"/>
                  <a:gd name="T19" fmla="*/ 7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7" h="137">
                    <a:moveTo>
                      <a:pt x="195" y="25"/>
                    </a:moveTo>
                    <a:cubicBezTo>
                      <a:pt x="153" y="0"/>
                      <a:pt x="84" y="0"/>
                      <a:pt x="42" y="25"/>
                    </a:cubicBezTo>
                    <a:cubicBezTo>
                      <a:pt x="0" y="49"/>
                      <a:pt x="0" y="89"/>
                      <a:pt x="42" y="113"/>
                    </a:cubicBezTo>
                    <a:cubicBezTo>
                      <a:pt x="84" y="137"/>
                      <a:pt x="153" y="137"/>
                      <a:pt x="195" y="113"/>
                    </a:cubicBezTo>
                    <a:cubicBezTo>
                      <a:pt x="237" y="89"/>
                      <a:pt x="237" y="49"/>
                      <a:pt x="195" y="25"/>
                    </a:cubicBezTo>
                    <a:close/>
                    <a:moveTo>
                      <a:pt x="116" y="70"/>
                    </a:moveTo>
                    <a:cubicBezTo>
                      <a:pt x="105" y="76"/>
                      <a:pt x="88" y="76"/>
                      <a:pt x="77" y="70"/>
                    </a:cubicBezTo>
                    <a:cubicBezTo>
                      <a:pt x="66" y="63"/>
                      <a:pt x="66" y="53"/>
                      <a:pt x="77" y="47"/>
                    </a:cubicBezTo>
                    <a:cubicBezTo>
                      <a:pt x="88" y="41"/>
                      <a:pt x="105" y="41"/>
                      <a:pt x="116" y="47"/>
                    </a:cubicBezTo>
                    <a:cubicBezTo>
                      <a:pt x="127" y="53"/>
                      <a:pt x="127" y="63"/>
                      <a:pt x="116" y="70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2" name="ïsľiḓè"/>
              <p:cNvSpPr/>
              <p:nvPr/>
            </p:nvSpPr>
            <p:spPr bwMode="auto">
              <a:xfrm>
                <a:off x="4347700" y="4688677"/>
                <a:ext cx="265104" cy="194063"/>
              </a:xfrm>
              <a:custGeom>
                <a:avLst/>
                <a:gdLst>
                  <a:gd name="T0" fmla="*/ 74 w 74"/>
                  <a:gd name="T1" fmla="*/ 0 h 54"/>
                  <a:gd name="T2" fmla="*/ 16 w 74"/>
                  <a:gd name="T3" fmla="*/ 0 h 54"/>
                  <a:gd name="T4" fmla="*/ 0 w 74"/>
                  <a:gd name="T5" fmla="*/ 5 h 54"/>
                  <a:gd name="T6" fmla="*/ 0 w 74"/>
                  <a:gd name="T7" fmla="*/ 54 h 54"/>
                  <a:gd name="T8" fmla="*/ 74 w 74"/>
                  <a:gd name="T9" fmla="*/ 54 h 54"/>
                  <a:gd name="T10" fmla="*/ 74 w 74"/>
                  <a:gd name="T11" fmla="*/ 0 h 54"/>
                  <a:gd name="T12" fmla="*/ 53 w 74"/>
                  <a:gd name="T13" fmla="*/ 39 h 54"/>
                  <a:gd name="T14" fmla="*/ 13 w 74"/>
                  <a:gd name="T15" fmla="*/ 39 h 54"/>
                  <a:gd name="T16" fmla="*/ 13 w 74"/>
                  <a:gd name="T17" fmla="*/ 16 h 54"/>
                  <a:gd name="T18" fmla="*/ 53 w 74"/>
                  <a:gd name="T19" fmla="*/ 16 h 54"/>
                  <a:gd name="T20" fmla="*/ 53 w 74"/>
                  <a:gd name="T21" fmla="*/ 39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54">
                    <a:moveTo>
                      <a:pt x="7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0" y="1"/>
                      <a:pt x="5" y="3"/>
                      <a:pt x="0" y="5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74" y="54"/>
                      <a:pt x="74" y="54"/>
                      <a:pt x="74" y="54"/>
                    </a:cubicBezTo>
                    <a:lnTo>
                      <a:pt x="74" y="0"/>
                    </a:lnTo>
                    <a:close/>
                    <a:moveTo>
                      <a:pt x="53" y="39"/>
                    </a:moveTo>
                    <a:cubicBezTo>
                      <a:pt x="42" y="45"/>
                      <a:pt x="24" y="45"/>
                      <a:pt x="13" y="39"/>
                    </a:cubicBezTo>
                    <a:cubicBezTo>
                      <a:pt x="3" y="33"/>
                      <a:pt x="3" y="23"/>
                      <a:pt x="13" y="16"/>
                    </a:cubicBezTo>
                    <a:cubicBezTo>
                      <a:pt x="24" y="10"/>
                      <a:pt x="42" y="10"/>
                      <a:pt x="53" y="16"/>
                    </a:cubicBezTo>
                    <a:cubicBezTo>
                      <a:pt x="64" y="23"/>
                      <a:pt x="64" y="33"/>
                      <a:pt x="53" y="39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3" name="ïŝḷíde"/>
              <p:cNvSpPr/>
              <p:nvPr/>
            </p:nvSpPr>
            <p:spPr bwMode="auto">
              <a:xfrm>
                <a:off x="4170964" y="4572586"/>
                <a:ext cx="751994" cy="436642"/>
              </a:xfrm>
              <a:custGeom>
                <a:avLst/>
                <a:gdLst>
                  <a:gd name="T0" fmla="*/ 172 w 209"/>
                  <a:gd name="T1" fmla="*/ 22 h 121"/>
                  <a:gd name="T2" fmla="*/ 37 w 209"/>
                  <a:gd name="T3" fmla="*/ 22 h 121"/>
                  <a:gd name="T4" fmla="*/ 37 w 209"/>
                  <a:gd name="T5" fmla="*/ 100 h 121"/>
                  <a:gd name="T6" fmla="*/ 172 w 209"/>
                  <a:gd name="T7" fmla="*/ 100 h 121"/>
                  <a:gd name="T8" fmla="*/ 172 w 209"/>
                  <a:gd name="T9" fmla="*/ 22 h 121"/>
                  <a:gd name="T10" fmla="*/ 102 w 209"/>
                  <a:gd name="T11" fmla="*/ 62 h 121"/>
                  <a:gd name="T12" fmla="*/ 63 w 209"/>
                  <a:gd name="T13" fmla="*/ 62 h 121"/>
                  <a:gd name="T14" fmla="*/ 63 w 209"/>
                  <a:gd name="T15" fmla="*/ 39 h 121"/>
                  <a:gd name="T16" fmla="*/ 102 w 209"/>
                  <a:gd name="T17" fmla="*/ 39 h 121"/>
                  <a:gd name="T18" fmla="*/ 102 w 209"/>
                  <a:gd name="T19" fmla="*/ 62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9" h="121">
                    <a:moveTo>
                      <a:pt x="172" y="22"/>
                    </a:moveTo>
                    <a:cubicBezTo>
                      <a:pt x="135" y="0"/>
                      <a:pt x="75" y="0"/>
                      <a:pt x="37" y="22"/>
                    </a:cubicBezTo>
                    <a:cubicBezTo>
                      <a:pt x="0" y="43"/>
                      <a:pt x="0" y="78"/>
                      <a:pt x="37" y="100"/>
                    </a:cubicBezTo>
                    <a:cubicBezTo>
                      <a:pt x="75" y="121"/>
                      <a:pt x="135" y="121"/>
                      <a:pt x="172" y="100"/>
                    </a:cubicBezTo>
                    <a:cubicBezTo>
                      <a:pt x="209" y="78"/>
                      <a:pt x="209" y="43"/>
                      <a:pt x="172" y="22"/>
                    </a:cubicBezTo>
                    <a:close/>
                    <a:moveTo>
                      <a:pt x="102" y="62"/>
                    </a:moveTo>
                    <a:cubicBezTo>
                      <a:pt x="91" y="68"/>
                      <a:pt x="74" y="68"/>
                      <a:pt x="63" y="62"/>
                    </a:cubicBezTo>
                    <a:cubicBezTo>
                      <a:pt x="52" y="55"/>
                      <a:pt x="52" y="45"/>
                      <a:pt x="63" y="39"/>
                    </a:cubicBezTo>
                    <a:cubicBezTo>
                      <a:pt x="74" y="33"/>
                      <a:pt x="91" y="33"/>
                      <a:pt x="102" y="39"/>
                    </a:cubicBezTo>
                    <a:cubicBezTo>
                      <a:pt x="113" y="45"/>
                      <a:pt x="113" y="55"/>
                      <a:pt x="102" y="62"/>
                    </a:cubicBezTo>
                    <a:close/>
                  </a:path>
                </a:pathLst>
              </a:custGeom>
              <a:solidFill>
                <a:srgbClr val="F2B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4" name="ï$ľiḋe"/>
              <p:cNvSpPr/>
              <p:nvPr/>
            </p:nvSpPr>
            <p:spPr bwMode="auto">
              <a:xfrm>
                <a:off x="4198687" y="4572586"/>
                <a:ext cx="700013" cy="233916"/>
              </a:xfrm>
              <a:custGeom>
                <a:avLst/>
                <a:gdLst>
                  <a:gd name="T0" fmla="*/ 29 w 194"/>
                  <a:gd name="T1" fmla="*/ 30 h 65"/>
                  <a:gd name="T2" fmla="*/ 164 w 194"/>
                  <a:gd name="T3" fmla="*/ 30 h 65"/>
                  <a:gd name="T4" fmla="*/ 192 w 194"/>
                  <a:gd name="T5" fmla="*/ 65 h 65"/>
                  <a:gd name="T6" fmla="*/ 164 w 194"/>
                  <a:gd name="T7" fmla="*/ 22 h 65"/>
                  <a:gd name="T8" fmla="*/ 29 w 194"/>
                  <a:gd name="T9" fmla="*/ 22 h 65"/>
                  <a:gd name="T10" fmla="*/ 2 w 194"/>
                  <a:gd name="T11" fmla="*/ 65 h 65"/>
                  <a:gd name="T12" fmla="*/ 29 w 194"/>
                  <a:gd name="T13" fmla="*/ 3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4" h="65">
                    <a:moveTo>
                      <a:pt x="29" y="30"/>
                    </a:moveTo>
                    <a:cubicBezTo>
                      <a:pt x="67" y="8"/>
                      <a:pt x="127" y="8"/>
                      <a:pt x="164" y="30"/>
                    </a:cubicBezTo>
                    <a:cubicBezTo>
                      <a:pt x="181" y="40"/>
                      <a:pt x="190" y="52"/>
                      <a:pt x="192" y="65"/>
                    </a:cubicBezTo>
                    <a:cubicBezTo>
                      <a:pt x="194" y="49"/>
                      <a:pt x="185" y="34"/>
                      <a:pt x="164" y="22"/>
                    </a:cubicBezTo>
                    <a:cubicBezTo>
                      <a:pt x="127" y="0"/>
                      <a:pt x="67" y="0"/>
                      <a:pt x="29" y="22"/>
                    </a:cubicBezTo>
                    <a:cubicBezTo>
                      <a:pt x="9" y="34"/>
                      <a:pt x="0" y="49"/>
                      <a:pt x="2" y="65"/>
                    </a:cubicBezTo>
                    <a:cubicBezTo>
                      <a:pt x="3" y="52"/>
                      <a:pt x="12" y="40"/>
                      <a:pt x="29" y="30"/>
                    </a:cubicBez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5" name="íSḷîďè"/>
              <p:cNvSpPr/>
              <p:nvPr/>
            </p:nvSpPr>
            <p:spPr bwMode="auto">
              <a:xfrm>
                <a:off x="4732361" y="4983237"/>
                <a:ext cx="1081208" cy="525010"/>
              </a:xfrm>
              <a:custGeom>
                <a:avLst/>
                <a:gdLst>
                  <a:gd name="T0" fmla="*/ 48 w 300"/>
                  <a:gd name="T1" fmla="*/ 0 h 146"/>
                  <a:gd name="T2" fmla="*/ 27 w 300"/>
                  <a:gd name="T3" fmla="*/ 16 h 146"/>
                  <a:gd name="T4" fmla="*/ 0 w 300"/>
                  <a:gd name="T5" fmla="*/ 28 h 146"/>
                  <a:gd name="T6" fmla="*/ 21 w 300"/>
                  <a:gd name="T7" fmla="*/ 40 h 146"/>
                  <a:gd name="T8" fmla="*/ 52 w 300"/>
                  <a:gd name="T9" fmla="*/ 42 h 146"/>
                  <a:gd name="T10" fmla="*/ 67 w 300"/>
                  <a:gd name="T11" fmla="*/ 51 h 146"/>
                  <a:gd name="T12" fmla="*/ 61 w 300"/>
                  <a:gd name="T13" fmla="*/ 54 h 146"/>
                  <a:gd name="T14" fmla="*/ 72 w 300"/>
                  <a:gd name="T15" fmla="*/ 61 h 146"/>
                  <a:gd name="T16" fmla="*/ 85 w 300"/>
                  <a:gd name="T17" fmla="*/ 54 h 146"/>
                  <a:gd name="T18" fmla="*/ 105 w 300"/>
                  <a:gd name="T19" fmla="*/ 66 h 146"/>
                  <a:gd name="T20" fmla="*/ 85 w 300"/>
                  <a:gd name="T21" fmla="*/ 77 h 146"/>
                  <a:gd name="T22" fmla="*/ 100 w 300"/>
                  <a:gd name="T23" fmla="*/ 86 h 146"/>
                  <a:gd name="T24" fmla="*/ 115 w 300"/>
                  <a:gd name="T25" fmla="*/ 94 h 146"/>
                  <a:gd name="T26" fmla="*/ 133 w 300"/>
                  <a:gd name="T27" fmla="*/ 84 h 146"/>
                  <a:gd name="T28" fmla="*/ 160 w 300"/>
                  <a:gd name="T29" fmla="*/ 100 h 146"/>
                  <a:gd name="T30" fmla="*/ 149 w 300"/>
                  <a:gd name="T31" fmla="*/ 105 h 146"/>
                  <a:gd name="T32" fmla="*/ 167 w 300"/>
                  <a:gd name="T33" fmla="*/ 115 h 146"/>
                  <a:gd name="T34" fmla="*/ 177 w 300"/>
                  <a:gd name="T35" fmla="*/ 110 h 146"/>
                  <a:gd name="T36" fmla="*/ 185 w 300"/>
                  <a:gd name="T37" fmla="*/ 114 h 146"/>
                  <a:gd name="T38" fmla="*/ 177 w 300"/>
                  <a:gd name="T39" fmla="*/ 131 h 146"/>
                  <a:gd name="T40" fmla="*/ 203 w 300"/>
                  <a:gd name="T41" fmla="*/ 146 h 146"/>
                  <a:gd name="T42" fmla="*/ 300 w 300"/>
                  <a:gd name="T43" fmla="*/ 146 h 146"/>
                  <a:gd name="T44" fmla="*/ 48 w 300"/>
                  <a:gd name="T4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0" h="146">
                    <a:moveTo>
                      <a:pt x="48" y="0"/>
                    </a:moveTo>
                    <a:cubicBezTo>
                      <a:pt x="42" y="6"/>
                      <a:pt x="35" y="11"/>
                      <a:pt x="27" y="16"/>
                    </a:cubicBezTo>
                    <a:cubicBezTo>
                      <a:pt x="19" y="21"/>
                      <a:pt x="10" y="25"/>
                      <a:pt x="0" y="28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105" y="66"/>
                      <a:pt x="105" y="66"/>
                      <a:pt x="105" y="66"/>
                    </a:cubicBezTo>
                    <a:cubicBezTo>
                      <a:pt x="85" y="77"/>
                      <a:pt x="85" y="77"/>
                      <a:pt x="85" y="77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15" y="94"/>
                      <a:pt x="115" y="94"/>
                      <a:pt x="115" y="94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60" y="100"/>
                      <a:pt x="160" y="100"/>
                      <a:pt x="160" y="100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77" y="110"/>
                      <a:pt x="177" y="110"/>
                      <a:pt x="177" y="110"/>
                    </a:cubicBezTo>
                    <a:cubicBezTo>
                      <a:pt x="185" y="114"/>
                      <a:pt x="185" y="114"/>
                      <a:pt x="185" y="114"/>
                    </a:cubicBezTo>
                    <a:cubicBezTo>
                      <a:pt x="177" y="131"/>
                      <a:pt x="177" y="131"/>
                      <a:pt x="177" y="131"/>
                    </a:cubicBezTo>
                    <a:cubicBezTo>
                      <a:pt x="203" y="146"/>
                      <a:pt x="203" y="146"/>
                      <a:pt x="203" y="146"/>
                    </a:cubicBezTo>
                    <a:cubicBezTo>
                      <a:pt x="300" y="146"/>
                      <a:pt x="300" y="146"/>
                      <a:pt x="300" y="146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2B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6" name="ïšḻíďè"/>
              <p:cNvSpPr/>
              <p:nvPr/>
            </p:nvSpPr>
            <p:spPr bwMode="auto">
              <a:xfrm>
                <a:off x="4732361" y="4908731"/>
                <a:ext cx="1081208" cy="525010"/>
              </a:xfrm>
              <a:custGeom>
                <a:avLst/>
                <a:gdLst>
                  <a:gd name="T0" fmla="*/ 48 w 300"/>
                  <a:gd name="T1" fmla="*/ 0 h 146"/>
                  <a:gd name="T2" fmla="*/ 27 w 300"/>
                  <a:gd name="T3" fmla="*/ 16 h 146"/>
                  <a:gd name="T4" fmla="*/ 0 w 300"/>
                  <a:gd name="T5" fmla="*/ 28 h 146"/>
                  <a:gd name="T6" fmla="*/ 21 w 300"/>
                  <a:gd name="T7" fmla="*/ 40 h 146"/>
                  <a:gd name="T8" fmla="*/ 52 w 300"/>
                  <a:gd name="T9" fmla="*/ 42 h 146"/>
                  <a:gd name="T10" fmla="*/ 67 w 300"/>
                  <a:gd name="T11" fmla="*/ 51 h 146"/>
                  <a:gd name="T12" fmla="*/ 61 w 300"/>
                  <a:gd name="T13" fmla="*/ 54 h 146"/>
                  <a:gd name="T14" fmla="*/ 72 w 300"/>
                  <a:gd name="T15" fmla="*/ 61 h 146"/>
                  <a:gd name="T16" fmla="*/ 85 w 300"/>
                  <a:gd name="T17" fmla="*/ 54 h 146"/>
                  <a:gd name="T18" fmla="*/ 105 w 300"/>
                  <a:gd name="T19" fmla="*/ 65 h 146"/>
                  <a:gd name="T20" fmla="*/ 85 w 300"/>
                  <a:gd name="T21" fmla="*/ 77 h 146"/>
                  <a:gd name="T22" fmla="*/ 100 w 300"/>
                  <a:gd name="T23" fmla="*/ 86 h 146"/>
                  <a:gd name="T24" fmla="*/ 115 w 300"/>
                  <a:gd name="T25" fmla="*/ 94 h 146"/>
                  <a:gd name="T26" fmla="*/ 133 w 300"/>
                  <a:gd name="T27" fmla="*/ 84 h 146"/>
                  <a:gd name="T28" fmla="*/ 160 w 300"/>
                  <a:gd name="T29" fmla="*/ 99 h 146"/>
                  <a:gd name="T30" fmla="*/ 149 w 300"/>
                  <a:gd name="T31" fmla="*/ 105 h 146"/>
                  <a:gd name="T32" fmla="*/ 167 w 300"/>
                  <a:gd name="T33" fmla="*/ 115 h 146"/>
                  <a:gd name="T34" fmla="*/ 177 w 300"/>
                  <a:gd name="T35" fmla="*/ 109 h 146"/>
                  <a:gd name="T36" fmla="*/ 185 w 300"/>
                  <a:gd name="T37" fmla="*/ 114 h 146"/>
                  <a:gd name="T38" fmla="*/ 177 w 300"/>
                  <a:gd name="T39" fmla="*/ 130 h 146"/>
                  <a:gd name="T40" fmla="*/ 203 w 300"/>
                  <a:gd name="T41" fmla="*/ 146 h 146"/>
                  <a:gd name="T42" fmla="*/ 300 w 300"/>
                  <a:gd name="T43" fmla="*/ 146 h 146"/>
                  <a:gd name="T44" fmla="*/ 48 w 300"/>
                  <a:gd name="T4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0" h="146">
                    <a:moveTo>
                      <a:pt x="48" y="0"/>
                    </a:moveTo>
                    <a:cubicBezTo>
                      <a:pt x="42" y="6"/>
                      <a:pt x="35" y="11"/>
                      <a:pt x="27" y="16"/>
                    </a:cubicBezTo>
                    <a:cubicBezTo>
                      <a:pt x="19" y="21"/>
                      <a:pt x="10" y="25"/>
                      <a:pt x="0" y="28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52" y="42"/>
                      <a:pt x="52" y="42"/>
                      <a:pt x="52" y="42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1" y="54"/>
                      <a:pt x="61" y="54"/>
                      <a:pt x="61" y="54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85" y="54"/>
                      <a:pt x="85" y="54"/>
                      <a:pt x="85" y="54"/>
                    </a:cubicBezTo>
                    <a:cubicBezTo>
                      <a:pt x="105" y="65"/>
                      <a:pt x="105" y="65"/>
                      <a:pt x="105" y="65"/>
                    </a:cubicBezTo>
                    <a:cubicBezTo>
                      <a:pt x="85" y="77"/>
                      <a:pt x="85" y="77"/>
                      <a:pt x="85" y="77"/>
                    </a:cubicBezTo>
                    <a:cubicBezTo>
                      <a:pt x="100" y="86"/>
                      <a:pt x="100" y="86"/>
                      <a:pt x="100" y="86"/>
                    </a:cubicBezTo>
                    <a:cubicBezTo>
                      <a:pt x="115" y="94"/>
                      <a:pt x="115" y="94"/>
                      <a:pt x="115" y="94"/>
                    </a:cubicBezTo>
                    <a:cubicBezTo>
                      <a:pt x="133" y="84"/>
                      <a:pt x="133" y="84"/>
                      <a:pt x="133" y="84"/>
                    </a:cubicBezTo>
                    <a:cubicBezTo>
                      <a:pt x="160" y="99"/>
                      <a:pt x="160" y="99"/>
                      <a:pt x="160" y="99"/>
                    </a:cubicBezTo>
                    <a:cubicBezTo>
                      <a:pt x="149" y="105"/>
                      <a:pt x="149" y="105"/>
                      <a:pt x="149" y="105"/>
                    </a:cubicBezTo>
                    <a:cubicBezTo>
                      <a:pt x="167" y="115"/>
                      <a:pt x="167" y="115"/>
                      <a:pt x="167" y="115"/>
                    </a:cubicBezTo>
                    <a:cubicBezTo>
                      <a:pt x="177" y="109"/>
                      <a:pt x="177" y="109"/>
                      <a:pt x="177" y="109"/>
                    </a:cubicBezTo>
                    <a:cubicBezTo>
                      <a:pt x="185" y="114"/>
                      <a:pt x="185" y="114"/>
                      <a:pt x="185" y="114"/>
                    </a:cubicBezTo>
                    <a:cubicBezTo>
                      <a:pt x="177" y="130"/>
                      <a:pt x="177" y="130"/>
                      <a:pt x="177" y="130"/>
                    </a:cubicBezTo>
                    <a:cubicBezTo>
                      <a:pt x="203" y="146"/>
                      <a:pt x="203" y="146"/>
                      <a:pt x="203" y="146"/>
                    </a:cubicBezTo>
                    <a:cubicBezTo>
                      <a:pt x="300" y="146"/>
                      <a:pt x="300" y="146"/>
                      <a:pt x="300" y="146"/>
                    </a:cubicBez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7" name="iṩľiḋè"/>
              <p:cNvSpPr/>
              <p:nvPr/>
            </p:nvSpPr>
            <p:spPr bwMode="auto">
              <a:xfrm>
                <a:off x="5463562" y="5433740"/>
                <a:ext cx="350007" cy="74507"/>
              </a:xfrm>
              <a:prstGeom prst="rect">
                <a:avLst/>
              </a:pr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8" name="ïsļíḍe"/>
              <p:cNvSpPr/>
              <p:nvPr/>
            </p:nvSpPr>
            <p:spPr bwMode="auto">
              <a:xfrm>
                <a:off x="5333609" y="5300322"/>
                <a:ext cx="36387" cy="97032"/>
              </a:xfrm>
              <a:custGeom>
                <a:avLst/>
                <a:gdLst>
                  <a:gd name="T0" fmla="*/ 0 w 21"/>
                  <a:gd name="T1" fmla="*/ 56 h 56"/>
                  <a:gd name="T2" fmla="*/ 0 w 21"/>
                  <a:gd name="T3" fmla="*/ 12 h 56"/>
                  <a:gd name="T4" fmla="*/ 21 w 21"/>
                  <a:gd name="T5" fmla="*/ 0 h 56"/>
                  <a:gd name="T6" fmla="*/ 21 w 21"/>
                  <a:gd name="T7" fmla="*/ 46 h 56"/>
                  <a:gd name="T8" fmla="*/ 0 w 21"/>
                  <a:gd name="T9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56">
                    <a:moveTo>
                      <a:pt x="0" y="56"/>
                    </a:moveTo>
                    <a:lnTo>
                      <a:pt x="0" y="12"/>
                    </a:lnTo>
                    <a:lnTo>
                      <a:pt x="21" y="0"/>
                    </a:lnTo>
                    <a:lnTo>
                      <a:pt x="21" y="46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9" name="í$ľíḋé"/>
              <p:cNvSpPr/>
              <p:nvPr/>
            </p:nvSpPr>
            <p:spPr bwMode="auto">
              <a:xfrm>
                <a:off x="5269499" y="5286461"/>
                <a:ext cx="64111" cy="110893"/>
              </a:xfrm>
              <a:custGeom>
                <a:avLst/>
                <a:gdLst>
                  <a:gd name="T0" fmla="*/ 0 w 37"/>
                  <a:gd name="T1" fmla="*/ 0 h 64"/>
                  <a:gd name="T2" fmla="*/ 0 w 37"/>
                  <a:gd name="T3" fmla="*/ 43 h 64"/>
                  <a:gd name="T4" fmla="*/ 37 w 37"/>
                  <a:gd name="T5" fmla="*/ 64 h 64"/>
                  <a:gd name="T6" fmla="*/ 37 w 37"/>
                  <a:gd name="T7" fmla="*/ 20 h 64"/>
                  <a:gd name="T8" fmla="*/ 0 w 37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64">
                    <a:moveTo>
                      <a:pt x="0" y="0"/>
                    </a:moveTo>
                    <a:lnTo>
                      <a:pt x="0" y="43"/>
                    </a:lnTo>
                    <a:lnTo>
                      <a:pt x="37" y="64"/>
                    </a:lnTo>
                    <a:lnTo>
                      <a:pt x="37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0" name="i$ľiḑé"/>
              <p:cNvSpPr/>
              <p:nvPr/>
            </p:nvSpPr>
            <p:spPr bwMode="auto">
              <a:xfrm>
                <a:off x="5146477" y="5210222"/>
                <a:ext cx="65843" cy="110893"/>
              </a:xfrm>
              <a:custGeom>
                <a:avLst/>
                <a:gdLst>
                  <a:gd name="T0" fmla="*/ 38 w 38"/>
                  <a:gd name="T1" fmla="*/ 0 h 64"/>
                  <a:gd name="T2" fmla="*/ 38 w 38"/>
                  <a:gd name="T3" fmla="*/ 44 h 64"/>
                  <a:gd name="T4" fmla="*/ 0 w 38"/>
                  <a:gd name="T5" fmla="*/ 64 h 64"/>
                  <a:gd name="T6" fmla="*/ 0 w 38"/>
                  <a:gd name="T7" fmla="*/ 21 h 64"/>
                  <a:gd name="T8" fmla="*/ 38 w 38"/>
                  <a:gd name="T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4">
                    <a:moveTo>
                      <a:pt x="38" y="0"/>
                    </a:moveTo>
                    <a:lnTo>
                      <a:pt x="38" y="44"/>
                    </a:lnTo>
                    <a:lnTo>
                      <a:pt x="0" y="64"/>
                    </a:lnTo>
                    <a:lnTo>
                      <a:pt x="0" y="2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1" name="îśliḋê"/>
              <p:cNvSpPr/>
              <p:nvPr/>
            </p:nvSpPr>
            <p:spPr bwMode="auto">
              <a:xfrm>
                <a:off x="5039049" y="5184231"/>
                <a:ext cx="107428" cy="136884"/>
              </a:xfrm>
              <a:custGeom>
                <a:avLst/>
                <a:gdLst>
                  <a:gd name="T0" fmla="*/ 0 w 62"/>
                  <a:gd name="T1" fmla="*/ 0 h 79"/>
                  <a:gd name="T2" fmla="*/ 0 w 62"/>
                  <a:gd name="T3" fmla="*/ 44 h 79"/>
                  <a:gd name="T4" fmla="*/ 62 w 62"/>
                  <a:gd name="T5" fmla="*/ 79 h 79"/>
                  <a:gd name="T6" fmla="*/ 62 w 62"/>
                  <a:gd name="T7" fmla="*/ 36 h 79"/>
                  <a:gd name="T8" fmla="*/ 0 w 62"/>
                  <a:gd name="T9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0" y="0"/>
                    </a:moveTo>
                    <a:lnTo>
                      <a:pt x="0" y="44"/>
                    </a:lnTo>
                    <a:lnTo>
                      <a:pt x="62" y="79"/>
                    </a:lnTo>
                    <a:lnTo>
                      <a:pt x="62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2" name="íŝḷiḋé"/>
              <p:cNvSpPr/>
              <p:nvPr/>
            </p:nvSpPr>
            <p:spPr bwMode="auto">
              <a:xfrm>
                <a:off x="5369996" y="5380027"/>
                <a:ext cx="93566" cy="128220"/>
              </a:xfrm>
              <a:custGeom>
                <a:avLst/>
                <a:gdLst>
                  <a:gd name="T0" fmla="*/ 0 w 54"/>
                  <a:gd name="T1" fmla="*/ 0 h 74"/>
                  <a:gd name="T2" fmla="*/ 0 w 54"/>
                  <a:gd name="T3" fmla="*/ 43 h 74"/>
                  <a:gd name="T4" fmla="*/ 54 w 54"/>
                  <a:gd name="T5" fmla="*/ 74 h 74"/>
                  <a:gd name="T6" fmla="*/ 54 w 54"/>
                  <a:gd name="T7" fmla="*/ 31 h 74"/>
                  <a:gd name="T8" fmla="*/ 0 w 54"/>
                  <a:gd name="T9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74">
                    <a:moveTo>
                      <a:pt x="0" y="0"/>
                    </a:moveTo>
                    <a:lnTo>
                      <a:pt x="0" y="43"/>
                    </a:lnTo>
                    <a:lnTo>
                      <a:pt x="54" y="74"/>
                    </a:lnTo>
                    <a:lnTo>
                      <a:pt x="5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3" name="îṧḻiḋe"/>
              <p:cNvSpPr/>
              <p:nvPr/>
            </p:nvSpPr>
            <p:spPr bwMode="auto">
              <a:xfrm>
                <a:off x="4952414" y="5102794"/>
                <a:ext cx="39853" cy="100497"/>
              </a:xfrm>
              <a:custGeom>
                <a:avLst/>
                <a:gdLst>
                  <a:gd name="T0" fmla="*/ 23 w 23"/>
                  <a:gd name="T1" fmla="*/ 14 h 58"/>
                  <a:gd name="T2" fmla="*/ 23 w 23"/>
                  <a:gd name="T3" fmla="*/ 58 h 58"/>
                  <a:gd name="T4" fmla="*/ 0 w 23"/>
                  <a:gd name="T5" fmla="*/ 43 h 58"/>
                  <a:gd name="T6" fmla="*/ 0 w 23"/>
                  <a:gd name="T7" fmla="*/ 0 h 58"/>
                  <a:gd name="T8" fmla="*/ 23 w 23"/>
                  <a:gd name="T9" fmla="*/ 14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58">
                    <a:moveTo>
                      <a:pt x="23" y="14"/>
                    </a:moveTo>
                    <a:lnTo>
                      <a:pt x="23" y="58"/>
                    </a:lnTo>
                    <a:lnTo>
                      <a:pt x="0" y="43"/>
                    </a:lnTo>
                    <a:lnTo>
                      <a:pt x="0" y="0"/>
                    </a:lnTo>
                    <a:lnTo>
                      <a:pt x="23" y="14"/>
                    </a:lnTo>
                    <a:close/>
                  </a:path>
                </a:pathLst>
              </a:custGeom>
              <a:solidFill>
                <a:srgbClr val="EEAD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4" name="îSļîḋé"/>
              <p:cNvSpPr/>
              <p:nvPr/>
            </p:nvSpPr>
            <p:spPr bwMode="auto">
              <a:xfrm>
                <a:off x="4808600" y="5052545"/>
                <a:ext cx="110893" cy="81438"/>
              </a:xfrm>
              <a:custGeom>
                <a:avLst/>
                <a:gdLst>
                  <a:gd name="T0" fmla="*/ 0 w 64"/>
                  <a:gd name="T1" fmla="*/ 0 h 47"/>
                  <a:gd name="T2" fmla="*/ 0 w 64"/>
                  <a:gd name="T3" fmla="*/ 43 h 47"/>
                  <a:gd name="T4" fmla="*/ 64 w 64"/>
                  <a:gd name="T5" fmla="*/ 47 h 47"/>
                  <a:gd name="T6" fmla="*/ 64 w 64"/>
                  <a:gd name="T7" fmla="*/ 4 h 47"/>
                  <a:gd name="T8" fmla="*/ 0 w 64"/>
                  <a:gd name="T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47">
                    <a:moveTo>
                      <a:pt x="0" y="0"/>
                    </a:moveTo>
                    <a:lnTo>
                      <a:pt x="0" y="43"/>
                    </a:lnTo>
                    <a:lnTo>
                      <a:pt x="64" y="47"/>
                    </a:lnTo>
                    <a:lnTo>
                      <a:pt x="6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5" name="ïṥḷidé"/>
              <p:cNvSpPr/>
              <p:nvPr/>
            </p:nvSpPr>
            <p:spPr bwMode="auto">
              <a:xfrm>
                <a:off x="4912562" y="4972841"/>
                <a:ext cx="734667" cy="407186"/>
              </a:xfrm>
              <a:custGeom>
                <a:avLst/>
                <a:gdLst>
                  <a:gd name="T0" fmla="*/ 383 w 424"/>
                  <a:gd name="T1" fmla="*/ 235 h 235"/>
                  <a:gd name="T2" fmla="*/ 0 w 424"/>
                  <a:gd name="T3" fmla="*/ 12 h 235"/>
                  <a:gd name="T4" fmla="*/ 21 w 424"/>
                  <a:gd name="T5" fmla="*/ 0 h 235"/>
                  <a:gd name="T6" fmla="*/ 424 w 424"/>
                  <a:gd name="T7" fmla="*/ 233 h 235"/>
                  <a:gd name="T8" fmla="*/ 383 w 424"/>
                  <a:gd name="T9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4" h="235">
                    <a:moveTo>
                      <a:pt x="383" y="235"/>
                    </a:moveTo>
                    <a:lnTo>
                      <a:pt x="0" y="12"/>
                    </a:lnTo>
                    <a:lnTo>
                      <a:pt x="21" y="0"/>
                    </a:lnTo>
                    <a:lnTo>
                      <a:pt x="424" y="233"/>
                    </a:lnTo>
                    <a:lnTo>
                      <a:pt x="383" y="235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6" name="išḻïḍe"/>
              <p:cNvSpPr/>
              <p:nvPr/>
            </p:nvSpPr>
            <p:spPr bwMode="auto">
              <a:xfrm>
                <a:off x="4912562" y="4972841"/>
                <a:ext cx="734667" cy="407186"/>
              </a:xfrm>
              <a:custGeom>
                <a:avLst/>
                <a:gdLst>
                  <a:gd name="T0" fmla="*/ 21 w 424"/>
                  <a:gd name="T1" fmla="*/ 10 h 235"/>
                  <a:gd name="T2" fmla="*/ 406 w 424"/>
                  <a:gd name="T3" fmla="*/ 235 h 235"/>
                  <a:gd name="T4" fmla="*/ 424 w 424"/>
                  <a:gd name="T5" fmla="*/ 233 h 235"/>
                  <a:gd name="T6" fmla="*/ 21 w 424"/>
                  <a:gd name="T7" fmla="*/ 0 h 235"/>
                  <a:gd name="T8" fmla="*/ 0 w 424"/>
                  <a:gd name="T9" fmla="*/ 12 h 235"/>
                  <a:gd name="T10" fmla="*/ 8 w 424"/>
                  <a:gd name="T11" fmla="*/ 19 h 235"/>
                  <a:gd name="T12" fmla="*/ 21 w 424"/>
                  <a:gd name="T13" fmla="*/ 1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24" h="235">
                    <a:moveTo>
                      <a:pt x="21" y="10"/>
                    </a:moveTo>
                    <a:lnTo>
                      <a:pt x="406" y="235"/>
                    </a:lnTo>
                    <a:lnTo>
                      <a:pt x="424" y="233"/>
                    </a:lnTo>
                    <a:lnTo>
                      <a:pt x="21" y="0"/>
                    </a:lnTo>
                    <a:lnTo>
                      <a:pt x="0" y="12"/>
                    </a:lnTo>
                    <a:lnTo>
                      <a:pt x="8" y="19"/>
                    </a:lnTo>
                    <a:lnTo>
                      <a:pt x="21" y="10"/>
                    </a:lnTo>
                    <a:close/>
                  </a:path>
                </a:pathLst>
              </a:custGeom>
              <a:solidFill>
                <a:srgbClr val="F2B4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7" name="işḻîďê"/>
              <p:cNvSpPr/>
              <p:nvPr/>
            </p:nvSpPr>
            <p:spPr bwMode="auto">
              <a:xfrm>
                <a:off x="4732361" y="5009228"/>
                <a:ext cx="76239" cy="117824"/>
              </a:xfrm>
              <a:custGeom>
                <a:avLst/>
                <a:gdLst>
                  <a:gd name="T0" fmla="*/ 44 w 44"/>
                  <a:gd name="T1" fmla="*/ 68 h 68"/>
                  <a:gd name="T2" fmla="*/ 44 w 44"/>
                  <a:gd name="T3" fmla="*/ 25 h 68"/>
                  <a:gd name="T4" fmla="*/ 0 w 44"/>
                  <a:gd name="T5" fmla="*/ 0 h 68"/>
                  <a:gd name="T6" fmla="*/ 0 w 44"/>
                  <a:gd name="T7" fmla="*/ 43 h 68"/>
                  <a:gd name="T8" fmla="*/ 44 w 44"/>
                  <a:gd name="T9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68">
                    <a:moveTo>
                      <a:pt x="44" y="68"/>
                    </a:moveTo>
                    <a:lnTo>
                      <a:pt x="44" y="25"/>
                    </a:lnTo>
                    <a:lnTo>
                      <a:pt x="0" y="0"/>
                    </a:lnTo>
                    <a:lnTo>
                      <a:pt x="0" y="43"/>
                    </a:lnTo>
                    <a:lnTo>
                      <a:pt x="44" y="68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8" name="íSḻïḓè"/>
              <p:cNvSpPr/>
              <p:nvPr/>
            </p:nvSpPr>
            <p:spPr bwMode="auto">
              <a:xfrm>
                <a:off x="4992267" y="5102794"/>
                <a:ext cx="46784" cy="100497"/>
              </a:xfrm>
              <a:custGeom>
                <a:avLst/>
                <a:gdLst>
                  <a:gd name="T0" fmla="*/ 27 w 27"/>
                  <a:gd name="T1" fmla="*/ 0 h 58"/>
                  <a:gd name="T2" fmla="*/ 27 w 27"/>
                  <a:gd name="T3" fmla="*/ 43 h 58"/>
                  <a:gd name="T4" fmla="*/ 0 w 27"/>
                  <a:gd name="T5" fmla="*/ 58 h 58"/>
                  <a:gd name="T6" fmla="*/ 0 w 27"/>
                  <a:gd name="T7" fmla="*/ 14 h 58"/>
                  <a:gd name="T8" fmla="*/ 27 w 27"/>
                  <a:gd name="T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58">
                    <a:moveTo>
                      <a:pt x="27" y="0"/>
                    </a:moveTo>
                    <a:lnTo>
                      <a:pt x="27" y="43"/>
                    </a:lnTo>
                    <a:lnTo>
                      <a:pt x="0" y="58"/>
                    </a:lnTo>
                    <a:lnTo>
                      <a:pt x="0" y="1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E8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9" name="ï$1iḑè"/>
              <p:cNvSpPr/>
              <p:nvPr/>
            </p:nvSpPr>
            <p:spPr bwMode="auto">
              <a:xfrm>
                <a:off x="4515772" y="4588180"/>
                <a:ext cx="382928" cy="218321"/>
              </a:xfrm>
              <a:custGeom>
                <a:avLst/>
                <a:gdLst>
                  <a:gd name="T0" fmla="*/ 76 w 106"/>
                  <a:gd name="T1" fmla="*/ 18 h 61"/>
                  <a:gd name="T2" fmla="*/ 0 w 106"/>
                  <a:gd name="T3" fmla="*/ 2 h 61"/>
                  <a:gd name="T4" fmla="*/ 0 w 106"/>
                  <a:gd name="T5" fmla="*/ 10 h 61"/>
                  <a:gd name="T6" fmla="*/ 76 w 106"/>
                  <a:gd name="T7" fmla="*/ 26 h 61"/>
                  <a:gd name="T8" fmla="*/ 104 w 106"/>
                  <a:gd name="T9" fmla="*/ 61 h 61"/>
                  <a:gd name="T10" fmla="*/ 76 w 106"/>
                  <a:gd name="T11" fmla="*/ 1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6" h="61">
                    <a:moveTo>
                      <a:pt x="76" y="18"/>
                    </a:moveTo>
                    <a:cubicBezTo>
                      <a:pt x="55" y="6"/>
                      <a:pt x="27" y="0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27" y="9"/>
                      <a:pt x="55" y="14"/>
                      <a:pt x="76" y="26"/>
                    </a:cubicBezTo>
                    <a:cubicBezTo>
                      <a:pt x="93" y="36"/>
                      <a:pt x="102" y="48"/>
                      <a:pt x="104" y="61"/>
                    </a:cubicBezTo>
                    <a:cubicBezTo>
                      <a:pt x="106" y="45"/>
                      <a:pt x="97" y="30"/>
                      <a:pt x="76" y="18"/>
                    </a:cubicBezTo>
                    <a:close/>
                  </a:path>
                </a:pathLst>
              </a:custGeom>
              <a:solidFill>
                <a:srgbClr val="FDD7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占位符 15362"/>
          <p:cNvSpPr>
            <a:spLocks noGrp="1"/>
          </p:cNvSpPr>
          <p:nvPr>
            <p:ph idx="1"/>
          </p:nvPr>
        </p:nvSpPr>
        <p:spPr>
          <a:xfrm>
            <a:off x="985652" y="1576417"/>
            <a:ext cx="10177153" cy="3276000"/>
          </a:xfrm>
        </p:spPr>
        <p:txBody>
          <a:bodyPr anchor="t"/>
          <a:lstStyle/>
          <a:p>
            <a:r>
              <a:rPr lang="en-US" altLang="zh-CN" dirty="0"/>
              <a:t>       </a:t>
            </a:r>
            <a:r>
              <a:rPr lang="en-US" altLang="zh-CN" dirty="0" smtClean="0"/>
              <a:t>TCP/IP</a:t>
            </a:r>
            <a:r>
              <a:rPr lang="zh-CN" altLang="en-US" dirty="0">
                <a:latin typeface="宋体" panose="02010600030101010101" pitchFamily="2" charset="-122"/>
              </a:rPr>
              <a:t>互连层的协议主要包括网络互连协议（</a:t>
            </a:r>
            <a:r>
              <a:rPr lang="en-US" altLang="zh-CN" dirty="0">
                <a:solidFill>
                  <a:schemeClr val="folHlink"/>
                </a:solidFill>
              </a:rPr>
              <a:t>IP</a:t>
            </a:r>
            <a:r>
              <a:rPr lang="zh-CN" altLang="en-US" dirty="0">
                <a:latin typeface="宋体" panose="02010600030101010101" pitchFamily="2" charset="-122"/>
              </a:rPr>
              <a:t>）、地址转换协议</a:t>
            </a:r>
            <a:r>
              <a:rPr lang="en-US" altLang="zh-CN" dirty="0">
                <a:solidFill>
                  <a:schemeClr val="folHlink"/>
                </a:solidFill>
              </a:rPr>
              <a:t>ARP</a:t>
            </a:r>
            <a:r>
              <a:rPr lang="zh-CN" altLang="en-US" dirty="0">
                <a:latin typeface="宋体" panose="02010600030101010101" pitchFamily="2" charset="-122"/>
              </a:rPr>
              <a:t>、反向地址转换协议</a:t>
            </a:r>
            <a:r>
              <a:rPr lang="en-US" altLang="zh-CN" dirty="0">
                <a:solidFill>
                  <a:schemeClr val="folHlink"/>
                </a:solidFill>
              </a:rPr>
              <a:t>RARP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/>
              <a:t>Internet</a:t>
            </a:r>
            <a:r>
              <a:rPr lang="zh-CN" altLang="en-US" dirty="0">
                <a:latin typeface="宋体" panose="02010600030101010101" pitchFamily="2" charset="-122"/>
              </a:rPr>
              <a:t>控制报文协议</a:t>
            </a:r>
            <a:r>
              <a:rPr lang="en-US" altLang="zh-CN" dirty="0">
                <a:solidFill>
                  <a:schemeClr val="folHlink"/>
                </a:solidFill>
              </a:rPr>
              <a:t>ICMP</a:t>
            </a:r>
            <a:r>
              <a:rPr lang="zh-CN" altLang="en-US" dirty="0">
                <a:latin typeface="宋体" panose="02010600030101010101" pitchFamily="2" charset="-122"/>
              </a:rPr>
              <a:t>。其中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协议读者比较熟悉，下面仅介绍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协议报文头和其他几</a:t>
            </a:r>
            <a:r>
              <a:rPr lang="zh-CN" altLang="en-US" dirty="0" smtClean="0">
                <a:latin typeface="宋体" panose="02010600030101010101" pitchFamily="2" charset="-122"/>
              </a:rPr>
              <a:t>个协议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3392498" y="450261"/>
            <a:ext cx="5363459" cy="791052"/>
            <a:chOff x="824071" y="1564267"/>
            <a:chExt cx="5363459" cy="791052"/>
          </a:xfrm>
        </p:grpSpPr>
        <p:sp>
          <p:nvSpPr>
            <p:cNvPr id="5" name="矩形: 圆角 28"/>
            <p:cNvSpPr/>
            <p:nvPr/>
          </p:nvSpPr>
          <p:spPr>
            <a:xfrm>
              <a:off x="824071" y="1740416"/>
              <a:ext cx="5363459" cy="614363"/>
            </a:xfrm>
            <a:prstGeom prst="roundRect">
              <a:avLst/>
            </a:prstGeom>
            <a:solidFill>
              <a:srgbClr val="0F73EE"/>
            </a:solidFill>
            <a:ln>
              <a:solidFill>
                <a:srgbClr val="FBA7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701522" y="1828091"/>
              <a:ext cx="4375621" cy="4801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+mj-ea"/>
                </a:rPr>
                <a:t>2.2.1 TCP/IP</a:t>
              </a:r>
              <a:r>
                <a:rPr lang="zh-CN" altLang="en-US" sz="2800" dirty="0">
                  <a:solidFill>
                    <a:schemeClr val="bg1"/>
                  </a:solidFill>
                  <a:latin typeface="+mj-ea"/>
                </a:rPr>
                <a:t>互连网层协议 </a:t>
              </a:r>
              <a:endParaRPr lang="zh-CN" altLang="en-US" sz="2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6" y="1564267"/>
              <a:ext cx="751303" cy="7910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占位符 16386"/>
          <p:cNvSpPr>
            <a:spLocks noGrp="1"/>
          </p:cNvSpPr>
          <p:nvPr>
            <p:ph idx="1"/>
          </p:nvPr>
        </p:nvSpPr>
        <p:spPr>
          <a:xfrm>
            <a:off x="1365504" y="1080000"/>
            <a:ext cx="9070848" cy="1334016"/>
          </a:xfrm>
        </p:spPr>
        <p:txBody>
          <a:bodyPr anchor="t"/>
          <a:lstStyle/>
          <a:p>
            <a:r>
              <a:rPr lang="en-US" altLang="zh-CN" dirty="0"/>
              <a:t>       </a:t>
            </a:r>
            <a:r>
              <a:rPr lang="en-US" altLang="zh-CN" dirty="0" smtClean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协议报文头的主要作用是用于控制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协议分组</a:t>
            </a:r>
            <a:r>
              <a:rPr lang="zh-CN" altLang="en-US" dirty="0">
                <a:solidFill>
                  <a:srgbClr val="FF9966"/>
                </a:solidFill>
                <a:latin typeface="宋体" panose="02010600030101010101" pitchFamily="2" charset="-122"/>
              </a:rPr>
              <a:t>（数据包）</a:t>
            </a:r>
            <a:r>
              <a:rPr lang="zh-CN" altLang="en-US" dirty="0">
                <a:latin typeface="宋体" panose="02010600030101010101" pitchFamily="2" charset="-122"/>
              </a:rPr>
              <a:t>的正确传输，也有一部分信息是说明协议</a:t>
            </a:r>
            <a:r>
              <a:rPr lang="zh-CN" altLang="en-US" dirty="0">
                <a:solidFill>
                  <a:srgbClr val="FF9966"/>
                </a:solidFill>
                <a:latin typeface="宋体" panose="02010600030101010101" pitchFamily="2" charset="-122"/>
              </a:rPr>
              <a:t>数据包</a:t>
            </a:r>
            <a:r>
              <a:rPr lang="zh-CN" altLang="en-US" dirty="0">
                <a:latin typeface="宋体" panose="02010600030101010101" pitchFamily="2" charset="-122"/>
              </a:rPr>
              <a:t>的某些性质</a:t>
            </a:r>
            <a:r>
              <a:rPr lang="zh-CN" altLang="en-US" dirty="0" smtClean="0">
                <a:latin typeface="宋体" panose="02010600030101010101" pitchFamily="2" charset="-122"/>
              </a:rPr>
              <a:t>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507997" y="6399594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图</a:t>
            </a:r>
            <a:r>
              <a:rPr lang="en-US" altLang="zh-CN" dirty="0" smtClean="0"/>
              <a:t>2-2 Ipv4</a:t>
            </a:r>
            <a:r>
              <a:rPr lang="zh-CN" altLang="en-US" dirty="0">
                <a:latin typeface="宋体" panose="02010600030101010101" pitchFamily="2" charset="-122"/>
              </a:rPr>
              <a:t>报文头的结构。</a:t>
            </a:r>
            <a:endParaRPr lang="zh-CN" altLang="en-US" dirty="0"/>
          </a:p>
        </p:txBody>
      </p:sp>
      <p:sp>
        <p:nvSpPr>
          <p:cNvPr id="5" name="文本框 17413"/>
          <p:cNvSpPr txBox="1"/>
          <p:nvPr/>
        </p:nvSpPr>
        <p:spPr>
          <a:xfrm>
            <a:off x="2346961" y="2353056"/>
            <a:ext cx="976313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版本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文本框 17414"/>
          <p:cNvSpPr txBox="1"/>
          <p:nvPr/>
        </p:nvSpPr>
        <p:spPr>
          <a:xfrm>
            <a:off x="3323273" y="2353056"/>
            <a:ext cx="1173162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头长度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文本框 17415"/>
          <p:cNvSpPr txBox="1"/>
          <p:nvPr/>
        </p:nvSpPr>
        <p:spPr>
          <a:xfrm>
            <a:off x="4496435" y="2353056"/>
            <a:ext cx="1366838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sz="2000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服务类型</a:t>
            </a:r>
            <a:endParaRPr lang="zh-CN" altLang="en-US" sz="2000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" name="文本框 17417"/>
          <p:cNvSpPr txBox="1"/>
          <p:nvPr/>
        </p:nvSpPr>
        <p:spPr>
          <a:xfrm>
            <a:off x="5852161" y="2353056"/>
            <a:ext cx="3724275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总长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" name="文本框 17418"/>
          <p:cNvSpPr txBox="1"/>
          <p:nvPr/>
        </p:nvSpPr>
        <p:spPr>
          <a:xfrm>
            <a:off x="2346961" y="3027745"/>
            <a:ext cx="3516313" cy="674687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en-US" altLang="zh-CN" sz="1000" dirty="0">
                <a:latin typeface="Times New Roman" panose="02020603050405020304" charset="0"/>
                <a:ea typeface="宋体" panose="02010600030101010101" pitchFamily="2" charset="-122"/>
              </a:rPr>
              <a:t>      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标识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" name="文本框 17419"/>
          <p:cNvSpPr txBox="1"/>
          <p:nvPr/>
        </p:nvSpPr>
        <p:spPr>
          <a:xfrm>
            <a:off x="5863274" y="3027745"/>
            <a:ext cx="1368425" cy="674687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旗标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1" name="文本框 17420"/>
          <p:cNvSpPr txBox="1"/>
          <p:nvPr/>
        </p:nvSpPr>
        <p:spPr>
          <a:xfrm>
            <a:off x="7231699" y="3027745"/>
            <a:ext cx="2344737" cy="674687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分段偏移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2" name="文本框 17421"/>
          <p:cNvSpPr txBox="1"/>
          <p:nvPr/>
        </p:nvSpPr>
        <p:spPr>
          <a:xfrm>
            <a:off x="2346960" y="3702431"/>
            <a:ext cx="1758950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存活时间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3" name="文本框 17422"/>
          <p:cNvSpPr txBox="1"/>
          <p:nvPr/>
        </p:nvSpPr>
        <p:spPr>
          <a:xfrm>
            <a:off x="4105911" y="3702431"/>
            <a:ext cx="1757363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协议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4" name="文本框 17423"/>
          <p:cNvSpPr txBox="1"/>
          <p:nvPr/>
        </p:nvSpPr>
        <p:spPr>
          <a:xfrm>
            <a:off x="5863273" y="3702431"/>
            <a:ext cx="3713162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just" eaLnBrk="0" hangingPunct="0"/>
            <a:r>
              <a:rPr lang="en-US" altLang="zh-CN" sz="1000" dirty="0">
                <a:latin typeface="Times New Roman" panose="02020603050405020304" charset="0"/>
                <a:ea typeface="宋体" panose="02010600030101010101" pitchFamily="2" charset="-122"/>
              </a:rPr>
              <a:t>    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头校验和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5" name="文本框 17424"/>
          <p:cNvSpPr txBox="1"/>
          <p:nvPr/>
        </p:nvSpPr>
        <p:spPr>
          <a:xfrm>
            <a:off x="2346961" y="4377119"/>
            <a:ext cx="7229475" cy="673100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源地址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" name="文本框 17425"/>
          <p:cNvSpPr txBox="1"/>
          <p:nvPr/>
        </p:nvSpPr>
        <p:spPr>
          <a:xfrm>
            <a:off x="2346961" y="5050220"/>
            <a:ext cx="7229475" cy="674687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目的地址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7" name="文本框 17426"/>
          <p:cNvSpPr txBox="1"/>
          <p:nvPr/>
        </p:nvSpPr>
        <p:spPr>
          <a:xfrm>
            <a:off x="2346961" y="5724906"/>
            <a:ext cx="7229475" cy="674688"/>
          </a:xfrm>
          <a:prstGeom prst="rect">
            <a:avLst/>
          </a:prstGeom>
          <a:solidFill>
            <a:srgbClr val="CC6600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 eaLnBrk="0" hangingPunct="0"/>
            <a:r>
              <a:rPr lang="en-US" altLang="zh-CN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IP</a:t>
            </a:r>
            <a:r>
              <a:rPr lang="zh-CN" altLang="en-US" dirty="0">
                <a:solidFill>
                  <a:schemeClr val="bg2"/>
                </a:solidFill>
                <a:latin typeface="Times New Roman" panose="02020603050405020304" charset="0"/>
                <a:ea typeface="宋体" panose="02010600030101010101" pitchFamily="2" charset="-122"/>
              </a:rPr>
              <a:t>选项</a:t>
            </a:r>
            <a:endParaRPr lang="zh-CN" altLang="en-US" dirty="0">
              <a:solidFill>
                <a:schemeClr val="bg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8" name="文本框 17427"/>
          <p:cNvSpPr txBox="1"/>
          <p:nvPr/>
        </p:nvSpPr>
        <p:spPr>
          <a:xfrm>
            <a:off x="2194560" y="1972056"/>
            <a:ext cx="585788" cy="674688"/>
          </a:xfrm>
          <a:prstGeom prst="rect">
            <a:avLst/>
          </a:prstGeom>
          <a:noFill/>
          <a:ln w="2857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9" name="文本框 17428"/>
          <p:cNvSpPr txBox="1"/>
          <p:nvPr/>
        </p:nvSpPr>
        <p:spPr>
          <a:xfrm>
            <a:off x="3170874" y="1972056"/>
            <a:ext cx="587375" cy="674688"/>
          </a:xfrm>
          <a:prstGeom prst="rect">
            <a:avLst/>
          </a:prstGeom>
          <a:noFill/>
          <a:ln w="2857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</a:rPr>
              <a:t>8</a:t>
            </a:r>
            <a:endParaRPr lang="en-US" altLang="zh-CN" sz="2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0" name="文本框 17429"/>
          <p:cNvSpPr txBox="1"/>
          <p:nvPr/>
        </p:nvSpPr>
        <p:spPr>
          <a:xfrm>
            <a:off x="5710874" y="1972056"/>
            <a:ext cx="587375" cy="674688"/>
          </a:xfrm>
          <a:prstGeom prst="rect">
            <a:avLst/>
          </a:prstGeom>
          <a:noFill/>
          <a:ln w="2857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</a:rPr>
              <a:t>16</a:t>
            </a:r>
            <a:endParaRPr lang="en-US" altLang="zh-CN" sz="2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1" name="文本框 17430"/>
          <p:cNvSpPr txBox="1"/>
          <p:nvPr/>
        </p:nvSpPr>
        <p:spPr>
          <a:xfrm>
            <a:off x="6884035" y="1972056"/>
            <a:ext cx="585788" cy="674688"/>
          </a:xfrm>
          <a:prstGeom prst="rect">
            <a:avLst/>
          </a:prstGeom>
          <a:noFill/>
          <a:ln w="2857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</a:rPr>
              <a:t>19</a:t>
            </a:r>
            <a:endParaRPr lang="en-US" altLang="zh-CN" sz="2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2" name="文本框 17431"/>
          <p:cNvSpPr txBox="1"/>
          <p:nvPr/>
        </p:nvSpPr>
        <p:spPr>
          <a:xfrm>
            <a:off x="9228774" y="1972056"/>
            <a:ext cx="585787" cy="674688"/>
          </a:xfrm>
          <a:prstGeom prst="rect">
            <a:avLst/>
          </a:prstGeom>
          <a:noFill/>
          <a:ln w="28575">
            <a:noFill/>
          </a:ln>
        </p:spPr>
        <p:txBody>
          <a:bodyPr anchor="t"/>
          <a:lstStyle/>
          <a:p>
            <a:pPr algn="just" eaLnBrk="0" hangingPunct="0"/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</a:rPr>
              <a:t>31</a:t>
            </a:r>
            <a:endParaRPr lang="en-US" altLang="zh-CN" sz="200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57475" y="186521"/>
            <a:ext cx="3419528" cy="840284"/>
            <a:chOff x="3135993" y="1051060"/>
            <a:chExt cx="3419528" cy="840284"/>
          </a:xfrm>
        </p:grpSpPr>
        <p:sp>
          <p:nvSpPr>
            <p:cNvPr id="24" name="矩形: 圆角 6"/>
            <p:cNvSpPr/>
            <p:nvPr/>
          </p:nvSpPr>
          <p:spPr>
            <a:xfrm>
              <a:off x="3839426" y="1280937"/>
              <a:ext cx="2716095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3972879" y="1333399"/>
              <a:ext cx="235192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IP</a:t>
              </a: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协议报文头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1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8433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19458" name="文本占位符 18434"/>
          <p:cNvSpPr>
            <a:spLocks noGrp="1"/>
          </p:cNvSpPr>
          <p:nvPr>
            <p:ph idx="1"/>
          </p:nvPr>
        </p:nvSpPr>
        <p:spPr>
          <a:xfrm>
            <a:off x="1432560" y="1496568"/>
            <a:ext cx="9326880" cy="5029200"/>
          </a:xfrm>
        </p:spPr>
        <p:txBody>
          <a:bodyPr anchor="t"/>
          <a:lstStyle/>
          <a:p>
            <a:pPr algn="just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）版本（</a:t>
            </a:r>
            <a:r>
              <a:rPr lang="en-US" altLang="zh-CN" dirty="0"/>
              <a:t>VERS</a:t>
            </a:r>
            <a:r>
              <a:rPr lang="zh-CN" altLang="en-US" dirty="0"/>
              <a:t>）：对于</a:t>
            </a:r>
            <a:r>
              <a:rPr lang="en-US" altLang="zh-CN" dirty="0"/>
              <a:t>Ipv4</a:t>
            </a:r>
            <a:r>
              <a:rPr lang="zh-CN" altLang="en-US" dirty="0"/>
              <a:t>来说，其值为</a:t>
            </a:r>
            <a:r>
              <a:rPr lang="en-US" altLang="zh-CN" dirty="0"/>
              <a:t>4</a:t>
            </a:r>
            <a:r>
              <a:rPr lang="zh-CN" altLang="en-US" dirty="0"/>
              <a:t>。</a:t>
            </a:r>
            <a:endParaRPr lang="zh-CN" altLang="en-US" dirty="0"/>
          </a:p>
          <a:p>
            <a:pPr algn="just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）头长度（</a:t>
            </a:r>
            <a:r>
              <a:rPr lang="en-US" altLang="zh-CN" dirty="0"/>
              <a:t>LEN</a:t>
            </a:r>
            <a:r>
              <a:rPr lang="zh-CN" altLang="en-US" dirty="0"/>
              <a:t>）：定义报文头的长度。</a:t>
            </a:r>
            <a:endParaRPr lang="zh-CN" altLang="en-US" dirty="0"/>
          </a:p>
          <a:p>
            <a:pPr algn="just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）服务类型（</a:t>
            </a:r>
            <a:r>
              <a:rPr lang="en-US" altLang="zh-CN" dirty="0"/>
              <a:t>TOS</a:t>
            </a:r>
            <a:r>
              <a:rPr lang="zh-CN" altLang="en-US" dirty="0"/>
              <a:t>）：定义数据报的通信要求。</a:t>
            </a:r>
            <a:endParaRPr lang="zh-CN" altLang="en-US" dirty="0"/>
          </a:p>
          <a:p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4</a:t>
            </a:r>
            <a:r>
              <a:rPr lang="zh-CN" altLang="en-US" dirty="0">
                <a:latin typeface="宋体" panose="02010600030101010101" pitchFamily="2" charset="-122"/>
              </a:rPr>
              <a:t>）标识（</a:t>
            </a:r>
            <a:r>
              <a:rPr lang="en-US" altLang="zh-CN" dirty="0"/>
              <a:t>Identification</a:t>
            </a:r>
            <a:r>
              <a:rPr lang="zh-CN" altLang="en-US" dirty="0">
                <a:latin typeface="宋体" panose="02010600030101010101" pitchFamily="2" charset="-122"/>
              </a:rPr>
              <a:t>）：用于唯一地标识出一个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数据报。使用该字段可将哪些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数据包属于一个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数据报唯一地标识出来。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/>
              <a:t> （</a:t>
            </a:r>
            <a:r>
              <a:rPr lang="en-US" altLang="zh-CN" dirty="0"/>
              <a:t>5</a:t>
            </a:r>
            <a:r>
              <a:rPr lang="zh-CN" altLang="en-US" dirty="0"/>
              <a:t>）旗标（</a:t>
            </a:r>
            <a:r>
              <a:rPr lang="en-US" altLang="zh-CN" dirty="0"/>
              <a:t>FLAG</a:t>
            </a:r>
            <a:r>
              <a:rPr lang="zh-CN" altLang="en-US" dirty="0"/>
              <a:t>）：占</a:t>
            </a:r>
            <a:r>
              <a:rPr lang="en-US" altLang="zh-CN" dirty="0"/>
              <a:t>3</a:t>
            </a:r>
            <a:r>
              <a:rPr lang="zh-CN" altLang="en-US" dirty="0"/>
              <a:t>个比特，仅有</a:t>
            </a:r>
            <a:r>
              <a:rPr lang="en-US" altLang="zh-CN" dirty="0"/>
              <a:t>2</a:t>
            </a:r>
            <a:r>
              <a:rPr lang="zh-CN" altLang="en-US" dirty="0"/>
              <a:t>位有定义，第</a:t>
            </a:r>
            <a:r>
              <a:rPr lang="en-US" altLang="zh-CN" dirty="0"/>
              <a:t>1</a:t>
            </a:r>
            <a:r>
              <a:rPr lang="zh-CN" altLang="en-US" dirty="0"/>
              <a:t>位用来指示是否对</a:t>
            </a:r>
            <a:r>
              <a:rPr lang="en-US" altLang="zh-CN" dirty="0"/>
              <a:t>IP</a:t>
            </a:r>
            <a:r>
              <a:rPr lang="zh-CN" altLang="en-US" dirty="0"/>
              <a:t>数据包进行“分段”，第</a:t>
            </a:r>
            <a:r>
              <a:rPr lang="en-US" altLang="zh-CN" dirty="0"/>
              <a:t>2</a:t>
            </a:r>
            <a:r>
              <a:rPr lang="zh-CN" altLang="en-US" dirty="0"/>
              <a:t>位用于指出数据包是一个分段数据报的最后一个分段。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432560" y="641953"/>
            <a:ext cx="3993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</a:rPr>
              <a:t>各字段含义如下：</a:t>
            </a:r>
            <a:r>
              <a:rPr lang="zh-CN" altLang="en-US" sz="3600" dirty="0"/>
              <a:t> 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9457"/>
          <p:cNvSpPr>
            <a:spLocks noGrp="1"/>
          </p:cNvSpPr>
          <p:nvPr>
            <p:ph type="title"/>
          </p:nvPr>
        </p:nvSpPr>
        <p:spPr>
          <a:xfrm>
            <a:off x="2209800" y="381000"/>
            <a:ext cx="7772400" cy="7620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20482" name="文本占位符 19458"/>
          <p:cNvSpPr>
            <a:spLocks noGrp="1"/>
          </p:cNvSpPr>
          <p:nvPr>
            <p:ph idx="1"/>
          </p:nvPr>
        </p:nvSpPr>
        <p:spPr>
          <a:xfrm>
            <a:off x="1371600" y="1871472"/>
            <a:ext cx="9448800" cy="3980688"/>
          </a:xfrm>
        </p:spPr>
        <p:txBody>
          <a:bodyPr anchor="t"/>
          <a:lstStyle/>
          <a:p>
            <a:pPr algn="just">
              <a:lnSpc>
                <a:spcPct val="9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）分段偏移：指出在一个</a:t>
            </a:r>
            <a:r>
              <a:rPr lang="en-US" altLang="zh-CN" dirty="0"/>
              <a:t>IP</a:t>
            </a:r>
            <a:r>
              <a:rPr lang="zh-CN" altLang="en-US" dirty="0"/>
              <a:t>数据报中，本</a:t>
            </a:r>
            <a:r>
              <a:rPr lang="en-US" altLang="zh-CN" dirty="0"/>
              <a:t>IP</a:t>
            </a:r>
            <a:r>
              <a:rPr lang="zh-CN" altLang="en-US" dirty="0"/>
              <a:t>包的偏移量是多少。</a:t>
            </a:r>
            <a:endParaRPr lang="zh-CN" altLang="en-US" dirty="0"/>
          </a:p>
          <a:p>
            <a:pPr algn="just">
              <a:lnSpc>
                <a:spcPct val="9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）存活时间（</a:t>
            </a:r>
            <a:r>
              <a:rPr lang="en-US" altLang="zh-CN" dirty="0"/>
              <a:t>TTL</a:t>
            </a:r>
            <a:r>
              <a:rPr lang="zh-CN" altLang="en-US" dirty="0"/>
              <a:t>）：用于在避免数据包在网络中无休止地在网络中游荡。</a:t>
            </a:r>
            <a:endParaRPr lang="zh-CN" altLang="en-US" dirty="0"/>
          </a:p>
          <a:p>
            <a:pPr algn="just">
              <a:lnSpc>
                <a:spcPct val="9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8</a:t>
            </a:r>
            <a:r>
              <a:rPr lang="zh-CN" altLang="en-US" dirty="0"/>
              <a:t>）协议（</a:t>
            </a:r>
            <a:r>
              <a:rPr lang="en-US" altLang="zh-CN" dirty="0"/>
              <a:t>PROTOCOL</a:t>
            </a:r>
            <a:r>
              <a:rPr lang="zh-CN" altLang="en-US" dirty="0"/>
              <a:t>）：指明该</a:t>
            </a:r>
            <a:r>
              <a:rPr lang="en-US" altLang="zh-CN" dirty="0"/>
              <a:t>IP</a:t>
            </a:r>
            <a:r>
              <a:rPr lang="zh-CN" altLang="en-US" dirty="0"/>
              <a:t>包所负载的传输协议。</a:t>
            </a:r>
            <a:endParaRPr lang="zh-CN" altLang="en-US" dirty="0"/>
          </a:p>
          <a:p>
            <a:pPr algn="just">
              <a:lnSpc>
                <a:spcPct val="9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9</a:t>
            </a:r>
            <a:r>
              <a:rPr lang="zh-CN" altLang="en-US" dirty="0"/>
              <a:t>）头校验和：用于保证</a:t>
            </a:r>
            <a:r>
              <a:rPr lang="en-US" altLang="zh-CN" dirty="0"/>
              <a:t>IP</a:t>
            </a:r>
            <a:r>
              <a:rPr lang="zh-CN" altLang="en-US" dirty="0"/>
              <a:t>报文头经过网络传输中的完整性。</a:t>
            </a:r>
            <a:endParaRPr lang="zh-CN" altLang="en-US" dirty="0"/>
          </a:p>
          <a:p>
            <a:pPr algn="just">
              <a:lnSpc>
                <a:spcPct val="9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）源地址与目的地址的含义非常清楚。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11</a:t>
            </a:r>
            <a:r>
              <a:rPr lang="zh-CN" altLang="en-US" dirty="0">
                <a:latin typeface="宋体" panose="02010600030101010101" pitchFamily="2" charset="-122"/>
              </a:rPr>
              <a:t>）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选项：用于负载额外信息，本字段可选，从安全角度出发，需要防止用该字段成为隐蔽信道。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占位符 20482"/>
          <p:cNvSpPr>
            <a:spLocks noGrp="1"/>
          </p:cNvSpPr>
          <p:nvPr>
            <p:ph idx="1"/>
          </p:nvPr>
        </p:nvSpPr>
        <p:spPr>
          <a:xfrm>
            <a:off x="1499616" y="1773238"/>
            <a:ext cx="9302496" cy="4495800"/>
          </a:xfrm>
        </p:spPr>
        <p:txBody>
          <a:bodyPr anchor="t"/>
          <a:lstStyle/>
          <a:p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虽然</a:t>
            </a:r>
            <a:r>
              <a:rPr lang="en-US" altLang="zh-CN" dirty="0"/>
              <a:t>Internet</a:t>
            </a:r>
            <a:r>
              <a:rPr lang="zh-CN" altLang="en-US" dirty="0">
                <a:latin typeface="宋体" panose="02010600030101010101" pitchFamily="2" charset="-122"/>
              </a:rPr>
              <a:t>上的每一台机器都有其唯一的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地址，但是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地址并不能用来发送和接收数据报，因为数据链路层的硬件设备并不能识别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地址。如今，大多数主机都通过一个网卡连接在一个</a:t>
            </a:r>
            <a:r>
              <a:rPr lang="zh-CN" altLang="en-US" b="1" dirty="0">
                <a:latin typeface="宋体" panose="02010600030101010101" pitchFamily="2" charset="-122"/>
              </a:rPr>
              <a:t>局域网</a:t>
            </a:r>
            <a:r>
              <a:rPr lang="en-US" altLang="zh-CN" b="1" dirty="0"/>
              <a:t>LAN</a:t>
            </a:r>
            <a:r>
              <a:rPr lang="zh-CN" altLang="en-US" dirty="0">
                <a:latin typeface="宋体" panose="02010600030101010101" pitchFamily="2" charset="-122"/>
              </a:rPr>
              <a:t>上</a:t>
            </a:r>
            <a:r>
              <a:rPr lang="en-US" altLang="zh-CN" dirty="0"/>
              <a:t>,</a:t>
            </a:r>
            <a:r>
              <a:rPr lang="zh-CN" altLang="en-US" dirty="0">
                <a:latin typeface="宋体" panose="02010600030101010101" pitchFamily="2" charset="-122"/>
              </a:rPr>
              <a:t>而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网卡只能够识别</a:t>
            </a:r>
            <a:r>
              <a:rPr lang="en-US" altLang="zh-CN" dirty="0">
                <a:solidFill>
                  <a:srgbClr val="00B0F0"/>
                </a:solidFill>
              </a:rPr>
              <a:t>LAN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地址</a:t>
            </a:r>
            <a:r>
              <a:rPr lang="zh-CN" altLang="en-US" dirty="0">
                <a:latin typeface="宋体" panose="02010600030101010101" pitchFamily="2" charset="-122"/>
              </a:rPr>
              <a:t>。例如，每一个以太网卡都有其唯一的</a:t>
            </a:r>
            <a:r>
              <a:rPr lang="en-US" altLang="zh-CN" dirty="0"/>
              <a:t>48</a:t>
            </a:r>
            <a:r>
              <a:rPr lang="zh-CN" altLang="en-US" dirty="0">
                <a:latin typeface="宋体" panose="02010600030101010101" pitchFamily="2" charset="-122"/>
              </a:rPr>
              <a:t>比特以太网地址（</a:t>
            </a:r>
            <a:r>
              <a:rPr lang="en-US" altLang="zh-CN" dirty="0"/>
              <a:t>MAC</a:t>
            </a:r>
            <a:r>
              <a:rPr lang="zh-CN" altLang="en-US" dirty="0">
                <a:latin typeface="宋体" panose="02010600030101010101" pitchFamily="2" charset="-122"/>
              </a:rPr>
              <a:t>地址），网卡根据以太网地址发送和接收数据帧。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57475" y="637786"/>
            <a:ext cx="4084546" cy="840284"/>
            <a:chOff x="3135993" y="1051060"/>
            <a:chExt cx="4084546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3381113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307808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地址转换协议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ARP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2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>
          <a:xfrm>
            <a:off x="2133600" y="381000"/>
            <a:ext cx="7772400" cy="8382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22530" name="文本占位符 21506"/>
          <p:cNvSpPr>
            <a:spLocks noGrp="1"/>
          </p:cNvSpPr>
          <p:nvPr>
            <p:ph idx="1"/>
          </p:nvPr>
        </p:nvSpPr>
        <p:spPr>
          <a:xfrm>
            <a:off x="1175657" y="1611505"/>
            <a:ext cx="9868395" cy="3862704"/>
          </a:xfrm>
        </p:spPr>
        <p:txBody>
          <a:bodyPr anchor="t"/>
          <a:lstStyle/>
          <a:p>
            <a:pPr>
              <a:lnSpc>
                <a:spcPts val="36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解决</a:t>
            </a:r>
            <a:r>
              <a:rPr lang="zh-CN" altLang="en-US" dirty="0">
                <a:latin typeface="宋体" panose="02010600030101010101" pitchFamily="2" charset="-122"/>
              </a:rPr>
              <a:t>这个问题的一个办法就是在</a:t>
            </a:r>
            <a:r>
              <a:rPr lang="en-US" altLang="zh-CN" dirty="0"/>
              <a:t>Internet</a:t>
            </a:r>
            <a:r>
              <a:rPr lang="zh-CN" altLang="en-US" dirty="0">
                <a:latin typeface="宋体" panose="02010600030101010101" pitchFamily="2" charset="-122"/>
              </a:rPr>
              <a:t>上的机器运行地址转换协议</a:t>
            </a:r>
            <a:r>
              <a:rPr lang="en-US" altLang="zh-CN" dirty="0"/>
              <a:t>ARP</a:t>
            </a:r>
            <a:r>
              <a:rPr lang="zh-CN" altLang="en-US" dirty="0">
                <a:latin typeface="宋体" panose="02010600030101010101" pitchFamily="2" charset="-122"/>
              </a:rPr>
              <a:t>协议。当以太网中源主机要与具有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地址为</a:t>
            </a:r>
            <a:r>
              <a:rPr lang="en-US" altLang="zh-CN" dirty="0"/>
              <a:t>X.X.X.X</a:t>
            </a:r>
            <a:r>
              <a:rPr lang="zh-CN" altLang="en-US" dirty="0">
                <a:latin typeface="宋体" panose="02010600030101010101" pitchFamily="2" charset="-122"/>
              </a:rPr>
              <a:t>（每一个“</a:t>
            </a:r>
            <a:r>
              <a:rPr lang="en-US" altLang="zh-CN" dirty="0"/>
              <a:t>X</a:t>
            </a:r>
            <a:r>
              <a:rPr lang="en-US" altLang="zh-CN" dirty="0">
                <a:latin typeface="宋体" panose="02010600030101010101" pitchFamily="2" charset="-122"/>
              </a:rPr>
              <a:t>”</a:t>
            </a:r>
            <a:r>
              <a:rPr lang="zh-CN" altLang="en-US" dirty="0">
                <a:latin typeface="宋体" panose="02010600030101010101" pitchFamily="2" charset="-122"/>
              </a:rPr>
              <a:t>都是一个十六进制数字）的目的主机进行通信时，源主机首先发出广播数据报询问“哪一台主机拥有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地址为</a:t>
            </a:r>
            <a:r>
              <a:rPr lang="en-US" altLang="zh-CN" dirty="0"/>
              <a:t>X.X.X.X?</a:t>
            </a:r>
            <a:r>
              <a:rPr lang="en-US" altLang="zh-CN" dirty="0">
                <a:latin typeface="宋体" panose="02010600030101010101" pitchFamily="2" charset="-122"/>
              </a:rPr>
              <a:t>”</a:t>
            </a:r>
            <a:r>
              <a:rPr lang="zh-CN" altLang="en-US" dirty="0">
                <a:latin typeface="宋体" panose="02010600030101010101" pitchFamily="2" charset="-122"/>
              </a:rPr>
              <a:t>。该广播数据报会被该以太网中所有的主机接收到，并且每一台主机都要检查其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地址是否与广播数据报中所询问的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地址是否一致。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2529"/>
          <p:cNvSpPr>
            <a:spLocks noGrp="1"/>
          </p:cNvSpPr>
          <p:nvPr>
            <p:ph type="title"/>
          </p:nvPr>
        </p:nvSpPr>
        <p:spPr>
          <a:xfrm>
            <a:off x="2209800" y="609600"/>
            <a:ext cx="7772400" cy="8382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23554" name="文本占位符 22530"/>
          <p:cNvSpPr>
            <a:spLocks noGrp="1"/>
          </p:cNvSpPr>
          <p:nvPr>
            <p:ph idx="1"/>
          </p:nvPr>
        </p:nvSpPr>
        <p:spPr>
          <a:xfrm>
            <a:off x="1151906" y="2072640"/>
            <a:ext cx="9927772" cy="3340608"/>
          </a:xfrm>
        </p:spPr>
        <p:txBody>
          <a:bodyPr anchor="t"/>
          <a:lstStyle/>
          <a:p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以太网</a:t>
            </a:r>
            <a:r>
              <a:rPr lang="zh-CN" altLang="en-US" dirty="0">
                <a:latin typeface="宋体" panose="02010600030101010101" pitchFamily="2" charset="-122"/>
              </a:rPr>
              <a:t>中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地址与广播数据报中的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地址相同的主机将回答这个广播数据报，并且在应答源主机的数据报中附上本机的</a:t>
            </a:r>
            <a:r>
              <a:rPr lang="en-US" altLang="zh-CN" dirty="0"/>
              <a:t>48</a:t>
            </a:r>
            <a:r>
              <a:rPr lang="zh-CN" altLang="en-US" dirty="0">
                <a:latin typeface="宋体" panose="02010600030101010101" pitchFamily="2" charset="-122"/>
              </a:rPr>
              <a:t>位以太网地址。而以太网中主机的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地址与广播数据报中所询问的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地址不一致的其他主机，都不回答这个询问广播数据报。这样</a:t>
            </a:r>
            <a:r>
              <a:rPr lang="en-US" altLang="zh-CN" dirty="0"/>
              <a:t>ARP</a:t>
            </a:r>
            <a:r>
              <a:rPr lang="zh-CN" altLang="en-US" dirty="0">
                <a:latin typeface="宋体" panose="02010600030101010101" pitchFamily="2" charset="-122"/>
              </a:rPr>
              <a:t>就完成了把</a:t>
            </a:r>
            <a:r>
              <a:rPr lang="en-US" altLang="zh-CN" dirty="0"/>
              <a:t>32</a:t>
            </a:r>
            <a:r>
              <a:rPr lang="zh-CN" altLang="en-US" dirty="0">
                <a:latin typeface="宋体" panose="02010600030101010101" pitchFamily="2" charset="-122"/>
              </a:rPr>
              <a:t>位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地址到</a:t>
            </a:r>
            <a:r>
              <a:rPr lang="en-US" altLang="zh-CN" dirty="0"/>
              <a:t>48</a:t>
            </a:r>
            <a:r>
              <a:rPr lang="zh-CN" altLang="en-US" dirty="0">
                <a:latin typeface="宋体" panose="02010600030101010101" pitchFamily="2" charset="-122"/>
              </a:rPr>
              <a:t>位物理地址的转换。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23553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24578" name="文本占位符 23554"/>
          <p:cNvSpPr>
            <a:spLocks noGrp="1"/>
          </p:cNvSpPr>
          <p:nvPr>
            <p:ph idx="1"/>
          </p:nvPr>
        </p:nvSpPr>
        <p:spPr>
          <a:xfrm>
            <a:off x="1140031" y="1710529"/>
            <a:ext cx="9963398" cy="3507648"/>
          </a:xfrm>
        </p:spPr>
        <p:txBody>
          <a:bodyPr anchor="t"/>
          <a:lstStyle/>
          <a:p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当然</a:t>
            </a:r>
            <a:r>
              <a:rPr lang="zh-CN" altLang="en-US" dirty="0">
                <a:latin typeface="宋体" panose="02010600030101010101" pitchFamily="2" charset="-122"/>
              </a:rPr>
              <a:t>，如果目的主机同源主机不在同一个以太网中，上述的</a:t>
            </a:r>
            <a:r>
              <a:rPr lang="en-US" altLang="zh-CN" dirty="0"/>
              <a:t>ARP</a:t>
            </a:r>
            <a:r>
              <a:rPr lang="zh-CN" altLang="en-US" dirty="0">
                <a:latin typeface="宋体" panose="02010600030101010101" pitchFamily="2" charset="-122"/>
              </a:rPr>
              <a:t>解决办法就会失败，原因是以太网与其他网络相连的</a:t>
            </a:r>
            <a:r>
              <a:rPr lang="zh-CN" altLang="en-US" b="1" dirty="0">
                <a:latin typeface="宋体" panose="02010600030101010101" pitchFamily="2" charset="-122"/>
              </a:rPr>
              <a:t>路由器（</a:t>
            </a:r>
            <a:r>
              <a:rPr lang="en-US" altLang="zh-CN" dirty="0"/>
              <a:t>Router</a:t>
            </a:r>
            <a:r>
              <a:rPr lang="zh-CN" altLang="en-US" dirty="0">
                <a:latin typeface="宋体" panose="02010600030101010101" pitchFamily="2" charset="-122"/>
              </a:rPr>
              <a:t>）不会转交以太网内的广播，在其他网络上的目的主机将不会接收到源主机发出的广播数据报，也当然就不可能应答。在这种情况下，可以采用</a:t>
            </a:r>
            <a:r>
              <a:rPr lang="zh-CN" altLang="en-US" b="1" dirty="0">
                <a:latin typeface="宋体" panose="02010600030101010101" pitchFamily="2" charset="-122"/>
              </a:rPr>
              <a:t>代理</a:t>
            </a:r>
            <a:r>
              <a:rPr lang="en-US" altLang="zh-CN" b="1" dirty="0"/>
              <a:t>ARP</a:t>
            </a:r>
            <a:r>
              <a:rPr lang="zh-CN" altLang="en-US" dirty="0">
                <a:latin typeface="宋体" panose="02010600030101010101" pitchFamily="2" charset="-122"/>
              </a:rPr>
              <a:t>的办法解决。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24577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25602" name="文本占位符 24578"/>
          <p:cNvSpPr>
            <a:spLocks noGrp="1"/>
          </p:cNvSpPr>
          <p:nvPr>
            <p:ph idx="1"/>
          </p:nvPr>
        </p:nvSpPr>
        <p:spPr>
          <a:xfrm>
            <a:off x="1163782" y="1533500"/>
            <a:ext cx="9880270" cy="3822265"/>
          </a:xfrm>
        </p:spPr>
        <p:txBody>
          <a:bodyPr anchor="t"/>
          <a:lstStyle/>
          <a:p>
            <a:pPr algn="just"/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所谓</a:t>
            </a:r>
            <a:r>
              <a:rPr lang="zh-CN" altLang="en-US" dirty="0">
                <a:latin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代理</a:t>
            </a:r>
            <a:r>
              <a:rPr lang="en-US" altLang="zh-CN" dirty="0">
                <a:solidFill>
                  <a:schemeClr val="folHlink"/>
                </a:solidFill>
              </a:rPr>
              <a:t>ARP</a:t>
            </a:r>
            <a:r>
              <a:rPr lang="zh-CN" altLang="en-US" dirty="0">
                <a:latin typeface="宋体" panose="02010600030101010101" pitchFamily="2" charset="-122"/>
              </a:rPr>
              <a:t>，就是当以太网中的源主机所询问的目的主机不在本以太网时，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统一由路由器响应源主机发出的</a:t>
            </a:r>
            <a:r>
              <a:rPr lang="en-US" altLang="zh-CN" dirty="0">
                <a:solidFill>
                  <a:srgbClr val="00B0F0"/>
                </a:solidFill>
              </a:rPr>
              <a:t>ARP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广播数据报</a:t>
            </a:r>
            <a:r>
              <a:rPr lang="zh-CN" altLang="en-US" dirty="0">
                <a:latin typeface="宋体" panose="02010600030101010101" pitchFamily="2" charset="-122"/>
              </a:rPr>
              <a:t>。如果路由器中没有包含所询问的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地址主机信息，路由器就向与其连接的所有其他网络发送询问广播数据报。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占位符 25602"/>
          <p:cNvSpPr>
            <a:spLocks noGrp="1"/>
          </p:cNvSpPr>
          <p:nvPr>
            <p:ph idx="1"/>
          </p:nvPr>
        </p:nvSpPr>
        <p:spPr>
          <a:xfrm>
            <a:off x="1057475" y="1759139"/>
            <a:ext cx="10176582" cy="3068736"/>
          </a:xfrm>
        </p:spPr>
        <p:txBody>
          <a:bodyPr anchor="t"/>
          <a:lstStyle/>
          <a:p>
            <a:pPr algn="just"/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反向</a:t>
            </a:r>
            <a:r>
              <a:rPr lang="zh-CN" altLang="en-US" dirty="0">
                <a:latin typeface="宋体" panose="02010600030101010101" pitchFamily="2" charset="-122"/>
              </a:rPr>
              <a:t>地址转换协议</a:t>
            </a:r>
            <a:r>
              <a:rPr lang="en-US" altLang="zh-CN" dirty="0"/>
              <a:t>RARP</a:t>
            </a:r>
            <a:r>
              <a:rPr lang="zh-CN" altLang="en-US" dirty="0">
                <a:latin typeface="宋体" panose="02010600030101010101" pitchFamily="2" charset="-122"/>
              </a:rPr>
              <a:t>使只知道自己物理地址的主机（如无盘工作站）能够知道其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地址。无盘工作站一般只允许其</a:t>
            </a:r>
            <a:r>
              <a:rPr lang="en-US" altLang="zh-CN" dirty="0"/>
              <a:t>ROM</a:t>
            </a:r>
            <a:r>
              <a:rPr lang="zh-CN" altLang="en-US" dirty="0">
                <a:latin typeface="宋体" panose="02010600030101010101" pitchFamily="2" charset="-122"/>
              </a:rPr>
              <a:t>中的文件传送代码，就可以用下载方法，从局域网上其他主机得到所需的操作系统和</a:t>
            </a:r>
            <a:r>
              <a:rPr lang="en-US" altLang="zh-CN" dirty="0"/>
              <a:t>TCP/IP</a:t>
            </a:r>
            <a:r>
              <a:rPr lang="zh-CN" altLang="en-US" dirty="0">
                <a:latin typeface="宋体" panose="02010600030101010101" pitchFamily="2" charset="-122"/>
              </a:rPr>
              <a:t>通信软件，但这些软件中并无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地址。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文本占位符 26626"/>
          <p:cNvSpPr txBox="1"/>
          <p:nvPr/>
        </p:nvSpPr>
        <p:spPr>
          <a:xfrm>
            <a:off x="1057475" y="3828402"/>
            <a:ext cx="10081580" cy="2288448"/>
          </a:xfrm>
        </p:spPr>
        <p:txBody>
          <a:bodyPr vert="horz" lIns="101600" tIns="0" rIns="82550" bIns="0" rtlCol="0" anchor="t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dirty="0" smtClean="0">
                <a:latin typeface="宋体" panose="02010600030101010101" pitchFamily="2" charset="-122"/>
              </a:rPr>
              <a:t>    无盘工作站要运行</a:t>
            </a:r>
            <a:r>
              <a:rPr lang="en-US" altLang="zh-CN" dirty="0" smtClean="0"/>
              <a:t>ROM</a:t>
            </a:r>
            <a:r>
              <a:rPr lang="zh-CN" altLang="en-US" dirty="0" smtClean="0">
                <a:latin typeface="宋体" panose="02010600030101010101" pitchFamily="2" charset="-122"/>
              </a:rPr>
              <a:t>中的</a:t>
            </a:r>
            <a:r>
              <a:rPr lang="en-US" altLang="zh-CN" dirty="0" smtClean="0"/>
              <a:t>RARP</a:t>
            </a:r>
            <a:r>
              <a:rPr lang="zh-CN" altLang="en-US" dirty="0" smtClean="0">
                <a:latin typeface="宋体" panose="02010600030101010101" pitchFamily="2" charset="-122"/>
              </a:rPr>
              <a:t>，它发出广播数据报询问“本机的以太网地址是</a:t>
            </a:r>
            <a:r>
              <a:rPr lang="en-US" altLang="zh-CN" dirty="0" smtClean="0"/>
              <a:t>X.X.X.X.X.X</a:t>
            </a:r>
            <a:r>
              <a:rPr lang="zh-CN" altLang="en-US" dirty="0" smtClean="0">
                <a:latin typeface="宋体" panose="02010600030101010101" pitchFamily="2" charset="-122"/>
              </a:rPr>
              <a:t>，谁知道本机的</a:t>
            </a:r>
            <a:r>
              <a:rPr lang="en-US" altLang="zh-CN" dirty="0" smtClean="0"/>
              <a:t>IP</a:t>
            </a:r>
            <a:r>
              <a:rPr lang="zh-CN" altLang="en-US" dirty="0" smtClean="0">
                <a:latin typeface="宋体" panose="02010600030101010101" pitchFamily="2" charset="-122"/>
              </a:rPr>
              <a:t>地址？”。以太网中的</a:t>
            </a:r>
            <a:r>
              <a:rPr lang="en-US" altLang="zh-CN" dirty="0" smtClean="0">
                <a:solidFill>
                  <a:srgbClr val="00B0F0"/>
                </a:solidFill>
              </a:rPr>
              <a:t>RARP</a:t>
            </a:r>
            <a:r>
              <a:rPr lang="zh-CN" altLang="en-US" dirty="0" smtClean="0">
                <a:solidFill>
                  <a:srgbClr val="00B0F0"/>
                </a:solidFill>
                <a:latin typeface="宋体" panose="02010600030101010101" pitchFamily="2" charset="-122"/>
              </a:rPr>
              <a:t>服务器</a:t>
            </a:r>
            <a:r>
              <a:rPr lang="zh-CN" altLang="en-US" dirty="0" smtClean="0">
                <a:latin typeface="宋体" panose="02010600030101010101" pitchFamily="2" charset="-122"/>
              </a:rPr>
              <a:t>接收到这个广播数据报后，就在其配置文件中查找与该以太网地址对应的</a:t>
            </a:r>
            <a:r>
              <a:rPr lang="en-US" altLang="zh-CN" dirty="0" smtClean="0"/>
              <a:t>IP</a:t>
            </a:r>
            <a:r>
              <a:rPr lang="zh-CN" altLang="en-US" dirty="0" smtClean="0">
                <a:latin typeface="宋体" panose="02010600030101010101" pitchFamily="2" charset="-122"/>
              </a:rPr>
              <a:t>地址，在应答源主机的数据报中附上其</a:t>
            </a:r>
            <a:r>
              <a:rPr lang="en-US" altLang="zh-CN" dirty="0" smtClean="0"/>
              <a:t>IP</a:t>
            </a:r>
            <a:r>
              <a:rPr lang="zh-CN" altLang="en-US" dirty="0" smtClean="0">
                <a:latin typeface="宋体" panose="02010600030101010101" pitchFamily="2" charset="-122"/>
              </a:rPr>
              <a:t>地址来获得其</a:t>
            </a:r>
            <a:r>
              <a:rPr lang="en-US" altLang="zh-CN" dirty="0" smtClean="0"/>
              <a:t>IP</a:t>
            </a:r>
            <a:r>
              <a:rPr lang="zh-CN" altLang="en-US" dirty="0" smtClean="0">
                <a:latin typeface="宋体" panose="02010600030101010101" pitchFamily="2" charset="-122"/>
              </a:rPr>
              <a:t>地址。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057475" y="637786"/>
            <a:ext cx="7294100" cy="840284"/>
            <a:chOff x="3135993" y="1051060"/>
            <a:chExt cx="7294100" cy="840284"/>
          </a:xfrm>
        </p:grpSpPr>
        <p:sp>
          <p:nvSpPr>
            <p:cNvPr id="6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3972879" y="1333399"/>
              <a:ext cx="40471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反向地址转换协议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RARP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3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占位符 27650"/>
          <p:cNvSpPr>
            <a:spLocks noGrp="1"/>
          </p:cNvSpPr>
          <p:nvPr>
            <p:ph idx="1"/>
          </p:nvPr>
        </p:nvSpPr>
        <p:spPr>
          <a:xfrm>
            <a:off x="1036321" y="1640376"/>
            <a:ext cx="10155936" cy="4582286"/>
          </a:xfrm>
        </p:spPr>
        <p:txBody>
          <a:bodyPr anchor="t"/>
          <a:lstStyle/>
          <a:p>
            <a:r>
              <a:rPr lang="en-US" altLang="zh-CN" dirty="0"/>
              <a:t>       </a:t>
            </a:r>
            <a:r>
              <a:rPr lang="en-US" altLang="zh-CN" dirty="0" smtClean="0"/>
              <a:t>Internet</a:t>
            </a:r>
            <a:r>
              <a:rPr lang="zh-CN" altLang="en-US" dirty="0">
                <a:latin typeface="宋体" panose="02010600030101010101" pitchFamily="2" charset="-122"/>
              </a:rPr>
              <a:t>控制报文协议</a:t>
            </a:r>
            <a:r>
              <a:rPr lang="en-US" altLang="zh-CN" dirty="0"/>
              <a:t>ICMP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允许主机或路由器报告差错情况和提供有关异常情况的报告</a:t>
            </a:r>
            <a:r>
              <a:rPr lang="zh-CN" altLang="en-US" dirty="0">
                <a:latin typeface="宋体" panose="02010600030101010101" pitchFamily="2" charset="-122"/>
              </a:rPr>
              <a:t>。因为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数据报的传送不保证不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丢失</a:t>
            </a:r>
            <a:r>
              <a:rPr lang="zh-CN" altLang="en-US" dirty="0">
                <a:latin typeface="宋体" panose="02010600030101010101" pitchFamily="2" charset="-122"/>
              </a:rPr>
              <a:t>，互连网层就使用</a:t>
            </a:r>
            <a:r>
              <a:rPr lang="en-US" altLang="zh-CN" dirty="0"/>
              <a:t>ICMP</a:t>
            </a:r>
            <a:r>
              <a:rPr lang="zh-CN" altLang="en-US" dirty="0">
                <a:latin typeface="宋体" panose="02010600030101010101" pitchFamily="2" charset="-122"/>
              </a:rPr>
              <a:t>协议对数据报的传送提供一定的质量保证功能。</a:t>
            </a:r>
            <a:r>
              <a:rPr lang="en-US" altLang="zh-CN" dirty="0"/>
              <a:t>ICMP</a:t>
            </a:r>
            <a:r>
              <a:rPr lang="zh-CN" altLang="en-US" dirty="0">
                <a:latin typeface="宋体" panose="02010600030101010101" pitchFamily="2" charset="-122"/>
              </a:rPr>
              <a:t>协议还广泛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用来诊断网络故障</a:t>
            </a:r>
            <a:r>
              <a:rPr lang="zh-CN" altLang="en-US" dirty="0">
                <a:latin typeface="宋体" panose="02010600030101010101" pitchFamily="2" charset="-122"/>
              </a:rPr>
              <a:t>，通过</a:t>
            </a:r>
            <a:r>
              <a:rPr lang="en-US" altLang="zh-CN" dirty="0"/>
              <a:t>ICMP</a:t>
            </a:r>
            <a:r>
              <a:rPr lang="zh-CN" altLang="en-US" dirty="0">
                <a:latin typeface="宋体" panose="02010600030101010101" pitchFamily="2" charset="-122"/>
              </a:rPr>
              <a:t>可以收集到的诊断信息包括：主机关闭、网关阻塞或不通以及其它网络故障。每一种</a:t>
            </a:r>
            <a:r>
              <a:rPr lang="en-US" altLang="zh-CN" dirty="0"/>
              <a:t>ICMP</a:t>
            </a:r>
            <a:r>
              <a:rPr lang="zh-CN" altLang="en-US" dirty="0">
                <a:latin typeface="宋体" panose="02010600030101010101" pitchFamily="2" charset="-122"/>
              </a:rPr>
              <a:t>消息都被封装在一个</a:t>
            </a:r>
            <a:r>
              <a:rPr lang="en-US" altLang="zh-CN" dirty="0"/>
              <a:t>IP</a:t>
            </a:r>
            <a:r>
              <a:rPr lang="zh-CN" altLang="en-US" dirty="0">
                <a:latin typeface="宋体" panose="02010600030101010101" pitchFamily="2" charset="-122"/>
              </a:rPr>
              <a:t>分组中。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69350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433323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思源黑体 CN Heavy" panose="020B0A00000000000000" pitchFamily="34" charset="-122"/>
                </a:rPr>
                <a:t>Internet</a:t>
              </a: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思源黑体 CN Heavy" panose="020B0A00000000000000" pitchFamily="34" charset="-122"/>
                </a:rPr>
                <a:t>控制报文协议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思源黑体 CN Heavy" panose="020B0A00000000000000" pitchFamily="34" charset="-122"/>
                </a:rPr>
                <a:t>ICMP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4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8673"/>
          <p:cNvSpPr>
            <a:spLocks noGrp="1"/>
          </p:cNvSpPr>
          <p:nvPr>
            <p:ph type="title"/>
          </p:nvPr>
        </p:nvSpPr>
        <p:spPr>
          <a:xfrm>
            <a:off x="2133600" y="381000"/>
            <a:ext cx="7772400" cy="7620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zh-CN" altLang="en-US" dirty="0">
                <a:latin typeface="宋体" panose="02010600030101010101" pitchFamily="2" charset="-122"/>
              </a:rPr>
              <a:t>表</a:t>
            </a:r>
            <a:r>
              <a:rPr lang="en-US" altLang="zh-CN"/>
              <a:t>2-1  ICMP</a:t>
            </a:r>
            <a:r>
              <a:rPr lang="zh-CN" altLang="en-US" dirty="0">
                <a:latin typeface="宋体" panose="02010600030101010101" pitchFamily="2" charset="-122"/>
              </a:rPr>
              <a:t>主要的消息类型</a:t>
            </a:r>
            <a:r>
              <a:rPr lang="zh-CN" altLang="en-US" strike="noStrike" noProof="1"/>
              <a:t>  </a:t>
            </a:r>
            <a:endParaRPr lang="zh-CN" altLang="en-US" strike="noStrike" noProof="1"/>
          </a:p>
        </p:txBody>
      </p:sp>
      <p:grpSp>
        <p:nvGrpSpPr>
          <p:cNvPr id="29698" name="组合 28737"/>
          <p:cNvGrpSpPr/>
          <p:nvPr/>
        </p:nvGrpSpPr>
        <p:grpSpPr>
          <a:xfrm>
            <a:off x="1568450" y="1268413"/>
            <a:ext cx="8991600" cy="5257800"/>
            <a:chOff x="-3" y="-3"/>
            <a:chExt cx="3118" cy="4726"/>
          </a:xfrm>
        </p:grpSpPr>
        <p:grpSp>
          <p:nvGrpSpPr>
            <p:cNvPr id="29699" name="组合 28735"/>
            <p:cNvGrpSpPr/>
            <p:nvPr/>
          </p:nvGrpSpPr>
          <p:grpSpPr>
            <a:xfrm>
              <a:off x="0" y="0"/>
              <a:ext cx="3112" cy="4720"/>
              <a:chOff x="0" y="0"/>
              <a:chExt cx="3112" cy="4720"/>
            </a:xfrm>
          </p:grpSpPr>
          <p:grpSp>
            <p:nvGrpSpPr>
              <p:cNvPr id="29700" name="组合 28696"/>
              <p:cNvGrpSpPr/>
              <p:nvPr/>
            </p:nvGrpSpPr>
            <p:grpSpPr>
              <a:xfrm>
                <a:off x="0" y="0"/>
                <a:ext cx="1556" cy="403"/>
                <a:chOff x="0" y="0"/>
                <a:chExt cx="1556" cy="403"/>
              </a:xfrm>
            </p:grpSpPr>
            <p:sp>
              <p:nvSpPr>
                <p:cNvPr id="29701" name="矩形 28675"/>
                <p:cNvSpPr/>
                <p:nvPr/>
              </p:nvSpPr>
              <p:spPr>
                <a:xfrm>
                  <a:off x="43" y="0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dirty="0"/>
                    <a:t>消息类型</a:t>
                  </a:r>
                  <a:endParaRPr lang="zh-CN" altLang="en-US" dirty="0"/>
                </a:p>
              </p:txBody>
            </p:sp>
            <p:sp>
              <p:nvSpPr>
                <p:cNvPr id="29702" name="矩形 28695"/>
                <p:cNvSpPr/>
                <p:nvPr/>
              </p:nvSpPr>
              <p:spPr>
                <a:xfrm>
                  <a:off x="0" y="0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3" name="组合 28698"/>
              <p:cNvGrpSpPr/>
              <p:nvPr/>
            </p:nvGrpSpPr>
            <p:grpSpPr>
              <a:xfrm>
                <a:off x="1556" y="0"/>
                <a:ext cx="1556" cy="403"/>
                <a:chOff x="1556" y="0"/>
                <a:chExt cx="1556" cy="403"/>
              </a:xfrm>
            </p:grpSpPr>
            <p:sp>
              <p:nvSpPr>
                <p:cNvPr id="29704" name="矩形 28676"/>
                <p:cNvSpPr/>
                <p:nvPr/>
              </p:nvSpPr>
              <p:spPr>
                <a:xfrm>
                  <a:off x="1599" y="0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dirty="0"/>
                    <a:t>描述</a:t>
                  </a:r>
                  <a:endParaRPr lang="zh-CN" altLang="en-US" dirty="0"/>
                </a:p>
              </p:txBody>
            </p:sp>
            <p:sp>
              <p:nvSpPr>
                <p:cNvPr id="29705" name="矩形 28697"/>
                <p:cNvSpPr/>
                <p:nvPr/>
              </p:nvSpPr>
              <p:spPr>
                <a:xfrm>
                  <a:off x="1556" y="0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6" name="组合 28700"/>
              <p:cNvGrpSpPr/>
              <p:nvPr/>
            </p:nvGrpSpPr>
            <p:grpSpPr>
              <a:xfrm>
                <a:off x="0" y="403"/>
                <a:ext cx="1556" cy="518"/>
                <a:chOff x="0" y="403"/>
                <a:chExt cx="1556" cy="518"/>
              </a:xfrm>
            </p:grpSpPr>
            <p:sp>
              <p:nvSpPr>
                <p:cNvPr id="29707" name="矩形 28677"/>
                <p:cNvSpPr/>
                <p:nvPr/>
              </p:nvSpPr>
              <p:spPr>
                <a:xfrm>
                  <a:off x="43" y="403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dirty="0"/>
                    <a:t>目标不可达（</a:t>
                  </a:r>
                  <a:r>
                    <a:rPr lang="en-US" altLang="zh-CN" dirty="0"/>
                    <a:t>Destination unreachable</a:t>
                  </a:r>
                  <a:r>
                    <a:rPr lang="zh-CN" altLang="en-US" dirty="0"/>
                    <a:t>）</a:t>
                  </a:r>
                  <a:endParaRPr lang="zh-CN" altLang="en-US" dirty="0"/>
                </a:p>
              </p:txBody>
            </p:sp>
            <p:sp>
              <p:nvSpPr>
                <p:cNvPr id="29708" name="矩形 28699"/>
                <p:cNvSpPr/>
                <p:nvPr/>
              </p:nvSpPr>
              <p:spPr>
                <a:xfrm>
                  <a:off x="0" y="403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09" name="组合 28702"/>
              <p:cNvGrpSpPr/>
              <p:nvPr/>
            </p:nvGrpSpPr>
            <p:grpSpPr>
              <a:xfrm>
                <a:off x="1556" y="403"/>
                <a:ext cx="1556" cy="518"/>
                <a:chOff x="1556" y="403"/>
                <a:chExt cx="1556" cy="518"/>
              </a:xfrm>
            </p:grpSpPr>
            <p:sp>
              <p:nvSpPr>
                <p:cNvPr id="29710" name="矩形 28678"/>
                <p:cNvSpPr/>
                <p:nvPr/>
              </p:nvSpPr>
              <p:spPr>
                <a:xfrm>
                  <a:off x="1599" y="403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分组不能传送到目的端</a:t>
                  </a:r>
                  <a:endParaRPr lang="zh-CN" altLang="en-US" sz="2000" dirty="0"/>
                </a:p>
              </p:txBody>
            </p:sp>
            <p:sp>
              <p:nvSpPr>
                <p:cNvPr id="29711" name="矩形 28701"/>
                <p:cNvSpPr/>
                <p:nvPr/>
              </p:nvSpPr>
              <p:spPr>
                <a:xfrm>
                  <a:off x="1556" y="403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12" name="组合 28704"/>
              <p:cNvGrpSpPr/>
              <p:nvPr/>
            </p:nvGrpSpPr>
            <p:grpSpPr>
              <a:xfrm>
                <a:off x="0" y="921"/>
                <a:ext cx="1556" cy="403"/>
                <a:chOff x="0" y="921"/>
                <a:chExt cx="1556" cy="403"/>
              </a:xfrm>
            </p:grpSpPr>
            <p:sp>
              <p:nvSpPr>
                <p:cNvPr id="29713" name="矩形 28679"/>
                <p:cNvSpPr/>
                <p:nvPr/>
              </p:nvSpPr>
              <p:spPr>
                <a:xfrm>
                  <a:off x="43" y="921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超时（</a:t>
                  </a:r>
                  <a:r>
                    <a:rPr lang="en-US" altLang="zh-CN" sz="2000"/>
                    <a:t>Time exceeded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14" name="矩形 28703"/>
                <p:cNvSpPr/>
                <p:nvPr/>
              </p:nvSpPr>
              <p:spPr>
                <a:xfrm>
                  <a:off x="0" y="921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15" name="组合 28706"/>
              <p:cNvGrpSpPr/>
              <p:nvPr/>
            </p:nvGrpSpPr>
            <p:grpSpPr>
              <a:xfrm>
                <a:off x="1556" y="921"/>
                <a:ext cx="1556" cy="403"/>
                <a:chOff x="1556" y="921"/>
                <a:chExt cx="1556" cy="403"/>
              </a:xfrm>
            </p:grpSpPr>
            <p:sp>
              <p:nvSpPr>
                <p:cNvPr id="29716" name="矩形 28680"/>
                <p:cNvSpPr/>
                <p:nvPr/>
              </p:nvSpPr>
              <p:spPr>
                <a:xfrm>
                  <a:off x="1599" y="921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分组中</a:t>
                  </a:r>
                  <a:r>
                    <a:rPr lang="en-US" altLang="zh-CN" sz="2000" dirty="0"/>
                    <a:t>Time_to_live</a:t>
                  </a:r>
                  <a:r>
                    <a:rPr lang="zh-CN" altLang="en-US" sz="2000" dirty="0"/>
                    <a:t>字段已经为</a:t>
                  </a:r>
                  <a:r>
                    <a:rPr lang="en-US" altLang="zh-CN" sz="2000"/>
                    <a:t>0</a:t>
                  </a:r>
                  <a:endParaRPr lang="en-US" altLang="zh-CN" sz="2000"/>
                </a:p>
              </p:txBody>
            </p:sp>
            <p:sp>
              <p:nvSpPr>
                <p:cNvPr id="29717" name="矩形 28705"/>
                <p:cNvSpPr/>
                <p:nvPr/>
              </p:nvSpPr>
              <p:spPr>
                <a:xfrm>
                  <a:off x="1556" y="921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18" name="组合 28708"/>
              <p:cNvGrpSpPr/>
              <p:nvPr/>
            </p:nvGrpSpPr>
            <p:grpSpPr>
              <a:xfrm>
                <a:off x="0" y="1324"/>
                <a:ext cx="1556" cy="403"/>
                <a:chOff x="0" y="1324"/>
                <a:chExt cx="1556" cy="403"/>
              </a:xfrm>
            </p:grpSpPr>
            <p:sp>
              <p:nvSpPr>
                <p:cNvPr id="29719" name="矩形 28681"/>
                <p:cNvSpPr/>
                <p:nvPr/>
              </p:nvSpPr>
              <p:spPr>
                <a:xfrm>
                  <a:off x="43" y="1324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参数有问题</a:t>
                  </a:r>
                  <a:r>
                    <a:rPr lang="en-US" altLang="zh-CN" sz="2000" dirty="0"/>
                    <a:t>(Parameter problem)</a:t>
                  </a:r>
                  <a:endParaRPr lang="en-US" altLang="zh-CN" sz="2000" dirty="0"/>
                </a:p>
              </p:txBody>
            </p:sp>
            <p:sp>
              <p:nvSpPr>
                <p:cNvPr id="29720" name="矩形 28707"/>
                <p:cNvSpPr/>
                <p:nvPr/>
              </p:nvSpPr>
              <p:spPr>
                <a:xfrm>
                  <a:off x="0" y="1324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21" name="组合 28710"/>
              <p:cNvGrpSpPr/>
              <p:nvPr/>
            </p:nvGrpSpPr>
            <p:grpSpPr>
              <a:xfrm>
                <a:off x="1556" y="1324"/>
                <a:ext cx="1556" cy="403"/>
                <a:chOff x="1556" y="1324"/>
                <a:chExt cx="1556" cy="403"/>
              </a:xfrm>
            </p:grpSpPr>
            <p:sp>
              <p:nvSpPr>
                <p:cNvPr id="29722" name="矩形 28682"/>
                <p:cNvSpPr/>
                <p:nvPr/>
              </p:nvSpPr>
              <p:spPr>
                <a:xfrm>
                  <a:off x="1599" y="1324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分组中头部包含无效的字段</a:t>
                  </a:r>
                  <a:endParaRPr lang="zh-CN" altLang="en-US" sz="2000" dirty="0"/>
                </a:p>
              </p:txBody>
            </p:sp>
            <p:sp>
              <p:nvSpPr>
                <p:cNvPr id="29723" name="矩形 28709"/>
                <p:cNvSpPr/>
                <p:nvPr/>
              </p:nvSpPr>
              <p:spPr>
                <a:xfrm>
                  <a:off x="1556" y="1324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24" name="组合 28712"/>
              <p:cNvGrpSpPr/>
              <p:nvPr/>
            </p:nvGrpSpPr>
            <p:grpSpPr>
              <a:xfrm>
                <a:off x="0" y="1727"/>
                <a:ext cx="1556" cy="518"/>
                <a:chOff x="0" y="1727"/>
                <a:chExt cx="1556" cy="518"/>
              </a:xfrm>
            </p:grpSpPr>
            <p:sp>
              <p:nvSpPr>
                <p:cNvPr id="29725" name="矩形 28683"/>
                <p:cNvSpPr/>
                <p:nvPr/>
              </p:nvSpPr>
              <p:spPr>
                <a:xfrm>
                  <a:off x="43" y="1727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源端发送速度降低（</a:t>
                  </a:r>
                  <a:r>
                    <a:rPr lang="en-US" altLang="zh-CN" sz="2000"/>
                    <a:t>Source quench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26" name="矩形 28711"/>
                <p:cNvSpPr/>
                <p:nvPr/>
              </p:nvSpPr>
              <p:spPr>
                <a:xfrm>
                  <a:off x="0" y="1727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27" name="组合 28714"/>
              <p:cNvGrpSpPr/>
              <p:nvPr/>
            </p:nvGrpSpPr>
            <p:grpSpPr>
              <a:xfrm>
                <a:off x="1556" y="1727"/>
                <a:ext cx="1556" cy="518"/>
                <a:chOff x="1556" y="1727"/>
                <a:chExt cx="1556" cy="518"/>
              </a:xfrm>
            </p:grpSpPr>
            <p:sp>
              <p:nvSpPr>
                <p:cNvPr id="29728" name="矩形 28684"/>
                <p:cNvSpPr/>
                <p:nvPr/>
              </p:nvSpPr>
              <p:spPr>
                <a:xfrm>
                  <a:off x="1599" y="1727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命令源端降低发送分组的速度</a:t>
                  </a:r>
                  <a:endParaRPr lang="zh-CN" altLang="en-US" sz="2000" dirty="0"/>
                </a:p>
              </p:txBody>
            </p:sp>
            <p:sp>
              <p:nvSpPr>
                <p:cNvPr id="29729" name="矩形 28713"/>
                <p:cNvSpPr/>
                <p:nvPr/>
              </p:nvSpPr>
              <p:spPr>
                <a:xfrm>
                  <a:off x="1556" y="1727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30" name="组合 28716"/>
              <p:cNvGrpSpPr/>
              <p:nvPr/>
            </p:nvGrpSpPr>
            <p:grpSpPr>
              <a:xfrm>
                <a:off x="0" y="2245"/>
                <a:ext cx="1556" cy="518"/>
                <a:chOff x="0" y="2245"/>
                <a:chExt cx="1556" cy="518"/>
              </a:xfrm>
            </p:grpSpPr>
            <p:sp>
              <p:nvSpPr>
                <p:cNvPr id="29731" name="矩形 28685"/>
                <p:cNvSpPr/>
                <p:nvPr/>
              </p:nvSpPr>
              <p:spPr>
                <a:xfrm>
                  <a:off x="43" y="2245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重新定向（</a:t>
                  </a:r>
                  <a:r>
                    <a:rPr lang="en-US" altLang="zh-CN" sz="2000"/>
                    <a:t>Redirect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32" name="矩形 28715"/>
                <p:cNvSpPr/>
                <p:nvPr/>
              </p:nvSpPr>
              <p:spPr>
                <a:xfrm>
                  <a:off x="0" y="2245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33" name="组合 28718"/>
              <p:cNvGrpSpPr/>
              <p:nvPr/>
            </p:nvGrpSpPr>
            <p:grpSpPr>
              <a:xfrm>
                <a:off x="1556" y="2245"/>
                <a:ext cx="1556" cy="518"/>
                <a:chOff x="1556" y="2245"/>
                <a:chExt cx="1556" cy="518"/>
              </a:xfrm>
            </p:grpSpPr>
            <p:sp>
              <p:nvSpPr>
                <p:cNvPr id="29734" name="矩形 28686"/>
                <p:cNvSpPr/>
                <p:nvPr/>
              </p:nvSpPr>
              <p:spPr>
                <a:xfrm>
                  <a:off x="1599" y="2245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路由器告诉源主机其分组路由有误</a:t>
                  </a:r>
                  <a:endParaRPr lang="zh-CN" altLang="en-US" sz="2000" dirty="0"/>
                </a:p>
              </p:txBody>
            </p:sp>
            <p:sp>
              <p:nvSpPr>
                <p:cNvPr id="29735" name="矩形 28717"/>
                <p:cNvSpPr/>
                <p:nvPr/>
              </p:nvSpPr>
              <p:spPr>
                <a:xfrm>
                  <a:off x="1556" y="2245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36" name="组合 28720"/>
              <p:cNvGrpSpPr/>
              <p:nvPr/>
            </p:nvGrpSpPr>
            <p:grpSpPr>
              <a:xfrm>
                <a:off x="0" y="2763"/>
                <a:ext cx="1556" cy="518"/>
                <a:chOff x="0" y="2763"/>
                <a:chExt cx="1556" cy="518"/>
              </a:xfrm>
            </p:grpSpPr>
            <p:sp>
              <p:nvSpPr>
                <p:cNvPr id="29737" name="矩形 28687"/>
                <p:cNvSpPr/>
                <p:nvPr/>
              </p:nvSpPr>
              <p:spPr>
                <a:xfrm>
                  <a:off x="43" y="2763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问讯请求（</a:t>
                  </a:r>
                  <a:r>
                    <a:rPr lang="en-US" altLang="zh-CN" sz="2000"/>
                    <a:t>Echo request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38" name="矩形 28719"/>
                <p:cNvSpPr/>
                <p:nvPr/>
              </p:nvSpPr>
              <p:spPr>
                <a:xfrm>
                  <a:off x="0" y="2763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39" name="组合 28722"/>
              <p:cNvGrpSpPr/>
              <p:nvPr/>
            </p:nvGrpSpPr>
            <p:grpSpPr>
              <a:xfrm>
                <a:off x="1556" y="2763"/>
                <a:ext cx="1556" cy="518"/>
                <a:chOff x="1556" y="2763"/>
                <a:chExt cx="1556" cy="518"/>
              </a:xfrm>
            </p:grpSpPr>
            <p:sp>
              <p:nvSpPr>
                <p:cNvPr id="29740" name="矩形 28688"/>
                <p:cNvSpPr/>
                <p:nvPr/>
              </p:nvSpPr>
              <p:spPr>
                <a:xfrm>
                  <a:off x="1599" y="2763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询问目的主机是否是活性或可达的</a:t>
                  </a:r>
                  <a:endParaRPr lang="zh-CN" altLang="en-US" sz="2000" dirty="0"/>
                </a:p>
              </p:txBody>
            </p:sp>
            <p:sp>
              <p:nvSpPr>
                <p:cNvPr id="29741" name="矩形 28721"/>
                <p:cNvSpPr/>
                <p:nvPr/>
              </p:nvSpPr>
              <p:spPr>
                <a:xfrm>
                  <a:off x="1556" y="2763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42" name="组合 28724"/>
              <p:cNvGrpSpPr/>
              <p:nvPr/>
            </p:nvGrpSpPr>
            <p:grpSpPr>
              <a:xfrm>
                <a:off x="0" y="3281"/>
                <a:ext cx="1556" cy="403"/>
                <a:chOff x="0" y="3281"/>
                <a:chExt cx="1556" cy="403"/>
              </a:xfrm>
            </p:grpSpPr>
            <p:sp>
              <p:nvSpPr>
                <p:cNvPr id="29743" name="矩形 28689"/>
                <p:cNvSpPr/>
                <p:nvPr/>
              </p:nvSpPr>
              <p:spPr>
                <a:xfrm>
                  <a:off x="43" y="3281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问讯回答（</a:t>
                  </a:r>
                  <a:r>
                    <a:rPr lang="en-US" altLang="zh-CN" sz="2000"/>
                    <a:t>Echo reply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44" name="矩形 28723"/>
                <p:cNvSpPr/>
                <p:nvPr/>
              </p:nvSpPr>
              <p:spPr>
                <a:xfrm>
                  <a:off x="0" y="3281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45" name="组合 28726"/>
              <p:cNvGrpSpPr/>
              <p:nvPr/>
            </p:nvGrpSpPr>
            <p:grpSpPr>
              <a:xfrm>
                <a:off x="1556" y="3281"/>
                <a:ext cx="1556" cy="403"/>
                <a:chOff x="1556" y="3281"/>
                <a:chExt cx="1556" cy="403"/>
              </a:xfrm>
            </p:grpSpPr>
            <p:sp>
              <p:nvSpPr>
                <p:cNvPr id="29746" name="矩形 28690"/>
                <p:cNvSpPr/>
                <p:nvPr/>
              </p:nvSpPr>
              <p:spPr>
                <a:xfrm>
                  <a:off x="1599" y="3281"/>
                  <a:ext cx="1470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被询问的主机是否活性或可达的</a:t>
                  </a:r>
                  <a:endParaRPr lang="zh-CN" altLang="en-US" sz="2000" dirty="0"/>
                </a:p>
              </p:txBody>
            </p:sp>
            <p:sp>
              <p:nvSpPr>
                <p:cNvPr id="29747" name="矩形 28725"/>
                <p:cNvSpPr/>
                <p:nvPr/>
              </p:nvSpPr>
              <p:spPr>
                <a:xfrm>
                  <a:off x="1556" y="3281"/>
                  <a:ext cx="1556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48" name="组合 28728"/>
              <p:cNvGrpSpPr/>
              <p:nvPr/>
            </p:nvGrpSpPr>
            <p:grpSpPr>
              <a:xfrm>
                <a:off x="0" y="3684"/>
                <a:ext cx="1556" cy="518"/>
                <a:chOff x="0" y="3684"/>
                <a:chExt cx="1556" cy="518"/>
              </a:xfrm>
            </p:grpSpPr>
            <p:sp>
              <p:nvSpPr>
                <p:cNvPr id="29749" name="矩形 28691"/>
                <p:cNvSpPr/>
                <p:nvPr/>
              </p:nvSpPr>
              <p:spPr>
                <a:xfrm>
                  <a:off x="43" y="3684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时间戳请求（</a:t>
                  </a:r>
                  <a:r>
                    <a:rPr lang="en-US" altLang="zh-CN" sz="2000"/>
                    <a:t>Timestamp request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50" name="矩形 28727"/>
                <p:cNvSpPr/>
                <p:nvPr/>
              </p:nvSpPr>
              <p:spPr>
                <a:xfrm>
                  <a:off x="0" y="3684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51" name="组合 28730"/>
              <p:cNvGrpSpPr/>
              <p:nvPr/>
            </p:nvGrpSpPr>
            <p:grpSpPr>
              <a:xfrm>
                <a:off x="1556" y="3684"/>
                <a:ext cx="1556" cy="518"/>
                <a:chOff x="1556" y="3684"/>
                <a:chExt cx="1556" cy="518"/>
              </a:xfrm>
            </p:grpSpPr>
            <p:sp>
              <p:nvSpPr>
                <p:cNvPr id="29752" name="矩形 28692"/>
                <p:cNvSpPr/>
                <p:nvPr/>
              </p:nvSpPr>
              <p:spPr>
                <a:xfrm>
                  <a:off x="1599" y="3684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与问讯请求一样，但附带上时间戳</a:t>
                  </a:r>
                  <a:endParaRPr lang="zh-CN" altLang="en-US" sz="2000" dirty="0"/>
                </a:p>
              </p:txBody>
            </p:sp>
            <p:sp>
              <p:nvSpPr>
                <p:cNvPr id="29753" name="矩形 28729"/>
                <p:cNvSpPr/>
                <p:nvPr/>
              </p:nvSpPr>
              <p:spPr>
                <a:xfrm>
                  <a:off x="1556" y="3684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54" name="组合 28732"/>
              <p:cNvGrpSpPr/>
              <p:nvPr/>
            </p:nvGrpSpPr>
            <p:grpSpPr>
              <a:xfrm>
                <a:off x="0" y="4202"/>
                <a:ext cx="1556" cy="518"/>
                <a:chOff x="0" y="4202"/>
                <a:chExt cx="1556" cy="518"/>
              </a:xfrm>
            </p:grpSpPr>
            <p:sp>
              <p:nvSpPr>
                <p:cNvPr id="29755" name="矩形 28693"/>
                <p:cNvSpPr/>
                <p:nvPr/>
              </p:nvSpPr>
              <p:spPr>
                <a:xfrm>
                  <a:off x="43" y="4202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时间戳回答（</a:t>
                  </a:r>
                  <a:r>
                    <a:rPr lang="en-US" altLang="zh-CN" sz="2000"/>
                    <a:t>Timestamp reply</a:t>
                  </a:r>
                  <a:r>
                    <a:rPr lang="zh-CN" altLang="en-US" sz="2000"/>
                    <a:t>）</a:t>
                  </a:r>
                  <a:endParaRPr lang="zh-CN" altLang="en-US" sz="2000"/>
                </a:p>
              </p:txBody>
            </p:sp>
            <p:sp>
              <p:nvSpPr>
                <p:cNvPr id="29756" name="矩形 28731"/>
                <p:cNvSpPr/>
                <p:nvPr/>
              </p:nvSpPr>
              <p:spPr>
                <a:xfrm>
                  <a:off x="0" y="4202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57" name="组合 28734"/>
              <p:cNvGrpSpPr/>
              <p:nvPr/>
            </p:nvGrpSpPr>
            <p:grpSpPr>
              <a:xfrm>
                <a:off x="1556" y="4202"/>
                <a:ext cx="1556" cy="518"/>
                <a:chOff x="1556" y="4202"/>
                <a:chExt cx="1556" cy="518"/>
              </a:xfrm>
            </p:grpSpPr>
            <p:sp>
              <p:nvSpPr>
                <p:cNvPr id="29758" name="矩形 28694"/>
                <p:cNvSpPr/>
                <p:nvPr/>
              </p:nvSpPr>
              <p:spPr>
                <a:xfrm>
                  <a:off x="1599" y="4202"/>
                  <a:ext cx="1470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/>
                <a:lstStyle/>
                <a:p>
                  <a:pPr algn="ctr"/>
                  <a:r>
                    <a:rPr lang="zh-CN" altLang="en-US" sz="2000" dirty="0"/>
                    <a:t>与问讯回答一样，但附带上时间戳</a:t>
                  </a:r>
                  <a:endParaRPr lang="zh-CN" altLang="en-US" sz="2000" dirty="0"/>
                </a:p>
              </p:txBody>
            </p:sp>
            <p:sp>
              <p:nvSpPr>
                <p:cNvPr id="29759" name="矩形 28733"/>
                <p:cNvSpPr/>
                <p:nvPr/>
              </p:nvSpPr>
              <p:spPr>
                <a:xfrm>
                  <a:off x="1556" y="4202"/>
                  <a:ext cx="1556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60" name="矩形 28736"/>
            <p:cNvSpPr/>
            <p:nvPr/>
          </p:nvSpPr>
          <p:spPr>
            <a:xfrm>
              <a:off x="-3" y="-3"/>
              <a:ext cx="3118" cy="4726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277271" y="2184465"/>
            <a:ext cx="2098460" cy="2098460"/>
          </a:xfrm>
          <a:prstGeom prst="ellipse">
            <a:avLst/>
          </a:prstGeom>
          <a:solidFill>
            <a:srgbClr val="0F73E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432851" y="2604729"/>
            <a:ext cx="1684338" cy="1303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TCP/IP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传输层协议包括：</a:t>
            </a:r>
            <a:b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</a:b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11" name="Group 36"/>
          <p:cNvGrpSpPr/>
          <p:nvPr/>
        </p:nvGrpSpPr>
        <p:grpSpPr>
          <a:xfrm>
            <a:off x="863600" y="1895917"/>
            <a:ext cx="2857067" cy="2811133"/>
            <a:chOff x="6869300" y="3848083"/>
            <a:chExt cx="2609417" cy="2567465"/>
          </a:xfrm>
          <a:solidFill>
            <a:srgbClr val="0F73EE"/>
          </a:solidFill>
        </p:grpSpPr>
        <p:sp>
          <p:nvSpPr>
            <p:cNvPr id="12" name="Freeform 9"/>
            <p:cNvSpPr/>
            <p:nvPr/>
          </p:nvSpPr>
          <p:spPr bwMode="auto">
            <a:xfrm>
              <a:off x="6869300" y="3848083"/>
              <a:ext cx="2609417" cy="2567465"/>
            </a:xfrm>
            <a:custGeom>
              <a:avLst/>
              <a:gdLst>
                <a:gd name="T0" fmla="*/ 865 w 929"/>
                <a:gd name="T1" fmla="*/ 292 h 914"/>
                <a:gd name="T2" fmla="*/ 873 w 929"/>
                <a:gd name="T3" fmla="*/ 274 h 914"/>
                <a:gd name="T4" fmla="*/ 892 w 929"/>
                <a:gd name="T5" fmla="*/ 282 h 914"/>
                <a:gd name="T6" fmla="*/ 892 w 929"/>
                <a:gd name="T7" fmla="*/ 584 h 914"/>
                <a:gd name="T8" fmla="*/ 365 w 929"/>
                <a:gd name="T9" fmla="*/ 852 h 914"/>
                <a:gd name="T10" fmla="*/ 66 w 929"/>
                <a:gd name="T11" fmla="*/ 314 h 914"/>
                <a:gd name="T12" fmla="*/ 354 w 929"/>
                <a:gd name="T13" fmla="*/ 19 h 914"/>
                <a:gd name="T14" fmla="*/ 440 w 929"/>
                <a:gd name="T15" fmla="*/ 1 h 914"/>
                <a:gd name="T16" fmla="*/ 456 w 929"/>
                <a:gd name="T17" fmla="*/ 14 h 914"/>
                <a:gd name="T18" fmla="*/ 443 w 929"/>
                <a:gd name="T19" fmla="*/ 29 h 914"/>
                <a:gd name="T20" fmla="*/ 362 w 929"/>
                <a:gd name="T21" fmla="*/ 46 h 914"/>
                <a:gd name="T22" fmla="*/ 93 w 929"/>
                <a:gd name="T23" fmla="*/ 322 h 914"/>
                <a:gd name="T24" fmla="*/ 373 w 929"/>
                <a:gd name="T25" fmla="*/ 824 h 914"/>
                <a:gd name="T26" fmla="*/ 865 w 929"/>
                <a:gd name="T27" fmla="*/ 574 h 914"/>
                <a:gd name="T28" fmla="*/ 865 w 929"/>
                <a:gd name="T29" fmla="*/ 292 h 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29" h="914">
                  <a:moveTo>
                    <a:pt x="865" y="292"/>
                  </a:moveTo>
                  <a:cubicBezTo>
                    <a:pt x="862" y="285"/>
                    <a:pt x="866" y="277"/>
                    <a:pt x="873" y="274"/>
                  </a:cubicBezTo>
                  <a:cubicBezTo>
                    <a:pt x="881" y="271"/>
                    <a:pt x="889" y="275"/>
                    <a:pt x="892" y="282"/>
                  </a:cubicBezTo>
                  <a:cubicBezTo>
                    <a:pt x="929" y="383"/>
                    <a:pt x="927" y="490"/>
                    <a:pt x="892" y="584"/>
                  </a:cubicBezTo>
                  <a:cubicBezTo>
                    <a:pt x="813" y="797"/>
                    <a:pt x="583" y="914"/>
                    <a:pt x="365" y="852"/>
                  </a:cubicBezTo>
                  <a:cubicBezTo>
                    <a:pt x="134" y="786"/>
                    <a:pt x="0" y="545"/>
                    <a:pt x="66" y="314"/>
                  </a:cubicBezTo>
                  <a:cubicBezTo>
                    <a:pt x="106" y="173"/>
                    <a:pt x="215" y="62"/>
                    <a:pt x="354" y="19"/>
                  </a:cubicBezTo>
                  <a:cubicBezTo>
                    <a:pt x="382" y="10"/>
                    <a:pt x="411" y="4"/>
                    <a:pt x="440" y="1"/>
                  </a:cubicBezTo>
                  <a:cubicBezTo>
                    <a:pt x="448" y="0"/>
                    <a:pt x="455" y="6"/>
                    <a:pt x="456" y="14"/>
                  </a:cubicBezTo>
                  <a:cubicBezTo>
                    <a:pt x="456" y="21"/>
                    <a:pt x="451" y="28"/>
                    <a:pt x="443" y="29"/>
                  </a:cubicBezTo>
                  <a:cubicBezTo>
                    <a:pt x="415" y="32"/>
                    <a:pt x="388" y="37"/>
                    <a:pt x="362" y="46"/>
                  </a:cubicBezTo>
                  <a:cubicBezTo>
                    <a:pt x="232" y="86"/>
                    <a:pt x="131" y="190"/>
                    <a:pt x="93" y="322"/>
                  </a:cubicBezTo>
                  <a:cubicBezTo>
                    <a:pt x="31" y="538"/>
                    <a:pt x="157" y="763"/>
                    <a:pt x="373" y="824"/>
                  </a:cubicBezTo>
                  <a:cubicBezTo>
                    <a:pt x="577" y="883"/>
                    <a:pt x="792" y="773"/>
                    <a:pt x="865" y="574"/>
                  </a:cubicBezTo>
                  <a:cubicBezTo>
                    <a:pt x="898" y="486"/>
                    <a:pt x="900" y="386"/>
                    <a:pt x="865" y="29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9195641" y="4575252"/>
              <a:ext cx="202769" cy="199972"/>
            </a:xfrm>
            <a:custGeom>
              <a:avLst/>
              <a:gdLst>
                <a:gd name="T0" fmla="*/ 8 w 72"/>
                <a:gd name="T1" fmla="*/ 51 h 71"/>
                <a:gd name="T2" fmla="*/ 21 w 72"/>
                <a:gd name="T3" fmla="*/ 8 h 71"/>
                <a:gd name="T4" fmla="*/ 63 w 72"/>
                <a:gd name="T5" fmla="*/ 20 h 71"/>
                <a:gd name="T6" fmla="*/ 51 w 72"/>
                <a:gd name="T7" fmla="*/ 63 h 71"/>
                <a:gd name="T8" fmla="*/ 8 w 72"/>
                <a:gd name="T9" fmla="*/ 5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71">
                  <a:moveTo>
                    <a:pt x="8" y="51"/>
                  </a:moveTo>
                  <a:cubicBezTo>
                    <a:pt x="0" y="36"/>
                    <a:pt x="5" y="16"/>
                    <a:pt x="21" y="8"/>
                  </a:cubicBezTo>
                  <a:cubicBezTo>
                    <a:pt x="36" y="0"/>
                    <a:pt x="55" y="5"/>
                    <a:pt x="63" y="20"/>
                  </a:cubicBezTo>
                  <a:cubicBezTo>
                    <a:pt x="72" y="35"/>
                    <a:pt x="66" y="54"/>
                    <a:pt x="51" y="63"/>
                  </a:cubicBezTo>
                  <a:cubicBezTo>
                    <a:pt x="36" y="71"/>
                    <a:pt x="17" y="66"/>
                    <a:pt x="8" y="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373906" y="2018947"/>
            <a:ext cx="1259095" cy="763004"/>
            <a:chOff x="4397979" y="1511803"/>
            <a:chExt cx="1259095" cy="763004"/>
          </a:xfrm>
        </p:grpSpPr>
        <p:sp>
          <p:nvSpPr>
            <p:cNvPr id="14" name="矩形: 圆角 13"/>
            <p:cNvSpPr/>
            <p:nvPr/>
          </p:nvSpPr>
          <p:spPr>
            <a:xfrm>
              <a:off x="4512180" y="1596162"/>
              <a:ext cx="1144894" cy="625978"/>
            </a:xfrm>
            <a:prstGeom prst="roundRect">
              <a:avLst/>
            </a:prstGeom>
            <a:solidFill>
              <a:srgbClr val="0F73EE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4397979" y="1511803"/>
              <a:ext cx="1104584" cy="763004"/>
              <a:chOff x="4397979" y="1511803"/>
              <a:chExt cx="1104584" cy="763004"/>
            </a:xfrm>
          </p:grpSpPr>
          <p:sp>
            <p:nvSpPr>
              <p:cNvPr id="10" name="Freeform 17"/>
              <p:cNvSpPr/>
              <p:nvPr/>
            </p:nvSpPr>
            <p:spPr bwMode="auto">
              <a:xfrm>
                <a:off x="4397979" y="1560722"/>
                <a:ext cx="76200" cy="714085"/>
              </a:xfrm>
              <a:custGeom>
                <a:avLst/>
                <a:gdLst>
                  <a:gd name="T0" fmla="*/ 13 w 25"/>
                  <a:gd name="T1" fmla="*/ 0 h 249"/>
                  <a:gd name="T2" fmla="*/ 25 w 25"/>
                  <a:gd name="T3" fmla="*/ 13 h 249"/>
                  <a:gd name="T4" fmla="*/ 16 w 25"/>
                  <a:gd name="T5" fmla="*/ 25 h 249"/>
                  <a:gd name="T6" fmla="*/ 16 w 25"/>
                  <a:gd name="T7" fmla="*/ 224 h 249"/>
                  <a:gd name="T8" fmla="*/ 25 w 25"/>
                  <a:gd name="T9" fmla="*/ 236 h 249"/>
                  <a:gd name="T10" fmla="*/ 13 w 25"/>
                  <a:gd name="T11" fmla="*/ 249 h 249"/>
                  <a:gd name="T12" fmla="*/ 0 w 25"/>
                  <a:gd name="T13" fmla="*/ 236 h 249"/>
                  <a:gd name="T14" fmla="*/ 9 w 25"/>
                  <a:gd name="T15" fmla="*/ 224 h 249"/>
                  <a:gd name="T16" fmla="*/ 9 w 25"/>
                  <a:gd name="T17" fmla="*/ 25 h 249"/>
                  <a:gd name="T18" fmla="*/ 0 w 25"/>
                  <a:gd name="T19" fmla="*/ 13 h 249"/>
                  <a:gd name="T20" fmla="*/ 13 w 25"/>
                  <a:gd name="T21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249">
                    <a:moveTo>
                      <a:pt x="13" y="0"/>
                    </a:moveTo>
                    <a:cubicBezTo>
                      <a:pt x="20" y="0"/>
                      <a:pt x="25" y="7"/>
                      <a:pt x="25" y="13"/>
                    </a:cubicBezTo>
                    <a:cubicBezTo>
                      <a:pt x="25" y="19"/>
                      <a:pt x="22" y="24"/>
                      <a:pt x="16" y="25"/>
                    </a:cubicBezTo>
                    <a:cubicBezTo>
                      <a:pt x="16" y="224"/>
                      <a:pt x="16" y="224"/>
                      <a:pt x="16" y="224"/>
                    </a:cubicBezTo>
                    <a:cubicBezTo>
                      <a:pt x="22" y="225"/>
                      <a:pt x="25" y="230"/>
                      <a:pt x="25" y="236"/>
                    </a:cubicBezTo>
                    <a:cubicBezTo>
                      <a:pt x="25" y="242"/>
                      <a:pt x="20" y="249"/>
                      <a:pt x="13" y="249"/>
                    </a:cubicBezTo>
                    <a:cubicBezTo>
                      <a:pt x="6" y="249"/>
                      <a:pt x="0" y="242"/>
                      <a:pt x="0" y="236"/>
                    </a:cubicBezTo>
                    <a:cubicBezTo>
                      <a:pt x="0" y="230"/>
                      <a:pt x="4" y="225"/>
                      <a:pt x="9" y="224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4" y="24"/>
                      <a:pt x="0" y="19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rgbClr val="0F73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4599752" y="1511803"/>
                <a:ext cx="902811" cy="661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/>
                  <a:t>TCP</a:t>
                </a:r>
                <a:endParaRPr lang="zh-CN" altLang="en-US" sz="2800" b="1" dirty="0"/>
              </a:p>
            </p:txBody>
          </p:sp>
        </p:grpSp>
      </p:grpSp>
      <p:sp>
        <p:nvSpPr>
          <p:cNvPr id="6" name="矩形 5"/>
          <p:cNvSpPr/>
          <p:nvPr/>
        </p:nvSpPr>
        <p:spPr>
          <a:xfrm>
            <a:off x="5839930" y="2227530"/>
            <a:ext cx="4741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400" dirty="0"/>
              <a:t>面向连接的传输控制协议</a:t>
            </a:r>
            <a:r>
              <a:rPr lang="en-US" altLang="zh-CN" sz="2400" dirty="0"/>
              <a:t>TCP</a:t>
            </a:r>
            <a:r>
              <a:rPr lang="zh-CN" altLang="en-US" sz="2400" dirty="0"/>
              <a:t>；</a:t>
            </a:r>
            <a:endParaRPr lang="zh-CN" altLang="en-US" sz="24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373906" y="3722689"/>
            <a:ext cx="1259095" cy="763004"/>
            <a:chOff x="4397979" y="1511803"/>
            <a:chExt cx="1259095" cy="763004"/>
          </a:xfrm>
        </p:grpSpPr>
        <p:sp>
          <p:nvSpPr>
            <p:cNvPr id="20" name="矩形: 圆角 19"/>
            <p:cNvSpPr/>
            <p:nvPr/>
          </p:nvSpPr>
          <p:spPr>
            <a:xfrm>
              <a:off x="4512179" y="1596162"/>
              <a:ext cx="1144895" cy="625978"/>
            </a:xfrm>
            <a:prstGeom prst="roundRect">
              <a:avLst/>
            </a:prstGeom>
            <a:solidFill>
              <a:srgbClr val="0F73EE">
                <a:alpha val="1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4397979" y="1511803"/>
              <a:ext cx="1125424" cy="763004"/>
              <a:chOff x="4397979" y="1511803"/>
              <a:chExt cx="1125424" cy="763004"/>
            </a:xfrm>
          </p:grpSpPr>
          <p:sp>
            <p:nvSpPr>
              <p:cNvPr id="22" name="Freeform 17"/>
              <p:cNvSpPr/>
              <p:nvPr/>
            </p:nvSpPr>
            <p:spPr bwMode="auto">
              <a:xfrm>
                <a:off x="4397979" y="1560722"/>
                <a:ext cx="76200" cy="714085"/>
              </a:xfrm>
              <a:custGeom>
                <a:avLst/>
                <a:gdLst>
                  <a:gd name="T0" fmla="*/ 13 w 25"/>
                  <a:gd name="T1" fmla="*/ 0 h 249"/>
                  <a:gd name="T2" fmla="*/ 25 w 25"/>
                  <a:gd name="T3" fmla="*/ 13 h 249"/>
                  <a:gd name="T4" fmla="*/ 16 w 25"/>
                  <a:gd name="T5" fmla="*/ 25 h 249"/>
                  <a:gd name="T6" fmla="*/ 16 w 25"/>
                  <a:gd name="T7" fmla="*/ 224 h 249"/>
                  <a:gd name="T8" fmla="*/ 25 w 25"/>
                  <a:gd name="T9" fmla="*/ 236 h 249"/>
                  <a:gd name="T10" fmla="*/ 13 w 25"/>
                  <a:gd name="T11" fmla="*/ 249 h 249"/>
                  <a:gd name="T12" fmla="*/ 0 w 25"/>
                  <a:gd name="T13" fmla="*/ 236 h 249"/>
                  <a:gd name="T14" fmla="*/ 9 w 25"/>
                  <a:gd name="T15" fmla="*/ 224 h 249"/>
                  <a:gd name="T16" fmla="*/ 9 w 25"/>
                  <a:gd name="T17" fmla="*/ 25 h 249"/>
                  <a:gd name="T18" fmla="*/ 0 w 25"/>
                  <a:gd name="T19" fmla="*/ 13 h 249"/>
                  <a:gd name="T20" fmla="*/ 13 w 25"/>
                  <a:gd name="T21" fmla="*/ 0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5" h="249">
                    <a:moveTo>
                      <a:pt x="13" y="0"/>
                    </a:moveTo>
                    <a:cubicBezTo>
                      <a:pt x="20" y="0"/>
                      <a:pt x="25" y="7"/>
                      <a:pt x="25" y="13"/>
                    </a:cubicBezTo>
                    <a:cubicBezTo>
                      <a:pt x="25" y="19"/>
                      <a:pt x="22" y="24"/>
                      <a:pt x="16" y="25"/>
                    </a:cubicBezTo>
                    <a:cubicBezTo>
                      <a:pt x="16" y="224"/>
                      <a:pt x="16" y="224"/>
                      <a:pt x="16" y="224"/>
                    </a:cubicBezTo>
                    <a:cubicBezTo>
                      <a:pt x="22" y="225"/>
                      <a:pt x="25" y="230"/>
                      <a:pt x="25" y="236"/>
                    </a:cubicBezTo>
                    <a:cubicBezTo>
                      <a:pt x="25" y="242"/>
                      <a:pt x="20" y="249"/>
                      <a:pt x="13" y="249"/>
                    </a:cubicBezTo>
                    <a:cubicBezTo>
                      <a:pt x="6" y="249"/>
                      <a:pt x="0" y="242"/>
                      <a:pt x="0" y="236"/>
                    </a:cubicBezTo>
                    <a:cubicBezTo>
                      <a:pt x="0" y="230"/>
                      <a:pt x="4" y="225"/>
                      <a:pt x="9" y="224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4" y="24"/>
                      <a:pt x="0" y="19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lose/>
                  </a:path>
                </a:pathLst>
              </a:custGeom>
              <a:solidFill>
                <a:srgbClr val="0F73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4599752" y="1511803"/>
                <a:ext cx="923651" cy="6683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altLang="zh-CN" sz="2800" b="1" dirty="0" smtClean="0"/>
                  <a:t>UDP</a:t>
                </a:r>
                <a:endParaRPr lang="en-US" altLang="zh-CN" sz="2800" b="1" dirty="0">
                  <a:latin typeface="思源黑体 CN Heavy" panose="020B0A00000000000000" pitchFamily="34" charset="-122"/>
                  <a:ea typeface="思源黑体 CN Heavy" panose="020B0A00000000000000" pitchFamily="34" charset="-122"/>
                </a:endParaRPr>
              </a:p>
            </p:txBody>
          </p:sp>
        </p:grpSp>
      </p:grpSp>
      <p:sp>
        <p:nvSpPr>
          <p:cNvPr id="24" name="矩形 23"/>
          <p:cNvSpPr/>
          <p:nvPr/>
        </p:nvSpPr>
        <p:spPr>
          <a:xfrm>
            <a:off x="5877930" y="3889204"/>
            <a:ext cx="51067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</a:pPr>
            <a:r>
              <a:rPr lang="zh-CN" altLang="en-US" sz="2400" dirty="0" smtClean="0"/>
              <a:t>无</a:t>
            </a:r>
            <a:r>
              <a:rPr lang="zh-CN" altLang="en-US" sz="2400" dirty="0"/>
              <a:t>连接的用户数据报协议</a:t>
            </a:r>
            <a:r>
              <a:rPr lang="en-US" altLang="zh-CN" sz="2400" dirty="0"/>
              <a:t>UDP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3617464" y="432000"/>
            <a:ext cx="4957072" cy="791052"/>
            <a:chOff x="824072" y="1564267"/>
            <a:chExt cx="4957072" cy="791052"/>
          </a:xfrm>
        </p:grpSpPr>
        <p:sp>
          <p:nvSpPr>
            <p:cNvPr id="26" name="矩形: 圆角 28"/>
            <p:cNvSpPr/>
            <p:nvPr/>
          </p:nvSpPr>
          <p:spPr>
            <a:xfrm>
              <a:off x="824072" y="1740416"/>
              <a:ext cx="4957072" cy="614363"/>
            </a:xfrm>
            <a:prstGeom prst="roundRect">
              <a:avLst/>
            </a:prstGeom>
            <a:solidFill>
              <a:srgbClr val="0F73EE"/>
            </a:solidFill>
            <a:ln>
              <a:solidFill>
                <a:srgbClr val="FBA7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701522" y="1828091"/>
              <a:ext cx="4016549" cy="4801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+mj-ea"/>
                </a:rPr>
                <a:t>2.2.2 TCP/IP</a:t>
              </a:r>
              <a:r>
                <a:rPr lang="zh-CN" altLang="en-US" sz="2800" dirty="0">
                  <a:solidFill>
                    <a:schemeClr val="bg1"/>
                  </a:solidFill>
                  <a:latin typeface="+mj-ea"/>
                </a:rPr>
                <a:t>传输层协议 </a:t>
              </a:r>
              <a:endParaRPr lang="zh-CN" altLang="en-US" sz="2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6" y="1564267"/>
              <a:ext cx="751303" cy="7910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5602" grpId="0"/>
      <p:bldP spid="6" grpId="0" build="p"/>
      <p:bldP spid="2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占位符 30722"/>
          <p:cNvSpPr>
            <a:spLocks noGrp="1"/>
          </p:cNvSpPr>
          <p:nvPr>
            <p:ph idx="1"/>
          </p:nvPr>
        </p:nvSpPr>
        <p:spPr>
          <a:xfrm>
            <a:off x="1085089" y="1913522"/>
            <a:ext cx="10034016" cy="3430379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zh-CN" dirty="0"/>
              <a:t>       </a:t>
            </a:r>
            <a:r>
              <a:rPr lang="en-US" altLang="zh-CN" dirty="0" smtClean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协议是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面向连接</a:t>
            </a:r>
            <a:r>
              <a:rPr lang="zh-CN" altLang="en-US" dirty="0">
                <a:latin typeface="宋体" panose="02010600030101010101" pitchFamily="2" charset="-122"/>
              </a:rPr>
              <a:t>的，能够提供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可靠的</a:t>
            </a:r>
            <a:r>
              <a:rPr lang="zh-CN" altLang="en-US" dirty="0">
                <a:latin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按序传送</a:t>
            </a:r>
            <a:r>
              <a:rPr lang="zh-CN" altLang="en-US" dirty="0">
                <a:latin typeface="宋体" panose="02010600030101010101" pitchFamily="2" charset="-122"/>
              </a:rPr>
              <a:t>数据的服务。</a:t>
            </a:r>
            <a:r>
              <a:rPr lang="en-US" altLang="zh-CN" dirty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提供的连接是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双向</a:t>
            </a:r>
            <a:r>
              <a:rPr lang="zh-CN" altLang="en-US" dirty="0">
                <a:latin typeface="宋体" panose="02010600030101010101" pitchFamily="2" charset="-122"/>
              </a:rPr>
              <a:t>的，即全双工的。</a:t>
            </a:r>
            <a:r>
              <a:rPr lang="en-US" altLang="zh-CN" dirty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使用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端口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/>
              <a:t>PORT</a:t>
            </a:r>
            <a:r>
              <a:rPr lang="zh-CN" altLang="en-US" dirty="0">
                <a:latin typeface="宋体" panose="02010600030101010101" pitchFamily="2" charset="-122"/>
              </a:rPr>
              <a:t>）进行寻址。互连网上的不同网段可能具有不同的拓扑结构、带宽、时延、分组长度以及其他参数。</a:t>
            </a:r>
            <a:r>
              <a:rPr lang="en-US" altLang="zh-CN" dirty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协议可以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动态适应</a:t>
            </a:r>
            <a:r>
              <a:rPr lang="zh-CN" altLang="en-US" dirty="0">
                <a:latin typeface="宋体" panose="02010600030101010101" pitchFamily="2" charset="-122"/>
              </a:rPr>
              <a:t>不同网段上的这些不同参数特性，并且能够保证在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不太可靠</a:t>
            </a:r>
            <a:r>
              <a:rPr lang="zh-CN" altLang="en-US" dirty="0">
                <a:latin typeface="宋体" panose="02010600030101010101" pitchFamily="2" charset="-122"/>
              </a:rPr>
              <a:t>的网络上进行传输，具有</a:t>
            </a:r>
            <a:r>
              <a:rPr lang="zh-CN" altLang="en-US" dirty="0">
                <a:solidFill>
                  <a:srgbClr val="00B0F0"/>
                </a:solidFill>
                <a:latin typeface="宋体" panose="02010600030101010101" pitchFamily="2" charset="-122"/>
              </a:rPr>
              <a:t>较强的健壮性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69348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304217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传输控制协议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TCP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1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31745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32770" name="文本占位符 31746"/>
          <p:cNvSpPr>
            <a:spLocks noGrp="1"/>
          </p:cNvSpPr>
          <p:nvPr>
            <p:ph idx="1"/>
          </p:nvPr>
        </p:nvSpPr>
        <p:spPr>
          <a:xfrm>
            <a:off x="1463040" y="1447800"/>
            <a:ext cx="9290304" cy="4800600"/>
          </a:xfrm>
        </p:spPr>
        <p:txBody>
          <a:bodyPr anchor="t"/>
          <a:lstStyle/>
          <a:p>
            <a:r>
              <a:rPr lang="en-US" altLang="zh-CN" dirty="0"/>
              <a:t>       </a:t>
            </a:r>
            <a:r>
              <a:rPr lang="zh-CN" altLang="en-US" dirty="0" smtClean="0"/>
              <a:t>本地</a:t>
            </a:r>
            <a:r>
              <a:rPr lang="zh-CN" altLang="en-US" dirty="0"/>
              <a:t>主机上的</a:t>
            </a:r>
            <a:r>
              <a:rPr lang="en-US" altLang="zh-CN" dirty="0"/>
              <a:t>TCP</a:t>
            </a:r>
            <a:r>
              <a:rPr lang="zh-CN" altLang="en-US" dirty="0"/>
              <a:t>协议进程接收用户的数据流，把数据流分解成不超过</a:t>
            </a:r>
            <a:r>
              <a:rPr lang="en-US" altLang="zh-CN" dirty="0"/>
              <a:t>64KB</a:t>
            </a:r>
            <a:r>
              <a:rPr lang="zh-CN" altLang="en-US" dirty="0"/>
              <a:t>的数据段，并且</a:t>
            </a:r>
            <a:r>
              <a:rPr lang="zh-CN" altLang="en-US" dirty="0">
                <a:solidFill>
                  <a:srgbClr val="00B0F0"/>
                </a:solidFill>
              </a:rPr>
              <a:t>将每一个数据段封装成一个</a:t>
            </a:r>
            <a:r>
              <a:rPr lang="en-US" altLang="zh-CN" dirty="0">
                <a:solidFill>
                  <a:srgbClr val="00B0F0"/>
                </a:solidFill>
              </a:rPr>
              <a:t>IP</a:t>
            </a:r>
            <a:r>
              <a:rPr lang="zh-CN" altLang="en-US" dirty="0">
                <a:solidFill>
                  <a:srgbClr val="00B0F0"/>
                </a:solidFill>
              </a:rPr>
              <a:t>数据报</a:t>
            </a:r>
            <a:r>
              <a:rPr lang="zh-CN" altLang="en-US" dirty="0"/>
              <a:t>发送出去。当</a:t>
            </a:r>
            <a:r>
              <a:rPr lang="en-US" altLang="zh-CN" dirty="0"/>
              <a:t>IP</a:t>
            </a:r>
            <a:r>
              <a:rPr lang="zh-CN" altLang="en-US" dirty="0"/>
              <a:t>数据报到达目的主机后，其</a:t>
            </a:r>
            <a:r>
              <a:rPr lang="en-US" altLang="zh-CN" dirty="0"/>
              <a:t>TCP</a:t>
            </a:r>
            <a:r>
              <a:rPr lang="zh-CN" altLang="en-US" dirty="0"/>
              <a:t>协议进程重新组装所收到的</a:t>
            </a:r>
            <a:r>
              <a:rPr lang="en-US" altLang="zh-CN" dirty="0"/>
              <a:t>IP</a:t>
            </a:r>
            <a:r>
              <a:rPr lang="zh-CN" altLang="en-US" dirty="0"/>
              <a:t>数据报中的数据段。在传输过程中，</a:t>
            </a:r>
            <a:r>
              <a:rPr lang="en-US" altLang="zh-CN" dirty="0"/>
              <a:t>IP</a:t>
            </a:r>
            <a:r>
              <a:rPr lang="zh-CN" altLang="en-US" dirty="0"/>
              <a:t>数据报可能经不同的路由达到目的端，因而达到目的主机的时间先后就可能不同。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32769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33794" name="文本占位符 32770"/>
          <p:cNvSpPr>
            <a:spLocks noGrp="1"/>
          </p:cNvSpPr>
          <p:nvPr>
            <p:ph idx="1"/>
          </p:nvPr>
        </p:nvSpPr>
        <p:spPr>
          <a:xfrm>
            <a:off x="963169" y="1296000"/>
            <a:ext cx="10277856" cy="5041355"/>
          </a:xfrm>
        </p:spPr>
        <p:txBody>
          <a:bodyPr anchor="t"/>
          <a:lstStyle/>
          <a:p>
            <a:r>
              <a:rPr lang="en-US" altLang="zh-CN" dirty="0"/>
              <a:t>       </a:t>
            </a:r>
            <a:r>
              <a:rPr lang="zh-CN" altLang="en-US" dirty="0" smtClean="0"/>
              <a:t>在</a:t>
            </a:r>
            <a:r>
              <a:rPr lang="zh-CN" altLang="en-US" dirty="0"/>
              <a:t>这种情况下，必须由目的主机的</a:t>
            </a:r>
            <a:r>
              <a:rPr lang="en-US" altLang="zh-CN" dirty="0"/>
              <a:t>TCP</a:t>
            </a:r>
            <a:r>
              <a:rPr lang="zh-CN" altLang="en-US" dirty="0"/>
              <a:t>协议将失序的数据报按原先发送的顺序</a:t>
            </a:r>
            <a:r>
              <a:rPr lang="zh-CN" altLang="en-US" dirty="0">
                <a:solidFill>
                  <a:srgbClr val="00B0F0"/>
                </a:solidFill>
              </a:rPr>
              <a:t>重新排序</a:t>
            </a:r>
            <a:r>
              <a:rPr lang="zh-CN" altLang="en-US" dirty="0"/>
              <a:t>；在传输过程中，</a:t>
            </a:r>
            <a:r>
              <a:rPr lang="en-US" altLang="zh-CN" dirty="0"/>
              <a:t>IP</a:t>
            </a:r>
            <a:r>
              <a:rPr lang="zh-CN" altLang="en-US" dirty="0"/>
              <a:t>数据报也可能因超时而发生丢失情况，</a:t>
            </a:r>
            <a:r>
              <a:rPr lang="en-US" altLang="zh-CN" dirty="0"/>
              <a:t>TCP</a:t>
            </a:r>
            <a:r>
              <a:rPr lang="zh-CN" altLang="en-US" dirty="0"/>
              <a:t>协议也必须保证在此情况下</a:t>
            </a:r>
            <a:r>
              <a:rPr lang="zh-CN" altLang="en-US" dirty="0">
                <a:solidFill>
                  <a:srgbClr val="00B0F0"/>
                </a:solidFill>
              </a:rPr>
              <a:t>要求源主机重发</a:t>
            </a:r>
            <a:r>
              <a:rPr lang="zh-CN" altLang="en-US" dirty="0"/>
              <a:t>已丢失的</a:t>
            </a:r>
            <a:r>
              <a:rPr lang="en-US" altLang="zh-CN" dirty="0"/>
              <a:t>IP</a:t>
            </a:r>
            <a:r>
              <a:rPr lang="zh-CN" altLang="en-US" dirty="0"/>
              <a:t>数据报。因此，</a:t>
            </a:r>
            <a:r>
              <a:rPr lang="en-US" altLang="zh-CN" dirty="0"/>
              <a:t>TCP</a:t>
            </a:r>
            <a:r>
              <a:rPr lang="zh-CN" altLang="en-US" dirty="0"/>
              <a:t>协议提供了</a:t>
            </a:r>
            <a:r>
              <a:rPr lang="en-US" altLang="zh-CN" dirty="0"/>
              <a:t>IP</a:t>
            </a:r>
            <a:r>
              <a:rPr lang="zh-CN" altLang="en-US" dirty="0"/>
              <a:t>协议所不能保证的</a:t>
            </a:r>
            <a:r>
              <a:rPr lang="zh-CN" altLang="en-US" dirty="0">
                <a:solidFill>
                  <a:srgbClr val="00B0F0"/>
                </a:solidFill>
              </a:rPr>
              <a:t>可靠性</a:t>
            </a:r>
            <a:r>
              <a:rPr lang="zh-CN" altLang="en-US" dirty="0"/>
              <a:t>。另外，</a:t>
            </a:r>
            <a:r>
              <a:rPr lang="en-US" altLang="zh-CN" dirty="0"/>
              <a:t>TCP</a:t>
            </a:r>
            <a:r>
              <a:rPr lang="zh-CN" altLang="en-US" dirty="0"/>
              <a:t>协议也具有</a:t>
            </a:r>
            <a:r>
              <a:rPr lang="zh-CN" altLang="en-US" dirty="0">
                <a:solidFill>
                  <a:srgbClr val="00B0F0"/>
                </a:solidFill>
              </a:rPr>
              <a:t>流量控制功能</a:t>
            </a:r>
            <a:r>
              <a:rPr lang="zh-CN" altLang="en-US" dirty="0"/>
              <a:t>。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占位符 33794"/>
          <p:cNvSpPr>
            <a:spLocks noGrp="1"/>
          </p:cNvSpPr>
          <p:nvPr>
            <p:ph idx="1"/>
          </p:nvPr>
        </p:nvSpPr>
        <p:spPr>
          <a:xfrm>
            <a:off x="902209" y="1569126"/>
            <a:ext cx="10411968" cy="4166649"/>
          </a:xfrm>
        </p:spPr>
        <p:txBody>
          <a:bodyPr anchor="t"/>
          <a:lstStyle/>
          <a:p>
            <a:r>
              <a:rPr lang="en-US" altLang="zh-CN" sz="2800" dirty="0"/>
              <a:t>       </a:t>
            </a:r>
            <a:r>
              <a:rPr lang="en-US" altLang="zh-CN" sz="2800" dirty="0" smtClean="0"/>
              <a:t>UDP</a:t>
            </a:r>
            <a:r>
              <a:rPr lang="zh-CN" altLang="en-US" sz="2800" dirty="0">
                <a:latin typeface="宋体" panose="02010600030101010101" pitchFamily="2" charset="-122"/>
              </a:rPr>
              <a:t>提供</a:t>
            </a:r>
            <a:r>
              <a:rPr lang="zh-CN" altLang="en-US" sz="2800" dirty="0">
                <a:solidFill>
                  <a:srgbClr val="00B0F0"/>
                </a:solidFill>
              </a:rPr>
              <a:t>无连接、不可靠</a:t>
            </a:r>
            <a:r>
              <a:rPr lang="zh-CN" altLang="en-US" sz="2800" dirty="0">
                <a:latin typeface="宋体" panose="02010600030101010101" pitchFamily="2" charset="-122"/>
              </a:rPr>
              <a:t>的访问。在传送数据之前，不需要先建立连接，仅仅将要发送的数据报传送至网络。远端主机的传输层在收到</a:t>
            </a:r>
            <a:r>
              <a:rPr lang="en-US" altLang="zh-CN" sz="2800" dirty="0"/>
              <a:t>UDP</a:t>
            </a:r>
            <a:r>
              <a:rPr lang="zh-CN" altLang="en-US" sz="2800" dirty="0">
                <a:latin typeface="宋体" panose="02010600030101010101" pitchFamily="2" charset="-122"/>
              </a:rPr>
              <a:t>数据报后，</a:t>
            </a:r>
            <a:r>
              <a:rPr lang="zh-CN" altLang="en-US" sz="2800" dirty="0">
                <a:solidFill>
                  <a:srgbClr val="00B0F0"/>
                </a:solidFill>
              </a:rPr>
              <a:t>不需要给出任何应答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r>
              <a:rPr lang="en-US" altLang="zh-CN" sz="2800" dirty="0"/>
              <a:t>UDP</a:t>
            </a:r>
            <a:r>
              <a:rPr lang="zh-CN" altLang="en-US" sz="2800" dirty="0">
                <a:latin typeface="宋体" panose="02010600030101010101" pitchFamily="2" charset="-122"/>
              </a:rPr>
              <a:t>也使用</a:t>
            </a:r>
            <a:r>
              <a:rPr lang="zh-CN" altLang="en-US" sz="2800" dirty="0">
                <a:solidFill>
                  <a:srgbClr val="00B0F0"/>
                </a:solidFill>
              </a:rPr>
              <a:t>端口</a:t>
            </a:r>
            <a:r>
              <a:rPr lang="zh-CN" altLang="en-US" sz="2800" dirty="0">
                <a:latin typeface="宋体" panose="02010600030101010101" pitchFamily="2" charset="-122"/>
              </a:rPr>
              <a:t>进行寻址。</a:t>
            </a:r>
            <a:r>
              <a:rPr lang="en-US" altLang="zh-CN" sz="2800" dirty="0"/>
              <a:t>UDP</a:t>
            </a:r>
            <a:r>
              <a:rPr lang="zh-CN" altLang="en-US" sz="2800" dirty="0">
                <a:latin typeface="宋体" panose="02010600030101010101" pitchFamily="2" charset="-122"/>
              </a:rPr>
              <a:t>协议为用户的网络应用服务程序服务，例如，网络文件系统（</a:t>
            </a:r>
            <a:r>
              <a:rPr lang="en-US" altLang="zh-CN" sz="2800" dirty="0"/>
              <a:t>NFS</a:t>
            </a:r>
            <a:r>
              <a:rPr lang="zh-CN" altLang="en-US" sz="2800" dirty="0"/>
              <a:t>：</a:t>
            </a:r>
            <a:r>
              <a:rPr lang="en-US" altLang="zh-CN" sz="2800" dirty="0"/>
              <a:t>Network File System</a:t>
            </a:r>
            <a:r>
              <a:rPr lang="zh-CN" altLang="en-US" sz="2800" dirty="0">
                <a:latin typeface="宋体" panose="02010600030101010101" pitchFamily="2" charset="-122"/>
              </a:rPr>
              <a:t>）、简单网络管理协议（</a:t>
            </a:r>
            <a:r>
              <a:rPr lang="en-US" altLang="zh-CN" sz="2800" dirty="0"/>
              <a:t>SNMP</a:t>
            </a:r>
            <a:r>
              <a:rPr lang="zh-CN" altLang="en-US" sz="2800" dirty="0"/>
              <a:t>：</a:t>
            </a:r>
            <a:r>
              <a:rPr lang="en-US" altLang="zh-CN" sz="2800" dirty="0"/>
              <a:t>Simple Network Management Protocol </a:t>
            </a:r>
            <a:r>
              <a:rPr lang="zh-CN" altLang="en-US" sz="2800" dirty="0">
                <a:latin typeface="宋体" panose="02010600030101010101" pitchFamily="2" charset="-122"/>
              </a:rPr>
              <a:t>）等。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1057475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34804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用户数据报协议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UDP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2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占位符 34818"/>
          <p:cNvSpPr>
            <a:spLocks noGrp="1"/>
          </p:cNvSpPr>
          <p:nvPr>
            <p:ph idx="1"/>
          </p:nvPr>
        </p:nvSpPr>
        <p:spPr>
          <a:xfrm>
            <a:off x="669882" y="1414752"/>
            <a:ext cx="10852237" cy="3941018"/>
          </a:xfrm>
        </p:spPr>
        <p:txBody>
          <a:bodyPr anchor="t"/>
          <a:lstStyle/>
          <a:p>
            <a:r>
              <a:rPr lang="en-US" altLang="zh-CN" sz="2800" dirty="0"/>
              <a:t>       </a:t>
            </a:r>
            <a:r>
              <a:rPr lang="en-US" altLang="zh-CN" sz="2800" dirty="0" smtClean="0"/>
              <a:t>TCP/IP</a:t>
            </a:r>
            <a:r>
              <a:rPr lang="zh-CN" altLang="en-US" sz="2800" dirty="0">
                <a:latin typeface="宋体" panose="02010600030101010101" pitchFamily="2" charset="-122"/>
              </a:rPr>
              <a:t>应用层包含十分丰富的应用协议，有几百个之多。但限于篇幅，下面只介绍应用最广泛且安全问题最多几个应用协议，它们是</a:t>
            </a:r>
            <a:r>
              <a:rPr lang="en-US" altLang="zh-CN" sz="2800" dirty="0">
                <a:solidFill>
                  <a:srgbClr val="00B0F0"/>
                </a:solidFill>
              </a:rPr>
              <a:t>FTP</a:t>
            </a:r>
            <a:r>
              <a:rPr lang="zh-CN" altLang="en-US" sz="2800" dirty="0">
                <a:solidFill>
                  <a:srgbClr val="00B0F0"/>
                </a:solidFill>
              </a:rPr>
              <a:t>、</a:t>
            </a:r>
            <a:r>
              <a:rPr lang="en-US" altLang="zh-CN" sz="2800" dirty="0">
                <a:solidFill>
                  <a:srgbClr val="00B0F0"/>
                </a:solidFill>
              </a:rPr>
              <a:t>TELNET</a:t>
            </a:r>
            <a:r>
              <a:rPr lang="zh-CN" altLang="en-US" sz="2800" dirty="0">
                <a:solidFill>
                  <a:srgbClr val="00B0F0"/>
                </a:solidFill>
              </a:rPr>
              <a:t>、</a:t>
            </a:r>
            <a:r>
              <a:rPr lang="en-US" altLang="zh-CN" sz="2800" dirty="0">
                <a:solidFill>
                  <a:srgbClr val="00B0F0"/>
                </a:solidFill>
              </a:rPr>
              <a:t>SMTP</a:t>
            </a:r>
            <a:r>
              <a:rPr lang="zh-CN" altLang="en-US" sz="2800" dirty="0">
                <a:solidFill>
                  <a:srgbClr val="00B0F0"/>
                </a:solidFill>
              </a:rPr>
              <a:t>和</a:t>
            </a:r>
            <a:r>
              <a:rPr lang="en-US" altLang="zh-CN" sz="2800" dirty="0">
                <a:solidFill>
                  <a:srgbClr val="00B0F0"/>
                </a:solidFill>
              </a:rPr>
              <a:t>HTTP</a:t>
            </a:r>
            <a:r>
              <a:rPr lang="zh-CN" altLang="en-US" sz="2800" dirty="0">
                <a:latin typeface="宋体" panose="02010600030101010101" pitchFamily="2" charset="-122"/>
              </a:rPr>
              <a:t>。这些协议所支持的实用程序常常被黑客用作网络攻击的工具，因此，了解这些协议的机理对于防护网络攻击是十分重要的。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3649000" y="504948"/>
            <a:ext cx="4894000" cy="791052"/>
            <a:chOff x="824071" y="1564267"/>
            <a:chExt cx="4894000" cy="791052"/>
          </a:xfrm>
        </p:grpSpPr>
        <p:sp>
          <p:nvSpPr>
            <p:cNvPr id="5" name="矩形: 圆角 28"/>
            <p:cNvSpPr/>
            <p:nvPr/>
          </p:nvSpPr>
          <p:spPr>
            <a:xfrm>
              <a:off x="824071" y="1740416"/>
              <a:ext cx="4893999" cy="614363"/>
            </a:xfrm>
            <a:prstGeom prst="roundRect">
              <a:avLst/>
            </a:prstGeom>
            <a:solidFill>
              <a:srgbClr val="0F73EE"/>
            </a:solidFill>
            <a:ln>
              <a:solidFill>
                <a:srgbClr val="FBA7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701522" y="1828091"/>
              <a:ext cx="4016549" cy="4801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2800" dirty="0">
                  <a:solidFill>
                    <a:schemeClr val="bg1"/>
                  </a:solidFill>
                  <a:latin typeface="+mj-ea"/>
                </a:rPr>
                <a:t>2.2.3 TCP/IP</a:t>
              </a:r>
              <a:r>
                <a:rPr lang="zh-CN" altLang="en-US" sz="2800" dirty="0">
                  <a:solidFill>
                    <a:schemeClr val="bg1"/>
                  </a:solidFill>
                  <a:latin typeface="+mj-ea"/>
                </a:rPr>
                <a:t>应用层协议 </a:t>
              </a:r>
              <a:endParaRPr lang="zh-CN" altLang="en-US" sz="28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46" y="1564267"/>
              <a:ext cx="751303" cy="79105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文本占位符 35842"/>
          <p:cNvSpPr>
            <a:spLocks noGrp="1"/>
          </p:cNvSpPr>
          <p:nvPr>
            <p:ph idx="1"/>
          </p:nvPr>
        </p:nvSpPr>
        <p:spPr>
          <a:xfrm>
            <a:off x="1056904" y="1676008"/>
            <a:ext cx="10070275" cy="3608509"/>
          </a:xfrm>
        </p:spPr>
        <p:txBody>
          <a:bodyPr anchor="t"/>
          <a:lstStyle/>
          <a:p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文件</a:t>
            </a:r>
            <a:r>
              <a:rPr lang="zh-CN" altLang="en-US" dirty="0">
                <a:latin typeface="宋体" panose="02010600030101010101" pitchFamily="2" charset="-122"/>
              </a:rPr>
              <a:t>传输协议</a:t>
            </a:r>
            <a:r>
              <a:rPr lang="en-US" altLang="zh-CN" dirty="0"/>
              <a:t>FTP(File Transfer Protocol)</a:t>
            </a:r>
            <a:r>
              <a:rPr lang="zh-CN" altLang="en-US" dirty="0">
                <a:latin typeface="宋体" panose="02010600030101010101" pitchFamily="2" charset="-122"/>
              </a:rPr>
              <a:t>是</a:t>
            </a:r>
            <a:r>
              <a:rPr lang="zh-CN" altLang="en-US" dirty="0">
                <a:solidFill>
                  <a:srgbClr val="00B0F0"/>
                </a:solidFill>
              </a:rPr>
              <a:t>文件从一个系统传输到另一个系统的标准协议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en-US" altLang="zh-CN" dirty="0"/>
              <a:t>FTP</a:t>
            </a:r>
            <a:r>
              <a:rPr lang="zh-CN" altLang="en-US" dirty="0">
                <a:latin typeface="宋体" panose="02010600030101010101" pitchFamily="2" charset="-122"/>
              </a:rPr>
              <a:t>的目的是：文件共享；对远程计算机的间接使用；消除主机间文件存储系统、文件格式和文件命名规则的差别；使用</a:t>
            </a:r>
            <a:r>
              <a:rPr lang="en-US" altLang="zh-CN" dirty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可靠的运输服务保证可靠高效地传输数据。</a:t>
            </a:r>
            <a:r>
              <a:rPr lang="en-US" altLang="zh-CN" dirty="0"/>
              <a:t>FTP</a:t>
            </a:r>
            <a:r>
              <a:rPr lang="zh-CN" altLang="en-US" dirty="0">
                <a:latin typeface="宋体" panose="02010600030101010101" pitchFamily="2" charset="-122"/>
              </a:rPr>
              <a:t>在</a:t>
            </a:r>
            <a:r>
              <a:rPr lang="en-US" altLang="zh-CN" dirty="0">
                <a:solidFill>
                  <a:srgbClr val="00B0F0"/>
                </a:solidFill>
              </a:rPr>
              <a:t>Client/Server</a:t>
            </a:r>
            <a:r>
              <a:rPr lang="zh-CN" altLang="en-US" dirty="0">
                <a:latin typeface="宋体" panose="02010600030101010101" pitchFamily="2" charset="-122"/>
              </a:rPr>
              <a:t>模式下工作。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69350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303159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文件传输协议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FTP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1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36865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37890" name="文本占位符 36866"/>
          <p:cNvSpPr>
            <a:spLocks noGrp="1"/>
          </p:cNvSpPr>
          <p:nvPr>
            <p:ph idx="1"/>
          </p:nvPr>
        </p:nvSpPr>
        <p:spPr>
          <a:xfrm>
            <a:off x="1231392" y="1752855"/>
            <a:ext cx="10034016" cy="3575049"/>
          </a:xfrm>
        </p:spPr>
        <p:txBody>
          <a:bodyPr anchor="t"/>
          <a:lstStyle/>
          <a:p>
            <a:pPr algn="just">
              <a:lnSpc>
                <a:spcPts val="36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发出</a:t>
            </a:r>
            <a:r>
              <a:rPr lang="zh-CN" altLang="en-US" dirty="0">
                <a:latin typeface="宋体" panose="02010600030101010101" pitchFamily="2" charset="-122"/>
              </a:rPr>
              <a:t>请求的机器启动一个</a:t>
            </a:r>
            <a:r>
              <a:rPr lang="zh-CN" altLang="en-US" dirty="0">
                <a:solidFill>
                  <a:srgbClr val="00B0F0"/>
                </a:solidFill>
              </a:rPr>
              <a:t>客户程序</a:t>
            </a:r>
            <a:r>
              <a:rPr lang="zh-CN" altLang="en-US" dirty="0">
                <a:latin typeface="宋体" panose="02010600030101010101" pitchFamily="2" charset="-122"/>
              </a:rPr>
              <a:t>，它生成一个发往目标文件服务器的</a:t>
            </a:r>
            <a:r>
              <a:rPr lang="zh-CN" altLang="en-US" dirty="0">
                <a:solidFill>
                  <a:srgbClr val="00B0F0"/>
                </a:solidFill>
              </a:rPr>
              <a:t>请求</a:t>
            </a:r>
            <a:r>
              <a:rPr lang="zh-CN" altLang="en-US" dirty="0">
                <a:latin typeface="宋体" panose="02010600030101010101" pitchFamily="2" charset="-122"/>
              </a:rPr>
              <a:t>。这个请求由</a:t>
            </a:r>
            <a:r>
              <a:rPr lang="en-US" altLang="zh-CN" dirty="0" err="1" smtClean="0">
                <a:solidFill>
                  <a:srgbClr val="00B0F0"/>
                </a:solidFill>
              </a:rPr>
              <a:t>inetd</a:t>
            </a:r>
            <a:r>
              <a:rPr lang="zh-CN" altLang="en-US" dirty="0">
                <a:solidFill>
                  <a:srgbClr val="00B0F0"/>
                </a:solidFill>
              </a:rPr>
              <a:t>守护程序</a:t>
            </a:r>
            <a:r>
              <a:rPr lang="zh-CN" altLang="en-US" dirty="0">
                <a:latin typeface="宋体" panose="02010600030101010101" pitchFamily="2" charset="-122"/>
              </a:rPr>
              <a:t>发到端口</a:t>
            </a:r>
            <a:r>
              <a:rPr lang="en-US" altLang="zh-CN" dirty="0"/>
              <a:t>21</a:t>
            </a:r>
            <a:r>
              <a:rPr lang="zh-CN" altLang="en-US" dirty="0">
                <a:latin typeface="宋体" panose="02010600030101010101" pitchFamily="2" charset="-122"/>
              </a:rPr>
              <a:t>（关于守护程序的概念见本章第四节）。为了建立连接，目标文件服务器必须运行一个</a:t>
            </a:r>
            <a:r>
              <a:rPr lang="en-US" altLang="zh-CN" dirty="0">
                <a:solidFill>
                  <a:srgbClr val="00B0F0"/>
                </a:solidFill>
              </a:rPr>
              <a:t>FTP</a:t>
            </a:r>
            <a:r>
              <a:rPr lang="zh-CN" altLang="en-US" dirty="0">
                <a:solidFill>
                  <a:srgbClr val="00B0F0"/>
                </a:solidFill>
              </a:rPr>
              <a:t>服务程序</a:t>
            </a:r>
            <a:r>
              <a:rPr lang="zh-CN" altLang="en-US" dirty="0">
                <a:latin typeface="宋体" panose="02010600030101010101" pitchFamily="2" charset="-122"/>
              </a:rPr>
              <a:t>或</a:t>
            </a:r>
            <a:r>
              <a:rPr lang="en-US" altLang="zh-CN" dirty="0">
                <a:solidFill>
                  <a:srgbClr val="00B0F0"/>
                </a:solidFill>
              </a:rPr>
              <a:t>FTP</a:t>
            </a:r>
            <a:r>
              <a:rPr lang="zh-CN" altLang="en-US" dirty="0">
                <a:solidFill>
                  <a:srgbClr val="00B0F0"/>
                </a:solidFill>
              </a:rPr>
              <a:t>守护程序（</a:t>
            </a:r>
            <a:r>
              <a:rPr lang="en-US" altLang="zh-CN" dirty="0" err="1">
                <a:solidFill>
                  <a:srgbClr val="00B0F0"/>
                </a:solidFill>
              </a:rPr>
              <a:t>ftpd</a:t>
            </a:r>
            <a:r>
              <a:rPr lang="zh-CN" altLang="en-US" dirty="0">
                <a:solidFill>
                  <a:srgbClr val="00B0F0"/>
                </a:solidFill>
              </a:rPr>
              <a:t>）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en-US" altLang="zh-CN" dirty="0"/>
              <a:t>FTP</a:t>
            </a:r>
            <a:r>
              <a:rPr lang="zh-CN" altLang="en-US" dirty="0">
                <a:latin typeface="宋体" panose="02010600030101010101" pitchFamily="2" charset="-122"/>
              </a:rPr>
              <a:t>守护程序</a:t>
            </a:r>
            <a:r>
              <a:rPr lang="en-US" altLang="zh-CN" dirty="0" err="1"/>
              <a:t>ftpd</a:t>
            </a:r>
            <a:r>
              <a:rPr lang="zh-CN" altLang="en-US" dirty="0">
                <a:solidFill>
                  <a:srgbClr val="00B0F0"/>
                </a:solidFill>
              </a:rPr>
              <a:t>响应</a:t>
            </a:r>
            <a:r>
              <a:rPr lang="zh-CN" altLang="en-US" dirty="0">
                <a:latin typeface="宋体" panose="02010600030101010101" pitchFamily="2" charset="-122"/>
              </a:rPr>
              <a:t>由</a:t>
            </a:r>
            <a:r>
              <a:rPr lang="en-US" altLang="zh-CN" smtClean="0"/>
              <a:t>inetd</a:t>
            </a:r>
            <a:r>
              <a:rPr lang="zh-CN" altLang="en-US" dirty="0">
                <a:latin typeface="宋体" panose="02010600030101010101" pitchFamily="2" charset="-122"/>
              </a:rPr>
              <a:t>接收的连接请求。当收到这样的请求时，</a:t>
            </a:r>
            <a:r>
              <a:rPr lang="en-US" altLang="zh-CN" dirty="0" err="1"/>
              <a:t>ftpd</a:t>
            </a:r>
            <a:r>
              <a:rPr lang="zh-CN" altLang="en-US" dirty="0">
                <a:solidFill>
                  <a:srgbClr val="00B0F0"/>
                </a:solidFill>
              </a:rPr>
              <a:t>要求客户登录</a:t>
            </a:r>
            <a:r>
              <a:rPr lang="zh-CN" altLang="en-US" dirty="0">
                <a:latin typeface="宋体" panose="02010600030101010101" pitchFamily="2" charset="-122"/>
              </a:rPr>
              <a:t>，用户必须提供合法的登录名和口令，或者以匿名登录。一旦登录成功就可完成文件传输请求。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文本占位符 37890"/>
          <p:cNvSpPr>
            <a:spLocks noGrp="1"/>
          </p:cNvSpPr>
          <p:nvPr>
            <p:ph idx="1"/>
          </p:nvPr>
        </p:nvSpPr>
        <p:spPr>
          <a:xfrm>
            <a:off x="1060705" y="1652250"/>
            <a:ext cx="10119360" cy="3121621"/>
          </a:xfrm>
        </p:spPr>
        <p:txBody>
          <a:bodyPr anchor="t"/>
          <a:lstStyle/>
          <a:p>
            <a:pPr algn="just"/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远程登录协议</a:t>
            </a:r>
            <a:r>
              <a:rPr lang="en-US" altLang="zh-CN" dirty="0"/>
              <a:t>TELNET</a:t>
            </a:r>
            <a:r>
              <a:rPr lang="zh-CN" altLang="en-US" dirty="0">
                <a:latin typeface="宋体" panose="02010600030101010101" pitchFamily="2" charset="-122"/>
              </a:rPr>
              <a:t>是一个简单的远程终端协议。用户使用</a:t>
            </a:r>
            <a:r>
              <a:rPr lang="en-US" altLang="zh-CN" dirty="0"/>
              <a:t>TELNET</a:t>
            </a:r>
            <a:r>
              <a:rPr lang="zh-CN" altLang="en-US" dirty="0">
                <a:latin typeface="宋体" panose="02010600030101010101" pitchFamily="2" charset="-122"/>
              </a:rPr>
              <a:t>可</a:t>
            </a:r>
            <a:r>
              <a:rPr lang="zh-CN" altLang="en-US" dirty="0">
                <a:solidFill>
                  <a:srgbClr val="00B0F0"/>
                </a:solidFill>
              </a:rPr>
              <a:t>登录到远地的另一个主机上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r>
              <a:rPr lang="en-US" altLang="zh-CN" dirty="0"/>
              <a:t>TELNET</a:t>
            </a:r>
            <a:r>
              <a:rPr lang="zh-CN" altLang="en-US" dirty="0">
                <a:latin typeface="宋体" panose="02010600030101010101" pitchFamily="2" charset="-122"/>
              </a:rPr>
              <a:t>能将用户的击键传到远地主机，同时也能将远地主机的输出通过</a:t>
            </a:r>
            <a:r>
              <a:rPr lang="en-US" altLang="zh-CN" dirty="0"/>
              <a:t>TCP</a:t>
            </a:r>
            <a:r>
              <a:rPr lang="zh-CN" altLang="en-US" dirty="0">
                <a:latin typeface="宋体" panose="02010600030101010101" pitchFamily="2" charset="-122"/>
              </a:rPr>
              <a:t>连接返回到用户屏幕。这种服务是透明的，感觉好像键盘和显示器是直接连在远地主机上。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57475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373852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远程登录协议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TELNET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2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38913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39938" name="文本占位符 38914"/>
          <p:cNvSpPr>
            <a:spLocks noGrp="1"/>
          </p:cNvSpPr>
          <p:nvPr>
            <p:ph idx="1"/>
          </p:nvPr>
        </p:nvSpPr>
        <p:spPr>
          <a:xfrm>
            <a:off x="1207009" y="2076289"/>
            <a:ext cx="10107168" cy="3178464"/>
          </a:xfrm>
        </p:spPr>
        <p:txBody>
          <a:bodyPr anchor="t"/>
          <a:lstStyle/>
          <a:p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登录</a:t>
            </a:r>
            <a:r>
              <a:rPr lang="zh-CN" altLang="en-US" dirty="0">
                <a:latin typeface="宋体" panose="02010600030101010101" pitchFamily="2" charset="-122"/>
              </a:rPr>
              <a:t>时登录者首先将自己的用户名和口令传送给系统，系统确认登录者身份才正式和远端用户建立连接。如果不外加保密措施，用户的身份信息都是明码传输的。登录成功后远程用户可以访问远地主机上的文件或数据库。</a:t>
            </a:r>
            <a:r>
              <a:rPr lang="en-US" altLang="zh-CN" dirty="0"/>
              <a:t>TELNET</a:t>
            </a:r>
            <a:r>
              <a:rPr lang="zh-CN" altLang="en-US" dirty="0">
                <a:latin typeface="宋体" panose="02010600030101010101" pitchFamily="2" charset="-122"/>
              </a:rPr>
              <a:t>也使用</a:t>
            </a:r>
            <a:r>
              <a:rPr lang="en-US" altLang="zh-CN" dirty="0">
                <a:solidFill>
                  <a:srgbClr val="00B0F0"/>
                </a:solidFill>
              </a:rPr>
              <a:t>Client/Server</a:t>
            </a:r>
            <a:r>
              <a:rPr lang="zh-CN" altLang="en-US" dirty="0">
                <a:latin typeface="宋体" panose="02010600030101010101" pitchFamily="2" charset="-122"/>
              </a:rPr>
              <a:t>模式。</a:t>
            </a:r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占位符 39938"/>
          <p:cNvSpPr>
            <a:spLocks noGrp="1"/>
          </p:cNvSpPr>
          <p:nvPr>
            <p:ph idx="1"/>
          </p:nvPr>
        </p:nvSpPr>
        <p:spPr>
          <a:xfrm>
            <a:off x="1057475" y="1581002"/>
            <a:ext cx="10069704" cy="3454130"/>
          </a:xfrm>
        </p:spPr>
        <p:txBody>
          <a:bodyPr anchor="t"/>
          <a:lstStyle/>
          <a:p>
            <a:r>
              <a:rPr lang="en-US" altLang="zh-CN" dirty="0"/>
              <a:t>       </a:t>
            </a:r>
            <a:r>
              <a:rPr lang="en-US" altLang="zh-CN" dirty="0" smtClean="0"/>
              <a:t>SMTP(Simple </a:t>
            </a:r>
            <a:r>
              <a:rPr lang="en-US" altLang="zh-CN" dirty="0"/>
              <a:t>Mail Transfer Protocol)</a:t>
            </a:r>
            <a:r>
              <a:rPr lang="zh-CN" altLang="en-US" dirty="0">
                <a:latin typeface="宋体" panose="02010600030101010101" pitchFamily="2" charset="-122"/>
              </a:rPr>
              <a:t>是一个保证可靠高效地传输邮件的协议。</a:t>
            </a:r>
            <a:r>
              <a:rPr lang="en-US" altLang="zh-CN" dirty="0"/>
              <a:t>SMTP</a:t>
            </a:r>
            <a:r>
              <a:rPr lang="zh-CN" altLang="en-US" dirty="0">
                <a:latin typeface="宋体" panose="02010600030101010101" pitchFamily="2" charset="-122"/>
              </a:rPr>
              <a:t>也使用</a:t>
            </a:r>
            <a:r>
              <a:rPr lang="en-US" altLang="zh-CN" dirty="0">
                <a:solidFill>
                  <a:srgbClr val="00B0F0"/>
                </a:solidFill>
              </a:rPr>
              <a:t>Client/Sever</a:t>
            </a:r>
            <a:r>
              <a:rPr lang="zh-CN" altLang="en-US" dirty="0">
                <a:latin typeface="宋体" panose="02010600030101010101" pitchFamily="2" charset="-122"/>
              </a:rPr>
              <a:t>模式，发送邮件的</a:t>
            </a:r>
            <a:r>
              <a:rPr lang="en-US" altLang="zh-CN" dirty="0"/>
              <a:t>SMTP</a:t>
            </a:r>
            <a:r>
              <a:rPr lang="zh-CN" altLang="en-US" dirty="0">
                <a:latin typeface="宋体" panose="02010600030101010101" pitchFamily="2" charset="-122"/>
              </a:rPr>
              <a:t>进程是</a:t>
            </a:r>
            <a:r>
              <a:rPr lang="en-US" altLang="zh-CN" dirty="0"/>
              <a:t>SMTP client</a:t>
            </a:r>
            <a:r>
              <a:rPr lang="zh-CN" altLang="en-US" dirty="0">
                <a:latin typeface="宋体" panose="02010600030101010101" pitchFamily="2" charset="-122"/>
              </a:rPr>
              <a:t>，而接收邮件的</a:t>
            </a:r>
            <a:r>
              <a:rPr lang="en-US" altLang="zh-CN" dirty="0"/>
              <a:t>SMTP</a:t>
            </a:r>
            <a:r>
              <a:rPr lang="zh-CN" altLang="en-US" dirty="0">
                <a:latin typeface="宋体" panose="02010600030101010101" pitchFamily="2" charset="-122"/>
              </a:rPr>
              <a:t>进程就是</a:t>
            </a:r>
            <a:r>
              <a:rPr lang="en-US" altLang="zh-CN" dirty="0"/>
              <a:t>SMTP server</a:t>
            </a:r>
            <a:r>
              <a:rPr lang="zh-CN" altLang="en-US" dirty="0">
                <a:latin typeface="宋体" panose="02010600030101010101" pitchFamily="2" charset="-122"/>
              </a:rPr>
              <a:t>。注意，</a:t>
            </a:r>
            <a:r>
              <a:rPr lang="en-US" altLang="zh-CN" dirty="0"/>
              <a:t>SMTP client 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/>
              <a:t>SMTP server</a:t>
            </a:r>
            <a:r>
              <a:rPr lang="zh-CN" altLang="en-US" dirty="0">
                <a:latin typeface="宋体" panose="02010600030101010101" pitchFamily="2" charset="-122"/>
              </a:rPr>
              <a:t>分别是发信人主机和收信人主机的</a:t>
            </a:r>
            <a:r>
              <a:rPr lang="en-US" altLang="zh-CN" dirty="0"/>
              <a:t>SMTP</a:t>
            </a:r>
            <a:r>
              <a:rPr lang="zh-CN" altLang="en-US" dirty="0">
                <a:latin typeface="宋体" panose="02010600030101010101" pitchFamily="2" charset="-122"/>
              </a:rPr>
              <a:t>后台进程，并不是发信人和收信人本身。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57475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40767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简单邮件传输协议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SMTP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3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6"/>
          <p:cNvSpPr/>
          <p:nvPr/>
        </p:nvSpPr>
        <p:spPr>
          <a:xfrm>
            <a:off x="1223028" y="679405"/>
            <a:ext cx="9722880" cy="610407"/>
          </a:xfrm>
          <a:prstGeom prst="roundRect">
            <a:avLst>
              <a:gd name="adj" fmla="val 13726"/>
            </a:avLst>
          </a:prstGeom>
          <a:solidFill>
            <a:srgbClr val="0F73EE"/>
          </a:solidFill>
          <a:ln w="19050">
            <a:solidFill>
              <a:schemeClr val="bg1"/>
            </a:solidFill>
            <a:prstDash val="sysDot"/>
            <a:headEnd type="oval" w="lg" len="lg"/>
            <a:tailEnd type="oval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962" name="标题 40961"/>
          <p:cNvSpPr>
            <a:spLocks noGrp="1"/>
          </p:cNvSpPr>
          <p:nvPr>
            <p:ph type="title"/>
          </p:nvPr>
        </p:nvSpPr>
        <p:spPr>
          <a:xfrm>
            <a:off x="1330604" y="682153"/>
            <a:ext cx="10852237" cy="6480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>
              <a:spcAft>
                <a:spcPct val="0"/>
              </a:spcAft>
              <a:defRPr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在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SMTP client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和</a:t>
            </a:r>
            <a:r>
              <a:rPr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SMTP server</a:t>
            </a: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之间的工作过程如下： 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41986" name="文本占位符 40962"/>
          <p:cNvSpPr>
            <a:spLocks noGrp="1"/>
          </p:cNvSpPr>
          <p:nvPr>
            <p:ph idx="1"/>
          </p:nvPr>
        </p:nvSpPr>
        <p:spPr>
          <a:xfrm>
            <a:off x="1048513" y="1296000"/>
            <a:ext cx="10131552" cy="5041355"/>
          </a:xfrm>
        </p:spPr>
        <p:txBody>
          <a:bodyPr anchor="t"/>
          <a:lstStyle/>
          <a:p>
            <a:pPr algn="just"/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）建立</a:t>
            </a:r>
            <a:r>
              <a:rPr lang="en-US" altLang="zh-CN" sz="2800" dirty="0"/>
              <a:t>TCP</a:t>
            </a:r>
            <a:r>
              <a:rPr lang="zh-CN" altLang="en-US" sz="2800" dirty="0"/>
              <a:t>连接</a:t>
            </a:r>
            <a:endParaRPr lang="zh-CN" altLang="en-US" sz="2800" dirty="0"/>
          </a:p>
          <a:p>
            <a:pPr algn="just"/>
            <a:r>
              <a:rPr lang="zh-CN" altLang="en-US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 smtClean="0">
                <a:latin typeface="宋体" panose="02010600030101010101" pitchFamily="2" charset="-122"/>
              </a:rPr>
              <a:t>当</a:t>
            </a:r>
            <a:r>
              <a:rPr lang="zh-CN" altLang="en-US" sz="2800" dirty="0">
                <a:latin typeface="宋体" panose="02010600030101010101" pitchFamily="2" charset="-122"/>
              </a:rPr>
              <a:t>用户主机的</a:t>
            </a:r>
            <a:r>
              <a:rPr lang="en-US" altLang="zh-CN" sz="2800" dirty="0"/>
              <a:t>SMTP client</a:t>
            </a:r>
            <a:r>
              <a:rPr lang="zh-CN" altLang="en-US" sz="2800" dirty="0">
                <a:latin typeface="宋体" panose="02010600030101010101" pitchFamily="2" charset="-122"/>
              </a:rPr>
              <a:t>进程向目的主机的</a:t>
            </a:r>
            <a:r>
              <a:rPr lang="en-US" altLang="zh-CN" sz="2800" dirty="0"/>
              <a:t>SMTP server</a:t>
            </a:r>
            <a:r>
              <a:rPr lang="zh-CN" altLang="en-US" sz="2800" dirty="0">
                <a:latin typeface="宋体" panose="02010600030101010101" pitchFamily="2" charset="-122"/>
              </a:rPr>
              <a:t>的</a:t>
            </a:r>
            <a:r>
              <a:rPr lang="en-US" altLang="zh-CN" dirty="0">
                <a:solidFill>
                  <a:srgbClr val="00B0F0"/>
                </a:solidFill>
              </a:rPr>
              <a:t>25</a:t>
            </a:r>
            <a:r>
              <a:rPr lang="zh-CN" altLang="en-US" dirty="0">
                <a:solidFill>
                  <a:srgbClr val="00B0F0"/>
                </a:solidFill>
              </a:rPr>
              <a:t>号端口</a:t>
            </a:r>
            <a:r>
              <a:rPr lang="zh-CN" altLang="en-US" sz="2800" dirty="0">
                <a:latin typeface="宋体" panose="02010600030101010101" pitchFamily="2" charset="-122"/>
              </a:rPr>
              <a:t>发出一个</a:t>
            </a:r>
            <a:r>
              <a:rPr lang="en-US" altLang="zh-CN" sz="2800" dirty="0"/>
              <a:t>TCP</a:t>
            </a:r>
            <a:r>
              <a:rPr lang="zh-CN" altLang="en-US" sz="2800" dirty="0">
                <a:latin typeface="宋体" panose="02010600030101010101" pitchFamily="2" charset="-122"/>
              </a:rPr>
              <a:t>连接请求后，就等待服务器回答。</a:t>
            </a:r>
            <a:r>
              <a:rPr lang="en-US" altLang="zh-CN" sz="2800" dirty="0"/>
              <a:t>SMTP server</a:t>
            </a:r>
            <a:r>
              <a:rPr lang="zh-CN" altLang="en-US" sz="2800" dirty="0">
                <a:latin typeface="宋体" panose="02010600030101010101" pitchFamily="2" charset="-122"/>
              </a:rPr>
              <a:t>服务器就会启动并且发回一系列的文本信息表明其身份，同时告诉用户主机是否它已经准备好接收邮件。如果</a:t>
            </a:r>
            <a:r>
              <a:rPr lang="en-US" altLang="zh-CN" sz="2800" dirty="0"/>
              <a:t>SMTP server</a:t>
            </a:r>
            <a:r>
              <a:rPr lang="zh-CN" altLang="en-US" sz="2800" dirty="0">
                <a:latin typeface="宋体" panose="02010600030101010101" pitchFamily="2" charset="-122"/>
              </a:rPr>
              <a:t>没有准备好，</a:t>
            </a:r>
            <a:r>
              <a:rPr lang="en-US" altLang="zh-CN" sz="2800" dirty="0"/>
              <a:t>SMTP client</a:t>
            </a:r>
            <a:r>
              <a:rPr lang="zh-CN" altLang="en-US" sz="2800" dirty="0">
                <a:latin typeface="宋体" panose="02010600030101010101" pitchFamily="2" charset="-122"/>
              </a:rPr>
              <a:t>就取消连接，稍后再试。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41985"/>
          <p:cNvSpPr>
            <a:spLocks noGrp="1"/>
          </p:cNvSpPr>
          <p:nvPr>
            <p:ph type="title"/>
          </p:nvPr>
        </p:nvSpPr>
        <p:spPr>
          <a:xfrm>
            <a:off x="2209800" y="457200"/>
            <a:ext cx="7772400" cy="7620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43010" name="文本占位符 41986"/>
          <p:cNvSpPr>
            <a:spLocks noGrp="1"/>
          </p:cNvSpPr>
          <p:nvPr>
            <p:ph idx="1"/>
          </p:nvPr>
        </p:nvSpPr>
        <p:spPr>
          <a:xfrm>
            <a:off x="1188720" y="1341120"/>
            <a:ext cx="9814560" cy="4572000"/>
          </a:xfrm>
        </p:spPr>
        <p:txBody>
          <a:bodyPr anchor="t"/>
          <a:lstStyle/>
          <a:p>
            <a:pPr algn="just"/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）传送邮件</a:t>
            </a:r>
            <a:endParaRPr lang="zh-CN" altLang="en-US" sz="2800" dirty="0"/>
          </a:p>
          <a:p>
            <a:pPr algn="just"/>
            <a:r>
              <a:rPr lang="zh-CN" altLang="en-US" sz="2800" dirty="0"/>
              <a:t>       </a:t>
            </a:r>
            <a:r>
              <a:rPr lang="zh-CN" altLang="en-US" sz="2800" dirty="0" smtClean="0"/>
              <a:t>如果</a:t>
            </a:r>
            <a:r>
              <a:rPr lang="en-US" altLang="zh-CN" sz="2800" dirty="0"/>
              <a:t>SMTP server</a:t>
            </a:r>
            <a:r>
              <a:rPr lang="zh-CN" altLang="en-US" sz="2800" dirty="0"/>
              <a:t>同意接收邮件，就可以建立起</a:t>
            </a:r>
            <a:r>
              <a:rPr lang="zh-CN" altLang="en-US" dirty="0">
                <a:solidFill>
                  <a:srgbClr val="00B0F0"/>
                </a:solidFill>
              </a:rPr>
              <a:t>双向的</a:t>
            </a:r>
            <a:r>
              <a:rPr lang="en-US" altLang="zh-CN" dirty="0">
                <a:solidFill>
                  <a:srgbClr val="00B0F0"/>
                </a:solidFill>
              </a:rPr>
              <a:t>TCP</a:t>
            </a:r>
            <a:r>
              <a:rPr lang="zh-CN" altLang="en-US" dirty="0">
                <a:solidFill>
                  <a:srgbClr val="00B0F0"/>
                </a:solidFill>
              </a:rPr>
              <a:t>连接</a:t>
            </a:r>
            <a:r>
              <a:rPr lang="zh-CN" altLang="en-US" sz="2800" dirty="0"/>
              <a:t>。</a:t>
            </a:r>
            <a:r>
              <a:rPr lang="en-US" altLang="zh-CN" sz="2800" dirty="0"/>
              <a:t>SMTP client</a:t>
            </a:r>
            <a:r>
              <a:rPr lang="zh-CN" altLang="en-US" sz="2800" dirty="0"/>
              <a:t>发出一个</a:t>
            </a:r>
            <a:r>
              <a:rPr lang="en-US" altLang="zh-CN" sz="2800" dirty="0"/>
              <a:t>MAIL</a:t>
            </a:r>
            <a:r>
              <a:rPr lang="zh-CN" altLang="en-US" sz="2800" dirty="0"/>
              <a:t>指令，</a:t>
            </a:r>
            <a:r>
              <a:rPr lang="en-US" altLang="zh-CN" sz="2800" dirty="0"/>
              <a:t>MAIL</a:t>
            </a:r>
            <a:r>
              <a:rPr lang="zh-CN" altLang="en-US" sz="2800" dirty="0"/>
              <a:t>命令后是发信人的地址、发送给一个或者多个收信人的</a:t>
            </a:r>
            <a:r>
              <a:rPr lang="en-US" altLang="zh-CN" sz="2800" dirty="0"/>
              <a:t>RCPT</a:t>
            </a:r>
            <a:r>
              <a:rPr lang="zh-CN" altLang="en-US" sz="2800" dirty="0"/>
              <a:t>命令以及</a:t>
            </a:r>
            <a:r>
              <a:rPr lang="en-US" altLang="zh-CN" sz="2800" dirty="0"/>
              <a:t>DATA</a:t>
            </a:r>
            <a:r>
              <a:rPr lang="zh-CN" altLang="en-US" sz="2800" dirty="0"/>
              <a:t>命令，表明开始传送邮件的内容。</a:t>
            </a:r>
            <a:endParaRPr lang="zh-CN" altLang="en-US" sz="2800" dirty="0"/>
          </a:p>
          <a:p>
            <a:r>
              <a:rPr lang="zh-CN" altLang="en-US" sz="2800" dirty="0"/>
              <a:t>       </a:t>
            </a:r>
            <a:r>
              <a:rPr lang="zh-CN" altLang="en-US" sz="2800" dirty="0" smtClean="0">
                <a:latin typeface="宋体" panose="02010600030101010101" pitchFamily="2" charset="-122"/>
              </a:rPr>
              <a:t>整个</a:t>
            </a:r>
            <a:r>
              <a:rPr lang="zh-CN" altLang="en-US" sz="2800" dirty="0">
                <a:latin typeface="宋体" panose="02010600030101010101" pitchFamily="2" charset="-122"/>
              </a:rPr>
              <a:t>邮件传送过程中，</a:t>
            </a:r>
            <a:r>
              <a:rPr lang="en-US" altLang="zh-CN" sz="2800" dirty="0"/>
              <a:t>SMTP</a:t>
            </a:r>
            <a:r>
              <a:rPr lang="zh-CN" altLang="en-US" sz="2800" dirty="0">
                <a:latin typeface="宋体" panose="02010600030101010101" pitchFamily="2" charset="-122"/>
              </a:rPr>
              <a:t>无须对邮件进行校验，因为</a:t>
            </a:r>
            <a:r>
              <a:rPr lang="en-US" altLang="zh-CN" sz="2800" dirty="0"/>
              <a:t>TCP</a:t>
            </a:r>
            <a:r>
              <a:rPr lang="zh-CN" altLang="en-US" sz="2800" dirty="0">
                <a:latin typeface="宋体" panose="02010600030101010101" pitchFamily="2" charset="-122"/>
              </a:rPr>
              <a:t>协议已经保证了邮件传输的可靠性。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3009"/>
          <p:cNvSpPr>
            <a:spLocks noGrp="1"/>
          </p:cNvSpPr>
          <p:nvPr>
            <p:ph type="title"/>
          </p:nvPr>
        </p:nvSpPr>
        <p:spPr>
          <a:xfrm>
            <a:off x="2209800" y="609600"/>
            <a:ext cx="7772400" cy="6858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44034" name="文本占位符 43010"/>
          <p:cNvSpPr>
            <a:spLocks noGrp="1"/>
          </p:cNvSpPr>
          <p:nvPr>
            <p:ph idx="1"/>
          </p:nvPr>
        </p:nvSpPr>
        <p:spPr>
          <a:xfrm>
            <a:off x="1042416" y="1515457"/>
            <a:ext cx="10107168" cy="4007520"/>
          </a:xfrm>
        </p:spPr>
        <p:txBody>
          <a:bodyPr anchor="t"/>
          <a:lstStyle/>
          <a:p>
            <a:pPr algn="just">
              <a:lnSpc>
                <a:spcPct val="9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）释放连接</a:t>
            </a:r>
            <a:endParaRPr lang="zh-CN" altLang="en-US" sz="2800" dirty="0"/>
          </a:p>
          <a:p>
            <a:pPr algn="just">
              <a:lnSpc>
                <a:spcPct val="90000"/>
              </a:lnSpc>
            </a:pPr>
            <a:r>
              <a:rPr lang="zh-CN" altLang="en-US" sz="2800" dirty="0"/>
              <a:t>       </a:t>
            </a:r>
            <a:r>
              <a:rPr lang="zh-CN" altLang="en-US" sz="2800" dirty="0" smtClean="0"/>
              <a:t>当</a:t>
            </a:r>
            <a:r>
              <a:rPr lang="zh-CN" altLang="en-US" sz="2800" dirty="0"/>
              <a:t>所有的邮件发送完毕后，</a:t>
            </a:r>
            <a:r>
              <a:rPr lang="en-US" altLang="zh-CN" sz="2800" dirty="0"/>
              <a:t>SMTP client</a:t>
            </a:r>
            <a:r>
              <a:rPr lang="zh-CN" altLang="en-US" sz="2800" dirty="0"/>
              <a:t>发出</a:t>
            </a:r>
            <a:r>
              <a:rPr lang="en-US" altLang="zh-CN" sz="2800" dirty="0"/>
              <a:t>QUIT</a:t>
            </a:r>
            <a:r>
              <a:rPr lang="zh-CN" altLang="en-US" sz="2800" dirty="0"/>
              <a:t>命令释放</a:t>
            </a:r>
            <a:r>
              <a:rPr lang="en-US" altLang="zh-CN" sz="2800" dirty="0"/>
              <a:t>TCP</a:t>
            </a:r>
            <a:r>
              <a:rPr lang="zh-CN" altLang="en-US" sz="2800" dirty="0"/>
              <a:t>连接，</a:t>
            </a:r>
            <a:r>
              <a:rPr lang="en-US" altLang="zh-CN" sz="2800" dirty="0"/>
              <a:t>SMTP server</a:t>
            </a:r>
            <a:r>
              <a:rPr lang="zh-CN" altLang="en-US" sz="2800" dirty="0"/>
              <a:t>返回释放确认信息，整个邮件传送过程结束。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 smtClean="0">
                <a:latin typeface="宋体" panose="02010600030101010101" pitchFamily="2" charset="-122"/>
              </a:rPr>
              <a:t>尽管</a:t>
            </a:r>
            <a:r>
              <a:rPr lang="en-US" altLang="zh-CN" sz="2800" dirty="0"/>
              <a:t>SMTP</a:t>
            </a:r>
            <a:r>
              <a:rPr lang="zh-CN" altLang="en-US" sz="2800" dirty="0">
                <a:latin typeface="宋体" panose="02010600030101010101" pitchFamily="2" charset="-122"/>
              </a:rPr>
              <a:t>很简单实用，但是</a:t>
            </a:r>
            <a:r>
              <a:rPr lang="zh-CN" altLang="en-US" sz="2800" dirty="0">
                <a:solidFill>
                  <a:srgbClr val="FF6600"/>
                </a:solidFill>
                <a:latin typeface="宋体" panose="02010600030101010101" pitchFamily="2" charset="-122"/>
              </a:rPr>
              <a:t>由于其选项的错误的配置的原因会带来无数的安全漏洞。</a:t>
            </a:r>
            <a:r>
              <a:rPr lang="zh-CN" altLang="en-US" sz="2800" dirty="0">
                <a:solidFill>
                  <a:srgbClr val="FF6600"/>
                </a:solidFill>
              </a:rPr>
              <a:t> </a:t>
            </a:r>
            <a:endParaRPr lang="zh-CN" altLang="en-US" sz="2800" dirty="0">
              <a:solidFill>
                <a:srgbClr val="FF66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占位符 44034"/>
          <p:cNvSpPr>
            <a:spLocks noGrp="1"/>
          </p:cNvSpPr>
          <p:nvPr>
            <p:ph idx="1"/>
          </p:nvPr>
        </p:nvSpPr>
        <p:spPr>
          <a:xfrm>
            <a:off x="1217251" y="1779325"/>
            <a:ext cx="9865277" cy="4114800"/>
          </a:xfrm>
        </p:spPr>
        <p:txBody>
          <a:bodyPr anchor="t"/>
          <a:lstStyle/>
          <a:p>
            <a:pPr algn="just"/>
            <a:r>
              <a:rPr lang="en-US" altLang="zh-CN" dirty="0"/>
              <a:t>       </a:t>
            </a:r>
            <a:r>
              <a:rPr lang="en-US" altLang="zh-CN" dirty="0" smtClean="0"/>
              <a:t>HTTP </a:t>
            </a:r>
            <a:r>
              <a:rPr lang="en-US" altLang="zh-CN" dirty="0"/>
              <a:t>(Hyper Text Transfer Protocol)</a:t>
            </a:r>
            <a:r>
              <a:rPr lang="zh-CN" altLang="en-US" dirty="0">
                <a:latin typeface="宋体" panose="02010600030101010101" pitchFamily="2" charset="-122"/>
              </a:rPr>
              <a:t>协议允许用户浏览网络，因而它可能是所有协议中最著名的。它具有分布、协同超媒体信息系统所必须的轻巧和速度。它是一个普通的、面向对象的协议，可用于许多任务</a:t>
            </a:r>
            <a:r>
              <a:rPr lang="zh-CN" altLang="en-US" dirty="0" smtClean="0">
                <a:latin typeface="宋体" panose="02010600030101010101" pitchFamily="2" charset="-122"/>
              </a:rPr>
              <a:t>，如</a:t>
            </a:r>
            <a:r>
              <a:rPr lang="en-US" altLang="zh-CN" dirty="0" smtClean="0">
                <a:latin typeface="宋体" panose="02010600030101010101" pitchFamily="2" charset="-122"/>
              </a:rPr>
              <a:t>:</a:t>
            </a:r>
            <a:r>
              <a:rPr lang="zh-CN" altLang="en-US" dirty="0" smtClean="0">
                <a:latin typeface="宋体" panose="02010600030101010101" pitchFamily="2" charset="-122"/>
              </a:rPr>
              <a:t>域名</a:t>
            </a:r>
            <a:r>
              <a:rPr lang="zh-CN" altLang="en-US" dirty="0">
                <a:latin typeface="宋体" panose="02010600030101010101" pitchFamily="2" charset="-122"/>
              </a:rPr>
              <a:t>服务器、分布式对象管理系统等。</a:t>
            </a:r>
            <a:r>
              <a:rPr lang="en-US" altLang="zh-CN" dirty="0"/>
              <a:t>HTTP</a:t>
            </a:r>
            <a:r>
              <a:rPr lang="zh-CN" altLang="en-US" dirty="0">
                <a:latin typeface="宋体" panose="02010600030101010101" pitchFamily="2" charset="-122"/>
              </a:rPr>
              <a:t>的一个特点就是数据描述的归类，允许建立传输数据系统。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057475" y="637786"/>
            <a:ext cx="7294100" cy="840284"/>
            <a:chOff x="3135993" y="1051060"/>
            <a:chExt cx="7294100" cy="840284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6590667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368081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超文本传输协议</a:t>
              </a: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HTTP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95769" y="1051060"/>
              <a:ext cx="49244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800" b="1" i="1" dirty="0" smtClean="0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4</a:t>
              </a:r>
              <a:endParaRPr lang="zh-CN" altLang="en-US" sz="4800" b="1" i="1" dirty="0">
                <a:solidFill>
                  <a:schemeClr val="accent5">
                    <a:lumMod val="50000"/>
                  </a:schemeClr>
                </a:solidFill>
                <a:latin typeface="+mj-lt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135993" y="1748864"/>
              <a:ext cx="703433" cy="0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  <a:prstDash val="sysDot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882588" y="3563471"/>
            <a:ext cx="2702859" cy="484094"/>
          </a:xfrm>
          <a:prstGeom prst="roundRect">
            <a:avLst/>
          </a:prstGeom>
          <a:solidFill>
            <a:srgbClr val="FFFFFF">
              <a:alpha val="5882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82" name="文本占位符 45058"/>
          <p:cNvSpPr>
            <a:spLocks noGrp="1"/>
          </p:cNvSpPr>
          <p:nvPr>
            <p:ph idx="1"/>
          </p:nvPr>
        </p:nvSpPr>
        <p:spPr>
          <a:xfrm>
            <a:off x="710227" y="1296000"/>
            <a:ext cx="10852237" cy="5041355"/>
          </a:xfrm>
        </p:spPr>
        <p:txBody>
          <a:bodyPr anchor="t"/>
          <a:lstStyle/>
          <a:p>
            <a:pPr algn="just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）简单请求方式（</a:t>
            </a:r>
            <a:r>
              <a:rPr lang="en-US" altLang="zh-CN" dirty="0"/>
              <a:t>simple request</a:t>
            </a:r>
            <a:r>
              <a:rPr lang="zh-CN" altLang="en-US" dirty="0"/>
              <a:t>）</a:t>
            </a:r>
            <a:endParaRPr lang="zh-CN" altLang="en-US" dirty="0"/>
          </a:p>
          <a:p>
            <a:pPr algn="just"/>
            <a:r>
              <a:rPr lang="zh-CN" altLang="en-US" dirty="0"/>
              <a:t>       </a:t>
            </a:r>
            <a:r>
              <a:rPr lang="zh-CN" altLang="en-US" dirty="0" smtClean="0"/>
              <a:t>简单</a:t>
            </a:r>
            <a:r>
              <a:rPr lang="zh-CN" altLang="en-US" dirty="0"/>
              <a:t>请求只是一个没有协议及版本号的命令行（如</a:t>
            </a:r>
            <a:r>
              <a:rPr lang="en-US" altLang="zh-CN" dirty="0"/>
              <a:t>GET</a:t>
            </a:r>
            <a:r>
              <a:rPr lang="zh-CN" altLang="en-US" dirty="0"/>
              <a:t>命令），命令后是要获取的页面的</a:t>
            </a:r>
            <a:r>
              <a:rPr lang="en-US" altLang="zh-CN" b="1" dirty="0"/>
              <a:t>URL</a:t>
            </a:r>
            <a:r>
              <a:rPr lang="zh-CN" altLang="en-US" dirty="0"/>
              <a:t>（</a:t>
            </a:r>
            <a:r>
              <a:rPr lang="en-US" altLang="zh-CN" dirty="0"/>
              <a:t>Uniform Resource Locator</a:t>
            </a:r>
            <a:r>
              <a:rPr lang="zh-CN" altLang="en-US" dirty="0"/>
              <a:t>）。</a:t>
            </a:r>
            <a:endParaRPr lang="zh-CN" altLang="en-US" dirty="0"/>
          </a:p>
          <a:p>
            <a:r>
              <a:rPr lang="zh-CN" altLang="en-US" dirty="0">
                <a:latin typeface="宋体" panose="02010600030101010101" pitchFamily="2" charset="-122"/>
              </a:rPr>
              <a:t>    </a:t>
            </a:r>
            <a:r>
              <a:rPr lang="zh-CN" altLang="en-US" dirty="0" smtClean="0">
                <a:latin typeface="宋体" panose="02010600030101010101" pitchFamily="2" charset="-122"/>
              </a:rPr>
              <a:t>简单</a:t>
            </a:r>
            <a:r>
              <a:rPr lang="zh-CN" altLang="en-US" dirty="0">
                <a:latin typeface="宋体" panose="02010600030101010101" pitchFamily="2" charset="-122"/>
              </a:rPr>
              <a:t>请求方式的格式是：</a:t>
            </a:r>
            <a:endParaRPr lang="zh-CN" altLang="en-US" dirty="0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       </a:t>
            </a:r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命令</a:t>
            </a:r>
            <a:r>
              <a:rPr lang="en-US" altLang="zh-CN" dirty="0">
                <a:solidFill>
                  <a:schemeClr val="folHlink"/>
                </a:solidFill>
              </a:rPr>
              <a:t>+</a:t>
            </a:r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页面的</a:t>
            </a:r>
            <a:r>
              <a:rPr lang="en-US" altLang="zh-CN" dirty="0">
                <a:solidFill>
                  <a:schemeClr val="folHlink"/>
                </a:solidFill>
              </a:rPr>
              <a:t>URL</a:t>
            </a:r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994426" y="558381"/>
            <a:ext cx="5332312" cy="610407"/>
            <a:chOff x="3839427" y="1280937"/>
            <a:chExt cx="5332312" cy="610407"/>
          </a:xfrm>
        </p:grpSpPr>
        <p:sp>
          <p:nvSpPr>
            <p:cNvPr id="6" name="矩形: 圆角 6"/>
            <p:cNvSpPr/>
            <p:nvPr/>
          </p:nvSpPr>
          <p:spPr>
            <a:xfrm>
              <a:off x="3839427" y="1280937"/>
              <a:ext cx="5332312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3972879" y="1333399"/>
              <a:ext cx="519885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HTTP</a:t>
              </a: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有两种类型的请求方式： 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994426" y="3563470"/>
            <a:ext cx="6401456" cy="1062317"/>
          </a:xfrm>
          <a:prstGeom prst="roundRect">
            <a:avLst/>
          </a:prstGeom>
          <a:solidFill>
            <a:srgbClr val="FFFFFF">
              <a:alpha val="5882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82" name="标题 46081"/>
          <p:cNvSpPr>
            <a:spLocks noGrp="1"/>
          </p:cNvSpPr>
          <p:nvPr>
            <p:ph type="title"/>
          </p:nvPr>
        </p:nvSpPr>
        <p:spPr/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en-US" altLang="zh-CN" strike="noStrike" noProof="1"/>
              <a:t> </a:t>
            </a:r>
            <a:endParaRPr lang="en-US" altLang="zh-CN" strike="noStrike" noProof="1"/>
          </a:p>
        </p:txBody>
      </p:sp>
      <p:sp>
        <p:nvSpPr>
          <p:cNvPr id="47106" name="文本占位符 46082"/>
          <p:cNvSpPr>
            <a:spLocks noGrp="1"/>
          </p:cNvSpPr>
          <p:nvPr>
            <p:ph idx="1"/>
          </p:nvPr>
        </p:nvSpPr>
        <p:spPr>
          <a:xfrm>
            <a:off x="1003046" y="1274064"/>
            <a:ext cx="10079482" cy="4114800"/>
          </a:xfrm>
        </p:spPr>
        <p:txBody>
          <a:bodyPr anchor="t"/>
          <a:lstStyle/>
          <a:p>
            <a:pPr algn="just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）完全请求方式</a:t>
            </a:r>
            <a:r>
              <a:rPr lang="en-US" altLang="zh-CN" dirty="0"/>
              <a:t>(full request)</a:t>
            </a:r>
            <a:endParaRPr lang="en-US" altLang="zh-CN" dirty="0"/>
          </a:p>
          <a:p>
            <a:pPr algn="just"/>
            <a:r>
              <a:rPr lang="en-US" altLang="zh-CN" dirty="0"/>
              <a:t>       </a:t>
            </a:r>
            <a:r>
              <a:rPr lang="zh-CN" altLang="en-US" dirty="0" smtClean="0"/>
              <a:t>完全</a:t>
            </a:r>
            <a:r>
              <a:rPr lang="zh-CN" altLang="en-US" dirty="0"/>
              <a:t>请求是在命令和页面的</a:t>
            </a:r>
            <a:r>
              <a:rPr lang="en-US" altLang="zh-CN" dirty="0"/>
              <a:t>URL</a:t>
            </a:r>
            <a:r>
              <a:rPr lang="zh-CN" altLang="en-US" dirty="0"/>
              <a:t>之后，还必须给出协议及版本号，而且使用一个空白行作为请求的结束。</a:t>
            </a:r>
            <a:endParaRPr lang="zh-CN" altLang="en-US" dirty="0"/>
          </a:p>
          <a:p>
            <a:pPr algn="just"/>
            <a:r>
              <a:rPr lang="zh-CN" altLang="en-US" dirty="0"/>
              <a:t>       </a:t>
            </a:r>
            <a:r>
              <a:rPr lang="zh-CN" altLang="en-US" dirty="0" smtClean="0"/>
              <a:t>完全</a:t>
            </a:r>
            <a:r>
              <a:rPr lang="zh-CN" altLang="en-US" dirty="0"/>
              <a:t>请求方式的格式为：</a:t>
            </a:r>
            <a:endParaRPr lang="zh-CN" altLang="en-US" dirty="0"/>
          </a:p>
          <a:p>
            <a:pPr algn="just"/>
            <a:r>
              <a:rPr lang="zh-CN" altLang="en-US" dirty="0">
                <a:solidFill>
                  <a:schemeClr val="folHlink"/>
                </a:solidFill>
              </a:rPr>
              <a:t>命令（如</a:t>
            </a:r>
            <a:r>
              <a:rPr lang="en-US" altLang="zh-CN" dirty="0">
                <a:solidFill>
                  <a:schemeClr val="folHlink"/>
                </a:solidFill>
              </a:rPr>
              <a:t>GET</a:t>
            </a:r>
            <a:r>
              <a:rPr lang="zh-CN" altLang="en-US" dirty="0">
                <a:solidFill>
                  <a:schemeClr val="folHlink"/>
                </a:solidFill>
              </a:rPr>
              <a:t>）</a:t>
            </a:r>
            <a:r>
              <a:rPr lang="en-US" altLang="zh-CN" dirty="0">
                <a:solidFill>
                  <a:schemeClr val="folHlink"/>
                </a:solidFill>
              </a:rPr>
              <a:t>+ </a:t>
            </a:r>
            <a:r>
              <a:rPr lang="zh-CN" altLang="en-US" dirty="0">
                <a:solidFill>
                  <a:schemeClr val="folHlink"/>
                </a:solidFill>
              </a:rPr>
              <a:t>页面的</a:t>
            </a:r>
            <a:r>
              <a:rPr lang="en-US" altLang="zh-CN" dirty="0">
                <a:solidFill>
                  <a:schemeClr val="folHlink"/>
                </a:solidFill>
              </a:rPr>
              <a:t>URL + </a:t>
            </a:r>
            <a:r>
              <a:rPr lang="zh-CN" altLang="en-US" dirty="0">
                <a:solidFill>
                  <a:schemeClr val="folHlink"/>
                </a:solidFill>
              </a:rPr>
              <a:t>协议及版本</a:t>
            </a:r>
            <a:endParaRPr lang="zh-CN" altLang="en-US" dirty="0">
              <a:solidFill>
                <a:schemeClr val="folHlink"/>
              </a:solidFill>
            </a:endParaRPr>
          </a:p>
          <a:p>
            <a:r>
              <a:rPr lang="zh-CN" altLang="en-US" dirty="0">
                <a:solidFill>
                  <a:schemeClr val="folHlink"/>
                </a:solidFill>
                <a:latin typeface="宋体" panose="02010600030101010101" pitchFamily="2" charset="-122"/>
              </a:rPr>
              <a:t>空白行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994425" y="558381"/>
            <a:ext cx="5979925" cy="610407"/>
            <a:chOff x="3839426" y="1280937"/>
            <a:chExt cx="5979925" cy="610407"/>
          </a:xfrm>
        </p:grpSpPr>
        <p:sp>
          <p:nvSpPr>
            <p:cNvPr id="5" name="矩形: 圆角 6"/>
            <p:cNvSpPr/>
            <p:nvPr/>
          </p:nvSpPr>
          <p:spPr>
            <a:xfrm>
              <a:off x="3839426" y="1280937"/>
              <a:ext cx="5979925" cy="610407"/>
            </a:xfrm>
            <a:prstGeom prst="roundRect">
              <a:avLst>
                <a:gd name="adj" fmla="val 13726"/>
              </a:avLst>
            </a:prstGeom>
            <a:solidFill>
              <a:srgbClr val="0F73EE"/>
            </a:solidFill>
            <a:ln w="19050">
              <a:solidFill>
                <a:schemeClr val="bg1"/>
              </a:solidFill>
              <a:prstDash val="sysDot"/>
              <a:headEnd type="oval" w="lg" len="lg"/>
              <a:tailEnd type="oval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972879" y="1333399"/>
              <a:ext cx="584647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Aft>
                  <a:spcPct val="0"/>
                </a:spcAft>
                <a:defRPr/>
              </a:pPr>
              <a:r>
                <a:rPr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HTTP</a:t>
              </a:r>
              <a:r>
                <a:rPr lang="zh-CN" altLang="en-US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有两种类型的请求</a:t>
              </a:r>
              <a:r>
                <a:rPr lang="zh-CN" altLang="en-US" sz="2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方式：</a:t>
              </a:r>
              <a:r>
                <a:rPr lang="en-US" altLang="zh-CN" sz="2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(</a:t>
              </a:r>
              <a:r>
                <a:rPr lang="zh-CN" altLang="en-US" sz="2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续</a:t>
              </a:r>
              <a:r>
                <a:rPr lang="en-US" altLang="zh-CN" sz="2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)</a:t>
              </a:r>
              <a:r>
                <a:rPr lang="zh-CN" altLang="en-US" sz="2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 </a:t>
              </a:r>
              <a:endPara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47105"/>
          <p:cNvSpPr>
            <a:spLocks noGrp="1"/>
          </p:cNvSpPr>
          <p:nvPr>
            <p:ph type="title"/>
          </p:nvPr>
        </p:nvSpPr>
        <p:spPr>
          <a:xfrm>
            <a:off x="3143472" y="512064"/>
            <a:ext cx="7772400" cy="609600"/>
          </a:xfrm>
        </p:spPr>
        <p:txBody>
          <a:bodyPr vert="horz" lIns="92075" tIns="46038" rIns="92075" bIns="46038" rtlCol="0" anchor="ctr" anchorCtr="0">
            <a:noAutofit/>
          </a:bodyPr>
          <a:lstStyle/>
          <a:p>
            <a:pPr fontAlgn="base"/>
            <a:r>
              <a:rPr lang="zh-CN" altLang="en-US" sz="3200" dirty="0">
                <a:latin typeface="宋体" panose="02010600030101010101" pitchFamily="2" charset="-122"/>
              </a:rPr>
              <a:t>表</a:t>
            </a:r>
            <a:r>
              <a:rPr lang="en-US" altLang="zh-CN" sz="3200" dirty="0"/>
              <a:t>2-2  HTTP</a:t>
            </a:r>
            <a:r>
              <a:rPr lang="zh-CN" altLang="en-US" sz="3200" dirty="0">
                <a:latin typeface="宋体" panose="02010600030101010101" pitchFamily="2" charset="-122"/>
              </a:rPr>
              <a:t>内置命令</a:t>
            </a:r>
            <a:r>
              <a:rPr lang="zh-CN" altLang="en-US" strike="noStrike" noProof="1"/>
              <a:t> </a:t>
            </a:r>
            <a:endParaRPr lang="zh-CN" altLang="en-US" strike="noStrike" noProof="1"/>
          </a:p>
        </p:txBody>
      </p:sp>
      <p:grpSp>
        <p:nvGrpSpPr>
          <p:cNvPr id="48130" name="组合 47157"/>
          <p:cNvGrpSpPr/>
          <p:nvPr/>
        </p:nvGrpSpPr>
        <p:grpSpPr>
          <a:xfrm>
            <a:off x="1905000" y="1319214"/>
            <a:ext cx="8229600" cy="5310187"/>
            <a:chOff x="-3" y="-3"/>
            <a:chExt cx="2404" cy="3345"/>
          </a:xfrm>
        </p:grpSpPr>
        <p:grpSp>
          <p:nvGrpSpPr>
            <p:cNvPr id="48131" name="组合 47155"/>
            <p:cNvGrpSpPr/>
            <p:nvPr/>
          </p:nvGrpSpPr>
          <p:grpSpPr>
            <a:xfrm>
              <a:off x="0" y="0"/>
              <a:ext cx="2398" cy="3339"/>
              <a:chOff x="0" y="0"/>
              <a:chExt cx="2398" cy="3339"/>
            </a:xfrm>
          </p:grpSpPr>
          <p:grpSp>
            <p:nvGrpSpPr>
              <p:cNvPr id="48132" name="组合 47124"/>
              <p:cNvGrpSpPr/>
              <p:nvPr/>
            </p:nvGrpSpPr>
            <p:grpSpPr>
              <a:xfrm>
                <a:off x="0" y="0"/>
                <a:ext cx="590" cy="403"/>
                <a:chOff x="0" y="0"/>
                <a:chExt cx="590" cy="403"/>
              </a:xfrm>
            </p:grpSpPr>
            <p:sp>
              <p:nvSpPr>
                <p:cNvPr id="48133" name="矩形 47107"/>
                <p:cNvSpPr/>
                <p:nvPr/>
              </p:nvSpPr>
              <p:spPr>
                <a:xfrm>
                  <a:off x="43" y="0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命令</a:t>
                  </a:r>
                  <a:endParaRPr lang="zh-CN" altLang="en-US" sz="2000" dirty="0"/>
                </a:p>
              </p:txBody>
            </p:sp>
            <p:sp>
              <p:nvSpPr>
                <p:cNvPr id="48134" name="矩形 47123"/>
                <p:cNvSpPr/>
                <p:nvPr/>
              </p:nvSpPr>
              <p:spPr>
                <a:xfrm>
                  <a:off x="0" y="0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35" name="组合 47126"/>
              <p:cNvGrpSpPr/>
              <p:nvPr/>
            </p:nvGrpSpPr>
            <p:grpSpPr>
              <a:xfrm>
                <a:off x="590" y="0"/>
                <a:ext cx="1808" cy="403"/>
                <a:chOff x="590" y="0"/>
                <a:chExt cx="1808" cy="403"/>
              </a:xfrm>
            </p:grpSpPr>
            <p:sp>
              <p:nvSpPr>
                <p:cNvPr id="48136" name="矩形 47108"/>
                <p:cNvSpPr/>
                <p:nvPr/>
              </p:nvSpPr>
              <p:spPr>
                <a:xfrm>
                  <a:off x="633" y="0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描述</a:t>
                  </a:r>
                  <a:endParaRPr lang="zh-CN" altLang="en-US" sz="2000" dirty="0"/>
                </a:p>
              </p:txBody>
            </p:sp>
            <p:sp>
              <p:nvSpPr>
                <p:cNvPr id="48137" name="矩形 47125"/>
                <p:cNvSpPr/>
                <p:nvPr/>
              </p:nvSpPr>
              <p:spPr>
                <a:xfrm>
                  <a:off x="590" y="0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38" name="组合 47128"/>
              <p:cNvGrpSpPr/>
              <p:nvPr/>
            </p:nvGrpSpPr>
            <p:grpSpPr>
              <a:xfrm>
                <a:off x="0" y="403"/>
                <a:ext cx="590" cy="403"/>
                <a:chOff x="0" y="403"/>
                <a:chExt cx="590" cy="403"/>
              </a:xfrm>
            </p:grpSpPr>
            <p:sp>
              <p:nvSpPr>
                <p:cNvPr id="48139" name="矩形 47109"/>
                <p:cNvSpPr/>
                <p:nvPr/>
              </p:nvSpPr>
              <p:spPr>
                <a:xfrm>
                  <a:off x="43" y="403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GET</a:t>
                  </a:r>
                  <a:endParaRPr lang="en-US" altLang="zh-CN" sz="2000"/>
                </a:p>
              </p:txBody>
            </p:sp>
            <p:sp>
              <p:nvSpPr>
                <p:cNvPr id="48140" name="矩形 47127"/>
                <p:cNvSpPr/>
                <p:nvPr/>
              </p:nvSpPr>
              <p:spPr>
                <a:xfrm>
                  <a:off x="0" y="403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41" name="组合 47130"/>
              <p:cNvGrpSpPr/>
              <p:nvPr/>
            </p:nvGrpSpPr>
            <p:grpSpPr>
              <a:xfrm>
                <a:off x="590" y="403"/>
                <a:ext cx="1808" cy="403"/>
                <a:chOff x="590" y="403"/>
                <a:chExt cx="1808" cy="403"/>
              </a:xfrm>
            </p:grpSpPr>
            <p:sp>
              <p:nvSpPr>
                <p:cNvPr id="48142" name="矩形 47110"/>
                <p:cNvSpPr/>
                <p:nvPr/>
              </p:nvSpPr>
              <p:spPr>
                <a:xfrm>
                  <a:off x="633" y="403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请求读取一个</a:t>
                  </a:r>
                  <a:r>
                    <a:rPr lang="en-US" altLang="zh-CN" sz="2000" dirty="0"/>
                    <a:t>Web</a:t>
                  </a:r>
                  <a:r>
                    <a:rPr lang="zh-CN" altLang="en-US" sz="2000" dirty="0"/>
                    <a:t>页面</a:t>
                  </a:r>
                  <a:endParaRPr lang="zh-CN" altLang="en-US" sz="2000" dirty="0"/>
                </a:p>
              </p:txBody>
            </p:sp>
            <p:sp>
              <p:nvSpPr>
                <p:cNvPr id="48143" name="矩形 47129"/>
                <p:cNvSpPr/>
                <p:nvPr/>
              </p:nvSpPr>
              <p:spPr>
                <a:xfrm>
                  <a:off x="590" y="403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44" name="组合 47132"/>
              <p:cNvGrpSpPr/>
              <p:nvPr/>
            </p:nvGrpSpPr>
            <p:grpSpPr>
              <a:xfrm>
                <a:off x="0" y="806"/>
                <a:ext cx="590" cy="403"/>
                <a:chOff x="0" y="806"/>
                <a:chExt cx="590" cy="403"/>
              </a:xfrm>
            </p:grpSpPr>
            <p:sp>
              <p:nvSpPr>
                <p:cNvPr id="48145" name="矩形 47111"/>
                <p:cNvSpPr/>
                <p:nvPr/>
              </p:nvSpPr>
              <p:spPr>
                <a:xfrm>
                  <a:off x="43" y="806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HEAD</a:t>
                  </a:r>
                  <a:endParaRPr lang="en-US" altLang="zh-CN" sz="2000"/>
                </a:p>
              </p:txBody>
            </p:sp>
            <p:sp>
              <p:nvSpPr>
                <p:cNvPr id="48146" name="矩形 47131"/>
                <p:cNvSpPr/>
                <p:nvPr/>
              </p:nvSpPr>
              <p:spPr>
                <a:xfrm>
                  <a:off x="0" y="806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47" name="组合 47134"/>
              <p:cNvGrpSpPr/>
              <p:nvPr/>
            </p:nvGrpSpPr>
            <p:grpSpPr>
              <a:xfrm>
                <a:off x="590" y="806"/>
                <a:ext cx="1808" cy="403"/>
                <a:chOff x="590" y="806"/>
                <a:chExt cx="1808" cy="403"/>
              </a:xfrm>
            </p:grpSpPr>
            <p:sp>
              <p:nvSpPr>
                <p:cNvPr id="48148" name="矩形 47112"/>
                <p:cNvSpPr/>
                <p:nvPr/>
              </p:nvSpPr>
              <p:spPr>
                <a:xfrm>
                  <a:off x="633" y="806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请求读取一个</a:t>
                  </a:r>
                  <a:r>
                    <a:rPr lang="en-US" altLang="zh-CN" sz="2000" dirty="0"/>
                    <a:t>Web</a:t>
                  </a:r>
                  <a:r>
                    <a:rPr lang="zh-CN" altLang="en-US" sz="2000" dirty="0"/>
                    <a:t>页面的头部</a:t>
                  </a:r>
                  <a:endParaRPr lang="zh-CN" altLang="en-US" sz="2000" dirty="0"/>
                </a:p>
              </p:txBody>
            </p:sp>
            <p:sp>
              <p:nvSpPr>
                <p:cNvPr id="48149" name="矩形 47133"/>
                <p:cNvSpPr/>
                <p:nvPr/>
              </p:nvSpPr>
              <p:spPr>
                <a:xfrm>
                  <a:off x="590" y="806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50" name="组合 47136"/>
              <p:cNvGrpSpPr/>
              <p:nvPr/>
            </p:nvGrpSpPr>
            <p:grpSpPr>
              <a:xfrm>
                <a:off x="0" y="1209"/>
                <a:ext cx="590" cy="403"/>
                <a:chOff x="0" y="1209"/>
                <a:chExt cx="590" cy="403"/>
              </a:xfrm>
            </p:grpSpPr>
            <p:sp>
              <p:nvSpPr>
                <p:cNvPr id="48151" name="矩形 47113"/>
                <p:cNvSpPr/>
                <p:nvPr/>
              </p:nvSpPr>
              <p:spPr>
                <a:xfrm>
                  <a:off x="43" y="1209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PUT</a:t>
                  </a:r>
                  <a:endParaRPr lang="en-US" altLang="zh-CN" sz="2000"/>
                </a:p>
              </p:txBody>
            </p:sp>
            <p:sp>
              <p:nvSpPr>
                <p:cNvPr id="48152" name="矩形 47135"/>
                <p:cNvSpPr/>
                <p:nvPr/>
              </p:nvSpPr>
              <p:spPr>
                <a:xfrm>
                  <a:off x="0" y="1209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53" name="组合 47138"/>
              <p:cNvGrpSpPr/>
              <p:nvPr/>
            </p:nvGrpSpPr>
            <p:grpSpPr>
              <a:xfrm>
                <a:off x="590" y="1209"/>
                <a:ext cx="1808" cy="403"/>
                <a:chOff x="590" y="1209"/>
                <a:chExt cx="1808" cy="403"/>
              </a:xfrm>
            </p:grpSpPr>
            <p:sp>
              <p:nvSpPr>
                <p:cNvPr id="48154" name="矩形 47114"/>
                <p:cNvSpPr/>
                <p:nvPr/>
              </p:nvSpPr>
              <p:spPr>
                <a:xfrm>
                  <a:off x="633" y="1209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请求存储一个</a:t>
                  </a:r>
                  <a:r>
                    <a:rPr lang="en-US" altLang="zh-CN" sz="2000" dirty="0"/>
                    <a:t>Web</a:t>
                  </a:r>
                  <a:r>
                    <a:rPr lang="zh-CN" altLang="en-US" sz="2000" dirty="0"/>
                    <a:t>页面</a:t>
                  </a:r>
                  <a:endParaRPr lang="zh-CN" altLang="en-US" sz="2000" dirty="0"/>
                </a:p>
              </p:txBody>
            </p:sp>
            <p:sp>
              <p:nvSpPr>
                <p:cNvPr id="48155" name="矩形 47137"/>
                <p:cNvSpPr/>
                <p:nvPr/>
              </p:nvSpPr>
              <p:spPr>
                <a:xfrm>
                  <a:off x="590" y="1209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56" name="组合 47140"/>
              <p:cNvGrpSpPr/>
              <p:nvPr/>
            </p:nvGrpSpPr>
            <p:grpSpPr>
              <a:xfrm>
                <a:off x="0" y="1612"/>
                <a:ext cx="590" cy="518"/>
                <a:chOff x="0" y="1612"/>
                <a:chExt cx="590" cy="518"/>
              </a:xfrm>
            </p:grpSpPr>
            <p:sp>
              <p:nvSpPr>
                <p:cNvPr id="48157" name="矩形 47115"/>
                <p:cNvSpPr/>
                <p:nvPr/>
              </p:nvSpPr>
              <p:spPr>
                <a:xfrm>
                  <a:off x="43" y="1612"/>
                  <a:ext cx="504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POST</a:t>
                  </a:r>
                  <a:endParaRPr lang="en-US" altLang="zh-CN" sz="2000"/>
                </a:p>
              </p:txBody>
            </p:sp>
            <p:sp>
              <p:nvSpPr>
                <p:cNvPr id="48158" name="矩形 47139"/>
                <p:cNvSpPr/>
                <p:nvPr/>
              </p:nvSpPr>
              <p:spPr>
                <a:xfrm>
                  <a:off x="0" y="1612"/>
                  <a:ext cx="590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59" name="组合 47142"/>
              <p:cNvGrpSpPr/>
              <p:nvPr/>
            </p:nvGrpSpPr>
            <p:grpSpPr>
              <a:xfrm>
                <a:off x="590" y="1612"/>
                <a:ext cx="1808" cy="518"/>
                <a:chOff x="590" y="1612"/>
                <a:chExt cx="1808" cy="518"/>
              </a:xfrm>
            </p:grpSpPr>
            <p:sp>
              <p:nvSpPr>
                <p:cNvPr id="48160" name="矩形 47116"/>
                <p:cNvSpPr/>
                <p:nvPr/>
              </p:nvSpPr>
              <p:spPr>
                <a:xfrm>
                  <a:off x="633" y="1612"/>
                  <a:ext cx="1722" cy="51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附上一个指定的资源（如一个</a:t>
                  </a:r>
                  <a:r>
                    <a:rPr lang="en-US" altLang="zh-CN" sz="2000" dirty="0"/>
                    <a:t>Web</a:t>
                  </a:r>
                  <a:r>
                    <a:rPr lang="zh-CN" altLang="en-US" sz="2000" dirty="0"/>
                    <a:t>页面）</a:t>
                  </a:r>
                  <a:endParaRPr lang="zh-CN" altLang="en-US" sz="2000" dirty="0"/>
                </a:p>
              </p:txBody>
            </p:sp>
            <p:sp>
              <p:nvSpPr>
                <p:cNvPr id="48161" name="矩形 47141"/>
                <p:cNvSpPr/>
                <p:nvPr/>
              </p:nvSpPr>
              <p:spPr>
                <a:xfrm>
                  <a:off x="590" y="1612"/>
                  <a:ext cx="1808" cy="51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62" name="组合 47144"/>
              <p:cNvGrpSpPr/>
              <p:nvPr/>
            </p:nvGrpSpPr>
            <p:grpSpPr>
              <a:xfrm>
                <a:off x="0" y="2130"/>
                <a:ext cx="590" cy="403"/>
                <a:chOff x="0" y="2130"/>
                <a:chExt cx="590" cy="403"/>
              </a:xfrm>
            </p:grpSpPr>
            <p:sp>
              <p:nvSpPr>
                <p:cNvPr id="48163" name="矩形 47117"/>
                <p:cNvSpPr/>
                <p:nvPr/>
              </p:nvSpPr>
              <p:spPr>
                <a:xfrm>
                  <a:off x="43" y="2130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DELETE</a:t>
                  </a:r>
                  <a:endParaRPr lang="en-US" altLang="zh-CN" sz="2000"/>
                </a:p>
              </p:txBody>
            </p:sp>
            <p:sp>
              <p:nvSpPr>
                <p:cNvPr id="48164" name="矩形 47143"/>
                <p:cNvSpPr/>
                <p:nvPr/>
              </p:nvSpPr>
              <p:spPr>
                <a:xfrm>
                  <a:off x="0" y="2130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65" name="组合 47146"/>
              <p:cNvGrpSpPr/>
              <p:nvPr/>
            </p:nvGrpSpPr>
            <p:grpSpPr>
              <a:xfrm>
                <a:off x="590" y="2130"/>
                <a:ext cx="1808" cy="403"/>
                <a:chOff x="590" y="2130"/>
                <a:chExt cx="1808" cy="403"/>
              </a:xfrm>
            </p:grpSpPr>
            <p:sp>
              <p:nvSpPr>
                <p:cNvPr id="48166" name="矩形 47118"/>
                <p:cNvSpPr/>
                <p:nvPr/>
              </p:nvSpPr>
              <p:spPr>
                <a:xfrm>
                  <a:off x="633" y="2130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删除</a:t>
                  </a:r>
                  <a:r>
                    <a:rPr lang="en-US" altLang="zh-CN" sz="2000" dirty="0"/>
                    <a:t>Web</a:t>
                  </a:r>
                  <a:r>
                    <a:rPr lang="zh-CN" altLang="en-US" sz="2000" dirty="0"/>
                    <a:t>页面</a:t>
                  </a:r>
                  <a:endParaRPr lang="zh-CN" altLang="en-US" sz="2000" dirty="0"/>
                </a:p>
              </p:txBody>
            </p:sp>
            <p:sp>
              <p:nvSpPr>
                <p:cNvPr id="48167" name="矩形 47145"/>
                <p:cNvSpPr/>
                <p:nvPr/>
              </p:nvSpPr>
              <p:spPr>
                <a:xfrm>
                  <a:off x="590" y="2130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68" name="组合 47148"/>
              <p:cNvGrpSpPr/>
              <p:nvPr/>
            </p:nvGrpSpPr>
            <p:grpSpPr>
              <a:xfrm>
                <a:off x="0" y="2533"/>
                <a:ext cx="590" cy="403"/>
                <a:chOff x="0" y="2533"/>
                <a:chExt cx="590" cy="403"/>
              </a:xfrm>
            </p:grpSpPr>
            <p:sp>
              <p:nvSpPr>
                <p:cNvPr id="48169" name="矩形 47119"/>
                <p:cNvSpPr/>
                <p:nvPr/>
              </p:nvSpPr>
              <p:spPr>
                <a:xfrm>
                  <a:off x="43" y="2533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LINK</a:t>
                  </a:r>
                  <a:endParaRPr lang="en-US" altLang="zh-CN" sz="2000"/>
                </a:p>
              </p:txBody>
            </p:sp>
            <p:sp>
              <p:nvSpPr>
                <p:cNvPr id="48170" name="矩形 47147"/>
                <p:cNvSpPr/>
                <p:nvPr/>
              </p:nvSpPr>
              <p:spPr>
                <a:xfrm>
                  <a:off x="0" y="2533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71" name="组合 47150"/>
              <p:cNvGrpSpPr/>
              <p:nvPr/>
            </p:nvGrpSpPr>
            <p:grpSpPr>
              <a:xfrm>
                <a:off x="590" y="2533"/>
                <a:ext cx="1808" cy="403"/>
                <a:chOff x="590" y="2533"/>
                <a:chExt cx="1808" cy="403"/>
              </a:xfrm>
            </p:grpSpPr>
            <p:sp>
              <p:nvSpPr>
                <p:cNvPr id="48172" name="矩形 47120"/>
                <p:cNvSpPr/>
                <p:nvPr/>
              </p:nvSpPr>
              <p:spPr>
                <a:xfrm>
                  <a:off x="633" y="2533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连接两个资源（如</a:t>
                  </a:r>
                  <a:r>
                    <a:rPr lang="en-US" altLang="zh-CN" sz="2000" dirty="0"/>
                    <a:t>Web</a:t>
                  </a:r>
                  <a:r>
                    <a:rPr lang="zh-CN" altLang="en-US" sz="2000" dirty="0"/>
                    <a:t>页面）</a:t>
                  </a:r>
                  <a:endParaRPr lang="zh-CN" altLang="en-US" sz="2000" dirty="0"/>
                </a:p>
              </p:txBody>
            </p:sp>
            <p:sp>
              <p:nvSpPr>
                <p:cNvPr id="48173" name="矩形 47149"/>
                <p:cNvSpPr/>
                <p:nvPr/>
              </p:nvSpPr>
              <p:spPr>
                <a:xfrm>
                  <a:off x="590" y="2533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74" name="组合 47152"/>
              <p:cNvGrpSpPr/>
              <p:nvPr/>
            </p:nvGrpSpPr>
            <p:grpSpPr>
              <a:xfrm>
                <a:off x="0" y="2936"/>
                <a:ext cx="590" cy="403"/>
                <a:chOff x="0" y="2936"/>
                <a:chExt cx="590" cy="403"/>
              </a:xfrm>
            </p:grpSpPr>
            <p:sp>
              <p:nvSpPr>
                <p:cNvPr id="48175" name="矩形 47121"/>
                <p:cNvSpPr/>
                <p:nvPr/>
              </p:nvSpPr>
              <p:spPr>
                <a:xfrm>
                  <a:off x="43" y="2936"/>
                  <a:ext cx="504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zh-CN" sz="2000"/>
                    <a:t>UNLINK</a:t>
                  </a:r>
                  <a:endParaRPr lang="en-US" altLang="zh-CN" sz="2000"/>
                </a:p>
              </p:txBody>
            </p:sp>
            <p:sp>
              <p:nvSpPr>
                <p:cNvPr id="48176" name="矩形 47151"/>
                <p:cNvSpPr/>
                <p:nvPr/>
              </p:nvSpPr>
              <p:spPr>
                <a:xfrm>
                  <a:off x="0" y="2936"/>
                  <a:ext cx="590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  <p:grpSp>
            <p:nvGrpSpPr>
              <p:cNvPr id="48177" name="组合 47154"/>
              <p:cNvGrpSpPr/>
              <p:nvPr/>
            </p:nvGrpSpPr>
            <p:grpSpPr>
              <a:xfrm>
                <a:off x="590" y="2936"/>
                <a:ext cx="1808" cy="403"/>
                <a:chOff x="590" y="2936"/>
                <a:chExt cx="1808" cy="403"/>
              </a:xfrm>
            </p:grpSpPr>
            <p:sp>
              <p:nvSpPr>
                <p:cNvPr id="48178" name="矩形 47122"/>
                <p:cNvSpPr/>
                <p:nvPr/>
              </p:nvSpPr>
              <p:spPr>
                <a:xfrm>
                  <a:off x="633" y="2936"/>
                  <a:ext cx="1722" cy="40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ctr"/>
                <a:lstStyle/>
                <a:p>
                  <a:pPr algn="ctr"/>
                  <a:r>
                    <a:rPr lang="zh-CN" altLang="en-US" sz="2000" dirty="0"/>
                    <a:t>断连两个资源</a:t>
                  </a:r>
                  <a:endParaRPr lang="zh-CN" altLang="en-US" sz="2000" dirty="0"/>
                </a:p>
              </p:txBody>
            </p:sp>
            <p:sp>
              <p:nvSpPr>
                <p:cNvPr id="48179" name="矩形 47153"/>
                <p:cNvSpPr/>
                <p:nvPr/>
              </p:nvSpPr>
              <p:spPr>
                <a:xfrm>
                  <a:off x="590" y="2936"/>
                  <a:ext cx="1808" cy="403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/>
                <a:lstStyle/>
                <a:p>
                  <a:pPr algn="ctr"/>
                  <a:endParaRPr lang="zh-CN" altLang="en-US" sz="2000"/>
                </a:p>
              </p:txBody>
            </p:sp>
          </p:grpSp>
        </p:grpSp>
        <p:sp>
          <p:nvSpPr>
            <p:cNvPr id="48180" name="矩形 47156"/>
            <p:cNvSpPr/>
            <p:nvPr/>
          </p:nvSpPr>
          <p:spPr>
            <a:xfrm>
              <a:off x="-3" y="-3"/>
              <a:ext cx="2404" cy="3345"/>
            </a:xfrm>
            <a:prstGeom prst="rect">
              <a:avLst/>
            </a:prstGeom>
            <a:noFill/>
            <a:ln w="9525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algn="ctr"/>
              <a:endParaRPr lang="zh-CN" altLang="en-US" sz="20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ISLIDE.VECTOR" val="28b0fd0e-7ece-4f48-881a-83c93b08799b"/>
</p:tagLst>
</file>

<file path=ppt/tags/tag4.xml><?xml version="1.0" encoding="utf-8"?>
<p:tagLst xmlns:p="http://schemas.openxmlformats.org/presentationml/2006/main">
  <p:tag name="ISLIDE.VECTOR" val="28b0fd0e-7ece-4f48-881a-83c93b08799b"/>
</p:tagLst>
</file>

<file path=ppt/tags/tag5.xml><?xml version="1.0" encoding="utf-8"?>
<p:tagLst xmlns:p="http://schemas.openxmlformats.org/presentationml/2006/main">
  <p:tag name="COMMONDATA" val="eyJoZGlkIjoiMzA1MzljY2Y4ZTIwNzk1OWIzMzdhZjMwODJlM2M5MWEifQ=="/>
  <p:tag name="commondata" val="eyJoZGlkIjoiODVjMzBjMjkyM2FmNTZlZjhmZmMxZWVhN2I1ZDYwZmEifQ==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 CN Normal">
      <a:majorFont>
        <a:latin typeface="Times New Roman"/>
        <a:ea typeface="思源黑体 CN Normal"/>
        <a:cs typeface=""/>
      </a:majorFont>
      <a:minorFont>
        <a:latin typeface="Times New Roman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7162</Words>
  <Application>WPS 演示</Application>
  <PresentationFormat>宽屏</PresentationFormat>
  <Paragraphs>385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Arial</vt:lpstr>
      <vt:lpstr>宋体</vt:lpstr>
      <vt:lpstr>Wingdings</vt:lpstr>
      <vt:lpstr>Times New Roman</vt:lpstr>
      <vt:lpstr>黑体</vt:lpstr>
      <vt:lpstr>隶书</vt:lpstr>
      <vt:lpstr>华文行楷</vt:lpstr>
      <vt:lpstr>思源黑体 CN Heavy</vt:lpstr>
      <vt:lpstr>微软雅黑 Light</vt:lpstr>
      <vt:lpstr>微软雅黑</vt:lpstr>
      <vt:lpstr>Arial Unicode MS</vt:lpstr>
      <vt:lpstr>思源黑体 CN Normal</vt:lpstr>
      <vt:lpstr>等线</vt:lpstr>
      <vt:lpstr>Office 主题​​</vt:lpstr>
      <vt:lpstr>《信息对抗技术》 电子讲稿</vt:lpstr>
      <vt:lpstr>PowerPoint 演示文稿</vt:lpstr>
      <vt:lpstr>PowerPoint 演示文稿</vt:lpstr>
      <vt:lpstr>图2-1 OSI/RM和TCP/IP参考模型比较 </vt:lpstr>
      <vt:lpstr>PowerPoint 演示文稿</vt:lpstr>
      <vt:lpstr>PowerPoint 演示文稿</vt:lpstr>
      <vt:lpstr> 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PowerPoint 演示文稿</vt:lpstr>
      <vt:lpstr> </vt:lpstr>
      <vt:lpstr> </vt:lpstr>
      <vt:lpstr> </vt:lpstr>
      <vt:lpstr> </vt:lpstr>
      <vt:lpstr>PowerPoint 演示文稿</vt:lpstr>
      <vt:lpstr>PowerPoint 演示文稿</vt:lpstr>
      <vt:lpstr>表2-1  ICMP主要的消息类型  </vt:lpstr>
      <vt:lpstr>TCP/IP传输层协议包括： </vt:lpstr>
      <vt:lpstr>PowerPoint 演示文稿</vt:lpstr>
      <vt:lpstr> </vt:lpstr>
      <vt:lpstr> </vt:lpstr>
      <vt:lpstr>PowerPoint 演示文稿</vt:lpstr>
      <vt:lpstr>PowerPoint 演示文稿</vt:lpstr>
      <vt:lpstr>PowerPoint 演示文稿</vt:lpstr>
      <vt:lpstr> </vt:lpstr>
      <vt:lpstr>PowerPoint 演示文稿</vt:lpstr>
      <vt:lpstr> </vt:lpstr>
      <vt:lpstr>PowerPoint 演示文稿</vt:lpstr>
      <vt:lpstr>在SMTP client和SMTP server之间的工作过程如下： </vt:lpstr>
      <vt:lpstr> </vt:lpstr>
      <vt:lpstr> </vt:lpstr>
      <vt:lpstr>PowerPoint 演示文稿</vt:lpstr>
      <vt:lpstr>PowerPoint 演示文稿</vt:lpstr>
      <vt:lpstr> </vt:lpstr>
      <vt:lpstr>表2-2  HTTP内置命令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Li安全</cp:lastModifiedBy>
  <cp:revision>194</cp:revision>
  <dcterms:created xsi:type="dcterms:W3CDTF">2019-09-27T01:23:00Z</dcterms:created>
  <dcterms:modified xsi:type="dcterms:W3CDTF">2026-03-24T09:51:08Z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0C00D456B9384FCAB3EA6CF932361B83</vt:lpwstr>
  </property>
</Properties>
</file>