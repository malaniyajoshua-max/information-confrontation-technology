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94" r:id="rId3"/>
    <p:sldId id="295" r:id="rId4"/>
    <p:sldId id="296" r:id="rId5"/>
    <p:sldId id="423" r:id="rId6"/>
    <p:sldId id="297" r:id="rId8"/>
    <p:sldId id="298" r:id="rId9"/>
    <p:sldId id="299" r:id="rId10"/>
    <p:sldId id="300" r:id="rId11"/>
    <p:sldId id="301" r:id="rId12"/>
    <p:sldId id="302" r:id="rId13"/>
    <p:sldId id="527" r:id="rId14"/>
    <p:sldId id="303" r:id="rId15"/>
    <p:sldId id="304" r:id="rId16"/>
    <p:sldId id="305" r:id="rId17"/>
    <p:sldId id="306" r:id="rId18"/>
    <p:sldId id="307" r:id="rId19"/>
    <p:sldId id="308" r:id="rId20"/>
    <p:sldId id="309" r:id="rId21"/>
    <p:sldId id="310" r:id="rId22"/>
    <p:sldId id="311" r:id="rId23"/>
    <p:sldId id="312" r:id="rId24"/>
    <p:sldId id="313" r:id="rId25"/>
    <p:sldId id="314" r:id="rId26"/>
    <p:sldId id="315" r:id="rId27"/>
    <p:sldId id="424" r:id="rId28"/>
    <p:sldId id="317" r:id="rId29"/>
    <p:sldId id="318" r:id="rId30"/>
    <p:sldId id="319" r:id="rId31"/>
    <p:sldId id="320" r:id="rId32"/>
    <p:sldId id="321" r:id="rId33"/>
    <p:sldId id="322" r:id="rId34"/>
    <p:sldId id="323" r:id="rId35"/>
    <p:sldId id="530" r:id="rId36"/>
    <p:sldId id="324" r:id="rId37"/>
    <p:sldId id="528" r:id="rId38"/>
    <p:sldId id="529" r:id="rId39"/>
    <p:sldId id="325" r:id="rId40"/>
    <p:sldId id="326" r:id="rId41"/>
    <p:sldId id="327" r:id="rId42"/>
    <p:sldId id="329" r:id="rId43"/>
    <p:sldId id="330" r:id="rId44"/>
    <p:sldId id="331" r:id="rId45"/>
    <p:sldId id="332" r:id="rId46"/>
    <p:sldId id="333" r:id="rId47"/>
    <p:sldId id="334" r:id="rId48"/>
    <p:sldId id="335" r:id="rId49"/>
    <p:sldId id="336" r:id="rId50"/>
    <p:sldId id="337" r:id="rId51"/>
    <p:sldId id="338" r:id="rId52"/>
    <p:sldId id="339" r:id="rId53"/>
    <p:sldId id="340" r:id="rId54"/>
    <p:sldId id="341" r:id="rId55"/>
    <p:sldId id="342" r:id="rId56"/>
    <p:sldId id="343" r:id="rId57"/>
    <p:sldId id="344" r:id="rId58"/>
    <p:sldId id="345" r:id="rId59"/>
    <p:sldId id="346" r:id="rId60"/>
    <p:sldId id="347" r:id="rId61"/>
    <p:sldId id="348" r:id="rId62"/>
    <p:sldId id="349" r:id="rId63"/>
    <p:sldId id="350" r:id="rId64"/>
    <p:sldId id="354" r:id="rId65"/>
    <p:sldId id="376" r:id="rId66"/>
    <p:sldId id="377" r:id="rId67"/>
    <p:sldId id="378" r:id="rId68"/>
    <p:sldId id="383" r:id="rId69"/>
    <p:sldId id="384" r:id="rId70"/>
    <p:sldId id="425" r:id="rId71"/>
    <p:sldId id="385" r:id="rId72"/>
    <p:sldId id="386" r:id="rId73"/>
    <p:sldId id="387" r:id="rId74"/>
    <p:sldId id="388" r:id="rId75"/>
    <p:sldId id="389" r:id="rId76"/>
    <p:sldId id="390" r:id="rId77"/>
    <p:sldId id="391" r:id="rId78"/>
    <p:sldId id="392" r:id="rId79"/>
    <p:sldId id="531" r:id="rId80"/>
    <p:sldId id="532" r:id="rId81"/>
    <p:sldId id="533" r:id="rId82"/>
    <p:sldId id="393" r:id="rId83"/>
    <p:sldId id="394" r:id="rId84"/>
    <p:sldId id="395" r:id="rId85"/>
    <p:sldId id="396" r:id="rId86"/>
    <p:sldId id="397" r:id="rId87"/>
    <p:sldId id="534" r:id="rId88"/>
    <p:sldId id="535" r:id="rId89"/>
    <p:sldId id="536" r:id="rId90"/>
    <p:sldId id="398" r:id="rId91"/>
  </p:sldIdLst>
  <p:sldSz cx="12192000" cy="6858000"/>
  <p:notesSz cx="6858000" cy="9144000"/>
  <p:custDataLst>
    <p:tags r:id="rId9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E3C9F7"/>
    <a:srgbClr val="6E0876"/>
    <a:srgbClr val="731AB6"/>
    <a:srgbClr val="740A47"/>
    <a:srgbClr val="720C4E"/>
    <a:srgbClr val="700E54"/>
    <a:srgbClr val="881DB3"/>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96" autoAdjust="0"/>
    <p:restoredTop sz="77608" autoAdjust="0"/>
  </p:normalViewPr>
  <p:slideViewPr>
    <p:cSldViewPr snapToGrid="0" showGuides="1">
      <p:cViewPr varScale="1">
        <p:scale>
          <a:sx n="87" d="100"/>
          <a:sy n="87" d="100"/>
        </p:scale>
        <p:origin x="408" y="84"/>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gs" Target="tags/tag11.xml"/><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第一代，是最原始的木马程序。主要是简单的密码窃取，通过电子邮件发送信息等，具备了木马最基本的功能。</a:t>
            </a:r>
            <a:endParaRPr lang="zh-CN" altLang="en-US"/>
          </a:p>
          <a:p>
            <a:r>
              <a:rPr lang="zh-CN" altLang="en-US"/>
              <a:t>   第二代，在技术上有了很大的进步，冰河是中国木马的典型代表之一。</a:t>
            </a:r>
            <a:endParaRPr lang="zh-CN" altLang="en-US"/>
          </a:p>
          <a:p>
            <a:r>
              <a:rPr lang="zh-CN" altLang="en-US"/>
              <a:t>   第三代，主要改进在数据传递技术方面，出现了ICMP等类型的木马，利用畸形报文传递数据，增加了杀毒软件查杀识别的难度。</a:t>
            </a:r>
            <a:endParaRPr lang="zh-CN" altLang="en-US"/>
          </a:p>
          <a:p>
            <a:r>
              <a:rPr lang="zh-CN" altLang="en-US"/>
              <a:t>   第四代，在进程隐藏方面有了很大改动，采用了内核插入式的嵌入方式，利用远程插入线程技术，嵌入DLL线程。或者挂接PSAPI，实现木马程序的隐藏，甚至在Windows NT/2000下，都达到了良好的隐藏效果。灰鸽子和蜜蜂大盗是比较出名的DLL木马。</a:t>
            </a:r>
            <a:endParaRPr lang="zh-CN" altLang="en-US"/>
          </a:p>
          <a:p>
            <a:r>
              <a:rPr lang="zh-CN" altLang="en-US"/>
              <a:t>   第五代，驱动级木马。驱动级木马多数都使用了大量的Rootkit技术来达到在深度隐藏的效果，并深入到内核空间的，感染后针对杀毒软件和网络防火墙进行攻击，可将系统SSDT初始化，导致杀毒防火墙失去效应。有的驱动级木马可驻留BIOS，并且很难查杀。</a:t>
            </a:r>
            <a:endParaRPr lang="zh-CN" altLang="en-US"/>
          </a:p>
          <a:p>
            <a:r>
              <a:rPr lang="zh-CN" altLang="en-US"/>
              <a:t>   第六代，随着身份认证UsbKey和杀毒软件主动防御的兴起，黏虫技术类型和特殊反显技术类型木马逐渐开始系统化。前者主要以盗取和篡改用户敏感信息为主，后者以动态口令和硬证书攻击为主。PassCopy和暗黑蜘蛛侠是这类木马的代表。</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101" name="标题 4100"/>
          <p:cNvSpPr>
            <a:spLocks noGrp="1"/>
          </p:cNvSpPr>
          <p:nvPr>
            <p:ph type="ctrTitle" sz="quarter"/>
          </p:nvPr>
        </p:nvSpPr>
        <p:spPr>
          <a:xfrm>
            <a:off x="1725084" y="762000"/>
            <a:ext cx="10363200" cy="1143000"/>
          </a:xfrm>
          <a:prstGeom prst="rect">
            <a:avLst/>
          </a:prstGeom>
          <a:noFill/>
          <a:ln w="9525">
            <a:noFill/>
          </a:ln>
        </p:spPr>
        <p:txBody>
          <a:bodyPr lIns="92075" tIns="46038" rIns="92075" bIns="46038" anchor="b"/>
          <a:lstStyle>
            <a:lvl1pPr lvl="0">
              <a:defRPr/>
            </a:lvl1pPr>
          </a:lstStyle>
          <a:p>
            <a:pPr lvl="0" fontAlgn="base"/>
            <a:r>
              <a:rPr lang="zh-CN" altLang="en-US" strike="noStrike" noProof="1"/>
              <a:t>单击此处编辑母版标题样式</a:t>
            </a:r>
            <a:endParaRPr lang="zh-CN" altLang="en-US" strike="noStrike" noProof="1"/>
          </a:p>
        </p:txBody>
      </p:sp>
      <p:sp>
        <p:nvSpPr>
          <p:cNvPr id="4102" name="副标题 4101"/>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fontAlgn="base"/>
            <a:r>
              <a:rPr lang="zh-CN" altLang="en-US" strike="noStrike" noProof="1"/>
              <a:t>单击此处编辑母版副标题样式</a:t>
            </a:r>
            <a:endParaRPr lang="zh-CN" altLang="en-US" strike="noStrike" noProof="1"/>
          </a:p>
        </p:txBody>
      </p:sp>
      <p:sp>
        <p:nvSpPr>
          <p:cNvPr id="4103" name="日期占位符 4102"/>
          <p:cNvSpPr>
            <a:spLocks noGrp="1"/>
          </p:cNvSpPr>
          <p:nvPr>
            <p:ph type="dt" sz="quarter" idx="2"/>
          </p:nvPr>
        </p:nvSpPr>
        <p:spPr>
          <a:xfrm>
            <a:off x="914400" y="6248400"/>
            <a:ext cx="2540000" cy="457200"/>
          </a:xfrm>
          <a:prstGeom prst="rect">
            <a:avLst/>
          </a:prstGeom>
          <a:noFill/>
          <a:ln w="9525">
            <a:noFill/>
          </a:ln>
        </p:spPr>
        <p:txBody>
          <a:bodyPr lIns="92075" tIns="46038" rIns="92075" bIns="46038" anchor="ctr"/>
          <a:lstStyle/>
          <a:p>
            <a:pPr fontAlgn="base"/>
            <a:fld id="{BB962C8B-B14F-4D97-AF65-F5344CB8AC3E}" type="datetime1">
              <a:rPr lang="zh-CN" altLang="en-US" strike="noStrike" noProof="1" dirty="0">
                <a:latin typeface="Times New Roman" panose="02020603050405020304" pitchFamily="18" charset="0"/>
                <a:ea typeface="宋体" panose="02010600030101010101" pitchFamily="2" charset="-122"/>
                <a:cs typeface="+mn-ea"/>
              </a:rPr>
            </a:fld>
            <a:endParaRPr lang="zh-CN" altLang="en-US" strike="noStrike" noProof="1"/>
          </a:p>
        </p:txBody>
      </p:sp>
      <p:sp>
        <p:nvSpPr>
          <p:cNvPr id="4104" name="页脚占位符 4103"/>
          <p:cNvSpPr>
            <a:spLocks noGrp="1"/>
          </p:cNvSpPr>
          <p:nvPr>
            <p:ph type="ftr" sz="quarter" idx="3"/>
          </p:nvPr>
        </p:nvSpPr>
        <p:spPr>
          <a:xfrm>
            <a:off x="4165600" y="6248400"/>
            <a:ext cx="3860800" cy="457200"/>
          </a:xfrm>
          <a:prstGeom prst="rect">
            <a:avLst/>
          </a:prstGeom>
          <a:noFill/>
          <a:ln w="9525">
            <a:noFill/>
          </a:ln>
        </p:spPr>
        <p:txBody>
          <a:bodyPr lIns="92075" tIns="46038" rIns="92075" bIns="46038" anchor="ctr"/>
          <a:lstStyle/>
          <a:p>
            <a:pPr fontAlgn="base"/>
            <a:endParaRPr lang="zh-CN" strike="noStrike" noProof="1"/>
          </a:p>
        </p:txBody>
      </p:sp>
      <p:sp>
        <p:nvSpPr>
          <p:cNvPr id="4105" name="灯片编号占位符 4104"/>
          <p:cNvSpPr>
            <a:spLocks noGrp="1"/>
          </p:cNvSpPr>
          <p:nvPr>
            <p:ph type="sldNum" sz="quarter" idx="4"/>
          </p:nvPr>
        </p:nvSpPr>
        <p:spPr>
          <a:xfrm>
            <a:off x="8737600" y="6248400"/>
            <a:ext cx="2540000" cy="457200"/>
          </a:xfrm>
          <a:prstGeom prst="rect">
            <a:avLst/>
          </a:prstGeom>
          <a:noFill/>
          <a:ln w="9525">
            <a:noFill/>
          </a:ln>
        </p:spPr>
        <p:txBody>
          <a:bodyPr lIns="92075" tIns="46038" rIns="92075" bIns="46038" anchor="ctr"/>
          <a:lstStyle/>
          <a:p>
            <a:pPr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Tree>
  </p:cSld>
  <p:clrMapOvr>
    <a:masterClrMapping/>
  </p:clrMapOvr>
  <p:timing>
    <p:tnLst>
      <p:par>
        <p:cTn id="1" dur="indefinite" restart="never" nodeType="tmRoot"/>
      </p:par>
    </p:tn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lvl1pPr>
              <a:defRPr sz="36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914400" y="6248400"/>
            <a:ext cx="2540000" cy="457200"/>
          </a:xfrm>
          <a:prstGeom prst="rect">
            <a:avLst/>
          </a:prstGeom>
          <a:noFill/>
          <a:ln w="9525">
            <a:noFill/>
          </a:ln>
        </p:spPr>
        <p:txBody>
          <a:bodyPr lIns="92075" tIns="46038" rIns="92075" bIns="46038" anchor="ctr"/>
          <a:lstStyle/>
          <a:p>
            <a:pPr lvl="0" fontAlgn="base"/>
            <a:endParaRPr lang="zh-CN" altLang="en-US" strike="noStrike" noProof="1"/>
          </a:p>
        </p:txBody>
      </p:sp>
      <p:sp>
        <p:nvSpPr>
          <p:cNvPr id="5" name="页脚占位符 4"/>
          <p:cNvSpPr>
            <a:spLocks noGrp="1"/>
          </p:cNvSpPr>
          <p:nvPr>
            <p:ph type="ftr" sz="quarter" idx="11"/>
          </p:nvPr>
        </p:nvSpPr>
        <p:spPr>
          <a:xfrm>
            <a:off x="4165600" y="6248400"/>
            <a:ext cx="3860800" cy="457200"/>
          </a:xfrm>
          <a:prstGeom prst="rect">
            <a:avLst/>
          </a:prstGeom>
          <a:noFill/>
          <a:ln w="9525">
            <a:noFill/>
          </a:ln>
        </p:spPr>
        <p:txBody>
          <a:bodyPr lIns="92075" tIns="46038" rIns="92075" bIns="46038" anchor="ctr"/>
          <a:lstStyle/>
          <a:p>
            <a:pPr lvl="0" fontAlgn="base"/>
            <a:endParaRPr lang="zh-CN" strike="noStrike" noProof="1"/>
          </a:p>
        </p:txBody>
      </p:sp>
      <p:sp>
        <p:nvSpPr>
          <p:cNvPr id="6" name="灯片编号占位符 5"/>
          <p:cNvSpPr>
            <a:spLocks noGrp="1"/>
          </p:cNvSpPr>
          <p:nvPr>
            <p:ph type="sldNum" sz="quarter" idx="12"/>
          </p:nvPr>
        </p:nvSpPr>
        <p:spPr>
          <a:xfrm>
            <a:off x="8737600" y="6248400"/>
            <a:ext cx="2540000" cy="457200"/>
          </a:xfrm>
          <a:prstGeom prst="rect">
            <a:avLst/>
          </a:prstGeom>
          <a:noFill/>
          <a:ln w="9525">
            <a:noFill/>
          </a:ln>
        </p:spPr>
        <p:txBody>
          <a:bodyPr lIns="92075" tIns="46038" rIns="92075" bIns="46038" anchor="ct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4400" y="1981200"/>
            <a:ext cx="10363200" cy="4114800"/>
          </a:xfrm>
          <a:prstGeom prst="rect">
            <a:avLst/>
          </a:prstGeo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a:xfrm>
            <a:off x="914400" y="6248400"/>
            <a:ext cx="2540000" cy="457200"/>
          </a:xfrm>
          <a:prstGeom prst="rect">
            <a:avLst/>
          </a:prstGeom>
        </p:spPr>
        <p:txBody>
          <a:bodyPr/>
          <a:lstStyle/>
          <a:p>
            <a:pPr fontAlgn="base">
              <a:spcBef>
                <a:spcPct val="0"/>
              </a:spcBef>
              <a:spcAft>
                <a:spcPct val="0"/>
              </a:spcAft>
              <a:defRPr/>
            </a:pPr>
            <a:endParaRPr lang="en-US" altLang="zh-CN" sz="1400"/>
          </a:p>
        </p:txBody>
      </p:sp>
      <p:sp>
        <p:nvSpPr>
          <p:cNvPr id="5" name="页脚占位符 4"/>
          <p:cNvSpPr>
            <a:spLocks noGrp="1"/>
          </p:cNvSpPr>
          <p:nvPr>
            <p:ph type="ftr" sz="quarter" idx="11"/>
          </p:nvPr>
        </p:nvSpPr>
        <p:spPr>
          <a:xfrm>
            <a:off x="4165600" y="6248400"/>
            <a:ext cx="3860800" cy="457200"/>
          </a:xfrm>
          <a:prstGeom prst="rect">
            <a:avLst/>
          </a:prstGeom>
        </p:spPr>
        <p:txBody>
          <a:bodyPr/>
          <a:lstStyle/>
          <a:p>
            <a:pPr algn="ctr" fontAlgn="base">
              <a:spcBef>
                <a:spcPct val="0"/>
              </a:spcBef>
              <a:spcAft>
                <a:spcPct val="0"/>
              </a:spcAft>
              <a:defRPr/>
            </a:pPr>
            <a:endParaRPr lang="en-US" altLang="zh-CN" sz="1400"/>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p>
            <a:pPr lvl="0" eaLnBrk="1" fontAlgn="base" hangingPunct="1"/>
            <a:fld id="{9A0DB2DC-4C9A-4742-B13C-FB6460FD3503}" type="slidenum">
              <a:rPr lang="en-US" altLang="zh-CN" strike="noStrike" noProof="1" dirty="0">
                <a:latin typeface="Times New Roman" panose="02020603050405020304" pitchFamily="18" charset="0"/>
                <a:ea typeface="黑体" panose="02010609060101010101" pitchFamily="49" charset="-122"/>
                <a:cs typeface="+mn-cs"/>
              </a:rPr>
            </a:fld>
            <a:endParaRPr lang="en-US" altLang="zh-CN" strike="noStrike" noProof="1">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7.emf"/><Relationship Id="rId1"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ctrTitle" sz="quarter"/>
          </p:nvPr>
        </p:nvSpPr>
        <p:spPr>
          <a:xfrm>
            <a:off x="2566988" y="1484313"/>
            <a:ext cx="7772400" cy="1143000"/>
          </a:xfrm>
        </p:spPr>
        <p:txBody>
          <a:bodyPr vert="horz" wrap="square" lIns="92075" tIns="46038" rIns="92075" bIns="46038" numCol="1" anchor="b" anchorCtr="0" compatLnSpc="1"/>
          <a:lstStyle/>
          <a:p>
            <a:pPr algn="ctr" fontAlgn="base">
              <a:lnSpc>
                <a:spcPct val="100000"/>
              </a:lnSpc>
              <a:spcAft>
                <a:spcPct val="0"/>
              </a:spcAft>
              <a:defRPr/>
            </a:pPr>
            <a:r>
              <a:rPr kumimoji="1" lang="zh-CN" altLang="en-US" sz="4800" b="1" kern="0" dirty="0" smtClean="0">
                <a:solidFill>
                  <a:schemeClr val="tx2"/>
                </a:solidFill>
                <a:effectLst>
                  <a:outerShdw blurRad="38100" dist="38100" dir="2700000" algn="tl">
                    <a:srgbClr val="000000"/>
                  </a:outerShdw>
                </a:effectLst>
                <a:latin typeface="黑体" panose="02010609060101010101" pitchFamily="49" charset="-122"/>
              </a:rPr>
              <a:t>第</a:t>
            </a:r>
            <a:r>
              <a:rPr kumimoji="1" lang="en-US" altLang="zh-CN" sz="4800" b="1" kern="0" dirty="0" smtClean="0">
                <a:solidFill>
                  <a:schemeClr val="tx2"/>
                </a:solidFill>
                <a:effectLst>
                  <a:outerShdw blurRad="38100" dist="38100" dir="2700000" algn="tl">
                    <a:srgbClr val="000000"/>
                  </a:outerShdw>
                </a:effectLst>
                <a:latin typeface="黑体" panose="02010609060101010101" pitchFamily="49" charset="-122"/>
              </a:rPr>
              <a:t>4</a:t>
            </a:r>
            <a:r>
              <a:rPr kumimoji="1" lang="zh-CN" altLang="en-US" sz="4800" b="1" kern="0" dirty="0" smtClean="0">
                <a:solidFill>
                  <a:schemeClr val="tx2"/>
                </a:solidFill>
                <a:effectLst>
                  <a:outerShdw blurRad="38100" dist="38100" dir="2700000" algn="tl">
                    <a:srgbClr val="000000"/>
                  </a:outerShdw>
                </a:effectLst>
                <a:latin typeface="黑体" panose="02010609060101010101" pitchFamily="49" charset="-122"/>
              </a:rPr>
              <a:t>章 </a:t>
            </a:r>
            <a:r>
              <a:rPr kumimoji="1" lang="zh-CN" altLang="en-US" sz="4800" b="1" kern="0" dirty="0">
                <a:solidFill>
                  <a:schemeClr val="tx2"/>
                </a:solidFill>
                <a:effectLst>
                  <a:outerShdw blurRad="38100" dist="38100" dir="2700000" algn="tl">
                    <a:srgbClr val="000000"/>
                  </a:outerShdw>
                </a:effectLst>
                <a:latin typeface="黑体" panose="02010609060101010101" pitchFamily="49" charset="-122"/>
              </a:rPr>
              <a:t>网络攻击（二）  </a:t>
            </a:r>
            <a:endParaRPr kumimoji="1" lang="zh-CN" altLang="en-US" sz="4800" b="1" kern="0" dirty="0">
              <a:solidFill>
                <a:schemeClr val="tx2"/>
              </a:solidFill>
              <a:effectLst>
                <a:outerShdw blurRad="38100" dist="38100" dir="2700000" algn="tl">
                  <a:srgbClr val="000000"/>
                </a:outerShdw>
              </a:effectLst>
              <a:latin typeface="黑体" panose="02010609060101010101" pitchFamily="49" charset="-122"/>
            </a:endParaRPr>
          </a:p>
        </p:txBody>
      </p:sp>
      <p:sp>
        <p:nvSpPr>
          <p:cNvPr id="3074" name="文本框 88067"/>
          <p:cNvSpPr txBox="1"/>
          <p:nvPr/>
        </p:nvSpPr>
        <p:spPr>
          <a:xfrm>
            <a:off x="4748054" y="4327526"/>
            <a:ext cx="2697480" cy="1568450"/>
          </a:xfrm>
          <a:prstGeom prst="rect">
            <a:avLst/>
          </a:prstGeom>
          <a:noFill/>
          <a:ln w="9525">
            <a:noFill/>
          </a:ln>
        </p:spPr>
        <p:txBody>
          <a:bodyPr wrap="none" anchor="t">
            <a:spAutoFit/>
          </a:bodyPr>
          <a:lstStyle/>
          <a:p>
            <a:pPr algn="ctr"/>
            <a:r>
              <a:rPr lang="zh-CN" altLang="en-US" sz="2400" dirty="0">
                <a:latin typeface="Times New Roman" panose="02020603050405020304" pitchFamily="18" charset="0"/>
                <a:ea typeface="华文行楷" panose="02010800040101010101" pitchFamily="2" charset="-122"/>
              </a:rPr>
              <a:t>李朝晖</a:t>
            </a:r>
            <a:endParaRPr lang="zh-CN" altLang="en-US" sz="2400" dirty="0">
              <a:latin typeface="Times New Roman" panose="02020603050405020304" pitchFamily="18" charset="0"/>
              <a:ea typeface="华文行楷" panose="02010800040101010101" pitchFamily="2" charset="-122"/>
            </a:endParaRPr>
          </a:p>
          <a:p>
            <a:pPr algn="ctr"/>
            <a:r>
              <a:rPr lang="zh-CN" altLang="en-US" sz="2400" dirty="0">
                <a:latin typeface="Times New Roman" panose="02020603050405020304" pitchFamily="18" charset="0"/>
                <a:ea typeface="华文行楷" panose="02010800040101010101" pitchFamily="2" charset="-122"/>
              </a:rPr>
              <a:t>南开大学 网安学院</a:t>
            </a:r>
            <a:endParaRPr lang="zh-CN" altLang="en-US" sz="2400" dirty="0">
              <a:latin typeface="Times New Roman" panose="02020603050405020304" pitchFamily="18" charset="0"/>
              <a:ea typeface="华文行楷" panose="02010800040101010101" pitchFamily="2" charset="-122"/>
            </a:endParaRPr>
          </a:p>
          <a:p>
            <a:pPr algn="ctr"/>
            <a:endParaRPr lang="zh-CN" altLang="en-US" sz="2400" dirty="0">
              <a:latin typeface="Times New Roman" panose="02020603050405020304" pitchFamily="18" charset="0"/>
              <a:ea typeface="宋体" panose="02010600030101010101" pitchFamily="2" charset="-122"/>
            </a:endParaRPr>
          </a:p>
          <a:p>
            <a:pPr algn="ctr"/>
            <a:r>
              <a:rPr lang="en-US" altLang="zh-CN" sz="2400" dirty="0" smtClean="0">
                <a:latin typeface="Times New Roman" panose="02020603050405020304" pitchFamily="18" charset="0"/>
                <a:ea typeface="宋体" panose="02010600030101010101" pitchFamily="2" charset="-122"/>
              </a:rPr>
              <a:t>2026</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主要内容</a:t>
            </a:r>
            <a:endParaRPr kumimoji="1" lang="zh-CN" altLang="en-US" sz="5000" b="1" kern="0">
              <a:solidFill>
                <a:schemeClr val="tx2"/>
              </a:solidFill>
              <a:effectLst>
                <a:outerShdw blurRad="38100" dist="38100" dir="2700000" algn="tl">
                  <a:srgbClr val="000000"/>
                </a:outerShdw>
              </a:effectLst>
            </a:endParaRPr>
          </a:p>
        </p:txBody>
      </p:sp>
      <p:sp>
        <p:nvSpPr>
          <p:cNvPr id="4098"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b="1" dirty="0">
                <a:latin typeface="黑体" panose="02010609060101010101" pitchFamily="49" charset="-122"/>
              </a:rPr>
              <a:t>    </a:t>
            </a:r>
            <a:r>
              <a:rPr lang="zh-CN" altLang="en-US" b="1" dirty="0">
                <a:latin typeface="黑体" panose="02010609060101010101" pitchFamily="49" charset="-122"/>
              </a:rPr>
              <a:t>本部分为网络攻击的第二部分，从内容体系上讲是承接第一部分的，主要介绍攻击者在成功侵入目标系统后，在</a:t>
            </a:r>
            <a:r>
              <a:rPr lang="zh-CN" altLang="en-US" b="1" dirty="0">
                <a:solidFill>
                  <a:schemeClr val="tx2"/>
                </a:solidFill>
                <a:latin typeface="黑体" panose="02010609060101010101" pitchFamily="49" charset="-122"/>
              </a:rPr>
              <a:t>进一步攻击过程中所采用的技术与步骤</a:t>
            </a:r>
            <a:r>
              <a:rPr lang="zh-CN" altLang="en-US" b="1" dirty="0">
                <a:latin typeface="黑体" panose="02010609060101010101" pitchFamily="49" charset="-122"/>
              </a:rPr>
              <a:t>，并通过一些攻击实例来展示其攻击原理与方法。本部分涉及的内容包括通过特洛伊木马技术获取对方资源的控制利用类攻击</a:t>
            </a:r>
            <a:r>
              <a:rPr lang="en-US" altLang="zh-CN" b="1" dirty="0">
                <a:latin typeface="黑体" panose="02010609060101010101" pitchFamily="49" charset="-122"/>
              </a:rPr>
              <a:t>,</a:t>
            </a:r>
            <a:r>
              <a:rPr lang="zh-CN" altLang="en-US" b="1" dirty="0">
                <a:latin typeface="黑体" panose="02010609060101010101" pitchFamily="49" charset="-122"/>
              </a:rPr>
              <a:t>破坏目标网络正常运行的软破坏类攻击和消除入侵踪迹等攻击技术。 </a:t>
            </a:r>
            <a:r>
              <a:rPr lang="zh-CN" altLang="en-US" dirty="0">
                <a:latin typeface="黑体" panose="02010609060101010101" pitchFamily="49" charset="-122"/>
              </a:rPr>
              <a:t> </a:t>
            </a:r>
            <a:endParaRPr lang="zh-CN" altLang="en-US" dirty="0">
              <a:latin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主要内容</a:t>
            </a:r>
            <a:endParaRPr kumimoji="1" lang="zh-CN" altLang="en-US" sz="5000" b="1" kern="0">
              <a:solidFill>
                <a:schemeClr val="tx2"/>
              </a:solidFill>
              <a:effectLst>
                <a:outerShdw blurRad="38100" dist="38100" dir="2700000" algn="tl">
                  <a:srgbClr val="000000"/>
                </a:outerShdw>
              </a:effectLst>
            </a:endParaRPr>
          </a:p>
        </p:txBody>
      </p:sp>
      <p:sp>
        <p:nvSpPr>
          <p:cNvPr id="5122" name="Rectangle 3"/>
          <p:cNvSpPr>
            <a:spLocks noGrp="1"/>
          </p:cNvSpPr>
          <p:nvPr>
            <p:ph idx="1"/>
          </p:nvPr>
        </p:nvSpPr>
        <p:spPr>
          <a:xfrm>
            <a:off x="4151313" y="2420939"/>
            <a:ext cx="4678362" cy="3679825"/>
          </a:xfrm>
        </p:spPr>
        <p:txBody>
          <a:bodyPr vert="horz" wrap="square" lIns="91440" tIns="45720" rIns="91440" bIns="45720" anchor="t"/>
          <a:lstStyle/>
          <a:p>
            <a:pPr marL="571500" indent="-571500" eaLnBrk="1" hangingPunct="1">
              <a:buClr>
                <a:schemeClr val="folHlink"/>
              </a:buClr>
              <a:buSzPct val="80000"/>
              <a:buFont typeface="Wingdings" panose="05000000000000000000" charset="0"/>
              <a:buChar char="Ø"/>
            </a:pPr>
            <a:r>
              <a:rPr lang="zh-CN" altLang="en-US" sz="3600" b="1" dirty="0">
                <a:latin typeface="黑体" panose="02010609060101010101" pitchFamily="49" charset="-122"/>
              </a:rPr>
              <a:t>控制利用类攻击 </a:t>
            </a:r>
            <a:endParaRPr lang="zh-CN" altLang="en-US" sz="3600" b="1" dirty="0">
              <a:latin typeface="黑体" panose="02010609060101010101" pitchFamily="49" charset="-122"/>
            </a:endParaRPr>
          </a:p>
          <a:p>
            <a:pPr marL="571500" indent="-571500" eaLnBrk="1" hangingPunct="1">
              <a:buClr>
                <a:schemeClr val="folHlink"/>
              </a:buClr>
              <a:buSzPct val="80000"/>
              <a:buFont typeface="Wingdings" panose="05000000000000000000" charset="0"/>
              <a:buChar char="Ø"/>
            </a:pPr>
            <a:r>
              <a:rPr lang="zh-CN" altLang="en-US" sz="3600" b="1" dirty="0">
                <a:latin typeface="黑体" panose="02010609060101010101" pitchFamily="49" charset="-122"/>
              </a:rPr>
              <a:t>软破坏类攻击 </a:t>
            </a:r>
            <a:endParaRPr lang="zh-CN" altLang="en-US" sz="3600" b="1" dirty="0">
              <a:latin typeface="黑体" panose="02010609060101010101" pitchFamily="49" charset="-122"/>
            </a:endParaRPr>
          </a:p>
          <a:p>
            <a:pPr marL="571500" indent="-571500" eaLnBrk="1" hangingPunct="1">
              <a:buClr>
                <a:schemeClr val="folHlink"/>
              </a:buClr>
              <a:buSzPct val="80000"/>
              <a:buFont typeface="Wingdings" panose="05000000000000000000" charset="0"/>
              <a:buChar char="Ø"/>
            </a:pPr>
            <a:r>
              <a:rPr lang="zh-CN" altLang="en-US" sz="3600" b="1" dirty="0">
                <a:latin typeface="黑体" panose="02010609060101010101" pitchFamily="49" charset="-122"/>
              </a:rPr>
              <a:t>消除入侵踪迹</a:t>
            </a:r>
            <a:endParaRPr lang="zh-CN" altLang="en-US" sz="3600" b="1" dirty="0">
              <a:latin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ea"/>
              </a:rPr>
              <a:t>控制利用类攻击</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sym typeface="+mn-ea"/>
              </a:rPr>
              <a:t>控制利用类攻击</a:t>
            </a:r>
            <a:endParaRPr kumimoji="1" lang="zh-CN" altLang="en-US" sz="5000" b="1" kern="0">
              <a:solidFill>
                <a:schemeClr val="tx2"/>
              </a:solidFill>
              <a:effectLst>
                <a:outerShdw blurRad="38100" dist="38100" dir="2700000" algn="tl">
                  <a:srgbClr val="000000"/>
                </a:outerShdw>
              </a:effectLst>
            </a:endParaRPr>
          </a:p>
        </p:txBody>
      </p:sp>
      <p:sp>
        <p:nvSpPr>
          <p:cNvPr id="6146" name="Rectangle 3"/>
          <p:cNvSpPr>
            <a:spLocks noGrp="1"/>
          </p:cNvSpPr>
          <p:nvPr>
            <p:ph idx="1"/>
          </p:nvPr>
        </p:nvSpPr>
        <p:spPr/>
        <p:txBody>
          <a:bodyPr vert="horz" wrap="square" lIns="91440" tIns="45720" rIns="91440" bIns="45720" anchor="t"/>
          <a:lstStyle/>
          <a:p>
            <a:pPr algn="just" eaLnBrk="1" hangingPunct="1"/>
            <a:r>
              <a:rPr lang="en-US" altLang="zh-CN" b="1" dirty="0">
                <a:latin typeface="黑体" panose="02010609060101010101" pitchFamily="49" charset="-122"/>
              </a:rPr>
              <a:t>    </a:t>
            </a:r>
            <a:r>
              <a:rPr lang="zh-CN" altLang="en-US" b="1" dirty="0">
                <a:latin typeface="黑体" panose="02010609060101010101" pitchFamily="49" charset="-122"/>
              </a:rPr>
              <a:t>控制利用类攻击的主要思想是借助对方系统的漏洞，在目标系统中安置长期</a:t>
            </a:r>
            <a:r>
              <a:rPr lang="zh-CN" altLang="en-US" b="1" dirty="0"/>
              <a:t>“</a:t>
            </a:r>
            <a:r>
              <a:rPr lang="zh-CN" altLang="en-US" b="1" dirty="0">
                <a:latin typeface="黑体" panose="02010609060101010101" pitchFamily="49" charset="-122"/>
              </a:rPr>
              <a:t>潜伏</a:t>
            </a:r>
            <a:r>
              <a:rPr lang="zh-CN" altLang="en-US" b="1" dirty="0"/>
              <a:t>”</a:t>
            </a:r>
            <a:r>
              <a:rPr lang="zh-CN" altLang="en-US" b="1" dirty="0">
                <a:latin typeface="黑体" panose="02010609060101010101" pitchFamily="49" charset="-122"/>
              </a:rPr>
              <a:t>的间谍程序，通过间谍程序在目标系统中获得的控制权，充分利用目标系统的资源，从目标系统中获取有价值的军事或商业情报，或者根据需要对目标系统实施破坏，如释放病毒、恶意删除或让对方系统瘫痪等。</a:t>
            </a:r>
            <a:endParaRPr lang="zh-CN" altLang="en-US" sz="3600" b="1" dirty="0">
              <a:latin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控制利用类攻击</a:t>
            </a:r>
            <a:endParaRPr kumimoji="1" lang="zh-CN" altLang="en-US" sz="5000" b="1" kern="0">
              <a:solidFill>
                <a:schemeClr val="tx2"/>
              </a:solidFill>
              <a:effectLst>
                <a:outerShdw blurRad="38100" dist="38100" dir="2700000" algn="tl">
                  <a:srgbClr val="000000"/>
                </a:outerShdw>
              </a:effectLst>
            </a:endParaRPr>
          </a:p>
        </p:txBody>
      </p:sp>
      <p:sp>
        <p:nvSpPr>
          <p:cNvPr id="7170" name="Rectangle 3"/>
          <p:cNvSpPr>
            <a:spLocks noGrp="1"/>
          </p:cNvSpPr>
          <p:nvPr>
            <p:ph idx="1"/>
          </p:nvPr>
        </p:nvSpPr>
        <p:spPr>
          <a:xfrm>
            <a:off x="3648075" y="2276476"/>
            <a:ext cx="6362824" cy="3463925"/>
          </a:xfrm>
        </p:spPr>
        <p:txBody>
          <a:bodyPr vert="horz" wrap="square" lIns="91440" tIns="45720" rIns="91440" bIns="45720" anchor="t"/>
          <a:lstStyle/>
          <a:p>
            <a:pPr marL="571500" indent="-571500" eaLnBrk="1" hangingPunct="1">
              <a:lnSpc>
                <a:spcPct val="140000"/>
              </a:lnSpc>
              <a:buClr>
                <a:schemeClr val="hlink"/>
              </a:buClr>
              <a:buSzPct val="80000"/>
              <a:buFont typeface="Wingdings" panose="05000000000000000000" charset="0"/>
              <a:buChar char="ü"/>
            </a:pPr>
            <a:r>
              <a:rPr lang="zh-CN" altLang="en-US" sz="3600" b="1" dirty="0">
                <a:latin typeface="黑体" panose="02010609060101010101" pitchFamily="49" charset="-122"/>
              </a:rPr>
              <a:t>特洛伊木马的基本概念 </a:t>
            </a:r>
            <a:endParaRPr lang="zh-CN" altLang="en-US" sz="3600" b="1" dirty="0">
              <a:latin typeface="黑体" panose="02010609060101010101" pitchFamily="49" charset="-122"/>
            </a:endParaRPr>
          </a:p>
          <a:p>
            <a:pPr marL="571500" indent="-571500" eaLnBrk="1" hangingPunct="1">
              <a:lnSpc>
                <a:spcPct val="140000"/>
              </a:lnSpc>
              <a:buClr>
                <a:schemeClr val="hlink"/>
              </a:buClr>
              <a:buSzPct val="80000"/>
              <a:buFont typeface="Wingdings" panose="05000000000000000000" charset="0"/>
              <a:buChar char="ü"/>
            </a:pPr>
            <a:r>
              <a:rPr lang="zh-CN" altLang="en-US" sz="3600" b="1" dirty="0">
                <a:latin typeface="黑体" panose="02010609060101010101" pitchFamily="49" charset="-122"/>
              </a:rPr>
              <a:t>木马的主要实现技术 </a:t>
            </a:r>
            <a:endParaRPr lang="zh-CN" altLang="en-US" sz="3600" b="1" dirty="0">
              <a:latin typeface="黑体" panose="02010609060101010101" pitchFamily="49" charset="-122"/>
            </a:endParaRPr>
          </a:p>
          <a:p>
            <a:pPr marL="571500" indent="-571500" eaLnBrk="1" hangingPunct="1">
              <a:lnSpc>
                <a:spcPct val="140000"/>
              </a:lnSpc>
              <a:buClr>
                <a:schemeClr val="hlink"/>
              </a:buClr>
              <a:buSzPct val="80000"/>
              <a:buFont typeface="Wingdings" panose="05000000000000000000" charset="0"/>
              <a:buChar char="ü"/>
            </a:pPr>
            <a:r>
              <a:rPr lang="zh-CN" altLang="en-US" sz="3600" b="1" dirty="0">
                <a:latin typeface="黑体" panose="02010609060101010101" pitchFamily="49" charset="-122"/>
              </a:rPr>
              <a:t>木马攻击实例</a:t>
            </a:r>
            <a:endParaRPr lang="zh-CN" altLang="en-US" sz="3600" b="1" dirty="0">
              <a:latin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3"/>
          <p:cNvSpPr>
            <a:spLocks noGrp="1"/>
          </p:cNvSpPr>
          <p:nvPr>
            <p:ph idx="1"/>
          </p:nvPr>
        </p:nvSpPr>
        <p:spPr/>
        <p:txBody>
          <a:bodyPr vert="horz" wrap="square" lIns="91440" tIns="45720" rIns="91440" bIns="45720" anchor="t"/>
          <a:lstStyle/>
          <a:p>
            <a:pPr eaLnBrk="1" hangingPunct="1"/>
            <a:r>
              <a:rPr lang="zh-CN" altLang="en-US" b="1" dirty="0"/>
              <a:t>特洛伊木马的典故</a:t>
            </a:r>
            <a:r>
              <a:rPr lang="en-US" altLang="zh-CN" b="1" dirty="0"/>
              <a:t>:</a:t>
            </a:r>
            <a:endParaRPr lang="en-US" altLang="zh-CN" b="1" dirty="0"/>
          </a:p>
          <a:p>
            <a:pPr eaLnBrk="1" hangingPunct="1"/>
            <a:r>
              <a:rPr lang="en-US" altLang="zh-CN" b="1" dirty="0"/>
              <a:t>        </a:t>
            </a:r>
            <a:r>
              <a:rPr lang="zh-CN" altLang="en-US" b="1" dirty="0"/>
              <a:t>特洛伊木马是木马屠城记里记载著的那只希腊军队用来攻破特洛伊城的大木马。而木马屠城记则是古希腊诗人 </a:t>
            </a:r>
            <a:r>
              <a:rPr lang="en-US" altLang="zh-CN" b="1" dirty="0"/>
              <a:t>- </a:t>
            </a:r>
            <a:r>
              <a:rPr lang="zh-CN" altLang="en-US" b="1" dirty="0"/>
              <a:t>荷马，在其两部著作伊利亚特与奥德赛里所记载的特洛伊战争的一部份。木马屠城记一直被后人视为神话故事，直至十九世纪时，苏利曼 </a:t>
            </a:r>
            <a:r>
              <a:rPr lang="en-US" altLang="zh-CN" b="1" dirty="0"/>
              <a:t>- </a:t>
            </a:r>
            <a:r>
              <a:rPr lang="zh-CN" altLang="en-US" b="1" dirty="0"/>
              <a:t>一位业余考古学者才证实木马屠城记真有此事。 </a:t>
            </a:r>
            <a:endParaRPr lang="zh-CN" altLang="en-US" b="1" dirty="0"/>
          </a:p>
          <a:p>
            <a:pPr eaLnBrk="1" hangingPunct="1"/>
            <a:endParaRPr lang="en-US" altLang="zh-CN" b="1" dirty="0"/>
          </a:p>
        </p:txBody>
      </p:sp>
      <p:grpSp>
        <p:nvGrpSpPr>
          <p:cNvPr id="65536" name="组合 65535"/>
          <p:cNvGrpSpPr/>
          <p:nvPr/>
        </p:nvGrpSpPr>
        <p:grpSpPr>
          <a:xfrm>
            <a:off x="3208842" y="584814"/>
            <a:ext cx="5774690" cy="1108868"/>
            <a:chOff x="3279913" y="488294"/>
            <a:chExt cx="5774690" cy="1108868"/>
          </a:xfrm>
        </p:grpSpPr>
        <p:grpSp>
          <p:nvGrpSpPr>
            <p:cNvPr id="14" name="组合 13"/>
            <p:cNvGrpSpPr/>
            <p:nvPr/>
          </p:nvGrpSpPr>
          <p:grpSpPr>
            <a:xfrm>
              <a:off x="3279913" y="909457"/>
              <a:ext cx="5774690" cy="687705"/>
              <a:chOff x="3279913" y="909457"/>
              <a:chExt cx="5774690" cy="687705"/>
            </a:xfrm>
          </p:grpSpPr>
          <p:sp>
            <p:nvSpPr>
              <p:cNvPr id="10" name="矩形: 圆角 9"/>
              <p:cNvSpPr/>
              <p:nvPr/>
            </p:nvSpPr>
            <p:spPr>
              <a:xfrm>
                <a:off x="3279913" y="909457"/>
                <a:ext cx="5774690" cy="687705"/>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4246880" cy="534035"/>
              </a:xfrm>
              <a:prstGeom prst="rect">
                <a:avLst/>
              </a:prstGeom>
              <a:noFill/>
            </p:spPr>
            <p:txBody>
              <a:bodyPr wrap="none" rtlCol="0" anchor="t">
                <a:spAutoFit/>
              </a:bodyPr>
              <a:lstStyle/>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r>
                  <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特洛伊木马的基本概念</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400" kern="0">
                <a:solidFill>
                  <a:schemeClr val="tx2"/>
                </a:solidFill>
                <a:effectLst>
                  <a:outerShdw blurRad="38100" dist="38100" dir="2700000" algn="tl">
                    <a:srgbClr val="000000"/>
                  </a:outerShdw>
                </a:effectLst>
              </a:rPr>
              <a:t>战争起因</a:t>
            </a:r>
            <a:endParaRPr kumimoji="1" lang="zh-CN" altLang="en-US" sz="4400" kern="0">
              <a:solidFill>
                <a:schemeClr val="tx2"/>
              </a:solidFill>
              <a:effectLst>
                <a:outerShdw blurRad="38100" dist="38100" dir="2700000" algn="tl">
                  <a:srgbClr val="000000"/>
                </a:outerShdw>
              </a:effectLst>
            </a:endParaRPr>
          </a:p>
        </p:txBody>
      </p:sp>
      <p:sp>
        <p:nvSpPr>
          <p:cNvPr id="9218" name="Rectangle 3"/>
          <p:cNvSpPr>
            <a:spLocks noGrp="1"/>
          </p:cNvSpPr>
          <p:nvPr>
            <p:ph idx="1"/>
          </p:nvPr>
        </p:nvSpPr>
        <p:spPr>
          <a:xfrm>
            <a:off x="2495550" y="1844676"/>
            <a:ext cx="7444097" cy="4752975"/>
          </a:xfrm>
        </p:spPr>
        <p:txBody>
          <a:bodyPr vert="horz" wrap="square" lIns="91440" tIns="45720" rIns="91440" bIns="45720" anchor="t"/>
          <a:lstStyle/>
          <a:p>
            <a:pPr eaLnBrk="1" hangingPunct="1">
              <a:lnSpc>
                <a:spcPct val="80000"/>
              </a:lnSpc>
            </a:pPr>
            <a:r>
              <a:rPr lang="en-US" altLang="zh-CN" sz="2200" dirty="0"/>
              <a:t>        </a:t>
            </a:r>
            <a:r>
              <a:rPr lang="zh-CN" altLang="en-US" sz="2200" dirty="0"/>
              <a:t>据荷马与希腊神话所载，这个故事的起因是源自一个金苹果。这个故事的开端，就是忒提斯（</a:t>
            </a:r>
            <a:r>
              <a:rPr lang="en-US" altLang="zh-CN" sz="2200" dirty="0"/>
              <a:t>Thetis</a:t>
            </a:r>
            <a:r>
              <a:rPr lang="zh-CN" altLang="en-US" sz="2200" dirty="0"/>
              <a:t>）与珀琉斯（</a:t>
            </a:r>
            <a:r>
              <a:rPr lang="en-US" altLang="zh-CN" sz="2200" dirty="0"/>
              <a:t>Peleus</a:t>
            </a:r>
            <a:r>
              <a:rPr lang="zh-CN" altLang="en-US" sz="2200" dirty="0"/>
              <a:t>）的婚礼，原本宙斯与忒提斯相恋，但那时传说忒提斯的儿子（也就是未来的阿基里斯</a:t>
            </a:r>
            <a:r>
              <a:rPr lang="en-US" altLang="zh-CN" sz="2200" dirty="0"/>
              <a:t>(Achilles)</a:t>
            </a:r>
            <a:r>
              <a:rPr lang="zh-CN" altLang="en-US" sz="2200" dirty="0"/>
              <a:t>）会比他的父亲还强大，宙斯害怕当年推翻他父亲的事重演，于是将她嫁给了著名英雄珀琉斯，避免影响他的政权。婚礼上邀请了很多神，唯独</a:t>
            </a:r>
            <a:r>
              <a:rPr lang="zh-CN" altLang="en-US" sz="2200" dirty="0">
                <a:solidFill>
                  <a:schemeClr val="accent1"/>
                </a:solidFill>
              </a:rPr>
              <a:t>争吵女神</a:t>
            </a:r>
            <a:r>
              <a:rPr lang="zh-CN" altLang="en-US" sz="2200" dirty="0"/>
              <a:t>没有被邀请。她很生气，便抛出一个金苹果，上面写“</a:t>
            </a:r>
            <a:r>
              <a:rPr lang="zh-CN" altLang="en-US" sz="2200" dirty="0">
                <a:solidFill>
                  <a:schemeClr val="accent1"/>
                </a:solidFill>
              </a:rPr>
              <a:t>给最美丽者</a:t>
            </a:r>
            <a:r>
              <a:rPr lang="zh-CN" altLang="en-US" sz="2200" dirty="0"/>
              <a:t>”。</a:t>
            </a:r>
            <a:r>
              <a:rPr lang="zh-CN" altLang="en-US" sz="2200" dirty="0">
                <a:solidFill>
                  <a:schemeClr val="accent1"/>
                </a:solidFill>
              </a:rPr>
              <a:t>雅典娜</a:t>
            </a:r>
            <a:r>
              <a:rPr lang="zh-CN" altLang="en-US" sz="2200" dirty="0"/>
              <a:t>，</a:t>
            </a:r>
            <a:r>
              <a:rPr lang="zh-CN" altLang="en-US" sz="2200" dirty="0">
                <a:solidFill>
                  <a:schemeClr val="accent1"/>
                </a:solidFill>
              </a:rPr>
              <a:t>阿佛洛狄德</a:t>
            </a:r>
            <a:r>
              <a:rPr lang="zh-CN" altLang="en-US" sz="2200" dirty="0"/>
              <a:t>和</a:t>
            </a:r>
            <a:r>
              <a:rPr lang="zh-CN" altLang="en-US" sz="2200" dirty="0">
                <a:solidFill>
                  <a:schemeClr val="accent1"/>
                </a:solidFill>
              </a:rPr>
              <a:t>赫拉</a:t>
            </a:r>
            <a:r>
              <a:rPr lang="zh-CN" altLang="en-US" sz="2200" dirty="0"/>
              <a:t>都宣称自己应该获得这个苹果。</a:t>
            </a:r>
            <a:r>
              <a:rPr lang="zh-CN" altLang="en-US" sz="2200" dirty="0">
                <a:solidFill>
                  <a:schemeClr val="folHlink"/>
                </a:solidFill>
              </a:rPr>
              <a:t>最后她们请求特洛伊王子帕里斯裁决。</a:t>
            </a:r>
            <a:r>
              <a:rPr lang="zh-CN" altLang="en-US" sz="2200" dirty="0"/>
              <a:t>三个女神都贿赂帕里斯：雅典娜以天下第一聪明人作贿赂；赫拉以王位作贿赂；阿佛洛狄德以天下第一的美人作贿赂。最后帕里斯选择了阿佛洛狄德。作为回报，斯巴达王后，世界上最漂亮的女人海伦应该和他堕入爱河。在一次访问斯巴达的过程中，帕里斯绑架了海伦，把她带到特洛伊。帕里斯的行动惹怒了斯巴达国王，使其</a:t>
            </a:r>
            <a:r>
              <a:rPr lang="zh-CN" altLang="en-US" sz="2200" dirty="0">
                <a:solidFill>
                  <a:schemeClr val="folHlink"/>
                </a:solidFill>
              </a:rPr>
              <a:t>联合希腊各城邦</a:t>
            </a:r>
            <a:r>
              <a:rPr lang="zh-CN" altLang="en-US" sz="2200" dirty="0">
                <a:solidFill>
                  <a:srgbClr val="FF6600"/>
                </a:solidFill>
              </a:rPr>
              <a:t>向特洛伊宣战</a:t>
            </a:r>
            <a:r>
              <a:rPr lang="zh-CN" altLang="en-US" sz="2200" dirty="0"/>
              <a:t>。</a:t>
            </a:r>
            <a:r>
              <a:rPr lang="zh-CN" altLang="en-US" sz="2000" dirty="0"/>
              <a:t> </a:t>
            </a:r>
            <a:endParaRPr lang="zh-CN" altLang="en-US" sz="2000" dirty="0"/>
          </a:p>
          <a:p>
            <a:pPr eaLnBrk="1" hangingPunct="1">
              <a:lnSpc>
                <a:spcPct val="80000"/>
              </a:lnSpc>
            </a:pPr>
            <a:endParaRPr lang="en-US" altLang="zh-CN" sz="2000" dirty="0"/>
          </a:p>
        </p:txBody>
      </p:sp>
      <p:sp>
        <p:nvSpPr>
          <p:cNvPr id="190468" name="AutoShape 4"/>
          <p:cNvSpPr/>
          <p:nvPr/>
        </p:nvSpPr>
        <p:spPr>
          <a:xfrm>
            <a:off x="2495550" y="692150"/>
            <a:ext cx="1873250" cy="719138"/>
          </a:xfrm>
          <a:prstGeom prst="wedgeRoundRectCallout">
            <a:avLst>
              <a:gd name="adj1" fmla="val 180255"/>
              <a:gd name="adj2" fmla="val 390398"/>
              <a:gd name="adj3" fmla="val 16667"/>
            </a:avLst>
          </a:prstGeom>
          <a:solidFill>
            <a:srgbClr val="CC6600">
              <a:alpha val="50195"/>
            </a:srgbClr>
          </a:solidFill>
          <a:ln w="9525" cap="flat" cmpd="sng">
            <a:solidFill>
              <a:schemeClr val="tx1"/>
            </a:solidFill>
            <a:prstDash val="solid"/>
            <a:miter/>
            <a:headEnd type="none" w="med" len="med"/>
            <a:tailEnd type="none" w="med" len="med"/>
          </a:ln>
        </p:spPr>
        <p:txBody>
          <a:bodyPr anchor="t"/>
          <a:lstStyle/>
          <a:p>
            <a:pPr algn="ctr"/>
            <a:r>
              <a:rPr lang="zh-CN" altLang="en-US" dirty="0">
                <a:latin typeface="Times New Roman" panose="02020603050405020304" pitchFamily="18" charset="0"/>
                <a:ea typeface="黑体" panose="02010609060101010101" pitchFamily="49" charset="-122"/>
              </a:rPr>
              <a:t>仙女</a:t>
            </a:r>
            <a:endParaRPr lang="zh-CN" altLang="en-US" dirty="0">
              <a:latin typeface="Times New Roman" panose="02020603050405020304" pitchFamily="18" charset="0"/>
              <a:ea typeface="黑体" panose="02010609060101010101" pitchFamily="49" charset="-122"/>
            </a:endParaRPr>
          </a:p>
        </p:txBody>
      </p:sp>
      <p:sp>
        <p:nvSpPr>
          <p:cNvPr id="190470" name="AutoShape 6"/>
          <p:cNvSpPr/>
          <p:nvPr/>
        </p:nvSpPr>
        <p:spPr>
          <a:xfrm>
            <a:off x="7823200" y="2493964"/>
            <a:ext cx="1873250" cy="719137"/>
          </a:xfrm>
          <a:prstGeom prst="wedgeRoundRectCallout">
            <a:avLst>
              <a:gd name="adj1" fmla="val -1273"/>
              <a:gd name="adj2" fmla="val 138523"/>
              <a:gd name="adj3" fmla="val 16667"/>
            </a:avLst>
          </a:prstGeom>
          <a:solidFill>
            <a:srgbClr val="CC6600">
              <a:alpha val="79999"/>
            </a:srgbClr>
          </a:solidFill>
          <a:ln w="9525" cap="flat" cmpd="sng">
            <a:solidFill>
              <a:schemeClr val="tx1"/>
            </a:solidFill>
            <a:prstDash val="solid"/>
            <a:miter/>
            <a:headEnd type="none" w="med" len="med"/>
            <a:tailEnd type="none" w="med" len="med"/>
          </a:ln>
        </p:spPr>
        <p:txBody>
          <a:bodyPr anchor="t"/>
          <a:lstStyle/>
          <a:p>
            <a:pPr algn="ctr"/>
            <a:r>
              <a:rPr lang="zh-CN" altLang="en-US" dirty="0">
                <a:solidFill>
                  <a:srgbClr val="99FF99"/>
                </a:solidFill>
                <a:latin typeface="Times New Roman" panose="02020603050405020304" pitchFamily="18" charset="0"/>
                <a:ea typeface="黑体" panose="02010609060101010101" pitchFamily="49" charset="-122"/>
              </a:rPr>
              <a:t>嫦娥</a:t>
            </a:r>
            <a:r>
              <a:rPr lang="en-US" altLang="zh-CN" sz="1600" dirty="0">
                <a:solidFill>
                  <a:srgbClr val="99FF99"/>
                </a:solidFill>
                <a:latin typeface="Times New Roman" panose="02020603050405020304" pitchFamily="18" charset="0"/>
                <a:ea typeface="黑体" panose="02010609060101010101" pitchFamily="49" charset="-122"/>
              </a:rPr>
              <a:t>—</a:t>
            </a:r>
            <a:r>
              <a:rPr lang="zh-CN" altLang="en-US" sz="1600" dirty="0">
                <a:solidFill>
                  <a:srgbClr val="99FF99"/>
                </a:solidFill>
                <a:latin typeface="Times New Roman" panose="02020603050405020304" pitchFamily="18" charset="0"/>
                <a:ea typeface="黑体" panose="02010609060101010101" pitchFamily="49" charset="-122"/>
              </a:rPr>
              <a:t>猪八戒</a:t>
            </a:r>
            <a:endParaRPr lang="zh-CN" altLang="en-US" sz="1600" dirty="0">
              <a:solidFill>
                <a:srgbClr val="99FF99"/>
              </a:solidFill>
              <a:latin typeface="Times New Roman" panose="02020603050405020304" pitchFamily="18" charset="0"/>
              <a:ea typeface="黑体" panose="02010609060101010101" pitchFamily="49" charset="-122"/>
            </a:endParaRPr>
          </a:p>
        </p:txBody>
      </p:sp>
      <p:sp>
        <p:nvSpPr>
          <p:cNvPr id="190472" name="AutoShape 8"/>
          <p:cNvSpPr/>
          <p:nvPr/>
        </p:nvSpPr>
        <p:spPr>
          <a:xfrm>
            <a:off x="3935413" y="2492375"/>
            <a:ext cx="1873250" cy="719138"/>
          </a:xfrm>
          <a:prstGeom prst="wedgeRoundRectCallout">
            <a:avLst>
              <a:gd name="adj1" fmla="val -65593"/>
              <a:gd name="adj2" fmla="val 178477"/>
              <a:gd name="adj3" fmla="val 16667"/>
            </a:avLst>
          </a:prstGeom>
          <a:solidFill>
            <a:srgbClr val="CC6600">
              <a:alpha val="79999"/>
            </a:srgbClr>
          </a:solidFill>
          <a:ln w="9525" cap="flat" cmpd="sng">
            <a:solidFill>
              <a:schemeClr val="tx1"/>
            </a:solidFill>
            <a:prstDash val="solid"/>
            <a:miter/>
            <a:headEnd type="none" w="med" len="med"/>
            <a:tailEnd type="none" w="med" len="med"/>
          </a:ln>
        </p:spPr>
        <p:txBody>
          <a:bodyPr anchor="t"/>
          <a:lstStyle/>
          <a:p>
            <a:pPr algn="ctr"/>
            <a:r>
              <a:rPr lang="zh-CN" altLang="en-US" dirty="0">
                <a:solidFill>
                  <a:srgbClr val="99FF99"/>
                </a:solidFill>
                <a:latin typeface="Times New Roman" panose="02020603050405020304" pitchFamily="18" charset="0"/>
                <a:ea typeface="黑体" panose="02010609060101010101" pitchFamily="49" charset="-122"/>
              </a:rPr>
              <a:t>织女</a:t>
            </a:r>
            <a:r>
              <a:rPr lang="en-US" altLang="zh-CN" sz="1600" dirty="0">
                <a:solidFill>
                  <a:srgbClr val="99FF99"/>
                </a:solidFill>
                <a:latin typeface="Times New Roman" panose="02020603050405020304" pitchFamily="18" charset="0"/>
                <a:ea typeface="黑体" panose="02010609060101010101" pitchFamily="49" charset="-122"/>
              </a:rPr>
              <a:t>—</a:t>
            </a:r>
            <a:r>
              <a:rPr lang="zh-CN" altLang="en-US" sz="1600" dirty="0">
                <a:solidFill>
                  <a:srgbClr val="99FF99"/>
                </a:solidFill>
                <a:latin typeface="Times New Roman" panose="02020603050405020304" pitchFamily="18" charset="0"/>
                <a:ea typeface="黑体" panose="02010609060101010101" pitchFamily="49" charset="-122"/>
              </a:rPr>
              <a:t>牛郎</a:t>
            </a:r>
            <a:endParaRPr lang="zh-CN" altLang="en-US" sz="1600" dirty="0">
              <a:solidFill>
                <a:srgbClr val="99FF99"/>
              </a:solidFill>
              <a:latin typeface="Times New Roman" panose="02020603050405020304" pitchFamily="18" charset="0"/>
              <a:ea typeface="黑体" panose="02010609060101010101" pitchFamily="49" charset="-122"/>
            </a:endParaRPr>
          </a:p>
        </p:txBody>
      </p:sp>
      <p:sp>
        <p:nvSpPr>
          <p:cNvPr id="190474" name="AutoShape 10"/>
          <p:cNvSpPr/>
          <p:nvPr/>
        </p:nvSpPr>
        <p:spPr>
          <a:xfrm>
            <a:off x="7391400" y="692150"/>
            <a:ext cx="1873250" cy="719138"/>
          </a:xfrm>
          <a:prstGeom prst="wedgeRoundRectCallout">
            <a:avLst>
              <a:gd name="adj1" fmla="val -129324"/>
              <a:gd name="adj2" fmla="val 351764"/>
              <a:gd name="adj3" fmla="val 16667"/>
            </a:avLst>
          </a:prstGeom>
          <a:solidFill>
            <a:srgbClr val="CC6600">
              <a:alpha val="50195"/>
            </a:srgbClr>
          </a:solidFill>
          <a:ln w="9525" cap="flat" cmpd="sng">
            <a:solidFill>
              <a:schemeClr val="tx1"/>
            </a:solidFill>
            <a:prstDash val="solid"/>
            <a:miter/>
            <a:headEnd type="none" w="med" len="med"/>
            <a:tailEnd type="none" w="med" len="med"/>
          </a:ln>
        </p:spPr>
        <p:txBody>
          <a:bodyPr anchor="t"/>
          <a:lstStyle/>
          <a:p>
            <a:pPr algn="ctr"/>
            <a:r>
              <a:rPr lang="zh-CN" altLang="en-US" dirty="0">
                <a:solidFill>
                  <a:srgbClr val="99FF99"/>
                </a:solidFill>
                <a:latin typeface="Times New Roman" panose="02020603050405020304" pitchFamily="18" charset="0"/>
                <a:ea typeface="黑体" panose="02010609060101010101" pitchFamily="49" charset="-122"/>
              </a:rPr>
              <a:t>王母娘娘</a:t>
            </a:r>
            <a:endParaRPr lang="zh-CN" altLang="en-US" dirty="0">
              <a:solidFill>
                <a:srgbClr val="99FF99"/>
              </a:solidFill>
              <a:latin typeface="Times New Roman" panose="02020603050405020304" pitchFamily="18" charset="0"/>
              <a:ea typeface="黑体" panose="02010609060101010101" pitchFamily="49" charset="-122"/>
            </a:endParaRPr>
          </a:p>
        </p:txBody>
      </p:sp>
      <p:sp>
        <p:nvSpPr>
          <p:cNvPr id="190471" name="AutoShape 7"/>
          <p:cNvSpPr/>
          <p:nvPr/>
        </p:nvSpPr>
        <p:spPr>
          <a:xfrm>
            <a:off x="5878513" y="2493964"/>
            <a:ext cx="1873250" cy="719137"/>
          </a:xfrm>
          <a:prstGeom prst="wedgeRoundRectCallout">
            <a:avLst>
              <a:gd name="adj1" fmla="val 45847"/>
              <a:gd name="adj2" fmla="val 140727"/>
              <a:gd name="adj3" fmla="val 16667"/>
            </a:avLst>
          </a:prstGeom>
          <a:solidFill>
            <a:srgbClr val="CC6600">
              <a:alpha val="79999"/>
            </a:srgbClr>
          </a:solidFill>
          <a:ln w="9525" cap="flat" cmpd="sng">
            <a:solidFill>
              <a:schemeClr val="tx1"/>
            </a:solidFill>
            <a:prstDash val="solid"/>
            <a:miter/>
            <a:headEnd type="none" w="med" len="med"/>
            <a:tailEnd type="none" w="med" len="med"/>
          </a:ln>
        </p:spPr>
        <p:txBody>
          <a:bodyPr anchor="t"/>
          <a:lstStyle/>
          <a:p>
            <a:pPr algn="ctr"/>
            <a:r>
              <a:rPr lang="zh-CN" altLang="en-US" dirty="0">
                <a:solidFill>
                  <a:srgbClr val="99FF99"/>
                </a:solidFill>
                <a:latin typeface="Times New Roman" panose="02020603050405020304" pitchFamily="18" charset="0"/>
                <a:ea typeface="黑体" panose="02010609060101010101" pitchFamily="49" charset="-122"/>
              </a:rPr>
              <a:t>七仙女</a:t>
            </a:r>
            <a:r>
              <a:rPr lang="en-US" altLang="zh-CN" sz="1600" dirty="0">
                <a:solidFill>
                  <a:srgbClr val="99FF99"/>
                </a:solidFill>
                <a:latin typeface="Times New Roman" panose="02020603050405020304" pitchFamily="18" charset="0"/>
                <a:ea typeface="黑体" panose="02010609060101010101" pitchFamily="49" charset="-122"/>
              </a:rPr>
              <a:t>—</a:t>
            </a:r>
            <a:r>
              <a:rPr lang="zh-CN" altLang="en-US" sz="1600" dirty="0">
                <a:solidFill>
                  <a:srgbClr val="99FF99"/>
                </a:solidFill>
                <a:latin typeface="Times New Roman" panose="02020603050405020304" pitchFamily="18" charset="0"/>
                <a:ea typeface="黑体" panose="02010609060101010101" pitchFamily="49" charset="-122"/>
              </a:rPr>
              <a:t>董永</a:t>
            </a:r>
            <a:endParaRPr lang="zh-CN" altLang="en-US" sz="1600" dirty="0">
              <a:solidFill>
                <a:srgbClr val="99FF99"/>
              </a:solidFill>
              <a:latin typeface="Times New Roman" panose="02020603050405020304" pitchFamily="18" charset="0"/>
              <a:ea typeface="黑体" panose="02010609060101010101" pitchFamily="49" charset="-122"/>
            </a:endParaRPr>
          </a:p>
        </p:txBody>
      </p:sp>
      <p:sp>
        <p:nvSpPr>
          <p:cNvPr id="190477" name="Text Box 13"/>
          <p:cNvSpPr txBox="1"/>
          <p:nvPr/>
        </p:nvSpPr>
        <p:spPr>
          <a:xfrm>
            <a:off x="2424114" y="4635500"/>
            <a:ext cx="7272337" cy="954088"/>
          </a:xfrm>
          <a:prstGeom prst="rect">
            <a:avLst/>
          </a:prstGeom>
          <a:solidFill>
            <a:srgbClr val="CC0099">
              <a:alpha val="59999"/>
            </a:srgbClr>
          </a:solidFill>
          <a:ln w="38100" cap="flat" cmpd="sng">
            <a:solidFill>
              <a:schemeClr val="tx2"/>
            </a:solidFill>
            <a:prstDash val="solid"/>
            <a:miter/>
            <a:headEnd type="none" w="med" len="med"/>
            <a:tailEnd type="none" w="med" len="med"/>
          </a:ln>
        </p:spPr>
        <p:txBody>
          <a:bodyPr anchor="t">
            <a:spAutoFit/>
          </a:bodyPr>
          <a:lstStyle/>
          <a:p>
            <a:pPr>
              <a:spcBef>
                <a:spcPct val="50000"/>
              </a:spcBef>
            </a:pPr>
            <a:r>
              <a:rPr lang="zh-CN" altLang="en-US" dirty="0">
                <a:solidFill>
                  <a:srgbClr val="99FF99"/>
                </a:solidFill>
                <a:latin typeface="黑体" panose="02010609060101010101" pitchFamily="49" charset="-122"/>
                <a:ea typeface="黑体" panose="02010609060101010101" pitchFamily="49" charset="-122"/>
              </a:rPr>
              <a:t>最后嫦娥就进行性贿赂说：</a:t>
            </a:r>
            <a:r>
              <a:rPr lang="zh-CN" altLang="en-US" dirty="0">
                <a:solidFill>
                  <a:srgbClr val="99FF99"/>
                </a:solidFill>
                <a:latin typeface="Times New Roman" panose="02020603050405020304" pitchFamily="18" charset="0"/>
                <a:ea typeface="黑体" panose="02010609060101010101" pitchFamily="49" charset="-122"/>
              </a:rPr>
              <a:t>“</a:t>
            </a:r>
            <a:r>
              <a:rPr lang="zh-CN" altLang="en-US" dirty="0">
                <a:solidFill>
                  <a:srgbClr val="99FF99"/>
                </a:solidFill>
                <a:latin typeface="黑体" panose="02010609060101010101" pitchFamily="49" charset="-122"/>
                <a:ea typeface="黑体" panose="02010609060101010101" pitchFamily="49" charset="-122"/>
              </a:rPr>
              <a:t>你如果评我，我就把人间最漂亮的女人给你</a:t>
            </a:r>
            <a:r>
              <a:rPr lang="zh-CN" altLang="en-US" dirty="0">
                <a:solidFill>
                  <a:srgbClr val="99FF99"/>
                </a:solidFill>
                <a:latin typeface="Times New Roman" panose="02020603050405020304" pitchFamily="18" charset="0"/>
                <a:ea typeface="黑体" panose="02010609060101010101" pitchFamily="49" charset="-122"/>
              </a:rPr>
              <a:t>”</a:t>
            </a:r>
            <a:r>
              <a:rPr lang="zh-CN" altLang="en-US" dirty="0">
                <a:solidFill>
                  <a:srgbClr val="99FF99"/>
                </a:solidFill>
                <a:latin typeface="黑体" panose="02010609060101010101" pitchFamily="49" charset="-122"/>
                <a:ea typeface="黑体" panose="02010609060101010101" pitchFamily="49" charset="-122"/>
              </a:rPr>
              <a:t> 帕里斯就进入了幻想中，于是就选嫦娥为最漂亮的仙女。于是嫦娥就帮助帕里斯把斯巴达国王的妻子海伦拐走，把她带到特洛伊</a:t>
            </a:r>
            <a:r>
              <a:rPr lang="en-US" altLang="zh-CN" dirty="0">
                <a:solidFill>
                  <a:srgbClr val="99FF99"/>
                </a:solidFill>
                <a:latin typeface="Times New Roman" panose="02020603050405020304" pitchFamily="18" charset="0"/>
                <a:ea typeface="黑体" panose="02010609060101010101" pitchFamily="49" charset="-122"/>
              </a:rPr>
              <a:t>……</a:t>
            </a:r>
            <a:endParaRPr lang="en-US" altLang="zh-CN" dirty="0">
              <a:solidFill>
                <a:srgbClr val="99FF99"/>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0474"/>
                                        </p:tgtEl>
                                        <p:attrNameLst>
                                          <p:attrName>style.visibility</p:attrName>
                                        </p:attrNameLst>
                                      </p:cBhvr>
                                      <p:to>
                                        <p:strVal val="visible"/>
                                      </p:to>
                                    </p:set>
                                    <p:animEffect transition="in" filter="wipe(down)">
                                      <p:cBhvr>
                                        <p:cTn id="7" dur="500"/>
                                        <p:tgtEl>
                                          <p:spTgt spid="1904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0468"/>
                                        </p:tgtEl>
                                        <p:attrNameLst>
                                          <p:attrName>style.visibility</p:attrName>
                                        </p:attrNameLst>
                                      </p:cBhvr>
                                      <p:to>
                                        <p:strVal val="visible"/>
                                      </p:to>
                                    </p:set>
                                    <p:animEffect transition="in" filter="wipe(down)">
                                      <p:cBhvr>
                                        <p:cTn id="12" dur="500"/>
                                        <p:tgtEl>
                                          <p:spTgt spid="1904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0471"/>
                                        </p:tgtEl>
                                        <p:attrNameLst>
                                          <p:attrName>style.visibility</p:attrName>
                                        </p:attrNameLst>
                                      </p:cBhvr>
                                      <p:to>
                                        <p:strVal val="visible"/>
                                      </p:to>
                                    </p:set>
                                    <p:animEffect transition="in" filter="wipe(down)">
                                      <p:cBhvr>
                                        <p:cTn id="17" dur="500"/>
                                        <p:tgtEl>
                                          <p:spTgt spid="1904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90470"/>
                                        </p:tgtEl>
                                        <p:attrNameLst>
                                          <p:attrName>style.visibility</p:attrName>
                                        </p:attrNameLst>
                                      </p:cBhvr>
                                      <p:to>
                                        <p:strVal val="visible"/>
                                      </p:to>
                                    </p:set>
                                    <p:animEffect transition="in" filter="wipe(down)">
                                      <p:cBhvr>
                                        <p:cTn id="22" dur="500"/>
                                        <p:tgtEl>
                                          <p:spTgt spid="1904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90472"/>
                                        </p:tgtEl>
                                        <p:attrNameLst>
                                          <p:attrName>style.visibility</p:attrName>
                                        </p:attrNameLst>
                                      </p:cBhvr>
                                      <p:to>
                                        <p:strVal val="visible"/>
                                      </p:to>
                                    </p:set>
                                    <p:animEffect transition="in" filter="wipe(down)">
                                      <p:cBhvr>
                                        <p:cTn id="27" dur="500"/>
                                        <p:tgtEl>
                                          <p:spTgt spid="1904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90477"/>
                                        </p:tgtEl>
                                        <p:attrNameLst>
                                          <p:attrName>style.visibility</p:attrName>
                                        </p:attrNameLst>
                                      </p:cBhvr>
                                      <p:to>
                                        <p:strVal val="visible"/>
                                      </p:to>
                                    </p:set>
                                    <p:animEffect transition="in" filter="wipe(up)">
                                      <p:cBhvr>
                                        <p:cTn id="32" dur="500"/>
                                        <p:tgtEl>
                                          <p:spTgt spid="190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8" grpId="0" animBg="1"/>
      <p:bldP spid="190470" grpId="0" animBg="1"/>
      <p:bldP spid="190472" grpId="0" animBg="1"/>
      <p:bldP spid="190474" grpId="0" animBg="1"/>
      <p:bldP spid="190471" grpId="0" animBg="1"/>
      <p:bldP spid="19047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400" kern="0">
                <a:solidFill>
                  <a:schemeClr val="tx2"/>
                </a:solidFill>
                <a:effectLst>
                  <a:outerShdw blurRad="38100" dist="38100" dir="2700000" algn="tl">
                    <a:srgbClr val="000000"/>
                  </a:outerShdw>
                </a:effectLst>
              </a:rPr>
              <a:t>战争经过</a:t>
            </a:r>
            <a:endParaRPr kumimoji="1" lang="zh-CN" altLang="en-US" sz="4400" kern="0">
              <a:solidFill>
                <a:schemeClr val="tx2"/>
              </a:solidFill>
              <a:effectLst>
                <a:outerShdw blurRad="38100" dist="38100" dir="2700000" algn="tl">
                  <a:srgbClr val="000000"/>
                </a:outerShdw>
              </a:effectLst>
            </a:endParaRPr>
          </a:p>
        </p:txBody>
      </p:sp>
      <p:sp>
        <p:nvSpPr>
          <p:cNvPr id="10242" name="Rectangle 3"/>
          <p:cNvSpPr>
            <a:spLocks noGrp="1"/>
          </p:cNvSpPr>
          <p:nvPr>
            <p:ph idx="1"/>
          </p:nvPr>
        </p:nvSpPr>
        <p:spPr/>
        <p:txBody>
          <a:bodyPr vert="horz" wrap="square" lIns="91440" tIns="45720" rIns="91440" bIns="45720" anchor="t"/>
          <a:lstStyle/>
          <a:p>
            <a:pPr eaLnBrk="1" hangingPunct="1">
              <a:lnSpc>
                <a:spcPct val="90000"/>
              </a:lnSpc>
            </a:pPr>
            <a:r>
              <a:rPr lang="en-US" altLang="zh-CN" sz="2400" dirty="0"/>
              <a:t>        </a:t>
            </a:r>
            <a:r>
              <a:rPr lang="zh-CN" altLang="en-US" sz="2400" dirty="0"/>
              <a:t>斯巴达国王美内劳斯因为其太太海伦被帕里斯所带走，因此向希腊各城邦求助，共同出兵特洛伊。但特洛伊因为有亚马逊女战士和黎明女神儿子梅农的帮忙，与维纳斯暗中协助，所以能抵抗希腊联军。但因为雅典娜得不到金苹果，所以不愿放过特洛伊，而且指示奥德修斯向希腊联军献上</a:t>
            </a:r>
            <a:r>
              <a:rPr lang="zh-CN" altLang="en-US" sz="2400" dirty="0">
                <a:solidFill>
                  <a:schemeClr val="tx2"/>
                </a:solidFill>
              </a:rPr>
              <a:t>木马屠城之计</a:t>
            </a:r>
            <a:r>
              <a:rPr lang="zh-CN" altLang="en-US" sz="2400" dirty="0"/>
              <a:t>。 </a:t>
            </a:r>
            <a:r>
              <a:rPr lang="zh-CN" altLang="en-US" sz="2400" dirty="0">
                <a:solidFill>
                  <a:schemeClr val="folHlink"/>
                </a:solidFill>
              </a:rPr>
              <a:t>有一天，希腊联军突然撤退，并留下一只木马，特洛伊人将其当作战利品带回城内。在当天晚上，当特洛伊士兵为胜利而庆祝时，藏匿在木马中的希腊兵悄悄打开城门，将城外的军舰迎进，在一夜间消灭特洛伊城，城内男丁悉数被杀。</a:t>
            </a:r>
            <a:r>
              <a:rPr lang="zh-CN" altLang="en-US" sz="2400" dirty="0"/>
              <a:t> </a:t>
            </a:r>
            <a:endParaRPr lang="zh-CN" altLang="en-US" sz="2400" dirty="0"/>
          </a:p>
          <a:p>
            <a:pPr eaLnBrk="1" hangingPunct="1">
              <a:lnSpc>
                <a:spcPct val="90000"/>
              </a:lnSpc>
            </a:pPr>
            <a:endParaRPr lang="zh-CN" altLang="en-US" sz="2400" dirty="0"/>
          </a:p>
          <a:p>
            <a:pPr eaLnBrk="1" hangingPunct="1">
              <a:lnSpc>
                <a:spcPct val="90000"/>
              </a:lnSpc>
            </a:pP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3"/>
          <p:cNvSpPr>
            <a:spLocks noGrp="1"/>
          </p:cNvSpPr>
          <p:nvPr>
            <p:ph idx="1"/>
          </p:nvPr>
        </p:nvSpPr>
        <p:spPr>
          <a:xfrm>
            <a:off x="1484630" y="1325880"/>
            <a:ext cx="9222740" cy="4924425"/>
          </a:xfrm>
        </p:spPr>
        <p:txBody>
          <a:bodyPr vert="horz" wrap="square" lIns="91440" tIns="45720" rIns="91440" bIns="45720" anchor="t"/>
          <a:lstStyle/>
          <a:p>
            <a:pPr algn="just" eaLnBrk="1" hangingPunct="1">
              <a:lnSpc>
                <a:spcPct val="80000"/>
              </a:lnSpc>
            </a:pPr>
            <a:r>
              <a:rPr lang="zh-CN" altLang="en-US" sz="2600" b="1" dirty="0"/>
              <a:t>特洛伊木马技术发展至今，已经经历了六代。 </a:t>
            </a:r>
            <a:endParaRPr lang="zh-CN" altLang="en-US" sz="2600" b="1" dirty="0"/>
          </a:p>
          <a:p>
            <a:pPr algn="just" eaLnBrk="1" hangingPunct="1">
              <a:lnSpc>
                <a:spcPct val="80000"/>
              </a:lnSpc>
            </a:pPr>
            <a:r>
              <a:rPr lang="zh-CN" altLang="en-US" sz="2600" b="1" dirty="0"/>
              <a:t>第一代，即是简单的密码窃取，发送等，没有什么特别之处。</a:t>
            </a:r>
            <a:endParaRPr lang="zh-CN" altLang="en-US" sz="2600" b="1" dirty="0"/>
          </a:p>
          <a:p>
            <a:pPr algn="just" eaLnBrk="1" hangingPunct="1">
              <a:lnSpc>
                <a:spcPct val="80000"/>
              </a:lnSpc>
            </a:pPr>
            <a:r>
              <a:rPr lang="zh-CN" altLang="en-US" sz="2600" b="1" dirty="0"/>
              <a:t>第二代木马，在技术上有了很大的进步，著名的木马</a:t>
            </a:r>
            <a:r>
              <a:rPr lang="en-US" altLang="zh-CN" sz="2600" b="1" dirty="0"/>
              <a:t>BO</a:t>
            </a:r>
            <a:r>
              <a:rPr lang="zh-CN" altLang="en-US" sz="2600" b="1" dirty="0"/>
              <a:t>可以说代表了这一代木马的最高水平，而木马冰河则是国内木马的典型代表之一。</a:t>
            </a:r>
            <a:endParaRPr lang="zh-CN" altLang="en-US" sz="2600" b="1" dirty="0"/>
          </a:p>
          <a:p>
            <a:pPr algn="just" eaLnBrk="1" hangingPunct="1">
              <a:lnSpc>
                <a:spcPct val="80000"/>
              </a:lnSpc>
            </a:pPr>
            <a:r>
              <a:rPr lang="zh-CN" altLang="en-US" sz="2600" b="1" dirty="0"/>
              <a:t>第三代木马在数据传递技术上，又做了不小的改进，出现了</a:t>
            </a:r>
            <a:r>
              <a:rPr lang="en-US" altLang="zh-CN" sz="2600" b="1" dirty="0"/>
              <a:t>ICMP</a:t>
            </a:r>
            <a:r>
              <a:rPr lang="zh-CN" altLang="en-US" sz="2600" b="1" dirty="0"/>
              <a:t>等类型的木马，利用畸形报文传递数据，增加了查杀的难度。</a:t>
            </a:r>
            <a:endParaRPr lang="zh-CN" altLang="en-US" sz="2600" b="1" dirty="0"/>
          </a:p>
          <a:p>
            <a:pPr algn="just" eaLnBrk="1" hangingPunct="1">
              <a:lnSpc>
                <a:spcPct val="80000"/>
              </a:lnSpc>
            </a:pPr>
            <a:r>
              <a:rPr lang="zh-CN" altLang="en-US" sz="2600" b="1" dirty="0"/>
              <a:t>第四代木马在进程隐藏方面，做了大的改动，采用了内核插入式的嵌入方式，利用远程插入线程技术，嵌入</a:t>
            </a:r>
            <a:r>
              <a:rPr lang="en-US" altLang="zh-CN" sz="2600" b="1" dirty="0"/>
              <a:t>DLL</a:t>
            </a:r>
            <a:r>
              <a:rPr lang="zh-CN" altLang="en-US" sz="2600" b="1" dirty="0"/>
              <a:t>线程。或者挂接</a:t>
            </a:r>
            <a:r>
              <a:rPr lang="en-US" altLang="zh-CN" sz="2600" b="1" dirty="0"/>
              <a:t>PSAPI</a:t>
            </a:r>
            <a:r>
              <a:rPr lang="zh-CN" altLang="en-US" sz="2600" b="1" dirty="0"/>
              <a:t>，实现木马程序的隐藏，在</a:t>
            </a:r>
            <a:r>
              <a:rPr lang="en-US" altLang="zh-CN" sz="2600" b="1" dirty="0"/>
              <a:t>Windows NT/2000</a:t>
            </a:r>
            <a:r>
              <a:rPr lang="zh-CN" altLang="en-US" sz="2600" b="1" dirty="0"/>
              <a:t>下，都达到了良好的隐藏效果。灰鸽子和蜜蜂大盗是比较出名的DLL木马。 </a:t>
            </a:r>
            <a:endParaRPr lang="zh-CN" altLang="en-US" sz="26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第五代，驱动级木马。驱动级木马多数都使用了大量的Rootkit技术来达到在深度隐藏的效果，并深入到内核空间的，感染后针对杀毒软件和网络防火墙进行攻击，可将系统SSDT初始化，导致杀毒防火墙失去效应。有的驱动级木马可驻留BIOS，并且很难查杀。</a:t>
            </a:r>
            <a:endParaRPr lang="zh-CN" altLang="en-US"/>
          </a:p>
          <a:p>
            <a:r>
              <a:rPr lang="zh-CN" altLang="en-US"/>
              <a:t>第六代，随着身份认证UsbKey和杀毒软件主动防御的兴起，黏虫技术类型和特殊反显技术类型木马逐渐开始系统化。前者主要以盗取和篡改用户敏感信息为主，后者以动态口令和硬证书攻击为主。PassCopy和暗黑蜘蛛侠是这类木马的代表。</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特洛伊木马的基本概念</a:t>
            </a:r>
            <a:endParaRPr kumimoji="1" lang="zh-CN" altLang="en-US" sz="5000" b="1" kern="0">
              <a:solidFill>
                <a:srgbClr val="99FF99"/>
              </a:solidFill>
              <a:effectLst>
                <a:outerShdw blurRad="38100" dist="38100" dir="2700000" algn="tl">
                  <a:srgbClr val="000000"/>
                </a:outerShdw>
              </a:effectLst>
            </a:endParaRPr>
          </a:p>
        </p:txBody>
      </p:sp>
      <p:sp>
        <p:nvSpPr>
          <p:cNvPr id="12290"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sz="3000" b="1" dirty="0"/>
              <a:t>        </a:t>
            </a:r>
            <a:r>
              <a:rPr lang="zh-CN" altLang="en-US" sz="3000" b="1" dirty="0"/>
              <a:t>目前网络环境下的特洛伊木马远程植入技术主要有以下几种：</a:t>
            </a:r>
            <a:endParaRPr lang="zh-CN" altLang="en-US" sz="3000" b="1" dirty="0"/>
          </a:p>
          <a:p>
            <a:pPr algn="just" eaLnBrk="1" hangingPunct="1">
              <a:lnSpc>
                <a:spcPct val="90000"/>
              </a:lnSpc>
            </a:pPr>
            <a:r>
              <a:rPr lang="zh-CN" altLang="en-US" sz="3000" b="1" dirty="0"/>
              <a:t>（</a:t>
            </a:r>
            <a:r>
              <a:rPr lang="en-US" altLang="zh-CN" sz="3000" b="1" dirty="0"/>
              <a:t>1</a:t>
            </a:r>
            <a:r>
              <a:rPr lang="zh-CN" altLang="en-US" sz="3000" b="1" dirty="0"/>
              <a:t>）利用用户的疏忽或大意执行木马程序；</a:t>
            </a:r>
            <a:endParaRPr lang="zh-CN" altLang="en-US" sz="3000" b="1" dirty="0"/>
          </a:p>
          <a:p>
            <a:pPr algn="just" eaLnBrk="1" hangingPunct="1">
              <a:lnSpc>
                <a:spcPct val="90000"/>
              </a:lnSpc>
            </a:pPr>
            <a:r>
              <a:rPr lang="zh-CN" altLang="en-US" sz="3000" b="1" dirty="0"/>
              <a:t>（</a:t>
            </a:r>
            <a:r>
              <a:rPr lang="en-US" altLang="zh-CN" sz="3000" b="1" dirty="0"/>
              <a:t>2</a:t>
            </a:r>
            <a:r>
              <a:rPr lang="zh-CN" altLang="en-US" sz="3000" b="1" dirty="0"/>
              <a:t>）利用附件形式（如电子邮件的附件）下载自动执行；</a:t>
            </a:r>
            <a:endParaRPr lang="zh-CN" altLang="en-US" sz="3000" b="1" dirty="0"/>
          </a:p>
          <a:p>
            <a:pPr algn="just" eaLnBrk="1" hangingPunct="1">
              <a:lnSpc>
                <a:spcPct val="90000"/>
              </a:lnSpc>
            </a:pPr>
            <a:r>
              <a:rPr lang="zh-CN" altLang="en-US" sz="3000" b="1" dirty="0"/>
              <a:t>（</a:t>
            </a:r>
            <a:r>
              <a:rPr lang="en-US" altLang="zh-CN" sz="3000" b="1" dirty="0"/>
              <a:t>3</a:t>
            </a:r>
            <a:r>
              <a:rPr lang="zh-CN" altLang="en-US" sz="3000" b="1" dirty="0"/>
              <a:t>）恶意网页嵌入恶意代码；</a:t>
            </a:r>
            <a:endParaRPr lang="zh-CN" altLang="en-US" sz="3000" b="1" dirty="0"/>
          </a:p>
          <a:p>
            <a:pPr algn="just" eaLnBrk="1" hangingPunct="1">
              <a:lnSpc>
                <a:spcPct val="90000"/>
              </a:lnSpc>
            </a:pPr>
            <a:r>
              <a:rPr lang="zh-CN" altLang="en-US" sz="3000" b="1" dirty="0"/>
              <a:t>（</a:t>
            </a:r>
            <a:r>
              <a:rPr lang="en-US" altLang="zh-CN" sz="3000" b="1" dirty="0"/>
              <a:t>4</a:t>
            </a:r>
            <a:r>
              <a:rPr lang="zh-CN" altLang="en-US" sz="3000" b="1" dirty="0"/>
              <a:t>）利用系统或软件的漏洞；</a:t>
            </a:r>
            <a:endParaRPr lang="zh-CN" altLang="en-US" sz="3000" b="1" dirty="0"/>
          </a:p>
          <a:p>
            <a:pPr algn="just" eaLnBrk="1" hangingPunct="1">
              <a:lnSpc>
                <a:spcPct val="90000"/>
              </a:lnSpc>
            </a:pPr>
            <a:r>
              <a:rPr lang="zh-CN" altLang="en-US" sz="3000" b="1" dirty="0"/>
              <a:t>（</a:t>
            </a:r>
            <a:r>
              <a:rPr lang="en-US" altLang="zh-CN" sz="3000" b="1" dirty="0"/>
              <a:t>5</a:t>
            </a:r>
            <a:r>
              <a:rPr lang="zh-CN" altLang="en-US" sz="3000" b="1" dirty="0"/>
              <a:t>）借鉴病毒机制等等。</a:t>
            </a:r>
            <a:endParaRPr lang="zh-CN" altLang="en-US" sz="3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特洛伊木马的基本概念</a:t>
            </a:r>
            <a:endParaRPr kumimoji="1" lang="zh-CN" altLang="en-US" sz="5000" b="1" kern="0">
              <a:solidFill>
                <a:srgbClr val="99FF99"/>
              </a:solidFill>
              <a:effectLst>
                <a:outerShdw blurRad="38100" dist="38100" dir="2700000" algn="tl">
                  <a:srgbClr val="000000"/>
                </a:outerShdw>
              </a:effectLst>
            </a:endParaRPr>
          </a:p>
        </p:txBody>
      </p:sp>
      <p:sp>
        <p:nvSpPr>
          <p:cNvPr id="13314" name="Rectangle 3"/>
          <p:cNvSpPr>
            <a:spLocks noGrp="1"/>
          </p:cNvSpPr>
          <p:nvPr>
            <p:ph idx="1"/>
          </p:nvPr>
        </p:nvSpPr>
        <p:spPr/>
        <p:txBody>
          <a:bodyPr vert="horz" wrap="square" lIns="91440" tIns="45720" rIns="91440" bIns="45720" anchor="t"/>
          <a:lstStyle/>
          <a:p>
            <a:pPr algn="just" eaLnBrk="1" hangingPunct="1">
              <a:buClr>
                <a:schemeClr val="accent2"/>
              </a:buClr>
              <a:buSzPct val="80000"/>
              <a:buNone/>
            </a:pPr>
            <a:r>
              <a:rPr lang="zh-CN" altLang="en-US" sz="3400" b="1" dirty="0"/>
              <a:t>特洛伊木马攻击的特征可以分为三种：</a:t>
            </a:r>
            <a:endParaRPr lang="zh-CN" altLang="en-US" sz="3400" b="1" dirty="0"/>
          </a:p>
          <a:p>
            <a:pPr marL="457200" indent="-457200" algn="just" eaLnBrk="1" hangingPunct="1">
              <a:buClr>
                <a:srgbClr val="99FF99"/>
              </a:buClr>
              <a:buSzPct val="80000"/>
              <a:buFont typeface="Wingdings" panose="05000000000000000000" charset="0"/>
              <a:buChar char="u"/>
            </a:pPr>
            <a:r>
              <a:rPr lang="zh-CN" altLang="en-US" sz="3400" b="1" dirty="0"/>
              <a:t>静态特征</a:t>
            </a:r>
            <a:endParaRPr lang="zh-CN" altLang="en-US" sz="3400" b="1" dirty="0"/>
          </a:p>
          <a:p>
            <a:pPr marL="457200" indent="-457200" algn="just" eaLnBrk="1" hangingPunct="1">
              <a:buClr>
                <a:srgbClr val="99FF99"/>
              </a:buClr>
              <a:buSzPct val="80000"/>
              <a:buFont typeface="Wingdings" panose="05000000000000000000" charset="0"/>
              <a:buChar char="u"/>
            </a:pPr>
            <a:r>
              <a:rPr lang="zh-CN" altLang="en-US" sz="3400" b="1" dirty="0"/>
              <a:t>运行方式</a:t>
            </a:r>
            <a:endParaRPr lang="zh-CN" altLang="en-US" sz="3400" b="1" dirty="0"/>
          </a:p>
          <a:p>
            <a:pPr marL="457200" indent="-457200" algn="just" eaLnBrk="1" hangingPunct="1">
              <a:buClr>
                <a:srgbClr val="99FF99"/>
              </a:buClr>
              <a:buSzPct val="80000"/>
              <a:buFont typeface="Wingdings" panose="05000000000000000000" charset="0"/>
              <a:buChar char="u"/>
            </a:pPr>
            <a:r>
              <a:rPr lang="zh-CN" altLang="en-US" sz="3400" b="1" dirty="0"/>
              <a:t>流量特征</a:t>
            </a:r>
            <a:endParaRPr lang="zh-CN" altLang="en-US" sz="3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p:cNvSpPr>
          <p:nvPr>
            <p:ph idx="1"/>
          </p:nvPr>
        </p:nvSpPr>
        <p:spPr/>
        <p:txBody>
          <a:bodyPr vert="horz" wrap="square" lIns="91440" tIns="45720" rIns="91440" bIns="45720" anchor="t"/>
          <a:lstStyle/>
          <a:p>
            <a:pPr marL="571500" indent="-571500" eaLnBrk="1" hangingPunct="1">
              <a:buClr>
                <a:schemeClr val="accent1"/>
              </a:buClr>
              <a:buSzPct val="80000"/>
              <a:buFont typeface="Wingdings" panose="05000000000000000000" charset="0"/>
              <a:buChar char="Ø"/>
            </a:pPr>
            <a:r>
              <a:rPr lang="zh-CN" altLang="en-US" sz="3600" b="1" dirty="0">
                <a:latin typeface="黑体" panose="02010609060101010101" pitchFamily="49" charset="-122"/>
              </a:rPr>
              <a:t>隐蔽通信端口 </a:t>
            </a:r>
            <a:endParaRPr lang="zh-CN" altLang="en-US" sz="3600" b="1" dirty="0">
              <a:latin typeface="黑体" panose="02010609060101010101" pitchFamily="49" charset="-122"/>
            </a:endParaRPr>
          </a:p>
          <a:p>
            <a:pPr marL="571500" indent="-571500" eaLnBrk="1" hangingPunct="1">
              <a:buClr>
                <a:schemeClr val="accent1"/>
              </a:buClr>
              <a:buSzPct val="80000"/>
              <a:buFont typeface="Wingdings" panose="05000000000000000000" charset="0"/>
              <a:buChar char="Ø"/>
            </a:pPr>
            <a:r>
              <a:rPr lang="zh-CN" altLang="en-US" sz="3600" b="1" dirty="0">
                <a:latin typeface="黑体" panose="02010609060101010101" pitchFamily="49" charset="-122"/>
              </a:rPr>
              <a:t>隐藏进程 </a:t>
            </a:r>
            <a:endParaRPr lang="zh-CN" altLang="en-US" sz="3600" b="1" dirty="0">
              <a:latin typeface="黑体" panose="02010609060101010101" pitchFamily="49" charset="-122"/>
            </a:endParaRPr>
          </a:p>
          <a:p>
            <a:pPr marL="571500" indent="-571500" eaLnBrk="1" hangingPunct="1">
              <a:buClr>
                <a:schemeClr val="accent1"/>
              </a:buClr>
              <a:buSzPct val="80000"/>
              <a:buFont typeface="Wingdings" panose="05000000000000000000" charset="0"/>
              <a:buChar char="Ø"/>
            </a:pPr>
            <a:r>
              <a:rPr lang="zh-CN" altLang="en-US" sz="3600" b="1" dirty="0">
                <a:latin typeface="黑体" panose="02010609060101010101" pitchFamily="49" charset="-122"/>
              </a:rPr>
              <a:t>获取权限 </a:t>
            </a:r>
            <a:endParaRPr lang="zh-CN" altLang="en-US" sz="3600" b="1" dirty="0">
              <a:latin typeface="黑体" panose="02010609060101010101" pitchFamily="49" charset="-122"/>
            </a:endParaRPr>
          </a:p>
          <a:p>
            <a:pPr marL="571500" indent="-571500" eaLnBrk="1" hangingPunct="1">
              <a:buClr>
                <a:schemeClr val="accent1"/>
              </a:buClr>
              <a:buSzPct val="80000"/>
              <a:buFont typeface="Wingdings" panose="05000000000000000000" charset="0"/>
              <a:buChar char="Ø"/>
            </a:pPr>
            <a:r>
              <a:rPr lang="zh-CN" altLang="en-US" sz="3600" b="1" dirty="0">
                <a:latin typeface="黑体" panose="02010609060101010101" pitchFamily="49" charset="-122"/>
              </a:rPr>
              <a:t>穿透防火墙 </a:t>
            </a:r>
            <a:endParaRPr lang="zh-CN" altLang="en-US" sz="3600" b="1" dirty="0">
              <a:latin typeface="黑体" panose="02010609060101010101" pitchFamily="49" charset="-122"/>
            </a:endParaRPr>
          </a:p>
          <a:p>
            <a:pPr marL="571500" indent="-571500" eaLnBrk="1" hangingPunct="1">
              <a:buClr>
                <a:schemeClr val="accent1"/>
              </a:buClr>
              <a:buSzPct val="80000"/>
              <a:buFont typeface="Wingdings" panose="05000000000000000000" charset="0"/>
              <a:buChar char="Ø"/>
            </a:pPr>
            <a:r>
              <a:rPr lang="zh-CN" altLang="en-US" sz="3600" b="1" dirty="0">
                <a:latin typeface="黑体" panose="02010609060101010101" pitchFamily="49" charset="-122"/>
              </a:rPr>
              <a:t>更加隐蔽的加载方式</a:t>
            </a:r>
            <a:endParaRPr lang="zh-CN" altLang="en-US" sz="3600" b="1" dirty="0">
              <a:latin typeface="黑体" panose="02010609060101010101" pitchFamily="49" charset="-122"/>
            </a:endParaRPr>
          </a:p>
        </p:txBody>
      </p:sp>
      <p:grpSp>
        <p:nvGrpSpPr>
          <p:cNvPr id="65536" name="组合 65535"/>
          <p:cNvGrpSpPr/>
          <p:nvPr/>
        </p:nvGrpSpPr>
        <p:grpSpPr>
          <a:xfrm>
            <a:off x="3318062" y="499089"/>
            <a:ext cx="5433695" cy="1649431"/>
            <a:chOff x="3279913" y="488294"/>
            <a:chExt cx="5433695" cy="1649431"/>
          </a:xfrm>
        </p:grpSpPr>
        <p:grpSp>
          <p:nvGrpSpPr>
            <p:cNvPr id="14" name="组合 13"/>
            <p:cNvGrpSpPr/>
            <p:nvPr/>
          </p:nvGrpSpPr>
          <p:grpSpPr>
            <a:xfrm>
              <a:off x="3279913" y="909457"/>
              <a:ext cx="5433695" cy="1228268"/>
              <a:chOff x="3279913" y="909457"/>
              <a:chExt cx="5433695" cy="1228268"/>
            </a:xfrm>
          </p:grpSpPr>
          <p:sp>
            <p:nvSpPr>
              <p:cNvPr id="10" name="矩形: 圆角 9"/>
              <p:cNvSpPr/>
              <p:nvPr/>
            </p:nvSpPr>
            <p:spPr>
              <a:xfrm>
                <a:off x="3279913" y="909457"/>
                <a:ext cx="5433695" cy="687705"/>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3933825" cy="1105535"/>
              </a:xfrm>
              <a:prstGeom prst="rect">
                <a:avLst/>
              </a:prstGeom>
              <a:noFill/>
            </p:spPr>
            <p:txBody>
              <a:bodyPr wrap="none" rtlCol="0" anchor="t">
                <a:spAutoFit/>
              </a:bodyPr>
              <a:lstStyle/>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r>
                  <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 木马的主要实现技术</a:t>
                </a:r>
                <a:endParaRPr kumimoji="1" lang="zh-CN" altLang="en-US" sz="3200" b="1" kern="0">
                  <a:solidFill>
                    <a:schemeClr val="tx2"/>
                  </a:solidFill>
                  <a:effectLst>
                    <a:outerShdw blurRad="38100" dist="38100" dir="2700000" algn="tl">
                      <a:srgbClr val="000000"/>
                    </a:outerShdw>
                  </a:effectLst>
                </a:endParaRPr>
              </a:p>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隐蔽通信端口</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15362"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a:t>基于端口通信是木马的最大漏洞，当前木马的端口越来越高，也越来越象系统端口，但被发现的概率却越来越大。但是端口是木马的生命之源，没有端口木马是无法和外界进行通讯的，更不要说进行远程控制了。为了解决这个问题，不同的木马采用了不同的方法，大致分为以下两种方法：寄生、潜伏。</a:t>
            </a:r>
            <a:r>
              <a:rPr lang="zh-CN" altLang="en-US" dirty="0"/>
              <a:t> </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寄生</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16386" name="Rectangle 3"/>
          <p:cNvSpPr>
            <a:spLocks noGrp="1"/>
          </p:cNvSpPr>
          <p:nvPr>
            <p:ph idx="1"/>
          </p:nvPr>
        </p:nvSpPr>
        <p:spPr/>
        <p:txBody>
          <a:bodyPr vert="horz" wrap="square" lIns="91440" tIns="45720" rIns="91440" bIns="45720" anchor="t"/>
          <a:lstStyle/>
          <a:p>
            <a:pPr algn="just" eaLnBrk="1" hangingPunct="1"/>
            <a:r>
              <a:rPr lang="en-US" altLang="zh-CN" b="1" dirty="0">
                <a:latin typeface="黑体" panose="02010609060101010101" pitchFamily="49" charset="-122"/>
              </a:rPr>
              <a:t>    </a:t>
            </a:r>
            <a:r>
              <a:rPr lang="zh-CN" altLang="en-US" b="1" dirty="0">
                <a:latin typeface="黑体" panose="02010609060101010101" pitchFamily="49" charset="-122"/>
              </a:rPr>
              <a:t>寄生就是找一个已经打开的端口，寄生其上，平时只是监听，遇到特殊的指令就进行解释执行；因为木马实际上是寄生在已有的系统服务之上的，因此，你在扫描或查看系统端口的时候是没有任何异常的。这种寄生手段，在</a:t>
            </a:r>
            <a:r>
              <a:rPr lang="en-US" altLang="zh-CN" b="1" dirty="0">
                <a:latin typeface="黑体" panose="02010609060101010101" pitchFamily="49" charset="-122"/>
              </a:rPr>
              <a:t>Win98</a:t>
            </a:r>
            <a:r>
              <a:rPr lang="zh-CN" altLang="en-US" b="1" dirty="0">
                <a:latin typeface="黑体" panose="02010609060101010101" pitchFamily="49" charset="-122"/>
              </a:rPr>
              <a:t>下进行这样的操作是比较简单的，但是对于</a:t>
            </a:r>
            <a:r>
              <a:rPr lang="en-US" altLang="zh-CN" b="1" dirty="0">
                <a:latin typeface="黑体" panose="02010609060101010101" pitchFamily="49" charset="-122"/>
              </a:rPr>
              <a:t>Win2000 </a:t>
            </a:r>
            <a:r>
              <a:rPr lang="zh-CN" altLang="en-US" b="1" dirty="0">
                <a:latin typeface="黑体" panose="02010609060101010101" pitchFamily="49" charset="-122"/>
              </a:rPr>
              <a:t>相对要麻烦得多。</a:t>
            </a:r>
            <a:r>
              <a:rPr lang="zh-CN" altLang="en-US" dirty="0">
                <a:latin typeface="黑体" panose="02010609060101010101" pitchFamily="49" charset="-122"/>
              </a:rPr>
              <a:t> </a:t>
            </a:r>
            <a:endParaRPr lang="zh-CN" altLang="en-US" dirty="0">
              <a:latin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潜伏</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17410" name="Rectangle 3"/>
          <p:cNvSpPr>
            <a:spLocks noGrp="1"/>
          </p:cNvSpPr>
          <p:nvPr>
            <p:ph idx="1"/>
          </p:nvPr>
        </p:nvSpPr>
        <p:spPr>
          <a:xfrm>
            <a:off x="1847850" y="1600200"/>
            <a:ext cx="8496300" cy="4997450"/>
          </a:xfrm>
        </p:spPr>
        <p:txBody>
          <a:bodyPr vert="horz" wrap="square" lIns="91440" tIns="45720" rIns="91440" bIns="45720" anchor="t"/>
          <a:lstStyle/>
          <a:p>
            <a:pPr algn="just" eaLnBrk="1" hangingPunct="1">
              <a:lnSpc>
                <a:spcPct val="90000"/>
              </a:lnSpc>
            </a:pPr>
            <a:r>
              <a:rPr lang="en-US" altLang="zh-CN" sz="2600" b="1" dirty="0"/>
              <a:t>        </a:t>
            </a:r>
            <a:r>
              <a:rPr lang="zh-CN" altLang="en-US" sz="2600" b="1" dirty="0"/>
              <a:t>潜伏使用</a:t>
            </a:r>
            <a:r>
              <a:rPr lang="en-US" altLang="zh-CN" sz="2600" b="1" dirty="0"/>
              <a:t>IP</a:t>
            </a:r>
            <a:r>
              <a:rPr lang="zh-CN" altLang="en-US" sz="2600" b="1" dirty="0"/>
              <a:t>协议族中的其它协议而非</a:t>
            </a:r>
            <a:r>
              <a:rPr lang="en-US" altLang="zh-CN" sz="2600" b="1" dirty="0"/>
              <a:t>TCP/UDP</a:t>
            </a:r>
            <a:r>
              <a:rPr lang="zh-CN" altLang="en-US" sz="2600" b="1" dirty="0"/>
              <a:t>来进行通信，从而瞒过</a:t>
            </a:r>
            <a:r>
              <a:rPr lang="en-US" altLang="zh-CN" sz="2600" b="1" dirty="0"/>
              <a:t>Netstat</a:t>
            </a:r>
            <a:r>
              <a:rPr lang="zh-CN" altLang="en-US" sz="2600" b="1" dirty="0"/>
              <a:t>和端口扫描软件。一种比较常见的潜伏手段是使用</a:t>
            </a:r>
            <a:r>
              <a:rPr lang="en-US" altLang="zh-CN" sz="2600" b="1" dirty="0"/>
              <a:t>ICMP</a:t>
            </a:r>
            <a:r>
              <a:rPr lang="zh-CN" altLang="en-US" sz="2600" b="1" dirty="0"/>
              <a:t>协议。</a:t>
            </a:r>
            <a:r>
              <a:rPr lang="en-US" altLang="zh-CN" sz="2600" b="1" dirty="0"/>
              <a:t>ICMP</a:t>
            </a:r>
            <a:r>
              <a:rPr lang="zh-CN" altLang="en-US" sz="2600" b="1" dirty="0"/>
              <a:t>由内核或进程直接处理而不需要通过端口，一个最常见的</a:t>
            </a:r>
            <a:r>
              <a:rPr lang="en-US" altLang="zh-CN" sz="2600" b="1" dirty="0"/>
              <a:t>ICMP</a:t>
            </a:r>
            <a:r>
              <a:rPr lang="zh-CN" altLang="en-US" sz="2600" b="1" dirty="0"/>
              <a:t>协议就是</a:t>
            </a:r>
            <a:r>
              <a:rPr lang="en-US" altLang="zh-CN" sz="2600" b="1" dirty="0"/>
              <a:t>Ping</a:t>
            </a:r>
            <a:r>
              <a:rPr lang="zh-CN" altLang="en-US" sz="2600" b="1" dirty="0"/>
              <a:t>，它利用了</a:t>
            </a:r>
            <a:r>
              <a:rPr lang="en-US" altLang="zh-CN" sz="2600" b="1" dirty="0"/>
              <a:t>ICMP</a:t>
            </a:r>
            <a:r>
              <a:rPr lang="zh-CN" altLang="en-US" sz="2600" b="1" dirty="0"/>
              <a:t>的回显请求和回显应答报文。一个普通的</a:t>
            </a:r>
            <a:r>
              <a:rPr lang="en-US" altLang="zh-CN" sz="2600" b="1" dirty="0"/>
              <a:t>ICMP</a:t>
            </a:r>
            <a:r>
              <a:rPr lang="zh-CN" altLang="en-US" sz="2600" b="1" dirty="0"/>
              <a:t>木马会监听</a:t>
            </a:r>
            <a:r>
              <a:rPr lang="en-US" altLang="zh-CN" sz="2600" b="1" dirty="0"/>
              <a:t>ICMP</a:t>
            </a:r>
            <a:r>
              <a:rPr lang="zh-CN" altLang="en-US" sz="2600" b="1" dirty="0"/>
              <a:t>报文，当出现特殊的报文时（比如特殊大小的包、特殊的报文结构等）它会打开</a:t>
            </a:r>
            <a:r>
              <a:rPr lang="en-US" altLang="zh-CN" sz="2600" b="1" dirty="0"/>
              <a:t>TCP</a:t>
            </a:r>
            <a:r>
              <a:rPr lang="zh-CN" altLang="en-US" sz="2600" b="1" dirty="0"/>
              <a:t>端口等待控制端的连接，这种木马在没有激活时是不可见的，但是一旦连接上了控制端就和普通木马一样，本地可以看到状态为</a:t>
            </a:r>
            <a:r>
              <a:rPr lang="en-US" altLang="zh-CN" sz="2600" b="1" dirty="0"/>
              <a:t>Established</a:t>
            </a:r>
            <a:r>
              <a:rPr lang="zh-CN" altLang="en-US" sz="2600" b="1" dirty="0"/>
              <a:t>的链接；而一个真正意义上的</a:t>
            </a:r>
            <a:r>
              <a:rPr lang="en-US" altLang="zh-CN" sz="2600" b="1" dirty="0"/>
              <a:t>ICMP</a:t>
            </a:r>
            <a:r>
              <a:rPr lang="zh-CN" altLang="en-US" sz="2600" b="1" dirty="0"/>
              <a:t>木马则会严格地使用</a:t>
            </a:r>
            <a:r>
              <a:rPr lang="en-US" altLang="zh-CN" sz="2600" b="1" dirty="0"/>
              <a:t>ICMP</a:t>
            </a:r>
            <a:r>
              <a:rPr lang="zh-CN" altLang="en-US" sz="2600" b="1" dirty="0"/>
              <a:t>协议来进行数据和控制命令的传递（数据放在</a:t>
            </a:r>
            <a:r>
              <a:rPr lang="en-US" altLang="zh-CN" sz="2600" b="1" dirty="0"/>
              <a:t>ICMP</a:t>
            </a:r>
            <a:r>
              <a:rPr lang="zh-CN" altLang="en-US" sz="2600" b="1" dirty="0"/>
              <a:t>的报文中），在整个过程中，它都是不可见的（除非使用嗅探软件分析网络流量）。</a:t>
            </a:r>
            <a:r>
              <a:rPr lang="zh-CN" altLang="en-US" sz="2600" dirty="0"/>
              <a:t> </a:t>
            </a:r>
            <a:endParaRPr lang="zh-CN" altLang="en-US" sz="26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其他</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18434"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a:t>除了寄生和潜伏之外，木马还有其他更好的方法进行隐藏，比如直接针对网卡或</a:t>
            </a:r>
            <a:r>
              <a:rPr lang="en-US" altLang="zh-CN" b="1" dirty="0"/>
              <a:t>Modem</a:t>
            </a:r>
            <a:r>
              <a:rPr lang="zh-CN" altLang="en-US" b="1" dirty="0"/>
              <a:t>进行底层的编程，这涉及到更高的编程技巧。</a:t>
            </a:r>
            <a:r>
              <a:rPr lang="zh-CN" altLang="en-US" dirty="0"/>
              <a:t> </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914400" y="332105"/>
            <a:ext cx="10363200" cy="1143000"/>
          </a:xfrm>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隐藏进程</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19458" name="Rectangle 3"/>
          <p:cNvSpPr>
            <a:spLocks noGrp="1"/>
          </p:cNvSpPr>
          <p:nvPr>
            <p:ph idx="1"/>
          </p:nvPr>
        </p:nvSpPr>
        <p:spPr>
          <a:xfrm>
            <a:off x="986790" y="1475105"/>
            <a:ext cx="10165080" cy="4669155"/>
          </a:xfrm>
        </p:spPr>
        <p:txBody>
          <a:bodyPr vert="horz" wrap="square" lIns="91440" tIns="45720" rIns="91440" bIns="45720" anchor="t"/>
          <a:lstStyle/>
          <a:p>
            <a:pPr eaLnBrk="1" hangingPunct="1"/>
            <a:r>
              <a:rPr lang="en-US" altLang="zh-CN" sz="2400" dirty="0"/>
              <a:t>DLL</a:t>
            </a:r>
            <a:r>
              <a:rPr lang="zh-CN" altLang="en-US" sz="2400" dirty="0"/>
              <a:t>（</a:t>
            </a:r>
            <a:r>
              <a:rPr lang="en-US" altLang="zh-CN" sz="2400" dirty="0"/>
              <a:t>Dynamic Link Library</a:t>
            </a:r>
            <a:r>
              <a:rPr lang="zh-CN" altLang="en-US" sz="2400" dirty="0"/>
              <a:t>）陷阱技术</a:t>
            </a:r>
            <a:endParaRPr lang="zh-CN" altLang="en-US" sz="2400" dirty="0"/>
          </a:p>
          <a:p>
            <a:pPr algn="just" eaLnBrk="1" hangingPunct="1"/>
            <a:r>
              <a:rPr lang="en-US" altLang="zh-CN" sz="2400" dirty="0"/>
              <a:t>        DLL</a:t>
            </a:r>
            <a:r>
              <a:rPr lang="zh-CN" altLang="en-US" sz="2400" dirty="0"/>
              <a:t>陷阱技术是一种针对</a:t>
            </a:r>
            <a:r>
              <a:rPr lang="en-US" altLang="zh-CN" sz="2400" dirty="0"/>
              <a:t>DLL （</a:t>
            </a:r>
            <a:r>
              <a:rPr lang="zh-CN" altLang="en-US" sz="2400" dirty="0"/>
              <a:t>动态链接库）的高级编程技术，编程者用特洛伊</a:t>
            </a:r>
            <a:r>
              <a:rPr lang="en-US" altLang="zh-CN" sz="2400" dirty="0"/>
              <a:t>DLL </a:t>
            </a:r>
            <a:r>
              <a:rPr lang="zh-CN" altLang="en-US" sz="2400" dirty="0"/>
              <a:t>替换已知的系统</a:t>
            </a:r>
            <a:r>
              <a:rPr lang="en-US" altLang="zh-CN" sz="2400" dirty="0"/>
              <a:t>DLL,</a:t>
            </a:r>
            <a:r>
              <a:rPr lang="zh-CN" altLang="en-US" sz="2400" dirty="0"/>
              <a:t>并对所有的函数调用进行过滤。对于正常的调用，使用函数转发器直接转发给被替换的系统</a:t>
            </a:r>
            <a:r>
              <a:rPr lang="en-US" altLang="zh-CN" sz="2400" dirty="0"/>
              <a:t>DLL；</a:t>
            </a:r>
            <a:r>
              <a:rPr lang="zh-CN" altLang="en-US" sz="2400" dirty="0"/>
              <a:t>对于一些事先约定好的特殊情况，</a:t>
            </a:r>
            <a:r>
              <a:rPr lang="en-US" altLang="zh-CN" sz="2400" dirty="0"/>
              <a:t>DLL</a:t>
            </a:r>
            <a:r>
              <a:rPr lang="zh-CN" altLang="en-US" sz="2400" dirty="0"/>
              <a:t>会执行一些相对应的操作。</a:t>
            </a:r>
            <a:endParaRPr lang="zh-CN" altLang="en-US" sz="2400" dirty="0"/>
          </a:p>
          <a:p>
            <a:pPr algn="just" eaLnBrk="1" hangingPunct="1"/>
            <a:r>
              <a:rPr lang="zh-CN" altLang="en-US" sz="2400" dirty="0"/>
              <a:t> </a:t>
            </a:r>
            <a:r>
              <a:rPr lang="en-US" altLang="zh-CN" sz="2400" dirty="0"/>
              <a:t>       </a:t>
            </a:r>
            <a:r>
              <a:rPr lang="zh-CN" altLang="en-US" sz="2400" dirty="0"/>
              <a:t>一个比较简单的方法是启动一个进程，虽然所有的操作都在</a:t>
            </a:r>
            <a:r>
              <a:rPr lang="en-US" altLang="zh-CN" sz="2400" dirty="0"/>
              <a:t>DLL</a:t>
            </a:r>
            <a:r>
              <a:rPr lang="zh-CN" altLang="en-US" sz="2400" dirty="0"/>
              <a:t>中完成会更加隐蔽，但是这大大增加了程序编写的难度，实际上这样的木马大多数只是使用</a:t>
            </a:r>
            <a:r>
              <a:rPr lang="en-US" altLang="zh-CN" sz="2400" dirty="0"/>
              <a:t>DLL</a:t>
            </a:r>
            <a:r>
              <a:rPr lang="zh-CN" altLang="en-US" sz="2400" dirty="0"/>
              <a:t>进行监听。一 旦发现控制端的连接请求就激活自身，启动一个绑端口的进程进行正常的木马操作。操作结束后关掉进程，继续进入休眠状态。</a:t>
            </a:r>
            <a:endParaRPr lang="zh-CN" altLang="en-US" sz="2400" dirty="0"/>
          </a:p>
          <a:p>
            <a:pPr algn="just" eaLnBrk="1" hangingPunct="1"/>
            <a:r>
              <a:rPr lang="en-US" altLang="zh-CN" sz="2400" dirty="0"/>
              <a:t>        </a:t>
            </a:r>
            <a:r>
              <a:rPr lang="zh-CN" altLang="en-US" sz="2400" dirty="0"/>
              <a:t>因为大量含特洛伊</a:t>
            </a:r>
            <a:r>
              <a:rPr lang="en-US" altLang="zh-CN" sz="2400" dirty="0"/>
              <a:t>DLL</a:t>
            </a:r>
            <a:r>
              <a:rPr lang="zh-CN" altLang="en-US" sz="2400" dirty="0"/>
              <a:t>的使用实际上已经危害到了</a:t>
            </a:r>
            <a:r>
              <a:rPr lang="en-US" altLang="zh-CN" sz="2400" dirty="0"/>
              <a:t>Windows</a:t>
            </a:r>
            <a:r>
              <a:rPr lang="zh-CN" altLang="en-US" sz="2400" dirty="0"/>
              <a:t>操作系统的安全和稳定性， 操作系统已经使用了</a:t>
            </a:r>
            <a:r>
              <a:rPr lang="en-US" altLang="zh-CN" sz="2400" dirty="0"/>
              <a:t>DLL</a:t>
            </a:r>
            <a:r>
              <a:rPr lang="zh-CN" altLang="en-US" sz="2400" dirty="0"/>
              <a:t>数字签名和校验技术，因此，特洛伊</a:t>
            </a:r>
            <a:r>
              <a:rPr lang="en-US" altLang="zh-CN" sz="2400" dirty="0"/>
              <a:t>DLL</a:t>
            </a:r>
            <a:r>
              <a:rPr lang="zh-CN" altLang="en-US" sz="2400" dirty="0"/>
              <a:t>的时代很快会结束。取代它的将会是强行嵌入代码技术（插入</a:t>
            </a:r>
            <a:r>
              <a:rPr lang="en-US" altLang="zh-CN" sz="2400" dirty="0"/>
              <a:t>DLL、</a:t>
            </a:r>
            <a:r>
              <a:rPr lang="zh-CN" altLang="en-US" sz="2400" dirty="0"/>
              <a:t>挂接</a:t>
            </a:r>
            <a:r>
              <a:rPr lang="en-US" altLang="zh-CN" sz="2400" dirty="0"/>
              <a:t>API、</a:t>
            </a:r>
            <a:r>
              <a:rPr lang="zh-CN" altLang="en-US" sz="2400" dirty="0"/>
              <a:t>进程的动态替换等）。</a:t>
            </a:r>
            <a:endParaRPr lang="zh-CN" alt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获取权限</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20482"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a:t>特洛伊木马也会主动地来获取系统的控制权，比如缓冲区溢出型木马就不仅仅简单的加载、守候、完成命令，而是利用种种系统的漏洞设法使自己获得更高的权限，甚至是拥有系统</a:t>
            </a:r>
            <a:r>
              <a:rPr lang="en-US" altLang="zh-CN" b="1" dirty="0"/>
              <a:t>Administrator</a:t>
            </a:r>
            <a:r>
              <a:rPr lang="zh-CN" altLang="en-US" b="1" dirty="0"/>
              <a:t>或</a:t>
            </a:r>
            <a:r>
              <a:rPr lang="en-US" altLang="zh-CN" b="1" dirty="0"/>
              <a:t>root</a:t>
            </a:r>
            <a:r>
              <a:rPr lang="zh-CN" altLang="en-US" b="1" dirty="0"/>
              <a:t>权限。 </a:t>
            </a:r>
            <a:endParaRPr lang="zh-CN" alt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2208213" y="333375"/>
            <a:ext cx="7772400" cy="1143000"/>
          </a:xfrm>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rgbClr val="99FF99"/>
                </a:solidFill>
                <a:effectLst>
                  <a:outerShdw blurRad="38100" dist="38100" dir="2700000" algn="tl">
                    <a:srgbClr val="000000"/>
                  </a:outerShdw>
                </a:effectLst>
                <a:latin typeface="黑体" panose="02010609060101010101" pitchFamily="49" charset="-122"/>
              </a:rPr>
              <a:t>获取权限</a:t>
            </a:r>
            <a:endParaRPr kumimoji="1" lang="zh-CN" altLang="en-US" sz="4800" b="1" kern="0">
              <a:solidFill>
                <a:srgbClr val="99FF99"/>
              </a:solidFill>
              <a:effectLst>
                <a:outerShdw blurRad="38100" dist="38100" dir="2700000" algn="tl">
                  <a:srgbClr val="000000"/>
                </a:outerShdw>
              </a:effectLst>
              <a:latin typeface="黑体" panose="02010609060101010101" pitchFamily="49" charset="-122"/>
            </a:endParaRPr>
          </a:p>
        </p:txBody>
      </p:sp>
      <p:sp>
        <p:nvSpPr>
          <p:cNvPr id="21506" name="Rectangle 3"/>
          <p:cNvSpPr>
            <a:spLocks noGrp="1"/>
          </p:cNvSpPr>
          <p:nvPr>
            <p:ph idx="1"/>
          </p:nvPr>
        </p:nvSpPr>
        <p:spPr>
          <a:xfrm>
            <a:off x="1304290" y="1484630"/>
            <a:ext cx="9606915" cy="5113020"/>
          </a:xfrm>
        </p:spPr>
        <p:txBody>
          <a:bodyPr vert="horz" wrap="square" lIns="91440" tIns="45720" rIns="91440" bIns="45720" anchor="t"/>
          <a:lstStyle/>
          <a:p>
            <a:pPr algn="just" eaLnBrk="1" hangingPunct="1">
              <a:lnSpc>
                <a:spcPct val="80000"/>
              </a:lnSpc>
            </a:pPr>
            <a:r>
              <a:rPr lang="en-US" altLang="zh-CN" b="1" dirty="0"/>
              <a:t>         </a:t>
            </a:r>
            <a:r>
              <a:rPr lang="zh-CN" altLang="en-US" b="1" dirty="0"/>
              <a:t>要实现权限提升，首先利用的是注册表。比如</a:t>
            </a:r>
            <a:r>
              <a:rPr lang="en-US" altLang="zh-CN" b="1" dirty="0"/>
              <a:t>Windows2000</a:t>
            </a:r>
            <a:r>
              <a:rPr lang="zh-CN" altLang="en-US" b="1" dirty="0"/>
              <a:t>有几个注册表的权限漏洞，允许非授权用户改写</a:t>
            </a:r>
            <a:r>
              <a:rPr lang="en-US" altLang="zh-CN" b="1" dirty="0"/>
              <a:t>Administrator</a:t>
            </a:r>
            <a:r>
              <a:rPr lang="zh-CN" altLang="en-US" b="1" dirty="0"/>
              <a:t>的设置，从而强迫</a:t>
            </a:r>
            <a:r>
              <a:rPr lang="en-US" altLang="zh-CN" b="1" dirty="0"/>
              <a:t>Administrator</a:t>
            </a:r>
            <a:r>
              <a:rPr lang="zh-CN" altLang="en-US" b="1" dirty="0"/>
              <a:t>执行木马程序，这个方法实现起来比较容易，但是会被大多数的防火墙发现。</a:t>
            </a:r>
            <a:endParaRPr lang="zh-CN" altLang="en-US" b="1" dirty="0"/>
          </a:p>
          <a:p>
            <a:pPr algn="just" eaLnBrk="1" hangingPunct="1">
              <a:lnSpc>
                <a:spcPct val="80000"/>
              </a:lnSpc>
            </a:pPr>
            <a:r>
              <a:rPr lang="zh-CN" altLang="en-US" b="1" dirty="0"/>
              <a:t>        其次是利用系统的权限漏洞，改写</a:t>
            </a:r>
            <a:r>
              <a:rPr lang="en-US" altLang="zh-CN" b="1" dirty="0"/>
              <a:t>Administrator</a:t>
            </a:r>
            <a:r>
              <a:rPr lang="zh-CN" altLang="en-US" b="1" dirty="0"/>
              <a:t>的文件、配置等等，在</a:t>
            </a:r>
            <a:r>
              <a:rPr lang="en-US" altLang="zh-CN" b="1" dirty="0"/>
              <a:t>Administrator</a:t>
            </a:r>
            <a:r>
              <a:rPr lang="zh-CN" altLang="en-US" b="1" dirty="0"/>
              <a:t>允许</a:t>
            </a:r>
            <a:r>
              <a:rPr lang="en-US" altLang="zh-CN" b="1" dirty="0"/>
              <a:t>Active Desktop</a:t>
            </a:r>
            <a:r>
              <a:rPr lang="zh-CN" altLang="en-US" b="1" dirty="0"/>
              <a:t>的情况下这个方法非常好用，但是对于一个有经验的管理员，这个方法不是太有效。</a:t>
            </a:r>
            <a:endParaRPr lang="zh-CN" altLang="en-US" b="1" dirty="0"/>
          </a:p>
          <a:p>
            <a:pPr algn="just" eaLnBrk="1" hangingPunct="1">
              <a:lnSpc>
                <a:spcPct val="80000"/>
              </a:lnSpc>
            </a:pPr>
            <a:r>
              <a:rPr lang="zh-CN" altLang="en-US" b="1" dirty="0"/>
              <a:t>         第三个选择是系统的本地溢出漏洞，由于木马是在本地运行的，它可以通过本地溢出的漏洞（比如</a:t>
            </a:r>
            <a:r>
              <a:rPr lang="en-US" altLang="zh-CN" b="1" dirty="0"/>
              <a:t>IIS</a:t>
            </a:r>
            <a:r>
              <a:rPr lang="zh-CN" altLang="en-US" b="1" dirty="0"/>
              <a:t>的本地溢出漏洞等），直接取得</a:t>
            </a:r>
            <a:r>
              <a:rPr lang="en-US" altLang="zh-CN" b="1" dirty="0"/>
              <a:t>Administrator</a:t>
            </a:r>
            <a:r>
              <a:rPr lang="zh-CN" altLang="en-US" b="1" dirty="0"/>
              <a:t>权限。</a:t>
            </a:r>
            <a:r>
              <a:rPr lang="zh-CN" altLang="en-US" dirty="0"/>
              <a:t> </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穿透防火墙</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22530"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a:t>在古希腊的特洛伊战争中，人们是推倒了城墙来恭迎木马的，而在这个互联网的时代，木马仍然以其隐蔽性和欺诈性使得防火墙被从内部攻破。其中反弹端口型的木马非常清晰的体现了这一思路。</a:t>
            </a:r>
            <a:endParaRPr lang="zh-CN" altLang="en-US" b="1" dirty="0"/>
          </a:p>
          <a:p>
            <a:pPr algn="just" eaLnBrk="1" hangingPunct="1"/>
            <a:endParaRPr lang="en-US" altLang="zh-CN"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rgbClr val="99FF99"/>
                </a:solidFill>
                <a:effectLst>
                  <a:outerShdw blurRad="38100" dist="38100" dir="2700000" algn="tl">
                    <a:srgbClr val="000000"/>
                  </a:outerShdw>
                </a:effectLst>
                <a:latin typeface="黑体" panose="02010609060101010101" pitchFamily="49" charset="-122"/>
              </a:rPr>
              <a:t>穿透防火墙</a:t>
            </a:r>
            <a:endParaRPr kumimoji="1" lang="zh-CN" altLang="en-US" sz="4800" b="1" kern="0">
              <a:solidFill>
                <a:srgbClr val="99FF99"/>
              </a:solidFill>
              <a:effectLst>
                <a:outerShdw blurRad="38100" dist="38100" dir="2700000" algn="tl">
                  <a:srgbClr val="000000"/>
                </a:outerShdw>
              </a:effectLst>
              <a:latin typeface="黑体" panose="02010609060101010101" pitchFamily="49" charset="-122"/>
            </a:endParaRPr>
          </a:p>
        </p:txBody>
      </p:sp>
      <p:sp>
        <p:nvSpPr>
          <p:cNvPr id="23554"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b="1" dirty="0"/>
              <a:t>        </a:t>
            </a:r>
            <a:r>
              <a:rPr lang="zh-CN" altLang="en-US" b="1" dirty="0"/>
              <a:t>反弹端口型木马分析了防火墙的特性后发现：防火墙对于连入的链接往往会进行非常严格的过滤，但是对于连出的链接却疏于防范。于是，与一般的木马相反，反弹端口型木马的服务端（被控制端）使用主动端口，客户端（控制端）使用被动端口，木马定时监测控制端的存在，发现控制端上线立即弹出端口主动连结控制端打开的主动端口。</a:t>
            </a:r>
            <a:endParaRPr lang="zh-CN" altLang="en-US"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latin typeface="黑体" panose="02010609060101010101" pitchFamily="49" charset="-122"/>
              </a:rPr>
              <a:t>更加隐蔽的加载方式</a:t>
            </a:r>
            <a:endParaRPr kumimoji="1" lang="zh-CN" altLang="en-US" sz="4800" b="1" kern="0">
              <a:solidFill>
                <a:schemeClr val="tx2"/>
              </a:solidFill>
              <a:effectLst>
                <a:outerShdw blurRad="38100" dist="38100" dir="2700000" algn="tl">
                  <a:srgbClr val="000000"/>
                </a:outerShdw>
              </a:effectLst>
              <a:latin typeface="黑体" panose="02010609060101010101" pitchFamily="49" charset="-122"/>
            </a:endParaRPr>
          </a:p>
        </p:txBody>
      </p:sp>
      <p:sp>
        <p:nvSpPr>
          <p:cNvPr id="24578"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b="1" dirty="0"/>
              <a:t>        </a:t>
            </a:r>
            <a:r>
              <a:rPr lang="zh-CN" altLang="en-US" b="1" dirty="0"/>
              <a:t>当前木马的入侵方式更加的隐蔽，在揉合了宏病毒的特性后，木马已经不仅仅通过欺骗来传播了，随着网站互动化进程的不断进步</a:t>
            </a:r>
            <a:r>
              <a:rPr lang="en-US" altLang="zh-CN" b="1" dirty="0"/>
              <a:t>,</a:t>
            </a:r>
            <a:r>
              <a:rPr lang="zh-CN" altLang="en-US" b="1" dirty="0"/>
              <a:t>越来越多的东西可以成为木马传播的介质，</a:t>
            </a:r>
            <a:r>
              <a:rPr lang="en-US" altLang="zh-CN" b="1" dirty="0"/>
              <a:t>JavaScript</a:t>
            </a:r>
            <a:r>
              <a:rPr lang="zh-CN" altLang="en-US" b="1" dirty="0"/>
              <a:t>，</a:t>
            </a:r>
            <a:r>
              <a:rPr lang="en-US" altLang="zh-CN" b="1" dirty="0"/>
              <a:t>VBScript</a:t>
            </a:r>
            <a:r>
              <a:rPr lang="zh-CN" altLang="en-US" b="1" dirty="0"/>
              <a:t>，</a:t>
            </a:r>
            <a:r>
              <a:rPr lang="en-US" altLang="zh-CN" b="1" dirty="0"/>
              <a:t>ActiveX</a:t>
            </a:r>
            <a:r>
              <a:rPr lang="zh-CN" altLang="en-US" b="1" dirty="0"/>
              <a:t>，</a:t>
            </a:r>
            <a:r>
              <a:rPr lang="en-US" altLang="zh-CN" b="1" dirty="0"/>
              <a:t>XML</a:t>
            </a:r>
            <a:r>
              <a:rPr lang="zh-CN" altLang="en-US" b="1" dirty="0"/>
              <a:t>等等，几乎</a:t>
            </a:r>
            <a:r>
              <a:rPr lang="en-US" altLang="zh-CN" b="1" dirty="0"/>
              <a:t>WWW</a:t>
            </a:r>
            <a:r>
              <a:rPr lang="zh-CN" altLang="en-US" b="1" dirty="0"/>
              <a:t>每一个新出来的功能都会导致木马的快速进化。曾几何时，邮件木马从附件走向了正文，简单的浏览也会中毒，而一个</a:t>
            </a:r>
            <a:r>
              <a:rPr lang="en-US" altLang="zh-CN" b="1" dirty="0"/>
              <a:t>Guest</a:t>
            </a:r>
            <a:r>
              <a:rPr lang="zh-CN" altLang="en-US" b="1" dirty="0"/>
              <a:t>用户也可以很容易的通过修改管理员的文件夹设置来让管理员上当。任何一个小小的疏忽都可能会</a:t>
            </a:r>
            <a:r>
              <a:rPr lang="zh-CN" altLang="en-US" b="1" dirty="0"/>
              <a:t>为木马入侵你的系统提供机会。 </a:t>
            </a:r>
            <a:endParaRPr lang="zh-CN" altLang="en-US"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ea"/>
              </a:rPr>
              <a:t>软破坏类攻击</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p:cNvSpPr>
          <p:nvPr>
            <p:ph idx="1"/>
          </p:nvPr>
        </p:nvSpPr>
        <p:spPr>
          <a:xfrm>
            <a:off x="1751965" y="1600200"/>
            <a:ext cx="8698230" cy="4997450"/>
          </a:xfrm>
        </p:spPr>
        <p:txBody>
          <a:bodyPr vert="horz" wrap="square" lIns="91440" tIns="45720" rIns="91440" bIns="45720" anchor="t"/>
          <a:lstStyle/>
          <a:p>
            <a:pPr algn="just" eaLnBrk="1" hangingPunct="1"/>
            <a:r>
              <a:rPr lang="en-US" altLang="zh-CN" b="1" dirty="0"/>
              <a:t>        </a:t>
            </a:r>
            <a:r>
              <a:rPr lang="zh-CN" altLang="en-US" b="1" dirty="0"/>
              <a:t>软破坏类攻击对对方网络实施软式破坏，其作用是使对方系统无法正常工作，或者使其软件或数据遭到破坏。但这类破坏无法破坏目标系统的硬件，给对方只能造成短时间的麻烦，被攻击的主机仍然可以重新恢复到正常运行状态。这类破坏主要包括</a:t>
            </a:r>
            <a:r>
              <a:rPr lang="zh-CN" altLang="en-US" b="1" dirty="0">
                <a:highlight>
                  <a:srgbClr val="FFFF00"/>
                </a:highlight>
              </a:rPr>
              <a:t>网络蠕虫与病毒</a:t>
            </a:r>
            <a:r>
              <a:rPr lang="zh-CN" altLang="en-US" b="1" dirty="0"/>
              <a:t>、</a:t>
            </a:r>
            <a:r>
              <a:rPr lang="zh-CN" altLang="en-US" b="1" dirty="0">
                <a:highlight>
                  <a:srgbClr val="FFFF00"/>
                </a:highlight>
              </a:rPr>
              <a:t>拒绝服务</a:t>
            </a:r>
            <a:r>
              <a:rPr lang="zh-CN" altLang="en-US" b="1" dirty="0"/>
              <a:t>、</a:t>
            </a:r>
            <a:r>
              <a:rPr lang="zh-CN" altLang="en-US" b="1" dirty="0">
                <a:highlight>
                  <a:srgbClr val="FFFF00"/>
                </a:highlight>
              </a:rPr>
              <a:t>瘫痪路由器</a:t>
            </a:r>
            <a:r>
              <a:rPr lang="zh-CN" altLang="en-US" b="1" dirty="0"/>
              <a:t>和</a:t>
            </a:r>
            <a:r>
              <a:rPr lang="zh-CN" altLang="en-US" b="1" dirty="0">
                <a:highlight>
                  <a:srgbClr val="FFFF00"/>
                </a:highlight>
              </a:rPr>
              <a:t>逻辑炸弹</a:t>
            </a:r>
            <a:r>
              <a:rPr lang="zh-CN" altLang="en-US" b="1" dirty="0"/>
              <a:t>等攻击手段。</a:t>
            </a:r>
            <a:endParaRPr lang="zh-CN" altLang="en-US" sz="36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软破坏类攻击</a:t>
            </a:r>
            <a:endParaRPr kumimoji="1" lang="zh-CN" altLang="en-US" sz="5000" b="1" kern="0">
              <a:solidFill>
                <a:srgbClr val="99FF99"/>
              </a:solidFill>
              <a:effectLst>
                <a:outerShdw blurRad="38100" dist="38100" dir="2700000" algn="tl">
                  <a:srgbClr val="000000"/>
                </a:outerShdw>
              </a:effectLst>
            </a:endParaRPr>
          </a:p>
        </p:txBody>
      </p:sp>
      <p:sp>
        <p:nvSpPr>
          <p:cNvPr id="27650" name="Rectangle 3"/>
          <p:cNvSpPr>
            <a:spLocks noGrp="1"/>
          </p:cNvSpPr>
          <p:nvPr>
            <p:ph idx="1"/>
          </p:nvPr>
        </p:nvSpPr>
        <p:spPr>
          <a:xfrm>
            <a:off x="4224338" y="1989138"/>
            <a:ext cx="4691062" cy="3916362"/>
          </a:xfrm>
        </p:spPr>
        <p:txBody>
          <a:bodyPr vert="horz" wrap="square" lIns="91440" tIns="45720" rIns="91440" bIns="45720" anchor="t"/>
          <a:lstStyle/>
          <a:p>
            <a:pPr algn="just" eaLnBrk="1" hangingPunct="1">
              <a:lnSpc>
                <a:spcPct val="120000"/>
              </a:lnSpc>
              <a:buClr>
                <a:srgbClr val="99FF99"/>
              </a:buClr>
              <a:buSzPct val="80000"/>
              <a:buChar char="u"/>
            </a:pPr>
            <a:r>
              <a:rPr lang="zh-CN" altLang="en-US" sz="3600" b="1" dirty="0"/>
              <a:t>网络蠕虫与病毒</a:t>
            </a:r>
            <a:endParaRPr lang="zh-CN" altLang="en-US" sz="3600" b="1" dirty="0"/>
          </a:p>
          <a:p>
            <a:pPr algn="just" eaLnBrk="1" hangingPunct="1">
              <a:lnSpc>
                <a:spcPct val="120000"/>
              </a:lnSpc>
              <a:buClr>
                <a:srgbClr val="99FF99"/>
              </a:buClr>
              <a:buSzPct val="80000"/>
              <a:buChar char="u"/>
            </a:pPr>
            <a:r>
              <a:rPr lang="zh-CN" altLang="en-US" sz="3600" b="1" dirty="0"/>
              <a:t>拒绝服务 </a:t>
            </a:r>
            <a:endParaRPr lang="zh-CN" altLang="en-US" sz="3600" b="1" dirty="0"/>
          </a:p>
          <a:p>
            <a:pPr algn="just" eaLnBrk="1" hangingPunct="1">
              <a:lnSpc>
                <a:spcPct val="120000"/>
              </a:lnSpc>
              <a:buClr>
                <a:srgbClr val="99FF99"/>
              </a:buClr>
              <a:buSzPct val="80000"/>
              <a:buChar char="u"/>
            </a:pPr>
            <a:r>
              <a:rPr lang="zh-CN" altLang="en-US" sz="3600" b="1" dirty="0"/>
              <a:t>路由器攻击 </a:t>
            </a:r>
            <a:endParaRPr lang="zh-CN" altLang="en-US" sz="3600" b="1" dirty="0"/>
          </a:p>
          <a:p>
            <a:pPr algn="just" eaLnBrk="1" hangingPunct="1">
              <a:lnSpc>
                <a:spcPct val="120000"/>
              </a:lnSpc>
              <a:buClr>
                <a:srgbClr val="99FF99"/>
              </a:buClr>
              <a:buSzPct val="80000"/>
              <a:buChar char="u"/>
            </a:pPr>
            <a:r>
              <a:rPr lang="zh-CN" altLang="en-US" sz="3600" b="1" dirty="0"/>
              <a:t>逻辑炸弹 </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sz="3000" b="1" dirty="0"/>
              <a:t>        </a:t>
            </a:r>
            <a:r>
              <a:rPr lang="zh-CN" altLang="en-US" sz="3000" b="1" dirty="0"/>
              <a:t>计算机病毒已经由单机病毒发展到网络病毒，由</a:t>
            </a:r>
            <a:r>
              <a:rPr lang="en-US" altLang="zh-CN" sz="3000" b="1" dirty="0"/>
              <a:t>DOS</a:t>
            </a:r>
            <a:r>
              <a:rPr lang="zh-CN" altLang="en-US" sz="3000" b="1" dirty="0"/>
              <a:t>病毒发展到</a:t>
            </a:r>
            <a:r>
              <a:rPr lang="en-US" altLang="zh-CN" sz="3000" b="1" dirty="0"/>
              <a:t>WINDOWS 98/ NT /2000...Win10</a:t>
            </a:r>
            <a:r>
              <a:rPr lang="zh-CN" altLang="en-US" sz="3000" b="1" dirty="0"/>
              <a:t>系统的病毒，现在已经发现</a:t>
            </a:r>
            <a:r>
              <a:rPr lang="en-US" altLang="zh-CN" sz="3000" b="1" dirty="0"/>
              <a:t>UNIX</a:t>
            </a:r>
            <a:r>
              <a:rPr lang="zh-CN" altLang="en-US" sz="3000" b="1" dirty="0"/>
              <a:t>系列的病毒。电子邮件与蠕虫技术是网上传播病毒的主要方法，在红色代码</a:t>
            </a:r>
            <a:r>
              <a:rPr lang="en-US" altLang="zh-CN" sz="3000" b="1" dirty="0"/>
              <a:t>II</a:t>
            </a:r>
            <a:r>
              <a:rPr lang="zh-CN" altLang="en-US" sz="3000" b="1" dirty="0"/>
              <a:t>中病毒技术与后门技术结合是网络攻击手法的新动向。</a:t>
            </a:r>
            <a:r>
              <a:rPr lang="zh-CN" altLang="en-US" sz="3000" dirty="0"/>
              <a:t> </a:t>
            </a:r>
            <a:endParaRPr lang="zh-CN" altLang="en-US" sz="3000" b="1" dirty="0"/>
          </a:p>
          <a:p>
            <a:pPr algn="just" eaLnBrk="1" hangingPunct="1"/>
            <a:r>
              <a:rPr lang="zh-CN" altLang="en-US" sz="3000" b="1" dirty="0"/>
              <a:t>        网络病毒的迅速传播、再生、发作将造成比单机病毒更大的危害，后果不堪设想。因而，网络病毒防护更加重要。</a:t>
            </a:r>
            <a:r>
              <a:rPr lang="zh-CN" altLang="en-US" sz="3000" dirty="0"/>
              <a:t> </a:t>
            </a:r>
            <a:endParaRPr lang="zh-CN" altLang="en-US" sz="3000" dirty="0"/>
          </a:p>
        </p:txBody>
      </p:sp>
      <p:grpSp>
        <p:nvGrpSpPr>
          <p:cNvPr id="65536" name="组合 65535"/>
          <p:cNvGrpSpPr/>
          <p:nvPr/>
        </p:nvGrpSpPr>
        <p:grpSpPr>
          <a:xfrm>
            <a:off x="3786692" y="205084"/>
            <a:ext cx="4619625" cy="1649431"/>
            <a:chOff x="3279913" y="488294"/>
            <a:chExt cx="4619625" cy="1649431"/>
          </a:xfrm>
        </p:grpSpPr>
        <p:grpSp>
          <p:nvGrpSpPr>
            <p:cNvPr id="14" name="组合 13"/>
            <p:cNvGrpSpPr/>
            <p:nvPr/>
          </p:nvGrpSpPr>
          <p:grpSpPr>
            <a:xfrm>
              <a:off x="3279913" y="909457"/>
              <a:ext cx="4619625" cy="1228268"/>
              <a:chOff x="3279913" y="909457"/>
              <a:chExt cx="4619625" cy="1228268"/>
            </a:xfrm>
          </p:grpSpPr>
          <p:sp>
            <p:nvSpPr>
              <p:cNvPr id="10" name="矩形: 圆角 9"/>
              <p:cNvSpPr/>
              <p:nvPr/>
            </p:nvSpPr>
            <p:spPr>
              <a:xfrm>
                <a:off x="3279913" y="909457"/>
                <a:ext cx="4619625" cy="687705"/>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3027680" cy="1105535"/>
              </a:xfrm>
              <a:prstGeom prst="rect">
                <a:avLst/>
              </a:prstGeom>
              <a:noFill/>
            </p:spPr>
            <p:txBody>
              <a:bodyPr wrap="none" rtlCol="0" anchor="t">
                <a:spAutoFit/>
              </a:bodyPr>
              <a:lstStyle/>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r>
                  <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网络蠕虫与病毒</a:t>
                </a:r>
                <a:endPar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mn-cs"/>
                </a:endParaRPr>
              </a:p>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400" kern="0" dirty="0">
                <a:solidFill>
                  <a:schemeClr val="tx2"/>
                </a:solidFill>
                <a:effectLst>
                  <a:outerShdw blurRad="38100" dist="38100" dir="2700000" algn="tl">
                    <a:srgbClr val="000000"/>
                  </a:outerShdw>
                </a:effectLst>
              </a:rPr>
              <a:t>什么是蠕虫</a:t>
            </a:r>
            <a:r>
              <a:rPr kumimoji="1" lang="en-US" altLang="zh-CN" sz="4400" kern="0" dirty="0">
                <a:solidFill>
                  <a:schemeClr val="tx2"/>
                </a:solidFill>
                <a:effectLst>
                  <a:outerShdw blurRad="38100" dist="38100" dir="2700000" algn="tl">
                    <a:srgbClr val="000000"/>
                  </a:outerShdw>
                </a:effectLst>
              </a:rPr>
              <a:t>?</a:t>
            </a:r>
            <a:endParaRPr kumimoji="1" lang="en-US" altLang="zh-CN" sz="4400" kern="0" dirty="0">
              <a:solidFill>
                <a:schemeClr val="tx2"/>
              </a:solidFill>
              <a:effectLst>
                <a:outerShdw blurRad="38100" dist="38100" dir="2700000" algn="tl">
                  <a:srgbClr val="000000"/>
                </a:outerShdw>
              </a:effectLst>
            </a:endParaRPr>
          </a:p>
        </p:txBody>
      </p:sp>
      <p:sp>
        <p:nvSpPr>
          <p:cNvPr id="29698" name="Rectangle 3"/>
          <p:cNvSpPr>
            <a:spLocks noGrp="1"/>
          </p:cNvSpPr>
          <p:nvPr>
            <p:ph idx="1"/>
          </p:nvPr>
        </p:nvSpPr>
        <p:spPr/>
        <p:txBody>
          <a:bodyPr vert="horz" wrap="square" lIns="91440" tIns="45720" rIns="91440" bIns="45720" anchor="t"/>
          <a:lstStyle/>
          <a:p>
            <a:pPr eaLnBrk="1" hangingPunct="1">
              <a:lnSpc>
                <a:spcPct val="90000"/>
              </a:lnSpc>
            </a:pPr>
            <a:r>
              <a:rPr lang="en-US" altLang="zh-CN" dirty="0"/>
              <a:t>        </a:t>
            </a:r>
            <a:r>
              <a:rPr lang="zh-CN" altLang="en-US" dirty="0" smtClean="0">
                <a:solidFill>
                  <a:schemeClr val="accent6">
                    <a:lumMod val="75000"/>
                  </a:schemeClr>
                </a:solidFill>
              </a:rPr>
              <a:t>蠕虫</a:t>
            </a:r>
            <a:r>
              <a:rPr lang="en-US" altLang="zh-CN" dirty="0">
                <a:solidFill>
                  <a:schemeClr val="accent6">
                    <a:lumMod val="75000"/>
                  </a:schemeClr>
                </a:solidFill>
              </a:rPr>
              <a:t>:</a:t>
            </a:r>
            <a:r>
              <a:rPr lang="zh-CN" altLang="en-US" dirty="0">
                <a:solidFill>
                  <a:schemeClr val="accent6">
                    <a:lumMod val="75000"/>
                  </a:schemeClr>
                </a:solidFill>
              </a:rPr>
              <a:t>许多相当小的、多少有点细长的像蚯蚓样的光裸而柔软的动物</a:t>
            </a:r>
            <a:r>
              <a:rPr lang="en-US" altLang="zh-CN" dirty="0">
                <a:solidFill>
                  <a:schemeClr val="accent6">
                    <a:lumMod val="75000"/>
                  </a:schemeClr>
                </a:solidFill>
              </a:rPr>
              <a:t>----</a:t>
            </a:r>
            <a:r>
              <a:rPr lang="zh-CN" altLang="en-US" dirty="0">
                <a:solidFill>
                  <a:schemeClr val="accent6">
                    <a:lumMod val="75000"/>
                  </a:schemeClr>
                </a:solidFill>
              </a:rPr>
              <a:t>高级汉语大词典</a:t>
            </a:r>
            <a:r>
              <a:rPr lang="en-US" altLang="zh-CN" dirty="0">
                <a:solidFill>
                  <a:schemeClr val="accent6">
                    <a:lumMod val="75000"/>
                  </a:schemeClr>
                </a:solidFill>
              </a:rPr>
              <a:t>.</a:t>
            </a:r>
            <a:endParaRPr lang="en-US" altLang="zh-CN" dirty="0">
              <a:solidFill>
                <a:schemeClr val="accent6">
                  <a:lumMod val="75000"/>
                </a:schemeClr>
              </a:solidFill>
            </a:endParaRPr>
          </a:p>
          <a:p>
            <a:pPr eaLnBrk="1" hangingPunct="1">
              <a:lnSpc>
                <a:spcPct val="90000"/>
              </a:lnSpc>
            </a:pPr>
            <a:r>
              <a:rPr lang="en-US" altLang="zh-CN" dirty="0"/>
              <a:t>        </a:t>
            </a:r>
            <a:r>
              <a:rPr lang="en-US" altLang="zh-CN" dirty="0" err="1" smtClean="0">
                <a:solidFill>
                  <a:schemeClr val="folHlink"/>
                </a:solidFill>
              </a:rPr>
              <a:t>Worm:Any</a:t>
            </a:r>
            <a:r>
              <a:rPr lang="en-US" altLang="zh-CN" dirty="0" smtClean="0">
                <a:solidFill>
                  <a:schemeClr val="folHlink"/>
                </a:solidFill>
              </a:rPr>
              <a:t> </a:t>
            </a:r>
            <a:r>
              <a:rPr lang="en-US" altLang="zh-CN" dirty="0">
                <a:solidFill>
                  <a:schemeClr val="folHlink"/>
                </a:solidFill>
              </a:rPr>
              <a:t>of various invertebrates, as those of the phyla Annelida, Nematoda, Nemertea, or Platyhelminthes, having a long, flexible, rounded or flattened body, often without obvious appendages.    </a:t>
            </a:r>
            <a:r>
              <a:rPr lang="zh-CN" altLang="en-US" dirty="0">
                <a:solidFill>
                  <a:schemeClr val="folHlink"/>
                </a:solidFill>
              </a:rPr>
              <a:t>无脊椎动物中的一种，如环节动物门、线虫类、纽形动物或扁形动物门，有长的、柔软的、圆的或扁平的身体，经常没有明显的附属肢体</a:t>
            </a:r>
            <a:r>
              <a:rPr lang="en-US" altLang="zh-CN" dirty="0">
                <a:solidFill>
                  <a:schemeClr val="folHlink"/>
                </a:solidFill>
              </a:rPr>
              <a:t>.----</a:t>
            </a:r>
            <a:r>
              <a:rPr lang="zh-CN" altLang="en-US" dirty="0">
                <a:solidFill>
                  <a:schemeClr val="folHlink"/>
                </a:solidFill>
              </a:rPr>
              <a:t>美国传统字典</a:t>
            </a:r>
            <a:r>
              <a:rPr lang="en-US" altLang="zh-CN" dirty="0">
                <a:solidFill>
                  <a:schemeClr val="folHlink"/>
                </a:solidFill>
              </a:rPr>
              <a:t>(</a:t>
            </a:r>
            <a:r>
              <a:rPr lang="zh-CN" altLang="en-US" dirty="0">
                <a:solidFill>
                  <a:schemeClr val="folHlink"/>
                </a:solidFill>
              </a:rPr>
              <a:t>双解</a:t>
            </a:r>
            <a:r>
              <a:rPr lang="en-US" altLang="zh-CN" dirty="0">
                <a:solidFill>
                  <a:schemeClr val="folHlink"/>
                </a:solidFill>
              </a:rPr>
              <a:t>).</a:t>
            </a:r>
            <a:endParaRPr lang="en-US" altLang="zh-CN" dirty="0">
              <a:solidFill>
                <a:schemeClr val="folHlink"/>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蠕虫程序</a:t>
            </a:r>
            <a:endParaRPr kumimoji="1" lang="zh-CN" altLang="en-US" sz="5000" b="1" kern="0">
              <a:solidFill>
                <a:schemeClr val="tx2"/>
              </a:solidFill>
              <a:effectLst>
                <a:outerShdw blurRad="38100" dist="38100" dir="2700000" algn="tl">
                  <a:srgbClr val="000000"/>
                </a:outerShdw>
              </a:effectLst>
            </a:endParaRPr>
          </a:p>
        </p:txBody>
      </p:sp>
      <p:sp>
        <p:nvSpPr>
          <p:cNvPr id="30722"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lnSpc>
                <a:spcPct val="80000"/>
              </a:lnSpc>
            </a:pPr>
            <a:r>
              <a:rPr lang="en-US" altLang="zh-CN" b="1" dirty="0"/>
              <a:t>        1988</a:t>
            </a:r>
            <a:r>
              <a:rPr lang="zh-CN" altLang="en-US" b="1" dirty="0"/>
              <a:t>年</a:t>
            </a:r>
            <a:r>
              <a:rPr lang="en-US" altLang="zh-CN" b="1" dirty="0"/>
              <a:t>11</a:t>
            </a:r>
            <a:r>
              <a:rPr lang="zh-CN" altLang="en-US" b="1" dirty="0"/>
              <a:t>月，一个美国青年</a:t>
            </a:r>
            <a:r>
              <a:rPr lang="en-US" altLang="zh-CN" b="1" dirty="0"/>
              <a:t>Robet Morris</a:t>
            </a:r>
            <a:r>
              <a:rPr lang="zh-CN" altLang="en-US" b="1" dirty="0"/>
              <a:t>向</a:t>
            </a:r>
            <a:r>
              <a:rPr lang="en-US" altLang="zh-CN" b="1" dirty="0"/>
              <a:t>Internet</a:t>
            </a:r>
            <a:r>
              <a:rPr lang="zh-CN" altLang="en-US" b="1" dirty="0"/>
              <a:t>注入一个仅仅</a:t>
            </a:r>
            <a:r>
              <a:rPr lang="en-US" altLang="zh-CN" b="1" dirty="0"/>
              <a:t>99</a:t>
            </a:r>
            <a:r>
              <a:rPr lang="zh-CN" altLang="en-US" b="1" dirty="0"/>
              <a:t>行代码蠕虫（</a:t>
            </a:r>
            <a:r>
              <a:rPr lang="en-US" altLang="zh-CN" b="1" dirty="0"/>
              <a:t>Worm</a:t>
            </a:r>
            <a:r>
              <a:rPr lang="zh-CN" altLang="en-US" b="1" dirty="0"/>
              <a:t>）程序，第二天就致使网上</a:t>
            </a:r>
            <a:r>
              <a:rPr lang="en-US" altLang="zh-CN" b="1" dirty="0"/>
              <a:t>6000</a:t>
            </a:r>
            <a:r>
              <a:rPr lang="zh-CN" altLang="en-US" b="1" dirty="0"/>
              <a:t>多台</a:t>
            </a:r>
            <a:r>
              <a:rPr lang="en-US" altLang="zh-CN" b="1" dirty="0"/>
              <a:t>SUN</a:t>
            </a:r>
            <a:r>
              <a:rPr lang="zh-CN" altLang="en-US" b="1" dirty="0"/>
              <a:t>与</a:t>
            </a:r>
            <a:r>
              <a:rPr lang="en-US" altLang="zh-CN" b="1" dirty="0"/>
              <a:t>VAX</a:t>
            </a:r>
            <a:r>
              <a:rPr lang="zh-CN" altLang="en-US" b="1" dirty="0"/>
              <a:t>计算机系统瘫痪。蠕虫程序是病毒程序在网络上的推广。蠕虫程序是利用计算机系统的网络管理机构识别网络中空闲的机器的机会把自己传递给这台机器的。由于连网的原因，蠕虫程序可以不断传播到其他空闲机器。和病毒程序一样，蠕虫程序几乎可以嵌入任何有意义的程序中。但蠕虫与病毒程序也有很大地不同，普通的病毒需要在计算机硬盘或文件系统中繁殖，而典型的蠕虫程序只需要在内存中维持一个活动的副本，甚至不向硬盘写入任何信息。</a:t>
            </a:r>
            <a:r>
              <a:rPr lang="zh-CN" altLang="en-US" dirty="0"/>
              <a:t> </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蠕虫程序</a:t>
            </a:r>
            <a:endParaRPr kumimoji="1" lang="zh-CN" altLang="en-US" sz="5000" b="1" kern="0">
              <a:solidFill>
                <a:srgbClr val="99FF99"/>
              </a:solidFill>
              <a:effectLst>
                <a:outerShdw blurRad="38100" dist="38100" dir="2700000" algn="tl">
                  <a:srgbClr val="000000"/>
                </a:outerShdw>
              </a:effectLst>
            </a:endParaRPr>
          </a:p>
        </p:txBody>
      </p:sp>
      <p:sp>
        <p:nvSpPr>
          <p:cNvPr id="31746"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lnSpc>
                <a:spcPct val="90000"/>
              </a:lnSpc>
            </a:pPr>
            <a:r>
              <a:rPr lang="en-US" altLang="zh-CN" sz="3000" dirty="0"/>
              <a:t>        </a:t>
            </a:r>
            <a:r>
              <a:rPr lang="zh-CN" altLang="en-US" sz="3000" dirty="0"/>
              <a:t>蠕虫程序有两大类型，一种是只能在一台计算机内运行，这种程序需要通过网络连接把自身复制到其他系统中，完成向新机器复制任务后就不保留副本（也可能在原始系统中保留一份副本），这种蠕虫也可以发挥一种信息中继的作用。</a:t>
            </a:r>
            <a:endParaRPr lang="zh-CN" altLang="en-US" sz="3000" dirty="0"/>
          </a:p>
          <a:p>
            <a:pPr algn="just" eaLnBrk="1" hangingPunct="1">
              <a:lnSpc>
                <a:spcPct val="90000"/>
              </a:lnSpc>
            </a:pPr>
            <a:r>
              <a:rPr lang="zh-CN" altLang="en-US" sz="3000" dirty="0"/>
              <a:t>        另一种是把实际使用的网络连接作为神经系统，使各网段中的自身代码可以在多个系统中运行。如果这些蠕虫程序需要一个中心结点进行协调，这种蠕虫程序就称为章鱼程序（</a:t>
            </a:r>
            <a:r>
              <a:rPr lang="en-US" altLang="zh-CN" sz="3000" dirty="0"/>
              <a:t>octopus</a:t>
            </a:r>
            <a:r>
              <a:rPr lang="zh-CN" altLang="en-US" sz="3000" dirty="0"/>
              <a:t>）。 </a:t>
            </a:r>
            <a:endParaRPr lang="zh-CN" altLang="en-US" sz="3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蠕虫程序</a:t>
            </a:r>
            <a:endParaRPr kumimoji="1" lang="zh-CN" altLang="en-US" sz="5000" b="1" kern="0">
              <a:solidFill>
                <a:srgbClr val="99FF99"/>
              </a:solidFill>
              <a:effectLst>
                <a:outerShdw blurRad="38100" dist="38100" dir="2700000" algn="tl">
                  <a:srgbClr val="000000"/>
                </a:outerShdw>
              </a:effectLst>
            </a:endParaRPr>
          </a:p>
        </p:txBody>
      </p:sp>
      <p:sp>
        <p:nvSpPr>
          <p:cNvPr id="32770"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latin typeface="黑体" panose="02010609060101010101" pitchFamily="49" charset="-122"/>
              </a:rPr>
              <a:t>    </a:t>
            </a:r>
            <a:r>
              <a:rPr lang="zh-CN" altLang="en-US" b="1" dirty="0" smtClean="0">
                <a:latin typeface="黑体" panose="02010609060101010101" pitchFamily="49" charset="-122"/>
              </a:rPr>
              <a:t>蠕虫</a:t>
            </a:r>
            <a:r>
              <a:rPr lang="zh-CN" altLang="en-US" b="1" dirty="0">
                <a:latin typeface="黑体" panose="02010609060101010101" pitchFamily="49" charset="-122"/>
              </a:rPr>
              <a:t>在相互友好和信任的网络环境中不受限制的增殖，最终会使这些相互信任的用户受到损害。有的网络蠕虫程序当初开发是为着正当目的的，但由于后来运行的环境发生了变化（如遇到一些未知硬件和软件的连入），蠕虫程序就开始发挥坏作用了。有的蠕虫程序设计者为了防止蠕虫程序发生变化，产生负作用，就在蠕虫程序中增加了控制条件，当出现异常情况时便停止蠕虫程序的运行。为了防止预料不到的情况发生，必须要保证当发现蠕虫程序破坏系统后，必须能够恢复到正常的系统状态。 </a:t>
            </a:r>
            <a:endParaRPr lang="zh-CN" altLang="en-US" b="1" dirty="0">
              <a:latin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蠕虫程序</a:t>
            </a:r>
            <a:endParaRPr kumimoji="1" lang="zh-CN" altLang="en-US" sz="5000" b="1" kern="0">
              <a:solidFill>
                <a:srgbClr val="99FF99"/>
              </a:solidFill>
              <a:effectLst>
                <a:outerShdw blurRad="38100" dist="38100" dir="2700000" algn="tl">
                  <a:srgbClr val="000000"/>
                </a:outerShdw>
              </a:effectLst>
            </a:endParaRPr>
          </a:p>
        </p:txBody>
      </p:sp>
      <p:sp>
        <p:nvSpPr>
          <p:cNvPr id="33794" name="Rectangle 3"/>
          <p:cNvSpPr>
            <a:spLocks noGrp="1"/>
          </p:cNvSpPr>
          <p:nvPr>
            <p:ph idx="1"/>
          </p:nvPr>
        </p:nvSpPr>
        <p:spPr>
          <a:xfrm>
            <a:off x="1454785" y="1600200"/>
            <a:ext cx="9377680" cy="4853305"/>
          </a:xfrm>
        </p:spPr>
        <p:txBody>
          <a:bodyPr vert="horz" wrap="square" lIns="91440" tIns="45720" rIns="91440" bIns="45720" anchor="t"/>
          <a:lstStyle/>
          <a:p>
            <a:pPr algn="just" eaLnBrk="1" hangingPunct="1"/>
            <a:r>
              <a:rPr lang="en-US" altLang="zh-CN" b="1" dirty="0"/>
              <a:t>        </a:t>
            </a:r>
            <a:r>
              <a:rPr lang="zh-CN" altLang="en-US" b="1" dirty="0"/>
              <a:t>吸血鬼（</a:t>
            </a:r>
            <a:r>
              <a:rPr lang="en-US" altLang="zh-CN" b="1" dirty="0"/>
              <a:t>Vampire</a:t>
            </a:r>
            <a:r>
              <a:rPr lang="zh-CN" altLang="en-US" b="1" dirty="0"/>
              <a:t>）蠕虫</a:t>
            </a:r>
            <a:r>
              <a:rPr lang="zh-CN" altLang="en-US" dirty="0"/>
              <a:t> ：在20世纪80年代，施乐公司的</a:t>
            </a:r>
            <a:r>
              <a:rPr lang="en-US" altLang="zh-CN" dirty="0"/>
              <a:t>John Shock</a:t>
            </a:r>
            <a:r>
              <a:rPr lang="zh-CN" altLang="en-US" dirty="0"/>
              <a:t>和</a:t>
            </a:r>
            <a:r>
              <a:rPr lang="en-US" altLang="zh-CN" dirty="0"/>
              <a:t>Jon Hepps </a:t>
            </a:r>
            <a:r>
              <a:rPr lang="zh-CN" altLang="en-US" dirty="0"/>
              <a:t>为提高</a:t>
            </a:r>
            <a:r>
              <a:rPr lang="en-US" altLang="zh-CN" dirty="0"/>
              <a:t>CPU</a:t>
            </a:r>
            <a:r>
              <a:rPr lang="zh-CN" altLang="en-US" dirty="0"/>
              <a:t>利用率开发了一种吸血鬼蠕虫程序。这种程序的名字虽然不好听，却发挥了良 好作用。它可以在系统</a:t>
            </a:r>
            <a:r>
              <a:rPr lang="en-US" altLang="zh-CN" dirty="0"/>
              <a:t>CPU</a:t>
            </a:r>
            <a:r>
              <a:rPr lang="zh-CN" altLang="en-US" dirty="0"/>
              <a:t>空闲（如夜间）时被唤醒，去完成复杂而又需要大量占用</a:t>
            </a:r>
            <a:r>
              <a:rPr lang="en-US" altLang="zh-CN" dirty="0"/>
              <a:t>CPU </a:t>
            </a:r>
            <a:r>
              <a:rPr lang="zh-CN" altLang="en-US" dirty="0"/>
              <a:t>时间的任务。当</a:t>
            </a:r>
            <a:r>
              <a:rPr lang="en-US" altLang="zh-CN" dirty="0"/>
              <a:t>CPU</a:t>
            </a:r>
            <a:r>
              <a:rPr lang="zh-CN" altLang="en-US" dirty="0"/>
              <a:t>又重新忙碌时，便把作业计算的结果储存起来，并进入睡眠状态。但 不知什么原因（可能是有人错误地设置了系统时间），有一天“吸血鬼”工作发生了异常， 致使计算机系统发生了混乱，直到公司职员把这些蠕虫从所有的网络系统中清除为止。同 时，他们也停止了对这种程序的研究。</a:t>
            </a:r>
            <a:endParaRPr lang="zh-CN" altLang="en-US" dirty="0"/>
          </a:p>
          <a:p>
            <a:pPr algn="just" eaLnBrk="1" hangingPunct="1"/>
            <a:r>
              <a:rPr lang="zh-CN" altLang="en-US" dirty="0"/>
              <a:t> </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蠕虫程序</a:t>
            </a:r>
            <a:endParaRPr kumimoji="1" lang="zh-CN" altLang="en-US" sz="5000" b="1" kern="0">
              <a:solidFill>
                <a:srgbClr val="99FF99"/>
              </a:solidFill>
              <a:effectLst>
                <a:outerShdw blurRad="38100" dist="38100" dir="2700000" algn="tl">
                  <a:srgbClr val="000000"/>
                </a:outerShdw>
              </a:effectLst>
            </a:endParaRPr>
          </a:p>
        </p:txBody>
      </p:sp>
      <p:sp>
        <p:nvSpPr>
          <p:cNvPr id="33794" name="Rectangle 3"/>
          <p:cNvSpPr>
            <a:spLocks noGrp="1"/>
          </p:cNvSpPr>
          <p:nvPr>
            <p:ph idx="1"/>
          </p:nvPr>
        </p:nvSpPr>
        <p:spPr>
          <a:xfrm>
            <a:off x="1454785" y="1600200"/>
            <a:ext cx="9377680" cy="4853305"/>
          </a:xfrm>
        </p:spPr>
        <p:txBody>
          <a:bodyPr vert="horz" wrap="square" lIns="91440" tIns="45720" rIns="91440" bIns="45720" anchor="t"/>
          <a:lstStyle/>
          <a:p>
            <a:pPr algn="just" eaLnBrk="1" hangingPunct="1"/>
            <a:r>
              <a:rPr lang="en-US" altLang="zh-CN" b="1" dirty="0"/>
              <a:t>        </a:t>
            </a:r>
            <a:r>
              <a:rPr lang="zh-CN" altLang="en-US" b="1" dirty="0"/>
              <a:t>莫里斯蠕虫</a:t>
            </a:r>
            <a:r>
              <a:rPr lang="zh-CN" altLang="en-US" dirty="0"/>
              <a:t> ：</a:t>
            </a:r>
            <a:r>
              <a:rPr lang="en-US" altLang="zh-CN" dirty="0"/>
              <a:t>Robert Morris</a:t>
            </a:r>
            <a:r>
              <a:rPr lang="zh-CN" altLang="en-US" dirty="0"/>
              <a:t>本意是要在因特网上进行一个小的实验，并不想进行任何有目的的破坏活动。他所编写的程序只希望在遇到的每台计算机的后台都运行一个无害的小进程。但在编程中有一个很小的缺陷，在进入每台主机进行传播之前，该程序没有检查该 系统是否已经被感染过，因此造成了一个系统被多次重复感染，产生了几十甚至上百个小进程，最终致使计算机系统瘫痪。系统管理员们不断地对系统进行清理，又发现系统不断地被感染。直到发现这个蠕虫是通过</a:t>
            </a:r>
            <a:r>
              <a:rPr lang="en-US" altLang="zh-CN" dirty="0"/>
              <a:t>Sendmail</a:t>
            </a:r>
            <a:r>
              <a:rPr lang="zh-CN" altLang="en-US" dirty="0"/>
              <a:t>的一个缺陷从一个系统向另一个系统传播的，管理员们把自己的主机与网络断开后，才把自己主机中的这些小进程清理干净。</a:t>
            </a:r>
            <a:endParaRPr lang="zh-CN" altLang="en-US" dirty="0"/>
          </a:p>
          <a:p>
            <a:pPr algn="just" eaLnBrk="1" hangingPunct="1"/>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914400" y="312420"/>
            <a:ext cx="10363200" cy="1143000"/>
          </a:xfrm>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蠕虫程序</a:t>
            </a:r>
            <a:endParaRPr kumimoji="1" lang="zh-CN" altLang="en-US" sz="5000" b="1" kern="0">
              <a:solidFill>
                <a:srgbClr val="99FF99"/>
              </a:solidFill>
              <a:effectLst>
                <a:outerShdw blurRad="38100" dist="38100" dir="2700000" algn="tl">
                  <a:srgbClr val="000000"/>
                </a:outerShdw>
              </a:effectLst>
            </a:endParaRPr>
          </a:p>
        </p:txBody>
      </p:sp>
      <p:sp>
        <p:nvSpPr>
          <p:cNvPr id="33794" name="Rectangle 3"/>
          <p:cNvSpPr>
            <a:spLocks noGrp="1"/>
          </p:cNvSpPr>
          <p:nvPr>
            <p:ph idx="1"/>
          </p:nvPr>
        </p:nvSpPr>
        <p:spPr>
          <a:xfrm>
            <a:off x="829310" y="1255395"/>
            <a:ext cx="10624820" cy="4853305"/>
          </a:xfrm>
        </p:spPr>
        <p:txBody>
          <a:bodyPr vert="horz" wrap="square" lIns="91440" tIns="45720" rIns="91440" bIns="45720" anchor="t"/>
          <a:lstStyle/>
          <a:p>
            <a:pPr algn="just" eaLnBrk="1" hangingPunct="1"/>
            <a:r>
              <a:rPr lang="en-US" altLang="zh-CN" b="1" dirty="0"/>
              <a:t>        WANK</a:t>
            </a:r>
            <a:r>
              <a:rPr lang="zh-CN" altLang="en-US" b="1" dirty="0"/>
              <a:t>蠕虫</a:t>
            </a:r>
            <a:r>
              <a:rPr lang="zh-CN" altLang="en-US" dirty="0"/>
              <a:t> ：</a:t>
            </a:r>
            <a:r>
              <a:rPr lang="en-US" altLang="zh-CN" dirty="0"/>
              <a:t>WANK （ Worms Against Nuclear Killers,</a:t>
            </a:r>
            <a:r>
              <a:rPr lang="zh-CN" altLang="en-US" dirty="0"/>
              <a:t>抗核武器蠕虫）是1989年10月被释放到网络系统中的，它只通过</a:t>
            </a:r>
            <a:r>
              <a:rPr lang="en-US" altLang="zh-CN" dirty="0"/>
              <a:t>DEC net</a:t>
            </a:r>
            <a:r>
              <a:rPr lang="zh-CN" altLang="en-US" dirty="0"/>
              <a:t>协议传播，感染</a:t>
            </a:r>
            <a:r>
              <a:rPr lang="en-US" altLang="zh-CN" dirty="0"/>
              <a:t>DEC</a:t>
            </a:r>
            <a:r>
              <a:rPr lang="zh-CN" altLang="en-US" dirty="0"/>
              <a:t>系统。这种蠕虫的主 要行为有以下几种：</a:t>
            </a:r>
            <a:endParaRPr lang="zh-CN" altLang="en-US" dirty="0"/>
          </a:p>
          <a:p>
            <a:pPr algn="just" eaLnBrk="1" hangingPunct="1"/>
            <a:r>
              <a:rPr lang="zh-CN" altLang="en-US" dirty="0"/>
              <a:t>1）一旦侵入一个系统后，修改系统的声明信息部分，设置系统被入侵的标志（</a:t>
            </a:r>
            <a:r>
              <a:rPr lang="en-US" altLang="zh-CN" dirty="0"/>
              <a:t>WANKed）,</a:t>
            </a:r>
            <a:r>
              <a:rPr lang="zh-CN" altLang="en-US" dirty="0"/>
              <a:t>并发回一个电子邮件，告知已成功入侵的系统、使用的登录名与口令。</a:t>
            </a:r>
            <a:endParaRPr lang="zh-CN" altLang="en-US" dirty="0"/>
          </a:p>
          <a:p>
            <a:pPr algn="just" eaLnBrk="1" hangingPunct="1"/>
            <a:r>
              <a:rPr lang="zh-CN" altLang="en-US" dirty="0"/>
              <a:t>2）在已有的账户中修改口令。</a:t>
            </a:r>
            <a:endParaRPr lang="zh-CN" altLang="en-US" dirty="0"/>
          </a:p>
          <a:p>
            <a:pPr algn="just" eaLnBrk="1" hangingPunct="1"/>
            <a:r>
              <a:rPr lang="zh-CN" altLang="en-US" dirty="0"/>
              <a:t>3）感染本地</a:t>
            </a:r>
            <a:r>
              <a:rPr lang="en-US" altLang="zh-CN" dirty="0"/>
              <a:t>COM</a:t>
            </a:r>
            <a:r>
              <a:rPr lang="zh-CN" altLang="en-US" dirty="0"/>
              <a:t>文件，以便在自身被清除后还可以重新进入激活状态。</a:t>
            </a:r>
            <a:endParaRPr lang="zh-CN" altLang="en-US" dirty="0"/>
          </a:p>
          <a:p>
            <a:pPr algn="just" eaLnBrk="1" hangingPunct="1"/>
            <a:r>
              <a:rPr lang="zh-CN" altLang="en-US" dirty="0"/>
              <a:t>4）修改登录文件，使人认为所有用户文件都被删除；在用户登录后，把隐藏该用户的所有文件隐藏起来，使它们以为自己的文件被删除了。 </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蠕虫程序</a:t>
            </a:r>
            <a:endParaRPr kumimoji="1" lang="zh-CN" altLang="en-US" sz="5000" b="1" kern="0">
              <a:solidFill>
                <a:srgbClr val="99FF99"/>
              </a:solidFill>
              <a:effectLst>
                <a:outerShdw blurRad="38100" dist="38100" dir="2700000" algn="tl">
                  <a:srgbClr val="000000"/>
                </a:outerShdw>
              </a:effectLst>
            </a:endParaRPr>
          </a:p>
        </p:txBody>
      </p:sp>
      <p:sp>
        <p:nvSpPr>
          <p:cNvPr id="33794" name="Rectangle 3"/>
          <p:cNvSpPr>
            <a:spLocks noGrp="1"/>
          </p:cNvSpPr>
          <p:nvPr>
            <p:ph idx="1"/>
          </p:nvPr>
        </p:nvSpPr>
        <p:spPr>
          <a:xfrm>
            <a:off x="1454785" y="1600200"/>
            <a:ext cx="9377680" cy="4853305"/>
          </a:xfrm>
        </p:spPr>
        <p:txBody>
          <a:bodyPr vert="horz" wrap="square" lIns="91440" tIns="45720" rIns="91440" bIns="45720" anchor="t"/>
          <a:lstStyle/>
          <a:p>
            <a:pPr algn="just" eaLnBrk="1" hangingPunct="1"/>
            <a:r>
              <a:rPr lang="en-US" altLang="zh-CN" b="1" dirty="0"/>
              <a:t>        IRC</a:t>
            </a:r>
            <a:r>
              <a:rPr lang="zh-CN" altLang="en-US" b="1" dirty="0"/>
              <a:t>蠕虫</a:t>
            </a:r>
            <a:r>
              <a:rPr lang="zh-CN" altLang="en-US" dirty="0"/>
              <a:t> ：因特网中继聊天（</a:t>
            </a:r>
            <a:r>
              <a:rPr lang="en-US" altLang="zh-CN" dirty="0"/>
              <a:t>Internet Relay Chat, IRC）</a:t>
            </a:r>
            <a:r>
              <a:rPr lang="zh-CN" altLang="en-US" dirty="0"/>
              <a:t>蠕虫程序是一种有危险的蠕虫，它会影响所有使用</a:t>
            </a:r>
            <a:r>
              <a:rPr lang="en-US" altLang="zh-CN" dirty="0"/>
              <a:t>IRC</a:t>
            </a:r>
            <a:r>
              <a:rPr lang="zh-CN" altLang="en-US" dirty="0"/>
              <a:t>通信软件的用户。当用户加入特定的</a:t>
            </a:r>
            <a:r>
              <a:rPr lang="en-US" altLang="zh-CN" dirty="0"/>
              <a:t>IRC</a:t>
            </a:r>
            <a:r>
              <a:rPr lang="zh-CN" altLang="en-US" dirty="0"/>
              <a:t>通道时，该蠕虫会感染用户系统，然后，蠕虫就静静地等待其中一名</a:t>
            </a:r>
            <a:r>
              <a:rPr lang="en-US" altLang="zh-CN" dirty="0"/>
              <a:t>IRC</a:t>
            </a:r>
            <a:r>
              <a:rPr lang="zh-CN" altLang="en-US" dirty="0"/>
              <a:t>通道的加入者输入可识别的关键字。 关键字用于标识不同形式的活动，如可以标识</a:t>
            </a:r>
            <a:r>
              <a:rPr lang="en-US" altLang="zh-CN" dirty="0"/>
              <a:t>UNIX</a:t>
            </a:r>
            <a:r>
              <a:rPr lang="zh-CN" altLang="en-US" dirty="0"/>
              <a:t>用户、微软系统用户或发出</a:t>
            </a:r>
            <a:r>
              <a:rPr lang="en-US" altLang="zh-CN" dirty="0"/>
              <a:t>IRC</a:t>
            </a:r>
            <a:r>
              <a:rPr lang="zh-CN" altLang="en-US" dirty="0"/>
              <a:t>命令的用户。针对不同用户的关键字，蠕虫发送不同的信息，如对微软用户，就发送一份注册表； 或将受蠕虫感染的系统本地盘的读/写权授予发出命令的用户等。</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网络病毒</a:t>
            </a:r>
            <a:endParaRPr kumimoji="1" lang="zh-CN" altLang="en-US" sz="5000" b="1" kern="0">
              <a:solidFill>
                <a:schemeClr val="tx2"/>
              </a:solidFill>
              <a:effectLst>
                <a:outerShdw blurRad="38100" dist="38100" dir="2700000" algn="tl">
                  <a:srgbClr val="000000"/>
                </a:outerShdw>
              </a:effectLst>
            </a:endParaRPr>
          </a:p>
        </p:txBody>
      </p:sp>
      <p:sp>
        <p:nvSpPr>
          <p:cNvPr id="34818" name="Rectangle 3"/>
          <p:cNvSpPr>
            <a:spLocks noGrp="1"/>
          </p:cNvSpPr>
          <p:nvPr>
            <p:ph idx="1"/>
          </p:nvPr>
        </p:nvSpPr>
        <p:spPr>
          <a:xfrm>
            <a:off x="1703705" y="1600200"/>
            <a:ext cx="8735695" cy="4853305"/>
          </a:xfrm>
        </p:spPr>
        <p:txBody>
          <a:bodyPr vert="horz" wrap="square" lIns="91440" tIns="45720" rIns="91440" bIns="45720" anchor="t"/>
          <a:lstStyle/>
          <a:p>
            <a:pPr algn="just" eaLnBrk="1" hangingPunct="1"/>
            <a:r>
              <a:rPr lang="en-US" altLang="zh-CN" b="1" dirty="0"/>
              <a:t>           </a:t>
            </a:r>
            <a:r>
              <a:rPr lang="zh-CN" altLang="en-US" b="1" dirty="0"/>
              <a:t>从某种意义上讲 ，</a:t>
            </a:r>
            <a:endParaRPr lang="zh-CN" altLang="en-US" b="1" dirty="0"/>
          </a:p>
          <a:p>
            <a:pPr algn="just" eaLnBrk="1" hangingPunct="1"/>
            <a:r>
              <a:rPr lang="zh-CN" altLang="en-US" b="1" dirty="0">
                <a:solidFill>
                  <a:srgbClr val="FF6600"/>
                </a:solidFill>
              </a:rPr>
              <a:t>          网络病毒</a:t>
            </a:r>
            <a:r>
              <a:rPr lang="en-US" altLang="zh-CN" b="1" dirty="0">
                <a:solidFill>
                  <a:srgbClr val="FF6600"/>
                </a:solidFill>
              </a:rPr>
              <a:t>=</a:t>
            </a:r>
            <a:r>
              <a:rPr lang="zh-CN" altLang="en-US" b="1" dirty="0">
                <a:solidFill>
                  <a:srgbClr val="FF6600"/>
                </a:solidFill>
              </a:rPr>
              <a:t>网络蠕虫</a:t>
            </a:r>
            <a:r>
              <a:rPr lang="en-US" altLang="zh-CN" b="1" dirty="0">
                <a:solidFill>
                  <a:srgbClr val="FF6600"/>
                </a:solidFill>
              </a:rPr>
              <a:t>+</a:t>
            </a:r>
            <a:r>
              <a:rPr lang="zh-CN" altLang="en-US" b="1" dirty="0">
                <a:solidFill>
                  <a:srgbClr val="FF6600"/>
                </a:solidFill>
              </a:rPr>
              <a:t>计算机病毒。</a:t>
            </a:r>
            <a:endParaRPr lang="zh-CN" altLang="en-US" b="1" dirty="0">
              <a:solidFill>
                <a:srgbClr val="FF6600"/>
              </a:solidFill>
            </a:endParaRPr>
          </a:p>
          <a:p>
            <a:pPr algn="just" eaLnBrk="1" hangingPunct="1"/>
            <a:r>
              <a:rPr lang="zh-CN" altLang="en-US" b="1" dirty="0">
                <a:solidFill>
                  <a:srgbClr val="FF6600"/>
                </a:solidFill>
              </a:rPr>
              <a:t>         </a:t>
            </a:r>
            <a:r>
              <a:rPr lang="zh-CN" altLang="en-US" b="1" dirty="0">
                <a:solidFill>
                  <a:schemeClr val="folHlink"/>
                </a:solidFill>
              </a:rPr>
              <a:t>蠕虫</a:t>
            </a:r>
            <a:r>
              <a:rPr lang="zh-CN" altLang="en-US" b="1" dirty="0">
                <a:solidFill>
                  <a:srgbClr val="00B050"/>
                </a:solidFill>
              </a:rPr>
              <a:t>是病毒在网络中传播的载体和运输工具。</a:t>
            </a:r>
            <a:r>
              <a:rPr lang="zh-CN" altLang="en-US" b="1" dirty="0"/>
              <a:t>蠕虫负责攻击目标系统的漏洞，并设法获取目标机器的控制权，然后在目标系统中建立后门，并植入病毒。 </a:t>
            </a:r>
            <a:endParaRPr lang="zh-CN" altLang="en-US"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网络病毒特点</a:t>
            </a:r>
            <a:endParaRPr kumimoji="1" lang="zh-CN" altLang="en-US" sz="5000" b="1" kern="0">
              <a:solidFill>
                <a:schemeClr val="tx2"/>
              </a:solidFill>
              <a:effectLst>
                <a:outerShdw blurRad="38100" dist="38100" dir="2700000" algn="tl">
                  <a:srgbClr val="000000"/>
                </a:outerShdw>
              </a:effectLst>
            </a:endParaRPr>
          </a:p>
        </p:txBody>
      </p:sp>
      <p:sp>
        <p:nvSpPr>
          <p:cNvPr id="35842" name="Rectangle 3"/>
          <p:cNvSpPr>
            <a:spLocks noGrp="1"/>
          </p:cNvSpPr>
          <p:nvPr>
            <p:ph idx="1"/>
          </p:nvPr>
        </p:nvSpPr>
        <p:spPr>
          <a:xfrm>
            <a:off x="4943475" y="2133601"/>
            <a:ext cx="3238500" cy="3248025"/>
          </a:xfrm>
        </p:spPr>
        <p:txBody>
          <a:bodyPr vert="horz" wrap="square" lIns="91440" tIns="45720" rIns="91440" bIns="45720" anchor="t"/>
          <a:lstStyle/>
          <a:p>
            <a:pPr marL="571500" indent="-571500" algn="just" eaLnBrk="1" hangingPunct="1">
              <a:buClr>
                <a:schemeClr val="folHlink"/>
              </a:buClr>
              <a:buSzPct val="80000"/>
              <a:buFont typeface="Wingdings" panose="05000000000000000000" charset="0"/>
              <a:buChar char="ü"/>
            </a:pPr>
            <a:r>
              <a:rPr lang="zh-CN" altLang="en-US" sz="3600" b="1" dirty="0"/>
              <a:t>破坏性 </a:t>
            </a:r>
            <a:endParaRPr lang="zh-CN" altLang="en-US" sz="3600" b="1" dirty="0"/>
          </a:p>
          <a:p>
            <a:pPr marL="571500" indent="-571500" algn="just" eaLnBrk="1" hangingPunct="1">
              <a:buClr>
                <a:schemeClr val="folHlink"/>
              </a:buClr>
              <a:buSzPct val="80000"/>
              <a:buFont typeface="Wingdings" panose="05000000000000000000" charset="0"/>
              <a:buChar char="ü"/>
            </a:pPr>
            <a:r>
              <a:rPr lang="zh-CN" altLang="en-US" sz="3600" b="1" dirty="0"/>
              <a:t>传播性 </a:t>
            </a:r>
            <a:endParaRPr lang="zh-CN" altLang="en-US" sz="3600" b="1" dirty="0"/>
          </a:p>
          <a:p>
            <a:pPr marL="571500" indent="-571500" algn="just" eaLnBrk="1" hangingPunct="1">
              <a:buClr>
                <a:schemeClr val="folHlink"/>
              </a:buClr>
              <a:buSzPct val="80000"/>
              <a:buFont typeface="Wingdings" panose="05000000000000000000" charset="0"/>
              <a:buChar char="ü"/>
            </a:pPr>
            <a:r>
              <a:rPr lang="zh-CN" altLang="en-US" sz="3600" b="1" dirty="0"/>
              <a:t>激发性 </a:t>
            </a:r>
            <a:endParaRPr lang="zh-CN" altLang="en-US" sz="3600" b="1" dirty="0"/>
          </a:p>
          <a:p>
            <a:pPr marL="571500" indent="-571500" algn="just" eaLnBrk="1" hangingPunct="1">
              <a:buClr>
                <a:schemeClr val="folHlink"/>
              </a:buClr>
              <a:buSzPct val="80000"/>
              <a:buFont typeface="Wingdings" panose="05000000000000000000" charset="0"/>
              <a:buChar char="ü"/>
            </a:pPr>
            <a:r>
              <a:rPr lang="zh-CN" altLang="en-US" sz="3600" b="1" dirty="0"/>
              <a:t>潜伏性 </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4" descr="{7B294F52-4190-4B08-A754-CE2D72BD7E04}"/>
          <p:cNvPicPr>
            <a:picLocks noChangeAspect="1"/>
          </p:cNvPicPr>
          <p:nvPr/>
        </p:nvPicPr>
        <p:blipFill>
          <a:blip r:embed="rId1"/>
          <a:stretch>
            <a:fillRect/>
          </a:stretch>
        </p:blipFill>
        <p:spPr>
          <a:xfrm>
            <a:off x="2243138" y="3860801"/>
            <a:ext cx="6157912" cy="2619375"/>
          </a:xfrm>
          <a:prstGeom prst="rect">
            <a:avLst/>
          </a:prstGeom>
          <a:noFill/>
          <a:ln w="9525">
            <a:noFill/>
          </a:ln>
        </p:spPr>
      </p:pic>
      <p:sp>
        <p:nvSpPr>
          <p:cNvPr id="10445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常见网络病毒</a:t>
            </a:r>
            <a:endParaRPr kumimoji="1" lang="zh-CN" altLang="en-US" sz="5000" b="1" kern="0">
              <a:solidFill>
                <a:schemeClr val="tx2"/>
              </a:solidFill>
              <a:effectLst>
                <a:outerShdw blurRad="38100" dist="38100" dir="2700000" algn="tl">
                  <a:srgbClr val="000000"/>
                </a:outerShdw>
              </a:effectLst>
            </a:endParaRPr>
          </a:p>
        </p:txBody>
      </p:sp>
      <p:sp>
        <p:nvSpPr>
          <p:cNvPr id="36867" name="Rectangle 3"/>
          <p:cNvSpPr>
            <a:spLocks noGrp="1"/>
          </p:cNvSpPr>
          <p:nvPr>
            <p:ph idx="1"/>
          </p:nvPr>
        </p:nvSpPr>
        <p:spPr/>
        <p:txBody>
          <a:bodyPr vert="horz" wrap="square" lIns="91440" tIns="45720" rIns="91440" bIns="45720" anchor="t"/>
          <a:lstStyle/>
          <a:p>
            <a:pPr algn="just" eaLnBrk="1" hangingPunct="1">
              <a:buClr>
                <a:schemeClr val="folHlink"/>
              </a:buClr>
              <a:buSzPct val="80000"/>
            </a:pPr>
            <a:r>
              <a:rPr lang="zh-CN" altLang="en-US" sz="2400" b="1" dirty="0"/>
              <a:t>红色代码（</a:t>
            </a:r>
            <a:r>
              <a:rPr lang="en-US" altLang="zh-CN" sz="2400" b="1" dirty="0"/>
              <a:t>Code Red</a:t>
            </a:r>
            <a:r>
              <a:rPr lang="zh-CN" altLang="en-US" sz="2400" b="1" dirty="0"/>
              <a:t>）  </a:t>
            </a:r>
            <a:endParaRPr lang="zh-CN" altLang="en-US" sz="2400" b="1" dirty="0"/>
          </a:p>
          <a:p>
            <a:pPr algn="just" eaLnBrk="1" hangingPunct="1">
              <a:buClr>
                <a:schemeClr val="folHlink"/>
              </a:buClr>
              <a:buSzPct val="80000"/>
            </a:pPr>
            <a:r>
              <a:rPr lang="zh-CN" altLang="en-US" sz="2400" b="1" dirty="0"/>
              <a:t>冲击波（</a:t>
            </a:r>
            <a:r>
              <a:rPr lang="en-US" altLang="zh-CN" sz="2400" b="1" dirty="0"/>
              <a:t>Worm.Blaster</a:t>
            </a:r>
            <a:r>
              <a:rPr lang="zh-CN" altLang="en-US" sz="2400" b="1" dirty="0"/>
              <a:t>） </a:t>
            </a:r>
            <a:endParaRPr lang="zh-CN" altLang="en-US" sz="2400" b="1" dirty="0"/>
          </a:p>
          <a:p>
            <a:pPr algn="just" eaLnBrk="1" hangingPunct="1">
              <a:buClr>
                <a:schemeClr val="folHlink"/>
              </a:buClr>
              <a:buSzPct val="80000"/>
            </a:pPr>
            <a:r>
              <a:rPr lang="zh-CN" altLang="en-US" sz="2400" b="1" dirty="0"/>
              <a:t>震荡波（</a:t>
            </a:r>
            <a:r>
              <a:rPr lang="en-US" altLang="zh-CN" sz="2400" b="1" dirty="0"/>
              <a:t>Worm.Sasser</a:t>
            </a:r>
            <a:r>
              <a:rPr lang="zh-CN" altLang="en-US" sz="2400" b="1" dirty="0"/>
              <a:t>） </a:t>
            </a:r>
            <a:endParaRPr lang="zh-CN" altLang="en-US" sz="2400" b="1" dirty="0"/>
          </a:p>
          <a:p>
            <a:pPr algn="just" eaLnBrk="1" hangingPunct="1">
              <a:buClr>
                <a:schemeClr val="accent2"/>
              </a:buClr>
              <a:buSzPct val="80000"/>
              <a:buNone/>
            </a:pPr>
            <a:r>
              <a:rPr lang="zh-CN" altLang="en-US" sz="2400" b="1" dirty="0" smtClean="0"/>
              <a:t>                                   震荡</a:t>
            </a:r>
            <a:r>
              <a:rPr lang="zh-CN" altLang="en-US" sz="2400" b="1" dirty="0"/>
              <a:t>波和冲击波对比</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lnSpc>
                <a:spcPct val="90000"/>
              </a:lnSpc>
            </a:pPr>
            <a:r>
              <a:rPr lang="en-US" altLang="zh-CN" sz="3600" b="1" dirty="0"/>
              <a:t>        </a:t>
            </a:r>
            <a:r>
              <a:rPr lang="zh-CN" altLang="en-US" sz="3600" b="1" dirty="0"/>
              <a:t>拒绝服务</a:t>
            </a:r>
            <a:r>
              <a:rPr lang="en-US" altLang="zh-CN" sz="3600" b="1" dirty="0"/>
              <a:t>(DoS)</a:t>
            </a:r>
            <a:r>
              <a:rPr lang="zh-CN" altLang="en-US" sz="3600" b="1" dirty="0"/>
              <a:t>攻击企图通过强制占有信道资源、网络连接资源、存储空间资源，使服务器崩溃或资源耗尽无法对外继续提供服务。</a:t>
            </a:r>
            <a:endParaRPr lang="zh-CN" altLang="en-US" sz="3600" b="1" dirty="0"/>
          </a:p>
          <a:p>
            <a:pPr algn="just" eaLnBrk="1" hangingPunct="1">
              <a:lnSpc>
                <a:spcPct val="90000"/>
              </a:lnSpc>
            </a:pPr>
            <a:r>
              <a:rPr lang="zh-CN" altLang="en-US" sz="3600" b="1" dirty="0"/>
              <a:t> </a:t>
            </a:r>
            <a:r>
              <a:rPr lang="en-US" altLang="zh-CN" sz="3600" b="1" dirty="0"/>
              <a:t>       </a:t>
            </a:r>
            <a:r>
              <a:rPr lang="zh-CN" altLang="en-US" sz="3600" b="1" dirty="0"/>
              <a:t>常见的方法有：</a:t>
            </a:r>
            <a:r>
              <a:rPr lang="en-US" altLang="zh-CN" sz="3600" b="1" dirty="0"/>
              <a:t>TCP SYN</a:t>
            </a:r>
            <a:r>
              <a:rPr lang="zh-CN" altLang="en-US" sz="3600" b="1" dirty="0"/>
              <a:t>洪泛攻击、</a:t>
            </a:r>
            <a:r>
              <a:rPr lang="en-US" altLang="zh-CN" sz="3600" b="1" dirty="0"/>
              <a:t>Land</a:t>
            </a:r>
            <a:r>
              <a:rPr lang="zh-CN" altLang="en-US" sz="3600" b="1" dirty="0"/>
              <a:t>攻击、</a:t>
            </a:r>
            <a:r>
              <a:rPr lang="en-US" altLang="zh-CN" sz="3600" b="1" dirty="0"/>
              <a:t>Smurf</a:t>
            </a:r>
            <a:r>
              <a:rPr lang="zh-CN" altLang="en-US" sz="3600" b="1" dirty="0"/>
              <a:t>攻击、电子邮件炸弹等多种方式。随着宽带网络技术的发展，目前拒绝服务已发展为“火力”更为猛烈的分布式拒绝服务</a:t>
            </a:r>
            <a:r>
              <a:rPr lang="en-US" altLang="zh-CN" sz="3600" b="1" dirty="0"/>
              <a:t>(DDoS)</a:t>
            </a:r>
            <a:r>
              <a:rPr lang="zh-CN" altLang="en-US" sz="3600" b="1" dirty="0"/>
              <a:t>。 </a:t>
            </a:r>
            <a:endParaRPr lang="zh-CN" altLang="en-US" sz="3600" b="1" dirty="0"/>
          </a:p>
        </p:txBody>
      </p:sp>
      <p:grpSp>
        <p:nvGrpSpPr>
          <p:cNvPr id="65536" name="组合 65535"/>
          <p:cNvGrpSpPr/>
          <p:nvPr/>
        </p:nvGrpSpPr>
        <p:grpSpPr>
          <a:xfrm>
            <a:off x="4421057" y="309859"/>
            <a:ext cx="3350895" cy="1108868"/>
            <a:chOff x="3279913" y="488294"/>
            <a:chExt cx="3350895" cy="1108868"/>
          </a:xfrm>
        </p:grpSpPr>
        <p:grpSp>
          <p:nvGrpSpPr>
            <p:cNvPr id="14" name="组合 13"/>
            <p:cNvGrpSpPr/>
            <p:nvPr/>
          </p:nvGrpSpPr>
          <p:grpSpPr>
            <a:xfrm>
              <a:off x="3279913" y="909457"/>
              <a:ext cx="3350895" cy="687705"/>
              <a:chOff x="3279913" y="909457"/>
              <a:chExt cx="3350895" cy="687705"/>
            </a:xfrm>
          </p:grpSpPr>
          <p:sp>
            <p:nvSpPr>
              <p:cNvPr id="10" name="矩形: 圆角 9"/>
              <p:cNvSpPr/>
              <p:nvPr/>
            </p:nvSpPr>
            <p:spPr>
              <a:xfrm>
                <a:off x="3279913" y="909457"/>
                <a:ext cx="3350895" cy="687705"/>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1811020" cy="534035"/>
              </a:xfrm>
              <a:prstGeom prst="rect">
                <a:avLst/>
              </a:prstGeom>
              <a:noFill/>
            </p:spPr>
            <p:txBody>
              <a:bodyPr wrap="none" rtlCol="0" anchor="t">
                <a:spAutoFit/>
              </a:bodyPr>
              <a:lstStyle/>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r>
                  <a:rPr kumimoji="1" lang="zh-CN" altLang="en-US" sz="3200" b="1" kern="0">
                    <a:solidFill>
                      <a:schemeClr val="bg1"/>
                    </a:solidFill>
                    <a:effectLst>
                      <a:outerShdw blurRad="38100" dist="38100" dir="2700000" algn="tl">
                        <a:srgbClr val="000000"/>
                      </a:outerShdw>
                    </a:effectLst>
                    <a:sym typeface="+mn-ea"/>
                  </a:rPr>
                  <a:t>拒绝服务</a:t>
                </a:r>
                <a:endParaRPr kumimoji="1" lang="zh-CN" altLang="en-US" sz="3200" b="1" kern="0" noProof="0" dirty="0">
                  <a:ln>
                    <a:noFill/>
                  </a:ln>
                  <a:solidFill>
                    <a:schemeClr val="bg1"/>
                  </a:solidFill>
                  <a:effectLst>
                    <a:outerShdw blurRad="38100" dist="38100" dir="2700000" algn="tl">
                      <a:srgbClr val="000000"/>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拒绝服务</a:t>
            </a:r>
            <a:endParaRPr kumimoji="1" lang="zh-CN" altLang="en-US" sz="5000" b="1" kern="0">
              <a:solidFill>
                <a:schemeClr val="tx2"/>
              </a:solidFill>
              <a:effectLst>
                <a:outerShdw blurRad="38100" dist="38100" dir="2700000" algn="tl">
                  <a:srgbClr val="000000"/>
                </a:outerShdw>
              </a:effectLst>
            </a:endParaRPr>
          </a:p>
        </p:txBody>
      </p:sp>
      <p:sp>
        <p:nvSpPr>
          <p:cNvPr id="39938" name="Rectangle 3"/>
          <p:cNvSpPr>
            <a:spLocks noGrp="1"/>
          </p:cNvSpPr>
          <p:nvPr>
            <p:ph idx="1"/>
          </p:nvPr>
        </p:nvSpPr>
        <p:spPr>
          <a:xfrm>
            <a:off x="1981201" y="1600200"/>
            <a:ext cx="8507413" cy="4495800"/>
          </a:xfrm>
        </p:spPr>
        <p:txBody>
          <a:bodyPr vert="horz" wrap="square" lIns="91440" tIns="45720" rIns="91440" bIns="45720" anchor="t"/>
          <a:lstStyle/>
          <a:p>
            <a:pPr algn="just" eaLnBrk="1" hangingPunct="1">
              <a:buClr>
                <a:schemeClr val="accent2"/>
              </a:buClr>
              <a:buSzPct val="80000"/>
              <a:buNone/>
            </a:pPr>
            <a:r>
              <a:rPr lang="en-US" altLang="zh-CN" b="1" dirty="0"/>
              <a:t>        </a:t>
            </a:r>
            <a:r>
              <a:rPr lang="zh-CN" altLang="en-US" b="1" dirty="0"/>
              <a:t>拒绝服务攻击是一类个人或多人利用</a:t>
            </a:r>
            <a:r>
              <a:rPr lang="en-US" altLang="zh-CN" b="1" dirty="0"/>
              <a:t>Internet</a:t>
            </a:r>
            <a:r>
              <a:rPr lang="zh-CN" altLang="en-US" b="1" dirty="0"/>
              <a:t>协议组的某些工具，拒绝合法用户对目标系统（如服务器）和信息的合法访问的攻击。以这种方式攻击的后果往往表现是以下几个方面：</a:t>
            </a:r>
            <a:r>
              <a:rPr lang="zh-CN" altLang="en-US" dirty="0"/>
              <a:t> </a:t>
            </a:r>
            <a:r>
              <a:rPr lang="zh-CN" altLang="en-US" b="1" dirty="0"/>
              <a:t> </a:t>
            </a:r>
            <a:endParaRPr lang="zh-CN" altLang="en-US" b="1" dirty="0"/>
          </a:p>
          <a:p>
            <a:pPr marL="457200" indent="-457200" eaLnBrk="1" hangingPunct="1">
              <a:buClr>
                <a:schemeClr val="folHlink"/>
              </a:buClr>
              <a:buSzPct val="80000"/>
              <a:buFont typeface="Wingdings" panose="05000000000000000000" charset="0"/>
              <a:buChar char="ü"/>
            </a:pPr>
            <a:r>
              <a:rPr lang="zh-CN" altLang="en-US" b="1" dirty="0"/>
              <a:t>使目标系统死机。</a:t>
            </a:r>
            <a:endParaRPr lang="zh-CN" altLang="en-US" b="1" dirty="0"/>
          </a:p>
          <a:p>
            <a:pPr marL="457200" indent="-457200" eaLnBrk="1" hangingPunct="1">
              <a:buClr>
                <a:schemeClr val="folHlink"/>
              </a:buClr>
              <a:buSzPct val="80000"/>
              <a:buFont typeface="Wingdings" panose="05000000000000000000" charset="0"/>
              <a:buChar char="ü"/>
            </a:pPr>
            <a:r>
              <a:rPr lang="zh-CN" altLang="en-US" b="1" dirty="0"/>
              <a:t>使端口处于停顿状态。</a:t>
            </a:r>
            <a:endParaRPr lang="zh-CN" altLang="en-US" b="1" dirty="0"/>
          </a:p>
          <a:p>
            <a:pPr marL="457200" indent="-457200" eaLnBrk="1" hangingPunct="1">
              <a:buClr>
                <a:schemeClr val="folHlink"/>
              </a:buClr>
              <a:buSzPct val="80000"/>
              <a:buFont typeface="Wingdings" panose="05000000000000000000" charset="0"/>
              <a:buChar char="ü"/>
            </a:pPr>
            <a:r>
              <a:rPr lang="zh-CN" altLang="en-US" b="1" dirty="0"/>
              <a:t>在计算机屏幕上发出杂乱信息、改变文件名称、删除关键的程序文件。</a:t>
            </a:r>
            <a:endParaRPr lang="zh-CN" altLang="en-US" b="1" dirty="0"/>
          </a:p>
          <a:p>
            <a:pPr marL="457200" indent="-457200" eaLnBrk="1" hangingPunct="1">
              <a:buClr>
                <a:schemeClr val="folHlink"/>
              </a:buClr>
              <a:buSzPct val="80000"/>
              <a:buFont typeface="Wingdings" panose="05000000000000000000" charset="0"/>
              <a:buChar char="ü"/>
            </a:pPr>
            <a:r>
              <a:rPr lang="zh-CN" altLang="en-US" b="1" dirty="0"/>
              <a:t>扭曲系统的资源状态，使系统的处理速度降低。</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a:solidFill>
                  <a:schemeClr val="tx2"/>
                </a:solidFill>
                <a:effectLst>
                  <a:outerShdw blurRad="38100" dist="38100" dir="2700000" algn="tl">
                    <a:srgbClr val="000000"/>
                  </a:outerShdw>
                </a:effectLst>
              </a:rPr>
              <a:t>TCP SYN</a:t>
            </a:r>
            <a:r>
              <a:rPr kumimoji="1" lang="zh-CN" altLang="en-US" sz="5000" b="1" kern="0">
                <a:solidFill>
                  <a:schemeClr val="tx2"/>
                </a:solidFill>
                <a:effectLst>
                  <a:outerShdw blurRad="38100" dist="38100" dir="2700000" algn="tl">
                    <a:srgbClr val="000000"/>
                  </a:outerShdw>
                </a:effectLst>
              </a:rPr>
              <a:t>洪泛攻击</a:t>
            </a:r>
            <a:endParaRPr kumimoji="1" lang="zh-CN" altLang="en-US" sz="5000" b="1" kern="0">
              <a:solidFill>
                <a:schemeClr val="tx2"/>
              </a:solidFill>
              <a:effectLst>
                <a:outerShdw blurRad="38100" dist="38100" dir="2700000" algn="tl">
                  <a:srgbClr val="000000"/>
                </a:outerShdw>
              </a:effectLst>
            </a:endParaRPr>
          </a:p>
        </p:txBody>
      </p:sp>
      <p:sp>
        <p:nvSpPr>
          <p:cNvPr id="40962"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a:t>
            </a:r>
            <a:r>
              <a:rPr lang="zh-CN" altLang="en-US" b="1" dirty="0"/>
              <a:t>一个标准的</a:t>
            </a:r>
            <a:r>
              <a:rPr lang="en-US" altLang="zh-CN" b="1" dirty="0"/>
              <a:t>TCP</a:t>
            </a:r>
            <a:r>
              <a:rPr lang="zh-CN" altLang="en-US" b="1" dirty="0"/>
              <a:t>连接的建立，是通过一台主机向目的主机（或者服务器）发送</a:t>
            </a:r>
            <a:r>
              <a:rPr lang="en-US" altLang="zh-CN" b="1" dirty="0">
                <a:solidFill>
                  <a:schemeClr val="folHlink"/>
                </a:solidFill>
              </a:rPr>
              <a:t>SYN</a:t>
            </a:r>
            <a:r>
              <a:rPr lang="zh-CN" altLang="en-US" b="1" dirty="0"/>
              <a:t>数据包开始的。如果目标主机在</a:t>
            </a:r>
            <a:r>
              <a:rPr lang="en-US" altLang="zh-CN" b="1" dirty="0"/>
              <a:t>SYN</a:t>
            </a:r>
            <a:r>
              <a:rPr lang="zh-CN" altLang="en-US" b="1" dirty="0"/>
              <a:t>指定的端口上等待连接，它就发回</a:t>
            </a:r>
            <a:r>
              <a:rPr lang="en-US" altLang="zh-CN" b="1" dirty="0">
                <a:solidFill>
                  <a:srgbClr val="00B050"/>
                </a:solidFill>
              </a:rPr>
              <a:t>SYN/ACK</a:t>
            </a:r>
            <a:r>
              <a:rPr lang="zh-CN" altLang="en-US" b="1" dirty="0"/>
              <a:t>响应数据包。当连接发起一方的主机收到</a:t>
            </a:r>
            <a:r>
              <a:rPr lang="en-US" altLang="zh-CN" b="1" dirty="0"/>
              <a:t>SYN/ACK</a:t>
            </a:r>
            <a:r>
              <a:rPr lang="zh-CN" altLang="en-US" b="1" dirty="0"/>
              <a:t>数据包时，就回应以</a:t>
            </a:r>
            <a:r>
              <a:rPr lang="en-US" altLang="zh-CN" b="1" dirty="0">
                <a:solidFill>
                  <a:schemeClr val="folHlink"/>
                </a:solidFill>
              </a:rPr>
              <a:t>ACK</a:t>
            </a:r>
            <a:r>
              <a:rPr lang="zh-CN" altLang="en-US" b="1" dirty="0"/>
              <a:t>数据包，这时连接就建立起来了。这个过程称为“三次握手”。当</a:t>
            </a:r>
            <a:r>
              <a:rPr lang="en-US" altLang="zh-CN" b="1" dirty="0"/>
              <a:t>SYN/ACK</a:t>
            </a:r>
            <a:r>
              <a:rPr lang="zh-CN" altLang="en-US" b="1" dirty="0"/>
              <a:t>包发送回源主机时，目的主机一方要保留一部分内存，用以保留当前所建立的连接状态信息。除非收到源主机一方发回的</a:t>
            </a:r>
            <a:r>
              <a:rPr lang="en-US" altLang="zh-CN" b="1" dirty="0"/>
              <a:t>ACK</a:t>
            </a:r>
            <a:r>
              <a:rPr lang="zh-CN" altLang="en-US" b="1" dirty="0"/>
              <a:t>包或者超时，这部分内存不会被占用，并且目的主机将一直等待。</a:t>
            </a:r>
            <a:r>
              <a:rPr lang="zh-CN" altLang="en-US" dirty="0"/>
              <a:t> </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dirty="0">
                <a:solidFill>
                  <a:srgbClr val="99FF99"/>
                </a:solidFill>
                <a:effectLst>
                  <a:outerShdw blurRad="38100" dist="38100" dir="2700000" algn="tl">
                    <a:srgbClr val="000000"/>
                  </a:outerShdw>
                </a:effectLst>
              </a:rPr>
              <a:t>TCP SYN</a:t>
            </a:r>
            <a:r>
              <a:rPr kumimoji="1" lang="zh-CN" altLang="en-US" sz="5000" b="1" kern="0" dirty="0">
                <a:solidFill>
                  <a:srgbClr val="99FF99"/>
                </a:solidFill>
                <a:effectLst>
                  <a:outerShdw blurRad="38100" dist="38100" dir="2700000" algn="tl">
                    <a:srgbClr val="000000"/>
                  </a:outerShdw>
                </a:effectLst>
              </a:rPr>
              <a:t>洪泛攻击</a:t>
            </a:r>
            <a:endParaRPr kumimoji="1" lang="zh-CN" altLang="en-US" sz="5000" b="1" kern="0" dirty="0">
              <a:solidFill>
                <a:srgbClr val="99FF99"/>
              </a:solidFill>
              <a:effectLst>
                <a:outerShdw blurRad="38100" dist="38100" dir="2700000" algn="tl">
                  <a:srgbClr val="000000"/>
                </a:outerShdw>
              </a:effectLst>
            </a:endParaRPr>
          </a:p>
        </p:txBody>
      </p:sp>
      <p:sp>
        <p:nvSpPr>
          <p:cNvPr id="41986"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a:t>
            </a:r>
            <a:r>
              <a:rPr lang="zh-CN" altLang="en-US" b="1" dirty="0"/>
              <a:t>如果攻击者将大量的</a:t>
            </a:r>
            <a:r>
              <a:rPr lang="en-US" altLang="zh-CN" b="1" dirty="0"/>
              <a:t>TCP SYN</a:t>
            </a:r>
            <a:r>
              <a:rPr lang="zh-CN" altLang="en-US" b="1" dirty="0"/>
              <a:t>连接请求数据包发送给目的主机（或者服务器），目的主机将耗尽与源主机进行连接时必须使用的存储器，而合法的用户将不再能够与该目标主机建立连接，也就当然无法获得正常的服务。 </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dirty="0">
                <a:solidFill>
                  <a:srgbClr val="99FF99"/>
                </a:solidFill>
                <a:effectLst>
                  <a:outerShdw blurRad="38100" dist="38100" dir="2700000" algn="tl">
                    <a:srgbClr val="000000"/>
                  </a:outerShdw>
                </a:effectLst>
              </a:rPr>
              <a:t>Land</a:t>
            </a:r>
            <a:r>
              <a:rPr kumimoji="1" lang="zh-CN" altLang="en-US" sz="5000" b="1" kern="0" dirty="0">
                <a:solidFill>
                  <a:srgbClr val="99FF99"/>
                </a:solidFill>
                <a:effectLst>
                  <a:outerShdw blurRad="38100" dist="38100" dir="2700000" algn="tl">
                    <a:srgbClr val="000000"/>
                  </a:outerShdw>
                </a:effectLst>
              </a:rPr>
              <a:t>攻击</a:t>
            </a:r>
            <a:endParaRPr kumimoji="1" lang="zh-CN" altLang="en-US" sz="5000" b="1" kern="0" dirty="0">
              <a:solidFill>
                <a:srgbClr val="99FF99"/>
              </a:solidFill>
              <a:effectLst>
                <a:outerShdw blurRad="38100" dist="38100" dir="2700000" algn="tl">
                  <a:srgbClr val="000000"/>
                </a:outerShdw>
              </a:effectLst>
            </a:endParaRPr>
          </a:p>
        </p:txBody>
      </p:sp>
      <p:sp>
        <p:nvSpPr>
          <p:cNvPr id="43010"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a:t>
            </a:r>
            <a:r>
              <a:rPr lang="zh-CN" altLang="en-US" b="1" dirty="0"/>
              <a:t>在</a:t>
            </a:r>
            <a:r>
              <a:rPr lang="en-US" altLang="zh-CN" b="1" dirty="0"/>
              <a:t>Land</a:t>
            </a:r>
            <a:r>
              <a:rPr lang="zh-CN" altLang="en-US" b="1" dirty="0"/>
              <a:t>攻击中，攻击者故意生成一个数据包，其源地址和目的地址都被设置成某一个服务器地址，这时将</a:t>
            </a:r>
            <a:r>
              <a:rPr lang="zh-CN" altLang="en-US" b="1"/>
              <a:t>导致</a:t>
            </a:r>
            <a:r>
              <a:rPr lang="zh-CN" altLang="en-US" b="1" smtClean="0"/>
              <a:t>接收服务器</a:t>
            </a:r>
            <a:r>
              <a:rPr lang="zh-CN" altLang="en-US" b="1" dirty="0"/>
              <a:t>向它自己的地址发送“</a:t>
            </a:r>
            <a:r>
              <a:rPr lang="en-US" altLang="zh-CN" b="1" dirty="0"/>
              <a:t>SYN-ACK”</a:t>
            </a:r>
            <a:r>
              <a:rPr lang="zh-CN" altLang="en-US" b="1" dirty="0"/>
              <a:t>消息，结果这个地址又发回</a:t>
            </a:r>
            <a:r>
              <a:rPr lang="en-US" altLang="zh-CN" b="1" dirty="0"/>
              <a:t>ACK</a:t>
            </a:r>
            <a:r>
              <a:rPr lang="zh-CN" altLang="en-US" b="1" dirty="0"/>
              <a:t>消息并创建一个空连接。每一个这样的连接都将保留直到超时掉。对</a:t>
            </a:r>
            <a:r>
              <a:rPr lang="en-US" altLang="zh-CN" b="1" dirty="0"/>
              <a:t>Land</a:t>
            </a:r>
            <a:r>
              <a:rPr lang="zh-CN" altLang="en-US" b="1" dirty="0"/>
              <a:t>攻击反应不同，许多</a:t>
            </a:r>
            <a:r>
              <a:rPr lang="en-US" altLang="zh-CN" b="1" dirty="0"/>
              <a:t>UNIX</a:t>
            </a:r>
            <a:r>
              <a:rPr lang="zh-CN" altLang="en-US" b="1" dirty="0"/>
              <a:t>系统将崩溃，而</a:t>
            </a:r>
            <a:r>
              <a:rPr lang="en-US" altLang="zh-CN" b="1" dirty="0"/>
              <a:t>Windows NT</a:t>
            </a:r>
            <a:r>
              <a:rPr lang="zh-CN" altLang="en-US" b="1" dirty="0"/>
              <a:t>会变的极其缓慢。</a:t>
            </a:r>
            <a:r>
              <a:rPr lang="zh-CN" altLang="en-US" dirty="0"/>
              <a:t> </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dirty="0">
                <a:solidFill>
                  <a:srgbClr val="99FF99"/>
                </a:solidFill>
                <a:effectLst>
                  <a:outerShdw blurRad="38100" dist="38100" dir="2700000" algn="tl">
                    <a:srgbClr val="000000"/>
                  </a:outerShdw>
                </a:effectLst>
              </a:rPr>
              <a:t>Smurf</a:t>
            </a:r>
            <a:r>
              <a:rPr kumimoji="1" lang="zh-CN" altLang="en-US" sz="5000" b="1" kern="0" dirty="0">
                <a:solidFill>
                  <a:srgbClr val="99FF99"/>
                </a:solidFill>
                <a:effectLst>
                  <a:outerShdw blurRad="38100" dist="38100" dir="2700000" algn="tl">
                    <a:srgbClr val="000000"/>
                  </a:outerShdw>
                </a:effectLst>
              </a:rPr>
              <a:t>攻击</a:t>
            </a:r>
            <a:endParaRPr kumimoji="1" lang="zh-CN" altLang="en-US" sz="5000" b="1" kern="0" dirty="0">
              <a:solidFill>
                <a:srgbClr val="99FF99"/>
              </a:solidFill>
              <a:effectLst>
                <a:outerShdw blurRad="38100" dist="38100" dir="2700000" algn="tl">
                  <a:srgbClr val="000000"/>
                </a:outerShdw>
              </a:effectLst>
            </a:endParaRPr>
          </a:p>
        </p:txBody>
      </p:sp>
      <p:sp>
        <p:nvSpPr>
          <p:cNvPr id="44034"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“Smurf</a:t>
            </a:r>
            <a:r>
              <a:rPr lang="zh-CN" altLang="en-US" b="1" dirty="0"/>
              <a:t>攻击”是以最初发动这种攻击的程序名“</a:t>
            </a:r>
            <a:r>
              <a:rPr lang="en-US" altLang="zh-CN" b="1" dirty="0"/>
              <a:t>Smurf”</a:t>
            </a:r>
            <a:r>
              <a:rPr lang="zh-CN" altLang="en-US" b="1" dirty="0"/>
              <a:t>来命名。这种攻击方法结合使用了</a:t>
            </a:r>
            <a:r>
              <a:rPr lang="en-US" altLang="zh-CN" b="1" dirty="0"/>
              <a:t>IP</a:t>
            </a:r>
            <a:r>
              <a:rPr lang="zh-CN" altLang="en-US" b="1" dirty="0"/>
              <a:t>欺骗和</a:t>
            </a:r>
            <a:r>
              <a:rPr lang="en-US" altLang="zh-CN" b="1" dirty="0"/>
              <a:t>ICMP</a:t>
            </a:r>
            <a:r>
              <a:rPr lang="zh-CN" altLang="en-US" b="1" dirty="0"/>
              <a:t>回复方法使大量网络传输充斥目标系统，引起目标系统拒绝为正常系统进行服务。</a:t>
            </a:r>
            <a:r>
              <a:rPr lang="en-US" altLang="zh-CN" b="1" dirty="0"/>
              <a:t>Smurf</a:t>
            </a:r>
            <a:r>
              <a:rPr lang="zh-CN" altLang="en-US" b="1" dirty="0"/>
              <a:t>攻击通过使用将回复地址设置成受害网络的广播地址的</a:t>
            </a:r>
            <a:r>
              <a:rPr lang="en-US" altLang="zh-CN" b="1" dirty="0"/>
              <a:t>ICMP</a:t>
            </a:r>
            <a:r>
              <a:rPr lang="zh-CN" altLang="en-US" b="1" dirty="0"/>
              <a:t>应答请求（</a:t>
            </a:r>
            <a:r>
              <a:rPr lang="en-US" altLang="zh-CN" b="1" dirty="0"/>
              <a:t>ping</a:t>
            </a:r>
            <a:r>
              <a:rPr lang="zh-CN" altLang="en-US" b="1" dirty="0"/>
              <a:t>）数据包</a:t>
            </a:r>
            <a:r>
              <a:rPr lang="en-US" altLang="zh-CN" b="1" dirty="0"/>
              <a:t>,</a:t>
            </a:r>
            <a:r>
              <a:rPr lang="zh-CN" altLang="en-US" b="1" dirty="0"/>
              <a:t>来淹没受害主机，最终导致该网络的所有主机都对此</a:t>
            </a:r>
            <a:r>
              <a:rPr lang="en-US" altLang="zh-CN" b="1" dirty="0"/>
              <a:t>ICMP</a:t>
            </a:r>
            <a:r>
              <a:rPr lang="zh-CN" altLang="en-US" b="1" dirty="0"/>
              <a:t>应答请求做出答复，导致网络阻塞。更加复杂的</a:t>
            </a:r>
            <a:r>
              <a:rPr lang="en-US" altLang="zh-CN" b="1" dirty="0"/>
              <a:t>Smurf</a:t>
            </a:r>
            <a:r>
              <a:rPr lang="zh-CN" altLang="en-US" b="1" dirty="0"/>
              <a:t>将源地址改为第三方的受害者，最终导致第三方崩溃。 </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dirty="0">
                <a:solidFill>
                  <a:srgbClr val="99FF99"/>
                </a:solidFill>
                <a:effectLst>
                  <a:outerShdw blurRad="38100" dist="38100" dir="2700000" algn="tl">
                    <a:srgbClr val="000000"/>
                  </a:outerShdw>
                </a:effectLst>
              </a:rPr>
              <a:t>IP</a:t>
            </a:r>
            <a:r>
              <a:rPr kumimoji="1" lang="zh-CN" altLang="en-US" sz="5000" b="1" kern="0" dirty="0">
                <a:solidFill>
                  <a:srgbClr val="99FF99"/>
                </a:solidFill>
                <a:effectLst>
                  <a:outerShdw blurRad="38100" dist="38100" dir="2700000" algn="tl">
                    <a:srgbClr val="000000"/>
                  </a:outerShdw>
                </a:effectLst>
              </a:rPr>
              <a:t>碎片攻击</a:t>
            </a:r>
            <a:endParaRPr kumimoji="1" lang="zh-CN" altLang="en-US" sz="5000" b="1" kern="0" dirty="0">
              <a:solidFill>
                <a:srgbClr val="99FF99"/>
              </a:solidFill>
              <a:effectLst>
                <a:outerShdw blurRad="38100" dist="38100" dir="2700000" algn="tl">
                  <a:srgbClr val="000000"/>
                </a:outerShdw>
              </a:effectLst>
            </a:endParaRPr>
          </a:p>
        </p:txBody>
      </p:sp>
      <p:sp>
        <p:nvSpPr>
          <p:cNvPr id="45058"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a:t>
            </a:r>
            <a:r>
              <a:rPr lang="zh-CN" altLang="en-US" b="1" dirty="0"/>
              <a:t>链路层具有最大传输单元</a:t>
            </a:r>
            <a:r>
              <a:rPr lang="en-US" altLang="zh-CN" b="1" dirty="0"/>
              <a:t>MTU</a:t>
            </a:r>
            <a:r>
              <a:rPr lang="zh-CN" altLang="en-US" b="1" dirty="0"/>
              <a:t>这个特性，它限制了数据帧的最大长度，不同的网络类型都有一个上限值。以太网的</a:t>
            </a:r>
            <a:r>
              <a:rPr lang="en-US" altLang="zh-CN" b="1" dirty="0"/>
              <a:t>MTU</a:t>
            </a:r>
            <a:r>
              <a:rPr lang="zh-CN" altLang="en-US" b="1" dirty="0"/>
              <a:t>是</a:t>
            </a:r>
            <a:r>
              <a:rPr lang="en-US" altLang="zh-CN" b="1" dirty="0"/>
              <a:t>1500</a:t>
            </a:r>
            <a:r>
              <a:rPr lang="zh-CN" altLang="en-US" b="1" dirty="0"/>
              <a:t>。如果</a:t>
            </a:r>
            <a:r>
              <a:rPr lang="en-US" altLang="zh-CN" b="1" dirty="0"/>
              <a:t>IP</a:t>
            </a:r>
            <a:r>
              <a:rPr lang="zh-CN" altLang="en-US" b="1" dirty="0"/>
              <a:t>层有数据包要传，而且数据包的长度超过了</a:t>
            </a:r>
            <a:r>
              <a:rPr lang="en-US" altLang="zh-CN" b="1" dirty="0"/>
              <a:t>MTU</a:t>
            </a:r>
            <a:r>
              <a:rPr lang="zh-CN" altLang="en-US" b="1" dirty="0"/>
              <a:t>，那么</a:t>
            </a:r>
            <a:r>
              <a:rPr lang="en-US" altLang="zh-CN" b="1" dirty="0"/>
              <a:t>IP</a:t>
            </a:r>
            <a:r>
              <a:rPr lang="zh-CN" altLang="en-US" b="1" dirty="0"/>
              <a:t>层就要对数据包进行分片（</a:t>
            </a:r>
            <a:r>
              <a:rPr lang="en-US" altLang="zh-CN" b="1" dirty="0"/>
              <a:t>fragmentation</a:t>
            </a:r>
            <a:r>
              <a:rPr lang="zh-CN" altLang="en-US" b="1" dirty="0"/>
              <a:t>）操作，使每一片的长度都小于或等于</a:t>
            </a:r>
            <a:r>
              <a:rPr lang="en-US" altLang="zh-CN" b="1" dirty="0"/>
              <a:t>MTU</a:t>
            </a:r>
            <a:r>
              <a:rPr lang="zh-CN" altLang="en-US" b="1" dirty="0"/>
              <a:t>。我们假设要传输一个</a:t>
            </a:r>
            <a:r>
              <a:rPr lang="en-US" altLang="zh-CN" b="1" dirty="0"/>
              <a:t>UDP</a:t>
            </a:r>
            <a:r>
              <a:rPr lang="zh-CN" altLang="en-US" b="1" dirty="0"/>
              <a:t>数据包，以太网的</a:t>
            </a:r>
            <a:r>
              <a:rPr lang="en-US" altLang="zh-CN" b="1" dirty="0"/>
              <a:t>MTU</a:t>
            </a:r>
            <a:r>
              <a:rPr lang="zh-CN" altLang="en-US" b="1" dirty="0"/>
              <a:t>为</a:t>
            </a:r>
            <a:r>
              <a:rPr lang="en-US" altLang="zh-CN" b="1" dirty="0"/>
              <a:t>1500</a:t>
            </a:r>
            <a:r>
              <a:rPr lang="zh-CN" altLang="en-US" b="1" dirty="0"/>
              <a:t>字节，一般</a:t>
            </a:r>
            <a:r>
              <a:rPr lang="en-US" altLang="zh-CN" b="1" dirty="0"/>
              <a:t>IP</a:t>
            </a:r>
            <a:r>
              <a:rPr lang="zh-CN" altLang="en-US" b="1" dirty="0"/>
              <a:t>首部为</a:t>
            </a:r>
            <a:r>
              <a:rPr lang="en-US" altLang="zh-CN" b="1" dirty="0"/>
              <a:t>20</a:t>
            </a:r>
            <a:r>
              <a:rPr lang="zh-CN" altLang="en-US" b="1" dirty="0"/>
              <a:t>字节，</a:t>
            </a:r>
            <a:r>
              <a:rPr lang="en-US" altLang="zh-CN" b="1" dirty="0"/>
              <a:t>UDP</a:t>
            </a:r>
            <a:r>
              <a:rPr lang="zh-CN" altLang="en-US" b="1" dirty="0"/>
              <a:t>首部为</a:t>
            </a:r>
            <a:r>
              <a:rPr lang="en-US" altLang="zh-CN" b="1" dirty="0"/>
              <a:t>8</a:t>
            </a:r>
            <a:r>
              <a:rPr lang="zh-CN" altLang="en-US" b="1" dirty="0"/>
              <a:t>字节，数据的净荷（</a:t>
            </a:r>
            <a:r>
              <a:rPr lang="en-US" altLang="zh-CN" b="1" dirty="0"/>
              <a:t>payload</a:t>
            </a:r>
            <a:r>
              <a:rPr lang="zh-CN" altLang="en-US" b="1" dirty="0"/>
              <a:t>）部分预留是</a:t>
            </a:r>
            <a:r>
              <a:rPr lang="en-US" altLang="zh-CN" b="1" dirty="0"/>
              <a:t>1500-20-8=1472</a:t>
            </a:r>
            <a:r>
              <a:rPr lang="zh-CN" altLang="en-US" b="1" dirty="0"/>
              <a:t>字节。如果数据部分大于</a:t>
            </a:r>
            <a:r>
              <a:rPr lang="en-US" altLang="zh-CN" b="1" dirty="0"/>
              <a:t>1472</a:t>
            </a:r>
            <a:r>
              <a:rPr lang="zh-CN" altLang="en-US" b="1" dirty="0"/>
              <a:t>字节，就会出现分片现象。</a:t>
            </a:r>
            <a:r>
              <a:rPr lang="zh-CN" altLang="en-US" dirty="0"/>
              <a:t> </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a:solidFill>
                  <a:schemeClr val="tx2"/>
                </a:solidFill>
                <a:effectLst>
                  <a:outerShdw blurRad="38100" dist="38100" dir="2700000" algn="tl">
                    <a:srgbClr val="000000"/>
                  </a:outerShdw>
                </a:effectLst>
              </a:rPr>
              <a:t>IP</a:t>
            </a:r>
            <a:r>
              <a:rPr kumimoji="1" lang="zh-CN" altLang="en-US" sz="5000" b="1" kern="0">
                <a:solidFill>
                  <a:schemeClr val="tx2"/>
                </a:solidFill>
                <a:effectLst>
                  <a:outerShdw blurRad="38100" dist="38100" dir="2700000" algn="tl">
                    <a:srgbClr val="000000"/>
                  </a:outerShdw>
                </a:effectLst>
              </a:rPr>
              <a:t>数据包首部结构示意图</a:t>
            </a:r>
            <a:endParaRPr kumimoji="1" lang="zh-CN" altLang="en-US" sz="5000" b="1" kern="0">
              <a:solidFill>
                <a:schemeClr val="tx2"/>
              </a:solidFill>
              <a:effectLst>
                <a:outerShdw blurRad="38100" dist="38100" dir="2700000" algn="tl">
                  <a:srgbClr val="000000"/>
                </a:outerShdw>
              </a:effectLst>
            </a:endParaRPr>
          </a:p>
        </p:txBody>
      </p:sp>
      <p:graphicFrame>
        <p:nvGraphicFramePr>
          <p:cNvPr id="47107" name="表格占位符 47106"/>
          <p:cNvGraphicFramePr>
            <a:graphicFrameLocks noGrp="1"/>
          </p:cNvGraphicFramePr>
          <p:nvPr>
            <p:ph type="tbl" idx="1"/>
            <p:custDataLst>
              <p:tags r:id="rId1"/>
            </p:custDataLst>
          </p:nvPr>
        </p:nvGraphicFramePr>
        <p:xfrm>
          <a:off x="2209800" y="1989139"/>
          <a:ext cx="7772400" cy="4487863"/>
        </p:xfrm>
        <a:graphic>
          <a:graphicData uri="http://schemas.openxmlformats.org/drawingml/2006/table">
            <a:tbl>
              <a:tblPr/>
              <a:tblGrid>
                <a:gridCol w="1173163"/>
                <a:gridCol w="942975"/>
                <a:gridCol w="1697037"/>
                <a:gridCol w="436563"/>
                <a:gridCol w="566737"/>
                <a:gridCol w="565150"/>
                <a:gridCol w="2390775"/>
              </a:tblGrid>
              <a:tr h="132715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Version</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IHL</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Type of Service</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gridSpan="4">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Total Length</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hMerge="1">
                  <a:tcP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hMerge="1">
                  <a:tcP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hMerge="1">
                  <a:tcPr>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r>
              <a:tr h="1825625">
                <a:tc gridSpan="3">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Identification</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hMerge="1">
                  <a:tcP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hMerge="1">
                  <a:tcPr>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R</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DF</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1800" b="1" dirty="0">
                          <a:latin typeface="Times New Roman" panose="02020603050405020304" pitchFamily="18" charset="0"/>
                          <a:ea typeface="黑体" panose="02010609060101010101" pitchFamily="49" charset="-122"/>
                        </a:rPr>
                        <a:t>MF</a:t>
                      </a:r>
                      <a:endParaRPr lang="en-US" altLang="zh-CN" sz="18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Fragment offset</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r>
              <a:tr h="1335088">
                <a:tc gridSpan="2">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Time to Live</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hMerge="1">
                  <a:tcPr>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Protocol</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gridSpan="4">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buSzPct val="80000"/>
                        <a:buNone/>
                      </a:pPr>
                      <a:r>
                        <a:rPr lang="en-US" altLang="zh-CN" sz="2000" b="1" dirty="0">
                          <a:latin typeface="Times New Roman" panose="02020603050405020304" pitchFamily="18" charset="0"/>
                          <a:ea typeface="黑体" panose="02010609060101010101" pitchFamily="49" charset="-122"/>
                        </a:rPr>
                        <a:t>Header Checksum</a:t>
                      </a:r>
                      <a:endParaRPr lang="en-US" altLang="zh-CN" sz="2000" b="1" dirty="0">
                        <a:latin typeface="Times New Roman" panose="02020603050405020304" pitchFamily="18" charset="0"/>
                        <a:ea typeface="黑体" panose="02010609060101010101" pitchFamily="49" charset="-122"/>
                      </a:endParaRPr>
                    </a:p>
                  </a:txBody>
                  <a:tcPr anchor="ctr">
                    <a:lnL w="12700" cap="flat" cmpd="sng">
                      <a:solidFill>
                        <a:schemeClr val="folHlink"/>
                      </a:solidFill>
                      <a:prstDash val="solid"/>
                      <a:headEnd type="none" w="med" len="med"/>
                      <a:tailEnd type="none" w="med" len="med"/>
                    </a:lnL>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lnTlToBr>
                      <a:noFill/>
                    </a:lnTlToBr>
                    <a:lnBlToTr>
                      <a:noFill/>
                    </a:lnBlToTr>
                    <a:noFill/>
                  </a:tcPr>
                </a:tc>
                <a:tc hMerge="1">
                  <a:tcP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hMerge="1">
                  <a:tcP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c hMerge="1">
                  <a:tcPr>
                    <a:lnR w="12700" cap="flat" cmpd="sng">
                      <a:solidFill>
                        <a:schemeClr val="folHlink"/>
                      </a:solidFill>
                      <a:prstDash val="solid"/>
                      <a:headEnd type="none" w="med" len="med"/>
                      <a:tailEnd type="none" w="med" len="med"/>
                    </a:lnR>
                    <a:lnT w="12700" cap="flat" cmpd="sng">
                      <a:solidFill>
                        <a:schemeClr val="folHlink"/>
                      </a:solidFill>
                      <a:prstDash val="solid"/>
                      <a:headEnd type="none" w="med" len="med"/>
                      <a:tailEnd type="none" w="med" len="med"/>
                    </a:lnT>
                    <a:lnB w="12700" cap="flat" cmpd="sng">
                      <a:solidFill>
                        <a:schemeClr val="folHlink"/>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a:solidFill>
                  <a:srgbClr val="99FF99"/>
                </a:solidFill>
                <a:effectLst>
                  <a:outerShdw blurRad="38100" dist="38100" dir="2700000" algn="tl">
                    <a:srgbClr val="000000"/>
                  </a:outerShdw>
                </a:effectLst>
              </a:rPr>
              <a:t>IP</a:t>
            </a:r>
            <a:r>
              <a:rPr kumimoji="1" lang="zh-CN" altLang="en-US" sz="5000" b="1" kern="0">
                <a:solidFill>
                  <a:srgbClr val="99FF99"/>
                </a:solidFill>
                <a:effectLst>
                  <a:outerShdw blurRad="38100" dist="38100" dir="2700000" algn="tl">
                    <a:srgbClr val="000000"/>
                  </a:outerShdw>
                </a:effectLst>
              </a:rPr>
              <a:t>碎片攻击</a:t>
            </a:r>
            <a:endParaRPr kumimoji="1" lang="zh-CN" altLang="en-US" sz="5000" b="1" kern="0">
              <a:solidFill>
                <a:srgbClr val="99FF99"/>
              </a:solidFill>
              <a:effectLst>
                <a:outerShdw blurRad="38100" dist="38100" dir="2700000" algn="tl">
                  <a:srgbClr val="000000"/>
                </a:outerShdw>
              </a:effectLst>
            </a:endParaRPr>
          </a:p>
        </p:txBody>
      </p:sp>
      <p:sp>
        <p:nvSpPr>
          <p:cNvPr id="47106"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IP</a:t>
            </a:r>
            <a:r>
              <a:rPr lang="zh-CN" altLang="en-US" b="1" dirty="0"/>
              <a:t>首部有两个字节表示整个</a:t>
            </a:r>
            <a:r>
              <a:rPr lang="en-US" altLang="zh-CN" b="1" dirty="0"/>
              <a:t>IP</a:t>
            </a:r>
            <a:r>
              <a:rPr lang="zh-CN" altLang="en-US" b="1" dirty="0"/>
              <a:t>数据包的长度，所以</a:t>
            </a:r>
            <a:r>
              <a:rPr lang="en-US" altLang="zh-CN" b="1" dirty="0"/>
              <a:t>IP</a:t>
            </a:r>
            <a:r>
              <a:rPr lang="zh-CN" altLang="en-US" b="1" dirty="0"/>
              <a:t>数据包最长只能为</a:t>
            </a:r>
            <a:r>
              <a:rPr lang="en-US" altLang="zh-CN" b="1" dirty="0"/>
              <a:t>0xFFFF</a:t>
            </a:r>
            <a:r>
              <a:rPr lang="zh-CN" altLang="en-US" b="1" dirty="0"/>
              <a:t>，就是</a:t>
            </a:r>
            <a:r>
              <a:rPr lang="en-US" altLang="zh-CN" b="1" dirty="0"/>
              <a:t>65535</a:t>
            </a:r>
            <a:r>
              <a:rPr lang="zh-CN" altLang="en-US" b="1" dirty="0"/>
              <a:t>字节。如果有意发送总长度超过</a:t>
            </a:r>
            <a:r>
              <a:rPr lang="en-US" altLang="zh-CN" b="1" dirty="0"/>
              <a:t>65535</a:t>
            </a:r>
            <a:r>
              <a:rPr lang="zh-CN" altLang="en-US" b="1" dirty="0"/>
              <a:t>的</a:t>
            </a:r>
            <a:r>
              <a:rPr lang="en-US" altLang="zh-CN" b="1" dirty="0"/>
              <a:t>IP</a:t>
            </a:r>
            <a:r>
              <a:rPr lang="zh-CN" altLang="en-US" b="1" dirty="0"/>
              <a:t>碎片，一些老的系统内核在处理的时候就会出现问题，导致崩溃或者拒绝服务。另外，如果分片之间偏移量经过精心构造，一些系统就无法处理，导致死机。所以说，漏洞的起因是出在重组算法上。下面我们通过分析攻击实例来了解如何人为制造</a:t>
            </a:r>
            <a:r>
              <a:rPr lang="en-US" altLang="zh-CN" b="1" dirty="0"/>
              <a:t>IP</a:t>
            </a:r>
            <a:r>
              <a:rPr lang="zh-CN" altLang="en-US" b="1" dirty="0"/>
              <a:t>碎片来攻击系统。 </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a:solidFill>
                  <a:schemeClr val="tx2"/>
                </a:solidFill>
                <a:effectLst>
                  <a:outerShdw blurRad="38100" dist="38100" dir="2700000" algn="tl">
                    <a:srgbClr val="000000"/>
                  </a:outerShdw>
                </a:effectLst>
              </a:rPr>
              <a:t>IP</a:t>
            </a:r>
            <a:r>
              <a:rPr kumimoji="1" lang="zh-CN" altLang="en-US" sz="5000" b="1" kern="0">
                <a:solidFill>
                  <a:schemeClr val="tx2"/>
                </a:solidFill>
                <a:effectLst>
                  <a:outerShdw blurRad="38100" dist="38100" dir="2700000" algn="tl">
                    <a:srgbClr val="000000"/>
                  </a:outerShdw>
                </a:effectLst>
              </a:rPr>
              <a:t>碎片攻击实例</a:t>
            </a:r>
            <a:endParaRPr kumimoji="1" lang="zh-CN" altLang="en-US" sz="5000" b="1" kern="0">
              <a:solidFill>
                <a:schemeClr val="tx2"/>
              </a:solidFill>
              <a:effectLst>
                <a:outerShdw blurRad="38100" dist="38100" dir="2700000" algn="tl">
                  <a:srgbClr val="000000"/>
                </a:outerShdw>
              </a:effectLst>
            </a:endParaRPr>
          </a:p>
        </p:txBody>
      </p:sp>
      <p:sp>
        <p:nvSpPr>
          <p:cNvPr id="48130"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a:t>
            </a:r>
            <a:r>
              <a:rPr lang="zh-CN" altLang="en-US" b="1" dirty="0"/>
              <a:t>我们结合一个</a:t>
            </a:r>
            <a:r>
              <a:rPr lang="en-US" altLang="zh-CN" b="1" dirty="0"/>
              <a:t>IP</a:t>
            </a:r>
            <a:r>
              <a:rPr lang="zh-CN" altLang="en-US" b="1" dirty="0"/>
              <a:t>碎片攻击程序</a:t>
            </a:r>
            <a:r>
              <a:rPr lang="en-US" altLang="zh-CN" b="1" dirty="0"/>
              <a:t>——jolt2</a:t>
            </a:r>
            <a:r>
              <a:rPr lang="zh-CN" altLang="en-US" b="1" dirty="0"/>
              <a:t>来继续讨论</a:t>
            </a:r>
            <a:r>
              <a:rPr lang="en-US" altLang="zh-CN" b="1" dirty="0"/>
              <a:t>IP</a:t>
            </a:r>
            <a:r>
              <a:rPr lang="zh-CN" altLang="en-US" b="1" dirty="0"/>
              <a:t>碎片攻击。</a:t>
            </a:r>
            <a:endParaRPr lang="zh-CN" altLang="en-US" b="1" dirty="0"/>
          </a:p>
          <a:p>
            <a:pPr algn="just" eaLnBrk="1" hangingPunct="1"/>
            <a:r>
              <a:rPr lang="zh-CN" altLang="en-US" b="1" dirty="0"/>
              <a:t>        </a:t>
            </a:r>
            <a:r>
              <a:rPr lang="en-US" altLang="zh-CN" b="1" dirty="0"/>
              <a:t>jolt2.c</a:t>
            </a:r>
            <a:r>
              <a:rPr lang="zh-CN" altLang="en-US" b="1" dirty="0"/>
              <a:t>是在一个死循环中不停的发送一个</a:t>
            </a:r>
            <a:r>
              <a:rPr lang="en-US" altLang="zh-CN" b="1" dirty="0"/>
              <a:t>ICMP/UDP</a:t>
            </a:r>
            <a:r>
              <a:rPr lang="zh-CN" altLang="en-US" b="1" dirty="0"/>
              <a:t>的</a:t>
            </a:r>
            <a:r>
              <a:rPr lang="en-US" altLang="zh-CN" b="1" dirty="0"/>
              <a:t>IP</a:t>
            </a:r>
            <a:r>
              <a:rPr lang="zh-CN" altLang="en-US" b="1" dirty="0"/>
              <a:t>碎片，可以使</a:t>
            </a:r>
            <a:r>
              <a:rPr lang="en-US" altLang="zh-CN" b="1" dirty="0"/>
              <a:t>Windows</a:t>
            </a:r>
            <a:r>
              <a:rPr lang="zh-CN" altLang="en-US" b="1" dirty="0"/>
              <a:t>系统的机器死锁。通过测试了没打补丁的</a:t>
            </a:r>
            <a:r>
              <a:rPr lang="en-US" altLang="zh-CN" b="1" dirty="0"/>
              <a:t>Windows 2000</a:t>
            </a:r>
            <a:r>
              <a:rPr lang="zh-CN" altLang="en-US" b="1" dirty="0"/>
              <a:t>，</a:t>
            </a:r>
            <a:r>
              <a:rPr lang="en-US" altLang="zh-CN" b="1" dirty="0"/>
              <a:t>CPU</a:t>
            </a:r>
            <a:r>
              <a:rPr lang="zh-CN" altLang="en-US" b="1" dirty="0"/>
              <a:t>利用率会立即上升到</a:t>
            </a:r>
            <a:r>
              <a:rPr lang="en-US" altLang="zh-CN" b="1" dirty="0"/>
              <a:t>100%</a:t>
            </a:r>
            <a:r>
              <a:rPr lang="zh-CN" altLang="en-US" b="1" dirty="0"/>
              <a:t>，鼠标无法移动。 </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dirty="0">
                <a:solidFill>
                  <a:srgbClr val="99FF99"/>
                </a:solidFill>
                <a:effectLst>
                  <a:outerShdw blurRad="38100" dist="38100" dir="2700000" algn="tl">
                    <a:srgbClr val="000000"/>
                  </a:outerShdw>
                </a:effectLst>
              </a:rPr>
              <a:t>分布式拒绝服务攻击</a:t>
            </a:r>
            <a:endParaRPr kumimoji="1" lang="zh-CN" altLang="en-US" sz="5000" b="1" kern="0" dirty="0">
              <a:solidFill>
                <a:srgbClr val="99FF99"/>
              </a:solidFill>
              <a:effectLst>
                <a:outerShdw blurRad="38100" dist="38100" dir="2700000" algn="tl">
                  <a:srgbClr val="000000"/>
                </a:outerShdw>
              </a:effectLst>
            </a:endParaRPr>
          </a:p>
        </p:txBody>
      </p:sp>
      <p:sp>
        <p:nvSpPr>
          <p:cNvPr id="49154"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lnSpc>
                <a:spcPct val="90000"/>
              </a:lnSpc>
            </a:pPr>
            <a:r>
              <a:rPr lang="en-US" altLang="zh-CN" b="1" dirty="0"/>
              <a:t>        </a:t>
            </a:r>
            <a:r>
              <a:rPr lang="zh-CN" altLang="en-US" b="1" dirty="0"/>
              <a:t>分布式拒绝服务攻击（</a:t>
            </a:r>
            <a:r>
              <a:rPr lang="en-US" altLang="zh-CN" b="1" dirty="0"/>
              <a:t>DDoS</a:t>
            </a:r>
            <a:r>
              <a:rPr lang="zh-CN" altLang="en-US" b="1" dirty="0"/>
              <a:t>）是目前黑客经常采用而难以防范的攻击手段。本节从概念开始详细介绍了这种攻击方式，着重描述了黑客是如何组织并发起的</a:t>
            </a:r>
            <a:r>
              <a:rPr lang="en-US" altLang="zh-CN" b="1" dirty="0"/>
              <a:t>DDoS</a:t>
            </a:r>
            <a:r>
              <a:rPr lang="zh-CN" altLang="en-US" b="1" dirty="0"/>
              <a:t>攻击，可以对</a:t>
            </a:r>
            <a:r>
              <a:rPr lang="en-US" altLang="zh-CN" b="1" dirty="0"/>
              <a:t>DDoS</a:t>
            </a:r>
            <a:r>
              <a:rPr lang="zh-CN" altLang="en-US" b="1" dirty="0"/>
              <a:t>攻击有一个更形象的了解。</a:t>
            </a:r>
            <a:endParaRPr lang="zh-CN" altLang="en-US" b="1" dirty="0"/>
          </a:p>
          <a:p>
            <a:pPr algn="just" eaLnBrk="1" hangingPunct="1">
              <a:lnSpc>
                <a:spcPct val="90000"/>
              </a:lnSpc>
            </a:pPr>
            <a:r>
              <a:rPr lang="zh-CN" altLang="en-US" b="1" dirty="0"/>
              <a:t>        </a:t>
            </a:r>
            <a:r>
              <a:rPr lang="en-US" altLang="zh-CN" b="1" dirty="0"/>
              <a:t>DoS</a:t>
            </a:r>
            <a:r>
              <a:rPr lang="zh-CN" altLang="en-US" b="1" dirty="0"/>
              <a:t>的攻击方式有很多种，最基本的</a:t>
            </a:r>
            <a:r>
              <a:rPr lang="en-US" altLang="zh-CN" b="1" dirty="0"/>
              <a:t>DoS</a:t>
            </a:r>
            <a:r>
              <a:rPr lang="zh-CN" altLang="en-US" b="1" dirty="0"/>
              <a:t>攻击就是利用合理的服务请求来占用过多的服务资源，从而使合法用户无法得到服务的响应。 </a:t>
            </a:r>
            <a:endParaRPr lang="zh-CN" altLang="en-US"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分布式拒绝服务攻击</a:t>
            </a:r>
            <a:endParaRPr kumimoji="1" lang="zh-CN" altLang="en-US" sz="5000" b="1" kern="0">
              <a:solidFill>
                <a:srgbClr val="99FF99"/>
              </a:solidFill>
              <a:effectLst>
                <a:outerShdw blurRad="38100" dist="38100" dir="2700000" algn="tl">
                  <a:srgbClr val="000000"/>
                </a:outerShdw>
              </a:effectLst>
            </a:endParaRPr>
          </a:p>
        </p:txBody>
      </p:sp>
      <p:sp>
        <p:nvSpPr>
          <p:cNvPr id="50178"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r>
              <a:rPr lang="en-US" altLang="zh-CN" b="1" dirty="0"/>
              <a:t>        </a:t>
            </a:r>
            <a:r>
              <a:rPr lang="zh-CN" altLang="en-US" b="1" dirty="0"/>
              <a:t>被</a:t>
            </a:r>
            <a:r>
              <a:rPr lang="en-US" altLang="zh-CN" b="1" dirty="0"/>
              <a:t>DDoS</a:t>
            </a:r>
            <a:r>
              <a:rPr lang="zh-CN" altLang="en-US" b="1" dirty="0"/>
              <a:t>攻击时会有以下现象发生：</a:t>
            </a:r>
            <a:endParaRPr lang="zh-CN" altLang="en-US" b="1" dirty="0"/>
          </a:p>
          <a:p>
            <a:pPr marL="457200" indent="-457200" algn="just" eaLnBrk="1" hangingPunct="1">
              <a:buFont typeface="Wingdings" panose="05000000000000000000" charset="0"/>
              <a:buChar char="Ø"/>
            </a:pPr>
            <a:r>
              <a:rPr lang="zh-CN" altLang="en-US" b="1" dirty="0"/>
              <a:t>被攻击主机上有大量等待的</a:t>
            </a:r>
            <a:r>
              <a:rPr lang="en-US" altLang="zh-CN" b="1" dirty="0"/>
              <a:t>TCP</a:t>
            </a:r>
            <a:r>
              <a:rPr lang="zh-CN" altLang="en-US" b="1" dirty="0"/>
              <a:t>连接；</a:t>
            </a:r>
            <a:endParaRPr lang="zh-CN" altLang="en-US" b="1" dirty="0"/>
          </a:p>
          <a:p>
            <a:pPr marL="457200" indent="-457200" algn="just" eaLnBrk="1" hangingPunct="1">
              <a:buFont typeface="Wingdings" panose="05000000000000000000" charset="0"/>
              <a:buChar char="Ø"/>
            </a:pPr>
            <a:r>
              <a:rPr lang="zh-CN" altLang="en-US" b="1" dirty="0"/>
              <a:t>网络中充斥着大量的无用的数据包，源地址为假；</a:t>
            </a:r>
            <a:endParaRPr lang="zh-CN" altLang="en-US" b="1" dirty="0"/>
          </a:p>
          <a:p>
            <a:pPr marL="457200" indent="-457200" algn="just" eaLnBrk="1" hangingPunct="1">
              <a:buFont typeface="Wingdings" panose="05000000000000000000" charset="0"/>
              <a:buChar char="Ø"/>
            </a:pPr>
            <a:r>
              <a:rPr lang="zh-CN" altLang="en-US" b="1" dirty="0"/>
              <a:t>制造高流量无用数据，造成网络拥塞，使受害主机无法正常和外界通信；</a:t>
            </a:r>
            <a:endParaRPr lang="zh-CN" altLang="en-US" b="1" dirty="0"/>
          </a:p>
          <a:p>
            <a:pPr marL="457200" indent="-457200" algn="just" eaLnBrk="1" hangingPunct="1">
              <a:buFont typeface="Wingdings" panose="05000000000000000000" charset="0"/>
              <a:buChar char="Ø"/>
            </a:pPr>
            <a:r>
              <a:rPr lang="zh-CN" altLang="en-US" b="1" dirty="0"/>
              <a:t>利用受害主机提供的服务或传输协议上的缺陷，反复高速的发出特定的服务请求，使受害主机无法及时处理所有正常请求；</a:t>
            </a:r>
            <a:endParaRPr lang="zh-CN" altLang="en-US" b="1" dirty="0"/>
          </a:p>
          <a:p>
            <a:pPr marL="457200" indent="-457200" algn="just" eaLnBrk="1" hangingPunct="1">
              <a:buFont typeface="Wingdings" panose="05000000000000000000" charset="0"/>
              <a:buChar char="Ø"/>
            </a:pPr>
            <a:r>
              <a:rPr lang="zh-CN" altLang="en-US" b="1" dirty="0"/>
              <a:t>严重时会造成系统死机。</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分布式拒绝服务攻击原理</a:t>
            </a:r>
            <a:endParaRPr kumimoji="1" lang="zh-CN" altLang="en-US" sz="5000" b="1" kern="0">
              <a:solidFill>
                <a:schemeClr val="tx2"/>
              </a:solidFill>
              <a:effectLst>
                <a:outerShdw blurRad="38100" dist="38100" dir="2700000" algn="tl">
                  <a:srgbClr val="000000"/>
                </a:outerShdw>
              </a:effectLst>
            </a:endParaRPr>
          </a:p>
        </p:txBody>
      </p:sp>
      <p:sp>
        <p:nvSpPr>
          <p:cNvPr id="51202"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lnSpc>
                <a:spcPct val="90000"/>
              </a:lnSpc>
            </a:pPr>
            <a:r>
              <a:rPr lang="en-US" altLang="zh-CN" b="1" dirty="0">
                <a:latin typeface="黑体" panose="02010609060101010101" pitchFamily="49" charset="-122"/>
              </a:rPr>
              <a:t>    </a:t>
            </a:r>
            <a:r>
              <a:rPr lang="zh-CN" altLang="en-US" b="1" dirty="0">
                <a:latin typeface="黑体" panose="02010609060101010101" pitchFamily="49" charset="-122"/>
              </a:rPr>
              <a:t>分布式拒绝服务攻击分为两级：</a:t>
            </a:r>
            <a:r>
              <a:rPr lang="zh-CN" altLang="en-US" b="1" dirty="0">
                <a:solidFill>
                  <a:schemeClr val="folHlink"/>
                </a:solidFill>
                <a:latin typeface="黑体" panose="02010609060101010101" pitchFamily="49" charset="-122"/>
              </a:rPr>
              <a:t>主控端和代理端</a:t>
            </a:r>
            <a:r>
              <a:rPr lang="zh-CN" altLang="en-US" b="1" dirty="0">
                <a:latin typeface="黑体" panose="02010609060101010101" pitchFamily="49" charset="-122"/>
              </a:rPr>
              <a:t>。主控端主机和代理端主机都是</a:t>
            </a:r>
            <a:r>
              <a:rPr lang="en-US" altLang="zh-CN" b="1" dirty="0">
                <a:latin typeface="黑体" panose="02010609060101010101" pitchFamily="49" charset="-122"/>
              </a:rPr>
              <a:t>Internet</a:t>
            </a:r>
            <a:r>
              <a:rPr lang="zh-CN" altLang="en-US" b="1" dirty="0">
                <a:latin typeface="黑体" panose="02010609060101010101" pitchFamily="49" charset="-122"/>
              </a:rPr>
              <a:t>网上具有某些安全缺陷的主机。攻击者首先寻找具有某些安全缺陷的主机作为攻击的</a:t>
            </a:r>
            <a:r>
              <a:rPr lang="zh-CN" altLang="en-US" b="1" dirty="0">
                <a:solidFill>
                  <a:srgbClr val="FF0000"/>
                </a:solidFill>
                <a:latin typeface="黑体" panose="02010609060101010101" pitchFamily="49" charset="-122"/>
              </a:rPr>
              <a:t>主控端主机并上传主控端程序</a:t>
            </a:r>
            <a:r>
              <a:rPr lang="zh-CN" altLang="en-US" b="1" dirty="0">
                <a:latin typeface="黑体" panose="02010609060101010101" pitchFamily="49" charset="-122"/>
              </a:rPr>
              <a:t>；攻击者或主控端</a:t>
            </a:r>
            <a:r>
              <a:rPr lang="zh-CN" altLang="en-US" b="1" dirty="0">
                <a:solidFill>
                  <a:srgbClr val="FF0000"/>
                </a:solidFill>
                <a:latin typeface="黑体" panose="02010609060101010101" pitchFamily="49" charset="-122"/>
              </a:rPr>
              <a:t>寻找代理端主机并上传攻击程序</a:t>
            </a:r>
            <a:r>
              <a:rPr lang="zh-CN" altLang="en-US" b="1" dirty="0">
                <a:latin typeface="黑体" panose="02010609060101010101" pitchFamily="49" charset="-122"/>
              </a:rPr>
              <a:t>，攻击程序最简单可以是发包程序；某个特定时刻，攻击者</a:t>
            </a:r>
            <a:r>
              <a:rPr lang="zh-CN" altLang="en-US" b="1" dirty="0">
                <a:solidFill>
                  <a:srgbClr val="FF0000"/>
                </a:solidFill>
                <a:latin typeface="黑体" panose="02010609060101010101" pitchFamily="49" charset="-122"/>
              </a:rPr>
              <a:t>发送命令</a:t>
            </a:r>
            <a:r>
              <a:rPr lang="zh-CN" altLang="en-US" b="1" dirty="0">
                <a:latin typeface="黑体" panose="02010609060101010101" pitchFamily="49" charset="-122"/>
              </a:rPr>
              <a:t>给主控端主机，</a:t>
            </a:r>
            <a:r>
              <a:rPr lang="zh-CN" altLang="en-US" b="1" dirty="0">
                <a:solidFill>
                  <a:srgbClr val="FF0000"/>
                </a:solidFill>
                <a:latin typeface="黑体" panose="02010609060101010101" pitchFamily="49" charset="-122"/>
              </a:rPr>
              <a:t>主控端主机控制代理端主机</a:t>
            </a:r>
            <a:r>
              <a:rPr lang="zh-CN" altLang="en-US" b="1" dirty="0">
                <a:latin typeface="黑体" panose="02010609060101010101" pitchFamily="49" charset="-122"/>
              </a:rPr>
              <a:t>向受害者发起分布式攻击。</a:t>
            </a:r>
            <a:r>
              <a:rPr lang="zh-CN" altLang="en-US" dirty="0">
                <a:latin typeface="黑体" panose="02010609060101010101" pitchFamily="49" charset="-122"/>
              </a:rPr>
              <a:t> </a:t>
            </a:r>
            <a:endParaRPr lang="zh-CN" altLang="en-US" dirty="0">
              <a:latin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2209800" y="333375"/>
            <a:ext cx="7772400" cy="1143000"/>
          </a:xfrm>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分布式拒绝服务攻击原理</a:t>
            </a:r>
            <a:endParaRPr kumimoji="1" lang="zh-CN" altLang="en-US" sz="5000" b="1" kern="0">
              <a:solidFill>
                <a:srgbClr val="99FF99"/>
              </a:solidFill>
              <a:effectLst>
                <a:outerShdw blurRad="38100" dist="38100" dir="2700000" algn="tl">
                  <a:srgbClr val="000000"/>
                </a:outerShdw>
              </a:effectLst>
            </a:endParaRPr>
          </a:p>
        </p:txBody>
      </p:sp>
      <p:sp>
        <p:nvSpPr>
          <p:cNvPr id="52226" name="Rectangle 3"/>
          <p:cNvSpPr/>
          <p:nvPr/>
        </p:nvSpPr>
        <p:spPr>
          <a:xfrm>
            <a:off x="1524001" y="1729859"/>
            <a:ext cx="184731" cy="369332"/>
          </a:xfrm>
          <a:prstGeom prst="rect">
            <a:avLst/>
          </a:prstGeom>
          <a:noFill/>
          <a:ln w="9525">
            <a:noFill/>
          </a:ln>
        </p:spPr>
        <p:txBody>
          <a:bodyPr wrap="none" anchor="ctr">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52227" name="Object 4"/>
          <p:cNvGraphicFramePr/>
          <p:nvPr/>
        </p:nvGraphicFramePr>
        <p:xfrm>
          <a:off x="1774668" y="1340803"/>
          <a:ext cx="8571230" cy="5157470"/>
        </p:xfrm>
        <a:graphic>
          <a:graphicData uri="http://schemas.openxmlformats.org/presentationml/2006/ole">
            <mc:AlternateContent xmlns:mc="http://schemas.openxmlformats.org/markup-compatibility/2006">
              <mc:Choice xmlns:v="urn:schemas-microsoft-com:vml" Requires="v">
                <p:oleObj spid="_x0000_s2077" name="" r:id="rId1" imgW="5259070" imgH="3169920" progId="Word.Picture.8">
                  <p:embed/>
                </p:oleObj>
              </mc:Choice>
              <mc:Fallback>
                <p:oleObj name="" r:id="rId1" imgW="5259070" imgH="3169920" progId="Word.Picture.8">
                  <p:embed/>
                  <p:pic>
                    <p:nvPicPr>
                      <p:cNvPr id="0" name="图片 2052"/>
                      <p:cNvPicPr/>
                      <p:nvPr/>
                    </p:nvPicPr>
                    <p:blipFill>
                      <a:blip r:embed="rId2"/>
                      <a:stretch>
                        <a:fillRect/>
                      </a:stretch>
                    </p:blipFill>
                    <p:spPr>
                      <a:xfrm>
                        <a:off x="1774668" y="1340803"/>
                        <a:ext cx="8571230" cy="515747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分布式拒绝服务攻击步骤</a:t>
            </a:r>
            <a:endParaRPr kumimoji="1" lang="zh-CN" altLang="en-US" sz="5000" b="1" kern="0">
              <a:solidFill>
                <a:schemeClr val="tx2"/>
              </a:solidFill>
              <a:effectLst>
                <a:outerShdw blurRad="38100" dist="38100" dir="2700000" algn="tl">
                  <a:srgbClr val="000000"/>
                </a:outerShdw>
              </a:effectLst>
            </a:endParaRPr>
          </a:p>
        </p:txBody>
      </p:sp>
      <p:sp>
        <p:nvSpPr>
          <p:cNvPr id="53250" name="Rectangle 3"/>
          <p:cNvSpPr>
            <a:spLocks noGrp="1"/>
          </p:cNvSpPr>
          <p:nvPr>
            <p:ph idx="1"/>
          </p:nvPr>
        </p:nvSpPr>
        <p:spPr>
          <a:xfrm>
            <a:off x="1981200" y="1600200"/>
            <a:ext cx="8229600" cy="4852988"/>
          </a:xfrm>
        </p:spPr>
        <p:txBody>
          <a:bodyPr vert="horz" wrap="square" lIns="91440" tIns="45720" rIns="91440" bIns="45720" anchor="t"/>
          <a:lstStyle/>
          <a:p>
            <a:pPr algn="just" eaLnBrk="1" hangingPunct="1">
              <a:lnSpc>
                <a:spcPct val="200000"/>
              </a:lnSpc>
            </a:pPr>
            <a:r>
              <a:rPr lang="zh-CN" altLang="en-US" b="1" dirty="0"/>
              <a:t>（</a:t>
            </a:r>
            <a:r>
              <a:rPr lang="en-US" altLang="zh-CN" b="1" dirty="0"/>
              <a:t>1</a:t>
            </a:r>
            <a:r>
              <a:rPr lang="zh-CN" altLang="en-US" b="1" dirty="0"/>
              <a:t>）搜集了解目标的情况</a:t>
            </a:r>
            <a:r>
              <a:rPr lang="zh-CN" altLang="en-US" dirty="0"/>
              <a:t> </a:t>
            </a:r>
            <a:endParaRPr lang="zh-CN" altLang="en-US" dirty="0"/>
          </a:p>
          <a:p>
            <a:pPr algn="just" eaLnBrk="1" hangingPunct="1">
              <a:lnSpc>
                <a:spcPct val="200000"/>
              </a:lnSpc>
            </a:pPr>
            <a:r>
              <a:rPr lang="zh-CN" altLang="en-US" b="1" dirty="0"/>
              <a:t>（</a:t>
            </a:r>
            <a:r>
              <a:rPr lang="en-US" altLang="zh-CN" b="1" dirty="0"/>
              <a:t>2</a:t>
            </a:r>
            <a:r>
              <a:rPr lang="zh-CN" altLang="en-US" b="1" dirty="0"/>
              <a:t>）占领主控端和代理端主机</a:t>
            </a:r>
            <a:r>
              <a:rPr lang="zh-CN" altLang="en-US" dirty="0"/>
              <a:t> </a:t>
            </a:r>
            <a:endParaRPr lang="zh-CN" altLang="en-US" dirty="0"/>
          </a:p>
          <a:p>
            <a:pPr algn="just" eaLnBrk="1" hangingPunct="1">
              <a:lnSpc>
                <a:spcPct val="200000"/>
              </a:lnSpc>
            </a:pPr>
            <a:r>
              <a:rPr lang="zh-CN" altLang="en-US" b="1" dirty="0"/>
              <a:t>（</a:t>
            </a:r>
            <a:r>
              <a:rPr lang="en-US" altLang="zh-CN" b="1" dirty="0"/>
              <a:t>3</a:t>
            </a:r>
            <a:r>
              <a:rPr lang="zh-CN" altLang="en-US" b="1" dirty="0"/>
              <a:t>）实际攻击</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常见的</a:t>
            </a:r>
            <a:r>
              <a:rPr kumimoji="1" lang="en-US" altLang="zh-CN" sz="5000" b="1" kern="0">
                <a:solidFill>
                  <a:schemeClr val="tx2"/>
                </a:solidFill>
                <a:effectLst>
                  <a:outerShdw blurRad="38100" dist="38100" dir="2700000" algn="tl">
                    <a:srgbClr val="000000"/>
                  </a:outerShdw>
                </a:effectLst>
              </a:rPr>
              <a:t>DDOS</a:t>
            </a:r>
            <a:r>
              <a:rPr kumimoji="1" lang="zh-CN" altLang="en-US" sz="5000" b="1" kern="0">
                <a:solidFill>
                  <a:schemeClr val="tx2"/>
                </a:solidFill>
                <a:effectLst>
                  <a:outerShdw blurRad="38100" dist="38100" dir="2700000" algn="tl">
                    <a:srgbClr val="000000"/>
                  </a:outerShdw>
                </a:effectLst>
              </a:rPr>
              <a:t>攻击工具</a:t>
            </a:r>
            <a:endParaRPr kumimoji="1" lang="zh-CN" altLang="en-US" sz="5000" b="1" kern="0">
              <a:solidFill>
                <a:schemeClr val="tx2"/>
              </a:solidFill>
              <a:effectLst>
                <a:outerShdw blurRad="38100" dist="38100" dir="2700000" algn="tl">
                  <a:srgbClr val="000000"/>
                </a:outerShdw>
              </a:effectLst>
            </a:endParaRPr>
          </a:p>
        </p:txBody>
      </p:sp>
      <p:sp>
        <p:nvSpPr>
          <p:cNvPr id="54274" name="Rectangle 3"/>
          <p:cNvSpPr>
            <a:spLocks noGrp="1"/>
          </p:cNvSpPr>
          <p:nvPr>
            <p:ph idx="1"/>
          </p:nvPr>
        </p:nvSpPr>
        <p:spPr/>
        <p:txBody>
          <a:bodyPr vert="horz" wrap="square" lIns="91440" tIns="45720" rIns="91440" bIns="45720" anchor="t"/>
          <a:lstStyle/>
          <a:p>
            <a:pPr algn="just" eaLnBrk="1" hangingPunct="1"/>
            <a:r>
              <a:rPr lang="en-US" altLang="zh-CN" sz="3600" b="1" dirty="0"/>
              <a:t>TFN(Tribe Flood Network)</a:t>
            </a:r>
            <a:r>
              <a:rPr lang="zh-CN" altLang="en-US" sz="3600" b="1" dirty="0"/>
              <a:t>和</a:t>
            </a:r>
            <a:r>
              <a:rPr lang="en-US" altLang="zh-CN" sz="3600" b="1" dirty="0"/>
              <a:t>TFN2K</a:t>
            </a:r>
            <a:endParaRPr lang="en-US" altLang="zh-CN" sz="3600" b="1" dirty="0"/>
          </a:p>
          <a:p>
            <a:pPr algn="just" eaLnBrk="1" hangingPunct="1"/>
            <a:endParaRPr lang="en-US" altLang="zh-CN" sz="3600" b="1" dirty="0"/>
          </a:p>
          <a:p>
            <a:pPr algn="just" eaLnBrk="1" hangingPunct="1"/>
            <a:r>
              <a:rPr lang="en-US" altLang="zh-CN" sz="3600" b="1" dirty="0"/>
              <a:t>Trinoo</a:t>
            </a:r>
            <a:r>
              <a:rPr lang="en-US" altLang="zh-CN" sz="3600" dirty="0"/>
              <a:t> </a:t>
            </a:r>
            <a:endParaRPr lang="en-US" altLang="zh-CN" sz="3600" dirty="0"/>
          </a:p>
          <a:p>
            <a:pPr algn="just" eaLnBrk="1" hangingPunct="1"/>
            <a:endParaRPr lang="en-US" altLang="zh-CN" sz="3600" b="1" dirty="0"/>
          </a:p>
          <a:p>
            <a:pPr algn="just" eaLnBrk="1" hangingPunct="1"/>
            <a:r>
              <a:rPr lang="en-US" altLang="zh-CN" sz="3600" b="1" dirty="0"/>
              <a:t>Stacheldraht</a:t>
            </a:r>
            <a:r>
              <a:rPr lang="en-US" altLang="zh-CN" sz="3600" dirty="0"/>
              <a:t> </a:t>
            </a:r>
            <a:endParaRPr lang="en-US" altLang="zh-CN" sz="36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a:solidFill>
                  <a:schemeClr val="tx2"/>
                </a:solidFill>
                <a:effectLst>
                  <a:outerShdw blurRad="38100" dist="38100" dir="2700000" algn="tl">
                    <a:srgbClr val="000000"/>
                  </a:outerShdw>
                </a:effectLst>
              </a:rPr>
              <a:t>DDoS</a:t>
            </a:r>
            <a:r>
              <a:rPr kumimoji="1" lang="zh-CN" altLang="en-US" sz="5000" b="1" kern="0">
                <a:solidFill>
                  <a:schemeClr val="tx2"/>
                </a:solidFill>
                <a:effectLst>
                  <a:outerShdw blurRad="38100" dist="38100" dir="2700000" algn="tl">
                    <a:srgbClr val="000000"/>
                  </a:outerShdw>
                </a:effectLst>
              </a:rPr>
              <a:t>的防范</a:t>
            </a:r>
            <a:endParaRPr kumimoji="1" lang="zh-CN" altLang="en-US" sz="5000" b="1" kern="0">
              <a:solidFill>
                <a:schemeClr val="tx2"/>
              </a:solidFill>
              <a:effectLst>
                <a:outerShdw blurRad="38100" dist="38100" dir="2700000" algn="tl">
                  <a:srgbClr val="000000"/>
                </a:outerShdw>
              </a:effectLst>
            </a:endParaRPr>
          </a:p>
        </p:txBody>
      </p:sp>
      <p:sp>
        <p:nvSpPr>
          <p:cNvPr id="55298" name="Rectangle 3"/>
          <p:cNvSpPr>
            <a:spLocks noGrp="1"/>
          </p:cNvSpPr>
          <p:nvPr>
            <p:ph idx="1"/>
          </p:nvPr>
        </p:nvSpPr>
        <p:spPr>
          <a:xfrm>
            <a:off x="4008439" y="2060576"/>
            <a:ext cx="4822825" cy="3895725"/>
          </a:xfrm>
        </p:spPr>
        <p:txBody>
          <a:bodyPr vert="horz" wrap="square" lIns="91440" tIns="45720" rIns="91440" bIns="45720" anchor="t"/>
          <a:lstStyle/>
          <a:p>
            <a:pPr algn="just" eaLnBrk="1" hangingPunct="1"/>
            <a:r>
              <a:rPr lang="zh-CN" altLang="en-US" sz="3600" b="1" dirty="0"/>
              <a:t>企业网管理员 </a:t>
            </a:r>
            <a:endParaRPr lang="zh-CN" altLang="en-US" sz="3600" b="1" dirty="0"/>
          </a:p>
          <a:p>
            <a:pPr algn="just" eaLnBrk="1" hangingPunct="1"/>
            <a:endParaRPr lang="zh-CN" altLang="en-US" sz="3600" b="1" dirty="0"/>
          </a:p>
          <a:p>
            <a:pPr algn="just" eaLnBrk="1" hangingPunct="1"/>
            <a:r>
              <a:rPr lang="en-US" altLang="zh-CN" sz="3600" b="1" dirty="0"/>
              <a:t>ISP / ICP</a:t>
            </a:r>
            <a:r>
              <a:rPr lang="zh-CN" altLang="en-US" sz="3600" b="1" dirty="0"/>
              <a:t>管理员  </a:t>
            </a:r>
            <a:endParaRPr lang="zh-CN" altLang="en-US" sz="3600" b="1" dirty="0"/>
          </a:p>
          <a:p>
            <a:pPr algn="just" eaLnBrk="1" hangingPunct="1"/>
            <a:endParaRPr lang="zh-CN" altLang="en-US" sz="3600" b="1" dirty="0"/>
          </a:p>
          <a:p>
            <a:pPr algn="just" eaLnBrk="1" hangingPunct="1"/>
            <a:r>
              <a:rPr lang="zh-CN" altLang="en-US" sz="3600" b="1" dirty="0"/>
              <a:t>骨干网络运营商</a:t>
            </a:r>
            <a:r>
              <a:rPr lang="zh-CN" altLang="en-US" sz="3600" dirty="0"/>
              <a:t> </a:t>
            </a:r>
            <a:r>
              <a:rPr lang="zh-CN" altLang="en-US" sz="3600" b="1" dirty="0"/>
              <a:t> </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p:cNvSpPr>
          <p:nvPr>
            <p:ph idx="1"/>
          </p:nvPr>
        </p:nvSpPr>
        <p:spPr/>
        <p:txBody>
          <a:bodyPr vert="horz" wrap="square" lIns="91440" tIns="45720" rIns="91440" bIns="45720" anchor="t"/>
          <a:lstStyle/>
          <a:p>
            <a:pPr algn="just" eaLnBrk="1" hangingPunct="1">
              <a:buClr>
                <a:schemeClr val="accent2"/>
              </a:buClr>
              <a:buSzPct val="80000"/>
              <a:buNone/>
            </a:pPr>
            <a:r>
              <a:rPr lang="en-US" altLang="zh-CN" b="1" dirty="0"/>
              <a:t>        </a:t>
            </a:r>
            <a:r>
              <a:rPr lang="zh-CN" altLang="en-US" b="1" dirty="0"/>
              <a:t>对路由器的攻击往往能达到攻击单个主机达不到的效果，比如使整个网络瘫痪、窃取整个网络的数据等。 </a:t>
            </a:r>
            <a:endParaRPr lang="zh-CN" altLang="en-US" b="1" dirty="0"/>
          </a:p>
          <a:p>
            <a:pPr algn="just" eaLnBrk="1" hangingPunct="1">
              <a:buClr>
                <a:schemeClr val="accent2"/>
              </a:buClr>
              <a:buSzPct val="80000"/>
              <a:buNone/>
            </a:pPr>
            <a:endParaRPr lang="zh-CN" altLang="en-US" b="1" dirty="0"/>
          </a:p>
          <a:p>
            <a:pPr algn="just" eaLnBrk="1" hangingPunct="1">
              <a:buClr>
                <a:schemeClr val="accent1"/>
              </a:buClr>
              <a:buSzPct val="80000"/>
            </a:pPr>
            <a:r>
              <a:rPr lang="zh-CN" altLang="en-US" b="1" dirty="0"/>
              <a:t>路由器攻击主要技术</a:t>
            </a:r>
            <a:endParaRPr lang="zh-CN" altLang="en-US" b="1" dirty="0"/>
          </a:p>
          <a:p>
            <a:pPr algn="just" eaLnBrk="1" hangingPunct="1">
              <a:buClr>
                <a:schemeClr val="accent1"/>
              </a:buClr>
              <a:buSzPct val="80000"/>
            </a:pPr>
            <a:r>
              <a:rPr lang="zh-CN" altLang="en-US" b="1" dirty="0"/>
              <a:t>路由器攻击防护</a:t>
            </a:r>
            <a:endParaRPr lang="zh-CN" altLang="en-US" b="1" dirty="0"/>
          </a:p>
        </p:txBody>
      </p:sp>
      <p:grpSp>
        <p:nvGrpSpPr>
          <p:cNvPr id="65536" name="组合 65535"/>
          <p:cNvGrpSpPr/>
          <p:nvPr/>
        </p:nvGrpSpPr>
        <p:grpSpPr>
          <a:xfrm>
            <a:off x="2778312" y="716894"/>
            <a:ext cx="3900805" cy="1649431"/>
            <a:chOff x="3279913" y="488294"/>
            <a:chExt cx="3900805" cy="1649431"/>
          </a:xfrm>
        </p:grpSpPr>
        <p:grpSp>
          <p:nvGrpSpPr>
            <p:cNvPr id="14" name="组合 13"/>
            <p:cNvGrpSpPr/>
            <p:nvPr/>
          </p:nvGrpSpPr>
          <p:grpSpPr>
            <a:xfrm>
              <a:off x="3279913" y="909457"/>
              <a:ext cx="3900805" cy="1228268"/>
              <a:chOff x="3279913" y="909457"/>
              <a:chExt cx="3900805" cy="1228268"/>
            </a:xfrm>
          </p:grpSpPr>
          <p:sp>
            <p:nvSpPr>
              <p:cNvPr id="10" name="矩形: 圆角 9"/>
              <p:cNvSpPr/>
              <p:nvPr/>
            </p:nvSpPr>
            <p:spPr>
              <a:xfrm>
                <a:off x="3279913" y="909457"/>
                <a:ext cx="3900805" cy="687705"/>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2308225" cy="1105535"/>
              </a:xfrm>
              <a:prstGeom prst="rect">
                <a:avLst/>
              </a:prstGeom>
              <a:noFill/>
            </p:spPr>
            <p:txBody>
              <a:bodyPr wrap="none" rtlCol="0" anchor="t">
                <a:spAutoFit/>
              </a:bodyPr>
              <a:lstStyle/>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r>
                  <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 路由器攻击</a:t>
                </a:r>
                <a:endPar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mn-cs"/>
                </a:endParaRPr>
              </a:p>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路由器攻击主要技术</a:t>
            </a:r>
            <a:r>
              <a:rPr kumimoji="1" lang="en-US" altLang="zh-CN" sz="5000" b="1" kern="0">
                <a:solidFill>
                  <a:schemeClr val="tx2"/>
                </a:solidFill>
                <a:effectLst>
                  <a:outerShdw blurRad="38100" dist="38100" dir="2700000" algn="tl">
                    <a:srgbClr val="000000"/>
                  </a:outerShdw>
                </a:effectLst>
              </a:rPr>
              <a:t>1</a:t>
            </a:r>
            <a:endParaRPr kumimoji="1" lang="en-US" altLang="zh-CN" sz="5000" b="1" kern="0">
              <a:solidFill>
                <a:schemeClr val="tx2"/>
              </a:solidFill>
              <a:effectLst>
                <a:outerShdw blurRad="38100" dist="38100" dir="2700000" algn="tl">
                  <a:srgbClr val="000000"/>
                </a:outerShdw>
              </a:effectLst>
            </a:endParaRPr>
          </a:p>
        </p:txBody>
      </p:sp>
      <p:sp>
        <p:nvSpPr>
          <p:cNvPr id="57346" name="Rectangle 3"/>
          <p:cNvSpPr>
            <a:spLocks noGrp="1"/>
          </p:cNvSpPr>
          <p:nvPr>
            <p:ph idx="1"/>
          </p:nvPr>
        </p:nvSpPr>
        <p:spPr/>
        <p:txBody>
          <a:bodyPr vert="horz" wrap="square" lIns="91440" tIns="45720" rIns="91440" bIns="45720" anchor="t"/>
          <a:lstStyle/>
          <a:p>
            <a:pPr algn="just" eaLnBrk="1" hangingPunct="1">
              <a:buClr>
                <a:schemeClr val="folHlink"/>
              </a:buClr>
              <a:buSzPct val="80000"/>
            </a:pPr>
            <a:r>
              <a:rPr lang="en-US" altLang="zh-CN" b="1" dirty="0"/>
              <a:t>1</a:t>
            </a:r>
            <a:r>
              <a:rPr lang="zh-CN" altLang="en-US" b="1" dirty="0"/>
              <a:t>、重定向攻击 </a:t>
            </a:r>
            <a:endParaRPr lang="zh-CN" altLang="en-US" b="1" dirty="0"/>
          </a:p>
          <a:p>
            <a:pPr algn="just" eaLnBrk="1" hangingPunct="1">
              <a:buClr>
                <a:schemeClr val="folHlink"/>
              </a:buClr>
              <a:buSzPct val="80000"/>
            </a:pPr>
            <a:r>
              <a:rPr lang="en-US" altLang="zh-CN" b="1" dirty="0"/>
              <a:t>2</a:t>
            </a:r>
            <a:r>
              <a:rPr lang="zh-CN" altLang="en-US" b="1" dirty="0"/>
              <a:t>、</a:t>
            </a:r>
            <a:r>
              <a:rPr lang="en-US" altLang="zh-CN" b="1" dirty="0"/>
              <a:t>RIP-1</a:t>
            </a:r>
            <a:r>
              <a:rPr lang="zh-CN" altLang="en-US" b="1" dirty="0"/>
              <a:t>协议的安全性缺陷 </a:t>
            </a:r>
            <a:endParaRPr lang="zh-CN" altLang="en-US" b="1" dirty="0"/>
          </a:p>
          <a:p>
            <a:pPr algn="just" eaLnBrk="1" hangingPunct="1">
              <a:buClr>
                <a:schemeClr val="folHlink"/>
              </a:buClr>
              <a:buSzPct val="80000"/>
            </a:pPr>
            <a:r>
              <a:rPr lang="en-US" altLang="zh-CN" b="1" dirty="0"/>
              <a:t>3</a:t>
            </a:r>
            <a:r>
              <a:rPr lang="zh-CN" altLang="en-US" b="1" dirty="0"/>
              <a:t>、</a:t>
            </a:r>
            <a:r>
              <a:rPr lang="en-US" altLang="zh-CN" b="1" dirty="0"/>
              <a:t>RIP-2</a:t>
            </a:r>
            <a:r>
              <a:rPr lang="zh-CN" altLang="en-US" b="1" dirty="0"/>
              <a:t>的安全不足</a:t>
            </a:r>
            <a:endParaRPr lang="zh-CN" altLang="en-US" b="1" dirty="0"/>
          </a:p>
          <a:p>
            <a:pPr algn="just" eaLnBrk="1" hangingPunct="1">
              <a:buClr>
                <a:schemeClr val="folHlink"/>
              </a:buClr>
              <a:buSzPct val="80000"/>
            </a:pPr>
            <a:r>
              <a:rPr lang="en-US" altLang="zh-CN" b="1" dirty="0"/>
              <a:t>4</a:t>
            </a:r>
            <a:r>
              <a:rPr lang="zh-CN" altLang="en-US" b="1" dirty="0"/>
              <a:t>、使</a:t>
            </a:r>
            <a:r>
              <a:rPr lang="en-US" altLang="zh-CN" b="1" dirty="0"/>
              <a:t>OSPF</a:t>
            </a:r>
            <a:r>
              <a:rPr lang="zh-CN" altLang="en-US" b="1" dirty="0"/>
              <a:t>中的指派路由器与备份路由器忙碌</a:t>
            </a:r>
            <a:endParaRPr lang="zh-CN" altLang="en-US" b="1" dirty="0"/>
          </a:p>
          <a:p>
            <a:pPr algn="just" eaLnBrk="1" hangingPunct="1">
              <a:buClr>
                <a:schemeClr val="folHlink"/>
              </a:buClr>
              <a:buSzPct val="80000"/>
            </a:pPr>
            <a:r>
              <a:rPr lang="en-US" altLang="zh-CN" b="1" dirty="0"/>
              <a:t>5</a:t>
            </a:r>
            <a:r>
              <a:rPr lang="zh-CN" altLang="en-US" b="1" dirty="0"/>
              <a:t>、截获数据报第一分片，制造拒绝服务攻击 </a:t>
            </a:r>
            <a:endParaRPr lang="zh-CN" altLang="en-US" b="1" dirty="0"/>
          </a:p>
          <a:p>
            <a:pPr algn="just" eaLnBrk="1" hangingPunct="1">
              <a:buClr>
                <a:schemeClr val="folHlink"/>
              </a:buClr>
              <a:buSzPct val="80000"/>
            </a:pPr>
            <a:r>
              <a:rPr lang="en-US" altLang="zh-CN" b="1" dirty="0">
                <a:sym typeface="+mn-ea"/>
              </a:rPr>
              <a:t>6</a:t>
            </a:r>
            <a:r>
              <a:rPr lang="zh-CN" altLang="en-US" b="1" dirty="0">
                <a:sym typeface="+mn-ea"/>
              </a:rPr>
              <a:t>、</a:t>
            </a:r>
            <a:r>
              <a:rPr lang="en-US" altLang="zh-CN" b="1" dirty="0"/>
              <a:t>ICMP</a:t>
            </a:r>
            <a:r>
              <a:rPr lang="zh-CN" altLang="en-US" b="1" dirty="0"/>
              <a:t>重定向功能的正负效应 </a:t>
            </a:r>
            <a:endParaRPr lang="zh-CN" altLang="en-US" b="1" dirty="0"/>
          </a:p>
          <a:p>
            <a:pPr algn="just" eaLnBrk="1" hangingPunct="1">
              <a:buClr>
                <a:schemeClr val="folHlink"/>
              </a:buClr>
              <a:buSzPct val="80000"/>
            </a:pPr>
            <a:r>
              <a:rPr lang="en-US" altLang="zh-CN" b="1" dirty="0"/>
              <a:t>7</a:t>
            </a:r>
            <a:r>
              <a:rPr lang="zh-CN" altLang="en-US" b="1" dirty="0"/>
              <a:t>、利用</a:t>
            </a:r>
            <a:r>
              <a:rPr lang="en-US" altLang="zh-CN" b="1" dirty="0"/>
              <a:t>ping</a:t>
            </a:r>
            <a:r>
              <a:rPr lang="zh-CN" altLang="en-US" b="1" dirty="0"/>
              <a:t>的拒绝服务攻击  </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路由器攻击主要技术</a:t>
            </a:r>
            <a:r>
              <a:rPr kumimoji="1" lang="en-US" altLang="zh-CN" sz="5000" b="1" kern="0">
                <a:solidFill>
                  <a:schemeClr val="tx2"/>
                </a:solidFill>
                <a:effectLst>
                  <a:outerShdw blurRad="38100" dist="38100" dir="2700000" algn="tl">
                    <a:srgbClr val="000000"/>
                  </a:outerShdw>
                </a:effectLst>
              </a:rPr>
              <a:t>2</a:t>
            </a:r>
            <a:endParaRPr kumimoji="1" lang="en-US" altLang="zh-CN" sz="5000" b="1" kern="0">
              <a:solidFill>
                <a:schemeClr val="tx2"/>
              </a:solidFill>
              <a:effectLst>
                <a:outerShdw blurRad="38100" dist="38100" dir="2700000" algn="tl">
                  <a:srgbClr val="000000"/>
                </a:outerShdw>
              </a:effectLst>
            </a:endParaRPr>
          </a:p>
        </p:txBody>
      </p:sp>
      <p:sp>
        <p:nvSpPr>
          <p:cNvPr id="58370" name="Rectangle 3"/>
          <p:cNvSpPr>
            <a:spLocks noGrp="1"/>
          </p:cNvSpPr>
          <p:nvPr>
            <p:ph idx="1"/>
          </p:nvPr>
        </p:nvSpPr>
        <p:spPr/>
        <p:txBody>
          <a:bodyPr vert="horz" wrap="square" lIns="91440" tIns="45720" rIns="91440" bIns="45720" anchor="t"/>
          <a:lstStyle/>
          <a:p>
            <a:pPr algn="just" eaLnBrk="1" hangingPunct="1">
              <a:buClr>
                <a:schemeClr val="folHlink"/>
              </a:buClr>
              <a:buSzPct val="80000"/>
            </a:pPr>
            <a:r>
              <a:rPr lang="en-US" altLang="zh-CN" b="1" dirty="0"/>
              <a:t>8</a:t>
            </a:r>
            <a:r>
              <a:rPr lang="zh-CN" altLang="en-US" b="1" dirty="0"/>
              <a:t>、</a:t>
            </a:r>
            <a:r>
              <a:rPr lang="en-US" altLang="zh-CN" b="1" dirty="0"/>
              <a:t>TCP</a:t>
            </a:r>
            <a:r>
              <a:rPr lang="zh-CN" altLang="en-US" b="1" dirty="0"/>
              <a:t>和</a:t>
            </a:r>
            <a:r>
              <a:rPr lang="en-US" altLang="zh-CN" b="1" dirty="0"/>
              <a:t>UDP</a:t>
            </a:r>
            <a:r>
              <a:rPr lang="zh-CN" altLang="en-US" b="1" dirty="0"/>
              <a:t>的端口分配</a:t>
            </a:r>
            <a:r>
              <a:rPr lang="zh-CN" altLang="en-US" dirty="0"/>
              <a:t> </a:t>
            </a:r>
            <a:endParaRPr lang="zh-CN" altLang="en-US" b="1" dirty="0"/>
          </a:p>
          <a:p>
            <a:pPr algn="just" eaLnBrk="1" hangingPunct="1">
              <a:buClr>
                <a:schemeClr val="folHlink"/>
              </a:buClr>
              <a:buSzPct val="80000"/>
            </a:pPr>
            <a:r>
              <a:rPr lang="en-US" altLang="zh-CN" b="1" dirty="0"/>
              <a:t>9</a:t>
            </a:r>
            <a:r>
              <a:rPr lang="zh-CN" altLang="en-US" b="1" dirty="0"/>
              <a:t>、会话劫持（</a:t>
            </a:r>
            <a:r>
              <a:rPr lang="en-US" altLang="zh-CN" b="1" dirty="0"/>
              <a:t>session hijacking</a:t>
            </a:r>
            <a:r>
              <a:rPr lang="zh-CN" altLang="en-US" b="1" dirty="0"/>
              <a:t>）</a:t>
            </a:r>
            <a:r>
              <a:rPr lang="zh-CN" altLang="en-US" dirty="0"/>
              <a:t> </a:t>
            </a:r>
            <a:endParaRPr lang="zh-CN" altLang="en-US" b="1" dirty="0"/>
          </a:p>
          <a:p>
            <a:pPr algn="just" eaLnBrk="1" hangingPunct="1">
              <a:buClr>
                <a:schemeClr val="folHlink"/>
              </a:buClr>
              <a:buSzPct val="80000"/>
            </a:pPr>
            <a:r>
              <a:rPr lang="en-US" altLang="zh-CN" b="1" dirty="0"/>
              <a:t>10</a:t>
            </a:r>
            <a:r>
              <a:rPr lang="zh-CN" altLang="en-US" b="1" dirty="0"/>
              <a:t>、</a:t>
            </a:r>
            <a:r>
              <a:rPr lang="en-US" altLang="zh-CN" b="1" dirty="0"/>
              <a:t>IP</a:t>
            </a:r>
            <a:r>
              <a:rPr lang="zh-CN" altLang="en-US" b="1" dirty="0"/>
              <a:t>欺骗</a:t>
            </a:r>
            <a:r>
              <a:rPr lang="zh-CN" altLang="en-US" dirty="0"/>
              <a:t> </a:t>
            </a:r>
            <a:endParaRPr lang="zh-CN" altLang="en-US" b="1" dirty="0"/>
          </a:p>
          <a:p>
            <a:pPr algn="just" eaLnBrk="1" hangingPunct="1">
              <a:buClr>
                <a:schemeClr val="folHlink"/>
              </a:buClr>
              <a:buSzPct val="80000"/>
            </a:pPr>
            <a:r>
              <a:rPr lang="en-US" altLang="zh-CN" b="1" dirty="0"/>
              <a:t>11</a:t>
            </a:r>
            <a:r>
              <a:rPr lang="zh-CN" altLang="en-US" b="1" dirty="0"/>
              <a:t>、</a:t>
            </a:r>
            <a:r>
              <a:rPr lang="en-US" altLang="zh-CN" b="1" dirty="0"/>
              <a:t>ACK</a:t>
            </a:r>
            <a:r>
              <a:rPr lang="zh-CN" altLang="en-US" b="1" dirty="0"/>
              <a:t>位的利用</a:t>
            </a:r>
            <a:r>
              <a:rPr lang="zh-CN" altLang="en-US" dirty="0"/>
              <a:t> </a:t>
            </a:r>
            <a:endParaRPr lang="zh-CN" altLang="en-US" b="1" dirty="0"/>
          </a:p>
          <a:p>
            <a:pPr algn="just" eaLnBrk="1" hangingPunct="1">
              <a:buClr>
                <a:schemeClr val="folHlink"/>
              </a:buClr>
              <a:buSzPct val="80000"/>
            </a:pPr>
            <a:r>
              <a:rPr lang="en-US" altLang="zh-CN" b="1" dirty="0"/>
              <a:t>12</a:t>
            </a:r>
            <a:r>
              <a:rPr lang="zh-CN" altLang="en-US" b="1" dirty="0"/>
              <a:t>、端口口令的脆弱性</a:t>
            </a:r>
            <a:r>
              <a:rPr lang="zh-CN" altLang="en-US" dirty="0"/>
              <a:t> </a:t>
            </a:r>
            <a:endParaRPr lang="zh-CN" altLang="en-US" b="1" dirty="0"/>
          </a:p>
          <a:p>
            <a:pPr algn="just" eaLnBrk="1" hangingPunct="1">
              <a:buClr>
                <a:schemeClr val="folHlink"/>
              </a:buClr>
              <a:buSzPct val="80000"/>
            </a:pPr>
            <a:r>
              <a:rPr lang="en-US" altLang="zh-CN" b="1" dirty="0"/>
              <a:t>13</a:t>
            </a:r>
            <a:r>
              <a:rPr lang="zh-CN" altLang="en-US" b="1" dirty="0"/>
              <a:t>、路由器的口令管理</a:t>
            </a:r>
            <a:r>
              <a:rPr lang="zh-CN" altLang="en-US" dirty="0"/>
              <a:t> </a:t>
            </a:r>
            <a:endParaRPr lang="zh-CN" altLang="en-US" b="1" dirty="0"/>
          </a:p>
          <a:p>
            <a:pPr algn="just" eaLnBrk="1" hangingPunct="1">
              <a:buClr>
                <a:schemeClr val="folHlink"/>
              </a:buClr>
              <a:buSzPct val="80000"/>
            </a:pPr>
            <a:r>
              <a:rPr lang="en-US" altLang="zh-CN" b="1" dirty="0"/>
              <a:t>14</a:t>
            </a:r>
            <a:r>
              <a:rPr lang="zh-CN" altLang="en-US" b="1" dirty="0"/>
              <a:t>、报文过滤技术的局限</a:t>
            </a:r>
            <a:r>
              <a:rPr lang="zh-CN" altLang="en-US" dirty="0"/>
              <a:t> </a:t>
            </a:r>
            <a:endParaRPr lang="zh-CN" altLang="en-US" dirty="0"/>
          </a:p>
          <a:p>
            <a:pPr algn="just" eaLnBrk="1" hangingPunct="1">
              <a:buClr>
                <a:schemeClr val="folHlink"/>
              </a:buClr>
              <a:buSzPct val="80000"/>
            </a:pPr>
            <a:r>
              <a:rPr lang="en-US" altLang="zh-CN" dirty="0"/>
              <a:t>15</a:t>
            </a:r>
            <a:r>
              <a:rPr lang="zh-CN" altLang="en-US" dirty="0"/>
              <a:t>、</a:t>
            </a:r>
            <a:r>
              <a:rPr lang="en-US" altLang="zh-CN" dirty="0"/>
              <a:t>IP</a:t>
            </a:r>
            <a:r>
              <a:rPr lang="zh-CN" altLang="en-US" dirty="0"/>
              <a:t>欺骗</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路由器攻击主要技术</a:t>
            </a:r>
            <a:r>
              <a:rPr kumimoji="1" lang="en-US" altLang="zh-CN" sz="5000" b="1" kern="0">
                <a:solidFill>
                  <a:schemeClr val="tx2"/>
                </a:solidFill>
                <a:effectLst>
                  <a:outerShdw blurRad="38100" dist="38100" dir="2700000" algn="tl">
                    <a:srgbClr val="000000"/>
                  </a:outerShdw>
                </a:effectLst>
              </a:rPr>
              <a:t>3</a:t>
            </a:r>
            <a:endParaRPr kumimoji="1" lang="en-US" altLang="zh-CN" sz="5000" b="1" kern="0">
              <a:solidFill>
                <a:schemeClr val="tx2"/>
              </a:solidFill>
              <a:effectLst>
                <a:outerShdw blurRad="38100" dist="38100" dir="2700000" algn="tl">
                  <a:srgbClr val="000000"/>
                </a:outerShdw>
              </a:effectLst>
            </a:endParaRPr>
          </a:p>
        </p:txBody>
      </p:sp>
      <p:sp>
        <p:nvSpPr>
          <p:cNvPr id="59394" name="Rectangle 3"/>
          <p:cNvSpPr>
            <a:spLocks noGrp="1"/>
          </p:cNvSpPr>
          <p:nvPr>
            <p:ph idx="1"/>
          </p:nvPr>
        </p:nvSpPr>
        <p:spPr/>
        <p:txBody>
          <a:bodyPr vert="horz" wrap="square" lIns="91440" tIns="45720" rIns="91440" bIns="45720" anchor="t"/>
          <a:lstStyle/>
          <a:p>
            <a:pPr algn="just" eaLnBrk="1" hangingPunct="1">
              <a:buClr>
                <a:schemeClr val="folHlink"/>
              </a:buClr>
              <a:buSzPct val="80000"/>
            </a:pPr>
            <a:r>
              <a:rPr lang="en-US" altLang="zh-CN" b="1" dirty="0"/>
              <a:t>16</a:t>
            </a:r>
            <a:r>
              <a:rPr lang="zh-CN" altLang="en-US" b="1" dirty="0"/>
              <a:t>、传统的</a:t>
            </a:r>
            <a:r>
              <a:rPr lang="en-US" altLang="zh-CN" b="1" dirty="0"/>
              <a:t>IP</a:t>
            </a:r>
            <a:r>
              <a:rPr lang="zh-CN" altLang="en-US" b="1" dirty="0"/>
              <a:t>访问表的缺陷 </a:t>
            </a:r>
            <a:endParaRPr lang="zh-CN" altLang="en-US" b="1" dirty="0"/>
          </a:p>
          <a:p>
            <a:pPr algn="just" eaLnBrk="1" hangingPunct="1">
              <a:buClr>
                <a:schemeClr val="folHlink"/>
              </a:buClr>
              <a:buSzPct val="80000"/>
            </a:pPr>
            <a:r>
              <a:rPr lang="en-US" altLang="zh-CN" b="1" dirty="0"/>
              <a:t>17</a:t>
            </a:r>
            <a:r>
              <a:rPr lang="zh-CN" altLang="en-US" b="1" dirty="0"/>
              <a:t>、扩展访问表问题</a:t>
            </a:r>
            <a:endParaRPr lang="zh-CN" altLang="en-US" b="1" dirty="0"/>
          </a:p>
          <a:p>
            <a:pPr algn="just" eaLnBrk="1" hangingPunct="1">
              <a:buClr>
                <a:schemeClr val="folHlink"/>
              </a:buClr>
              <a:buSzPct val="80000"/>
            </a:pPr>
            <a:r>
              <a:rPr lang="en-US" altLang="zh-CN" b="1" dirty="0"/>
              <a:t>18</a:t>
            </a:r>
            <a:r>
              <a:rPr lang="zh-CN" altLang="en-US" b="1" dirty="0"/>
              <a:t>、动态访问表（</a:t>
            </a:r>
            <a:r>
              <a:rPr lang="en-US" altLang="zh-CN" b="1" dirty="0"/>
              <a:t>lock-and-key</a:t>
            </a:r>
            <a:r>
              <a:rPr lang="zh-CN" altLang="en-US" b="1" dirty="0"/>
              <a:t>安全）问题 </a:t>
            </a:r>
            <a:endParaRPr lang="zh-CN" altLang="en-US" b="1" dirty="0"/>
          </a:p>
          <a:p>
            <a:pPr algn="just" eaLnBrk="1" hangingPunct="1">
              <a:buClr>
                <a:schemeClr val="folHlink"/>
              </a:buClr>
              <a:buSzPct val="80000"/>
            </a:pPr>
            <a:r>
              <a:rPr lang="en-US" altLang="zh-CN" b="1" dirty="0"/>
              <a:t>19</a:t>
            </a:r>
            <a:r>
              <a:rPr lang="zh-CN" altLang="en-US" b="1" dirty="0"/>
              <a:t>、基于时间的访问表的问题 </a:t>
            </a:r>
            <a:endParaRPr lang="zh-CN" altLang="en-US" b="1" dirty="0"/>
          </a:p>
          <a:p>
            <a:pPr algn="just" eaLnBrk="1" hangingPunct="1">
              <a:buClr>
                <a:schemeClr val="folHlink"/>
              </a:buClr>
              <a:buSzPct val="80000"/>
            </a:pPr>
            <a:r>
              <a:rPr lang="en-US" altLang="zh-CN" b="1" dirty="0"/>
              <a:t>20</a:t>
            </a:r>
            <a:r>
              <a:rPr lang="zh-CN" altLang="en-US" b="1" dirty="0"/>
              <a:t>、镜像访问表（</a:t>
            </a:r>
            <a:r>
              <a:rPr lang="en-US" altLang="zh-CN" b="1" dirty="0"/>
              <a:t>reflexive access list</a:t>
            </a:r>
            <a:r>
              <a:rPr lang="zh-CN" altLang="en-US" b="1" dirty="0"/>
              <a:t>）问题</a:t>
            </a:r>
            <a:endParaRPr lang="zh-CN" altLang="en-US" b="1" dirty="0"/>
          </a:p>
          <a:p>
            <a:pPr algn="just" eaLnBrk="1" hangingPunct="1">
              <a:buClr>
                <a:schemeClr val="folHlink"/>
              </a:buClr>
              <a:buSzPct val="80000"/>
            </a:pPr>
            <a:r>
              <a:rPr lang="en-US" altLang="zh-CN" b="1" dirty="0"/>
              <a:t>21</a:t>
            </a:r>
            <a:r>
              <a:rPr lang="zh-CN" altLang="en-US" b="1" dirty="0"/>
              <a:t>、基于上下文的访问控制（</a:t>
            </a:r>
            <a:r>
              <a:rPr lang="en-US" altLang="zh-CN" b="1" dirty="0"/>
              <a:t>CBAC</a:t>
            </a:r>
            <a:r>
              <a:rPr lang="zh-CN" altLang="en-US" b="1" dirty="0"/>
              <a:t>）问题</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400" b="1" kern="0">
                <a:solidFill>
                  <a:schemeClr val="tx2"/>
                </a:solidFill>
                <a:effectLst>
                  <a:outerShdw blurRad="38100" dist="38100" dir="2700000" algn="tl">
                    <a:srgbClr val="000000"/>
                  </a:outerShdw>
                </a:effectLst>
              </a:rPr>
              <a:t>重定向攻击</a:t>
            </a:r>
            <a:endParaRPr kumimoji="1" lang="zh-CN" altLang="en-US" sz="4400" b="1" kern="0">
              <a:solidFill>
                <a:schemeClr val="tx2"/>
              </a:solidFill>
              <a:effectLst>
                <a:outerShdw blurRad="38100" dist="38100" dir="2700000" algn="tl">
                  <a:srgbClr val="000000"/>
                </a:outerShdw>
              </a:effectLst>
            </a:endParaRPr>
          </a:p>
        </p:txBody>
      </p:sp>
      <p:sp>
        <p:nvSpPr>
          <p:cNvPr id="60418"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b="1" dirty="0"/>
              <a:t>         </a:t>
            </a:r>
            <a:r>
              <a:rPr lang="zh-CN" altLang="en-US" b="1" dirty="0"/>
              <a:t>利用</a:t>
            </a:r>
            <a:r>
              <a:rPr lang="en-US" altLang="zh-CN" b="1" dirty="0"/>
              <a:t>RAPP</a:t>
            </a:r>
            <a:r>
              <a:rPr lang="zh-CN" altLang="en-US" b="1" dirty="0"/>
              <a:t>、</a:t>
            </a:r>
            <a:r>
              <a:rPr lang="en-US" altLang="zh-CN" b="1" dirty="0"/>
              <a:t>BOOTP</a:t>
            </a:r>
            <a:r>
              <a:rPr lang="zh-CN" altLang="en-US" b="1" dirty="0"/>
              <a:t>或</a:t>
            </a:r>
            <a:r>
              <a:rPr lang="en-US" altLang="zh-CN" b="1" dirty="0"/>
              <a:t>DHCP</a:t>
            </a:r>
            <a:r>
              <a:rPr lang="zh-CN" altLang="en-US" b="1" dirty="0"/>
              <a:t>，通过路由器广告、重定向甚至动态配置实现动态发现主机的做法会引起一些安全问题。如果某个黑客想监听你的所有分组或设法获取你的</a:t>
            </a:r>
            <a:r>
              <a:rPr lang="en-US" altLang="zh-CN" b="1" dirty="0"/>
              <a:t>TCP/IP</a:t>
            </a:r>
            <a:r>
              <a:rPr lang="zh-CN" altLang="en-US" b="1" dirty="0"/>
              <a:t>连接，那么通过他自己的</a:t>
            </a:r>
            <a:r>
              <a:rPr lang="en-US" altLang="zh-CN" b="1" dirty="0"/>
              <a:t>IP</a:t>
            </a:r>
            <a:r>
              <a:rPr lang="zh-CN" altLang="en-US" b="1" dirty="0"/>
              <a:t>工作站发送一个重定向命令就可以很容易地窃取这些情报。一个安全的工作站应该不接收来自未确认的源方的任何数据。设计中加强对重定位报文的安全性校验，可以限定只接收对同一子网上的路由器进行重定向的报文，防止被黑客主机重定向。</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400" b="1" kern="0">
                <a:solidFill>
                  <a:schemeClr val="tx2"/>
                </a:solidFill>
                <a:effectLst>
                  <a:outerShdw blurRad="38100" dist="38100" dir="2700000" algn="tl">
                    <a:srgbClr val="000000"/>
                  </a:outerShdw>
                </a:effectLst>
              </a:rPr>
              <a:t>制造拒绝服务攻击</a:t>
            </a:r>
            <a:endParaRPr kumimoji="1" lang="zh-CN" altLang="en-US" sz="4400" b="1" kern="0">
              <a:solidFill>
                <a:schemeClr val="tx2"/>
              </a:solidFill>
              <a:effectLst>
                <a:outerShdw blurRad="38100" dist="38100" dir="2700000" algn="tl">
                  <a:srgbClr val="000000"/>
                </a:outerShdw>
              </a:effectLst>
            </a:endParaRPr>
          </a:p>
        </p:txBody>
      </p:sp>
      <p:sp>
        <p:nvSpPr>
          <p:cNvPr id="64514"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b="1" dirty="0">
                <a:latin typeface="黑体" panose="02010609060101010101" pitchFamily="49" charset="-122"/>
              </a:rPr>
              <a:t>    </a:t>
            </a:r>
            <a:r>
              <a:rPr lang="zh-CN" altLang="en-US" b="1" dirty="0">
                <a:latin typeface="黑体" panose="02010609060101010101" pitchFamily="49" charset="-122"/>
              </a:rPr>
              <a:t>一个数据报可能被分解为多个片段传输。安全设备应该识别一个数据报的所有分片。有的攻击截取数据报的</a:t>
            </a:r>
            <a:r>
              <a:rPr lang="zh-CN" altLang="en-US" b="1" dirty="0">
                <a:solidFill>
                  <a:schemeClr val="folHlink"/>
                </a:solidFill>
                <a:latin typeface="黑体" panose="02010609060101010101" pitchFamily="49" charset="-122"/>
              </a:rPr>
              <a:t>唯一包含</a:t>
            </a:r>
            <a:r>
              <a:rPr lang="zh-CN" altLang="en-US" b="1" dirty="0">
                <a:latin typeface="黑体" panose="02010609060101010101" pitchFamily="49" charset="-122"/>
              </a:rPr>
              <a:t>第四层报文头的第一个分片，而让剩余分片通过。由于目标主机得不到第四层报文头信息，就无法建立实际的应用连接。由于余下的分片仍然继续发往目的主机，主机要将这些分片保存在内存中，等待所有分片到达，消耗了有用资源，达到了拒绝服务的目的。</a:t>
            </a:r>
            <a:r>
              <a:rPr lang="en-US" altLang="zh-CN" b="1" dirty="0">
                <a:latin typeface="黑体" panose="02010609060101010101" pitchFamily="49" charset="-122"/>
              </a:rPr>
              <a:t>       </a:t>
            </a:r>
            <a:endParaRPr lang="en-US" altLang="zh-CN" b="1" dirty="0">
              <a:latin typeface="黑体" panose="02010609060101010101" pitchFamily="49" charset="-122"/>
            </a:endParaRPr>
          </a:p>
          <a:p>
            <a:pPr algn="just" eaLnBrk="1" hangingPunct="1">
              <a:lnSpc>
                <a:spcPct val="90000"/>
              </a:lnSpc>
            </a:pPr>
            <a:r>
              <a:rPr lang="en-US" altLang="zh-CN" b="1" dirty="0">
                <a:latin typeface="黑体" panose="02010609060101010101" pitchFamily="49" charset="-122"/>
              </a:rPr>
              <a:t>    </a:t>
            </a:r>
            <a:r>
              <a:rPr lang="zh-CN" altLang="en-US" b="1" dirty="0">
                <a:gradFill>
                  <a:gsLst>
                    <a:gs pos="0">
                      <a:srgbClr val="012D86"/>
                    </a:gs>
                    <a:gs pos="100000">
                      <a:srgbClr val="0E2557"/>
                    </a:gs>
                  </a:gsLst>
                  <a:lin scaled="0"/>
                </a:gradFill>
                <a:latin typeface="黑体" panose="02010609060101010101" pitchFamily="49" charset="-122"/>
              </a:rPr>
              <a:t>该攻击利用了防火墙或路由器中的代码漏洞：在第一分片被截获后，其余分片仍然可以通过路由器。</a:t>
            </a:r>
            <a:r>
              <a:rPr lang="zh-CN" altLang="en-US" dirty="0">
                <a:latin typeface="黑体" panose="02010609060101010101" pitchFamily="49" charset="-122"/>
              </a:rPr>
              <a:t> </a:t>
            </a:r>
            <a:endParaRPr lang="zh-CN" altLang="en-US" dirty="0">
              <a:latin typeface="黑体" panose="02010609060101010101"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chemeClr val="tx2"/>
                </a:solidFill>
                <a:effectLst>
                  <a:outerShdw blurRad="38100" dist="38100" dir="2700000" algn="tl">
                    <a:srgbClr val="000000"/>
                  </a:outerShdw>
                </a:effectLst>
              </a:rPr>
              <a:t>路由器攻击防护</a:t>
            </a:r>
            <a:endParaRPr kumimoji="1" lang="zh-CN" altLang="en-US" sz="5000" b="1" kern="0">
              <a:solidFill>
                <a:schemeClr val="tx2"/>
              </a:solidFill>
              <a:effectLst>
                <a:outerShdw blurRad="38100" dist="38100" dir="2700000" algn="tl">
                  <a:srgbClr val="000000"/>
                </a:outerShdw>
              </a:effectLst>
            </a:endParaRPr>
          </a:p>
        </p:txBody>
      </p:sp>
      <p:sp>
        <p:nvSpPr>
          <p:cNvPr id="87042" name="Rectangle 3"/>
          <p:cNvSpPr>
            <a:spLocks noGrp="1"/>
          </p:cNvSpPr>
          <p:nvPr>
            <p:ph idx="1"/>
          </p:nvPr>
        </p:nvSpPr>
        <p:spPr/>
        <p:txBody>
          <a:bodyPr vert="horz" wrap="square" lIns="91440" tIns="45720" rIns="91440" bIns="45720" anchor="t"/>
          <a:lstStyle/>
          <a:p>
            <a:pPr marL="742950" indent="-742950" algn="just" eaLnBrk="1" hangingPunct="1">
              <a:buClr>
                <a:schemeClr val="accent2"/>
              </a:buClr>
              <a:buSzPct val="80000"/>
              <a:buFont typeface="Wingdings" panose="05000000000000000000" pitchFamily="2" charset="2"/>
              <a:buChar char="ü"/>
            </a:pPr>
            <a:r>
              <a:rPr lang="zh-CN" altLang="en-US" sz="3600" b="1" dirty="0"/>
              <a:t>加强访问控制</a:t>
            </a:r>
            <a:r>
              <a:rPr lang="zh-CN" altLang="en-US" sz="3600" dirty="0"/>
              <a:t> </a:t>
            </a:r>
            <a:endParaRPr lang="zh-CN" altLang="en-US" sz="3600" b="1" dirty="0"/>
          </a:p>
          <a:p>
            <a:pPr marL="742950" indent="-742950" algn="just" eaLnBrk="1" hangingPunct="1">
              <a:buClr>
                <a:schemeClr val="accent2"/>
              </a:buClr>
              <a:buSzPct val="80000"/>
              <a:buFont typeface="Wingdings" panose="05000000000000000000" pitchFamily="2" charset="2"/>
              <a:buChar char="ü"/>
            </a:pPr>
            <a:r>
              <a:rPr lang="zh-CN" altLang="en-US" sz="3600" b="1" dirty="0"/>
              <a:t>关闭路由器不必要的服务</a:t>
            </a:r>
            <a:r>
              <a:rPr lang="zh-CN" altLang="en-US" sz="3600" dirty="0"/>
              <a:t> </a:t>
            </a:r>
            <a:endParaRPr lang="zh-CN" altLang="en-US" sz="3600" b="1" dirty="0"/>
          </a:p>
          <a:p>
            <a:pPr marL="742950" indent="-742950" algn="just" eaLnBrk="1" hangingPunct="1">
              <a:buClr>
                <a:schemeClr val="accent2"/>
              </a:buClr>
              <a:buSzPct val="80000"/>
              <a:buFont typeface="Wingdings" panose="05000000000000000000" pitchFamily="2" charset="2"/>
              <a:buChar char="ü"/>
            </a:pPr>
            <a:r>
              <a:rPr lang="zh-CN" altLang="en-US" sz="3600" b="1" dirty="0"/>
              <a:t>防止</a:t>
            </a:r>
            <a:r>
              <a:rPr lang="en-US" altLang="zh-CN" sz="3600" b="1" dirty="0"/>
              <a:t>TCP SYN</a:t>
            </a:r>
            <a:r>
              <a:rPr lang="zh-CN" altLang="en-US" sz="3600" b="1" dirty="0"/>
              <a:t>洪泛攻击</a:t>
            </a:r>
            <a:r>
              <a:rPr lang="zh-CN" altLang="en-US" sz="3600" dirty="0"/>
              <a:t> </a:t>
            </a:r>
            <a:endParaRPr lang="zh-CN" altLang="en-US" sz="3600" b="1" dirty="0"/>
          </a:p>
          <a:p>
            <a:pPr marL="742950" indent="-742950" algn="just" eaLnBrk="1" hangingPunct="1">
              <a:buClr>
                <a:schemeClr val="accent2"/>
              </a:buClr>
              <a:buSzPct val="80000"/>
              <a:buFont typeface="Wingdings" panose="05000000000000000000" pitchFamily="2" charset="2"/>
              <a:buChar char="ü"/>
            </a:pPr>
            <a:r>
              <a:rPr lang="zh-CN" altLang="en-US" sz="3600" b="1" dirty="0"/>
              <a:t>使用网络地址转换（</a:t>
            </a:r>
            <a:r>
              <a:rPr lang="en-US" altLang="zh-CN" sz="3600" b="1" dirty="0"/>
              <a:t>NAT</a:t>
            </a:r>
            <a:r>
              <a:rPr lang="zh-CN" altLang="en-US" sz="3600" b="1" dirty="0"/>
              <a:t>）功能</a:t>
            </a:r>
            <a:r>
              <a:rPr lang="zh-CN" altLang="en-US" sz="3600" dirty="0"/>
              <a:t> </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chemeClr val="tx2"/>
                </a:solidFill>
                <a:effectLst>
                  <a:outerShdw blurRad="38100" dist="38100" dir="2700000" algn="tl">
                    <a:srgbClr val="000000"/>
                  </a:outerShdw>
                </a:effectLst>
              </a:rPr>
              <a:t>加强访问控制</a:t>
            </a:r>
            <a:endParaRPr kumimoji="1" lang="zh-CN" altLang="en-US" sz="4800" b="1" kern="0">
              <a:solidFill>
                <a:schemeClr val="tx2"/>
              </a:solidFill>
              <a:effectLst>
                <a:outerShdw blurRad="38100" dist="38100" dir="2700000" algn="tl">
                  <a:srgbClr val="000000"/>
                </a:outerShdw>
              </a:effectLst>
            </a:endParaRPr>
          </a:p>
        </p:txBody>
      </p:sp>
      <p:sp>
        <p:nvSpPr>
          <p:cNvPr id="88066" name="Rectangle 3"/>
          <p:cNvSpPr>
            <a:spLocks noGrp="1"/>
          </p:cNvSpPr>
          <p:nvPr>
            <p:ph idx="1"/>
          </p:nvPr>
        </p:nvSpPr>
        <p:spPr>
          <a:xfrm>
            <a:off x="1981200" y="1600200"/>
            <a:ext cx="8229600" cy="5068888"/>
          </a:xfrm>
        </p:spPr>
        <p:txBody>
          <a:bodyPr vert="horz" wrap="square" lIns="91440" tIns="45720" rIns="91440" bIns="45720" anchor="t"/>
          <a:lstStyle/>
          <a:p>
            <a:pPr algn="just" eaLnBrk="1" hangingPunct="1"/>
            <a:r>
              <a:rPr lang="en-US" altLang="zh-CN" b="1" dirty="0"/>
              <a:t>           </a:t>
            </a:r>
            <a:r>
              <a:rPr lang="zh-CN" altLang="en-US" b="1" dirty="0"/>
              <a:t>加强对访问的控制，任何类型的访问都需要口令。破解口令是黑客的主要攻击手法。</a:t>
            </a:r>
            <a:endParaRPr lang="zh-CN" altLang="en-US" b="1" dirty="0"/>
          </a:p>
          <a:p>
            <a:pPr algn="just" eaLnBrk="1" hangingPunct="1"/>
            <a:r>
              <a:rPr lang="zh-CN" altLang="en-US" b="1" dirty="0"/>
              <a:t>            控制台与辅助端口访问：这两种口都应有口令集。路由器应该放在物理上可监控的地方。</a:t>
            </a:r>
            <a:r>
              <a:rPr lang="en-US" altLang="zh-CN" b="1" dirty="0"/>
              <a:t>MODEM</a:t>
            </a:r>
            <a:r>
              <a:rPr lang="zh-CN" altLang="en-US" b="1" dirty="0"/>
              <a:t>访问也需要加上口令。</a:t>
            </a:r>
            <a:endParaRPr lang="zh-CN" altLang="en-US" b="1" dirty="0"/>
          </a:p>
          <a:p>
            <a:pPr algn="just" eaLnBrk="1" hangingPunct="1"/>
            <a:r>
              <a:rPr lang="zh-CN" altLang="en-US" b="1" dirty="0"/>
              <a:t>            远程</a:t>
            </a:r>
            <a:r>
              <a:rPr lang="en-US" altLang="zh-CN" b="1" dirty="0"/>
              <a:t>TELNET</a:t>
            </a:r>
            <a:r>
              <a:rPr lang="zh-CN" altLang="en-US" b="1" dirty="0"/>
              <a:t>：必须在</a:t>
            </a:r>
            <a:r>
              <a:rPr lang="en-US" altLang="zh-CN" b="1" dirty="0"/>
              <a:t>VTY</a:t>
            </a:r>
            <a:r>
              <a:rPr lang="zh-CN" altLang="en-US" b="1" dirty="0"/>
              <a:t>端口配置中设置口令，来开启远程访问。还可以利用访问表控制那些从</a:t>
            </a:r>
            <a:r>
              <a:rPr lang="en-US" altLang="zh-CN" b="1" dirty="0"/>
              <a:t>TELNET</a:t>
            </a:r>
            <a:r>
              <a:rPr lang="zh-CN" altLang="en-US" b="1" dirty="0"/>
              <a:t>到路由器的</a:t>
            </a:r>
            <a:r>
              <a:rPr lang="en-US" altLang="zh-CN" b="1" dirty="0"/>
              <a:t>IP</a:t>
            </a:r>
            <a:r>
              <a:rPr lang="zh-CN" altLang="en-US" b="1" dirty="0"/>
              <a:t>地址。使用</a:t>
            </a:r>
            <a:r>
              <a:rPr lang="en-US" altLang="zh-CN" b="1" dirty="0"/>
              <a:t>transport output none </a:t>
            </a:r>
            <a:r>
              <a:rPr lang="zh-CN" altLang="en-US" b="1" dirty="0"/>
              <a:t>命令可以防止把路由器作为一个跳板来攻击其他网络设备。</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800" b="1" kern="0">
                <a:solidFill>
                  <a:srgbClr val="99FF99"/>
                </a:solidFill>
                <a:effectLst>
                  <a:outerShdw blurRad="38100" dist="38100" dir="2700000" algn="tl">
                    <a:srgbClr val="000000"/>
                  </a:outerShdw>
                </a:effectLst>
              </a:rPr>
              <a:t>加强访问控制</a:t>
            </a:r>
            <a:endParaRPr kumimoji="1" lang="zh-CN" altLang="en-US" sz="4800" b="1" kern="0">
              <a:solidFill>
                <a:srgbClr val="99FF99"/>
              </a:solidFill>
              <a:effectLst>
                <a:outerShdw blurRad="38100" dist="38100" dir="2700000" algn="tl">
                  <a:srgbClr val="000000"/>
                </a:outerShdw>
              </a:effectLst>
            </a:endParaRPr>
          </a:p>
        </p:txBody>
      </p:sp>
      <p:sp>
        <p:nvSpPr>
          <p:cNvPr id="89090" name="Rectangle 3"/>
          <p:cNvSpPr>
            <a:spLocks noGrp="1"/>
          </p:cNvSpPr>
          <p:nvPr>
            <p:ph idx="1"/>
          </p:nvPr>
        </p:nvSpPr>
        <p:spPr>
          <a:xfrm>
            <a:off x="1981200" y="1600200"/>
            <a:ext cx="8229600" cy="5068888"/>
          </a:xfrm>
        </p:spPr>
        <p:txBody>
          <a:bodyPr vert="horz" wrap="square" lIns="91440" tIns="45720" rIns="91440" bIns="45720" anchor="t"/>
          <a:lstStyle/>
          <a:p>
            <a:pPr algn="just" eaLnBrk="1" hangingPunct="1"/>
            <a:r>
              <a:rPr lang="en-US" altLang="zh-CN" b="1" dirty="0"/>
              <a:t>         </a:t>
            </a:r>
            <a:r>
              <a:rPr lang="en-US" altLang="zh-CN" b="1" dirty="0" smtClean="0"/>
              <a:t>SNMP</a:t>
            </a:r>
            <a:r>
              <a:rPr lang="zh-CN" altLang="en-US" b="1" dirty="0"/>
              <a:t>访问：对高安全路由器的</a:t>
            </a:r>
            <a:r>
              <a:rPr lang="en-US" altLang="zh-CN" b="1" dirty="0"/>
              <a:t>SNMP</a:t>
            </a:r>
            <a:r>
              <a:rPr lang="zh-CN" altLang="en-US" b="1" dirty="0"/>
              <a:t>访问应该限制为只读。还应该利用访问表控制那些允许</a:t>
            </a:r>
            <a:r>
              <a:rPr lang="en-US" altLang="zh-CN" b="1" dirty="0"/>
              <a:t>SNMP</a:t>
            </a:r>
            <a:r>
              <a:rPr lang="zh-CN" altLang="en-US" b="1" dirty="0"/>
              <a:t>访问的</a:t>
            </a:r>
            <a:r>
              <a:rPr lang="en-US" altLang="zh-CN" b="1" dirty="0"/>
              <a:t>IP</a:t>
            </a:r>
            <a:r>
              <a:rPr lang="zh-CN" altLang="en-US" b="1" dirty="0"/>
              <a:t>地址。</a:t>
            </a:r>
            <a:endParaRPr lang="zh-CN" altLang="en-US" b="1" dirty="0"/>
          </a:p>
          <a:p>
            <a:pPr algn="just" eaLnBrk="1" hangingPunct="1"/>
            <a:r>
              <a:rPr lang="zh-CN" altLang="en-US" b="1" dirty="0"/>
              <a:t>         </a:t>
            </a:r>
            <a:r>
              <a:rPr lang="zh-CN" altLang="en-US" b="1" dirty="0" smtClean="0"/>
              <a:t>从</a:t>
            </a:r>
            <a:r>
              <a:rPr lang="zh-CN" altLang="en-US" b="1" dirty="0"/>
              <a:t>网络配置路由器文件：如果路由器从某个</a:t>
            </a:r>
            <a:r>
              <a:rPr lang="en-US" altLang="zh-CN" b="1" dirty="0"/>
              <a:t>TFTP</a:t>
            </a:r>
            <a:r>
              <a:rPr lang="zh-CN" altLang="en-US" b="1" dirty="0"/>
              <a:t>服务器装载配置文件的话，该服务器应该位于内部网络上。路由器不应该从不可信任网络的主机上加载配置文件。必须加强对</a:t>
            </a:r>
            <a:r>
              <a:rPr lang="en-US" altLang="zh-CN" b="1" dirty="0"/>
              <a:t>TFTP</a:t>
            </a:r>
            <a:r>
              <a:rPr lang="zh-CN" altLang="en-US" b="1" dirty="0"/>
              <a:t>访问的口令验证。</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p:cNvSpPr>
          <p:nvPr>
            <p:ph idx="1"/>
          </p:nvPr>
        </p:nvSpPr>
        <p:spPr>
          <a:xfrm>
            <a:off x="1981200" y="1882595"/>
            <a:ext cx="8229600" cy="4642031"/>
          </a:xfrm>
        </p:spPr>
        <p:txBody>
          <a:bodyPr vert="horz" wrap="square" lIns="91440" tIns="45720" rIns="91440" bIns="45720" anchor="t"/>
          <a:lstStyle/>
          <a:p>
            <a:pPr algn="just" eaLnBrk="1" hangingPunct="1"/>
            <a:r>
              <a:rPr lang="en-US" altLang="zh-CN" sz="3400" b="1" dirty="0"/>
              <a:t>        </a:t>
            </a:r>
            <a:r>
              <a:rPr lang="zh-CN" altLang="en-US" sz="3400" b="1" dirty="0" smtClean="0"/>
              <a:t>逻辑炸弹</a:t>
            </a:r>
            <a:r>
              <a:rPr lang="zh-CN" altLang="en-US" sz="3400" b="1" dirty="0"/>
              <a:t>是指隐藏在目标程序中的一段恶意代码，当某种执行条件（如指定的日期时间）满足时，该恶意代码便会发作，去破坏用户或系统的资源，如用户数据库、应用程序、系统软件等。</a:t>
            </a:r>
            <a:endParaRPr lang="zh-CN" altLang="en-US" sz="3400" dirty="0"/>
          </a:p>
        </p:txBody>
      </p:sp>
      <p:grpSp>
        <p:nvGrpSpPr>
          <p:cNvPr id="65536" name="组合 65535"/>
          <p:cNvGrpSpPr/>
          <p:nvPr/>
        </p:nvGrpSpPr>
        <p:grpSpPr>
          <a:xfrm>
            <a:off x="3844181" y="334509"/>
            <a:ext cx="4503637" cy="1109044"/>
            <a:chOff x="3279913" y="488294"/>
            <a:chExt cx="4503637" cy="1109044"/>
          </a:xfrm>
        </p:grpSpPr>
        <p:grpSp>
          <p:nvGrpSpPr>
            <p:cNvPr id="14" name="组合 13"/>
            <p:cNvGrpSpPr/>
            <p:nvPr/>
          </p:nvGrpSpPr>
          <p:grpSpPr>
            <a:xfrm>
              <a:off x="3279913" y="909457"/>
              <a:ext cx="4503637" cy="687881"/>
              <a:chOff x="3279913" y="909457"/>
              <a:chExt cx="4503637" cy="687881"/>
            </a:xfrm>
          </p:grpSpPr>
          <p:sp>
            <p:nvSpPr>
              <p:cNvPr id="10" name="矩形: 圆角 9"/>
              <p:cNvSpPr/>
              <p:nvPr/>
            </p:nvSpPr>
            <p:spPr>
              <a:xfrm>
                <a:off x="3279913" y="909457"/>
                <a:ext cx="4503637"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2959465"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4.7.4 </a:t>
                </a:r>
                <a:r>
                  <a:rPr lang="zh-CN" altLang="en-US"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逻辑炸弹</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逻辑炸弹</a:t>
            </a:r>
            <a:endParaRPr kumimoji="1" lang="zh-CN" altLang="en-US" sz="5000" b="1" kern="0">
              <a:solidFill>
                <a:srgbClr val="99FF99"/>
              </a:solidFill>
              <a:effectLst>
                <a:outerShdw blurRad="38100" dist="38100" dir="2700000" algn="tl">
                  <a:srgbClr val="000000"/>
                </a:outerShdw>
              </a:effectLst>
            </a:endParaRPr>
          </a:p>
        </p:txBody>
      </p:sp>
      <p:sp>
        <p:nvSpPr>
          <p:cNvPr id="95234" name="Rectangle 3"/>
          <p:cNvSpPr>
            <a:spLocks noGrp="1"/>
          </p:cNvSpPr>
          <p:nvPr>
            <p:ph idx="1"/>
          </p:nvPr>
        </p:nvSpPr>
        <p:spPr>
          <a:xfrm>
            <a:off x="1981200" y="1600201"/>
            <a:ext cx="8229600" cy="4924425"/>
          </a:xfrm>
        </p:spPr>
        <p:txBody>
          <a:bodyPr vert="horz" wrap="square" lIns="91440" tIns="45720" rIns="91440" bIns="45720" anchor="t"/>
          <a:lstStyle/>
          <a:p>
            <a:pPr algn="just" eaLnBrk="1" hangingPunct="1">
              <a:buClr>
                <a:schemeClr val="accent2"/>
              </a:buClr>
              <a:buSzPct val="80000"/>
              <a:buNone/>
            </a:pPr>
            <a:r>
              <a:rPr lang="en-US" altLang="zh-CN" sz="3400" b="1" dirty="0"/>
              <a:t>          </a:t>
            </a:r>
            <a:r>
              <a:rPr lang="zh-CN" altLang="en-US" sz="3400" b="1" dirty="0" smtClean="0"/>
              <a:t>逻辑炸弹</a:t>
            </a:r>
            <a:r>
              <a:rPr lang="zh-CN" altLang="en-US" sz="3400" b="1" dirty="0"/>
              <a:t>与计算机病毒的主要区别是：</a:t>
            </a:r>
            <a:endParaRPr lang="zh-CN" altLang="en-US" sz="3400" b="1" dirty="0"/>
          </a:p>
          <a:p>
            <a:pPr marL="457200" indent="-457200" algn="just" eaLnBrk="1" hangingPunct="1">
              <a:buClr>
                <a:schemeClr val="folHlink"/>
              </a:buClr>
              <a:buSzPct val="80000"/>
              <a:buFont typeface="Wingdings" panose="05000000000000000000" pitchFamily="2" charset="2"/>
              <a:buChar char="ü"/>
            </a:pPr>
            <a:r>
              <a:rPr lang="zh-CN" altLang="en-US" sz="3400" b="1" dirty="0"/>
              <a:t>逻辑炸弹没有感染能力，它不会自动传播到其他软件内；</a:t>
            </a:r>
            <a:endParaRPr lang="zh-CN" altLang="en-US" sz="3400" b="1" dirty="0"/>
          </a:p>
          <a:p>
            <a:pPr marL="457200" indent="-457200" algn="just" eaLnBrk="1" hangingPunct="1">
              <a:buClr>
                <a:schemeClr val="folHlink"/>
              </a:buClr>
              <a:buSzPct val="80000"/>
              <a:buFont typeface="Wingdings" panose="05000000000000000000" pitchFamily="2" charset="2"/>
              <a:buChar char="ü"/>
            </a:pPr>
            <a:r>
              <a:rPr lang="zh-CN" altLang="en-US" sz="3400" b="1" dirty="0"/>
              <a:t>逻辑炸弹是由软件的编制者</a:t>
            </a:r>
            <a:r>
              <a:rPr lang="zh-CN" altLang="en-US" sz="3400" b="1" dirty="0" smtClean="0"/>
              <a:t>故意安放</a:t>
            </a:r>
            <a:r>
              <a:rPr lang="zh-CN" altLang="en-US" sz="3400" b="1" dirty="0"/>
              <a:t>在目标代码中，而不是被传染的；</a:t>
            </a:r>
            <a:endParaRPr lang="zh-CN" altLang="en-US" sz="3400" b="1" dirty="0"/>
          </a:p>
          <a:p>
            <a:pPr marL="457200" indent="-457200" algn="just" eaLnBrk="1" hangingPunct="1">
              <a:buClr>
                <a:schemeClr val="folHlink"/>
              </a:buClr>
              <a:buSzPct val="80000"/>
              <a:buFont typeface="Wingdings" panose="05000000000000000000" pitchFamily="2" charset="2"/>
              <a:buChar char="ü"/>
            </a:pPr>
            <a:r>
              <a:rPr lang="zh-CN" altLang="en-US" sz="3400" b="1" dirty="0"/>
              <a:t>遭到破坏的目标必须是使用同一种软件的系统。</a:t>
            </a:r>
            <a:r>
              <a:rPr lang="zh-CN" altLang="en-US" sz="3400" dirty="0"/>
              <a:t> </a:t>
            </a:r>
            <a:endParaRPr lang="zh-CN" altLang="en-US" sz="3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24121" y="1333981"/>
            <a:ext cx="4047891" cy="2373118"/>
          </a:xfrm>
          <a:prstGeom prst="rect">
            <a:avLst/>
          </a:prstGeom>
        </p:spPr>
      </p:pic>
      <p:sp>
        <p:nvSpPr>
          <p:cNvPr id="4" name="矩形: 圆角 3"/>
          <p:cNvSpPr/>
          <p:nvPr/>
        </p:nvSpPr>
        <p:spPr>
          <a:xfrm>
            <a:off x="4828859" y="3308866"/>
            <a:ext cx="5403904" cy="1097459"/>
          </a:xfrm>
          <a:prstGeom prst="roundRect">
            <a:avLst/>
          </a:prstGeom>
          <a:noFill/>
          <a:ln w="25400">
            <a:solidFill>
              <a:srgbClr val="0F73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4000" dirty="0">
                <a:solidFill>
                  <a:srgbClr val="002060"/>
                </a:solidFill>
                <a:latin typeface="思源黑体 CN Heavy" panose="020B0A00000000000000" pitchFamily="34" charset="-122"/>
                <a:ea typeface="思源黑体 CN Heavy" panose="020B0A00000000000000" pitchFamily="34" charset="-122"/>
                <a:cs typeface="+mn-ea"/>
                <a:sym typeface="+mn-lt"/>
              </a:rPr>
              <a:t>消除入侵</a:t>
            </a:r>
            <a:r>
              <a:rPr lang="zh-CN" altLang="en-US" sz="4000" dirty="0" smtClean="0">
                <a:solidFill>
                  <a:srgbClr val="002060"/>
                </a:solidFill>
                <a:latin typeface="思源黑体 CN Heavy" panose="020B0A00000000000000" pitchFamily="34" charset="-122"/>
                <a:ea typeface="思源黑体 CN Heavy" panose="020B0A00000000000000" pitchFamily="34" charset="-122"/>
                <a:cs typeface="+mn-ea"/>
                <a:sym typeface="+mn-lt"/>
              </a:rPr>
              <a:t>踪迹</a:t>
            </a:r>
            <a:endParaRPr lang="zh-CN" altLang="en-US" sz="4000" dirty="0">
              <a:solidFill>
                <a:srgbClr val="002060"/>
              </a:solidFill>
              <a:effectLst/>
              <a:latin typeface="思源黑体 CN Heavy" panose="020B0A00000000000000" pitchFamily="34" charset="-122"/>
              <a:ea typeface="思源黑体 CN Heavy" panose="020B0A00000000000000" pitchFamily="34" charset="-122"/>
              <a:cs typeface="+mn-ea"/>
              <a:sym typeface="+mn-lt"/>
            </a:endParaRPr>
          </a:p>
        </p:txBody>
      </p:sp>
      <p:grpSp>
        <p:nvGrpSpPr>
          <p:cNvPr id="7" name="组合 6"/>
          <p:cNvGrpSpPr/>
          <p:nvPr/>
        </p:nvGrpSpPr>
        <p:grpSpPr>
          <a:xfrm flipH="1">
            <a:off x="1645005" y="3787822"/>
            <a:ext cx="3183854" cy="139546"/>
            <a:chOff x="5803418" y="4388994"/>
            <a:chExt cx="3183854" cy="139546"/>
          </a:xfrm>
        </p:grpSpPr>
        <p:cxnSp>
          <p:nvCxnSpPr>
            <p:cNvPr id="5" name="直接连接符 4"/>
            <p:cNvCxnSpPr>
              <a:endCxn id="6" idx="2"/>
            </p:cNvCxnSpPr>
            <p:nvPr/>
          </p:nvCxnSpPr>
          <p:spPr>
            <a:xfrm>
              <a:off x="5803418" y="4458767"/>
              <a:ext cx="3044308" cy="0"/>
            </a:xfrm>
            <a:prstGeom prst="line">
              <a:avLst/>
            </a:prstGeom>
            <a:ln w="12700">
              <a:solidFill>
                <a:srgbClr val="0F73EE"/>
              </a:solidFill>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8847726" y="4388994"/>
              <a:ext cx="139546" cy="139546"/>
            </a:xfrm>
            <a:prstGeom prst="ellipse">
              <a:avLst/>
            </a:prstGeom>
            <a:solidFill>
              <a:srgbClr val="0F73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righ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en-US" altLang="zh-CN" sz="5000" b="1" kern="0" smtClean="0">
                <a:solidFill>
                  <a:schemeClr val="tx2"/>
                </a:solidFill>
                <a:effectLst>
                  <a:outerShdw blurRad="38100" dist="38100" dir="2700000" algn="tl">
                    <a:srgbClr val="000000"/>
                  </a:outerShdw>
                </a:effectLst>
              </a:rPr>
              <a:t>4.8 </a:t>
            </a:r>
            <a:r>
              <a:rPr kumimoji="1" lang="zh-CN" altLang="en-US" sz="5000" b="1" kern="0" dirty="0">
                <a:solidFill>
                  <a:schemeClr val="tx2"/>
                </a:solidFill>
                <a:effectLst>
                  <a:outerShdw blurRad="38100" dist="38100" dir="2700000" algn="tl">
                    <a:srgbClr val="000000"/>
                  </a:outerShdw>
                </a:effectLst>
              </a:rPr>
              <a:t>消除入侵踪迹</a:t>
            </a:r>
            <a:endParaRPr kumimoji="1" lang="zh-CN" altLang="en-US" sz="5000" b="1" kern="0" dirty="0">
              <a:solidFill>
                <a:schemeClr val="tx2"/>
              </a:solidFill>
              <a:effectLst>
                <a:outerShdw blurRad="38100" dist="38100" dir="2700000" algn="tl">
                  <a:srgbClr val="000000"/>
                </a:outerShdw>
              </a:effectLst>
            </a:endParaRPr>
          </a:p>
        </p:txBody>
      </p:sp>
      <p:sp>
        <p:nvSpPr>
          <p:cNvPr id="96258" name="Rectangle 3"/>
          <p:cNvSpPr>
            <a:spLocks noGrp="1"/>
          </p:cNvSpPr>
          <p:nvPr>
            <p:ph idx="1"/>
          </p:nvPr>
        </p:nvSpPr>
        <p:spPr/>
        <p:txBody>
          <a:bodyPr vert="horz" wrap="square" lIns="91440" tIns="45720" rIns="91440" bIns="45720" anchor="t"/>
          <a:lstStyle/>
          <a:p>
            <a:pPr algn="just" eaLnBrk="1" hangingPunct="1">
              <a:lnSpc>
                <a:spcPct val="90000"/>
              </a:lnSpc>
            </a:pPr>
            <a:r>
              <a:rPr lang="en-US" altLang="zh-CN" b="1" dirty="0"/>
              <a:t>        </a:t>
            </a:r>
            <a:r>
              <a:rPr lang="zh-CN" altLang="en-US" b="1" dirty="0" smtClean="0"/>
              <a:t>网络</a:t>
            </a:r>
            <a:r>
              <a:rPr lang="zh-CN" altLang="en-US" b="1" dirty="0"/>
              <a:t>攻击的最后一步是消除入侵踪迹。除非是为了炫耀或者对面临的法律问题无所估计，否则几乎没有哪个网络黑客愿意让攻击受害者发觉自己的踪迹：比如</a:t>
            </a:r>
            <a:r>
              <a:rPr lang="en-US" altLang="zh-CN" b="1" dirty="0"/>
              <a:t>IP</a:t>
            </a:r>
            <a:r>
              <a:rPr lang="zh-CN" altLang="en-US" b="1" dirty="0"/>
              <a:t>地址、用户名、主机名，甚至是攻击的时间和入口处。因此，通过“消除入侵踪迹”可以让攻击受害者无法察觉攻击者的信息，从而无法定位攻击者，更无法查找攻击者的真实身份。</a:t>
            </a:r>
            <a:r>
              <a:rPr lang="zh-CN" altLang="en-US"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消除入侵踪迹</a:t>
            </a:r>
            <a:endParaRPr kumimoji="1" lang="zh-CN" altLang="en-US" sz="5000" b="1" kern="0">
              <a:solidFill>
                <a:srgbClr val="99FF99"/>
              </a:solidFill>
              <a:effectLst>
                <a:outerShdw blurRad="38100" dist="38100" dir="2700000" algn="tl">
                  <a:srgbClr val="000000"/>
                </a:outerShdw>
              </a:effectLst>
            </a:endParaRPr>
          </a:p>
        </p:txBody>
      </p:sp>
      <p:sp>
        <p:nvSpPr>
          <p:cNvPr id="97282" name="Rectangle 3"/>
          <p:cNvSpPr>
            <a:spLocks noGrp="1"/>
          </p:cNvSpPr>
          <p:nvPr>
            <p:ph idx="1"/>
          </p:nvPr>
        </p:nvSpPr>
        <p:spPr>
          <a:xfrm>
            <a:off x="4511676" y="2133600"/>
            <a:ext cx="4391025" cy="4114800"/>
          </a:xfrm>
        </p:spPr>
        <p:txBody>
          <a:bodyPr vert="horz" wrap="square" lIns="91440" tIns="45720" rIns="91440" bIns="45720" anchor="t"/>
          <a:lstStyle/>
          <a:p>
            <a:pPr marL="571500" indent="-571500" algn="just" eaLnBrk="1" hangingPunct="1">
              <a:lnSpc>
                <a:spcPct val="200000"/>
              </a:lnSpc>
              <a:buFont typeface="Wingdings" panose="05000000000000000000" pitchFamily="2" charset="2"/>
              <a:buChar char="ü"/>
            </a:pPr>
            <a:r>
              <a:rPr lang="zh-CN" altLang="en-US" sz="3600" b="1" dirty="0"/>
              <a:t>禁用审计</a:t>
            </a:r>
            <a:endParaRPr lang="zh-CN" altLang="en-US" sz="3600" b="1" dirty="0"/>
          </a:p>
          <a:p>
            <a:pPr marL="571500" indent="-571500" algn="just" eaLnBrk="1" hangingPunct="1">
              <a:lnSpc>
                <a:spcPct val="200000"/>
              </a:lnSpc>
              <a:buFont typeface="Wingdings" panose="05000000000000000000" pitchFamily="2" charset="2"/>
              <a:buChar char="ü"/>
            </a:pPr>
            <a:r>
              <a:rPr lang="zh-CN" altLang="en-US" sz="3600" b="1" dirty="0"/>
              <a:t>清除日志</a:t>
            </a:r>
            <a:endParaRPr lang="zh-CN" altLang="en-US" sz="3600" b="1" dirty="0"/>
          </a:p>
          <a:p>
            <a:pPr marL="571500" indent="-571500" algn="just" eaLnBrk="1" hangingPunct="1">
              <a:lnSpc>
                <a:spcPct val="200000"/>
              </a:lnSpc>
              <a:buFont typeface="Wingdings" panose="05000000000000000000" pitchFamily="2" charset="2"/>
              <a:buChar char="ü"/>
            </a:pPr>
            <a:r>
              <a:rPr lang="zh-CN" altLang="en-US" sz="3600" b="1" dirty="0"/>
              <a:t>隐藏文件 </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p:cNvSpPr>
          <p:nvPr>
            <p:ph idx="1"/>
          </p:nvPr>
        </p:nvSpPr>
        <p:spPr/>
        <p:txBody>
          <a:bodyPr vert="horz" wrap="square" lIns="91440" tIns="45720" rIns="91440" bIns="45720" anchor="t"/>
          <a:lstStyle/>
          <a:p>
            <a:pPr algn="just" eaLnBrk="1" hangingPunct="1"/>
            <a:r>
              <a:rPr lang="en-US" altLang="zh-CN" sz="3600" b="1" dirty="0"/>
              <a:t>        </a:t>
            </a:r>
            <a:r>
              <a:rPr lang="zh-CN" altLang="en-US" sz="3600" b="1" dirty="0" smtClean="0"/>
              <a:t>审计</a:t>
            </a:r>
            <a:r>
              <a:rPr lang="zh-CN" altLang="en-US" sz="3600" b="1" dirty="0"/>
              <a:t>可以在系统日志中记录下特定的事件以审查历史，日志甚至可以用来触发向系统管理员发出寻呼、短信或电子邮件警告。因此，网络黑客通常需要确定审计状态来决定在目标系统上停留多长时间。</a:t>
            </a:r>
            <a:endParaRPr lang="zh-CN" altLang="en-US" sz="3600" dirty="0"/>
          </a:p>
        </p:txBody>
      </p:sp>
      <p:grpSp>
        <p:nvGrpSpPr>
          <p:cNvPr id="65536" name="组合 65535"/>
          <p:cNvGrpSpPr/>
          <p:nvPr/>
        </p:nvGrpSpPr>
        <p:grpSpPr>
          <a:xfrm>
            <a:off x="4309694" y="384385"/>
            <a:ext cx="3572612" cy="1109044"/>
            <a:chOff x="3279913" y="488294"/>
            <a:chExt cx="3572612" cy="1109044"/>
          </a:xfrm>
        </p:grpSpPr>
        <p:grpSp>
          <p:nvGrpSpPr>
            <p:cNvPr id="14" name="组合 13"/>
            <p:cNvGrpSpPr/>
            <p:nvPr/>
          </p:nvGrpSpPr>
          <p:grpSpPr>
            <a:xfrm>
              <a:off x="3279913" y="909457"/>
              <a:ext cx="3572612" cy="687881"/>
              <a:chOff x="3279913" y="909457"/>
              <a:chExt cx="3572612" cy="687881"/>
            </a:xfrm>
          </p:grpSpPr>
          <p:sp>
            <p:nvSpPr>
              <p:cNvPr id="10" name="矩形: 圆角 9"/>
              <p:cNvSpPr/>
              <p:nvPr/>
            </p:nvSpPr>
            <p:spPr>
              <a:xfrm>
                <a:off x="3279913" y="909457"/>
                <a:ext cx="3572612"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1939955"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禁用审计</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dirty="0">
                <a:solidFill>
                  <a:srgbClr val="99FF99"/>
                </a:solidFill>
                <a:effectLst>
                  <a:outerShdw blurRad="38100" dist="38100" dir="2700000" algn="tl">
                    <a:srgbClr val="000000"/>
                  </a:outerShdw>
                </a:effectLst>
              </a:rPr>
              <a:t>禁用审计</a:t>
            </a:r>
            <a:endParaRPr kumimoji="1" lang="zh-CN" altLang="en-US" sz="5000" b="1" kern="0" dirty="0">
              <a:solidFill>
                <a:srgbClr val="99FF99"/>
              </a:solidFill>
              <a:effectLst>
                <a:outerShdw blurRad="38100" dist="38100" dir="2700000" algn="tl">
                  <a:srgbClr val="000000"/>
                </a:outerShdw>
              </a:effectLst>
            </a:endParaRPr>
          </a:p>
        </p:txBody>
      </p:sp>
      <p:sp>
        <p:nvSpPr>
          <p:cNvPr id="99330"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smtClean="0"/>
              <a:t>在</a:t>
            </a:r>
            <a:r>
              <a:rPr lang="zh-CN" altLang="en-US" b="1" dirty="0"/>
              <a:t>获取了系统的管理访问之后，精明的黑客所要做的</a:t>
            </a:r>
            <a:r>
              <a:rPr lang="zh-CN" altLang="en-US" b="1" dirty="0">
                <a:solidFill>
                  <a:schemeClr val="folHlink"/>
                </a:solidFill>
              </a:rPr>
              <a:t>第一件事</a:t>
            </a:r>
            <a:r>
              <a:rPr lang="zh-CN" altLang="en-US" b="1" dirty="0"/>
              <a:t>就是</a:t>
            </a:r>
            <a:r>
              <a:rPr lang="zh-CN" altLang="en-US" b="1" dirty="0">
                <a:solidFill>
                  <a:schemeClr val="folHlink"/>
                </a:solidFill>
              </a:rPr>
              <a:t>检查审计状态</a:t>
            </a:r>
            <a:r>
              <a:rPr lang="zh-CN" altLang="en-US" b="1" dirty="0"/>
              <a:t>。因为审计会记录下攻击者在获取访问时的很多失败和成功的企图。因此它是早期攻击的一个目标。 </a:t>
            </a:r>
            <a:endParaRPr lang="zh-CN" altLang="en-US" b="1" dirty="0"/>
          </a:p>
          <a:p>
            <a:pPr algn="just" eaLnBrk="1" hangingPunct="1"/>
            <a:r>
              <a:rPr lang="zh-CN" altLang="en-US" b="1" dirty="0"/>
              <a:t>        </a:t>
            </a:r>
            <a:r>
              <a:rPr lang="zh-CN" altLang="en-US" b="1" dirty="0" smtClean="0"/>
              <a:t>可以</a:t>
            </a:r>
            <a:r>
              <a:rPr lang="zh-CN" altLang="en-US" b="1" dirty="0"/>
              <a:t>使用</a:t>
            </a:r>
            <a:r>
              <a:rPr lang="en-US" altLang="zh-CN" b="1" dirty="0"/>
              <a:t>Resource Kit</a:t>
            </a:r>
            <a:r>
              <a:rPr lang="zh-CN" altLang="en-US" b="1" dirty="0"/>
              <a:t>中的</a:t>
            </a:r>
            <a:r>
              <a:rPr lang="en-US" altLang="zh-CN" b="1" dirty="0"/>
              <a:t>auditpol.exe</a:t>
            </a:r>
            <a:r>
              <a:rPr lang="zh-CN" altLang="en-US" b="1" dirty="0"/>
              <a:t>工具。 </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smtClean="0"/>
              <a:t>我们</a:t>
            </a:r>
            <a:r>
              <a:rPr lang="zh-CN" altLang="en-US" b="1" dirty="0"/>
              <a:t>已经知道了攻击者通常在入侵一个系统之后立即禁用该系统的审计功能，那么如何处理可能会暴露他们踪迹的现有的日志呢？</a:t>
            </a:r>
            <a:endParaRPr lang="zh-CN" altLang="en-US" b="1" dirty="0"/>
          </a:p>
          <a:p>
            <a:pPr algn="just" eaLnBrk="1" hangingPunct="1"/>
            <a:r>
              <a:rPr lang="zh-CN" altLang="en-US" b="1" dirty="0"/>
              <a:t>        </a:t>
            </a:r>
            <a:r>
              <a:rPr lang="zh-CN" altLang="en-US" b="1" dirty="0" smtClean="0"/>
              <a:t>一旦</a:t>
            </a:r>
            <a:r>
              <a:rPr lang="zh-CN" altLang="en-US" b="1" dirty="0"/>
              <a:t>获取了系统的管理员级别的访问，那么清除日志就很容易了。</a:t>
            </a:r>
            <a:r>
              <a:rPr lang="zh-CN" altLang="en-US" dirty="0"/>
              <a:t> </a:t>
            </a:r>
            <a:endParaRPr lang="zh-CN" altLang="en-US" dirty="0"/>
          </a:p>
        </p:txBody>
      </p:sp>
      <p:grpSp>
        <p:nvGrpSpPr>
          <p:cNvPr id="65536" name="组合 65535"/>
          <p:cNvGrpSpPr/>
          <p:nvPr/>
        </p:nvGrpSpPr>
        <p:grpSpPr>
          <a:xfrm>
            <a:off x="3090732" y="243819"/>
            <a:ext cx="4553585" cy="1650866"/>
            <a:chOff x="3279913" y="488294"/>
            <a:chExt cx="4553585" cy="1650866"/>
          </a:xfrm>
        </p:grpSpPr>
        <p:grpSp>
          <p:nvGrpSpPr>
            <p:cNvPr id="14" name="组合 13"/>
            <p:cNvGrpSpPr/>
            <p:nvPr/>
          </p:nvGrpSpPr>
          <p:grpSpPr>
            <a:xfrm>
              <a:off x="3279913" y="909457"/>
              <a:ext cx="4553585" cy="1229703"/>
              <a:chOff x="3279913" y="909457"/>
              <a:chExt cx="4553585" cy="1229703"/>
            </a:xfrm>
          </p:grpSpPr>
          <p:sp>
            <p:nvSpPr>
              <p:cNvPr id="10" name="矩形: 圆角 9"/>
              <p:cNvSpPr/>
              <p:nvPr/>
            </p:nvSpPr>
            <p:spPr>
              <a:xfrm>
                <a:off x="3279913" y="909457"/>
                <a:ext cx="4553585" cy="687705"/>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2959465" cy="1106970"/>
              </a:xfrm>
              <a:prstGeom prst="rect">
                <a:avLst/>
              </a:prstGeom>
              <a:noFill/>
            </p:spPr>
            <p:txBody>
              <a:bodyPr wrap="none" rtlCol="0" anchor="t">
                <a:spAutoFit/>
              </a:bodyPr>
              <a:lstStyle/>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r>
                  <a:rPr lang="en-US" altLang="zh-CN" sz="3200" noProof="0" dirty="0" smtClean="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4</a:t>
                </a:r>
                <a:r>
                  <a:rPr lang="zh-CN" altLang="en-US" sz="3200" noProof="0" dirty="0" smtClean="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a:t>
                </a:r>
                <a:r>
                  <a:rPr lang="en-US" altLang="zh-CN" sz="3200" noProof="0" dirty="0" smtClean="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8</a:t>
                </a:r>
                <a:r>
                  <a:rPr lang="zh-CN" altLang="en-US" sz="3200" noProof="0" dirty="0" smtClean="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a:t>
                </a:r>
                <a:r>
                  <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rPr>
                  <a:t>2 清除日志</a:t>
                </a:r>
                <a:endParaRPr lang="zh-CN" altLang="en-US" sz="3200" noProof="0" dirty="0">
                  <a:ln>
                    <a:noFill/>
                  </a:ln>
                  <a:solidFill>
                    <a:schemeClr val="bg1"/>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mn-cs"/>
                </a:endParaRPr>
              </a:p>
              <a:p>
                <a:pPr marR="0" lvl="0" indent="0" algn="l" defTabSz="914400" rtl="0" eaLnBrk="1" fontAlgn="base" latinLnBrk="0" hangingPunct="1">
                  <a:lnSpc>
                    <a:spcPct val="90000"/>
                  </a:lnSpc>
                  <a:spcBef>
                    <a:spcPts val="1000"/>
                  </a:spcBef>
                  <a:spcAft>
                    <a:spcPct val="0"/>
                  </a:spcAft>
                  <a:buClrTx/>
                  <a:buSzTx/>
                  <a:buFont typeface="Wingdings" panose="05000000000000000000" charset="0"/>
                  <a:buNone/>
                  <a:defRPr/>
                </a:pP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清除日志</a:t>
            </a:r>
            <a:endParaRPr kumimoji="1" lang="zh-CN" altLang="en-US" sz="5000" b="1" kern="0">
              <a:solidFill>
                <a:srgbClr val="99FF99"/>
              </a:solidFill>
              <a:effectLst>
                <a:outerShdw blurRad="38100" dist="38100" dir="2700000" algn="tl">
                  <a:srgbClr val="000000"/>
                </a:outerShdw>
              </a:effectLst>
            </a:endParaRPr>
          </a:p>
        </p:txBody>
      </p:sp>
      <p:sp>
        <p:nvSpPr>
          <p:cNvPr id="101378" name="Rectangle 3"/>
          <p:cNvSpPr>
            <a:spLocks noGrp="1"/>
          </p:cNvSpPr>
          <p:nvPr>
            <p:ph idx="1"/>
          </p:nvPr>
        </p:nvSpPr>
        <p:spPr/>
        <p:txBody>
          <a:bodyPr vert="horz" wrap="square" lIns="91440" tIns="45720" rIns="91440" bIns="45720" anchor="t"/>
          <a:lstStyle/>
          <a:p>
            <a:pPr algn="just" eaLnBrk="1" hangingPunct="1"/>
            <a:r>
              <a:rPr lang="en-US" altLang="zh-CN" b="1" dirty="0"/>
              <a:t>        </a:t>
            </a:r>
            <a:r>
              <a:rPr lang="zh-CN" altLang="en-US" b="1" dirty="0" smtClean="0"/>
              <a:t>如果</a:t>
            </a:r>
            <a:r>
              <a:rPr lang="zh-CN" altLang="en-US" b="1" dirty="0"/>
              <a:t>能够进行交互式访问，那么只需简单地打开“计算机管理”的</a:t>
            </a:r>
            <a:r>
              <a:rPr lang="en-US" altLang="zh-CN" b="1" dirty="0"/>
              <a:t>MMC</a:t>
            </a:r>
            <a:r>
              <a:rPr lang="zh-CN" altLang="en-US" b="1" dirty="0"/>
              <a:t>管理单元，找到“系统工具”→“事件查看器”，右键单击“安全性日志”，并选择“清除所有事件”就可以达到目的。</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1" name="Picture 3"/>
          <p:cNvPicPr>
            <a:picLocks noChangeAspect="1"/>
          </p:cNvPicPr>
          <p:nvPr/>
        </p:nvPicPr>
        <p:blipFill>
          <a:blip r:embed="rId1"/>
          <a:stretch>
            <a:fillRect/>
          </a:stretch>
        </p:blipFill>
        <p:spPr>
          <a:xfrm>
            <a:off x="2208214" y="942976"/>
            <a:ext cx="7991475" cy="5654675"/>
          </a:xfrm>
          <a:prstGeom prst="rect">
            <a:avLst/>
          </a:prstGeom>
          <a:noFill/>
          <a:ln w="9525">
            <a:noFill/>
          </a:ln>
        </p:spPr>
      </p:pic>
      <p:sp>
        <p:nvSpPr>
          <p:cNvPr id="169986" name="Rectangle 2"/>
          <p:cNvSpPr>
            <a:spLocks noGrp="1" noChangeArrowheads="1"/>
          </p:cNvSpPr>
          <p:nvPr>
            <p:ph type="title"/>
          </p:nvPr>
        </p:nvSpPr>
        <p:spPr>
          <a:xfrm>
            <a:off x="4224339" y="549275"/>
            <a:ext cx="4176713" cy="1143000"/>
          </a:xfrm>
          <a:solidFill>
            <a:srgbClr val="FF6600">
              <a:alpha val="50000"/>
            </a:srgbClr>
          </a:solidFill>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清除日志</a:t>
            </a:r>
            <a:endParaRPr kumimoji="1" lang="zh-CN" altLang="en-US" sz="5000" b="1" kern="0">
              <a:solidFill>
                <a:srgbClr val="99FF99"/>
              </a:solidFill>
              <a:effectLst>
                <a:outerShdw blurRad="38100" dist="38100" dir="2700000" algn="tl">
                  <a:srgbClr val="000000"/>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2346960" y="0"/>
            <a:ext cx="7772400" cy="1143000"/>
          </a:xfrm>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清除日志</a:t>
            </a:r>
            <a:endParaRPr kumimoji="1" lang="zh-CN" altLang="en-US" sz="5000" b="1" kern="0">
              <a:solidFill>
                <a:srgbClr val="99FF99"/>
              </a:solidFill>
              <a:effectLst>
                <a:outerShdw blurRad="38100" dist="38100" dir="2700000" algn="tl">
                  <a:srgbClr val="000000"/>
                </a:outerShdw>
              </a:effectLst>
            </a:endParaRPr>
          </a:p>
        </p:txBody>
      </p:sp>
      <p:sp>
        <p:nvSpPr>
          <p:cNvPr id="103426" name="Rectangle 3"/>
          <p:cNvSpPr>
            <a:spLocks noGrp="1"/>
          </p:cNvSpPr>
          <p:nvPr>
            <p:ph idx="1"/>
          </p:nvPr>
        </p:nvSpPr>
        <p:spPr>
          <a:xfrm>
            <a:off x="969010" y="803910"/>
            <a:ext cx="10179685" cy="4723765"/>
          </a:xfrm>
        </p:spPr>
        <p:txBody>
          <a:bodyPr vert="horz" wrap="square" lIns="91440" tIns="45720" rIns="91440" bIns="45720" anchor="t"/>
          <a:lstStyle/>
          <a:p>
            <a:pPr algn="just" eaLnBrk="1" hangingPunct="1">
              <a:lnSpc>
                <a:spcPct val="200000"/>
              </a:lnSpc>
            </a:pPr>
            <a:r>
              <a:rPr lang="zh-CN" altLang="en-US" sz="2400" b="1" dirty="0">
                <a:solidFill>
                  <a:schemeClr val="folHlink"/>
                </a:solidFill>
              </a:rPr>
              <a:t>可以使用</a:t>
            </a:r>
            <a:r>
              <a:rPr lang="en-US" altLang="zh-CN" sz="2400" b="1" dirty="0">
                <a:solidFill>
                  <a:schemeClr val="folHlink"/>
                </a:solidFill>
              </a:rPr>
              <a:t>elsave</a:t>
            </a:r>
            <a:r>
              <a:rPr lang="zh-CN" altLang="en-US" sz="2400" b="1" dirty="0">
                <a:solidFill>
                  <a:schemeClr val="folHlink"/>
                </a:solidFill>
              </a:rPr>
              <a:t>工具</a:t>
            </a:r>
            <a:endParaRPr lang="zh-CN" altLang="en-US" sz="2400" b="1" dirty="0">
              <a:solidFill>
                <a:schemeClr val="folHlink"/>
              </a:solidFill>
            </a:endParaRPr>
          </a:p>
          <a:p>
            <a:pPr eaLnBrk="1" hangingPunct="1">
              <a:lnSpc>
                <a:spcPct val="80000"/>
              </a:lnSpc>
            </a:pPr>
            <a:r>
              <a:rPr lang="zh-CN" altLang="en-US" sz="2400" dirty="0"/>
              <a:t>     </a:t>
            </a:r>
            <a:r>
              <a:rPr lang="en-US" altLang="zh-CN" sz="2400" dirty="0"/>
              <a:t>C:\&gt;</a:t>
            </a:r>
            <a:r>
              <a:rPr lang="en-US" altLang="zh-CN" sz="2400" b="1" dirty="0"/>
              <a:t>elsave -s\\joel -1</a:t>
            </a:r>
            <a:r>
              <a:rPr lang="en-US" altLang="zh-CN" sz="2400" dirty="0"/>
              <a:t>“</a:t>
            </a:r>
            <a:r>
              <a:rPr lang="en-US" altLang="zh-CN" sz="2400" b="1" dirty="0"/>
              <a:t>security</a:t>
            </a:r>
            <a:r>
              <a:rPr lang="en-US" altLang="zh-CN" sz="2400" dirty="0"/>
              <a:t>”</a:t>
            </a:r>
            <a:r>
              <a:rPr lang="en-US" altLang="zh-CN" sz="2400" b="1" dirty="0"/>
              <a:t> –c</a:t>
            </a:r>
            <a:endParaRPr lang="en-US" altLang="zh-CN" sz="2400" b="1" dirty="0"/>
          </a:p>
          <a:p>
            <a:pPr eaLnBrk="1" hangingPunct="1">
              <a:lnSpc>
                <a:spcPct val="80000"/>
              </a:lnSpc>
            </a:pPr>
            <a:r>
              <a:rPr lang="en-US" altLang="zh-CN" sz="2400" b="1" dirty="0"/>
              <a:t>        </a:t>
            </a:r>
            <a:r>
              <a:rPr lang="zh-CN" altLang="en-US" sz="2400" b="1" dirty="0"/>
              <a:t>这些方法都可以清除所有的日志记录，但是会留下一条新的记录，表明事件日志被进行操作的账户清除了。</a:t>
            </a:r>
            <a:endParaRPr lang="zh-CN" altLang="en-US" sz="2400" b="1" dirty="0"/>
          </a:p>
          <a:p>
            <a:pPr eaLnBrk="1" hangingPunct="1">
              <a:lnSpc>
                <a:spcPct val="80000"/>
              </a:lnSpc>
            </a:pPr>
            <a:r>
              <a:rPr lang="zh-CN" altLang="en-US" sz="2400" b="1" dirty="0"/>
              <a:t>        解决这个问题的隐蔽方法可以通过</a:t>
            </a:r>
            <a:r>
              <a:rPr lang="en-US" altLang="zh-CN" sz="2400" b="1" dirty="0"/>
              <a:t>AT</a:t>
            </a:r>
            <a:r>
              <a:rPr lang="zh-CN" altLang="en-US" sz="2400" b="1" dirty="0"/>
              <a:t>命令以</a:t>
            </a:r>
            <a:r>
              <a:rPr lang="en-US" altLang="zh-CN" sz="2400" b="1" dirty="0"/>
              <a:t>SYSTEM</a:t>
            </a:r>
            <a:r>
              <a:rPr lang="zh-CN" altLang="en-US" sz="2400" b="1" dirty="0"/>
              <a:t>身份运行</a:t>
            </a:r>
            <a:r>
              <a:rPr lang="en-US" altLang="zh-CN" sz="2400" b="1" dirty="0"/>
              <a:t>compmgmt.msc</a:t>
            </a:r>
            <a:r>
              <a:rPr lang="zh-CN" altLang="en-US" sz="2400" b="1" dirty="0"/>
              <a:t>，然后再删除事件日志。表明日志被删除的记录仍然会出现，但是执行清除操作的账户会被认为是</a:t>
            </a:r>
            <a:r>
              <a:rPr lang="en-US" altLang="zh-CN" sz="2400" b="1" dirty="0"/>
              <a:t>SYSTEM</a:t>
            </a:r>
            <a:r>
              <a:rPr lang="zh-CN" altLang="en-US" sz="2400" b="1" dirty="0"/>
              <a:t>，这使得很难调查真正的肇事者。</a:t>
            </a:r>
            <a:endParaRPr lang="zh-CN" altLang="en-US" sz="2400" b="1" dirty="0"/>
          </a:p>
          <a:p>
            <a:pPr eaLnBrk="1" hangingPunct="1">
              <a:lnSpc>
                <a:spcPct val="80000"/>
              </a:lnSpc>
            </a:pPr>
            <a:r>
              <a:rPr lang="zh-CN" altLang="en-US" sz="2400" b="1" dirty="0">
                <a:solidFill>
                  <a:schemeClr val="folHlink"/>
                </a:solidFill>
              </a:rPr>
              <a:t>或者使用</a:t>
            </a:r>
            <a:r>
              <a:rPr lang="en-US" altLang="zh-CN" sz="2400" b="1" dirty="0">
                <a:solidFill>
                  <a:schemeClr val="folHlink"/>
                </a:solidFill>
              </a:rPr>
              <a:t>WinZapper</a:t>
            </a:r>
            <a:r>
              <a:rPr lang="zh-CN" altLang="en-US" sz="2400" b="1" dirty="0">
                <a:solidFill>
                  <a:schemeClr val="folHlink"/>
                </a:solidFill>
              </a:rPr>
              <a:t>工具</a:t>
            </a:r>
            <a:endParaRPr lang="zh-CN" altLang="en-US" sz="2400" b="1" dirty="0">
              <a:solidFill>
                <a:schemeClr val="folHlink"/>
              </a:solidFill>
            </a:endParaRPr>
          </a:p>
          <a:p>
            <a:pPr eaLnBrk="1" hangingPunct="1">
              <a:lnSpc>
                <a:spcPct val="80000"/>
              </a:lnSpc>
            </a:pPr>
            <a:r>
              <a:rPr lang="zh-CN" altLang="en-US" sz="2400" b="1" dirty="0"/>
              <a:t>        来自</a:t>
            </a:r>
            <a:r>
              <a:rPr lang="en-US" altLang="zh-CN" sz="2400" b="1" dirty="0"/>
              <a:t>ntsecurity.nu</a:t>
            </a:r>
            <a:r>
              <a:rPr lang="zh-CN" altLang="en-US" sz="2400" b="1" dirty="0"/>
              <a:t>的</a:t>
            </a:r>
            <a:r>
              <a:rPr lang="en-US" altLang="zh-CN" sz="2400" b="1" dirty="0"/>
              <a:t>Arne Vidstrom</a:t>
            </a:r>
            <a:r>
              <a:rPr lang="zh-CN" altLang="en-US" sz="2400" b="1" dirty="0"/>
              <a:t>的</a:t>
            </a:r>
            <a:r>
              <a:rPr lang="en-US" altLang="zh-CN" sz="2400" b="1" dirty="0"/>
              <a:t>WinZapper</a:t>
            </a:r>
            <a:r>
              <a:rPr lang="zh-CN" altLang="en-US" sz="2400" b="1" dirty="0"/>
              <a:t>是另一个有趣的工具。</a:t>
            </a:r>
            <a:r>
              <a:rPr lang="en-US" altLang="zh-CN" sz="2400" b="1" dirty="0"/>
              <a:t>WinZapper</a:t>
            </a:r>
            <a:r>
              <a:rPr lang="zh-CN" altLang="en-US" sz="2400" b="1" dirty="0"/>
              <a:t>能够有选择地删除</a:t>
            </a:r>
            <a:r>
              <a:rPr lang="en-US" altLang="zh-CN" sz="2400" b="1" dirty="0"/>
              <a:t>Windows NT/2000</a:t>
            </a:r>
            <a:r>
              <a:rPr lang="zh-CN" altLang="en-US" sz="2400" b="1" dirty="0"/>
              <a:t>安全日志中的事件记录项目。在进行删除操作之后，它需要重新启动系统。</a:t>
            </a:r>
            <a:endParaRPr lang="zh-CN" altLang="en-US" sz="2400" b="1" dirty="0"/>
          </a:p>
          <a:p>
            <a:pPr eaLnBrk="1" hangingPunct="1">
              <a:lnSpc>
                <a:spcPct val="80000"/>
              </a:lnSpc>
            </a:pPr>
            <a:r>
              <a:rPr lang="en-US" altLang="zh-CN" sz="2400" b="1" dirty="0">
                <a:solidFill>
                  <a:srgbClr val="FF0000"/>
                </a:solidFill>
              </a:rPr>
              <a:t>        WinZapper </a:t>
            </a:r>
            <a:r>
              <a:rPr lang="zh-CN" altLang="en-US" sz="2400" b="1" dirty="0">
                <a:solidFill>
                  <a:srgbClr val="FF0000"/>
                </a:solidFill>
              </a:rPr>
              <a:t>是老牌经典安全日志篡改工具（1999 年 </a:t>
            </a:r>
            <a:r>
              <a:rPr lang="en-US" altLang="zh-CN" sz="2400" b="1" dirty="0">
                <a:solidFill>
                  <a:srgbClr val="FF0000"/>
                </a:solidFill>
              </a:rPr>
              <a:t>ntsecurity.nu </a:t>
            </a:r>
            <a:r>
              <a:rPr lang="zh-CN" altLang="en-US" sz="2400" b="1" dirty="0">
                <a:solidFill>
                  <a:srgbClr val="FF0000"/>
                </a:solidFill>
              </a:rPr>
              <a:t>出品），仅兼容：</a:t>
            </a:r>
            <a:r>
              <a:rPr lang="en-US" altLang="zh-CN" sz="2400" b="1" dirty="0">
                <a:solidFill>
                  <a:srgbClr val="FF0000"/>
                </a:solidFill>
              </a:rPr>
              <a:t>Windows NT4、Windows 2000、Windows Server2003，</a:t>
            </a:r>
            <a:r>
              <a:rPr lang="en-US" altLang="zh-CN" sz="2400" b="1" dirty="0">
                <a:solidFill>
                  <a:srgbClr val="FF0000"/>
                </a:solidFill>
                <a:highlight>
                  <a:srgbClr val="FFFF00"/>
                </a:highlight>
              </a:rPr>
              <a:t>XP </a:t>
            </a:r>
            <a:r>
              <a:rPr lang="zh-CN" altLang="en-US" sz="2400" b="1" dirty="0">
                <a:solidFill>
                  <a:srgbClr val="FF0000"/>
                </a:solidFill>
                <a:highlight>
                  <a:srgbClr val="FFFF00"/>
                </a:highlight>
              </a:rPr>
              <a:t>及 </a:t>
            </a:r>
            <a:r>
              <a:rPr lang="en-US" altLang="zh-CN" sz="2400" b="1" dirty="0">
                <a:solidFill>
                  <a:srgbClr val="FF0000"/>
                </a:solidFill>
                <a:highlight>
                  <a:srgbClr val="FFFF00"/>
                </a:highlight>
              </a:rPr>
              <a:t>Win7/10/11 </a:t>
            </a:r>
            <a:r>
              <a:rPr lang="zh-CN" altLang="en-US" sz="2400" b="1" dirty="0">
                <a:solidFill>
                  <a:srgbClr val="FF0000"/>
                </a:solidFill>
                <a:highlight>
                  <a:srgbClr val="FFFF00"/>
                </a:highlight>
              </a:rPr>
              <a:t>原生无法使用</a:t>
            </a:r>
            <a:r>
              <a:rPr lang="zh-CN" altLang="en-US" sz="2400" b="1" dirty="0">
                <a:solidFill>
                  <a:srgbClr val="FF0000"/>
                </a:solidFill>
              </a:rPr>
              <a:t>（日志架构从 </a:t>
            </a:r>
            <a:r>
              <a:rPr lang="en-US" altLang="zh-CN" sz="2400" b="1" dirty="0">
                <a:solidFill>
                  <a:srgbClr val="FF0000"/>
                </a:solidFill>
              </a:rPr>
              <a:t>evt </a:t>
            </a:r>
            <a:r>
              <a:rPr lang="zh-CN" altLang="en-US" sz="2400" b="1" dirty="0">
                <a:solidFill>
                  <a:srgbClr val="FF0000"/>
                </a:solidFill>
              </a:rPr>
              <a:t>改为 </a:t>
            </a:r>
            <a:r>
              <a:rPr lang="en-US" altLang="zh-CN" sz="2400" b="1" dirty="0">
                <a:solidFill>
                  <a:srgbClr val="FF0000"/>
                </a:solidFill>
              </a:rPr>
              <a:t>evtx，</a:t>
            </a:r>
            <a:r>
              <a:rPr lang="zh-CN" altLang="en-US" sz="2400" b="1" dirty="0">
                <a:solidFill>
                  <a:srgbClr val="FF0000"/>
                </a:solidFill>
              </a:rPr>
              <a:t>内核日志机制改动，工具失效）。</a:t>
            </a:r>
            <a:endParaRPr lang="zh-CN" altLang="en-US" sz="24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810260" y="421640"/>
            <a:ext cx="10684510" cy="630491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569595" y="239395"/>
            <a:ext cx="10927715" cy="647827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659130" y="363855"/>
            <a:ext cx="10824845" cy="450659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p:cNvSpPr>
          <p:nvPr>
            <p:ph idx="1"/>
          </p:nvPr>
        </p:nvSpPr>
        <p:spPr>
          <a:xfrm>
            <a:off x="2351089" y="2076450"/>
            <a:ext cx="7210425" cy="4781550"/>
          </a:xfrm>
        </p:spPr>
        <p:txBody>
          <a:bodyPr vert="horz" wrap="square" lIns="91440" tIns="45720" rIns="91440" bIns="45720" anchor="t"/>
          <a:lstStyle/>
          <a:p>
            <a:pPr algn="just" eaLnBrk="1" hangingPunct="1"/>
            <a:r>
              <a:rPr lang="en-US" altLang="zh-CN" b="1" dirty="0"/>
              <a:t>        </a:t>
            </a:r>
            <a:r>
              <a:rPr lang="zh-CN" altLang="en-US" b="1" dirty="0" smtClean="0"/>
              <a:t>隐藏</a:t>
            </a:r>
            <a:r>
              <a:rPr lang="zh-CN" altLang="en-US" b="1" dirty="0"/>
              <a:t>文件是一种常见的行为，在攻入了一个系统之后，通常都会进行这个操作。实际上大多数的遭受攻击的系统中，我们总是能够发现恶意的隐藏文件。</a:t>
            </a:r>
            <a:endParaRPr lang="zh-CN" altLang="en-US" dirty="0"/>
          </a:p>
        </p:txBody>
      </p:sp>
      <p:grpSp>
        <p:nvGrpSpPr>
          <p:cNvPr id="65536" name="组合 65535"/>
          <p:cNvGrpSpPr/>
          <p:nvPr/>
        </p:nvGrpSpPr>
        <p:grpSpPr>
          <a:xfrm>
            <a:off x="4301802" y="550639"/>
            <a:ext cx="3308998" cy="1109044"/>
            <a:chOff x="3279913" y="488294"/>
            <a:chExt cx="3308998" cy="1109044"/>
          </a:xfrm>
        </p:grpSpPr>
        <p:grpSp>
          <p:nvGrpSpPr>
            <p:cNvPr id="14" name="组合 13"/>
            <p:cNvGrpSpPr/>
            <p:nvPr/>
          </p:nvGrpSpPr>
          <p:grpSpPr>
            <a:xfrm>
              <a:off x="3279913" y="909457"/>
              <a:ext cx="3308998" cy="687881"/>
              <a:chOff x="3279913" y="909457"/>
              <a:chExt cx="3308998" cy="687881"/>
            </a:xfrm>
          </p:grpSpPr>
          <p:sp>
            <p:nvSpPr>
              <p:cNvPr id="10" name="矩形: 圆角 9"/>
              <p:cNvSpPr/>
              <p:nvPr/>
            </p:nvSpPr>
            <p:spPr>
              <a:xfrm>
                <a:off x="3279913" y="909457"/>
                <a:ext cx="3308998" cy="687881"/>
              </a:xfrm>
              <a:prstGeom prst="roundRect">
                <a:avLst/>
              </a:prstGeom>
              <a:solidFill>
                <a:srgbClr val="0F73EE"/>
              </a:solidFill>
              <a:ln w="127000">
                <a:solidFill>
                  <a:srgbClr val="00B0F0">
                    <a:alpha val="25000"/>
                  </a:srgb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Light" panose="020B0502040204020203" pitchFamily="34" charset="-122"/>
                  <a:ea typeface="微软雅黑 Light" panose="020B0502040204020203" pitchFamily="34" charset="-122"/>
                  <a:cs typeface="+mn-ea"/>
                </a:endParaRPr>
              </a:p>
            </p:txBody>
          </p:sp>
          <p:sp>
            <p:nvSpPr>
              <p:cNvPr id="4" name="文本框 3"/>
              <p:cNvSpPr txBox="1"/>
              <p:nvPr/>
            </p:nvSpPr>
            <p:spPr>
              <a:xfrm>
                <a:off x="4648956" y="1032190"/>
                <a:ext cx="1939955" cy="535531"/>
              </a:xfrm>
              <a:prstGeom prst="rect">
                <a:avLst/>
              </a:prstGeom>
              <a:noFill/>
            </p:spPr>
            <p:txBody>
              <a:bodyPr wrap="none" rtlCol="0" anchor="t">
                <a:spAutoFit/>
              </a:bodyPr>
              <a:lstStyle/>
              <a:p>
                <a:pPr lvl="0" fontAlgn="base">
                  <a:lnSpc>
                    <a:spcPct val="90000"/>
                  </a:lnSpc>
                  <a:spcBef>
                    <a:spcPts val="1000"/>
                  </a:spcBef>
                  <a:spcAft>
                    <a:spcPct val="0"/>
                  </a:spcAft>
                  <a:defRPr/>
                </a:pPr>
                <a:r>
                  <a:rPr lang="en-US" altLang="zh-CN" sz="32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 </a:t>
                </a:r>
                <a:r>
                  <a:rPr lang="zh-CN" altLang="en-US" sz="32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隐藏文件</a:t>
                </a:r>
                <a:endParaRPr lang="zh-CN" altLang="en-US" sz="3200" noProof="0" dirty="0">
                  <a:ln>
                    <a:noFill/>
                  </a:ln>
                  <a:solidFill>
                    <a:srgbClr val="FFFF00"/>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sym typeface="+mn-ea"/>
                </a:endParaRPr>
              </a:p>
            </p:txBody>
          </p:sp>
        </p:grpSp>
        <p:grpSp>
          <p:nvGrpSpPr>
            <p:cNvPr id="15" name="28b0fd0e-7ece-4f48-881a-83c93b08799b"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459237" y="488294"/>
              <a:ext cx="1104746" cy="1087791"/>
              <a:chOff x="3950910" y="1316832"/>
              <a:chExt cx="4290179" cy="4224337"/>
            </a:xfrm>
          </p:grpSpPr>
          <p:sp>
            <p:nvSpPr>
              <p:cNvPr id="16" name="ïṥļîḋè"/>
              <p:cNvSpPr/>
              <p:nvPr/>
            </p:nvSpPr>
            <p:spPr bwMode="auto">
              <a:xfrm>
                <a:off x="4051407" y="3713164"/>
                <a:ext cx="727736" cy="421048"/>
              </a:xfrm>
              <a:custGeom>
                <a:avLst/>
                <a:gdLst>
                  <a:gd name="T0" fmla="*/ 166 w 202"/>
                  <a:gd name="T1" fmla="*/ 96 h 117"/>
                  <a:gd name="T2" fmla="*/ 36 w 202"/>
                  <a:gd name="T3" fmla="*/ 96 h 117"/>
                  <a:gd name="T4" fmla="*/ 36 w 202"/>
                  <a:gd name="T5" fmla="*/ 21 h 117"/>
                  <a:gd name="T6" fmla="*/ 166 w 202"/>
                  <a:gd name="T7" fmla="*/ 21 h 117"/>
                  <a:gd name="T8" fmla="*/ 166 w 202"/>
                  <a:gd name="T9" fmla="*/ 96 h 117"/>
                </a:gdLst>
                <a:ahLst/>
                <a:cxnLst>
                  <a:cxn ang="0">
                    <a:pos x="T0" y="T1"/>
                  </a:cxn>
                  <a:cxn ang="0">
                    <a:pos x="T2" y="T3"/>
                  </a:cxn>
                  <a:cxn ang="0">
                    <a:pos x="T4" y="T5"/>
                  </a:cxn>
                  <a:cxn ang="0">
                    <a:pos x="T6" y="T7"/>
                  </a:cxn>
                  <a:cxn ang="0">
                    <a:pos x="T8" y="T9"/>
                  </a:cxn>
                </a:cxnLst>
                <a:rect l="0" t="0" r="r" b="b"/>
                <a:pathLst>
                  <a:path w="202" h="117">
                    <a:moveTo>
                      <a:pt x="166" y="96"/>
                    </a:moveTo>
                    <a:cubicBezTo>
                      <a:pt x="130" y="117"/>
                      <a:pt x="72" y="117"/>
                      <a:pt x="36" y="96"/>
                    </a:cubicBezTo>
                    <a:cubicBezTo>
                      <a:pt x="0" y="76"/>
                      <a:pt x="0" y="42"/>
                      <a:pt x="36" y="21"/>
                    </a:cubicBezTo>
                    <a:cubicBezTo>
                      <a:pt x="72" y="0"/>
                      <a:pt x="130" y="0"/>
                      <a:pt x="166" y="21"/>
                    </a:cubicBezTo>
                    <a:cubicBezTo>
                      <a:pt x="202" y="42"/>
                      <a:pt x="202" y="76"/>
                      <a:pt x="166" y="96"/>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7" name="íṣḻíďe"/>
              <p:cNvSpPr/>
              <p:nvPr/>
            </p:nvSpPr>
            <p:spPr bwMode="auto">
              <a:xfrm>
                <a:off x="4170964" y="3766878"/>
                <a:ext cx="481692" cy="270302"/>
              </a:xfrm>
              <a:custGeom>
                <a:avLst/>
                <a:gdLst>
                  <a:gd name="T0" fmla="*/ 110 w 134"/>
                  <a:gd name="T1" fmla="*/ 11 h 75"/>
                  <a:gd name="T2" fmla="*/ 102 w 134"/>
                  <a:gd name="T3" fmla="*/ 7 h 75"/>
                  <a:gd name="T4" fmla="*/ 102 w 134"/>
                  <a:gd name="T5" fmla="*/ 7 h 75"/>
                  <a:gd name="T6" fmla="*/ 86 w 134"/>
                  <a:gd name="T7" fmla="*/ 0 h 75"/>
                  <a:gd name="T8" fmla="*/ 87 w 134"/>
                  <a:gd name="T9" fmla="*/ 3 h 75"/>
                  <a:gd name="T10" fmla="*/ 49 w 134"/>
                  <a:gd name="T11" fmla="*/ 3 h 75"/>
                  <a:gd name="T12" fmla="*/ 50 w 134"/>
                  <a:gd name="T13" fmla="*/ 0 h 75"/>
                  <a:gd name="T14" fmla="*/ 31 w 134"/>
                  <a:gd name="T15" fmla="*/ 8 h 75"/>
                  <a:gd name="T16" fmla="*/ 31 w 134"/>
                  <a:gd name="T17" fmla="*/ 8 h 75"/>
                  <a:gd name="T18" fmla="*/ 24 w 134"/>
                  <a:gd name="T19" fmla="*/ 11 h 75"/>
                  <a:gd name="T20" fmla="*/ 24 w 134"/>
                  <a:gd name="T21" fmla="*/ 61 h 75"/>
                  <a:gd name="T22" fmla="*/ 110 w 134"/>
                  <a:gd name="T23" fmla="*/ 61 h 75"/>
                  <a:gd name="T24" fmla="*/ 110 w 134"/>
                  <a:gd name="T25"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75">
                    <a:moveTo>
                      <a:pt x="110" y="11"/>
                    </a:moveTo>
                    <a:cubicBezTo>
                      <a:pt x="108" y="10"/>
                      <a:pt x="105" y="9"/>
                      <a:pt x="102" y="7"/>
                    </a:cubicBezTo>
                    <a:cubicBezTo>
                      <a:pt x="102" y="7"/>
                      <a:pt x="102" y="7"/>
                      <a:pt x="102" y="7"/>
                    </a:cubicBezTo>
                    <a:cubicBezTo>
                      <a:pt x="86" y="0"/>
                      <a:pt x="86" y="0"/>
                      <a:pt x="86" y="0"/>
                    </a:cubicBezTo>
                    <a:cubicBezTo>
                      <a:pt x="87" y="3"/>
                      <a:pt x="87" y="3"/>
                      <a:pt x="87" y="3"/>
                    </a:cubicBezTo>
                    <a:cubicBezTo>
                      <a:pt x="75" y="1"/>
                      <a:pt x="62" y="1"/>
                      <a:pt x="49" y="3"/>
                    </a:cubicBezTo>
                    <a:cubicBezTo>
                      <a:pt x="50" y="0"/>
                      <a:pt x="50" y="0"/>
                      <a:pt x="50" y="0"/>
                    </a:cubicBezTo>
                    <a:cubicBezTo>
                      <a:pt x="31" y="8"/>
                      <a:pt x="31" y="8"/>
                      <a:pt x="31" y="8"/>
                    </a:cubicBezTo>
                    <a:cubicBezTo>
                      <a:pt x="31" y="8"/>
                      <a:pt x="31" y="8"/>
                      <a:pt x="31" y="8"/>
                    </a:cubicBezTo>
                    <a:cubicBezTo>
                      <a:pt x="29" y="9"/>
                      <a:pt x="26" y="10"/>
                      <a:pt x="24" y="11"/>
                    </a:cubicBezTo>
                    <a:cubicBezTo>
                      <a:pt x="0" y="25"/>
                      <a:pt x="0" y="47"/>
                      <a:pt x="24" y="61"/>
                    </a:cubicBezTo>
                    <a:cubicBezTo>
                      <a:pt x="48" y="75"/>
                      <a:pt x="86" y="75"/>
                      <a:pt x="110" y="61"/>
                    </a:cubicBezTo>
                    <a:cubicBezTo>
                      <a:pt x="134" y="47"/>
                      <a:pt x="134" y="25"/>
                      <a:pt x="110" y="1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8" name="íś1îḍê"/>
              <p:cNvSpPr/>
              <p:nvPr/>
            </p:nvSpPr>
            <p:spPr bwMode="auto">
              <a:xfrm>
                <a:off x="4300917" y="3749550"/>
                <a:ext cx="221786" cy="129953"/>
              </a:xfrm>
              <a:custGeom>
                <a:avLst/>
                <a:gdLst>
                  <a:gd name="T0" fmla="*/ 51 w 62"/>
                  <a:gd name="T1" fmla="*/ 29 h 36"/>
                  <a:gd name="T2" fmla="*/ 11 w 62"/>
                  <a:gd name="T3" fmla="*/ 29 h 36"/>
                  <a:gd name="T4" fmla="*/ 11 w 62"/>
                  <a:gd name="T5" fmla="*/ 6 h 36"/>
                  <a:gd name="T6" fmla="*/ 51 w 62"/>
                  <a:gd name="T7" fmla="*/ 6 h 36"/>
                  <a:gd name="T8" fmla="*/ 51 w 62"/>
                  <a:gd name="T9" fmla="*/ 29 h 36"/>
                </a:gdLst>
                <a:ahLst/>
                <a:cxnLst>
                  <a:cxn ang="0">
                    <a:pos x="T0" y="T1"/>
                  </a:cxn>
                  <a:cxn ang="0">
                    <a:pos x="T2" y="T3"/>
                  </a:cxn>
                  <a:cxn ang="0">
                    <a:pos x="T4" y="T5"/>
                  </a:cxn>
                  <a:cxn ang="0">
                    <a:pos x="T6" y="T7"/>
                  </a:cxn>
                  <a:cxn ang="0">
                    <a:pos x="T8" y="T9"/>
                  </a:cxn>
                </a:cxnLst>
                <a:rect l="0" t="0" r="r" b="b"/>
                <a:pathLst>
                  <a:path w="62" h="36">
                    <a:moveTo>
                      <a:pt x="51" y="29"/>
                    </a:moveTo>
                    <a:cubicBezTo>
                      <a:pt x="40" y="36"/>
                      <a:pt x="22" y="36"/>
                      <a:pt x="11" y="29"/>
                    </a:cubicBezTo>
                    <a:cubicBezTo>
                      <a:pt x="0" y="23"/>
                      <a:pt x="0" y="13"/>
                      <a:pt x="11" y="6"/>
                    </a:cubicBezTo>
                    <a:cubicBezTo>
                      <a:pt x="22" y="0"/>
                      <a:pt x="40" y="0"/>
                      <a:pt x="51" y="6"/>
                    </a:cubicBezTo>
                    <a:cubicBezTo>
                      <a:pt x="62" y="13"/>
                      <a:pt x="62" y="23"/>
                      <a:pt x="51" y="29"/>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iš1ïḍe"/>
              <p:cNvSpPr/>
              <p:nvPr/>
            </p:nvSpPr>
            <p:spPr bwMode="auto">
              <a:xfrm>
                <a:off x="4375423" y="3352761"/>
                <a:ext cx="72774" cy="474761"/>
              </a:xfrm>
              <a:custGeom>
                <a:avLst/>
                <a:gdLst>
                  <a:gd name="T0" fmla="*/ 10 w 20"/>
                  <a:gd name="T1" fmla="*/ 132 h 132"/>
                  <a:gd name="T2" fmla="*/ 10 w 20"/>
                  <a:gd name="T3" fmla="*/ 132 h 132"/>
                  <a:gd name="T4" fmla="*/ 0 w 20"/>
                  <a:gd name="T5" fmla="*/ 122 h 132"/>
                  <a:gd name="T6" fmla="*/ 0 w 20"/>
                  <a:gd name="T7" fmla="*/ 0 h 132"/>
                  <a:gd name="T8" fmla="*/ 20 w 20"/>
                  <a:gd name="T9" fmla="*/ 0 h 132"/>
                  <a:gd name="T10" fmla="*/ 20 w 20"/>
                  <a:gd name="T11" fmla="*/ 122 h 132"/>
                  <a:gd name="T12" fmla="*/ 10 w 20"/>
                  <a:gd name="T13" fmla="*/ 132 h 132"/>
                </a:gdLst>
                <a:ahLst/>
                <a:cxnLst>
                  <a:cxn ang="0">
                    <a:pos x="T0" y="T1"/>
                  </a:cxn>
                  <a:cxn ang="0">
                    <a:pos x="T2" y="T3"/>
                  </a:cxn>
                  <a:cxn ang="0">
                    <a:pos x="T4" y="T5"/>
                  </a:cxn>
                  <a:cxn ang="0">
                    <a:pos x="T6" y="T7"/>
                  </a:cxn>
                  <a:cxn ang="0">
                    <a:pos x="T8" y="T9"/>
                  </a:cxn>
                  <a:cxn ang="0">
                    <a:pos x="T10" y="T11"/>
                  </a:cxn>
                  <a:cxn ang="0">
                    <a:pos x="T12" y="T13"/>
                  </a:cxn>
                </a:cxnLst>
                <a:rect l="0" t="0" r="r" b="b"/>
                <a:pathLst>
                  <a:path w="20" h="132">
                    <a:moveTo>
                      <a:pt x="10" y="132"/>
                    </a:moveTo>
                    <a:cubicBezTo>
                      <a:pt x="10" y="132"/>
                      <a:pt x="10" y="132"/>
                      <a:pt x="10" y="132"/>
                    </a:cubicBezTo>
                    <a:cubicBezTo>
                      <a:pt x="5" y="132"/>
                      <a:pt x="0" y="128"/>
                      <a:pt x="0" y="122"/>
                    </a:cubicBezTo>
                    <a:cubicBezTo>
                      <a:pt x="0" y="0"/>
                      <a:pt x="0" y="0"/>
                      <a:pt x="0" y="0"/>
                    </a:cubicBezTo>
                    <a:cubicBezTo>
                      <a:pt x="20" y="0"/>
                      <a:pt x="20" y="0"/>
                      <a:pt x="20" y="0"/>
                    </a:cubicBezTo>
                    <a:cubicBezTo>
                      <a:pt x="20" y="122"/>
                      <a:pt x="20" y="122"/>
                      <a:pt x="20" y="122"/>
                    </a:cubicBezTo>
                    <a:cubicBezTo>
                      <a:pt x="20" y="128"/>
                      <a:pt x="15" y="132"/>
                      <a:pt x="10" y="13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ísḻiḍè"/>
              <p:cNvSpPr/>
              <p:nvPr/>
            </p:nvSpPr>
            <p:spPr bwMode="auto">
              <a:xfrm>
                <a:off x="4371958" y="3331969"/>
                <a:ext cx="79704" cy="43318"/>
              </a:xfrm>
              <a:custGeom>
                <a:avLst/>
                <a:gdLst>
                  <a:gd name="T0" fmla="*/ 18 w 22"/>
                  <a:gd name="T1" fmla="*/ 10 h 12"/>
                  <a:gd name="T2" fmla="*/ 4 w 22"/>
                  <a:gd name="T3" fmla="*/ 10 h 12"/>
                  <a:gd name="T4" fmla="*/ 4 w 22"/>
                  <a:gd name="T5" fmla="*/ 2 h 12"/>
                  <a:gd name="T6" fmla="*/ 18 w 22"/>
                  <a:gd name="T7" fmla="*/ 2 h 12"/>
                  <a:gd name="T8" fmla="*/ 18 w 22"/>
                  <a:gd name="T9" fmla="*/ 10 h 12"/>
                </a:gdLst>
                <a:ahLst/>
                <a:cxnLst>
                  <a:cxn ang="0">
                    <a:pos x="T0" y="T1"/>
                  </a:cxn>
                  <a:cxn ang="0">
                    <a:pos x="T2" y="T3"/>
                  </a:cxn>
                  <a:cxn ang="0">
                    <a:pos x="T4" y="T5"/>
                  </a:cxn>
                  <a:cxn ang="0">
                    <a:pos x="T6" y="T7"/>
                  </a:cxn>
                  <a:cxn ang="0">
                    <a:pos x="T8" y="T9"/>
                  </a:cxn>
                </a:cxnLst>
                <a:rect l="0" t="0" r="r" b="b"/>
                <a:pathLst>
                  <a:path w="22" h="12">
                    <a:moveTo>
                      <a:pt x="18" y="10"/>
                    </a:moveTo>
                    <a:cubicBezTo>
                      <a:pt x="14" y="12"/>
                      <a:pt x="8" y="12"/>
                      <a:pt x="4" y="10"/>
                    </a:cubicBezTo>
                    <a:cubicBezTo>
                      <a:pt x="0" y="8"/>
                      <a:pt x="0" y="4"/>
                      <a:pt x="4" y="2"/>
                    </a:cubicBezTo>
                    <a:cubicBezTo>
                      <a:pt x="8" y="0"/>
                      <a:pt x="14" y="0"/>
                      <a:pt x="18" y="2"/>
                    </a:cubicBezTo>
                    <a:cubicBezTo>
                      <a:pt x="22" y="4"/>
                      <a:pt x="22" y="8"/>
                      <a:pt x="18" y="1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iSlïḓe"/>
              <p:cNvSpPr/>
              <p:nvPr/>
            </p:nvSpPr>
            <p:spPr bwMode="auto">
              <a:xfrm>
                <a:off x="4382354" y="2924783"/>
                <a:ext cx="58912" cy="443573"/>
              </a:xfrm>
              <a:custGeom>
                <a:avLst/>
                <a:gdLst>
                  <a:gd name="T0" fmla="*/ 8 w 16"/>
                  <a:gd name="T1" fmla="*/ 123 h 123"/>
                  <a:gd name="T2" fmla="*/ 8 w 16"/>
                  <a:gd name="T3" fmla="*/ 123 h 123"/>
                  <a:gd name="T4" fmla="*/ 0 w 16"/>
                  <a:gd name="T5" fmla="*/ 115 h 123"/>
                  <a:gd name="T6" fmla="*/ 0 w 16"/>
                  <a:gd name="T7" fmla="*/ 0 h 123"/>
                  <a:gd name="T8" fmla="*/ 16 w 16"/>
                  <a:gd name="T9" fmla="*/ 0 h 123"/>
                  <a:gd name="T10" fmla="*/ 16 w 16"/>
                  <a:gd name="T11" fmla="*/ 115 h 123"/>
                  <a:gd name="T12" fmla="*/ 8 w 16"/>
                  <a:gd name="T13" fmla="*/ 123 h 123"/>
                </a:gdLst>
                <a:ahLst/>
                <a:cxnLst>
                  <a:cxn ang="0">
                    <a:pos x="T0" y="T1"/>
                  </a:cxn>
                  <a:cxn ang="0">
                    <a:pos x="T2" y="T3"/>
                  </a:cxn>
                  <a:cxn ang="0">
                    <a:pos x="T4" y="T5"/>
                  </a:cxn>
                  <a:cxn ang="0">
                    <a:pos x="T6" y="T7"/>
                  </a:cxn>
                  <a:cxn ang="0">
                    <a:pos x="T8" y="T9"/>
                  </a:cxn>
                  <a:cxn ang="0">
                    <a:pos x="T10" y="T11"/>
                  </a:cxn>
                  <a:cxn ang="0">
                    <a:pos x="T12" y="T13"/>
                  </a:cxn>
                </a:cxnLst>
                <a:rect l="0" t="0" r="r" b="b"/>
                <a:pathLst>
                  <a:path w="16" h="123">
                    <a:moveTo>
                      <a:pt x="8" y="123"/>
                    </a:moveTo>
                    <a:cubicBezTo>
                      <a:pt x="8" y="123"/>
                      <a:pt x="8" y="123"/>
                      <a:pt x="8" y="123"/>
                    </a:cubicBezTo>
                    <a:cubicBezTo>
                      <a:pt x="4" y="123"/>
                      <a:pt x="0" y="119"/>
                      <a:pt x="0" y="115"/>
                    </a:cubicBezTo>
                    <a:cubicBezTo>
                      <a:pt x="0" y="0"/>
                      <a:pt x="0" y="0"/>
                      <a:pt x="0" y="0"/>
                    </a:cubicBezTo>
                    <a:cubicBezTo>
                      <a:pt x="16" y="0"/>
                      <a:pt x="16" y="0"/>
                      <a:pt x="16" y="0"/>
                    </a:cubicBezTo>
                    <a:cubicBezTo>
                      <a:pt x="16" y="115"/>
                      <a:pt x="16" y="115"/>
                      <a:pt x="16" y="115"/>
                    </a:cubicBezTo>
                    <a:cubicBezTo>
                      <a:pt x="16" y="119"/>
                      <a:pt x="12" y="123"/>
                      <a:pt x="8" y="123"/>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iṣļidé"/>
              <p:cNvSpPr/>
              <p:nvPr/>
            </p:nvSpPr>
            <p:spPr bwMode="auto">
              <a:xfrm>
                <a:off x="4818996" y="3098053"/>
                <a:ext cx="103962" cy="60645"/>
              </a:xfrm>
              <a:custGeom>
                <a:avLst/>
                <a:gdLst>
                  <a:gd name="T0" fmla="*/ 0 w 29"/>
                  <a:gd name="T1" fmla="*/ 12 h 17"/>
                  <a:gd name="T2" fmla="*/ 0 w 29"/>
                  <a:gd name="T3" fmla="*/ 8 h 17"/>
                  <a:gd name="T4" fmla="*/ 7 w 29"/>
                  <a:gd name="T5" fmla="*/ 7 h 17"/>
                  <a:gd name="T6" fmla="*/ 14 w 29"/>
                  <a:gd name="T7" fmla="*/ 1 h 17"/>
                  <a:gd name="T8" fmla="*/ 19 w 29"/>
                  <a:gd name="T9" fmla="*/ 1 h 17"/>
                  <a:gd name="T10" fmla="*/ 24 w 29"/>
                  <a:gd name="T11" fmla="*/ 4 h 17"/>
                  <a:gd name="T12" fmla="*/ 29 w 29"/>
                  <a:gd name="T13" fmla="*/ 3 h 17"/>
                  <a:gd name="T14" fmla="*/ 29 w 29"/>
                  <a:gd name="T15" fmla="*/ 8 h 17"/>
                  <a:gd name="T16" fmla="*/ 29 w 29"/>
                  <a:gd name="T17" fmla="*/ 8 h 17"/>
                  <a:gd name="T18" fmla="*/ 28 w 29"/>
                  <a:gd name="T19" fmla="*/ 9 h 17"/>
                  <a:gd name="T20" fmla="*/ 11 w 29"/>
                  <a:gd name="T21" fmla="*/ 17 h 17"/>
                  <a:gd name="T22" fmla="*/ 7 w 29"/>
                  <a:gd name="T23" fmla="*/ 17 h 17"/>
                  <a:gd name="T24" fmla="*/ 1 w 29"/>
                  <a:gd name="T25" fmla="*/ 13 h 17"/>
                  <a:gd name="T26" fmla="*/ 0 w 29"/>
                  <a:gd name="T2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17">
                    <a:moveTo>
                      <a:pt x="0" y="12"/>
                    </a:moveTo>
                    <a:cubicBezTo>
                      <a:pt x="0" y="8"/>
                      <a:pt x="0" y="8"/>
                      <a:pt x="0" y="8"/>
                    </a:cubicBezTo>
                    <a:cubicBezTo>
                      <a:pt x="7" y="7"/>
                      <a:pt x="7" y="7"/>
                      <a:pt x="7" y="7"/>
                    </a:cubicBezTo>
                    <a:cubicBezTo>
                      <a:pt x="14" y="1"/>
                      <a:pt x="14" y="1"/>
                      <a:pt x="14" y="1"/>
                    </a:cubicBezTo>
                    <a:cubicBezTo>
                      <a:pt x="15" y="0"/>
                      <a:pt x="17" y="0"/>
                      <a:pt x="19" y="1"/>
                    </a:cubicBezTo>
                    <a:cubicBezTo>
                      <a:pt x="24" y="4"/>
                      <a:pt x="24" y="4"/>
                      <a:pt x="24" y="4"/>
                    </a:cubicBezTo>
                    <a:cubicBezTo>
                      <a:pt x="29" y="3"/>
                      <a:pt x="29" y="3"/>
                      <a:pt x="29" y="3"/>
                    </a:cubicBezTo>
                    <a:cubicBezTo>
                      <a:pt x="29" y="8"/>
                      <a:pt x="29" y="8"/>
                      <a:pt x="29" y="8"/>
                    </a:cubicBezTo>
                    <a:cubicBezTo>
                      <a:pt x="29" y="8"/>
                      <a:pt x="29" y="8"/>
                      <a:pt x="29" y="8"/>
                    </a:cubicBezTo>
                    <a:cubicBezTo>
                      <a:pt x="29" y="9"/>
                      <a:pt x="29" y="9"/>
                      <a:pt x="28" y="9"/>
                    </a:cubicBezTo>
                    <a:cubicBezTo>
                      <a:pt x="11" y="17"/>
                      <a:pt x="11" y="17"/>
                      <a:pt x="11" y="17"/>
                    </a:cubicBezTo>
                    <a:cubicBezTo>
                      <a:pt x="10" y="17"/>
                      <a:pt x="8" y="17"/>
                      <a:pt x="7" y="17"/>
                    </a:cubicBezTo>
                    <a:cubicBezTo>
                      <a:pt x="1" y="13"/>
                      <a:pt x="1" y="13"/>
                      <a:pt x="1" y="13"/>
                    </a:cubicBezTo>
                    <a:cubicBezTo>
                      <a:pt x="1" y="13"/>
                      <a:pt x="0" y="13"/>
                      <a:pt x="0" y="12"/>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iSliḋe"/>
              <p:cNvSpPr/>
              <p:nvPr/>
            </p:nvSpPr>
            <p:spPr bwMode="auto">
              <a:xfrm>
                <a:off x="4818996" y="3084192"/>
                <a:ext cx="103962" cy="60645"/>
              </a:xfrm>
              <a:custGeom>
                <a:avLst/>
                <a:gdLst>
                  <a:gd name="T0" fmla="*/ 1 w 29"/>
                  <a:gd name="T1" fmla="*/ 10 h 17"/>
                  <a:gd name="T2" fmla="*/ 14 w 29"/>
                  <a:gd name="T3" fmla="*/ 1 h 17"/>
                  <a:gd name="T4" fmla="*/ 19 w 29"/>
                  <a:gd name="T5" fmla="*/ 1 h 17"/>
                  <a:gd name="T6" fmla="*/ 28 w 29"/>
                  <a:gd name="T7" fmla="*/ 6 h 17"/>
                  <a:gd name="T8" fmla="*/ 28 w 29"/>
                  <a:gd name="T9" fmla="*/ 9 h 17"/>
                  <a:gd name="T10" fmla="*/ 11 w 29"/>
                  <a:gd name="T11" fmla="*/ 16 h 17"/>
                  <a:gd name="T12" fmla="*/ 7 w 29"/>
                  <a:gd name="T13" fmla="*/ 16 h 17"/>
                  <a:gd name="T14" fmla="*/ 1 w 29"/>
                  <a:gd name="T15" fmla="*/ 13 h 17"/>
                  <a:gd name="T16" fmla="*/ 1 w 29"/>
                  <a:gd name="T17"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7">
                    <a:moveTo>
                      <a:pt x="1" y="10"/>
                    </a:moveTo>
                    <a:cubicBezTo>
                      <a:pt x="14" y="1"/>
                      <a:pt x="14" y="1"/>
                      <a:pt x="14" y="1"/>
                    </a:cubicBezTo>
                    <a:cubicBezTo>
                      <a:pt x="15" y="0"/>
                      <a:pt x="17" y="0"/>
                      <a:pt x="19" y="1"/>
                    </a:cubicBezTo>
                    <a:cubicBezTo>
                      <a:pt x="28" y="6"/>
                      <a:pt x="28" y="6"/>
                      <a:pt x="28" y="6"/>
                    </a:cubicBezTo>
                    <a:cubicBezTo>
                      <a:pt x="29" y="7"/>
                      <a:pt x="29" y="8"/>
                      <a:pt x="28" y="9"/>
                    </a:cubicBezTo>
                    <a:cubicBezTo>
                      <a:pt x="11" y="16"/>
                      <a:pt x="11" y="16"/>
                      <a:pt x="11" y="16"/>
                    </a:cubicBezTo>
                    <a:cubicBezTo>
                      <a:pt x="10" y="17"/>
                      <a:pt x="8" y="17"/>
                      <a:pt x="7" y="16"/>
                    </a:cubicBezTo>
                    <a:cubicBezTo>
                      <a:pt x="1" y="13"/>
                      <a:pt x="1" y="13"/>
                      <a:pt x="1" y="13"/>
                    </a:cubicBezTo>
                    <a:cubicBezTo>
                      <a:pt x="0" y="12"/>
                      <a:pt x="0" y="11"/>
                      <a:pt x="1" y="10"/>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îśḷíḓé"/>
              <p:cNvSpPr/>
              <p:nvPr/>
            </p:nvSpPr>
            <p:spPr bwMode="auto">
              <a:xfrm>
                <a:off x="4602407" y="3108449"/>
                <a:ext cx="237381" cy="90101"/>
              </a:xfrm>
              <a:custGeom>
                <a:avLst/>
                <a:gdLst>
                  <a:gd name="T0" fmla="*/ 39 w 66"/>
                  <a:gd name="T1" fmla="*/ 25 h 25"/>
                  <a:gd name="T2" fmla="*/ 44 w 66"/>
                  <a:gd name="T3" fmla="*/ 24 h 25"/>
                  <a:gd name="T4" fmla="*/ 64 w 66"/>
                  <a:gd name="T5" fmla="*/ 12 h 25"/>
                  <a:gd name="T6" fmla="*/ 65 w 66"/>
                  <a:gd name="T7" fmla="*/ 9 h 25"/>
                  <a:gd name="T8" fmla="*/ 62 w 66"/>
                  <a:gd name="T9" fmla="*/ 8 h 25"/>
                  <a:gd name="T10" fmla="*/ 42 w 66"/>
                  <a:gd name="T11" fmla="*/ 20 h 25"/>
                  <a:gd name="T12" fmla="*/ 36 w 66"/>
                  <a:gd name="T13" fmla="*/ 20 h 25"/>
                  <a:gd name="T14" fmla="*/ 3 w 66"/>
                  <a:gd name="T15" fmla="*/ 1 h 25"/>
                  <a:gd name="T16" fmla="*/ 0 w 66"/>
                  <a:gd name="T17" fmla="*/ 2 h 25"/>
                  <a:gd name="T18" fmla="*/ 1 w 66"/>
                  <a:gd name="T19" fmla="*/ 5 h 25"/>
                  <a:gd name="T20" fmla="*/ 34 w 66"/>
                  <a:gd name="T21" fmla="*/ 24 h 25"/>
                  <a:gd name="T22" fmla="*/ 39 w 66"/>
                  <a:gd name="T23"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25">
                    <a:moveTo>
                      <a:pt x="39" y="25"/>
                    </a:moveTo>
                    <a:cubicBezTo>
                      <a:pt x="41" y="25"/>
                      <a:pt x="43" y="25"/>
                      <a:pt x="44" y="24"/>
                    </a:cubicBezTo>
                    <a:cubicBezTo>
                      <a:pt x="64" y="12"/>
                      <a:pt x="64" y="12"/>
                      <a:pt x="64" y="12"/>
                    </a:cubicBezTo>
                    <a:cubicBezTo>
                      <a:pt x="66" y="12"/>
                      <a:pt x="66" y="10"/>
                      <a:pt x="65" y="9"/>
                    </a:cubicBezTo>
                    <a:cubicBezTo>
                      <a:pt x="65" y="8"/>
                      <a:pt x="63" y="8"/>
                      <a:pt x="62" y="8"/>
                    </a:cubicBezTo>
                    <a:cubicBezTo>
                      <a:pt x="42" y="20"/>
                      <a:pt x="42" y="20"/>
                      <a:pt x="42" y="20"/>
                    </a:cubicBezTo>
                    <a:cubicBezTo>
                      <a:pt x="41" y="21"/>
                      <a:pt x="38" y="21"/>
                      <a:pt x="36" y="20"/>
                    </a:cubicBezTo>
                    <a:cubicBezTo>
                      <a:pt x="3" y="1"/>
                      <a:pt x="3" y="1"/>
                      <a:pt x="3" y="1"/>
                    </a:cubicBezTo>
                    <a:cubicBezTo>
                      <a:pt x="2" y="0"/>
                      <a:pt x="1" y="0"/>
                      <a:pt x="0" y="2"/>
                    </a:cubicBezTo>
                    <a:cubicBezTo>
                      <a:pt x="0" y="3"/>
                      <a:pt x="0" y="4"/>
                      <a:pt x="1" y="5"/>
                    </a:cubicBezTo>
                    <a:cubicBezTo>
                      <a:pt x="34" y="24"/>
                      <a:pt x="34" y="24"/>
                      <a:pt x="34" y="24"/>
                    </a:cubicBezTo>
                    <a:cubicBezTo>
                      <a:pt x="36" y="25"/>
                      <a:pt x="37" y="25"/>
                      <a:pt x="39" y="25"/>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îS1îḋe"/>
              <p:cNvSpPr/>
              <p:nvPr/>
            </p:nvSpPr>
            <p:spPr bwMode="auto">
              <a:xfrm>
                <a:off x="4061803" y="2716858"/>
                <a:ext cx="731202" cy="464365"/>
              </a:xfrm>
              <a:custGeom>
                <a:avLst/>
                <a:gdLst>
                  <a:gd name="T0" fmla="*/ 203 w 203"/>
                  <a:gd name="T1" fmla="*/ 64 h 129"/>
                  <a:gd name="T2" fmla="*/ 198 w 203"/>
                  <a:gd name="T3" fmla="*/ 61 h 129"/>
                  <a:gd name="T4" fmla="*/ 130 w 203"/>
                  <a:gd name="T5" fmla="*/ 11 h 129"/>
                  <a:gd name="T6" fmla="*/ 95 w 203"/>
                  <a:gd name="T7" fmla="*/ 5 h 129"/>
                  <a:gd name="T8" fmla="*/ 94 w 203"/>
                  <a:gd name="T9" fmla="*/ 5 h 129"/>
                  <a:gd name="T10" fmla="*/ 94 w 203"/>
                  <a:gd name="T11" fmla="*/ 5 h 129"/>
                  <a:gd name="T12" fmla="*/ 0 w 203"/>
                  <a:gd name="T13" fmla="*/ 60 h 129"/>
                  <a:gd name="T14" fmla="*/ 8 w 203"/>
                  <a:gd name="T15" fmla="*/ 63 h 129"/>
                  <a:gd name="T16" fmla="*/ 41 w 203"/>
                  <a:gd name="T17" fmla="*/ 77 h 129"/>
                  <a:gd name="T18" fmla="*/ 86 w 203"/>
                  <a:gd name="T19" fmla="*/ 109 h 129"/>
                  <a:gd name="T20" fmla="*/ 121 w 203"/>
                  <a:gd name="T21" fmla="*/ 128 h 129"/>
                  <a:gd name="T22" fmla="*/ 123 w 203"/>
                  <a:gd name="T23" fmla="*/ 129 h 129"/>
                  <a:gd name="T24" fmla="*/ 146 w 203"/>
                  <a:gd name="T25" fmla="*/ 105 h 129"/>
                  <a:gd name="T26" fmla="*/ 193 w 203"/>
                  <a:gd name="T27" fmla="*/ 73 h 129"/>
                  <a:gd name="T28" fmla="*/ 198 w 203"/>
                  <a:gd name="T29" fmla="*/ 76 h 129"/>
                  <a:gd name="T30" fmla="*/ 203 w 203"/>
                  <a:gd name="T31" fmla="*/ 6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3" h="129">
                    <a:moveTo>
                      <a:pt x="203" y="64"/>
                    </a:moveTo>
                    <a:cubicBezTo>
                      <a:pt x="201" y="63"/>
                      <a:pt x="200" y="62"/>
                      <a:pt x="198" y="61"/>
                    </a:cubicBezTo>
                    <a:cubicBezTo>
                      <a:pt x="130" y="11"/>
                      <a:pt x="130" y="11"/>
                      <a:pt x="130" y="11"/>
                    </a:cubicBezTo>
                    <a:cubicBezTo>
                      <a:pt x="117" y="2"/>
                      <a:pt x="105" y="0"/>
                      <a:pt x="95" y="5"/>
                    </a:cubicBezTo>
                    <a:cubicBezTo>
                      <a:pt x="94" y="5"/>
                      <a:pt x="94" y="5"/>
                      <a:pt x="94" y="5"/>
                    </a:cubicBezTo>
                    <a:cubicBezTo>
                      <a:pt x="94" y="5"/>
                      <a:pt x="94" y="5"/>
                      <a:pt x="94" y="5"/>
                    </a:cubicBezTo>
                    <a:cubicBezTo>
                      <a:pt x="0" y="60"/>
                      <a:pt x="0" y="60"/>
                      <a:pt x="0" y="60"/>
                    </a:cubicBezTo>
                    <a:cubicBezTo>
                      <a:pt x="8" y="63"/>
                      <a:pt x="8" y="63"/>
                      <a:pt x="8" y="63"/>
                    </a:cubicBezTo>
                    <a:cubicBezTo>
                      <a:pt x="41" y="77"/>
                      <a:pt x="41" y="77"/>
                      <a:pt x="41" y="77"/>
                    </a:cubicBezTo>
                    <a:cubicBezTo>
                      <a:pt x="86" y="109"/>
                      <a:pt x="86" y="109"/>
                      <a:pt x="86" y="109"/>
                    </a:cubicBezTo>
                    <a:cubicBezTo>
                      <a:pt x="121" y="128"/>
                      <a:pt x="121" y="128"/>
                      <a:pt x="121" y="128"/>
                    </a:cubicBezTo>
                    <a:cubicBezTo>
                      <a:pt x="123" y="129"/>
                      <a:pt x="123" y="129"/>
                      <a:pt x="123" y="129"/>
                    </a:cubicBezTo>
                    <a:cubicBezTo>
                      <a:pt x="131" y="122"/>
                      <a:pt x="141" y="116"/>
                      <a:pt x="146" y="105"/>
                    </a:cubicBezTo>
                    <a:cubicBezTo>
                      <a:pt x="154" y="90"/>
                      <a:pt x="179" y="86"/>
                      <a:pt x="193" y="73"/>
                    </a:cubicBezTo>
                    <a:cubicBezTo>
                      <a:pt x="195" y="74"/>
                      <a:pt x="196" y="75"/>
                      <a:pt x="198" y="76"/>
                    </a:cubicBezTo>
                    <a:cubicBezTo>
                      <a:pt x="201" y="73"/>
                      <a:pt x="201" y="69"/>
                      <a:pt x="203" y="64"/>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îś1íḍê"/>
              <p:cNvSpPr/>
              <p:nvPr/>
            </p:nvSpPr>
            <p:spPr bwMode="auto">
              <a:xfrm>
                <a:off x="4505376" y="2867604"/>
                <a:ext cx="421048" cy="320551"/>
              </a:xfrm>
              <a:custGeom>
                <a:avLst/>
                <a:gdLst>
                  <a:gd name="T0" fmla="*/ 110 w 117"/>
                  <a:gd name="T1" fmla="*/ 0 h 89"/>
                  <a:gd name="T2" fmla="*/ 106 w 117"/>
                  <a:gd name="T3" fmla="*/ 1 h 89"/>
                  <a:gd name="T4" fmla="*/ 106 w 117"/>
                  <a:gd name="T5" fmla="*/ 1 h 89"/>
                  <a:gd name="T6" fmla="*/ 14 w 117"/>
                  <a:gd name="T7" fmla="*/ 55 h 89"/>
                  <a:gd name="T8" fmla="*/ 17 w 117"/>
                  <a:gd name="T9" fmla="*/ 68 h 89"/>
                  <a:gd name="T10" fmla="*/ 21 w 117"/>
                  <a:gd name="T11" fmla="*/ 67 h 89"/>
                  <a:gd name="T12" fmla="*/ 0 w 117"/>
                  <a:gd name="T13" fmla="*/ 87 h 89"/>
                  <a:gd name="T14" fmla="*/ 11 w 117"/>
                  <a:gd name="T15" fmla="*/ 89 h 89"/>
                  <a:gd name="T16" fmla="*/ 101 w 117"/>
                  <a:gd name="T17" fmla="*/ 36 h 89"/>
                  <a:gd name="T18" fmla="*/ 102 w 117"/>
                  <a:gd name="T19" fmla="*/ 36 h 89"/>
                  <a:gd name="T20" fmla="*/ 106 w 117"/>
                  <a:gd name="T21" fmla="*/ 33 h 89"/>
                  <a:gd name="T22" fmla="*/ 106 w 117"/>
                  <a:gd name="T23" fmla="*/ 33 h 89"/>
                  <a:gd name="T24" fmla="*/ 106 w 117"/>
                  <a:gd name="T25" fmla="*/ 33 h 89"/>
                  <a:gd name="T26" fmla="*/ 117 w 117"/>
                  <a:gd name="T27" fmla="*/ 7 h 89"/>
                  <a:gd name="T28" fmla="*/ 117 w 117"/>
                  <a:gd name="T29" fmla="*/ 6 h 89"/>
                  <a:gd name="T30" fmla="*/ 110 w 117"/>
                  <a:gd name="T31"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7" h="89">
                    <a:moveTo>
                      <a:pt x="110" y="0"/>
                    </a:moveTo>
                    <a:cubicBezTo>
                      <a:pt x="109" y="0"/>
                      <a:pt x="107" y="0"/>
                      <a:pt x="106" y="1"/>
                    </a:cubicBezTo>
                    <a:cubicBezTo>
                      <a:pt x="106" y="1"/>
                      <a:pt x="106" y="1"/>
                      <a:pt x="106" y="1"/>
                    </a:cubicBezTo>
                    <a:cubicBezTo>
                      <a:pt x="14" y="55"/>
                      <a:pt x="14" y="55"/>
                      <a:pt x="14" y="55"/>
                    </a:cubicBezTo>
                    <a:cubicBezTo>
                      <a:pt x="17" y="68"/>
                      <a:pt x="17" y="68"/>
                      <a:pt x="17" y="68"/>
                    </a:cubicBezTo>
                    <a:cubicBezTo>
                      <a:pt x="21" y="67"/>
                      <a:pt x="21" y="67"/>
                      <a:pt x="21" y="67"/>
                    </a:cubicBezTo>
                    <a:cubicBezTo>
                      <a:pt x="16" y="75"/>
                      <a:pt x="7" y="80"/>
                      <a:pt x="0" y="87"/>
                    </a:cubicBezTo>
                    <a:cubicBezTo>
                      <a:pt x="11" y="89"/>
                      <a:pt x="11" y="89"/>
                      <a:pt x="11" y="89"/>
                    </a:cubicBezTo>
                    <a:cubicBezTo>
                      <a:pt x="101" y="36"/>
                      <a:pt x="101" y="36"/>
                      <a:pt x="101" y="36"/>
                    </a:cubicBezTo>
                    <a:cubicBezTo>
                      <a:pt x="101" y="36"/>
                      <a:pt x="102" y="36"/>
                      <a:pt x="102" y="36"/>
                    </a:cubicBezTo>
                    <a:cubicBezTo>
                      <a:pt x="103" y="35"/>
                      <a:pt x="105" y="34"/>
                      <a:pt x="106" y="33"/>
                    </a:cubicBezTo>
                    <a:cubicBezTo>
                      <a:pt x="106" y="33"/>
                      <a:pt x="106" y="33"/>
                      <a:pt x="106" y="33"/>
                    </a:cubicBezTo>
                    <a:cubicBezTo>
                      <a:pt x="106" y="33"/>
                      <a:pt x="106" y="33"/>
                      <a:pt x="106" y="33"/>
                    </a:cubicBezTo>
                    <a:cubicBezTo>
                      <a:pt x="113" y="28"/>
                      <a:pt x="117" y="19"/>
                      <a:pt x="117" y="7"/>
                    </a:cubicBezTo>
                    <a:cubicBezTo>
                      <a:pt x="117" y="6"/>
                      <a:pt x="117" y="6"/>
                      <a:pt x="117" y="6"/>
                    </a:cubicBezTo>
                    <a:cubicBezTo>
                      <a:pt x="117" y="3"/>
                      <a:pt x="114" y="0"/>
                      <a:pt x="110" y="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ṡļïḋé"/>
              <p:cNvSpPr/>
              <p:nvPr/>
            </p:nvSpPr>
            <p:spPr bwMode="auto">
              <a:xfrm>
                <a:off x="4448197" y="2723789"/>
                <a:ext cx="64111" cy="20792"/>
              </a:xfrm>
              <a:custGeom>
                <a:avLst/>
                <a:gdLst>
                  <a:gd name="T0" fmla="*/ 0 w 18"/>
                  <a:gd name="T1" fmla="*/ 0 h 6"/>
                  <a:gd name="T2" fmla="*/ 18 w 18"/>
                  <a:gd name="T3" fmla="*/ 6 h 6"/>
                  <a:gd name="T4" fmla="*/ 0 w 18"/>
                  <a:gd name="T5" fmla="*/ 0 h 6"/>
                </a:gdLst>
                <a:ahLst/>
                <a:cxnLst>
                  <a:cxn ang="0">
                    <a:pos x="T0" y="T1"/>
                  </a:cxn>
                  <a:cxn ang="0">
                    <a:pos x="T2" y="T3"/>
                  </a:cxn>
                  <a:cxn ang="0">
                    <a:pos x="T4" y="T5"/>
                  </a:cxn>
                </a:cxnLst>
                <a:rect l="0" t="0" r="r" b="b"/>
                <a:pathLst>
                  <a:path w="18" h="6">
                    <a:moveTo>
                      <a:pt x="0" y="0"/>
                    </a:moveTo>
                    <a:cubicBezTo>
                      <a:pt x="6" y="0"/>
                      <a:pt x="12" y="2"/>
                      <a:pt x="18" y="6"/>
                    </a:cubicBezTo>
                    <a:cubicBezTo>
                      <a:pt x="12" y="2"/>
                      <a:pt x="6" y="0"/>
                      <a:pt x="0" y="0"/>
                    </a:cubicBezTo>
                    <a:close/>
                  </a:path>
                </a:pathLst>
              </a:custGeom>
              <a:solidFill>
                <a:srgbClr val="EAEA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Sḷîḓè"/>
              <p:cNvSpPr/>
              <p:nvPr/>
            </p:nvSpPr>
            <p:spPr bwMode="auto">
              <a:xfrm>
                <a:off x="4061803" y="2794830"/>
                <a:ext cx="537139" cy="386394"/>
              </a:xfrm>
              <a:custGeom>
                <a:avLst/>
                <a:gdLst>
                  <a:gd name="T0" fmla="*/ 149 w 149"/>
                  <a:gd name="T1" fmla="*/ 79 h 107"/>
                  <a:gd name="T2" fmla="*/ 149 w 149"/>
                  <a:gd name="T3" fmla="*/ 78 h 107"/>
                  <a:gd name="T4" fmla="*/ 142 w 149"/>
                  <a:gd name="T5" fmla="*/ 71 h 107"/>
                  <a:gd name="T6" fmla="*/ 136 w 149"/>
                  <a:gd name="T7" fmla="*/ 78 h 107"/>
                  <a:gd name="T8" fmla="*/ 136 w 149"/>
                  <a:gd name="T9" fmla="*/ 79 h 107"/>
                  <a:gd name="T10" fmla="*/ 129 w 149"/>
                  <a:gd name="T11" fmla="*/ 96 h 107"/>
                  <a:gd name="T12" fmla="*/ 107 w 149"/>
                  <a:gd name="T13" fmla="*/ 91 h 107"/>
                  <a:gd name="T14" fmla="*/ 39 w 149"/>
                  <a:gd name="T15" fmla="*/ 41 h 107"/>
                  <a:gd name="T16" fmla="*/ 9 w 149"/>
                  <a:gd name="T17" fmla="*/ 32 h 107"/>
                  <a:gd name="T18" fmla="*/ 65 w 149"/>
                  <a:gd name="T19" fmla="*/ 0 h 107"/>
                  <a:gd name="T20" fmla="*/ 0 w 149"/>
                  <a:gd name="T21" fmla="*/ 38 h 107"/>
                  <a:gd name="T22" fmla="*/ 8 w 149"/>
                  <a:gd name="T23" fmla="*/ 41 h 107"/>
                  <a:gd name="T24" fmla="*/ 41 w 149"/>
                  <a:gd name="T25" fmla="*/ 55 h 107"/>
                  <a:gd name="T26" fmla="*/ 86 w 149"/>
                  <a:gd name="T27" fmla="*/ 87 h 107"/>
                  <a:gd name="T28" fmla="*/ 121 w 149"/>
                  <a:gd name="T29" fmla="*/ 106 h 107"/>
                  <a:gd name="T30" fmla="*/ 123 w 149"/>
                  <a:gd name="T31" fmla="*/ 107 h 107"/>
                  <a:gd name="T32" fmla="*/ 146 w 149"/>
                  <a:gd name="T33" fmla="*/ 83 h 107"/>
                  <a:gd name="T34" fmla="*/ 149 w 149"/>
                  <a:gd name="T35" fmla="*/ 79 h 107"/>
                  <a:gd name="T36" fmla="*/ 149 w 149"/>
                  <a:gd name="T37" fmla="*/ 7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9" h="107">
                    <a:moveTo>
                      <a:pt x="149" y="79"/>
                    </a:moveTo>
                    <a:cubicBezTo>
                      <a:pt x="149" y="78"/>
                      <a:pt x="149" y="78"/>
                      <a:pt x="149" y="78"/>
                    </a:cubicBezTo>
                    <a:cubicBezTo>
                      <a:pt x="149" y="74"/>
                      <a:pt x="146" y="71"/>
                      <a:pt x="142" y="71"/>
                    </a:cubicBezTo>
                    <a:cubicBezTo>
                      <a:pt x="139" y="71"/>
                      <a:pt x="136" y="74"/>
                      <a:pt x="136" y="78"/>
                    </a:cubicBezTo>
                    <a:cubicBezTo>
                      <a:pt x="136" y="79"/>
                      <a:pt x="136" y="79"/>
                      <a:pt x="136" y="79"/>
                    </a:cubicBezTo>
                    <a:cubicBezTo>
                      <a:pt x="136" y="87"/>
                      <a:pt x="133" y="94"/>
                      <a:pt x="129" y="96"/>
                    </a:cubicBezTo>
                    <a:cubicBezTo>
                      <a:pt x="123" y="99"/>
                      <a:pt x="115" y="97"/>
                      <a:pt x="107" y="91"/>
                    </a:cubicBezTo>
                    <a:cubicBezTo>
                      <a:pt x="39" y="41"/>
                      <a:pt x="39" y="41"/>
                      <a:pt x="39" y="41"/>
                    </a:cubicBezTo>
                    <a:cubicBezTo>
                      <a:pt x="28" y="33"/>
                      <a:pt x="18" y="30"/>
                      <a:pt x="9" y="32"/>
                    </a:cubicBezTo>
                    <a:cubicBezTo>
                      <a:pt x="65" y="0"/>
                      <a:pt x="65" y="0"/>
                      <a:pt x="65" y="0"/>
                    </a:cubicBezTo>
                    <a:cubicBezTo>
                      <a:pt x="0" y="38"/>
                      <a:pt x="0" y="38"/>
                      <a:pt x="0" y="38"/>
                    </a:cubicBezTo>
                    <a:cubicBezTo>
                      <a:pt x="8" y="41"/>
                      <a:pt x="8" y="41"/>
                      <a:pt x="8" y="41"/>
                    </a:cubicBezTo>
                    <a:cubicBezTo>
                      <a:pt x="41" y="55"/>
                      <a:pt x="41" y="55"/>
                      <a:pt x="41" y="55"/>
                    </a:cubicBezTo>
                    <a:cubicBezTo>
                      <a:pt x="86" y="87"/>
                      <a:pt x="86" y="87"/>
                      <a:pt x="86" y="87"/>
                    </a:cubicBezTo>
                    <a:cubicBezTo>
                      <a:pt x="121" y="106"/>
                      <a:pt x="121" y="106"/>
                      <a:pt x="121" y="106"/>
                    </a:cubicBezTo>
                    <a:cubicBezTo>
                      <a:pt x="123" y="107"/>
                      <a:pt x="123" y="107"/>
                      <a:pt x="123" y="107"/>
                    </a:cubicBezTo>
                    <a:cubicBezTo>
                      <a:pt x="131" y="100"/>
                      <a:pt x="141" y="94"/>
                      <a:pt x="146" y="83"/>
                    </a:cubicBezTo>
                    <a:cubicBezTo>
                      <a:pt x="147" y="82"/>
                      <a:pt x="148" y="81"/>
                      <a:pt x="149" y="79"/>
                    </a:cubicBezTo>
                    <a:cubicBezTo>
                      <a:pt x="149" y="79"/>
                      <a:pt x="149" y="79"/>
                      <a:pt x="149" y="7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ḷïḑe"/>
              <p:cNvSpPr/>
              <p:nvPr/>
            </p:nvSpPr>
            <p:spPr bwMode="auto">
              <a:xfrm>
                <a:off x="4018486" y="2907456"/>
                <a:ext cx="573526" cy="291095"/>
              </a:xfrm>
              <a:custGeom>
                <a:avLst/>
                <a:gdLst>
                  <a:gd name="T0" fmla="*/ 133 w 159"/>
                  <a:gd name="T1" fmla="*/ 81 h 81"/>
                  <a:gd name="T2" fmla="*/ 110 w 159"/>
                  <a:gd name="T3" fmla="*/ 72 h 81"/>
                  <a:gd name="T4" fmla="*/ 41 w 159"/>
                  <a:gd name="T5" fmla="*/ 22 h 81"/>
                  <a:gd name="T6" fmla="*/ 20 w 159"/>
                  <a:gd name="T7" fmla="*/ 17 h 81"/>
                  <a:gd name="T8" fmla="*/ 12 w 159"/>
                  <a:gd name="T9" fmla="*/ 34 h 81"/>
                  <a:gd name="T10" fmla="*/ 6 w 159"/>
                  <a:gd name="T11" fmla="*/ 40 h 81"/>
                  <a:gd name="T12" fmla="*/ 0 w 159"/>
                  <a:gd name="T13" fmla="*/ 34 h 81"/>
                  <a:gd name="T14" fmla="*/ 14 w 159"/>
                  <a:gd name="T15" fmla="*/ 5 h 81"/>
                  <a:gd name="T16" fmla="*/ 49 w 159"/>
                  <a:gd name="T17" fmla="*/ 12 h 81"/>
                  <a:gd name="T18" fmla="*/ 117 w 159"/>
                  <a:gd name="T19" fmla="*/ 62 h 81"/>
                  <a:gd name="T20" fmla="*/ 139 w 159"/>
                  <a:gd name="T21" fmla="*/ 67 h 81"/>
                  <a:gd name="T22" fmla="*/ 146 w 159"/>
                  <a:gd name="T23" fmla="*/ 50 h 81"/>
                  <a:gd name="T24" fmla="*/ 146 w 159"/>
                  <a:gd name="T25" fmla="*/ 49 h 81"/>
                  <a:gd name="T26" fmla="*/ 153 w 159"/>
                  <a:gd name="T27" fmla="*/ 42 h 81"/>
                  <a:gd name="T28" fmla="*/ 159 w 159"/>
                  <a:gd name="T29" fmla="*/ 49 h 81"/>
                  <a:gd name="T30" fmla="*/ 159 w 159"/>
                  <a:gd name="T31" fmla="*/ 50 h 81"/>
                  <a:gd name="T32" fmla="*/ 145 w 159"/>
                  <a:gd name="T33" fmla="*/ 78 h 81"/>
                  <a:gd name="T34" fmla="*/ 133 w 159"/>
                  <a:gd name="T35"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81">
                    <a:moveTo>
                      <a:pt x="133" y="81"/>
                    </a:moveTo>
                    <a:cubicBezTo>
                      <a:pt x="126" y="81"/>
                      <a:pt x="118" y="78"/>
                      <a:pt x="110" y="72"/>
                    </a:cubicBezTo>
                    <a:cubicBezTo>
                      <a:pt x="41" y="22"/>
                      <a:pt x="41" y="22"/>
                      <a:pt x="41" y="22"/>
                    </a:cubicBezTo>
                    <a:cubicBezTo>
                      <a:pt x="33" y="16"/>
                      <a:pt x="25" y="14"/>
                      <a:pt x="20" y="17"/>
                    </a:cubicBezTo>
                    <a:cubicBezTo>
                      <a:pt x="15" y="19"/>
                      <a:pt x="12" y="25"/>
                      <a:pt x="12" y="34"/>
                    </a:cubicBezTo>
                    <a:cubicBezTo>
                      <a:pt x="12" y="37"/>
                      <a:pt x="10" y="40"/>
                      <a:pt x="6" y="40"/>
                    </a:cubicBezTo>
                    <a:cubicBezTo>
                      <a:pt x="3" y="40"/>
                      <a:pt x="0" y="37"/>
                      <a:pt x="0" y="34"/>
                    </a:cubicBezTo>
                    <a:cubicBezTo>
                      <a:pt x="0" y="20"/>
                      <a:pt x="5" y="10"/>
                      <a:pt x="14" y="5"/>
                    </a:cubicBezTo>
                    <a:cubicBezTo>
                      <a:pt x="24" y="0"/>
                      <a:pt x="37" y="3"/>
                      <a:pt x="49" y="12"/>
                    </a:cubicBezTo>
                    <a:cubicBezTo>
                      <a:pt x="117" y="62"/>
                      <a:pt x="117" y="62"/>
                      <a:pt x="117" y="62"/>
                    </a:cubicBezTo>
                    <a:cubicBezTo>
                      <a:pt x="125" y="68"/>
                      <a:pt x="133" y="70"/>
                      <a:pt x="139" y="67"/>
                    </a:cubicBezTo>
                    <a:cubicBezTo>
                      <a:pt x="143" y="65"/>
                      <a:pt x="146" y="58"/>
                      <a:pt x="146" y="50"/>
                    </a:cubicBezTo>
                    <a:cubicBezTo>
                      <a:pt x="146" y="49"/>
                      <a:pt x="146" y="49"/>
                      <a:pt x="146" y="49"/>
                    </a:cubicBezTo>
                    <a:cubicBezTo>
                      <a:pt x="146" y="45"/>
                      <a:pt x="149" y="42"/>
                      <a:pt x="153" y="42"/>
                    </a:cubicBezTo>
                    <a:cubicBezTo>
                      <a:pt x="156" y="42"/>
                      <a:pt x="159" y="45"/>
                      <a:pt x="159" y="49"/>
                    </a:cubicBezTo>
                    <a:cubicBezTo>
                      <a:pt x="159" y="50"/>
                      <a:pt x="159" y="50"/>
                      <a:pt x="159" y="50"/>
                    </a:cubicBezTo>
                    <a:cubicBezTo>
                      <a:pt x="159" y="63"/>
                      <a:pt x="154" y="74"/>
                      <a:pt x="145" y="78"/>
                    </a:cubicBezTo>
                    <a:cubicBezTo>
                      <a:pt x="141" y="80"/>
                      <a:pt x="137" y="81"/>
                      <a:pt x="133" y="81"/>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ŝlïḋé"/>
              <p:cNvSpPr/>
              <p:nvPr/>
            </p:nvSpPr>
            <p:spPr bwMode="auto">
              <a:xfrm>
                <a:off x="4158835" y="3576280"/>
                <a:ext cx="188865" cy="263371"/>
              </a:xfrm>
              <a:custGeom>
                <a:avLst/>
                <a:gdLst>
                  <a:gd name="T0" fmla="*/ 41 w 52"/>
                  <a:gd name="T1" fmla="*/ 7 h 73"/>
                  <a:gd name="T2" fmla="*/ 20 w 52"/>
                  <a:gd name="T3" fmla="*/ 10 h 73"/>
                  <a:gd name="T4" fmla="*/ 0 w 52"/>
                  <a:gd name="T5" fmla="*/ 58 h 73"/>
                  <a:gd name="T6" fmla="*/ 20 w 52"/>
                  <a:gd name="T7" fmla="*/ 68 h 73"/>
                  <a:gd name="T8" fmla="*/ 51 w 52"/>
                  <a:gd name="T9" fmla="*/ 27 h 73"/>
                  <a:gd name="T10" fmla="*/ 47 w 52"/>
                  <a:gd name="T11" fmla="*/ 11 h 73"/>
                  <a:gd name="T12" fmla="*/ 41 w 52"/>
                  <a:gd name="T13" fmla="*/ 7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7"/>
                    </a:moveTo>
                    <a:cubicBezTo>
                      <a:pt x="41" y="7"/>
                      <a:pt x="28" y="0"/>
                      <a:pt x="20" y="10"/>
                    </a:cubicBezTo>
                    <a:cubicBezTo>
                      <a:pt x="12" y="20"/>
                      <a:pt x="1" y="42"/>
                      <a:pt x="0" y="58"/>
                    </a:cubicBezTo>
                    <a:cubicBezTo>
                      <a:pt x="0" y="73"/>
                      <a:pt x="13" y="72"/>
                      <a:pt x="20" y="68"/>
                    </a:cubicBezTo>
                    <a:cubicBezTo>
                      <a:pt x="28" y="65"/>
                      <a:pt x="49" y="33"/>
                      <a:pt x="51" y="27"/>
                    </a:cubicBezTo>
                    <a:cubicBezTo>
                      <a:pt x="52" y="21"/>
                      <a:pt x="49" y="12"/>
                      <a:pt x="47" y="11"/>
                    </a:cubicBezTo>
                    <a:cubicBezTo>
                      <a:pt x="45" y="9"/>
                      <a:pt x="41" y="7"/>
                      <a:pt x="41" y="7"/>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iŝlîḍê"/>
              <p:cNvSpPr/>
              <p:nvPr/>
            </p:nvSpPr>
            <p:spPr bwMode="auto">
              <a:xfrm>
                <a:off x="4228143" y="3555487"/>
                <a:ext cx="90101" cy="114359"/>
              </a:xfrm>
              <a:custGeom>
                <a:avLst/>
                <a:gdLst>
                  <a:gd name="T0" fmla="*/ 25 w 25"/>
                  <a:gd name="T1" fmla="*/ 10 h 32"/>
                  <a:gd name="T2" fmla="*/ 25 w 25"/>
                  <a:gd name="T3" fmla="*/ 23 h 32"/>
                  <a:gd name="T4" fmla="*/ 21 w 25"/>
                  <a:gd name="T5" fmla="*/ 30 h 32"/>
                  <a:gd name="T6" fmla="*/ 12 w 25"/>
                  <a:gd name="T7" fmla="*/ 31 h 32"/>
                  <a:gd name="T8" fmla="*/ 0 w 25"/>
                  <a:gd name="T9" fmla="*/ 14 h 32"/>
                  <a:gd name="T10" fmla="*/ 25 w 25"/>
                  <a:gd name="T11" fmla="*/ 10 h 32"/>
                </a:gdLst>
                <a:ahLst/>
                <a:cxnLst>
                  <a:cxn ang="0">
                    <a:pos x="T0" y="T1"/>
                  </a:cxn>
                  <a:cxn ang="0">
                    <a:pos x="T2" y="T3"/>
                  </a:cxn>
                  <a:cxn ang="0">
                    <a:pos x="T4" y="T5"/>
                  </a:cxn>
                  <a:cxn ang="0">
                    <a:pos x="T6" y="T7"/>
                  </a:cxn>
                  <a:cxn ang="0">
                    <a:pos x="T8" y="T9"/>
                  </a:cxn>
                  <a:cxn ang="0">
                    <a:pos x="T10" y="T11"/>
                  </a:cxn>
                </a:cxnLst>
                <a:rect l="0" t="0" r="r" b="b"/>
                <a:pathLst>
                  <a:path w="25" h="32">
                    <a:moveTo>
                      <a:pt x="25" y="10"/>
                    </a:moveTo>
                    <a:cubicBezTo>
                      <a:pt x="25" y="23"/>
                      <a:pt x="25" y="23"/>
                      <a:pt x="25" y="23"/>
                    </a:cubicBezTo>
                    <a:cubicBezTo>
                      <a:pt x="25" y="26"/>
                      <a:pt x="24" y="28"/>
                      <a:pt x="21" y="30"/>
                    </a:cubicBezTo>
                    <a:cubicBezTo>
                      <a:pt x="19" y="31"/>
                      <a:pt x="16" y="32"/>
                      <a:pt x="12" y="31"/>
                    </a:cubicBezTo>
                    <a:cubicBezTo>
                      <a:pt x="2" y="30"/>
                      <a:pt x="1" y="27"/>
                      <a:pt x="0" y="14"/>
                    </a:cubicBezTo>
                    <a:cubicBezTo>
                      <a:pt x="0" y="0"/>
                      <a:pt x="25" y="10"/>
                      <a:pt x="25" y="1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îŝḷíḋê"/>
              <p:cNvSpPr/>
              <p:nvPr/>
            </p:nvSpPr>
            <p:spPr bwMode="auto">
              <a:xfrm>
                <a:off x="3990763" y="3486179"/>
                <a:ext cx="187132" cy="263371"/>
              </a:xfrm>
              <a:custGeom>
                <a:avLst/>
                <a:gdLst>
                  <a:gd name="T0" fmla="*/ 41 w 52"/>
                  <a:gd name="T1" fmla="*/ 6 h 73"/>
                  <a:gd name="T2" fmla="*/ 20 w 52"/>
                  <a:gd name="T3" fmla="*/ 9 h 73"/>
                  <a:gd name="T4" fmla="*/ 0 w 52"/>
                  <a:gd name="T5" fmla="*/ 57 h 73"/>
                  <a:gd name="T6" fmla="*/ 20 w 52"/>
                  <a:gd name="T7" fmla="*/ 68 h 73"/>
                  <a:gd name="T8" fmla="*/ 51 w 52"/>
                  <a:gd name="T9" fmla="*/ 26 h 73"/>
                  <a:gd name="T10" fmla="*/ 47 w 52"/>
                  <a:gd name="T11" fmla="*/ 10 h 73"/>
                  <a:gd name="T12" fmla="*/ 41 w 52"/>
                  <a:gd name="T13" fmla="*/ 6 h 73"/>
                </a:gdLst>
                <a:ahLst/>
                <a:cxnLst>
                  <a:cxn ang="0">
                    <a:pos x="T0" y="T1"/>
                  </a:cxn>
                  <a:cxn ang="0">
                    <a:pos x="T2" y="T3"/>
                  </a:cxn>
                  <a:cxn ang="0">
                    <a:pos x="T4" y="T5"/>
                  </a:cxn>
                  <a:cxn ang="0">
                    <a:pos x="T6" y="T7"/>
                  </a:cxn>
                  <a:cxn ang="0">
                    <a:pos x="T8" y="T9"/>
                  </a:cxn>
                  <a:cxn ang="0">
                    <a:pos x="T10" y="T11"/>
                  </a:cxn>
                  <a:cxn ang="0">
                    <a:pos x="T12" y="T13"/>
                  </a:cxn>
                </a:cxnLst>
                <a:rect l="0" t="0" r="r" b="b"/>
                <a:pathLst>
                  <a:path w="52" h="73">
                    <a:moveTo>
                      <a:pt x="41" y="6"/>
                    </a:moveTo>
                    <a:cubicBezTo>
                      <a:pt x="41" y="6"/>
                      <a:pt x="28" y="0"/>
                      <a:pt x="20" y="9"/>
                    </a:cubicBezTo>
                    <a:cubicBezTo>
                      <a:pt x="12" y="19"/>
                      <a:pt x="1" y="42"/>
                      <a:pt x="0" y="57"/>
                    </a:cubicBezTo>
                    <a:cubicBezTo>
                      <a:pt x="0" y="73"/>
                      <a:pt x="13" y="71"/>
                      <a:pt x="20" y="68"/>
                    </a:cubicBezTo>
                    <a:cubicBezTo>
                      <a:pt x="28" y="64"/>
                      <a:pt x="49" y="33"/>
                      <a:pt x="51" y="26"/>
                    </a:cubicBezTo>
                    <a:cubicBezTo>
                      <a:pt x="52" y="20"/>
                      <a:pt x="49" y="12"/>
                      <a:pt x="47" y="10"/>
                    </a:cubicBezTo>
                    <a:cubicBezTo>
                      <a:pt x="45" y="9"/>
                      <a:pt x="41" y="6"/>
                      <a:pt x="41" y="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îŝḻidê"/>
              <p:cNvSpPr/>
              <p:nvPr/>
            </p:nvSpPr>
            <p:spPr bwMode="auto">
              <a:xfrm>
                <a:off x="4054872" y="3465387"/>
                <a:ext cx="93566" cy="110893"/>
              </a:xfrm>
              <a:custGeom>
                <a:avLst/>
                <a:gdLst>
                  <a:gd name="T0" fmla="*/ 26 w 26"/>
                  <a:gd name="T1" fmla="*/ 9 h 31"/>
                  <a:gd name="T2" fmla="*/ 26 w 26"/>
                  <a:gd name="T3" fmla="*/ 22 h 31"/>
                  <a:gd name="T4" fmla="*/ 22 w 26"/>
                  <a:gd name="T5" fmla="*/ 29 h 31"/>
                  <a:gd name="T6" fmla="*/ 12 w 26"/>
                  <a:gd name="T7" fmla="*/ 31 h 31"/>
                  <a:gd name="T8" fmla="*/ 1 w 26"/>
                  <a:gd name="T9" fmla="*/ 13 h 31"/>
                  <a:gd name="T10" fmla="*/ 26 w 26"/>
                  <a:gd name="T11" fmla="*/ 9 h 31"/>
                </a:gdLst>
                <a:ahLst/>
                <a:cxnLst>
                  <a:cxn ang="0">
                    <a:pos x="T0" y="T1"/>
                  </a:cxn>
                  <a:cxn ang="0">
                    <a:pos x="T2" y="T3"/>
                  </a:cxn>
                  <a:cxn ang="0">
                    <a:pos x="T4" y="T5"/>
                  </a:cxn>
                  <a:cxn ang="0">
                    <a:pos x="T6" y="T7"/>
                  </a:cxn>
                  <a:cxn ang="0">
                    <a:pos x="T8" y="T9"/>
                  </a:cxn>
                  <a:cxn ang="0">
                    <a:pos x="T10" y="T11"/>
                  </a:cxn>
                </a:cxnLst>
                <a:rect l="0" t="0" r="r" b="b"/>
                <a:pathLst>
                  <a:path w="26" h="31">
                    <a:moveTo>
                      <a:pt x="26" y="9"/>
                    </a:moveTo>
                    <a:cubicBezTo>
                      <a:pt x="26" y="22"/>
                      <a:pt x="26" y="22"/>
                      <a:pt x="26" y="22"/>
                    </a:cubicBezTo>
                    <a:cubicBezTo>
                      <a:pt x="26" y="25"/>
                      <a:pt x="25" y="28"/>
                      <a:pt x="22" y="29"/>
                    </a:cubicBezTo>
                    <a:cubicBezTo>
                      <a:pt x="20" y="31"/>
                      <a:pt x="17" y="31"/>
                      <a:pt x="12" y="31"/>
                    </a:cubicBezTo>
                    <a:cubicBezTo>
                      <a:pt x="3" y="29"/>
                      <a:pt x="2" y="26"/>
                      <a:pt x="1" y="13"/>
                    </a:cubicBezTo>
                    <a:cubicBezTo>
                      <a:pt x="0" y="0"/>
                      <a:pt x="26" y="9"/>
                      <a:pt x="26" y="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î$lîḑe"/>
              <p:cNvSpPr/>
              <p:nvPr/>
            </p:nvSpPr>
            <p:spPr bwMode="auto">
              <a:xfrm>
                <a:off x="3983832" y="2392843"/>
                <a:ext cx="590853" cy="1143586"/>
              </a:xfrm>
              <a:custGeom>
                <a:avLst/>
                <a:gdLst>
                  <a:gd name="T0" fmla="*/ 160 w 164"/>
                  <a:gd name="T1" fmla="*/ 62 h 318"/>
                  <a:gd name="T2" fmla="*/ 93 w 164"/>
                  <a:gd name="T3" fmla="*/ 71 h 318"/>
                  <a:gd name="T4" fmla="*/ 50 w 164"/>
                  <a:gd name="T5" fmla="*/ 114 h 318"/>
                  <a:gd name="T6" fmla="*/ 11 w 164"/>
                  <a:gd name="T7" fmla="*/ 157 h 318"/>
                  <a:gd name="T8" fmla="*/ 1 w 164"/>
                  <a:gd name="T9" fmla="*/ 188 h 318"/>
                  <a:gd name="T10" fmla="*/ 17 w 164"/>
                  <a:gd name="T11" fmla="*/ 308 h 318"/>
                  <a:gd name="T12" fmla="*/ 29 w 164"/>
                  <a:gd name="T13" fmla="*/ 318 h 318"/>
                  <a:gd name="T14" fmla="*/ 35 w 164"/>
                  <a:gd name="T15" fmla="*/ 317 h 318"/>
                  <a:gd name="T16" fmla="*/ 48 w 164"/>
                  <a:gd name="T17" fmla="*/ 302 h 318"/>
                  <a:gd name="T18" fmla="*/ 45 w 164"/>
                  <a:gd name="T19" fmla="*/ 190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6" y="0"/>
                      <a:pt x="93" y="71"/>
                      <a:pt x="93" y="71"/>
                    </a:cubicBezTo>
                    <a:cubicBezTo>
                      <a:pt x="50" y="114"/>
                      <a:pt x="50" y="114"/>
                      <a:pt x="50" y="114"/>
                    </a:cubicBezTo>
                    <a:cubicBezTo>
                      <a:pt x="11" y="157"/>
                      <a:pt x="11" y="157"/>
                      <a:pt x="11" y="157"/>
                    </a:cubicBezTo>
                    <a:cubicBezTo>
                      <a:pt x="3" y="165"/>
                      <a:pt x="0" y="176"/>
                      <a:pt x="1" y="188"/>
                    </a:cubicBezTo>
                    <a:cubicBezTo>
                      <a:pt x="17" y="308"/>
                      <a:pt x="17" y="308"/>
                      <a:pt x="17" y="308"/>
                    </a:cubicBezTo>
                    <a:cubicBezTo>
                      <a:pt x="18" y="314"/>
                      <a:pt x="23" y="318"/>
                      <a:pt x="29" y="318"/>
                    </a:cubicBezTo>
                    <a:cubicBezTo>
                      <a:pt x="31" y="318"/>
                      <a:pt x="32" y="318"/>
                      <a:pt x="35" y="317"/>
                    </a:cubicBezTo>
                    <a:cubicBezTo>
                      <a:pt x="49" y="315"/>
                      <a:pt x="48" y="302"/>
                      <a:pt x="48" y="302"/>
                    </a:cubicBezTo>
                    <a:cubicBezTo>
                      <a:pt x="45" y="190"/>
                      <a:pt x="45" y="190"/>
                      <a:pt x="45" y="190"/>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íṧļïḓé"/>
              <p:cNvSpPr/>
              <p:nvPr/>
            </p:nvSpPr>
            <p:spPr bwMode="auto">
              <a:xfrm>
                <a:off x="4151904" y="2479478"/>
                <a:ext cx="590853" cy="1143586"/>
              </a:xfrm>
              <a:custGeom>
                <a:avLst/>
                <a:gdLst>
                  <a:gd name="T0" fmla="*/ 160 w 164"/>
                  <a:gd name="T1" fmla="*/ 62 h 318"/>
                  <a:gd name="T2" fmla="*/ 93 w 164"/>
                  <a:gd name="T3" fmla="*/ 71 h 318"/>
                  <a:gd name="T4" fmla="*/ 50 w 164"/>
                  <a:gd name="T5" fmla="*/ 114 h 318"/>
                  <a:gd name="T6" fmla="*/ 11 w 164"/>
                  <a:gd name="T7" fmla="*/ 156 h 318"/>
                  <a:gd name="T8" fmla="*/ 1 w 164"/>
                  <a:gd name="T9" fmla="*/ 187 h 318"/>
                  <a:gd name="T10" fmla="*/ 17 w 164"/>
                  <a:gd name="T11" fmla="*/ 307 h 318"/>
                  <a:gd name="T12" fmla="*/ 29 w 164"/>
                  <a:gd name="T13" fmla="*/ 318 h 318"/>
                  <a:gd name="T14" fmla="*/ 35 w 164"/>
                  <a:gd name="T15" fmla="*/ 317 h 318"/>
                  <a:gd name="T16" fmla="*/ 48 w 164"/>
                  <a:gd name="T17" fmla="*/ 302 h 318"/>
                  <a:gd name="T18" fmla="*/ 45 w 164"/>
                  <a:gd name="T19" fmla="*/ 189 h 318"/>
                  <a:gd name="T20" fmla="*/ 127 w 164"/>
                  <a:gd name="T21" fmla="*/ 140 h 318"/>
                  <a:gd name="T22" fmla="*/ 160 w 164"/>
                  <a:gd name="T23" fmla="*/ 6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318">
                    <a:moveTo>
                      <a:pt x="160" y="62"/>
                    </a:moveTo>
                    <a:cubicBezTo>
                      <a:pt x="157" y="0"/>
                      <a:pt x="93" y="71"/>
                      <a:pt x="93" y="71"/>
                    </a:cubicBezTo>
                    <a:cubicBezTo>
                      <a:pt x="50" y="114"/>
                      <a:pt x="50" y="114"/>
                      <a:pt x="50" y="114"/>
                    </a:cubicBezTo>
                    <a:cubicBezTo>
                      <a:pt x="11" y="156"/>
                      <a:pt x="11" y="156"/>
                      <a:pt x="11" y="156"/>
                    </a:cubicBezTo>
                    <a:cubicBezTo>
                      <a:pt x="3" y="165"/>
                      <a:pt x="0" y="176"/>
                      <a:pt x="1" y="187"/>
                    </a:cubicBezTo>
                    <a:cubicBezTo>
                      <a:pt x="17" y="307"/>
                      <a:pt x="17" y="307"/>
                      <a:pt x="17" y="307"/>
                    </a:cubicBezTo>
                    <a:cubicBezTo>
                      <a:pt x="18" y="313"/>
                      <a:pt x="23" y="318"/>
                      <a:pt x="29" y="318"/>
                    </a:cubicBezTo>
                    <a:cubicBezTo>
                      <a:pt x="31" y="318"/>
                      <a:pt x="33" y="317"/>
                      <a:pt x="35" y="317"/>
                    </a:cubicBezTo>
                    <a:cubicBezTo>
                      <a:pt x="49" y="315"/>
                      <a:pt x="48" y="302"/>
                      <a:pt x="48" y="302"/>
                    </a:cubicBezTo>
                    <a:cubicBezTo>
                      <a:pt x="45" y="189"/>
                      <a:pt x="45" y="189"/>
                      <a:pt x="45" y="189"/>
                    </a:cubicBezTo>
                    <a:cubicBezTo>
                      <a:pt x="127" y="140"/>
                      <a:pt x="127" y="140"/>
                      <a:pt x="127" y="140"/>
                    </a:cubicBezTo>
                    <a:cubicBezTo>
                      <a:pt x="127" y="140"/>
                      <a:pt x="164" y="124"/>
                      <a:pt x="160" y="62"/>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6" name="ïs1ïḓé"/>
              <p:cNvSpPr/>
              <p:nvPr/>
            </p:nvSpPr>
            <p:spPr bwMode="auto">
              <a:xfrm>
                <a:off x="4188291" y="1942339"/>
                <a:ext cx="580457" cy="954721"/>
              </a:xfrm>
              <a:custGeom>
                <a:avLst/>
                <a:gdLst>
                  <a:gd name="T0" fmla="*/ 113 w 161"/>
                  <a:gd name="T1" fmla="*/ 12 h 265"/>
                  <a:gd name="T2" fmla="*/ 160 w 161"/>
                  <a:gd name="T3" fmla="*/ 60 h 265"/>
                  <a:gd name="T4" fmla="*/ 154 w 161"/>
                  <a:gd name="T5" fmla="*/ 234 h 265"/>
                  <a:gd name="T6" fmla="*/ 23 w 161"/>
                  <a:gd name="T7" fmla="*/ 188 h 265"/>
                  <a:gd name="T8" fmla="*/ 53 w 161"/>
                  <a:gd name="T9" fmla="*/ 11 h 265"/>
                  <a:gd name="T10" fmla="*/ 113 w 161"/>
                  <a:gd name="T11" fmla="*/ 12 h 265"/>
                </a:gdLst>
                <a:ahLst/>
                <a:cxnLst>
                  <a:cxn ang="0">
                    <a:pos x="T0" y="T1"/>
                  </a:cxn>
                  <a:cxn ang="0">
                    <a:pos x="T2" y="T3"/>
                  </a:cxn>
                  <a:cxn ang="0">
                    <a:pos x="T4" y="T5"/>
                  </a:cxn>
                  <a:cxn ang="0">
                    <a:pos x="T6" y="T7"/>
                  </a:cxn>
                  <a:cxn ang="0">
                    <a:pos x="T8" y="T9"/>
                  </a:cxn>
                  <a:cxn ang="0">
                    <a:pos x="T10" y="T11"/>
                  </a:cxn>
                </a:cxnLst>
                <a:rect l="0" t="0" r="r" b="b"/>
                <a:pathLst>
                  <a:path w="161" h="265">
                    <a:moveTo>
                      <a:pt x="113" y="12"/>
                    </a:moveTo>
                    <a:cubicBezTo>
                      <a:pt x="161" y="32"/>
                      <a:pt x="160" y="60"/>
                      <a:pt x="160" y="60"/>
                    </a:cubicBezTo>
                    <a:cubicBezTo>
                      <a:pt x="160" y="60"/>
                      <a:pt x="151" y="164"/>
                      <a:pt x="154" y="234"/>
                    </a:cubicBezTo>
                    <a:cubicBezTo>
                      <a:pt x="155" y="263"/>
                      <a:pt x="0" y="265"/>
                      <a:pt x="23" y="188"/>
                    </a:cubicBezTo>
                    <a:cubicBezTo>
                      <a:pt x="50" y="96"/>
                      <a:pt x="40" y="22"/>
                      <a:pt x="53" y="11"/>
                    </a:cubicBezTo>
                    <a:cubicBezTo>
                      <a:pt x="65" y="0"/>
                      <a:pt x="101" y="7"/>
                      <a:pt x="113" y="1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ļide"/>
              <p:cNvSpPr/>
              <p:nvPr/>
            </p:nvSpPr>
            <p:spPr bwMode="auto">
              <a:xfrm>
                <a:off x="4468990" y="1978725"/>
                <a:ext cx="192331" cy="150746"/>
              </a:xfrm>
              <a:custGeom>
                <a:avLst/>
                <a:gdLst>
                  <a:gd name="T0" fmla="*/ 50 w 53"/>
                  <a:gd name="T1" fmla="*/ 27 h 42"/>
                  <a:gd name="T2" fmla="*/ 22 w 53"/>
                  <a:gd name="T3" fmla="*/ 39 h 42"/>
                  <a:gd name="T4" fmla="*/ 2 w 53"/>
                  <a:gd name="T5" fmla="*/ 15 h 42"/>
                  <a:gd name="T6" fmla="*/ 31 w 53"/>
                  <a:gd name="T7" fmla="*/ 3 h 42"/>
                  <a:gd name="T8" fmla="*/ 50 w 53"/>
                  <a:gd name="T9" fmla="*/ 27 h 42"/>
                </a:gdLst>
                <a:ahLst/>
                <a:cxnLst>
                  <a:cxn ang="0">
                    <a:pos x="T0" y="T1"/>
                  </a:cxn>
                  <a:cxn ang="0">
                    <a:pos x="T2" y="T3"/>
                  </a:cxn>
                  <a:cxn ang="0">
                    <a:pos x="T4" y="T5"/>
                  </a:cxn>
                  <a:cxn ang="0">
                    <a:pos x="T6" y="T7"/>
                  </a:cxn>
                  <a:cxn ang="0">
                    <a:pos x="T8" y="T9"/>
                  </a:cxn>
                </a:cxnLst>
                <a:rect l="0" t="0" r="r" b="b"/>
                <a:pathLst>
                  <a:path w="53" h="42">
                    <a:moveTo>
                      <a:pt x="50" y="27"/>
                    </a:moveTo>
                    <a:cubicBezTo>
                      <a:pt x="48" y="37"/>
                      <a:pt x="35" y="42"/>
                      <a:pt x="22" y="39"/>
                    </a:cubicBezTo>
                    <a:cubicBezTo>
                      <a:pt x="9" y="35"/>
                      <a:pt x="0" y="25"/>
                      <a:pt x="2" y="15"/>
                    </a:cubicBezTo>
                    <a:cubicBezTo>
                      <a:pt x="5" y="5"/>
                      <a:pt x="18" y="0"/>
                      <a:pt x="31" y="3"/>
                    </a:cubicBezTo>
                    <a:cubicBezTo>
                      <a:pt x="44" y="7"/>
                      <a:pt x="53" y="18"/>
                      <a:pt x="50" y="2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îṣ1ïḋê"/>
              <p:cNvSpPr/>
              <p:nvPr/>
            </p:nvSpPr>
            <p:spPr bwMode="auto">
              <a:xfrm>
                <a:off x="4458593" y="1971795"/>
                <a:ext cx="209658" cy="157677"/>
              </a:xfrm>
              <a:custGeom>
                <a:avLst/>
                <a:gdLst>
                  <a:gd name="T0" fmla="*/ 33 w 58"/>
                  <a:gd name="T1" fmla="*/ 44 h 44"/>
                  <a:gd name="T2" fmla="*/ 24 w 58"/>
                  <a:gd name="T3" fmla="*/ 43 h 44"/>
                  <a:gd name="T4" fmla="*/ 3 w 58"/>
                  <a:gd name="T5" fmla="*/ 16 h 44"/>
                  <a:gd name="T6" fmla="*/ 35 w 58"/>
                  <a:gd name="T7" fmla="*/ 3 h 44"/>
                  <a:gd name="T8" fmla="*/ 56 w 58"/>
                  <a:gd name="T9" fmla="*/ 30 h 44"/>
                  <a:gd name="T10" fmla="*/ 44 w 58"/>
                  <a:gd name="T11" fmla="*/ 42 h 44"/>
                  <a:gd name="T12" fmla="*/ 33 w 58"/>
                  <a:gd name="T13" fmla="*/ 44 h 44"/>
                  <a:gd name="T14" fmla="*/ 26 w 58"/>
                  <a:gd name="T15" fmla="*/ 7 h 44"/>
                  <a:gd name="T16" fmla="*/ 8 w 58"/>
                  <a:gd name="T17" fmla="*/ 18 h 44"/>
                  <a:gd name="T18" fmla="*/ 25 w 58"/>
                  <a:gd name="T19" fmla="*/ 39 h 44"/>
                  <a:gd name="T20" fmla="*/ 42 w 58"/>
                  <a:gd name="T21" fmla="*/ 38 h 44"/>
                  <a:gd name="T22" fmla="*/ 51 w 58"/>
                  <a:gd name="T23" fmla="*/ 29 h 44"/>
                  <a:gd name="T24" fmla="*/ 33 w 58"/>
                  <a:gd name="T25" fmla="*/ 8 h 44"/>
                  <a:gd name="T26" fmla="*/ 26 w 58"/>
                  <a:gd name="T27"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8" h="44">
                    <a:moveTo>
                      <a:pt x="33" y="44"/>
                    </a:moveTo>
                    <a:cubicBezTo>
                      <a:pt x="30" y="44"/>
                      <a:pt x="27" y="44"/>
                      <a:pt x="24" y="43"/>
                    </a:cubicBezTo>
                    <a:cubicBezTo>
                      <a:pt x="10" y="39"/>
                      <a:pt x="0" y="27"/>
                      <a:pt x="3" y="16"/>
                    </a:cubicBezTo>
                    <a:cubicBezTo>
                      <a:pt x="6" y="5"/>
                      <a:pt x="20" y="0"/>
                      <a:pt x="35" y="3"/>
                    </a:cubicBezTo>
                    <a:cubicBezTo>
                      <a:pt x="49" y="7"/>
                      <a:pt x="58" y="19"/>
                      <a:pt x="56" y="30"/>
                    </a:cubicBezTo>
                    <a:cubicBezTo>
                      <a:pt x="54" y="35"/>
                      <a:pt x="50" y="40"/>
                      <a:pt x="44" y="42"/>
                    </a:cubicBezTo>
                    <a:cubicBezTo>
                      <a:pt x="41" y="43"/>
                      <a:pt x="37" y="44"/>
                      <a:pt x="33" y="44"/>
                    </a:cubicBezTo>
                    <a:close/>
                    <a:moveTo>
                      <a:pt x="26" y="7"/>
                    </a:moveTo>
                    <a:cubicBezTo>
                      <a:pt x="17" y="7"/>
                      <a:pt x="9" y="11"/>
                      <a:pt x="8" y="18"/>
                    </a:cubicBezTo>
                    <a:cubicBezTo>
                      <a:pt x="5" y="26"/>
                      <a:pt x="13" y="35"/>
                      <a:pt x="25" y="39"/>
                    </a:cubicBezTo>
                    <a:cubicBezTo>
                      <a:pt x="31" y="40"/>
                      <a:pt x="37" y="40"/>
                      <a:pt x="42" y="38"/>
                    </a:cubicBezTo>
                    <a:cubicBezTo>
                      <a:pt x="47" y="36"/>
                      <a:pt x="50" y="33"/>
                      <a:pt x="51" y="29"/>
                    </a:cubicBezTo>
                    <a:cubicBezTo>
                      <a:pt x="53" y="20"/>
                      <a:pt x="45" y="11"/>
                      <a:pt x="33" y="8"/>
                    </a:cubicBezTo>
                    <a:cubicBezTo>
                      <a:pt x="31" y="7"/>
                      <a:pt x="28" y="7"/>
                      <a:pt x="26"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ṣļíde"/>
              <p:cNvSpPr/>
              <p:nvPr/>
            </p:nvSpPr>
            <p:spPr bwMode="auto">
              <a:xfrm>
                <a:off x="4522703" y="1909417"/>
                <a:ext cx="95299" cy="162874"/>
              </a:xfrm>
              <a:custGeom>
                <a:avLst/>
                <a:gdLst>
                  <a:gd name="T0" fmla="*/ 1 w 26"/>
                  <a:gd name="T1" fmla="*/ 19 h 45"/>
                  <a:gd name="T2" fmla="*/ 0 w 26"/>
                  <a:gd name="T3" fmla="*/ 36 h 45"/>
                  <a:gd name="T4" fmla="*/ 21 w 26"/>
                  <a:gd name="T5" fmla="*/ 41 h 45"/>
                  <a:gd name="T6" fmla="*/ 25 w 26"/>
                  <a:gd name="T7" fmla="*/ 16 h 45"/>
                  <a:gd name="T8" fmla="*/ 1 w 26"/>
                  <a:gd name="T9" fmla="*/ 19 h 45"/>
                </a:gdLst>
                <a:ahLst/>
                <a:cxnLst>
                  <a:cxn ang="0">
                    <a:pos x="T0" y="T1"/>
                  </a:cxn>
                  <a:cxn ang="0">
                    <a:pos x="T2" y="T3"/>
                  </a:cxn>
                  <a:cxn ang="0">
                    <a:pos x="T4" y="T5"/>
                  </a:cxn>
                  <a:cxn ang="0">
                    <a:pos x="T6" y="T7"/>
                  </a:cxn>
                  <a:cxn ang="0">
                    <a:pos x="T8" y="T9"/>
                  </a:cxn>
                </a:cxnLst>
                <a:rect l="0" t="0" r="r" b="b"/>
                <a:pathLst>
                  <a:path w="26" h="45">
                    <a:moveTo>
                      <a:pt x="1" y="19"/>
                    </a:moveTo>
                    <a:cubicBezTo>
                      <a:pt x="1" y="19"/>
                      <a:pt x="1" y="21"/>
                      <a:pt x="0" y="36"/>
                    </a:cubicBezTo>
                    <a:cubicBezTo>
                      <a:pt x="0" y="41"/>
                      <a:pt x="17" y="45"/>
                      <a:pt x="21" y="41"/>
                    </a:cubicBezTo>
                    <a:cubicBezTo>
                      <a:pt x="25" y="37"/>
                      <a:pt x="24" y="32"/>
                      <a:pt x="25" y="16"/>
                    </a:cubicBezTo>
                    <a:cubicBezTo>
                      <a:pt x="26" y="0"/>
                      <a:pt x="1" y="19"/>
                      <a:pt x="1" y="19"/>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0" name="íṩ1íḋé"/>
              <p:cNvSpPr/>
              <p:nvPr/>
            </p:nvSpPr>
            <p:spPr bwMode="auto">
              <a:xfrm>
                <a:off x="4522703" y="1968329"/>
                <a:ext cx="90101" cy="74507"/>
              </a:xfrm>
              <a:custGeom>
                <a:avLst/>
                <a:gdLst>
                  <a:gd name="T0" fmla="*/ 25 w 25"/>
                  <a:gd name="T1" fmla="*/ 0 h 21"/>
                  <a:gd name="T2" fmla="*/ 0 w 25"/>
                  <a:gd name="T3" fmla="*/ 21 h 21"/>
                  <a:gd name="T4" fmla="*/ 1 w 25"/>
                  <a:gd name="T5" fmla="*/ 7 h 21"/>
                  <a:gd name="T6" fmla="*/ 25 w 25"/>
                  <a:gd name="T7" fmla="*/ 0 h 21"/>
                </a:gdLst>
                <a:ahLst/>
                <a:cxnLst>
                  <a:cxn ang="0">
                    <a:pos x="T0" y="T1"/>
                  </a:cxn>
                  <a:cxn ang="0">
                    <a:pos x="T2" y="T3"/>
                  </a:cxn>
                  <a:cxn ang="0">
                    <a:pos x="T4" y="T5"/>
                  </a:cxn>
                  <a:cxn ang="0">
                    <a:pos x="T6" y="T7"/>
                  </a:cxn>
                </a:cxnLst>
                <a:rect l="0" t="0" r="r" b="b"/>
                <a:pathLst>
                  <a:path w="25" h="21">
                    <a:moveTo>
                      <a:pt x="25" y="0"/>
                    </a:moveTo>
                    <a:cubicBezTo>
                      <a:pt x="25" y="0"/>
                      <a:pt x="21" y="15"/>
                      <a:pt x="0" y="21"/>
                    </a:cubicBezTo>
                    <a:cubicBezTo>
                      <a:pt x="1" y="7"/>
                      <a:pt x="1" y="7"/>
                      <a:pt x="1" y="7"/>
                    </a:cubicBezTo>
                    <a:lnTo>
                      <a:pt x="25" y="0"/>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iṥḻiḍe"/>
              <p:cNvSpPr/>
              <p:nvPr/>
            </p:nvSpPr>
            <p:spPr bwMode="auto">
              <a:xfrm>
                <a:off x="4382354" y="1715354"/>
                <a:ext cx="296293" cy="296293"/>
              </a:xfrm>
              <a:custGeom>
                <a:avLst/>
                <a:gdLst>
                  <a:gd name="T0" fmla="*/ 77 w 82"/>
                  <a:gd name="T1" fmla="*/ 32 h 82"/>
                  <a:gd name="T2" fmla="*/ 50 w 82"/>
                  <a:gd name="T3" fmla="*/ 77 h 82"/>
                  <a:gd name="T4" fmla="*/ 5 w 82"/>
                  <a:gd name="T5" fmla="*/ 50 h 82"/>
                  <a:gd name="T6" fmla="*/ 32 w 82"/>
                  <a:gd name="T7" fmla="*/ 5 h 82"/>
                  <a:gd name="T8" fmla="*/ 77 w 82"/>
                  <a:gd name="T9" fmla="*/ 32 h 82"/>
                </a:gdLst>
                <a:ahLst/>
                <a:cxnLst>
                  <a:cxn ang="0">
                    <a:pos x="T0" y="T1"/>
                  </a:cxn>
                  <a:cxn ang="0">
                    <a:pos x="T2" y="T3"/>
                  </a:cxn>
                  <a:cxn ang="0">
                    <a:pos x="T4" y="T5"/>
                  </a:cxn>
                  <a:cxn ang="0">
                    <a:pos x="T6" y="T7"/>
                  </a:cxn>
                  <a:cxn ang="0">
                    <a:pos x="T8" y="T9"/>
                  </a:cxn>
                </a:cxnLst>
                <a:rect l="0" t="0" r="r" b="b"/>
                <a:pathLst>
                  <a:path w="82" h="82">
                    <a:moveTo>
                      <a:pt x="77" y="32"/>
                    </a:moveTo>
                    <a:cubicBezTo>
                      <a:pt x="82" y="51"/>
                      <a:pt x="70" y="72"/>
                      <a:pt x="50" y="77"/>
                    </a:cubicBezTo>
                    <a:cubicBezTo>
                      <a:pt x="30" y="82"/>
                      <a:pt x="10" y="70"/>
                      <a:pt x="5" y="50"/>
                    </a:cubicBezTo>
                    <a:cubicBezTo>
                      <a:pt x="0" y="30"/>
                      <a:pt x="12" y="10"/>
                      <a:pt x="32" y="5"/>
                    </a:cubicBezTo>
                    <a:cubicBezTo>
                      <a:pt x="51" y="0"/>
                      <a:pt x="71" y="12"/>
                      <a:pt x="77" y="32"/>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ïŝ1íḓè"/>
              <p:cNvSpPr/>
              <p:nvPr/>
            </p:nvSpPr>
            <p:spPr bwMode="auto">
              <a:xfrm>
                <a:off x="4385820" y="1834911"/>
                <a:ext cx="173271" cy="64111"/>
              </a:xfrm>
              <a:custGeom>
                <a:avLst/>
                <a:gdLst>
                  <a:gd name="T0" fmla="*/ 48 w 48"/>
                  <a:gd name="T1" fmla="*/ 9 h 18"/>
                  <a:gd name="T2" fmla="*/ 14 w 48"/>
                  <a:gd name="T3" fmla="*/ 18 h 18"/>
                  <a:gd name="T4" fmla="*/ 3 w 48"/>
                  <a:gd name="T5" fmla="*/ 6 h 18"/>
                  <a:gd name="T6" fmla="*/ 45 w 48"/>
                  <a:gd name="T7" fmla="*/ 0 h 18"/>
                  <a:gd name="T8" fmla="*/ 48 w 48"/>
                  <a:gd name="T9" fmla="*/ 9 h 18"/>
                </a:gdLst>
                <a:ahLst/>
                <a:cxnLst>
                  <a:cxn ang="0">
                    <a:pos x="T0" y="T1"/>
                  </a:cxn>
                  <a:cxn ang="0">
                    <a:pos x="T2" y="T3"/>
                  </a:cxn>
                  <a:cxn ang="0">
                    <a:pos x="T4" y="T5"/>
                  </a:cxn>
                  <a:cxn ang="0">
                    <a:pos x="T6" y="T7"/>
                  </a:cxn>
                  <a:cxn ang="0">
                    <a:pos x="T8" y="T9"/>
                  </a:cxn>
                </a:cxnLst>
                <a:rect l="0" t="0" r="r" b="b"/>
                <a:pathLst>
                  <a:path w="48" h="18">
                    <a:moveTo>
                      <a:pt x="48" y="9"/>
                    </a:moveTo>
                    <a:cubicBezTo>
                      <a:pt x="48" y="9"/>
                      <a:pt x="28" y="18"/>
                      <a:pt x="14" y="18"/>
                    </a:cubicBezTo>
                    <a:cubicBezTo>
                      <a:pt x="0" y="18"/>
                      <a:pt x="3" y="6"/>
                      <a:pt x="3" y="6"/>
                    </a:cubicBezTo>
                    <a:cubicBezTo>
                      <a:pt x="45" y="0"/>
                      <a:pt x="45" y="0"/>
                      <a:pt x="45" y="0"/>
                    </a:cubicBezTo>
                    <a:lnTo>
                      <a:pt x="48" y="9"/>
                    </a:ln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íŝlíďe"/>
              <p:cNvSpPr/>
              <p:nvPr/>
            </p:nvSpPr>
            <p:spPr bwMode="auto">
              <a:xfrm>
                <a:off x="4314778" y="1618323"/>
                <a:ext cx="414117" cy="327482"/>
              </a:xfrm>
              <a:custGeom>
                <a:avLst/>
                <a:gdLst>
                  <a:gd name="T0" fmla="*/ 30 w 115"/>
                  <a:gd name="T1" fmla="*/ 72 h 91"/>
                  <a:gd name="T2" fmla="*/ 63 w 115"/>
                  <a:gd name="T3" fmla="*/ 67 h 91"/>
                  <a:gd name="T4" fmla="*/ 72 w 115"/>
                  <a:gd name="T5" fmla="*/ 73 h 91"/>
                  <a:gd name="T6" fmla="*/ 75 w 115"/>
                  <a:gd name="T7" fmla="*/ 75 h 91"/>
                  <a:gd name="T8" fmla="*/ 88 w 115"/>
                  <a:gd name="T9" fmla="*/ 64 h 91"/>
                  <a:gd name="T10" fmla="*/ 92 w 115"/>
                  <a:gd name="T11" fmla="*/ 74 h 91"/>
                  <a:gd name="T12" fmla="*/ 91 w 115"/>
                  <a:gd name="T13" fmla="*/ 90 h 91"/>
                  <a:gd name="T14" fmla="*/ 96 w 115"/>
                  <a:gd name="T15" fmla="*/ 38 h 91"/>
                  <a:gd name="T16" fmla="*/ 22 w 115"/>
                  <a:gd name="T17" fmla="*/ 28 h 91"/>
                  <a:gd name="T18" fmla="*/ 7 w 115"/>
                  <a:gd name="T19" fmla="*/ 29 h 91"/>
                  <a:gd name="T20" fmla="*/ 30 w 115"/>
                  <a:gd name="T21" fmla="*/ 7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91">
                    <a:moveTo>
                      <a:pt x="30" y="72"/>
                    </a:moveTo>
                    <a:cubicBezTo>
                      <a:pt x="30" y="72"/>
                      <a:pt x="47" y="64"/>
                      <a:pt x="63" y="67"/>
                    </a:cubicBezTo>
                    <a:cubicBezTo>
                      <a:pt x="67" y="68"/>
                      <a:pt x="70" y="70"/>
                      <a:pt x="72" y="73"/>
                    </a:cubicBezTo>
                    <a:cubicBezTo>
                      <a:pt x="73" y="74"/>
                      <a:pt x="74" y="75"/>
                      <a:pt x="75" y="75"/>
                    </a:cubicBezTo>
                    <a:cubicBezTo>
                      <a:pt x="78" y="75"/>
                      <a:pt x="82" y="64"/>
                      <a:pt x="88" y="64"/>
                    </a:cubicBezTo>
                    <a:cubicBezTo>
                      <a:pt x="93" y="63"/>
                      <a:pt x="97" y="67"/>
                      <a:pt x="92" y="74"/>
                    </a:cubicBezTo>
                    <a:cubicBezTo>
                      <a:pt x="88" y="81"/>
                      <a:pt x="89" y="89"/>
                      <a:pt x="91" y="90"/>
                    </a:cubicBezTo>
                    <a:cubicBezTo>
                      <a:pt x="93" y="91"/>
                      <a:pt x="115" y="75"/>
                      <a:pt x="96" y="38"/>
                    </a:cubicBezTo>
                    <a:cubicBezTo>
                      <a:pt x="77" y="0"/>
                      <a:pt x="29" y="20"/>
                      <a:pt x="22" y="28"/>
                    </a:cubicBezTo>
                    <a:cubicBezTo>
                      <a:pt x="22" y="28"/>
                      <a:pt x="14" y="35"/>
                      <a:pt x="7" y="29"/>
                    </a:cubicBezTo>
                    <a:cubicBezTo>
                      <a:pt x="7" y="29"/>
                      <a:pt x="0" y="82"/>
                      <a:pt x="30" y="72"/>
                    </a:cubicBezTo>
                    <a:close/>
                  </a:path>
                </a:pathLst>
              </a:custGeom>
              <a:solidFill>
                <a:srgbClr val="FF2C9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ṡľïḓe"/>
              <p:cNvSpPr/>
              <p:nvPr/>
            </p:nvSpPr>
            <p:spPr bwMode="auto">
              <a:xfrm>
                <a:off x="4448197" y="2373782"/>
                <a:ext cx="337878" cy="417583"/>
              </a:xfrm>
              <a:custGeom>
                <a:avLst/>
                <a:gdLst>
                  <a:gd name="T0" fmla="*/ 61 w 94"/>
                  <a:gd name="T1" fmla="*/ 16 h 116"/>
                  <a:gd name="T2" fmla="*/ 61 w 94"/>
                  <a:gd name="T3" fmla="*/ 44 h 116"/>
                  <a:gd name="T4" fmla="*/ 57 w 94"/>
                  <a:gd name="T5" fmla="*/ 53 h 116"/>
                  <a:gd name="T6" fmla="*/ 0 w 94"/>
                  <a:gd name="T7" fmla="*/ 105 h 116"/>
                  <a:gd name="T8" fmla="*/ 6 w 94"/>
                  <a:gd name="T9" fmla="*/ 116 h 116"/>
                  <a:gd name="T10" fmla="*/ 82 w 94"/>
                  <a:gd name="T11" fmla="*/ 60 h 116"/>
                  <a:gd name="T12" fmla="*/ 89 w 94"/>
                  <a:gd name="T13" fmla="*/ 49 h 116"/>
                  <a:gd name="T14" fmla="*/ 94 w 94"/>
                  <a:gd name="T15" fmla="*/ 0 h 116"/>
                  <a:gd name="T16" fmla="*/ 61 w 94"/>
                  <a:gd name="T1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116">
                    <a:moveTo>
                      <a:pt x="61" y="16"/>
                    </a:moveTo>
                    <a:cubicBezTo>
                      <a:pt x="61" y="44"/>
                      <a:pt x="61" y="44"/>
                      <a:pt x="61" y="44"/>
                    </a:cubicBezTo>
                    <a:cubicBezTo>
                      <a:pt x="61" y="48"/>
                      <a:pt x="60" y="51"/>
                      <a:pt x="57" y="53"/>
                    </a:cubicBezTo>
                    <a:cubicBezTo>
                      <a:pt x="0" y="105"/>
                      <a:pt x="0" y="105"/>
                      <a:pt x="0" y="105"/>
                    </a:cubicBezTo>
                    <a:cubicBezTo>
                      <a:pt x="6" y="116"/>
                      <a:pt x="6" y="116"/>
                      <a:pt x="6" y="116"/>
                    </a:cubicBezTo>
                    <a:cubicBezTo>
                      <a:pt x="82" y="60"/>
                      <a:pt x="82" y="60"/>
                      <a:pt x="82" y="60"/>
                    </a:cubicBezTo>
                    <a:cubicBezTo>
                      <a:pt x="86" y="58"/>
                      <a:pt x="88" y="54"/>
                      <a:pt x="89" y="49"/>
                    </a:cubicBezTo>
                    <a:cubicBezTo>
                      <a:pt x="94" y="0"/>
                      <a:pt x="94" y="0"/>
                      <a:pt x="94" y="0"/>
                    </a:cubicBezTo>
                    <a:lnTo>
                      <a:pt x="61" y="16"/>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iṡ1ïḍè"/>
              <p:cNvSpPr/>
              <p:nvPr/>
            </p:nvSpPr>
            <p:spPr bwMode="auto">
              <a:xfrm>
                <a:off x="4605873" y="2108679"/>
                <a:ext cx="230450" cy="381195"/>
              </a:xfrm>
              <a:custGeom>
                <a:avLst/>
                <a:gdLst>
                  <a:gd name="T0" fmla="*/ 40 w 64"/>
                  <a:gd name="T1" fmla="*/ 0 h 106"/>
                  <a:gd name="T2" fmla="*/ 64 w 64"/>
                  <a:gd name="T3" fmla="*/ 96 h 106"/>
                  <a:gd name="T4" fmla="*/ 17 w 64"/>
                  <a:gd name="T5" fmla="*/ 100 h 106"/>
                  <a:gd name="T6" fmla="*/ 40 w 64"/>
                  <a:gd name="T7" fmla="*/ 0 h 106"/>
                </a:gdLst>
                <a:ahLst/>
                <a:cxnLst>
                  <a:cxn ang="0">
                    <a:pos x="T0" y="T1"/>
                  </a:cxn>
                  <a:cxn ang="0">
                    <a:pos x="T2" y="T3"/>
                  </a:cxn>
                  <a:cxn ang="0">
                    <a:pos x="T4" y="T5"/>
                  </a:cxn>
                  <a:cxn ang="0">
                    <a:pos x="T6" y="T7"/>
                  </a:cxn>
                </a:cxnLst>
                <a:rect l="0" t="0" r="r" b="b"/>
                <a:pathLst>
                  <a:path w="64" h="106">
                    <a:moveTo>
                      <a:pt x="40" y="0"/>
                    </a:moveTo>
                    <a:cubicBezTo>
                      <a:pt x="40" y="0"/>
                      <a:pt x="57" y="27"/>
                      <a:pt x="64" y="96"/>
                    </a:cubicBezTo>
                    <a:cubicBezTo>
                      <a:pt x="64" y="96"/>
                      <a:pt x="34" y="106"/>
                      <a:pt x="17" y="100"/>
                    </a:cubicBezTo>
                    <a:cubicBezTo>
                      <a:pt x="0" y="95"/>
                      <a:pt x="40" y="0"/>
                      <a:pt x="4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sľïďè"/>
              <p:cNvSpPr/>
              <p:nvPr/>
            </p:nvSpPr>
            <p:spPr bwMode="auto">
              <a:xfrm>
                <a:off x="4628398" y="2229968"/>
                <a:ext cx="27723" cy="230450"/>
              </a:xfrm>
              <a:custGeom>
                <a:avLst/>
                <a:gdLst>
                  <a:gd name="T0" fmla="*/ 8 w 8"/>
                  <a:gd name="T1" fmla="*/ 0 h 64"/>
                  <a:gd name="T2" fmla="*/ 1 w 8"/>
                  <a:gd name="T3" fmla="*/ 54 h 64"/>
                  <a:gd name="T4" fmla="*/ 8 w 8"/>
                  <a:gd name="T5" fmla="*/ 64 h 64"/>
                  <a:gd name="T6" fmla="*/ 8 w 8"/>
                  <a:gd name="T7" fmla="*/ 64 h 64"/>
                  <a:gd name="T8" fmla="*/ 8 w 8"/>
                  <a:gd name="T9" fmla="*/ 0 h 64"/>
                </a:gdLst>
                <a:ahLst/>
                <a:cxnLst>
                  <a:cxn ang="0">
                    <a:pos x="T0" y="T1"/>
                  </a:cxn>
                  <a:cxn ang="0">
                    <a:pos x="T2" y="T3"/>
                  </a:cxn>
                  <a:cxn ang="0">
                    <a:pos x="T4" y="T5"/>
                  </a:cxn>
                  <a:cxn ang="0">
                    <a:pos x="T6" y="T7"/>
                  </a:cxn>
                  <a:cxn ang="0">
                    <a:pos x="T8" y="T9"/>
                  </a:cxn>
                </a:cxnLst>
                <a:rect l="0" t="0" r="r" b="b"/>
                <a:pathLst>
                  <a:path w="8" h="64">
                    <a:moveTo>
                      <a:pt x="8" y="0"/>
                    </a:moveTo>
                    <a:cubicBezTo>
                      <a:pt x="8" y="0"/>
                      <a:pt x="1" y="36"/>
                      <a:pt x="1" y="54"/>
                    </a:cubicBezTo>
                    <a:cubicBezTo>
                      <a:pt x="0" y="58"/>
                      <a:pt x="3" y="63"/>
                      <a:pt x="8" y="64"/>
                    </a:cubicBezTo>
                    <a:cubicBezTo>
                      <a:pt x="8" y="64"/>
                      <a:pt x="8" y="64"/>
                      <a:pt x="8" y="64"/>
                    </a:cubicBezTo>
                    <a:lnTo>
                      <a:pt x="8"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iŝ1ïďé"/>
              <p:cNvSpPr/>
              <p:nvPr/>
            </p:nvSpPr>
            <p:spPr bwMode="auto">
              <a:xfrm>
                <a:off x="3983832" y="2701264"/>
                <a:ext cx="618576" cy="363868"/>
              </a:xfrm>
              <a:custGeom>
                <a:avLst/>
                <a:gdLst>
                  <a:gd name="T0" fmla="*/ 172 w 172"/>
                  <a:gd name="T1" fmla="*/ 51 h 101"/>
                  <a:gd name="T2" fmla="*/ 159 w 172"/>
                  <a:gd name="T3" fmla="*/ 49 h 101"/>
                  <a:gd name="T4" fmla="*/ 77 w 172"/>
                  <a:gd name="T5" fmla="*/ 2 h 101"/>
                  <a:gd name="T6" fmla="*/ 66 w 172"/>
                  <a:gd name="T7" fmla="*/ 2 h 101"/>
                  <a:gd name="T8" fmla="*/ 8 w 172"/>
                  <a:gd name="T9" fmla="*/ 36 h 101"/>
                  <a:gd name="T10" fmla="*/ 0 w 172"/>
                  <a:gd name="T11" fmla="*/ 35 h 101"/>
                  <a:gd name="T12" fmla="*/ 0 w 172"/>
                  <a:gd name="T13" fmla="*/ 43 h 101"/>
                  <a:gd name="T14" fmla="*/ 0 w 172"/>
                  <a:gd name="T15" fmla="*/ 43 h 101"/>
                  <a:gd name="T16" fmla="*/ 2 w 172"/>
                  <a:gd name="T17" fmla="*/ 45 h 101"/>
                  <a:gd name="T18" fmla="*/ 96 w 172"/>
                  <a:gd name="T19" fmla="*/ 99 h 101"/>
                  <a:gd name="T20" fmla="*/ 106 w 172"/>
                  <a:gd name="T21" fmla="*/ 99 h 101"/>
                  <a:gd name="T22" fmla="*/ 169 w 172"/>
                  <a:gd name="T23" fmla="*/ 62 h 101"/>
                  <a:gd name="T24" fmla="*/ 172 w 172"/>
                  <a:gd name="T25" fmla="*/ 59 h 101"/>
                  <a:gd name="T26" fmla="*/ 172 w 172"/>
                  <a:gd name="T27" fmla="*/ 59 h 101"/>
                  <a:gd name="T28" fmla="*/ 172 w 172"/>
                  <a:gd name="T29" fmla="*/ 5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2" h="101">
                    <a:moveTo>
                      <a:pt x="172" y="51"/>
                    </a:moveTo>
                    <a:cubicBezTo>
                      <a:pt x="159" y="49"/>
                      <a:pt x="159" y="49"/>
                      <a:pt x="159" y="49"/>
                    </a:cubicBezTo>
                    <a:cubicBezTo>
                      <a:pt x="77" y="2"/>
                      <a:pt x="77" y="2"/>
                      <a:pt x="77" y="2"/>
                    </a:cubicBezTo>
                    <a:cubicBezTo>
                      <a:pt x="74" y="0"/>
                      <a:pt x="70" y="0"/>
                      <a:pt x="66" y="2"/>
                    </a:cubicBezTo>
                    <a:cubicBezTo>
                      <a:pt x="8" y="36"/>
                      <a:pt x="8" y="36"/>
                      <a:pt x="8" y="36"/>
                    </a:cubicBezTo>
                    <a:cubicBezTo>
                      <a:pt x="0" y="35"/>
                      <a:pt x="0" y="35"/>
                      <a:pt x="0" y="35"/>
                    </a:cubicBezTo>
                    <a:cubicBezTo>
                      <a:pt x="0" y="43"/>
                      <a:pt x="0" y="43"/>
                      <a:pt x="0" y="43"/>
                    </a:cubicBezTo>
                    <a:cubicBezTo>
                      <a:pt x="0" y="43"/>
                      <a:pt x="0" y="43"/>
                      <a:pt x="0" y="43"/>
                    </a:cubicBezTo>
                    <a:cubicBezTo>
                      <a:pt x="0" y="44"/>
                      <a:pt x="1" y="45"/>
                      <a:pt x="2" y="45"/>
                    </a:cubicBezTo>
                    <a:cubicBezTo>
                      <a:pt x="96" y="99"/>
                      <a:pt x="96" y="99"/>
                      <a:pt x="96" y="99"/>
                    </a:cubicBezTo>
                    <a:cubicBezTo>
                      <a:pt x="98" y="101"/>
                      <a:pt x="103" y="100"/>
                      <a:pt x="106" y="99"/>
                    </a:cubicBezTo>
                    <a:cubicBezTo>
                      <a:pt x="169" y="62"/>
                      <a:pt x="169" y="62"/>
                      <a:pt x="169" y="62"/>
                    </a:cubicBezTo>
                    <a:cubicBezTo>
                      <a:pt x="171" y="61"/>
                      <a:pt x="172" y="60"/>
                      <a:pt x="172" y="59"/>
                    </a:cubicBezTo>
                    <a:cubicBezTo>
                      <a:pt x="172" y="59"/>
                      <a:pt x="172" y="59"/>
                      <a:pt x="172" y="59"/>
                    </a:cubicBezTo>
                    <a:lnTo>
                      <a:pt x="172" y="51"/>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ïṧḻidè"/>
              <p:cNvSpPr/>
              <p:nvPr/>
            </p:nvSpPr>
            <p:spPr bwMode="auto">
              <a:xfrm>
                <a:off x="3983832" y="2767107"/>
                <a:ext cx="395057" cy="294560"/>
              </a:xfrm>
              <a:custGeom>
                <a:avLst/>
                <a:gdLst>
                  <a:gd name="T0" fmla="*/ 110 w 110"/>
                  <a:gd name="T1" fmla="*/ 3 h 82"/>
                  <a:gd name="T2" fmla="*/ 104 w 110"/>
                  <a:gd name="T3" fmla="*/ 0 h 82"/>
                  <a:gd name="T4" fmla="*/ 40 w 110"/>
                  <a:gd name="T5" fmla="*/ 0 h 82"/>
                  <a:gd name="T6" fmla="*/ 8 w 110"/>
                  <a:gd name="T7" fmla="*/ 18 h 82"/>
                  <a:gd name="T8" fmla="*/ 0 w 110"/>
                  <a:gd name="T9" fmla="*/ 17 h 82"/>
                  <a:gd name="T10" fmla="*/ 0 w 110"/>
                  <a:gd name="T11" fmla="*/ 25 h 82"/>
                  <a:gd name="T12" fmla="*/ 0 w 110"/>
                  <a:gd name="T13" fmla="*/ 25 h 82"/>
                  <a:gd name="T14" fmla="*/ 2 w 110"/>
                  <a:gd name="T15" fmla="*/ 27 h 82"/>
                  <a:gd name="T16" fmla="*/ 96 w 110"/>
                  <a:gd name="T17" fmla="*/ 81 h 82"/>
                  <a:gd name="T18" fmla="*/ 101 w 110"/>
                  <a:gd name="T19" fmla="*/ 82 h 82"/>
                  <a:gd name="T20" fmla="*/ 110 w 110"/>
                  <a:gd name="T2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82">
                    <a:moveTo>
                      <a:pt x="110" y="3"/>
                    </a:moveTo>
                    <a:cubicBezTo>
                      <a:pt x="104" y="0"/>
                      <a:pt x="104" y="0"/>
                      <a:pt x="104" y="0"/>
                    </a:cubicBezTo>
                    <a:cubicBezTo>
                      <a:pt x="40" y="0"/>
                      <a:pt x="40" y="0"/>
                      <a:pt x="40" y="0"/>
                    </a:cubicBezTo>
                    <a:cubicBezTo>
                      <a:pt x="8" y="18"/>
                      <a:pt x="8" y="18"/>
                      <a:pt x="8" y="18"/>
                    </a:cubicBezTo>
                    <a:cubicBezTo>
                      <a:pt x="0" y="17"/>
                      <a:pt x="0" y="17"/>
                      <a:pt x="0" y="17"/>
                    </a:cubicBezTo>
                    <a:cubicBezTo>
                      <a:pt x="0" y="25"/>
                      <a:pt x="0" y="25"/>
                      <a:pt x="0" y="25"/>
                    </a:cubicBezTo>
                    <a:cubicBezTo>
                      <a:pt x="0" y="25"/>
                      <a:pt x="0" y="25"/>
                      <a:pt x="0" y="25"/>
                    </a:cubicBezTo>
                    <a:cubicBezTo>
                      <a:pt x="0" y="26"/>
                      <a:pt x="1" y="27"/>
                      <a:pt x="2" y="27"/>
                    </a:cubicBezTo>
                    <a:cubicBezTo>
                      <a:pt x="96" y="81"/>
                      <a:pt x="96" y="81"/>
                      <a:pt x="96" y="81"/>
                    </a:cubicBezTo>
                    <a:cubicBezTo>
                      <a:pt x="97" y="82"/>
                      <a:pt x="99" y="82"/>
                      <a:pt x="101" y="82"/>
                    </a:cubicBezTo>
                    <a:lnTo>
                      <a:pt x="110" y="3"/>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ïsļiḋê"/>
              <p:cNvSpPr/>
              <p:nvPr/>
            </p:nvSpPr>
            <p:spPr bwMode="auto">
              <a:xfrm>
                <a:off x="3983832" y="2827751"/>
                <a:ext cx="13862" cy="39853"/>
              </a:xfrm>
              <a:custGeom>
                <a:avLst/>
                <a:gdLst>
                  <a:gd name="T0" fmla="*/ 4 w 4"/>
                  <a:gd name="T1" fmla="*/ 0 h 11"/>
                  <a:gd name="T2" fmla="*/ 0 w 4"/>
                  <a:gd name="T3" fmla="*/ 0 h 11"/>
                  <a:gd name="T4" fmla="*/ 0 w 4"/>
                  <a:gd name="T5" fmla="*/ 8 h 11"/>
                  <a:gd name="T6" fmla="*/ 0 w 4"/>
                  <a:gd name="T7" fmla="*/ 8 h 11"/>
                  <a:gd name="T8" fmla="*/ 2 w 4"/>
                  <a:gd name="T9" fmla="*/ 10 h 11"/>
                  <a:gd name="T10" fmla="*/ 4 w 4"/>
                  <a:gd name="T11" fmla="*/ 11 h 11"/>
                  <a:gd name="T12" fmla="*/ 4 w 4"/>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4" h="11">
                    <a:moveTo>
                      <a:pt x="4" y="0"/>
                    </a:moveTo>
                    <a:cubicBezTo>
                      <a:pt x="0" y="0"/>
                      <a:pt x="0" y="0"/>
                      <a:pt x="0" y="0"/>
                    </a:cubicBezTo>
                    <a:cubicBezTo>
                      <a:pt x="0" y="8"/>
                      <a:pt x="0" y="8"/>
                      <a:pt x="0" y="8"/>
                    </a:cubicBezTo>
                    <a:cubicBezTo>
                      <a:pt x="0" y="8"/>
                      <a:pt x="0" y="8"/>
                      <a:pt x="0" y="8"/>
                    </a:cubicBezTo>
                    <a:cubicBezTo>
                      <a:pt x="0" y="9"/>
                      <a:pt x="1" y="10"/>
                      <a:pt x="2" y="10"/>
                    </a:cubicBezTo>
                    <a:cubicBezTo>
                      <a:pt x="4" y="11"/>
                      <a:pt x="4" y="11"/>
                      <a:pt x="4" y="11"/>
                    </a:cubicBezTo>
                    <a:lnTo>
                      <a:pt x="4" y="0"/>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ṡḷîde"/>
              <p:cNvSpPr/>
              <p:nvPr/>
            </p:nvSpPr>
            <p:spPr bwMode="auto">
              <a:xfrm>
                <a:off x="4328640" y="3011418"/>
                <a:ext cx="32922" cy="50249"/>
              </a:xfrm>
              <a:custGeom>
                <a:avLst/>
                <a:gdLst>
                  <a:gd name="T0" fmla="*/ 0 w 9"/>
                  <a:gd name="T1" fmla="*/ 14 h 14"/>
                  <a:gd name="T2" fmla="*/ 9 w 9"/>
                  <a:gd name="T3" fmla="*/ 13 h 14"/>
                  <a:gd name="T4" fmla="*/ 9 w 9"/>
                  <a:gd name="T5" fmla="*/ 0 h 14"/>
                  <a:gd name="T6" fmla="*/ 0 w 9"/>
                  <a:gd name="T7" fmla="*/ 0 h 14"/>
                  <a:gd name="T8" fmla="*/ 0 w 9"/>
                  <a:gd name="T9" fmla="*/ 14 h 14"/>
                </a:gdLst>
                <a:ahLst/>
                <a:cxnLst>
                  <a:cxn ang="0">
                    <a:pos x="T0" y="T1"/>
                  </a:cxn>
                  <a:cxn ang="0">
                    <a:pos x="T2" y="T3"/>
                  </a:cxn>
                  <a:cxn ang="0">
                    <a:pos x="T4" y="T5"/>
                  </a:cxn>
                  <a:cxn ang="0">
                    <a:pos x="T6" y="T7"/>
                  </a:cxn>
                  <a:cxn ang="0">
                    <a:pos x="T8" y="T9"/>
                  </a:cxn>
                </a:cxnLst>
                <a:rect l="0" t="0" r="r" b="b"/>
                <a:pathLst>
                  <a:path w="9" h="14">
                    <a:moveTo>
                      <a:pt x="0" y="14"/>
                    </a:moveTo>
                    <a:cubicBezTo>
                      <a:pt x="3" y="14"/>
                      <a:pt x="7" y="14"/>
                      <a:pt x="9" y="13"/>
                    </a:cubicBezTo>
                    <a:cubicBezTo>
                      <a:pt x="9" y="0"/>
                      <a:pt x="9" y="0"/>
                      <a:pt x="9" y="0"/>
                    </a:cubicBezTo>
                    <a:cubicBezTo>
                      <a:pt x="0" y="0"/>
                      <a:pt x="0" y="0"/>
                      <a:pt x="0" y="0"/>
                    </a:cubicBezTo>
                    <a:lnTo>
                      <a:pt x="0" y="14"/>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Slîďé"/>
              <p:cNvSpPr/>
              <p:nvPr/>
            </p:nvSpPr>
            <p:spPr bwMode="auto">
              <a:xfrm>
                <a:off x="3983832" y="2677006"/>
                <a:ext cx="622042" cy="360403"/>
              </a:xfrm>
              <a:custGeom>
                <a:avLst/>
                <a:gdLst>
                  <a:gd name="T0" fmla="*/ 96 w 173"/>
                  <a:gd name="T1" fmla="*/ 98 h 100"/>
                  <a:gd name="T2" fmla="*/ 2 w 173"/>
                  <a:gd name="T3" fmla="*/ 45 h 100"/>
                  <a:gd name="T4" fmla="*/ 3 w 173"/>
                  <a:gd name="T5" fmla="*/ 39 h 100"/>
                  <a:gd name="T6" fmla="*/ 66 w 173"/>
                  <a:gd name="T7" fmla="*/ 2 h 100"/>
                  <a:gd name="T8" fmla="*/ 77 w 173"/>
                  <a:gd name="T9" fmla="*/ 2 h 100"/>
                  <a:gd name="T10" fmla="*/ 170 w 173"/>
                  <a:gd name="T11" fmla="*/ 55 h 100"/>
                  <a:gd name="T12" fmla="*/ 169 w 173"/>
                  <a:gd name="T13" fmla="*/ 61 h 100"/>
                  <a:gd name="T14" fmla="*/ 106 w 173"/>
                  <a:gd name="T15" fmla="*/ 98 h 100"/>
                  <a:gd name="T16" fmla="*/ 96 w 173"/>
                  <a:gd name="T17" fmla="*/ 9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 h="100">
                    <a:moveTo>
                      <a:pt x="96" y="98"/>
                    </a:moveTo>
                    <a:cubicBezTo>
                      <a:pt x="2" y="45"/>
                      <a:pt x="2" y="45"/>
                      <a:pt x="2" y="45"/>
                    </a:cubicBezTo>
                    <a:cubicBezTo>
                      <a:pt x="0" y="43"/>
                      <a:pt x="0" y="40"/>
                      <a:pt x="3" y="39"/>
                    </a:cubicBezTo>
                    <a:cubicBezTo>
                      <a:pt x="66" y="2"/>
                      <a:pt x="66" y="2"/>
                      <a:pt x="66" y="2"/>
                    </a:cubicBezTo>
                    <a:cubicBezTo>
                      <a:pt x="70" y="0"/>
                      <a:pt x="74" y="0"/>
                      <a:pt x="77" y="2"/>
                    </a:cubicBezTo>
                    <a:cubicBezTo>
                      <a:pt x="170" y="55"/>
                      <a:pt x="170" y="55"/>
                      <a:pt x="170" y="55"/>
                    </a:cubicBezTo>
                    <a:cubicBezTo>
                      <a:pt x="173" y="57"/>
                      <a:pt x="172" y="60"/>
                      <a:pt x="169" y="61"/>
                    </a:cubicBezTo>
                    <a:cubicBezTo>
                      <a:pt x="106" y="98"/>
                      <a:pt x="106" y="98"/>
                      <a:pt x="106" y="98"/>
                    </a:cubicBezTo>
                    <a:cubicBezTo>
                      <a:pt x="103" y="100"/>
                      <a:pt x="98" y="100"/>
                      <a:pt x="96" y="9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iṥḷîde"/>
              <p:cNvSpPr/>
              <p:nvPr/>
            </p:nvSpPr>
            <p:spPr bwMode="auto">
              <a:xfrm>
                <a:off x="4034080" y="2748047"/>
                <a:ext cx="450503" cy="259906"/>
              </a:xfrm>
              <a:custGeom>
                <a:avLst/>
                <a:gdLst>
                  <a:gd name="T0" fmla="*/ 80 w 125"/>
                  <a:gd name="T1" fmla="*/ 70 h 72"/>
                  <a:gd name="T2" fmla="*/ 2 w 125"/>
                  <a:gd name="T3" fmla="*/ 25 h 72"/>
                  <a:gd name="T4" fmla="*/ 3 w 125"/>
                  <a:gd name="T5" fmla="*/ 21 h 72"/>
                  <a:gd name="T6" fmla="*/ 37 w 125"/>
                  <a:gd name="T7" fmla="*/ 1 h 72"/>
                  <a:gd name="T8" fmla="*/ 46 w 125"/>
                  <a:gd name="T9" fmla="*/ 1 h 72"/>
                  <a:gd name="T10" fmla="*/ 123 w 125"/>
                  <a:gd name="T11" fmla="*/ 46 h 72"/>
                  <a:gd name="T12" fmla="*/ 123 w 125"/>
                  <a:gd name="T13" fmla="*/ 51 h 72"/>
                  <a:gd name="T14" fmla="*/ 88 w 125"/>
                  <a:gd name="T15" fmla="*/ 70 h 72"/>
                  <a:gd name="T16" fmla="*/ 80 w 125"/>
                  <a:gd name="T17"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72">
                    <a:moveTo>
                      <a:pt x="80" y="70"/>
                    </a:moveTo>
                    <a:cubicBezTo>
                      <a:pt x="2" y="25"/>
                      <a:pt x="2" y="25"/>
                      <a:pt x="2" y="25"/>
                    </a:cubicBezTo>
                    <a:cubicBezTo>
                      <a:pt x="0" y="24"/>
                      <a:pt x="0" y="22"/>
                      <a:pt x="3" y="21"/>
                    </a:cubicBezTo>
                    <a:cubicBezTo>
                      <a:pt x="37" y="1"/>
                      <a:pt x="37" y="1"/>
                      <a:pt x="37" y="1"/>
                    </a:cubicBezTo>
                    <a:cubicBezTo>
                      <a:pt x="40" y="0"/>
                      <a:pt x="43" y="0"/>
                      <a:pt x="46" y="1"/>
                    </a:cubicBezTo>
                    <a:cubicBezTo>
                      <a:pt x="123" y="46"/>
                      <a:pt x="123" y="46"/>
                      <a:pt x="123" y="46"/>
                    </a:cubicBezTo>
                    <a:cubicBezTo>
                      <a:pt x="125" y="47"/>
                      <a:pt x="125" y="49"/>
                      <a:pt x="123" y="51"/>
                    </a:cubicBezTo>
                    <a:cubicBezTo>
                      <a:pt x="88" y="70"/>
                      <a:pt x="88" y="70"/>
                      <a:pt x="88" y="70"/>
                    </a:cubicBezTo>
                    <a:cubicBezTo>
                      <a:pt x="86" y="71"/>
                      <a:pt x="82" y="72"/>
                      <a:pt x="80" y="7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ïSļïďe"/>
              <p:cNvSpPr/>
              <p:nvPr/>
            </p:nvSpPr>
            <p:spPr bwMode="auto">
              <a:xfrm>
                <a:off x="4228143" y="2651015"/>
                <a:ext cx="83170" cy="155943"/>
              </a:xfrm>
              <a:custGeom>
                <a:avLst/>
                <a:gdLst>
                  <a:gd name="T0" fmla="*/ 2 w 23"/>
                  <a:gd name="T1" fmla="*/ 7 h 43"/>
                  <a:gd name="T2" fmla="*/ 1 w 23"/>
                  <a:gd name="T3" fmla="*/ 14 h 43"/>
                  <a:gd name="T4" fmla="*/ 2 w 23"/>
                  <a:gd name="T5" fmla="*/ 30 h 43"/>
                  <a:gd name="T6" fmla="*/ 3 w 23"/>
                  <a:gd name="T7" fmla="*/ 36 h 43"/>
                  <a:gd name="T8" fmla="*/ 9 w 23"/>
                  <a:gd name="T9" fmla="*/ 42 h 43"/>
                  <a:gd name="T10" fmla="*/ 9 w 23"/>
                  <a:gd name="T11" fmla="*/ 42 h 43"/>
                  <a:gd name="T12" fmla="*/ 14 w 23"/>
                  <a:gd name="T13" fmla="*/ 38 h 43"/>
                  <a:gd name="T14" fmla="*/ 16 w 23"/>
                  <a:gd name="T15" fmla="*/ 24 h 43"/>
                  <a:gd name="T16" fmla="*/ 21 w 23"/>
                  <a:gd name="T17" fmla="*/ 29 h 43"/>
                  <a:gd name="T18" fmla="*/ 15 w 23"/>
                  <a:gd name="T19" fmla="*/ 8 h 43"/>
                  <a:gd name="T20" fmla="*/ 2 w 23"/>
                  <a:gd name="T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43">
                    <a:moveTo>
                      <a:pt x="2" y="7"/>
                    </a:moveTo>
                    <a:cubicBezTo>
                      <a:pt x="1" y="14"/>
                      <a:pt x="1" y="14"/>
                      <a:pt x="1" y="14"/>
                    </a:cubicBezTo>
                    <a:cubicBezTo>
                      <a:pt x="0" y="19"/>
                      <a:pt x="0" y="25"/>
                      <a:pt x="2" y="30"/>
                    </a:cubicBezTo>
                    <a:cubicBezTo>
                      <a:pt x="3" y="36"/>
                      <a:pt x="3" y="36"/>
                      <a:pt x="3" y="36"/>
                    </a:cubicBezTo>
                    <a:cubicBezTo>
                      <a:pt x="3" y="39"/>
                      <a:pt x="6" y="41"/>
                      <a:pt x="9" y="42"/>
                    </a:cubicBezTo>
                    <a:cubicBezTo>
                      <a:pt x="9" y="42"/>
                      <a:pt x="9" y="42"/>
                      <a:pt x="9" y="42"/>
                    </a:cubicBezTo>
                    <a:cubicBezTo>
                      <a:pt x="12" y="43"/>
                      <a:pt x="14" y="41"/>
                      <a:pt x="14" y="38"/>
                    </a:cubicBezTo>
                    <a:cubicBezTo>
                      <a:pt x="16" y="24"/>
                      <a:pt x="16" y="24"/>
                      <a:pt x="16" y="24"/>
                    </a:cubicBezTo>
                    <a:cubicBezTo>
                      <a:pt x="16" y="24"/>
                      <a:pt x="19" y="29"/>
                      <a:pt x="21" y="29"/>
                    </a:cubicBezTo>
                    <a:cubicBezTo>
                      <a:pt x="23" y="29"/>
                      <a:pt x="19" y="15"/>
                      <a:pt x="15" y="8"/>
                    </a:cubicBezTo>
                    <a:cubicBezTo>
                      <a:pt x="11" y="0"/>
                      <a:pt x="2" y="7"/>
                      <a:pt x="2" y="7"/>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iṧľîďè"/>
              <p:cNvSpPr/>
              <p:nvPr/>
            </p:nvSpPr>
            <p:spPr bwMode="auto">
              <a:xfrm>
                <a:off x="4214281" y="2236899"/>
                <a:ext cx="136884" cy="443573"/>
              </a:xfrm>
              <a:custGeom>
                <a:avLst/>
                <a:gdLst>
                  <a:gd name="T0" fmla="*/ 38 w 38"/>
                  <a:gd name="T1" fmla="*/ 20 h 123"/>
                  <a:gd name="T2" fmla="*/ 28 w 38"/>
                  <a:gd name="T3" fmla="*/ 40 h 123"/>
                  <a:gd name="T4" fmla="*/ 24 w 38"/>
                  <a:gd name="T5" fmla="*/ 55 h 123"/>
                  <a:gd name="T6" fmla="*/ 19 w 38"/>
                  <a:gd name="T7" fmla="*/ 123 h 123"/>
                  <a:gd name="T8" fmla="*/ 6 w 38"/>
                  <a:gd name="T9" fmla="*/ 122 h 123"/>
                  <a:gd name="T10" fmla="*/ 0 w 38"/>
                  <a:gd name="T11" fmla="*/ 46 h 123"/>
                  <a:gd name="T12" fmla="*/ 0 w 38"/>
                  <a:gd name="T13" fmla="*/ 39 h 123"/>
                  <a:gd name="T14" fmla="*/ 7 w 38"/>
                  <a:gd name="T15" fmla="*/ 0 h 123"/>
                  <a:gd name="T16" fmla="*/ 38 w 38"/>
                  <a:gd name="T17" fmla="*/ 2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123">
                    <a:moveTo>
                      <a:pt x="38" y="20"/>
                    </a:moveTo>
                    <a:cubicBezTo>
                      <a:pt x="28" y="40"/>
                      <a:pt x="28" y="40"/>
                      <a:pt x="28" y="40"/>
                    </a:cubicBezTo>
                    <a:cubicBezTo>
                      <a:pt x="25" y="44"/>
                      <a:pt x="24" y="50"/>
                      <a:pt x="24" y="55"/>
                    </a:cubicBezTo>
                    <a:cubicBezTo>
                      <a:pt x="19" y="123"/>
                      <a:pt x="19" y="123"/>
                      <a:pt x="19" y="123"/>
                    </a:cubicBezTo>
                    <a:cubicBezTo>
                      <a:pt x="6" y="122"/>
                      <a:pt x="6" y="122"/>
                      <a:pt x="6" y="122"/>
                    </a:cubicBezTo>
                    <a:cubicBezTo>
                      <a:pt x="0" y="46"/>
                      <a:pt x="0" y="46"/>
                      <a:pt x="0" y="46"/>
                    </a:cubicBezTo>
                    <a:cubicBezTo>
                      <a:pt x="0" y="44"/>
                      <a:pt x="0" y="41"/>
                      <a:pt x="0" y="39"/>
                    </a:cubicBezTo>
                    <a:cubicBezTo>
                      <a:pt x="7" y="0"/>
                      <a:pt x="7" y="0"/>
                      <a:pt x="7" y="0"/>
                    </a:cubicBezTo>
                    <a:lnTo>
                      <a:pt x="38" y="2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îṩḻîḍé"/>
              <p:cNvSpPr/>
              <p:nvPr/>
            </p:nvSpPr>
            <p:spPr bwMode="auto">
              <a:xfrm>
                <a:off x="3957841" y="2533191"/>
                <a:ext cx="381195" cy="518079"/>
              </a:xfrm>
              <a:custGeom>
                <a:avLst/>
                <a:gdLst>
                  <a:gd name="T0" fmla="*/ 99 w 106"/>
                  <a:gd name="T1" fmla="*/ 144 h 144"/>
                  <a:gd name="T2" fmla="*/ 92 w 106"/>
                  <a:gd name="T3" fmla="*/ 133 h 144"/>
                  <a:gd name="T4" fmla="*/ 9 w 106"/>
                  <a:gd name="T5" fmla="*/ 86 h 144"/>
                  <a:gd name="T6" fmla="*/ 4 w 106"/>
                  <a:gd name="T7" fmla="*/ 77 h 144"/>
                  <a:gd name="T8" fmla="*/ 5 w 106"/>
                  <a:gd name="T9" fmla="*/ 9 h 144"/>
                  <a:gd name="T10" fmla="*/ 0 w 106"/>
                  <a:gd name="T11" fmla="*/ 3 h 144"/>
                  <a:gd name="T12" fmla="*/ 4 w 106"/>
                  <a:gd name="T13" fmla="*/ 1 h 144"/>
                  <a:gd name="T14" fmla="*/ 4 w 106"/>
                  <a:gd name="T15" fmla="*/ 1 h 144"/>
                  <a:gd name="T16" fmla="*/ 8 w 106"/>
                  <a:gd name="T17" fmla="*/ 1 h 144"/>
                  <a:gd name="T18" fmla="*/ 101 w 106"/>
                  <a:gd name="T19" fmla="*/ 55 h 144"/>
                  <a:gd name="T20" fmla="*/ 106 w 106"/>
                  <a:gd name="T21" fmla="*/ 64 h 144"/>
                  <a:gd name="T22" fmla="*/ 105 w 106"/>
                  <a:gd name="T23" fmla="*/ 137 h 144"/>
                  <a:gd name="T24" fmla="*/ 104 w 106"/>
                  <a:gd name="T25" fmla="*/ 141 h 144"/>
                  <a:gd name="T26" fmla="*/ 104 w 106"/>
                  <a:gd name="T27" fmla="*/ 141 h 144"/>
                  <a:gd name="T28" fmla="*/ 99 w 106"/>
                  <a:gd name="T2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44">
                    <a:moveTo>
                      <a:pt x="99" y="144"/>
                    </a:moveTo>
                    <a:cubicBezTo>
                      <a:pt x="92" y="133"/>
                      <a:pt x="92" y="133"/>
                      <a:pt x="92" y="133"/>
                    </a:cubicBezTo>
                    <a:cubicBezTo>
                      <a:pt x="9" y="86"/>
                      <a:pt x="9" y="86"/>
                      <a:pt x="9" y="86"/>
                    </a:cubicBezTo>
                    <a:cubicBezTo>
                      <a:pt x="7" y="84"/>
                      <a:pt x="4" y="80"/>
                      <a:pt x="4" y="77"/>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3" y="56"/>
                      <a:pt x="106" y="60"/>
                      <a:pt x="106" y="64"/>
                    </a:cubicBezTo>
                    <a:cubicBezTo>
                      <a:pt x="105" y="137"/>
                      <a:pt x="105" y="137"/>
                      <a:pt x="105" y="137"/>
                    </a:cubicBezTo>
                    <a:cubicBezTo>
                      <a:pt x="105" y="139"/>
                      <a:pt x="105" y="141"/>
                      <a:pt x="104" y="141"/>
                    </a:cubicBezTo>
                    <a:cubicBezTo>
                      <a:pt x="104" y="141"/>
                      <a:pt x="104" y="141"/>
                      <a:pt x="104" y="141"/>
                    </a:cubicBezTo>
                    <a:lnTo>
                      <a:pt x="99" y="144"/>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ïṩḷiďê"/>
              <p:cNvSpPr/>
              <p:nvPr/>
            </p:nvSpPr>
            <p:spPr bwMode="auto">
              <a:xfrm>
                <a:off x="3957841" y="2533191"/>
                <a:ext cx="374264" cy="377730"/>
              </a:xfrm>
              <a:custGeom>
                <a:avLst/>
                <a:gdLst>
                  <a:gd name="T0" fmla="*/ 42 w 104"/>
                  <a:gd name="T1" fmla="*/ 105 h 105"/>
                  <a:gd name="T2" fmla="*/ 37 w 104"/>
                  <a:gd name="T3" fmla="*/ 102 h 105"/>
                  <a:gd name="T4" fmla="*/ 5 w 104"/>
                  <a:gd name="T5" fmla="*/ 46 h 105"/>
                  <a:gd name="T6" fmla="*/ 5 w 104"/>
                  <a:gd name="T7" fmla="*/ 9 h 105"/>
                  <a:gd name="T8" fmla="*/ 0 w 104"/>
                  <a:gd name="T9" fmla="*/ 3 h 105"/>
                  <a:gd name="T10" fmla="*/ 4 w 104"/>
                  <a:gd name="T11" fmla="*/ 1 h 105"/>
                  <a:gd name="T12" fmla="*/ 4 w 104"/>
                  <a:gd name="T13" fmla="*/ 1 h 105"/>
                  <a:gd name="T14" fmla="*/ 8 w 104"/>
                  <a:gd name="T15" fmla="*/ 1 h 105"/>
                  <a:gd name="T16" fmla="*/ 101 w 104"/>
                  <a:gd name="T17" fmla="*/ 55 h 105"/>
                  <a:gd name="T18" fmla="*/ 104 w 104"/>
                  <a:gd name="T19" fmla="*/ 59 h 105"/>
                  <a:gd name="T20" fmla="*/ 42 w 104"/>
                  <a:gd name="T21"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05">
                    <a:moveTo>
                      <a:pt x="42" y="105"/>
                    </a:moveTo>
                    <a:cubicBezTo>
                      <a:pt x="37" y="102"/>
                      <a:pt x="37" y="102"/>
                      <a:pt x="37" y="102"/>
                    </a:cubicBezTo>
                    <a:cubicBezTo>
                      <a:pt x="5" y="46"/>
                      <a:pt x="5" y="46"/>
                      <a:pt x="5" y="46"/>
                    </a:cubicBezTo>
                    <a:cubicBezTo>
                      <a:pt x="5" y="9"/>
                      <a:pt x="5" y="9"/>
                      <a:pt x="5" y="9"/>
                    </a:cubicBezTo>
                    <a:cubicBezTo>
                      <a:pt x="0" y="3"/>
                      <a:pt x="0" y="3"/>
                      <a:pt x="0" y="3"/>
                    </a:cubicBezTo>
                    <a:cubicBezTo>
                      <a:pt x="4" y="1"/>
                      <a:pt x="4" y="1"/>
                      <a:pt x="4" y="1"/>
                    </a:cubicBezTo>
                    <a:cubicBezTo>
                      <a:pt x="4" y="1"/>
                      <a:pt x="4" y="1"/>
                      <a:pt x="4" y="1"/>
                    </a:cubicBezTo>
                    <a:cubicBezTo>
                      <a:pt x="5" y="0"/>
                      <a:pt x="6" y="0"/>
                      <a:pt x="8" y="1"/>
                    </a:cubicBezTo>
                    <a:cubicBezTo>
                      <a:pt x="101" y="55"/>
                      <a:pt x="101" y="55"/>
                      <a:pt x="101" y="55"/>
                    </a:cubicBezTo>
                    <a:cubicBezTo>
                      <a:pt x="102" y="56"/>
                      <a:pt x="103" y="57"/>
                      <a:pt x="104" y="59"/>
                    </a:cubicBezTo>
                    <a:lnTo>
                      <a:pt x="42" y="105"/>
                    </a:lnTo>
                    <a:close/>
                  </a:path>
                </a:pathLst>
              </a:custGeom>
              <a:solidFill>
                <a:srgbClr val="396CA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sḻídè"/>
              <p:cNvSpPr/>
              <p:nvPr/>
            </p:nvSpPr>
            <p:spPr bwMode="auto">
              <a:xfrm>
                <a:off x="3957841" y="2533191"/>
                <a:ext cx="32922" cy="20792"/>
              </a:xfrm>
              <a:custGeom>
                <a:avLst/>
                <a:gdLst>
                  <a:gd name="T0" fmla="*/ 2 w 9"/>
                  <a:gd name="T1" fmla="*/ 6 h 6"/>
                  <a:gd name="T2" fmla="*/ 0 w 9"/>
                  <a:gd name="T3" fmla="*/ 3 h 6"/>
                  <a:gd name="T4" fmla="*/ 4 w 9"/>
                  <a:gd name="T5" fmla="*/ 1 h 6"/>
                  <a:gd name="T6" fmla="*/ 4 w 9"/>
                  <a:gd name="T7" fmla="*/ 1 h 6"/>
                  <a:gd name="T8" fmla="*/ 8 w 9"/>
                  <a:gd name="T9" fmla="*/ 1 h 6"/>
                  <a:gd name="T10" fmla="*/ 9 w 9"/>
                  <a:gd name="T11" fmla="*/ 2 h 6"/>
                  <a:gd name="T12" fmla="*/ 2 w 9"/>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2" y="6"/>
                    </a:moveTo>
                    <a:cubicBezTo>
                      <a:pt x="0" y="3"/>
                      <a:pt x="0" y="3"/>
                      <a:pt x="0" y="3"/>
                    </a:cubicBezTo>
                    <a:cubicBezTo>
                      <a:pt x="4" y="1"/>
                      <a:pt x="4" y="1"/>
                      <a:pt x="4" y="1"/>
                    </a:cubicBezTo>
                    <a:cubicBezTo>
                      <a:pt x="4" y="1"/>
                      <a:pt x="4" y="1"/>
                      <a:pt x="4" y="1"/>
                    </a:cubicBezTo>
                    <a:cubicBezTo>
                      <a:pt x="5" y="0"/>
                      <a:pt x="6" y="0"/>
                      <a:pt x="8" y="1"/>
                    </a:cubicBezTo>
                    <a:cubicBezTo>
                      <a:pt x="9" y="2"/>
                      <a:pt x="9" y="2"/>
                      <a:pt x="9" y="2"/>
                    </a:cubicBezTo>
                    <a:lnTo>
                      <a:pt x="2" y="6"/>
                    </a:lnTo>
                    <a:close/>
                  </a:path>
                </a:pathLst>
              </a:custGeom>
              <a:solidFill>
                <a:srgbClr val="5793C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śḻíde"/>
              <p:cNvSpPr/>
              <p:nvPr/>
            </p:nvSpPr>
            <p:spPr bwMode="auto">
              <a:xfrm>
                <a:off x="4288788" y="2730720"/>
                <a:ext cx="46784" cy="46784"/>
              </a:xfrm>
              <a:custGeom>
                <a:avLst/>
                <a:gdLst>
                  <a:gd name="T0" fmla="*/ 10 w 13"/>
                  <a:gd name="T1" fmla="*/ 0 h 13"/>
                  <a:gd name="T2" fmla="*/ 13 w 13"/>
                  <a:gd name="T3" fmla="*/ 8 h 13"/>
                  <a:gd name="T4" fmla="*/ 4 w 13"/>
                  <a:gd name="T5" fmla="*/ 13 h 13"/>
                  <a:gd name="T6" fmla="*/ 0 w 13"/>
                  <a:gd name="T7" fmla="*/ 6 h 13"/>
                  <a:gd name="T8" fmla="*/ 10 w 13"/>
                  <a:gd name="T9" fmla="*/ 0 h 13"/>
                </a:gdLst>
                <a:ahLst/>
                <a:cxnLst>
                  <a:cxn ang="0">
                    <a:pos x="T0" y="T1"/>
                  </a:cxn>
                  <a:cxn ang="0">
                    <a:pos x="T2" y="T3"/>
                  </a:cxn>
                  <a:cxn ang="0">
                    <a:pos x="T4" y="T5"/>
                  </a:cxn>
                  <a:cxn ang="0">
                    <a:pos x="T6" y="T7"/>
                  </a:cxn>
                  <a:cxn ang="0">
                    <a:pos x="T8" y="T9"/>
                  </a:cxn>
                </a:cxnLst>
                <a:rect l="0" t="0" r="r" b="b"/>
                <a:pathLst>
                  <a:path w="13" h="13">
                    <a:moveTo>
                      <a:pt x="10" y="0"/>
                    </a:moveTo>
                    <a:cubicBezTo>
                      <a:pt x="12" y="2"/>
                      <a:pt x="13" y="5"/>
                      <a:pt x="13" y="8"/>
                    </a:cubicBezTo>
                    <a:cubicBezTo>
                      <a:pt x="4" y="13"/>
                      <a:pt x="4" y="13"/>
                      <a:pt x="4" y="13"/>
                    </a:cubicBezTo>
                    <a:cubicBezTo>
                      <a:pt x="0" y="6"/>
                      <a:pt x="0" y="6"/>
                      <a:pt x="0" y="6"/>
                    </a:cubicBezTo>
                    <a:lnTo>
                      <a:pt x="10" y="0"/>
                    </a:lnTo>
                    <a:close/>
                  </a:path>
                </a:pathLst>
              </a:custGeom>
              <a:solidFill>
                <a:srgbClr val="274F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íṩľîḍe"/>
              <p:cNvSpPr/>
              <p:nvPr/>
            </p:nvSpPr>
            <p:spPr bwMode="auto">
              <a:xfrm>
                <a:off x="3950910" y="2540122"/>
                <a:ext cx="370799" cy="514614"/>
              </a:xfrm>
              <a:custGeom>
                <a:avLst/>
                <a:gdLst>
                  <a:gd name="T0" fmla="*/ 98 w 103"/>
                  <a:gd name="T1" fmla="*/ 55 h 143"/>
                  <a:gd name="T2" fmla="*/ 5 w 103"/>
                  <a:gd name="T3" fmla="*/ 1 h 143"/>
                  <a:gd name="T4" fmla="*/ 0 w 103"/>
                  <a:gd name="T5" fmla="*/ 5 h 143"/>
                  <a:gd name="T6" fmla="*/ 0 w 103"/>
                  <a:gd name="T7" fmla="*/ 78 h 143"/>
                  <a:gd name="T8" fmla="*/ 5 w 103"/>
                  <a:gd name="T9" fmla="*/ 87 h 143"/>
                  <a:gd name="T10" fmla="*/ 98 w 103"/>
                  <a:gd name="T11" fmla="*/ 141 h 143"/>
                  <a:gd name="T12" fmla="*/ 103 w 103"/>
                  <a:gd name="T13" fmla="*/ 138 h 143"/>
                  <a:gd name="T14" fmla="*/ 103 w 103"/>
                  <a:gd name="T15" fmla="*/ 64 h 143"/>
                  <a:gd name="T16" fmla="*/ 98 w 103"/>
                  <a:gd name="T17" fmla="*/ 5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43">
                    <a:moveTo>
                      <a:pt x="98" y="55"/>
                    </a:moveTo>
                    <a:cubicBezTo>
                      <a:pt x="5" y="1"/>
                      <a:pt x="5" y="1"/>
                      <a:pt x="5" y="1"/>
                    </a:cubicBezTo>
                    <a:cubicBezTo>
                      <a:pt x="2" y="0"/>
                      <a:pt x="0" y="1"/>
                      <a:pt x="0" y="5"/>
                    </a:cubicBezTo>
                    <a:cubicBezTo>
                      <a:pt x="0" y="78"/>
                      <a:pt x="0" y="78"/>
                      <a:pt x="0" y="78"/>
                    </a:cubicBezTo>
                    <a:cubicBezTo>
                      <a:pt x="0" y="82"/>
                      <a:pt x="2" y="86"/>
                      <a:pt x="5" y="87"/>
                    </a:cubicBezTo>
                    <a:cubicBezTo>
                      <a:pt x="98" y="141"/>
                      <a:pt x="98" y="141"/>
                      <a:pt x="98" y="141"/>
                    </a:cubicBezTo>
                    <a:cubicBezTo>
                      <a:pt x="101" y="143"/>
                      <a:pt x="103" y="141"/>
                      <a:pt x="103" y="138"/>
                    </a:cubicBezTo>
                    <a:cubicBezTo>
                      <a:pt x="103" y="64"/>
                      <a:pt x="103" y="64"/>
                      <a:pt x="103" y="64"/>
                    </a:cubicBezTo>
                    <a:cubicBezTo>
                      <a:pt x="103" y="61"/>
                      <a:pt x="101" y="57"/>
                      <a:pt x="98" y="5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îś1ïdè"/>
              <p:cNvSpPr/>
              <p:nvPr/>
            </p:nvSpPr>
            <p:spPr bwMode="auto">
              <a:xfrm>
                <a:off x="4358096" y="2751512"/>
                <a:ext cx="110893" cy="109161"/>
              </a:xfrm>
              <a:custGeom>
                <a:avLst/>
                <a:gdLst>
                  <a:gd name="T0" fmla="*/ 31 w 31"/>
                  <a:gd name="T1" fmla="*/ 11 h 30"/>
                  <a:gd name="T2" fmla="*/ 30 w 31"/>
                  <a:gd name="T3" fmla="*/ 14 h 30"/>
                  <a:gd name="T4" fmla="*/ 22 w 31"/>
                  <a:gd name="T5" fmla="*/ 22 h 30"/>
                  <a:gd name="T6" fmla="*/ 13 w 31"/>
                  <a:gd name="T7" fmla="*/ 28 h 30"/>
                  <a:gd name="T8" fmla="*/ 3 w 31"/>
                  <a:gd name="T9" fmla="*/ 28 h 30"/>
                  <a:gd name="T10" fmla="*/ 3 w 31"/>
                  <a:gd name="T11" fmla="*/ 28 h 30"/>
                  <a:gd name="T12" fmla="*/ 2 w 31"/>
                  <a:gd name="T13" fmla="*/ 19 h 30"/>
                  <a:gd name="T14" fmla="*/ 12 w 31"/>
                  <a:gd name="T15" fmla="*/ 9 h 30"/>
                  <a:gd name="T16" fmla="*/ 5 w 31"/>
                  <a:gd name="T17" fmla="*/ 12 h 30"/>
                  <a:gd name="T18" fmla="*/ 15 w 31"/>
                  <a:gd name="T19" fmla="*/ 5 h 30"/>
                  <a:gd name="T20" fmla="*/ 25 w 31"/>
                  <a:gd name="T21" fmla="*/ 0 h 30"/>
                  <a:gd name="T22" fmla="*/ 31 w 31"/>
                  <a:gd name="T23" fmla="*/ 1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0">
                    <a:moveTo>
                      <a:pt x="31" y="11"/>
                    </a:moveTo>
                    <a:cubicBezTo>
                      <a:pt x="30" y="14"/>
                      <a:pt x="30" y="14"/>
                      <a:pt x="30" y="14"/>
                    </a:cubicBezTo>
                    <a:cubicBezTo>
                      <a:pt x="28" y="17"/>
                      <a:pt x="25" y="20"/>
                      <a:pt x="22" y="22"/>
                    </a:cubicBezTo>
                    <a:cubicBezTo>
                      <a:pt x="13" y="28"/>
                      <a:pt x="13" y="28"/>
                      <a:pt x="13" y="28"/>
                    </a:cubicBezTo>
                    <a:cubicBezTo>
                      <a:pt x="10" y="30"/>
                      <a:pt x="6" y="30"/>
                      <a:pt x="3" y="28"/>
                    </a:cubicBezTo>
                    <a:cubicBezTo>
                      <a:pt x="3" y="28"/>
                      <a:pt x="3" y="28"/>
                      <a:pt x="3" y="28"/>
                    </a:cubicBezTo>
                    <a:cubicBezTo>
                      <a:pt x="0" y="26"/>
                      <a:pt x="0" y="22"/>
                      <a:pt x="2" y="19"/>
                    </a:cubicBezTo>
                    <a:cubicBezTo>
                      <a:pt x="12" y="9"/>
                      <a:pt x="12" y="9"/>
                      <a:pt x="12" y="9"/>
                    </a:cubicBezTo>
                    <a:cubicBezTo>
                      <a:pt x="12" y="9"/>
                      <a:pt x="6" y="14"/>
                      <a:pt x="5" y="12"/>
                    </a:cubicBezTo>
                    <a:cubicBezTo>
                      <a:pt x="4" y="11"/>
                      <a:pt x="10" y="5"/>
                      <a:pt x="15" y="5"/>
                    </a:cubicBezTo>
                    <a:cubicBezTo>
                      <a:pt x="20" y="4"/>
                      <a:pt x="25" y="0"/>
                      <a:pt x="25" y="0"/>
                    </a:cubicBezTo>
                    <a:lnTo>
                      <a:pt x="31" y="11"/>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ṥ1íďé"/>
              <p:cNvSpPr/>
              <p:nvPr/>
            </p:nvSpPr>
            <p:spPr bwMode="auto">
              <a:xfrm>
                <a:off x="4202153" y="1982191"/>
                <a:ext cx="256440" cy="407186"/>
              </a:xfrm>
              <a:custGeom>
                <a:avLst/>
                <a:gdLst>
                  <a:gd name="T0" fmla="*/ 50 w 71"/>
                  <a:gd name="T1" fmla="*/ 0 h 113"/>
                  <a:gd name="T2" fmla="*/ 0 w 71"/>
                  <a:gd name="T3" fmla="*/ 74 h 113"/>
                  <a:gd name="T4" fmla="*/ 42 w 71"/>
                  <a:gd name="T5" fmla="*/ 105 h 113"/>
                  <a:gd name="T6" fmla="*/ 50 w 71"/>
                  <a:gd name="T7" fmla="*/ 0 h 113"/>
                </a:gdLst>
                <a:ahLst/>
                <a:cxnLst>
                  <a:cxn ang="0">
                    <a:pos x="T0" y="T1"/>
                  </a:cxn>
                  <a:cxn ang="0">
                    <a:pos x="T2" y="T3"/>
                  </a:cxn>
                  <a:cxn ang="0">
                    <a:pos x="T4" y="T5"/>
                  </a:cxn>
                  <a:cxn ang="0">
                    <a:pos x="T6" y="T7"/>
                  </a:cxn>
                </a:cxnLst>
                <a:rect l="0" t="0" r="r" b="b"/>
                <a:pathLst>
                  <a:path w="71" h="113">
                    <a:moveTo>
                      <a:pt x="50" y="0"/>
                    </a:moveTo>
                    <a:cubicBezTo>
                      <a:pt x="50" y="0"/>
                      <a:pt x="14" y="39"/>
                      <a:pt x="0" y="74"/>
                    </a:cubicBezTo>
                    <a:cubicBezTo>
                      <a:pt x="0" y="74"/>
                      <a:pt x="12" y="96"/>
                      <a:pt x="42" y="105"/>
                    </a:cubicBezTo>
                    <a:cubicBezTo>
                      <a:pt x="71" y="113"/>
                      <a:pt x="50" y="0"/>
                      <a:pt x="50" y="0"/>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îṧ1îḍé"/>
              <p:cNvSpPr/>
              <p:nvPr/>
            </p:nvSpPr>
            <p:spPr bwMode="auto">
              <a:xfrm>
                <a:off x="4300917" y="2151996"/>
                <a:ext cx="50249" cy="197528"/>
              </a:xfrm>
              <a:custGeom>
                <a:avLst/>
                <a:gdLst>
                  <a:gd name="T0" fmla="*/ 8 w 14"/>
                  <a:gd name="T1" fmla="*/ 55 h 55"/>
                  <a:gd name="T2" fmla="*/ 14 w 14"/>
                  <a:gd name="T3" fmla="*/ 0 h 55"/>
                  <a:gd name="T4" fmla="*/ 0 w 14"/>
                  <a:gd name="T5" fmla="*/ 52 h 55"/>
                  <a:gd name="T6" fmla="*/ 8 w 14"/>
                  <a:gd name="T7" fmla="*/ 55 h 55"/>
                </a:gdLst>
                <a:ahLst/>
                <a:cxnLst>
                  <a:cxn ang="0">
                    <a:pos x="T0" y="T1"/>
                  </a:cxn>
                  <a:cxn ang="0">
                    <a:pos x="T2" y="T3"/>
                  </a:cxn>
                  <a:cxn ang="0">
                    <a:pos x="T4" y="T5"/>
                  </a:cxn>
                  <a:cxn ang="0">
                    <a:pos x="T6" y="T7"/>
                  </a:cxn>
                </a:cxnLst>
                <a:rect l="0" t="0" r="r" b="b"/>
                <a:pathLst>
                  <a:path w="14" h="55">
                    <a:moveTo>
                      <a:pt x="8" y="55"/>
                    </a:moveTo>
                    <a:cubicBezTo>
                      <a:pt x="14" y="0"/>
                      <a:pt x="14" y="0"/>
                      <a:pt x="14" y="0"/>
                    </a:cubicBezTo>
                    <a:cubicBezTo>
                      <a:pt x="0" y="52"/>
                      <a:pt x="0" y="52"/>
                      <a:pt x="0" y="52"/>
                    </a:cubicBezTo>
                    <a:cubicBezTo>
                      <a:pt x="3" y="53"/>
                      <a:pt x="5" y="54"/>
                      <a:pt x="8" y="55"/>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šḷïdé"/>
              <p:cNvSpPr/>
              <p:nvPr/>
            </p:nvSpPr>
            <p:spPr bwMode="auto">
              <a:xfrm>
                <a:off x="4444732" y="1945805"/>
                <a:ext cx="67576" cy="36387"/>
              </a:xfrm>
              <a:custGeom>
                <a:avLst/>
                <a:gdLst>
                  <a:gd name="T0" fmla="*/ 9 w 19"/>
                  <a:gd name="T1" fmla="*/ 2 h 10"/>
                  <a:gd name="T2" fmla="*/ 0 w 19"/>
                  <a:gd name="T3" fmla="*/ 0 h 10"/>
                  <a:gd name="T4" fmla="*/ 11 w 19"/>
                  <a:gd name="T5" fmla="*/ 9 h 10"/>
                  <a:gd name="T6" fmla="*/ 19 w 19"/>
                  <a:gd name="T7" fmla="*/ 5 h 10"/>
                  <a:gd name="T8" fmla="*/ 9 w 19"/>
                  <a:gd name="T9" fmla="*/ 2 h 10"/>
                </a:gdLst>
                <a:ahLst/>
                <a:cxnLst>
                  <a:cxn ang="0">
                    <a:pos x="T0" y="T1"/>
                  </a:cxn>
                  <a:cxn ang="0">
                    <a:pos x="T2" y="T3"/>
                  </a:cxn>
                  <a:cxn ang="0">
                    <a:pos x="T4" y="T5"/>
                  </a:cxn>
                  <a:cxn ang="0">
                    <a:pos x="T6" y="T7"/>
                  </a:cxn>
                  <a:cxn ang="0">
                    <a:pos x="T8" y="T9"/>
                  </a:cxn>
                </a:cxnLst>
                <a:rect l="0" t="0" r="r" b="b"/>
                <a:pathLst>
                  <a:path w="19" h="10">
                    <a:moveTo>
                      <a:pt x="9" y="2"/>
                    </a:moveTo>
                    <a:cubicBezTo>
                      <a:pt x="0" y="0"/>
                      <a:pt x="0" y="0"/>
                      <a:pt x="0" y="0"/>
                    </a:cubicBezTo>
                    <a:cubicBezTo>
                      <a:pt x="0" y="0"/>
                      <a:pt x="4" y="7"/>
                      <a:pt x="11" y="9"/>
                    </a:cubicBezTo>
                    <a:cubicBezTo>
                      <a:pt x="17" y="10"/>
                      <a:pt x="19" y="5"/>
                      <a:pt x="19" y="5"/>
                    </a:cubicBezTo>
                    <a:lnTo>
                      <a:pt x="9" y="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íṩlîḋe"/>
              <p:cNvSpPr/>
              <p:nvPr/>
            </p:nvSpPr>
            <p:spPr bwMode="auto">
              <a:xfrm>
                <a:off x="6955421" y="5116656"/>
                <a:ext cx="734667" cy="424513"/>
              </a:xfrm>
              <a:custGeom>
                <a:avLst/>
                <a:gdLst>
                  <a:gd name="T0" fmla="*/ 167 w 204"/>
                  <a:gd name="T1" fmla="*/ 97 h 118"/>
                  <a:gd name="T2" fmla="*/ 36 w 204"/>
                  <a:gd name="T3" fmla="*/ 97 h 118"/>
                  <a:gd name="T4" fmla="*/ 36 w 204"/>
                  <a:gd name="T5" fmla="*/ 21 h 118"/>
                  <a:gd name="T6" fmla="*/ 167 w 204"/>
                  <a:gd name="T7" fmla="*/ 21 h 118"/>
                  <a:gd name="T8" fmla="*/ 167 w 204"/>
                  <a:gd name="T9" fmla="*/ 97 h 118"/>
                </a:gdLst>
                <a:ahLst/>
                <a:cxnLst>
                  <a:cxn ang="0">
                    <a:pos x="T0" y="T1"/>
                  </a:cxn>
                  <a:cxn ang="0">
                    <a:pos x="T2" y="T3"/>
                  </a:cxn>
                  <a:cxn ang="0">
                    <a:pos x="T4" y="T5"/>
                  </a:cxn>
                  <a:cxn ang="0">
                    <a:pos x="T6" y="T7"/>
                  </a:cxn>
                  <a:cxn ang="0">
                    <a:pos x="T8" y="T9"/>
                  </a:cxn>
                </a:cxnLst>
                <a:rect l="0" t="0" r="r" b="b"/>
                <a:pathLst>
                  <a:path w="204" h="118">
                    <a:moveTo>
                      <a:pt x="167" y="97"/>
                    </a:moveTo>
                    <a:cubicBezTo>
                      <a:pt x="131" y="118"/>
                      <a:pt x="72" y="118"/>
                      <a:pt x="36" y="97"/>
                    </a:cubicBezTo>
                    <a:cubicBezTo>
                      <a:pt x="0" y="76"/>
                      <a:pt x="0" y="42"/>
                      <a:pt x="36" y="21"/>
                    </a:cubicBezTo>
                    <a:cubicBezTo>
                      <a:pt x="72" y="0"/>
                      <a:pt x="131" y="0"/>
                      <a:pt x="167" y="21"/>
                    </a:cubicBezTo>
                    <a:cubicBezTo>
                      <a:pt x="204" y="42"/>
                      <a:pt x="204" y="76"/>
                      <a:pt x="167" y="97"/>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is1îḍé"/>
              <p:cNvSpPr/>
              <p:nvPr/>
            </p:nvSpPr>
            <p:spPr bwMode="auto">
              <a:xfrm>
                <a:off x="5016525" y="3411674"/>
                <a:ext cx="3224564" cy="1859193"/>
              </a:xfrm>
              <a:custGeom>
                <a:avLst/>
                <a:gdLst>
                  <a:gd name="T0" fmla="*/ 330 w 895"/>
                  <a:gd name="T1" fmla="*/ 512 h 517"/>
                  <a:gd name="T2" fmla="*/ 10 w 895"/>
                  <a:gd name="T3" fmla="*/ 327 h 517"/>
                  <a:gd name="T4" fmla="*/ 12 w 895"/>
                  <a:gd name="T5" fmla="*/ 306 h 517"/>
                  <a:gd name="T6" fmla="*/ 528 w 895"/>
                  <a:gd name="T7" fmla="*/ 7 h 517"/>
                  <a:gd name="T8" fmla="*/ 565 w 895"/>
                  <a:gd name="T9" fmla="*/ 5 h 517"/>
                  <a:gd name="T10" fmla="*/ 885 w 895"/>
                  <a:gd name="T11" fmla="*/ 190 h 517"/>
                  <a:gd name="T12" fmla="*/ 882 w 895"/>
                  <a:gd name="T13" fmla="*/ 211 h 517"/>
                  <a:gd name="T14" fmla="*/ 367 w 895"/>
                  <a:gd name="T15" fmla="*/ 510 h 517"/>
                  <a:gd name="T16" fmla="*/ 330 w 895"/>
                  <a:gd name="T17" fmla="*/ 512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5" h="517">
                    <a:moveTo>
                      <a:pt x="330" y="512"/>
                    </a:moveTo>
                    <a:cubicBezTo>
                      <a:pt x="10" y="327"/>
                      <a:pt x="10" y="327"/>
                      <a:pt x="10" y="327"/>
                    </a:cubicBezTo>
                    <a:cubicBezTo>
                      <a:pt x="0" y="322"/>
                      <a:pt x="1" y="312"/>
                      <a:pt x="12" y="306"/>
                    </a:cubicBezTo>
                    <a:cubicBezTo>
                      <a:pt x="528" y="7"/>
                      <a:pt x="528" y="7"/>
                      <a:pt x="528" y="7"/>
                    </a:cubicBezTo>
                    <a:cubicBezTo>
                      <a:pt x="539" y="0"/>
                      <a:pt x="556" y="0"/>
                      <a:pt x="565" y="5"/>
                    </a:cubicBezTo>
                    <a:cubicBezTo>
                      <a:pt x="885" y="190"/>
                      <a:pt x="885" y="190"/>
                      <a:pt x="885" y="190"/>
                    </a:cubicBezTo>
                    <a:cubicBezTo>
                      <a:pt x="895" y="195"/>
                      <a:pt x="893" y="205"/>
                      <a:pt x="882" y="211"/>
                    </a:cubicBezTo>
                    <a:cubicBezTo>
                      <a:pt x="367" y="510"/>
                      <a:pt x="367" y="510"/>
                      <a:pt x="367" y="510"/>
                    </a:cubicBezTo>
                    <a:cubicBezTo>
                      <a:pt x="356" y="517"/>
                      <a:pt x="339" y="517"/>
                      <a:pt x="330" y="512"/>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ïṩ1îḑé"/>
              <p:cNvSpPr/>
              <p:nvPr/>
            </p:nvSpPr>
            <p:spPr bwMode="auto">
              <a:xfrm>
                <a:off x="7203199" y="3262661"/>
                <a:ext cx="289362" cy="370799"/>
              </a:xfrm>
              <a:custGeom>
                <a:avLst/>
                <a:gdLst>
                  <a:gd name="T0" fmla="*/ 80 w 80"/>
                  <a:gd name="T1" fmla="*/ 0 h 103"/>
                  <a:gd name="T2" fmla="*/ 74 w 80"/>
                  <a:gd name="T3" fmla="*/ 73 h 103"/>
                  <a:gd name="T4" fmla="*/ 0 w 80"/>
                  <a:gd name="T5" fmla="*/ 51 h 103"/>
                  <a:gd name="T6" fmla="*/ 0 w 80"/>
                  <a:gd name="T7" fmla="*/ 18 h 103"/>
                  <a:gd name="T8" fmla="*/ 80 w 80"/>
                  <a:gd name="T9" fmla="*/ 0 h 103"/>
                </a:gdLst>
                <a:ahLst/>
                <a:cxnLst>
                  <a:cxn ang="0">
                    <a:pos x="T0" y="T1"/>
                  </a:cxn>
                  <a:cxn ang="0">
                    <a:pos x="T2" y="T3"/>
                  </a:cxn>
                  <a:cxn ang="0">
                    <a:pos x="T4" y="T5"/>
                  </a:cxn>
                  <a:cxn ang="0">
                    <a:pos x="T6" y="T7"/>
                  </a:cxn>
                  <a:cxn ang="0">
                    <a:pos x="T8" y="T9"/>
                  </a:cxn>
                </a:cxnLst>
                <a:rect l="0" t="0" r="r" b="b"/>
                <a:pathLst>
                  <a:path w="80" h="103">
                    <a:moveTo>
                      <a:pt x="80" y="0"/>
                    </a:moveTo>
                    <a:cubicBezTo>
                      <a:pt x="80" y="0"/>
                      <a:pt x="78" y="44"/>
                      <a:pt x="74" y="73"/>
                    </a:cubicBezTo>
                    <a:cubicBezTo>
                      <a:pt x="71" y="103"/>
                      <a:pt x="0" y="51"/>
                      <a:pt x="0" y="51"/>
                    </a:cubicBezTo>
                    <a:cubicBezTo>
                      <a:pt x="0" y="18"/>
                      <a:pt x="0" y="18"/>
                      <a:pt x="0" y="18"/>
                    </a:cubicBezTo>
                    <a:lnTo>
                      <a:pt x="80" y="0"/>
                    </a:ln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íślíḓè"/>
              <p:cNvSpPr/>
              <p:nvPr/>
            </p:nvSpPr>
            <p:spPr bwMode="auto">
              <a:xfrm>
                <a:off x="7139088" y="5116656"/>
                <a:ext cx="240847" cy="223520"/>
              </a:xfrm>
              <a:custGeom>
                <a:avLst/>
                <a:gdLst>
                  <a:gd name="T0" fmla="*/ 60 w 67"/>
                  <a:gd name="T1" fmla="*/ 29 h 62"/>
                  <a:gd name="T2" fmla="*/ 22 w 67"/>
                  <a:gd name="T3" fmla="*/ 59 h 62"/>
                  <a:gd name="T4" fmla="*/ 5 w 67"/>
                  <a:gd name="T5" fmla="*/ 62 h 62"/>
                  <a:gd name="T6" fmla="*/ 1 w 67"/>
                  <a:gd name="T7" fmla="*/ 54 h 62"/>
                  <a:gd name="T8" fmla="*/ 36 w 67"/>
                  <a:gd name="T9" fmla="*/ 16 h 62"/>
                  <a:gd name="T10" fmla="*/ 60 w 67"/>
                  <a:gd name="T11" fmla="*/ 29 h 62"/>
                </a:gdLst>
                <a:ahLst/>
                <a:cxnLst>
                  <a:cxn ang="0">
                    <a:pos x="T0" y="T1"/>
                  </a:cxn>
                  <a:cxn ang="0">
                    <a:pos x="T2" y="T3"/>
                  </a:cxn>
                  <a:cxn ang="0">
                    <a:pos x="T4" y="T5"/>
                  </a:cxn>
                  <a:cxn ang="0">
                    <a:pos x="T6" y="T7"/>
                  </a:cxn>
                  <a:cxn ang="0">
                    <a:pos x="T8" y="T9"/>
                  </a:cxn>
                  <a:cxn ang="0">
                    <a:pos x="T10" y="T11"/>
                  </a:cxn>
                </a:cxnLst>
                <a:rect l="0" t="0" r="r" b="b"/>
                <a:pathLst>
                  <a:path w="67" h="62">
                    <a:moveTo>
                      <a:pt x="60" y="29"/>
                    </a:moveTo>
                    <a:cubicBezTo>
                      <a:pt x="59" y="32"/>
                      <a:pt x="41" y="54"/>
                      <a:pt x="22" y="59"/>
                    </a:cubicBezTo>
                    <a:cubicBezTo>
                      <a:pt x="14" y="62"/>
                      <a:pt x="9" y="62"/>
                      <a:pt x="5" y="62"/>
                    </a:cubicBezTo>
                    <a:cubicBezTo>
                      <a:pt x="2" y="61"/>
                      <a:pt x="0" y="58"/>
                      <a:pt x="1" y="54"/>
                    </a:cubicBezTo>
                    <a:cubicBezTo>
                      <a:pt x="4" y="45"/>
                      <a:pt x="13" y="27"/>
                      <a:pt x="36" y="16"/>
                    </a:cubicBezTo>
                    <a:cubicBezTo>
                      <a:pt x="67" y="0"/>
                      <a:pt x="60" y="29"/>
                      <a:pt x="60" y="29"/>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iŝḻïḑé"/>
              <p:cNvSpPr/>
              <p:nvPr/>
            </p:nvSpPr>
            <p:spPr bwMode="auto">
              <a:xfrm>
                <a:off x="7340082" y="5250073"/>
                <a:ext cx="133419" cy="223520"/>
              </a:xfrm>
              <a:custGeom>
                <a:avLst/>
                <a:gdLst>
                  <a:gd name="T0" fmla="*/ 10 w 37"/>
                  <a:gd name="T1" fmla="*/ 0 h 62"/>
                  <a:gd name="T2" fmla="*/ 1 w 37"/>
                  <a:gd name="T3" fmla="*/ 30 h 62"/>
                  <a:gd name="T4" fmla="*/ 8 w 37"/>
                  <a:gd name="T5" fmla="*/ 56 h 62"/>
                  <a:gd name="T6" fmla="*/ 20 w 37"/>
                  <a:gd name="T7" fmla="*/ 58 h 62"/>
                  <a:gd name="T8" fmla="*/ 35 w 37"/>
                  <a:gd name="T9" fmla="*/ 30 h 62"/>
                  <a:gd name="T10" fmla="*/ 35 w 37"/>
                  <a:gd name="T11" fmla="*/ 3 h 62"/>
                  <a:gd name="T12" fmla="*/ 10 w 3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37" h="62">
                    <a:moveTo>
                      <a:pt x="10" y="0"/>
                    </a:moveTo>
                    <a:cubicBezTo>
                      <a:pt x="10" y="0"/>
                      <a:pt x="3" y="17"/>
                      <a:pt x="1" y="30"/>
                    </a:cubicBezTo>
                    <a:cubicBezTo>
                      <a:pt x="0" y="38"/>
                      <a:pt x="4" y="49"/>
                      <a:pt x="8" y="56"/>
                    </a:cubicBezTo>
                    <a:cubicBezTo>
                      <a:pt x="10" y="61"/>
                      <a:pt x="16" y="62"/>
                      <a:pt x="20" y="58"/>
                    </a:cubicBezTo>
                    <a:cubicBezTo>
                      <a:pt x="26" y="53"/>
                      <a:pt x="34" y="43"/>
                      <a:pt x="35" y="30"/>
                    </a:cubicBezTo>
                    <a:cubicBezTo>
                      <a:pt x="37" y="7"/>
                      <a:pt x="35" y="3"/>
                      <a:pt x="35" y="3"/>
                    </a:cubicBezTo>
                    <a:lnTo>
                      <a:pt x="10" y="0"/>
                    </a:ln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íṧ1íḑé"/>
              <p:cNvSpPr/>
              <p:nvPr/>
            </p:nvSpPr>
            <p:spPr bwMode="auto">
              <a:xfrm>
                <a:off x="7132157" y="4177529"/>
                <a:ext cx="414117" cy="1119328"/>
              </a:xfrm>
              <a:custGeom>
                <a:avLst/>
                <a:gdLst>
                  <a:gd name="T0" fmla="*/ 112 w 115"/>
                  <a:gd name="T1" fmla="*/ 23 h 311"/>
                  <a:gd name="T2" fmla="*/ 112 w 115"/>
                  <a:gd name="T3" fmla="*/ 83 h 311"/>
                  <a:gd name="T4" fmla="*/ 100 w 115"/>
                  <a:gd name="T5" fmla="*/ 300 h 311"/>
                  <a:gd name="T6" fmla="*/ 79 w 115"/>
                  <a:gd name="T7" fmla="*/ 308 h 311"/>
                  <a:gd name="T8" fmla="*/ 60 w 115"/>
                  <a:gd name="T9" fmla="*/ 294 h 311"/>
                  <a:gd name="T10" fmla="*/ 30 w 115"/>
                  <a:gd name="T11" fmla="*/ 276 h 311"/>
                  <a:gd name="T12" fmla="*/ 0 w 115"/>
                  <a:gd name="T13" fmla="*/ 0 h 311"/>
                  <a:gd name="T14" fmla="*/ 112 w 115"/>
                  <a:gd name="T15" fmla="*/ 23 h 3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311">
                    <a:moveTo>
                      <a:pt x="112" y="23"/>
                    </a:moveTo>
                    <a:cubicBezTo>
                      <a:pt x="112" y="23"/>
                      <a:pt x="115" y="51"/>
                      <a:pt x="112" y="83"/>
                    </a:cubicBezTo>
                    <a:cubicBezTo>
                      <a:pt x="110" y="115"/>
                      <a:pt x="101" y="264"/>
                      <a:pt x="100" y="300"/>
                    </a:cubicBezTo>
                    <a:cubicBezTo>
                      <a:pt x="100" y="300"/>
                      <a:pt x="100" y="311"/>
                      <a:pt x="79" y="308"/>
                    </a:cubicBezTo>
                    <a:cubicBezTo>
                      <a:pt x="58" y="306"/>
                      <a:pt x="60" y="294"/>
                      <a:pt x="60" y="294"/>
                    </a:cubicBezTo>
                    <a:cubicBezTo>
                      <a:pt x="60" y="294"/>
                      <a:pt x="31" y="293"/>
                      <a:pt x="30" y="276"/>
                    </a:cubicBezTo>
                    <a:cubicBezTo>
                      <a:pt x="29" y="259"/>
                      <a:pt x="0" y="68"/>
                      <a:pt x="0" y="0"/>
                    </a:cubicBezTo>
                    <a:lnTo>
                      <a:pt x="112" y="23"/>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ľïḋê"/>
              <p:cNvSpPr/>
              <p:nvPr/>
            </p:nvSpPr>
            <p:spPr bwMode="auto">
              <a:xfrm>
                <a:off x="7048987" y="3723560"/>
                <a:ext cx="119557" cy="374264"/>
              </a:xfrm>
              <a:custGeom>
                <a:avLst/>
                <a:gdLst>
                  <a:gd name="T0" fmla="*/ 69 w 69"/>
                  <a:gd name="T1" fmla="*/ 0 h 216"/>
                  <a:gd name="T2" fmla="*/ 33 w 69"/>
                  <a:gd name="T3" fmla="*/ 216 h 216"/>
                  <a:gd name="T4" fmla="*/ 0 w 69"/>
                  <a:gd name="T5" fmla="*/ 216 h 216"/>
                  <a:gd name="T6" fmla="*/ 4 w 69"/>
                  <a:gd name="T7" fmla="*/ 17 h 216"/>
                  <a:gd name="T8" fmla="*/ 69 w 69"/>
                  <a:gd name="T9" fmla="*/ 0 h 216"/>
                </a:gdLst>
                <a:ahLst/>
                <a:cxnLst>
                  <a:cxn ang="0">
                    <a:pos x="T0" y="T1"/>
                  </a:cxn>
                  <a:cxn ang="0">
                    <a:pos x="T2" y="T3"/>
                  </a:cxn>
                  <a:cxn ang="0">
                    <a:pos x="T4" y="T5"/>
                  </a:cxn>
                  <a:cxn ang="0">
                    <a:pos x="T6" y="T7"/>
                  </a:cxn>
                  <a:cxn ang="0">
                    <a:pos x="T8" y="T9"/>
                  </a:cxn>
                </a:cxnLst>
                <a:rect l="0" t="0" r="r" b="b"/>
                <a:pathLst>
                  <a:path w="69" h="216">
                    <a:moveTo>
                      <a:pt x="69" y="0"/>
                    </a:moveTo>
                    <a:lnTo>
                      <a:pt x="33" y="216"/>
                    </a:lnTo>
                    <a:lnTo>
                      <a:pt x="0" y="216"/>
                    </a:lnTo>
                    <a:lnTo>
                      <a:pt x="4" y="17"/>
                    </a:lnTo>
                    <a:lnTo>
                      <a:pt x="69"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1" name="îSľíďe"/>
              <p:cNvSpPr/>
              <p:nvPr/>
            </p:nvSpPr>
            <p:spPr bwMode="auto">
              <a:xfrm>
                <a:off x="7031660" y="3389148"/>
                <a:ext cx="161142" cy="438375"/>
              </a:xfrm>
              <a:custGeom>
                <a:avLst/>
                <a:gdLst>
                  <a:gd name="T0" fmla="*/ 45 w 45"/>
                  <a:gd name="T1" fmla="*/ 1 h 122"/>
                  <a:gd name="T2" fmla="*/ 14 w 45"/>
                  <a:gd name="T3" fmla="*/ 33 h 122"/>
                  <a:gd name="T4" fmla="*/ 7 w 45"/>
                  <a:gd name="T5" fmla="*/ 111 h 122"/>
                  <a:gd name="T6" fmla="*/ 41 w 45"/>
                  <a:gd name="T7" fmla="*/ 110 h 122"/>
                  <a:gd name="T8" fmla="*/ 45 w 45"/>
                  <a:gd name="T9" fmla="*/ 1 h 122"/>
                </a:gdLst>
                <a:ahLst/>
                <a:cxnLst>
                  <a:cxn ang="0">
                    <a:pos x="T0" y="T1"/>
                  </a:cxn>
                  <a:cxn ang="0">
                    <a:pos x="T2" y="T3"/>
                  </a:cxn>
                  <a:cxn ang="0">
                    <a:pos x="T4" y="T5"/>
                  </a:cxn>
                  <a:cxn ang="0">
                    <a:pos x="T6" y="T7"/>
                  </a:cxn>
                  <a:cxn ang="0">
                    <a:pos x="T8" y="T9"/>
                  </a:cxn>
                </a:cxnLst>
                <a:rect l="0" t="0" r="r" b="b"/>
                <a:pathLst>
                  <a:path w="45" h="122">
                    <a:moveTo>
                      <a:pt x="45" y="1"/>
                    </a:moveTo>
                    <a:cubicBezTo>
                      <a:pt x="45" y="1"/>
                      <a:pt x="22" y="0"/>
                      <a:pt x="14" y="33"/>
                    </a:cubicBezTo>
                    <a:cubicBezTo>
                      <a:pt x="6" y="66"/>
                      <a:pt x="0" y="108"/>
                      <a:pt x="7" y="111"/>
                    </a:cubicBezTo>
                    <a:cubicBezTo>
                      <a:pt x="27" y="122"/>
                      <a:pt x="41" y="110"/>
                      <a:pt x="41" y="110"/>
                    </a:cubicBezTo>
                    <a:lnTo>
                      <a:pt x="45" y="1"/>
                    </a:ln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ṣliḍê"/>
              <p:cNvSpPr/>
              <p:nvPr/>
            </p:nvSpPr>
            <p:spPr bwMode="auto">
              <a:xfrm>
                <a:off x="7081909" y="3389148"/>
                <a:ext cx="561397" cy="972048"/>
              </a:xfrm>
              <a:custGeom>
                <a:avLst/>
                <a:gdLst>
                  <a:gd name="T0" fmla="*/ 24 w 156"/>
                  <a:gd name="T1" fmla="*/ 2 h 270"/>
                  <a:gd name="T2" fmla="*/ 36 w 156"/>
                  <a:gd name="T3" fmla="*/ 1 h 270"/>
                  <a:gd name="T4" fmla="*/ 142 w 156"/>
                  <a:gd name="T5" fmla="*/ 39 h 270"/>
                  <a:gd name="T6" fmla="*/ 121 w 156"/>
                  <a:gd name="T7" fmla="*/ 140 h 270"/>
                  <a:gd name="T8" fmla="*/ 126 w 156"/>
                  <a:gd name="T9" fmla="*/ 212 h 270"/>
                  <a:gd name="T10" fmla="*/ 111 w 156"/>
                  <a:gd name="T11" fmla="*/ 260 h 270"/>
                  <a:gd name="T12" fmla="*/ 33 w 156"/>
                  <a:gd name="T13" fmla="*/ 251 h 270"/>
                  <a:gd name="T14" fmla="*/ 13 w 156"/>
                  <a:gd name="T15" fmla="*/ 205 h 270"/>
                  <a:gd name="T16" fmla="*/ 22 w 156"/>
                  <a:gd name="T17" fmla="*/ 114 h 270"/>
                  <a:gd name="T18" fmla="*/ 7 w 156"/>
                  <a:gd name="T19" fmla="*/ 97 h 270"/>
                  <a:gd name="T20" fmla="*/ 17 w 156"/>
                  <a:gd name="T21" fmla="*/ 52 h 270"/>
                  <a:gd name="T22" fmla="*/ 15 w 156"/>
                  <a:gd name="T23" fmla="*/ 12 h 270"/>
                  <a:gd name="T24" fmla="*/ 24 w 156"/>
                  <a:gd name="T25" fmla="*/ 2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270">
                    <a:moveTo>
                      <a:pt x="24" y="2"/>
                    </a:moveTo>
                    <a:cubicBezTo>
                      <a:pt x="28" y="1"/>
                      <a:pt x="32" y="0"/>
                      <a:pt x="36" y="1"/>
                    </a:cubicBezTo>
                    <a:cubicBezTo>
                      <a:pt x="56" y="7"/>
                      <a:pt x="129" y="29"/>
                      <a:pt x="142" y="39"/>
                    </a:cubicBezTo>
                    <a:cubicBezTo>
                      <a:pt x="156" y="51"/>
                      <a:pt x="121" y="118"/>
                      <a:pt x="121" y="140"/>
                    </a:cubicBezTo>
                    <a:cubicBezTo>
                      <a:pt x="122" y="162"/>
                      <a:pt x="124" y="188"/>
                      <a:pt x="126" y="212"/>
                    </a:cubicBezTo>
                    <a:cubicBezTo>
                      <a:pt x="128" y="236"/>
                      <a:pt x="131" y="249"/>
                      <a:pt x="111" y="260"/>
                    </a:cubicBezTo>
                    <a:cubicBezTo>
                      <a:pt x="91" y="270"/>
                      <a:pt x="58" y="270"/>
                      <a:pt x="33" y="251"/>
                    </a:cubicBezTo>
                    <a:cubicBezTo>
                      <a:pt x="8" y="232"/>
                      <a:pt x="12" y="219"/>
                      <a:pt x="13" y="205"/>
                    </a:cubicBezTo>
                    <a:cubicBezTo>
                      <a:pt x="14" y="191"/>
                      <a:pt x="23" y="131"/>
                      <a:pt x="22" y="114"/>
                    </a:cubicBezTo>
                    <a:cubicBezTo>
                      <a:pt x="22" y="114"/>
                      <a:pt x="13" y="108"/>
                      <a:pt x="7" y="97"/>
                    </a:cubicBezTo>
                    <a:cubicBezTo>
                      <a:pt x="0" y="86"/>
                      <a:pt x="12" y="65"/>
                      <a:pt x="17" y="52"/>
                    </a:cubicBezTo>
                    <a:cubicBezTo>
                      <a:pt x="21" y="38"/>
                      <a:pt x="14" y="23"/>
                      <a:pt x="15" y="12"/>
                    </a:cubicBezTo>
                    <a:cubicBezTo>
                      <a:pt x="16" y="7"/>
                      <a:pt x="20" y="4"/>
                      <a:pt x="24" y="2"/>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ļiḍè"/>
              <p:cNvSpPr/>
              <p:nvPr/>
            </p:nvSpPr>
            <p:spPr bwMode="auto">
              <a:xfrm>
                <a:off x="7246516" y="3406475"/>
                <a:ext cx="209658" cy="169805"/>
              </a:xfrm>
              <a:custGeom>
                <a:avLst/>
                <a:gdLst>
                  <a:gd name="T0" fmla="*/ 1 w 58"/>
                  <a:gd name="T1" fmla="*/ 20 h 47"/>
                  <a:gd name="T2" fmla="*/ 26 w 58"/>
                  <a:gd name="T3" fmla="*/ 46 h 47"/>
                  <a:gd name="T4" fmla="*/ 57 w 58"/>
                  <a:gd name="T5" fmla="*/ 27 h 47"/>
                  <a:gd name="T6" fmla="*/ 32 w 58"/>
                  <a:gd name="T7" fmla="*/ 2 h 47"/>
                  <a:gd name="T8" fmla="*/ 1 w 58"/>
                  <a:gd name="T9" fmla="*/ 20 h 47"/>
                </a:gdLst>
                <a:ahLst/>
                <a:cxnLst>
                  <a:cxn ang="0">
                    <a:pos x="T0" y="T1"/>
                  </a:cxn>
                  <a:cxn ang="0">
                    <a:pos x="T2" y="T3"/>
                  </a:cxn>
                  <a:cxn ang="0">
                    <a:pos x="T4" y="T5"/>
                  </a:cxn>
                  <a:cxn ang="0">
                    <a:pos x="T6" y="T7"/>
                  </a:cxn>
                  <a:cxn ang="0">
                    <a:pos x="T8" y="T9"/>
                  </a:cxn>
                </a:cxnLst>
                <a:rect l="0" t="0" r="r" b="b"/>
                <a:pathLst>
                  <a:path w="58" h="47">
                    <a:moveTo>
                      <a:pt x="1" y="20"/>
                    </a:moveTo>
                    <a:cubicBezTo>
                      <a:pt x="0" y="32"/>
                      <a:pt x="11" y="44"/>
                      <a:pt x="26" y="46"/>
                    </a:cubicBezTo>
                    <a:cubicBezTo>
                      <a:pt x="42" y="47"/>
                      <a:pt x="55" y="39"/>
                      <a:pt x="57" y="27"/>
                    </a:cubicBezTo>
                    <a:cubicBezTo>
                      <a:pt x="58" y="15"/>
                      <a:pt x="47" y="4"/>
                      <a:pt x="32" y="2"/>
                    </a:cubicBezTo>
                    <a:cubicBezTo>
                      <a:pt x="17" y="0"/>
                      <a:pt x="3" y="8"/>
                      <a:pt x="1"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4" name="iśļídé"/>
              <p:cNvSpPr/>
              <p:nvPr/>
            </p:nvSpPr>
            <p:spPr bwMode="auto">
              <a:xfrm>
                <a:off x="7275972" y="3432466"/>
                <a:ext cx="150746" cy="123023"/>
              </a:xfrm>
              <a:custGeom>
                <a:avLst/>
                <a:gdLst>
                  <a:gd name="T0" fmla="*/ 1 w 42"/>
                  <a:gd name="T1" fmla="*/ 14 h 34"/>
                  <a:gd name="T2" fmla="*/ 19 w 42"/>
                  <a:gd name="T3" fmla="*/ 32 h 34"/>
                  <a:gd name="T4" fmla="*/ 41 w 42"/>
                  <a:gd name="T5" fmla="*/ 19 h 34"/>
                  <a:gd name="T6" fmla="*/ 23 w 42"/>
                  <a:gd name="T7" fmla="*/ 1 h 34"/>
                  <a:gd name="T8" fmla="*/ 1 w 42"/>
                  <a:gd name="T9" fmla="*/ 14 h 34"/>
                </a:gdLst>
                <a:ahLst/>
                <a:cxnLst>
                  <a:cxn ang="0">
                    <a:pos x="T0" y="T1"/>
                  </a:cxn>
                  <a:cxn ang="0">
                    <a:pos x="T2" y="T3"/>
                  </a:cxn>
                  <a:cxn ang="0">
                    <a:pos x="T4" y="T5"/>
                  </a:cxn>
                  <a:cxn ang="0">
                    <a:pos x="T6" y="T7"/>
                  </a:cxn>
                  <a:cxn ang="0">
                    <a:pos x="T8" y="T9"/>
                  </a:cxn>
                </a:cxnLst>
                <a:rect l="0" t="0" r="r" b="b"/>
                <a:pathLst>
                  <a:path w="42" h="34">
                    <a:moveTo>
                      <a:pt x="1" y="14"/>
                    </a:moveTo>
                    <a:cubicBezTo>
                      <a:pt x="0" y="23"/>
                      <a:pt x="8" y="31"/>
                      <a:pt x="19" y="32"/>
                    </a:cubicBezTo>
                    <a:cubicBezTo>
                      <a:pt x="30" y="34"/>
                      <a:pt x="40" y="28"/>
                      <a:pt x="41" y="19"/>
                    </a:cubicBezTo>
                    <a:cubicBezTo>
                      <a:pt x="42" y="10"/>
                      <a:pt x="34" y="2"/>
                      <a:pt x="23" y="1"/>
                    </a:cubicBezTo>
                    <a:cubicBezTo>
                      <a:pt x="12" y="0"/>
                      <a:pt x="2" y="5"/>
                      <a:pt x="1" y="14"/>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îṡḻîḍé"/>
              <p:cNvSpPr/>
              <p:nvPr/>
            </p:nvSpPr>
            <p:spPr bwMode="auto">
              <a:xfrm>
                <a:off x="7293300" y="3342365"/>
                <a:ext cx="102230" cy="150746"/>
              </a:xfrm>
              <a:custGeom>
                <a:avLst/>
                <a:gdLst>
                  <a:gd name="T0" fmla="*/ 7 w 28"/>
                  <a:gd name="T1" fmla="*/ 11 h 42"/>
                  <a:gd name="T2" fmla="*/ 23 w 28"/>
                  <a:gd name="T3" fmla="*/ 5 h 42"/>
                  <a:gd name="T4" fmla="*/ 28 w 28"/>
                  <a:gd name="T5" fmla="*/ 35 h 42"/>
                  <a:gd name="T6" fmla="*/ 1 w 28"/>
                  <a:gd name="T7" fmla="*/ 42 h 42"/>
                  <a:gd name="T8" fmla="*/ 5 w 28"/>
                  <a:gd name="T9" fmla="*/ 18 h 42"/>
                  <a:gd name="T10" fmla="*/ 7 w 28"/>
                  <a:gd name="T11" fmla="*/ 11 h 42"/>
                </a:gdLst>
                <a:ahLst/>
                <a:cxnLst>
                  <a:cxn ang="0">
                    <a:pos x="T0" y="T1"/>
                  </a:cxn>
                  <a:cxn ang="0">
                    <a:pos x="T2" y="T3"/>
                  </a:cxn>
                  <a:cxn ang="0">
                    <a:pos x="T4" y="T5"/>
                  </a:cxn>
                  <a:cxn ang="0">
                    <a:pos x="T6" y="T7"/>
                  </a:cxn>
                  <a:cxn ang="0">
                    <a:pos x="T8" y="T9"/>
                  </a:cxn>
                  <a:cxn ang="0">
                    <a:pos x="T10" y="T11"/>
                  </a:cxn>
                </a:cxnLst>
                <a:rect l="0" t="0" r="r" b="b"/>
                <a:pathLst>
                  <a:path w="28" h="42">
                    <a:moveTo>
                      <a:pt x="7" y="11"/>
                    </a:moveTo>
                    <a:cubicBezTo>
                      <a:pt x="7" y="11"/>
                      <a:pt x="20" y="0"/>
                      <a:pt x="23" y="5"/>
                    </a:cubicBezTo>
                    <a:cubicBezTo>
                      <a:pt x="26" y="11"/>
                      <a:pt x="28" y="35"/>
                      <a:pt x="28" y="35"/>
                    </a:cubicBezTo>
                    <a:cubicBezTo>
                      <a:pt x="1" y="42"/>
                      <a:pt x="1" y="42"/>
                      <a:pt x="1" y="42"/>
                    </a:cubicBezTo>
                    <a:cubicBezTo>
                      <a:pt x="5" y="18"/>
                      <a:pt x="5" y="18"/>
                      <a:pt x="5" y="18"/>
                    </a:cubicBezTo>
                    <a:cubicBezTo>
                      <a:pt x="5" y="18"/>
                      <a:pt x="0" y="13"/>
                      <a:pt x="7" y="1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ṩ1íḓé"/>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ïṧḻïḋê"/>
              <p:cNvSpPr/>
              <p:nvPr/>
            </p:nvSpPr>
            <p:spPr bwMode="auto">
              <a:xfrm>
                <a:off x="7301963" y="3375286"/>
                <a:ext cx="86635" cy="97032"/>
              </a:xfrm>
              <a:custGeom>
                <a:avLst/>
                <a:gdLst>
                  <a:gd name="T0" fmla="*/ 23 w 24"/>
                  <a:gd name="T1" fmla="*/ 3 h 27"/>
                  <a:gd name="T2" fmla="*/ 24 w 24"/>
                  <a:gd name="T3" fmla="*/ 7 h 27"/>
                  <a:gd name="T4" fmla="*/ 0 w 24"/>
                  <a:gd name="T5" fmla="*/ 27 h 27"/>
                  <a:gd name="T6" fmla="*/ 3 w 24"/>
                  <a:gd name="T7" fmla="*/ 9 h 27"/>
                  <a:gd name="T8" fmla="*/ 2 w 24"/>
                  <a:gd name="T9" fmla="*/ 4 h 27"/>
                  <a:gd name="T10" fmla="*/ 23 w 24"/>
                  <a:gd name="T11" fmla="*/ 3 h 27"/>
                </a:gdLst>
                <a:ahLst/>
                <a:cxnLst>
                  <a:cxn ang="0">
                    <a:pos x="T0" y="T1"/>
                  </a:cxn>
                  <a:cxn ang="0">
                    <a:pos x="T2" y="T3"/>
                  </a:cxn>
                  <a:cxn ang="0">
                    <a:pos x="T4" y="T5"/>
                  </a:cxn>
                  <a:cxn ang="0">
                    <a:pos x="T6" y="T7"/>
                  </a:cxn>
                  <a:cxn ang="0">
                    <a:pos x="T8" y="T9"/>
                  </a:cxn>
                  <a:cxn ang="0">
                    <a:pos x="T10" y="T11"/>
                  </a:cxn>
                </a:cxnLst>
                <a:rect l="0" t="0" r="r" b="b"/>
                <a:pathLst>
                  <a:path w="24" h="27">
                    <a:moveTo>
                      <a:pt x="23" y="3"/>
                    </a:moveTo>
                    <a:cubicBezTo>
                      <a:pt x="23" y="4"/>
                      <a:pt x="23" y="6"/>
                      <a:pt x="24" y="7"/>
                    </a:cubicBezTo>
                    <a:cubicBezTo>
                      <a:pt x="21" y="21"/>
                      <a:pt x="0" y="27"/>
                      <a:pt x="0" y="27"/>
                    </a:cubicBezTo>
                    <a:cubicBezTo>
                      <a:pt x="3" y="9"/>
                      <a:pt x="3" y="9"/>
                      <a:pt x="3" y="9"/>
                    </a:cubicBezTo>
                    <a:cubicBezTo>
                      <a:pt x="3" y="9"/>
                      <a:pt x="1" y="6"/>
                      <a:pt x="2" y="4"/>
                    </a:cubicBezTo>
                    <a:cubicBezTo>
                      <a:pt x="10" y="2"/>
                      <a:pt x="20" y="0"/>
                      <a:pt x="23" y="3"/>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íṡľíďè"/>
              <p:cNvSpPr/>
              <p:nvPr/>
            </p:nvSpPr>
            <p:spPr bwMode="auto">
              <a:xfrm>
                <a:off x="7168545" y="3134441"/>
                <a:ext cx="291095" cy="291095"/>
              </a:xfrm>
              <a:custGeom>
                <a:avLst/>
                <a:gdLst>
                  <a:gd name="T0" fmla="*/ 1 w 81"/>
                  <a:gd name="T1" fmla="*/ 43 h 81"/>
                  <a:gd name="T2" fmla="*/ 43 w 81"/>
                  <a:gd name="T3" fmla="*/ 80 h 81"/>
                  <a:gd name="T4" fmla="*/ 80 w 81"/>
                  <a:gd name="T5" fmla="*/ 38 h 81"/>
                  <a:gd name="T6" fmla="*/ 38 w 81"/>
                  <a:gd name="T7" fmla="*/ 1 h 81"/>
                  <a:gd name="T8" fmla="*/ 1 w 81"/>
                  <a:gd name="T9" fmla="*/ 43 h 81"/>
                </a:gdLst>
                <a:ahLst/>
                <a:cxnLst>
                  <a:cxn ang="0">
                    <a:pos x="T0" y="T1"/>
                  </a:cxn>
                  <a:cxn ang="0">
                    <a:pos x="T2" y="T3"/>
                  </a:cxn>
                  <a:cxn ang="0">
                    <a:pos x="T4" y="T5"/>
                  </a:cxn>
                  <a:cxn ang="0">
                    <a:pos x="T6" y="T7"/>
                  </a:cxn>
                  <a:cxn ang="0">
                    <a:pos x="T8" y="T9"/>
                  </a:cxn>
                </a:cxnLst>
                <a:rect l="0" t="0" r="r" b="b"/>
                <a:pathLst>
                  <a:path w="81" h="81">
                    <a:moveTo>
                      <a:pt x="1" y="43"/>
                    </a:moveTo>
                    <a:cubicBezTo>
                      <a:pt x="2" y="64"/>
                      <a:pt x="21" y="81"/>
                      <a:pt x="43" y="80"/>
                    </a:cubicBezTo>
                    <a:cubicBezTo>
                      <a:pt x="64" y="78"/>
                      <a:pt x="81" y="60"/>
                      <a:pt x="80" y="38"/>
                    </a:cubicBezTo>
                    <a:cubicBezTo>
                      <a:pt x="78" y="16"/>
                      <a:pt x="60" y="0"/>
                      <a:pt x="38" y="1"/>
                    </a:cubicBezTo>
                    <a:cubicBezTo>
                      <a:pt x="16" y="2"/>
                      <a:pt x="0" y="21"/>
                      <a:pt x="1" y="43"/>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ïSļïďê"/>
              <p:cNvSpPr/>
              <p:nvPr/>
            </p:nvSpPr>
            <p:spPr bwMode="auto">
              <a:xfrm>
                <a:off x="7553205" y="3879504"/>
                <a:ext cx="109161" cy="384661"/>
              </a:xfrm>
              <a:custGeom>
                <a:avLst/>
                <a:gdLst>
                  <a:gd name="T0" fmla="*/ 63 w 63"/>
                  <a:gd name="T1" fmla="*/ 0 h 222"/>
                  <a:gd name="T2" fmla="*/ 54 w 63"/>
                  <a:gd name="T3" fmla="*/ 218 h 222"/>
                  <a:gd name="T4" fmla="*/ 21 w 63"/>
                  <a:gd name="T5" fmla="*/ 222 h 222"/>
                  <a:gd name="T6" fmla="*/ 0 w 63"/>
                  <a:gd name="T7" fmla="*/ 24 h 222"/>
                  <a:gd name="T8" fmla="*/ 63 w 63"/>
                  <a:gd name="T9" fmla="*/ 0 h 222"/>
                </a:gdLst>
                <a:ahLst/>
                <a:cxnLst>
                  <a:cxn ang="0">
                    <a:pos x="T0" y="T1"/>
                  </a:cxn>
                  <a:cxn ang="0">
                    <a:pos x="T2" y="T3"/>
                  </a:cxn>
                  <a:cxn ang="0">
                    <a:pos x="T4" y="T5"/>
                  </a:cxn>
                  <a:cxn ang="0">
                    <a:pos x="T6" y="T7"/>
                  </a:cxn>
                  <a:cxn ang="0">
                    <a:pos x="T8" y="T9"/>
                  </a:cxn>
                </a:cxnLst>
                <a:rect l="0" t="0" r="r" b="b"/>
                <a:pathLst>
                  <a:path w="63" h="222">
                    <a:moveTo>
                      <a:pt x="63" y="0"/>
                    </a:moveTo>
                    <a:lnTo>
                      <a:pt x="54" y="218"/>
                    </a:lnTo>
                    <a:lnTo>
                      <a:pt x="21" y="222"/>
                    </a:lnTo>
                    <a:lnTo>
                      <a:pt x="0" y="24"/>
                    </a:lnTo>
                    <a:lnTo>
                      <a:pt x="63" y="0"/>
                    </a:ln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ís1ïḓè"/>
              <p:cNvSpPr/>
              <p:nvPr/>
            </p:nvSpPr>
            <p:spPr bwMode="auto">
              <a:xfrm>
                <a:off x="7463105" y="3586676"/>
                <a:ext cx="86635" cy="457434"/>
              </a:xfrm>
              <a:custGeom>
                <a:avLst/>
                <a:gdLst>
                  <a:gd name="T0" fmla="*/ 5 w 24"/>
                  <a:gd name="T1" fmla="*/ 72 h 127"/>
                  <a:gd name="T2" fmla="*/ 20 w 24"/>
                  <a:gd name="T3" fmla="*/ 0 h 127"/>
                  <a:gd name="T4" fmla="*/ 24 w 24"/>
                  <a:gd name="T5" fmla="*/ 49 h 127"/>
                  <a:gd name="T6" fmla="*/ 15 w 24"/>
                  <a:gd name="T7" fmla="*/ 85 h 127"/>
                  <a:gd name="T8" fmla="*/ 17 w 24"/>
                  <a:gd name="T9" fmla="*/ 127 h 127"/>
                  <a:gd name="T10" fmla="*/ 17 w 24"/>
                  <a:gd name="T11" fmla="*/ 127 h 127"/>
                  <a:gd name="T12" fmla="*/ 5 w 24"/>
                  <a:gd name="T13" fmla="*/ 72 h 127"/>
                </a:gdLst>
                <a:ahLst/>
                <a:cxnLst>
                  <a:cxn ang="0">
                    <a:pos x="T0" y="T1"/>
                  </a:cxn>
                  <a:cxn ang="0">
                    <a:pos x="T2" y="T3"/>
                  </a:cxn>
                  <a:cxn ang="0">
                    <a:pos x="T4" y="T5"/>
                  </a:cxn>
                  <a:cxn ang="0">
                    <a:pos x="T6" y="T7"/>
                  </a:cxn>
                  <a:cxn ang="0">
                    <a:pos x="T8" y="T9"/>
                  </a:cxn>
                  <a:cxn ang="0">
                    <a:pos x="T10" y="T11"/>
                  </a:cxn>
                  <a:cxn ang="0">
                    <a:pos x="T12" y="T13"/>
                  </a:cxn>
                </a:cxnLst>
                <a:rect l="0" t="0" r="r" b="b"/>
                <a:pathLst>
                  <a:path w="24" h="127">
                    <a:moveTo>
                      <a:pt x="5" y="72"/>
                    </a:moveTo>
                    <a:cubicBezTo>
                      <a:pt x="10" y="50"/>
                      <a:pt x="20" y="0"/>
                      <a:pt x="20" y="0"/>
                    </a:cubicBezTo>
                    <a:cubicBezTo>
                      <a:pt x="24" y="49"/>
                      <a:pt x="24" y="49"/>
                      <a:pt x="24" y="49"/>
                    </a:cubicBezTo>
                    <a:cubicBezTo>
                      <a:pt x="19" y="64"/>
                      <a:pt x="15" y="78"/>
                      <a:pt x="15" y="85"/>
                    </a:cubicBezTo>
                    <a:cubicBezTo>
                      <a:pt x="15" y="98"/>
                      <a:pt x="16" y="113"/>
                      <a:pt x="17" y="127"/>
                    </a:cubicBezTo>
                    <a:cubicBezTo>
                      <a:pt x="17" y="127"/>
                      <a:pt x="17" y="127"/>
                      <a:pt x="17" y="127"/>
                    </a:cubicBezTo>
                    <a:cubicBezTo>
                      <a:pt x="17" y="127"/>
                      <a:pt x="0" y="95"/>
                      <a:pt x="5" y="72"/>
                    </a:cubicBezTo>
                    <a:close/>
                  </a:path>
                </a:pathLst>
              </a:custGeom>
              <a:solidFill>
                <a:srgbClr val="8A2AE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iS1îďê"/>
              <p:cNvSpPr/>
              <p:nvPr/>
            </p:nvSpPr>
            <p:spPr bwMode="auto">
              <a:xfrm>
                <a:off x="7528947" y="3522567"/>
                <a:ext cx="164608" cy="474761"/>
              </a:xfrm>
              <a:custGeom>
                <a:avLst/>
                <a:gdLst>
                  <a:gd name="T0" fmla="*/ 15 w 46"/>
                  <a:gd name="T1" fmla="*/ 0 h 132"/>
                  <a:gd name="T2" fmla="*/ 34 w 46"/>
                  <a:gd name="T3" fmla="*/ 42 h 132"/>
                  <a:gd name="T4" fmla="*/ 34 w 46"/>
                  <a:gd name="T5" fmla="*/ 123 h 132"/>
                  <a:gd name="T6" fmla="*/ 7 w 46"/>
                  <a:gd name="T7" fmla="*/ 121 h 132"/>
                  <a:gd name="T8" fmla="*/ 1 w 46"/>
                  <a:gd name="T9" fmla="*/ 45 h 132"/>
                  <a:gd name="T10" fmla="*/ 15 w 46"/>
                  <a:gd name="T11" fmla="*/ 0 h 132"/>
                </a:gdLst>
                <a:ahLst/>
                <a:cxnLst>
                  <a:cxn ang="0">
                    <a:pos x="T0" y="T1"/>
                  </a:cxn>
                  <a:cxn ang="0">
                    <a:pos x="T2" y="T3"/>
                  </a:cxn>
                  <a:cxn ang="0">
                    <a:pos x="T4" y="T5"/>
                  </a:cxn>
                  <a:cxn ang="0">
                    <a:pos x="T6" y="T7"/>
                  </a:cxn>
                  <a:cxn ang="0">
                    <a:pos x="T8" y="T9"/>
                  </a:cxn>
                  <a:cxn ang="0">
                    <a:pos x="T10" y="T11"/>
                  </a:cxn>
                </a:cxnLst>
                <a:rect l="0" t="0" r="r" b="b"/>
                <a:pathLst>
                  <a:path w="46" h="132">
                    <a:moveTo>
                      <a:pt x="15" y="0"/>
                    </a:moveTo>
                    <a:cubicBezTo>
                      <a:pt x="15" y="0"/>
                      <a:pt x="27" y="5"/>
                      <a:pt x="34" y="42"/>
                    </a:cubicBezTo>
                    <a:cubicBezTo>
                      <a:pt x="41" y="80"/>
                      <a:pt x="46" y="118"/>
                      <a:pt x="34" y="123"/>
                    </a:cubicBezTo>
                    <a:cubicBezTo>
                      <a:pt x="21" y="128"/>
                      <a:pt x="11" y="132"/>
                      <a:pt x="7" y="121"/>
                    </a:cubicBezTo>
                    <a:cubicBezTo>
                      <a:pt x="4" y="111"/>
                      <a:pt x="1" y="63"/>
                      <a:pt x="1" y="45"/>
                    </a:cubicBezTo>
                    <a:cubicBezTo>
                      <a:pt x="0" y="27"/>
                      <a:pt x="0" y="3"/>
                      <a:pt x="15" y="0"/>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šľïdé"/>
              <p:cNvSpPr/>
              <p:nvPr/>
            </p:nvSpPr>
            <p:spPr bwMode="auto">
              <a:xfrm>
                <a:off x="7298497" y="4397582"/>
                <a:ext cx="50249" cy="838629"/>
              </a:xfrm>
              <a:custGeom>
                <a:avLst/>
                <a:gdLst>
                  <a:gd name="T0" fmla="*/ 14 w 14"/>
                  <a:gd name="T1" fmla="*/ 233 h 233"/>
                  <a:gd name="T2" fmla="*/ 6 w 14"/>
                  <a:gd name="T3" fmla="*/ 232 h 233"/>
                  <a:gd name="T4" fmla="*/ 6 w 14"/>
                  <a:gd name="T5" fmla="*/ 232 h 233"/>
                  <a:gd name="T6" fmla="*/ 0 w 14"/>
                  <a:gd name="T7" fmla="*/ 0 h 233"/>
                  <a:gd name="T8" fmla="*/ 14 w 14"/>
                  <a:gd name="T9" fmla="*/ 233 h 233"/>
                </a:gdLst>
                <a:ahLst/>
                <a:cxnLst>
                  <a:cxn ang="0">
                    <a:pos x="T0" y="T1"/>
                  </a:cxn>
                  <a:cxn ang="0">
                    <a:pos x="T2" y="T3"/>
                  </a:cxn>
                  <a:cxn ang="0">
                    <a:pos x="T4" y="T5"/>
                  </a:cxn>
                  <a:cxn ang="0">
                    <a:pos x="T6" y="T7"/>
                  </a:cxn>
                  <a:cxn ang="0">
                    <a:pos x="T8" y="T9"/>
                  </a:cxn>
                </a:cxnLst>
                <a:rect l="0" t="0" r="r" b="b"/>
                <a:pathLst>
                  <a:path w="14" h="233">
                    <a:moveTo>
                      <a:pt x="14" y="233"/>
                    </a:moveTo>
                    <a:cubicBezTo>
                      <a:pt x="14" y="233"/>
                      <a:pt x="11" y="233"/>
                      <a:pt x="6" y="232"/>
                    </a:cubicBezTo>
                    <a:cubicBezTo>
                      <a:pt x="6" y="232"/>
                      <a:pt x="6" y="232"/>
                      <a:pt x="6" y="232"/>
                    </a:cubicBezTo>
                    <a:cubicBezTo>
                      <a:pt x="0" y="0"/>
                      <a:pt x="0" y="0"/>
                      <a:pt x="0" y="0"/>
                    </a:cubicBezTo>
                    <a:lnTo>
                      <a:pt x="14" y="233"/>
                    </a:lnTo>
                    <a:close/>
                  </a:path>
                </a:pathLst>
              </a:custGeom>
              <a:solidFill>
                <a:srgbClr val="D8892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s1îdé"/>
              <p:cNvSpPr/>
              <p:nvPr/>
            </p:nvSpPr>
            <p:spPr bwMode="auto">
              <a:xfrm>
                <a:off x="7405925" y="4241639"/>
                <a:ext cx="400256" cy="544070"/>
              </a:xfrm>
              <a:custGeom>
                <a:avLst/>
                <a:gdLst>
                  <a:gd name="T0" fmla="*/ 6 w 111"/>
                  <a:gd name="T1" fmla="*/ 151 h 151"/>
                  <a:gd name="T2" fmla="*/ 15 w 111"/>
                  <a:gd name="T3" fmla="*/ 140 h 151"/>
                  <a:gd name="T4" fmla="*/ 101 w 111"/>
                  <a:gd name="T5" fmla="*/ 90 h 151"/>
                  <a:gd name="T6" fmla="*/ 106 w 111"/>
                  <a:gd name="T7" fmla="*/ 81 h 151"/>
                  <a:gd name="T8" fmla="*/ 106 w 111"/>
                  <a:gd name="T9" fmla="*/ 10 h 151"/>
                  <a:gd name="T10" fmla="*/ 111 w 111"/>
                  <a:gd name="T11" fmla="*/ 4 h 151"/>
                  <a:gd name="T12" fmla="*/ 106 w 111"/>
                  <a:gd name="T13" fmla="*/ 1 h 151"/>
                  <a:gd name="T14" fmla="*/ 106 w 111"/>
                  <a:gd name="T15" fmla="*/ 1 h 151"/>
                  <a:gd name="T16" fmla="*/ 103 w 111"/>
                  <a:gd name="T17" fmla="*/ 1 h 151"/>
                  <a:gd name="T18" fmla="*/ 5 w 111"/>
                  <a:gd name="T19" fmla="*/ 58 h 151"/>
                  <a:gd name="T20" fmla="*/ 0 w 111"/>
                  <a:gd name="T21" fmla="*/ 67 h 151"/>
                  <a:gd name="T22" fmla="*/ 0 w 111"/>
                  <a:gd name="T23" fmla="*/ 144 h 151"/>
                  <a:gd name="T24" fmla="*/ 2 w 111"/>
                  <a:gd name="T25" fmla="*/ 148 h 151"/>
                  <a:gd name="T26" fmla="*/ 2 w 111"/>
                  <a:gd name="T27" fmla="*/ 148 h 151"/>
                  <a:gd name="T28" fmla="*/ 6 w 111"/>
                  <a:gd name="T29"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1" h="151">
                    <a:moveTo>
                      <a:pt x="6" y="151"/>
                    </a:moveTo>
                    <a:cubicBezTo>
                      <a:pt x="15" y="140"/>
                      <a:pt x="15" y="140"/>
                      <a:pt x="15" y="140"/>
                    </a:cubicBezTo>
                    <a:cubicBezTo>
                      <a:pt x="101" y="90"/>
                      <a:pt x="101" y="90"/>
                      <a:pt x="101" y="90"/>
                    </a:cubicBezTo>
                    <a:cubicBezTo>
                      <a:pt x="104" y="89"/>
                      <a:pt x="106" y="84"/>
                      <a:pt x="106" y="81"/>
                    </a:cubicBezTo>
                    <a:cubicBezTo>
                      <a:pt x="106" y="10"/>
                      <a:pt x="106" y="10"/>
                      <a:pt x="106" y="10"/>
                    </a:cubicBezTo>
                    <a:cubicBezTo>
                      <a:pt x="111" y="4"/>
                      <a:pt x="111" y="4"/>
                      <a:pt x="111" y="4"/>
                    </a:cubicBezTo>
                    <a:cubicBezTo>
                      <a:pt x="106" y="1"/>
                      <a:pt x="106" y="1"/>
                      <a:pt x="106" y="1"/>
                    </a:cubicBezTo>
                    <a:cubicBezTo>
                      <a:pt x="106" y="1"/>
                      <a:pt x="106" y="1"/>
                      <a:pt x="106" y="1"/>
                    </a:cubicBezTo>
                    <a:cubicBezTo>
                      <a:pt x="105" y="0"/>
                      <a:pt x="104" y="0"/>
                      <a:pt x="103" y="1"/>
                    </a:cubicBezTo>
                    <a:cubicBezTo>
                      <a:pt x="5" y="58"/>
                      <a:pt x="5" y="58"/>
                      <a:pt x="5" y="58"/>
                    </a:cubicBezTo>
                    <a:cubicBezTo>
                      <a:pt x="2" y="59"/>
                      <a:pt x="0" y="64"/>
                      <a:pt x="0" y="67"/>
                    </a:cubicBezTo>
                    <a:cubicBezTo>
                      <a:pt x="0" y="144"/>
                      <a:pt x="0" y="144"/>
                      <a:pt x="0" y="144"/>
                    </a:cubicBezTo>
                    <a:cubicBezTo>
                      <a:pt x="0" y="146"/>
                      <a:pt x="1" y="148"/>
                      <a:pt x="2" y="148"/>
                    </a:cubicBezTo>
                    <a:cubicBezTo>
                      <a:pt x="2" y="148"/>
                      <a:pt x="2" y="148"/>
                      <a:pt x="2" y="148"/>
                    </a:cubicBezTo>
                    <a:lnTo>
                      <a:pt x="6" y="151"/>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iśľîḑè"/>
              <p:cNvSpPr/>
              <p:nvPr/>
            </p:nvSpPr>
            <p:spPr bwMode="auto">
              <a:xfrm>
                <a:off x="7409390" y="4241639"/>
                <a:ext cx="396790" cy="396790"/>
              </a:xfrm>
              <a:custGeom>
                <a:avLst/>
                <a:gdLst>
                  <a:gd name="T0" fmla="*/ 65 w 110"/>
                  <a:gd name="T1" fmla="*/ 110 h 110"/>
                  <a:gd name="T2" fmla="*/ 71 w 110"/>
                  <a:gd name="T3" fmla="*/ 107 h 110"/>
                  <a:gd name="T4" fmla="*/ 105 w 110"/>
                  <a:gd name="T5" fmla="*/ 48 h 110"/>
                  <a:gd name="T6" fmla="*/ 105 w 110"/>
                  <a:gd name="T7" fmla="*/ 10 h 110"/>
                  <a:gd name="T8" fmla="*/ 110 w 110"/>
                  <a:gd name="T9" fmla="*/ 4 h 110"/>
                  <a:gd name="T10" fmla="*/ 105 w 110"/>
                  <a:gd name="T11" fmla="*/ 1 h 110"/>
                  <a:gd name="T12" fmla="*/ 105 w 110"/>
                  <a:gd name="T13" fmla="*/ 1 h 110"/>
                  <a:gd name="T14" fmla="*/ 102 w 110"/>
                  <a:gd name="T15" fmla="*/ 1 h 110"/>
                  <a:gd name="T16" fmla="*/ 4 w 110"/>
                  <a:gd name="T17" fmla="*/ 58 h 110"/>
                  <a:gd name="T18" fmla="*/ 0 w 110"/>
                  <a:gd name="T19" fmla="*/ 62 h 110"/>
                  <a:gd name="T20" fmla="*/ 65 w 110"/>
                  <a:gd name="T21" fmla="*/ 11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0" h="110">
                    <a:moveTo>
                      <a:pt x="65" y="110"/>
                    </a:moveTo>
                    <a:cubicBezTo>
                      <a:pt x="71" y="107"/>
                      <a:pt x="71" y="107"/>
                      <a:pt x="71" y="107"/>
                    </a:cubicBezTo>
                    <a:cubicBezTo>
                      <a:pt x="105" y="48"/>
                      <a:pt x="105" y="48"/>
                      <a:pt x="105" y="48"/>
                    </a:cubicBezTo>
                    <a:cubicBezTo>
                      <a:pt x="105" y="10"/>
                      <a:pt x="105" y="10"/>
                      <a:pt x="105" y="10"/>
                    </a:cubicBezTo>
                    <a:cubicBezTo>
                      <a:pt x="110" y="4"/>
                      <a:pt x="110" y="4"/>
                      <a:pt x="110" y="4"/>
                    </a:cubicBezTo>
                    <a:cubicBezTo>
                      <a:pt x="105" y="1"/>
                      <a:pt x="105" y="1"/>
                      <a:pt x="105" y="1"/>
                    </a:cubicBezTo>
                    <a:cubicBezTo>
                      <a:pt x="105" y="1"/>
                      <a:pt x="105" y="1"/>
                      <a:pt x="105" y="1"/>
                    </a:cubicBezTo>
                    <a:cubicBezTo>
                      <a:pt x="104" y="0"/>
                      <a:pt x="103" y="0"/>
                      <a:pt x="102" y="1"/>
                    </a:cubicBezTo>
                    <a:cubicBezTo>
                      <a:pt x="4" y="58"/>
                      <a:pt x="4" y="58"/>
                      <a:pt x="4" y="58"/>
                    </a:cubicBezTo>
                    <a:cubicBezTo>
                      <a:pt x="3" y="58"/>
                      <a:pt x="1" y="60"/>
                      <a:pt x="0" y="62"/>
                    </a:cubicBezTo>
                    <a:lnTo>
                      <a:pt x="65" y="110"/>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ṡļidé"/>
              <p:cNvSpPr/>
              <p:nvPr/>
            </p:nvSpPr>
            <p:spPr bwMode="auto">
              <a:xfrm>
                <a:off x="7769793" y="4241639"/>
                <a:ext cx="36387" cy="22526"/>
              </a:xfrm>
              <a:custGeom>
                <a:avLst/>
                <a:gdLst>
                  <a:gd name="T0" fmla="*/ 8 w 10"/>
                  <a:gd name="T1" fmla="*/ 6 h 6"/>
                  <a:gd name="T2" fmla="*/ 10 w 10"/>
                  <a:gd name="T3" fmla="*/ 4 h 6"/>
                  <a:gd name="T4" fmla="*/ 5 w 10"/>
                  <a:gd name="T5" fmla="*/ 1 h 6"/>
                  <a:gd name="T6" fmla="*/ 5 w 10"/>
                  <a:gd name="T7" fmla="*/ 1 h 6"/>
                  <a:gd name="T8" fmla="*/ 2 w 10"/>
                  <a:gd name="T9" fmla="*/ 1 h 6"/>
                  <a:gd name="T10" fmla="*/ 0 w 10"/>
                  <a:gd name="T11" fmla="*/ 2 h 6"/>
                  <a:gd name="T12" fmla="*/ 8 w 1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 h="6">
                    <a:moveTo>
                      <a:pt x="8" y="6"/>
                    </a:moveTo>
                    <a:cubicBezTo>
                      <a:pt x="10" y="4"/>
                      <a:pt x="10" y="4"/>
                      <a:pt x="10" y="4"/>
                    </a:cubicBezTo>
                    <a:cubicBezTo>
                      <a:pt x="5" y="1"/>
                      <a:pt x="5" y="1"/>
                      <a:pt x="5" y="1"/>
                    </a:cubicBezTo>
                    <a:cubicBezTo>
                      <a:pt x="5" y="1"/>
                      <a:pt x="5" y="1"/>
                      <a:pt x="5" y="1"/>
                    </a:cubicBezTo>
                    <a:cubicBezTo>
                      <a:pt x="4" y="0"/>
                      <a:pt x="3" y="0"/>
                      <a:pt x="2" y="1"/>
                    </a:cubicBezTo>
                    <a:cubicBezTo>
                      <a:pt x="0" y="2"/>
                      <a:pt x="0" y="2"/>
                      <a:pt x="0" y="2"/>
                    </a:cubicBezTo>
                    <a:lnTo>
                      <a:pt x="8" y="6"/>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îš1íďe"/>
              <p:cNvSpPr/>
              <p:nvPr/>
            </p:nvSpPr>
            <p:spPr bwMode="auto">
              <a:xfrm>
                <a:off x="7405925" y="4451297"/>
                <a:ext cx="50249" cy="50249"/>
              </a:xfrm>
              <a:custGeom>
                <a:avLst/>
                <a:gdLst>
                  <a:gd name="T0" fmla="*/ 4 w 14"/>
                  <a:gd name="T1" fmla="*/ 0 h 14"/>
                  <a:gd name="T2" fmla="*/ 0 w 14"/>
                  <a:gd name="T3" fmla="*/ 8 h 14"/>
                  <a:gd name="T4" fmla="*/ 10 w 14"/>
                  <a:gd name="T5" fmla="*/ 14 h 14"/>
                  <a:gd name="T6" fmla="*/ 14 w 14"/>
                  <a:gd name="T7" fmla="*/ 6 h 14"/>
                  <a:gd name="T8" fmla="*/ 4 w 14"/>
                  <a:gd name="T9" fmla="*/ 0 h 14"/>
                </a:gdLst>
                <a:ahLst/>
                <a:cxnLst>
                  <a:cxn ang="0">
                    <a:pos x="T0" y="T1"/>
                  </a:cxn>
                  <a:cxn ang="0">
                    <a:pos x="T2" y="T3"/>
                  </a:cxn>
                  <a:cxn ang="0">
                    <a:pos x="T4" y="T5"/>
                  </a:cxn>
                  <a:cxn ang="0">
                    <a:pos x="T6" y="T7"/>
                  </a:cxn>
                  <a:cxn ang="0">
                    <a:pos x="T8" y="T9"/>
                  </a:cxn>
                </a:cxnLst>
                <a:rect l="0" t="0" r="r" b="b"/>
                <a:pathLst>
                  <a:path w="14" h="14">
                    <a:moveTo>
                      <a:pt x="4" y="0"/>
                    </a:moveTo>
                    <a:cubicBezTo>
                      <a:pt x="2" y="2"/>
                      <a:pt x="0" y="5"/>
                      <a:pt x="0" y="8"/>
                    </a:cubicBezTo>
                    <a:cubicBezTo>
                      <a:pt x="10" y="14"/>
                      <a:pt x="10" y="14"/>
                      <a:pt x="10" y="14"/>
                    </a:cubicBezTo>
                    <a:cubicBezTo>
                      <a:pt x="14" y="6"/>
                      <a:pt x="14" y="6"/>
                      <a:pt x="14" y="6"/>
                    </a:cubicBezTo>
                    <a:lnTo>
                      <a:pt x="4" y="0"/>
                    </a:ln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ïŝļíḍe"/>
              <p:cNvSpPr/>
              <p:nvPr/>
            </p:nvSpPr>
            <p:spPr bwMode="auto">
              <a:xfrm>
                <a:off x="7423252" y="4248570"/>
                <a:ext cx="386394" cy="540604"/>
              </a:xfrm>
              <a:custGeom>
                <a:avLst/>
                <a:gdLst>
                  <a:gd name="T0" fmla="*/ 5 w 107"/>
                  <a:gd name="T1" fmla="*/ 58 h 150"/>
                  <a:gd name="T2" fmla="*/ 102 w 107"/>
                  <a:gd name="T3" fmla="*/ 2 h 150"/>
                  <a:gd name="T4" fmla="*/ 107 w 107"/>
                  <a:gd name="T5" fmla="*/ 6 h 150"/>
                  <a:gd name="T6" fmla="*/ 107 w 107"/>
                  <a:gd name="T7" fmla="*/ 82 h 150"/>
                  <a:gd name="T8" fmla="*/ 102 w 107"/>
                  <a:gd name="T9" fmla="*/ 92 h 150"/>
                  <a:gd name="T10" fmla="*/ 5 w 107"/>
                  <a:gd name="T11" fmla="*/ 149 h 150"/>
                  <a:gd name="T12" fmla="*/ 0 w 107"/>
                  <a:gd name="T13" fmla="*/ 145 h 150"/>
                  <a:gd name="T14" fmla="*/ 0 w 107"/>
                  <a:gd name="T15" fmla="*/ 68 h 150"/>
                  <a:gd name="T16" fmla="*/ 5 w 107"/>
                  <a:gd name="T17" fmla="*/ 5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50">
                    <a:moveTo>
                      <a:pt x="5" y="58"/>
                    </a:moveTo>
                    <a:cubicBezTo>
                      <a:pt x="102" y="2"/>
                      <a:pt x="102" y="2"/>
                      <a:pt x="102" y="2"/>
                    </a:cubicBezTo>
                    <a:cubicBezTo>
                      <a:pt x="105" y="0"/>
                      <a:pt x="107" y="2"/>
                      <a:pt x="107" y="6"/>
                    </a:cubicBezTo>
                    <a:cubicBezTo>
                      <a:pt x="107" y="82"/>
                      <a:pt x="107" y="82"/>
                      <a:pt x="107" y="82"/>
                    </a:cubicBezTo>
                    <a:cubicBezTo>
                      <a:pt x="107" y="86"/>
                      <a:pt x="105" y="90"/>
                      <a:pt x="102" y="92"/>
                    </a:cubicBezTo>
                    <a:cubicBezTo>
                      <a:pt x="5" y="149"/>
                      <a:pt x="5" y="149"/>
                      <a:pt x="5" y="149"/>
                    </a:cubicBezTo>
                    <a:cubicBezTo>
                      <a:pt x="2" y="150"/>
                      <a:pt x="0" y="148"/>
                      <a:pt x="0" y="145"/>
                    </a:cubicBezTo>
                    <a:cubicBezTo>
                      <a:pt x="0" y="68"/>
                      <a:pt x="0" y="68"/>
                      <a:pt x="0" y="68"/>
                    </a:cubicBezTo>
                    <a:cubicBezTo>
                      <a:pt x="0" y="64"/>
                      <a:pt x="2" y="60"/>
                      <a:pt x="5" y="58"/>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ïşḻïḋê"/>
              <p:cNvSpPr/>
              <p:nvPr/>
            </p:nvSpPr>
            <p:spPr bwMode="auto">
              <a:xfrm>
                <a:off x="7567067" y="4180995"/>
                <a:ext cx="95299" cy="266837"/>
              </a:xfrm>
              <a:custGeom>
                <a:avLst/>
                <a:gdLst>
                  <a:gd name="T0" fmla="*/ 22 w 26"/>
                  <a:gd name="T1" fmla="*/ 20 h 74"/>
                  <a:gd name="T2" fmla="*/ 25 w 26"/>
                  <a:gd name="T3" fmla="*/ 53 h 74"/>
                  <a:gd name="T4" fmla="*/ 17 w 26"/>
                  <a:gd name="T5" fmla="*/ 73 h 74"/>
                  <a:gd name="T6" fmla="*/ 11 w 26"/>
                  <a:gd name="T7" fmla="*/ 45 h 74"/>
                  <a:gd name="T8" fmla="*/ 3 w 26"/>
                  <a:gd name="T9" fmla="*/ 52 h 74"/>
                  <a:gd name="T10" fmla="*/ 5 w 26"/>
                  <a:gd name="T11" fmla="*/ 11 h 74"/>
                  <a:gd name="T12" fmla="*/ 22 w 26"/>
                  <a:gd name="T13" fmla="*/ 20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22" y="20"/>
                    </a:moveTo>
                    <a:cubicBezTo>
                      <a:pt x="22" y="20"/>
                      <a:pt x="26" y="45"/>
                      <a:pt x="25" y="53"/>
                    </a:cubicBezTo>
                    <a:cubicBezTo>
                      <a:pt x="25" y="61"/>
                      <a:pt x="20" y="74"/>
                      <a:pt x="17" y="73"/>
                    </a:cubicBezTo>
                    <a:cubicBezTo>
                      <a:pt x="14" y="73"/>
                      <a:pt x="17" y="42"/>
                      <a:pt x="11" y="45"/>
                    </a:cubicBezTo>
                    <a:cubicBezTo>
                      <a:pt x="6" y="48"/>
                      <a:pt x="5" y="53"/>
                      <a:pt x="3" y="52"/>
                    </a:cubicBezTo>
                    <a:cubicBezTo>
                      <a:pt x="0" y="50"/>
                      <a:pt x="7" y="23"/>
                      <a:pt x="5" y="11"/>
                    </a:cubicBezTo>
                    <a:cubicBezTo>
                      <a:pt x="3" y="0"/>
                      <a:pt x="22" y="20"/>
                      <a:pt x="22" y="20"/>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ïŝ1íḓè"/>
              <p:cNvSpPr/>
              <p:nvPr/>
            </p:nvSpPr>
            <p:spPr bwMode="auto">
              <a:xfrm>
                <a:off x="7035126" y="4023318"/>
                <a:ext cx="93566" cy="265104"/>
              </a:xfrm>
              <a:custGeom>
                <a:avLst/>
                <a:gdLst>
                  <a:gd name="T0" fmla="*/ 4 w 26"/>
                  <a:gd name="T1" fmla="*/ 21 h 74"/>
                  <a:gd name="T2" fmla="*/ 1 w 26"/>
                  <a:gd name="T3" fmla="*/ 53 h 74"/>
                  <a:gd name="T4" fmla="*/ 9 w 26"/>
                  <a:gd name="T5" fmla="*/ 74 h 74"/>
                  <a:gd name="T6" fmla="*/ 14 w 26"/>
                  <a:gd name="T7" fmla="*/ 45 h 74"/>
                  <a:gd name="T8" fmla="*/ 23 w 26"/>
                  <a:gd name="T9" fmla="*/ 52 h 74"/>
                  <a:gd name="T10" fmla="*/ 21 w 26"/>
                  <a:gd name="T11" fmla="*/ 11 h 74"/>
                  <a:gd name="T12" fmla="*/ 4 w 26"/>
                  <a:gd name="T13" fmla="*/ 21 h 74"/>
                </a:gdLst>
                <a:ahLst/>
                <a:cxnLst>
                  <a:cxn ang="0">
                    <a:pos x="T0" y="T1"/>
                  </a:cxn>
                  <a:cxn ang="0">
                    <a:pos x="T2" y="T3"/>
                  </a:cxn>
                  <a:cxn ang="0">
                    <a:pos x="T4" y="T5"/>
                  </a:cxn>
                  <a:cxn ang="0">
                    <a:pos x="T6" y="T7"/>
                  </a:cxn>
                  <a:cxn ang="0">
                    <a:pos x="T8" y="T9"/>
                  </a:cxn>
                  <a:cxn ang="0">
                    <a:pos x="T10" y="T11"/>
                  </a:cxn>
                  <a:cxn ang="0">
                    <a:pos x="T12" y="T13"/>
                  </a:cxn>
                </a:cxnLst>
                <a:rect l="0" t="0" r="r" b="b"/>
                <a:pathLst>
                  <a:path w="26" h="74">
                    <a:moveTo>
                      <a:pt x="4" y="21"/>
                    </a:moveTo>
                    <a:cubicBezTo>
                      <a:pt x="4" y="21"/>
                      <a:pt x="0" y="45"/>
                      <a:pt x="1" y="53"/>
                    </a:cubicBezTo>
                    <a:cubicBezTo>
                      <a:pt x="1" y="61"/>
                      <a:pt x="6" y="74"/>
                      <a:pt x="9" y="74"/>
                    </a:cubicBezTo>
                    <a:cubicBezTo>
                      <a:pt x="12" y="73"/>
                      <a:pt x="9" y="42"/>
                      <a:pt x="14" y="45"/>
                    </a:cubicBezTo>
                    <a:cubicBezTo>
                      <a:pt x="20" y="48"/>
                      <a:pt x="21" y="54"/>
                      <a:pt x="23" y="52"/>
                    </a:cubicBezTo>
                    <a:cubicBezTo>
                      <a:pt x="26" y="50"/>
                      <a:pt x="19" y="23"/>
                      <a:pt x="21" y="11"/>
                    </a:cubicBezTo>
                    <a:cubicBezTo>
                      <a:pt x="23" y="0"/>
                      <a:pt x="4" y="21"/>
                      <a:pt x="4" y="21"/>
                    </a:cubicBezTo>
                    <a:close/>
                  </a:path>
                </a:pathLst>
              </a:custGeom>
              <a:solidFill>
                <a:srgbClr val="FFC2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ṩľîḑè"/>
              <p:cNvSpPr/>
              <p:nvPr/>
            </p:nvSpPr>
            <p:spPr bwMode="auto">
              <a:xfrm>
                <a:off x="7172010" y="3215877"/>
                <a:ext cx="190598" cy="102230"/>
              </a:xfrm>
              <a:custGeom>
                <a:avLst/>
                <a:gdLst>
                  <a:gd name="T0" fmla="*/ 24 w 53"/>
                  <a:gd name="T1" fmla="*/ 21 h 28"/>
                  <a:gd name="T2" fmla="*/ 0 w 53"/>
                  <a:gd name="T3" fmla="*/ 23 h 28"/>
                  <a:gd name="T4" fmla="*/ 0 w 53"/>
                  <a:gd name="T5" fmla="*/ 20 h 28"/>
                  <a:gd name="T6" fmla="*/ 1 w 53"/>
                  <a:gd name="T7" fmla="*/ 7 h 28"/>
                  <a:gd name="T8" fmla="*/ 53 w 53"/>
                  <a:gd name="T9" fmla="*/ 0 h 28"/>
                  <a:gd name="T10" fmla="*/ 24 w 53"/>
                  <a:gd name="T11" fmla="*/ 21 h 28"/>
                </a:gdLst>
                <a:ahLst/>
                <a:cxnLst>
                  <a:cxn ang="0">
                    <a:pos x="T0" y="T1"/>
                  </a:cxn>
                  <a:cxn ang="0">
                    <a:pos x="T2" y="T3"/>
                  </a:cxn>
                  <a:cxn ang="0">
                    <a:pos x="T4" y="T5"/>
                  </a:cxn>
                  <a:cxn ang="0">
                    <a:pos x="T6" y="T7"/>
                  </a:cxn>
                  <a:cxn ang="0">
                    <a:pos x="T8" y="T9"/>
                  </a:cxn>
                  <a:cxn ang="0">
                    <a:pos x="T10" y="T11"/>
                  </a:cxn>
                </a:cxnLst>
                <a:rect l="0" t="0" r="r" b="b"/>
                <a:pathLst>
                  <a:path w="53" h="28">
                    <a:moveTo>
                      <a:pt x="24" y="21"/>
                    </a:moveTo>
                    <a:cubicBezTo>
                      <a:pt x="4" y="28"/>
                      <a:pt x="1" y="23"/>
                      <a:pt x="0" y="23"/>
                    </a:cubicBezTo>
                    <a:cubicBezTo>
                      <a:pt x="0" y="22"/>
                      <a:pt x="0" y="21"/>
                      <a:pt x="0" y="20"/>
                    </a:cubicBezTo>
                    <a:cubicBezTo>
                      <a:pt x="0" y="15"/>
                      <a:pt x="0" y="11"/>
                      <a:pt x="1" y="7"/>
                    </a:cubicBezTo>
                    <a:cubicBezTo>
                      <a:pt x="53" y="0"/>
                      <a:pt x="53" y="0"/>
                      <a:pt x="53" y="0"/>
                    </a:cubicBezTo>
                    <a:cubicBezTo>
                      <a:pt x="53" y="0"/>
                      <a:pt x="44" y="14"/>
                      <a:pt x="24" y="21"/>
                    </a:cubicBezTo>
                    <a:close/>
                  </a:path>
                </a:pathLst>
              </a:custGeom>
              <a:solidFill>
                <a:srgbClr val="EA9C9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íŝḷïḋè"/>
              <p:cNvSpPr/>
              <p:nvPr/>
            </p:nvSpPr>
            <p:spPr bwMode="auto">
              <a:xfrm>
                <a:off x="7099237" y="3061667"/>
                <a:ext cx="400256" cy="370799"/>
              </a:xfrm>
              <a:custGeom>
                <a:avLst/>
                <a:gdLst>
                  <a:gd name="T0" fmla="*/ 19 w 111"/>
                  <a:gd name="T1" fmla="*/ 23 h 103"/>
                  <a:gd name="T2" fmla="*/ 70 w 111"/>
                  <a:gd name="T3" fmla="*/ 4 h 103"/>
                  <a:gd name="T4" fmla="*/ 108 w 111"/>
                  <a:gd name="T5" fmla="*/ 49 h 103"/>
                  <a:gd name="T6" fmla="*/ 90 w 111"/>
                  <a:gd name="T7" fmla="*/ 103 h 103"/>
                  <a:gd name="T8" fmla="*/ 88 w 111"/>
                  <a:gd name="T9" fmla="*/ 102 h 103"/>
                  <a:gd name="T10" fmla="*/ 80 w 111"/>
                  <a:gd name="T11" fmla="*/ 94 h 103"/>
                  <a:gd name="T12" fmla="*/ 78 w 111"/>
                  <a:gd name="T13" fmla="*/ 79 h 103"/>
                  <a:gd name="T14" fmla="*/ 82 w 111"/>
                  <a:gd name="T15" fmla="*/ 75 h 103"/>
                  <a:gd name="T16" fmla="*/ 87 w 111"/>
                  <a:gd name="T17" fmla="*/ 72 h 103"/>
                  <a:gd name="T18" fmla="*/ 81 w 111"/>
                  <a:gd name="T19" fmla="*/ 57 h 103"/>
                  <a:gd name="T20" fmla="*/ 74 w 111"/>
                  <a:gd name="T21" fmla="*/ 52 h 103"/>
                  <a:gd name="T22" fmla="*/ 69 w 111"/>
                  <a:gd name="T23" fmla="*/ 50 h 103"/>
                  <a:gd name="T24" fmla="*/ 20 w 111"/>
                  <a:gd name="T25" fmla="*/ 56 h 103"/>
                  <a:gd name="T26" fmla="*/ 19 w 111"/>
                  <a:gd name="T27" fmla="*/ 2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03">
                    <a:moveTo>
                      <a:pt x="19" y="23"/>
                    </a:moveTo>
                    <a:cubicBezTo>
                      <a:pt x="23" y="19"/>
                      <a:pt x="40" y="0"/>
                      <a:pt x="70" y="4"/>
                    </a:cubicBezTo>
                    <a:cubicBezTo>
                      <a:pt x="89" y="7"/>
                      <a:pt x="105" y="20"/>
                      <a:pt x="108" y="49"/>
                    </a:cubicBezTo>
                    <a:cubicBezTo>
                      <a:pt x="111" y="69"/>
                      <a:pt x="103" y="88"/>
                      <a:pt x="90" y="103"/>
                    </a:cubicBezTo>
                    <a:cubicBezTo>
                      <a:pt x="89" y="103"/>
                      <a:pt x="89" y="102"/>
                      <a:pt x="88" y="102"/>
                    </a:cubicBezTo>
                    <a:cubicBezTo>
                      <a:pt x="80" y="97"/>
                      <a:pt x="80" y="94"/>
                      <a:pt x="80" y="94"/>
                    </a:cubicBezTo>
                    <a:cubicBezTo>
                      <a:pt x="78" y="79"/>
                      <a:pt x="78" y="79"/>
                      <a:pt x="78" y="79"/>
                    </a:cubicBezTo>
                    <a:cubicBezTo>
                      <a:pt x="78" y="77"/>
                      <a:pt x="80" y="75"/>
                      <a:pt x="82" y="75"/>
                    </a:cubicBezTo>
                    <a:cubicBezTo>
                      <a:pt x="83" y="75"/>
                      <a:pt x="85" y="74"/>
                      <a:pt x="87" y="72"/>
                    </a:cubicBezTo>
                    <a:cubicBezTo>
                      <a:pt x="91" y="66"/>
                      <a:pt x="89" y="57"/>
                      <a:pt x="81" y="57"/>
                    </a:cubicBezTo>
                    <a:cubicBezTo>
                      <a:pt x="76" y="57"/>
                      <a:pt x="75" y="54"/>
                      <a:pt x="74" y="52"/>
                    </a:cubicBezTo>
                    <a:cubicBezTo>
                      <a:pt x="73" y="50"/>
                      <a:pt x="71" y="49"/>
                      <a:pt x="69" y="50"/>
                    </a:cubicBezTo>
                    <a:cubicBezTo>
                      <a:pt x="60" y="53"/>
                      <a:pt x="35" y="61"/>
                      <a:pt x="20" y="56"/>
                    </a:cubicBezTo>
                    <a:cubicBezTo>
                      <a:pt x="0" y="51"/>
                      <a:pt x="14" y="27"/>
                      <a:pt x="19" y="23"/>
                    </a:cubicBezTo>
                    <a:close/>
                  </a:path>
                </a:pathLst>
              </a:custGeom>
              <a:solidFill>
                <a:srgbClr val="6614C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lïḓè"/>
              <p:cNvSpPr/>
              <p:nvPr/>
            </p:nvSpPr>
            <p:spPr bwMode="auto">
              <a:xfrm>
                <a:off x="7203199" y="3342365"/>
                <a:ext cx="86635" cy="50249"/>
              </a:xfrm>
              <a:custGeom>
                <a:avLst/>
                <a:gdLst>
                  <a:gd name="T0" fmla="*/ 12 w 24"/>
                  <a:gd name="T1" fmla="*/ 4 h 14"/>
                  <a:gd name="T2" fmla="*/ 0 w 24"/>
                  <a:gd name="T3" fmla="*/ 0 h 14"/>
                  <a:gd name="T4" fmla="*/ 14 w 24"/>
                  <a:gd name="T5" fmla="*/ 12 h 14"/>
                  <a:gd name="T6" fmla="*/ 24 w 24"/>
                  <a:gd name="T7" fmla="*/ 7 h 14"/>
                  <a:gd name="T8" fmla="*/ 12 w 24"/>
                  <a:gd name="T9" fmla="*/ 4 h 14"/>
                </a:gdLst>
                <a:ahLst/>
                <a:cxnLst>
                  <a:cxn ang="0">
                    <a:pos x="T0" y="T1"/>
                  </a:cxn>
                  <a:cxn ang="0">
                    <a:pos x="T2" y="T3"/>
                  </a:cxn>
                  <a:cxn ang="0">
                    <a:pos x="T4" y="T5"/>
                  </a:cxn>
                  <a:cxn ang="0">
                    <a:pos x="T6" y="T7"/>
                  </a:cxn>
                  <a:cxn ang="0">
                    <a:pos x="T8" y="T9"/>
                  </a:cxn>
                </a:cxnLst>
                <a:rect l="0" t="0" r="r" b="b"/>
                <a:pathLst>
                  <a:path w="24" h="14">
                    <a:moveTo>
                      <a:pt x="12" y="4"/>
                    </a:moveTo>
                    <a:cubicBezTo>
                      <a:pt x="0" y="0"/>
                      <a:pt x="0" y="0"/>
                      <a:pt x="0" y="0"/>
                    </a:cubicBezTo>
                    <a:cubicBezTo>
                      <a:pt x="0" y="0"/>
                      <a:pt x="6" y="9"/>
                      <a:pt x="14" y="12"/>
                    </a:cubicBezTo>
                    <a:cubicBezTo>
                      <a:pt x="22" y="14"/>
                      <a:pt x="24" y="7"/>
                      <a:pt x="24" y="7"/>
                    </a:cubicBezTo>
                    <a:lnTo>
                      <a:pt x="12" y="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iŝḻíḑé"/>
              <p:cNvSpPr/>
              <p:nvPr/>
            </p:nvSpPr>
            <p:spPr bwMode="auto">
              <a:xfrm>
                <a:off x="7572265" y="4342136"/>
                <a:ext cx="38120" cy="29457"/>
              </a:xfrm>
              <a:custGeom>
                <a:avLst/>
                <a:gdLst>
                  <a:gd name="T0" fmla="*/ 0 w 22"/>
                  <a:gd name="T1" fmla="*/ 13 h 17"/>
                  <a:gd name="T2" fmla="*/ 22 w 22"/>
                  <a:gd name="T3" fmla="*/ 0 h 17"/>
                  <a:gd name="T4" fmla="*/ 14 w 22"/>
                  <a:gd name="T5" fmla="*/ 13 h 17"/>
                  <a:gd name="T6" fmla="*/ 2 w 22"/>
                  <a:gd name="T7" fmla="*/ 17 h 17"/>
                  <a:gd name="T8" fmla="*/ 0 w 22"/>
                  <a:gd name="T9" fmla="*/ 13 h 17"/>
                </a:gdLst>
                <a:ahLst/>
                <a:cxnLst>
                  <a:cxn ang="0">
                    <a:pos x="T0" y="T1"/>
                  </a:cxn>
                  <a:cxn ang="0">
                    <a:pos x="T2" y="T3"/>
                  </a:cxn>
                  <a:cxn ang="0">
                    <a:pos x="T4" y="T5"/>
                  </a:cxn>
                  <a:cxn ang="0">
                    <a:pos x="T6" y="T7"/>
                  </a:cxn>
                  <a:cxn ang="0">
                    <a:pos x="T8" y="T9"/>
                  </a:cxn>
                </a:cxnLst>
                <a:rect l="0" t="0" r="r" b="b"/>
                <a:pathLst>
                  <a:path w="22" h="17">
                    <a:moveTo>
                      <a:pt x="0" y="13"/>
                    </a:moveTo>
                    <a:lnTo>
                      <a:pt x="22" y="0"/>
                    </a:lnTo>
                    <a:lnTo>
                      <a:pt x="14" y="13"/>
                    </a:lnTo>
                    <a:lnTo>
                      <a:pt x="2" y="17"/>
                    </a:lnTo>
                    <a:lnTo>
                      <a:pt x="0" y="13"/>
                    </a:lnTo>
                    <a:close/>
                  </a:path>
                </a:pathLst>
              </a:custGeom>
              <a:solidFill>
                <a:srgbClr val="D29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îs1ïdè"/>
              <p:cNvSpPr/>
              <p:nvPr/>
            </p:nvSpPr>
            <p:spPr bwMode="auto">
              <a:xfrm>
                <a:off x="5049445" y="1316832"/>
                <a:ext cx="1912907" cy="3623088"/>
              </a:xfrm>
              <a:custGeom>
                <a:avLst/>
                <a:gdLst>
                  <a:gd name="T0" fmla="*/ 488 w 531"/>
                  <a:gd name="T1" fmla="*/ 176 h 1007"/>
                  <a:gd name="T2" fmla="*/ 208 w 531"/>
                  <a:gd name="T3" fmla="*/ 8 h 1007"/>
                  <a:gd name="T4" fmla="*/ 172 w 531"/>
                  <a:gd name="T5" fmla="*/ 5 h 1007"/>
                  <a:gd name="T6" fmla="*/ 172 w 531"/>
                  <a:gd name="T7" fmla="*/ 5 h 1007"/>
                  <a:gd name="T8" fmla="*/ 145 w 531"/>
                  <a:gd name="T9" fmla="*/ 14 h 1007"/>
                  <a:gd name="T10" fmla="*/ 165 w 531"/>
                  <a:gd name="T11" fmla="*/ 14 h 1007"/>
                  <a:gd name="T12" fmla="*/ 156 w 531"/>
                  <a:gd name="T13" fmla="*/ 38 h 1007"/>
                  <a:gd name="T14" fmla="*/ 8 w 531"/>
                  <a:gd name="T15" fmla="*/ 718 h 1007"/>
                  <a:gd name="T16" fmla="*/ 43 w 531"/>
                  <a:gd name="T17" fmla="*/ 817 h 1007"/>
                  <a:gd name="T18" fmla="*/ 324 w 531"/>
                  <a:gd name="T19" fmla="*/ 986 h 1007"/>
                  <a:gd name="T20" fmla="*/ 333 w 531"/>
                  <a:gd name="T21" fmla="*/ 990 h 1007"/>
                  <a:gd name="T22" fmla="*/ 322 w 531"/>
                  <a:gd name="T23" fmla="*/ 1007 h 1007"/>
                  <a:gd name="T24" fmla="*/ 345 w 531"/>
                  <a:gd name="T25" fmla="*/ 999 h 1007"/>
                  <a:gd name="T26" fmla="*/ 345 w 531"/>
                  <a:gd name="T27" fmla="*/ 999 h 1007"/>
                  <a:gd name="T28" fmla="*/ 375 w 531"/>
                  <a:gd name="T29" fmla="*/ 956 h 1007"/>
                  <a:gd name="T30" fmla="*/ 523 w 531"/>
                  <a:gd name="T31" fmla="*/ 276 h 1007"/>
                  <a:gd name="T32" fmla="*/ 488 w 531"/>
                  <a:gd name="T33" fmla="*/ 176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007">
                    <a:moveTo>
                      <a:pt x="488" y="176"/>
                    </a:moveTo>
                    <a:cubicBezTo>
                      <a:pt x="208" y="8"/>
                      <a:pt x="208" y="8"/>
                      <a:pt x="208" y="8"/>
                    </a:cubicBezTo>
                    <a:cubicBezTo>
                      <a:pt x="195" y="0"/>
                      <a:pt x="183" y="0"/>
                      <a:pt x="172" y="5"/>
                    </a:cubicBezTo>
                    <a:cubicBezTo>
                      <a:pt x="172" y="5"/>
                      <a:pt x="172" y="5"/>
                      <a:pt x="172" y="5"/>
                    </a:cubicBezTo>
                    <a:cubicBezTo>
                      <a:pt x="145" y="14"/>
                      <a:pt x="145" y="14"/>
                      <a:pt x="145" y="14"/>
                    </a:cubicBezTo>
                    <a:cubicBezTo>
                      <a:pt x="165" y="14"/>
                      <a:pt x="165" y="14"/>
                      <a:pt x="165" y="14"/>
                    </a:cubicBezTo>
                    <a:cubicBezTo>
                      <a:pt x="161" y="21"/>
                      <a:pt x="158" y="29"/>
                      <a:pt x="156" y="38"/>
                    </a:cubicBezTo>
                    <a:cubicBezTo>
                      <a:pt x="8" y="718"/>
                      <a:pt x="8" y="718"/>
                      <a:pt x="8" y="718"/>
                    </a:cubicBezTo>
                    <a:cubicBezTo>
                      <a:pt x="0" y="756"/>
                      <a:pt x="16" y="801"/>
                      <a:pt x="43" y="817"/>
                    </a:cubicBezTo>
                    <a:cubicBezTo>
                      <a:pt x="324" y="986"/>
                      <a:pt x="324" y="986"/>
                      <a:pt x="324" y="986"/>
                    </a:cubicBezTo>
                    <a:cubicBezTo>
                      <a:pt x="327" y="988"/>
                      <a:pt x="330" y="989"/>
                      <a:pt x="333" y="990"/>
                    </a:cubicBezTo>
                    <a:cubicBezTo>
                      <a:pt x="322" y="1007"/>
                      <a:pt x="322" y="1007"/>
                      <a:pt x="322" y="1007"/>
                    </a:cubicBezTo>
                    <a:cubicBezTo>
                      <a:pt x="345" y="999"/>
                      <a:pt x="345" y="999"/>
                      <a:pt x="345" y="999"/>
                    </a:cubicBezTo>
                    <a:cubicBezTo>
                      <a:pt x="345" y="999"/>
                      <a:pt x="345" y="999"/>
                      <a:pt x="345" y="999"/>
                    </a:cubicBezTo>
                    <a:cubicBezTo>
                      <a:pt x="359" y="993"/>
                      <a:pt x="370" y="978"/>
                      <a:pt x="375" y="956"/>
                    </a:cubicBezTo>
                    <a:cubicBezTo>
                      <a:pt x="523" y="276"/>
                      <a:pt x="523" y="276"/>
                      <a:pt x="523" y="276"/>
                    </a:cubicBezTo>
                    <a:cubicBezTo>
                      <a:pt x="531" y="238"/>
                      <a:pt x="516" y="193"/>
                      <a:pt x="488" y="176"/>
                    </a:cubicBezTo>
                    <a:close/>
                  </a:path>
                </a:pathLst>
              </a:custGeom>
              <a:solidFill>
                <a:srgbClr val="173D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ś1îḍè"/>
              <p:cNvSpPr/>
              <p:nvPr/>
            </p:nvSpPr>
            <p:spPr bwMode="auto">
              <a:xfrm>
                <a:off x="4909097" y="1316832"/>
                <a:ext cx="1963156" cy="3673336"/>
              </a:xfrm>
              <a:custGeom>
                <a:avLst/>
                <a:gdLst>
                  <a:gd name="T0" fmla="*/ 323 w 545"/>
                  <a:gd name="T1" fmla="*/ 1004 h 1021"/>
                  <a:gd name="T2" fmla="*/ 43 w 545"/>
                  <a:gd name="T3" fmla="*/ 836 h 1021"/>
                  <a:gd name="T4" fmla="*/ 8 w 545"/>
                  <a:gd name="T5" fmla="*/ 736 h 1021"/>
                  <a:gd name="T6" fmla="*/ 156 w 545"/>
                  <a:gd name="T7" fmla="*/ 56 h 1021"/>
                  <a:gd name="T8" fmla="*/ 222 w 545"/>
                  <a:gd name="T9" fmla="*/ 17 h 1021"/>
                  <a:gd name="T10" fmla="*/ 502 w 545"/>
                  <a:gd name="T11" fmla="*/ 185 h 1021"/>
                  <a:gd name="T12" fmla="*/ 537 w 545"/>
                  <a:gd name="T13" fmla="*/ 285 h 1021"/>
                  <a:gd name="T14" fmla="*/ 389 w 545"/>
                  <a:gd name="T15" fmla="*/ 965 h 1021"/>
                  <a:gd name="T16" fmla="*/ 323 w 545"/>
                  <a:gd name="T17" fmla="*/ 1004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5" h="1021">
                    <a:moveTo>
                      <a:pt x="323" y="1004"/>
                    </a:moveTo>
                    <a:cubicBezTo>
                      <a:pt x="43" y="836"/>
                      <a:pt x="43" y="836"/>
                      <a:pt x="43" y="836"/>
                    </a:cubicBezTo>
                    <a:cubicBezTo>
                      <a:pt x="15" y="819"/>
                      <a:pt x="0" y="775"/>
                      <a:pt x="8" y="736"/>
                    </a:cubicBezTo>
                    <a:cubicBezTo>
                      <a:pt x="156" y="56"/>
                      <a:pt x="156" y="56"/>
                      <a:pt x="156" y="56"/>
                    </a:cubicBezTo>
                    <a:cubicBezTo>
                      <a:pt x="165" y="18"/>
                      <a:pt x="194" y="0"/>
                      <a:pt x="222" y="17"/>
                    </a:cubicBezTo>
                    <a:cubicBezTo>
                      <a:pt x="502" y="185"/>
                      <a:pt x="502" y="185"/>
                      <a:pt x="502" y="185"/>
                    </a:cubicBezTo>
                    <a:cubicBezTo>
                      <a:pt x="530" y="202"/>
                      <a:pt x="545" y="246"/>
                      <a:pt x="537" y="285"/>
                    </a:cubicBezTo>
                    <a:cubicBezTo>
                      <a:pt x="389" y="965"/>
                      <a:pt x="389" y="965"/>
                      <a:pt x="389" y="965"/>
                    </a:cubicBezTo>
                    <a:cubicBezTo>
                      <a:pt x="380" y="1003"/>
                      <a:pt x="351" y="1021"/>
                      <a:pt x="323" y="100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î$1idé"/>
              <p:cNvSpPr/>
              <p:nvPr/>
            </p:nvSpPr>
            <p:spPr bwMode="auto">
              <a:xfrm>
                <a:off x="4966275" y="1398270"/>
                <a:ext cx="1848797" cy="3510461"/>
              </a:xfrm>
              <a:custGeom>
                <a:avLst/>
                <a:gdLst>
                  <a:gd name="T0" fmla="*/ 308 w 513"/>
                  <a:gd name="T1" fmla="*/ 962 h 975"/>
                  <a:gd name="T2" fmla="*/ 34 w 513"/>
                  <a:gd name="T3" fmla="*/ 798 h 975"/>
                  <a:gd name="T4" fmla="*/ 7 w 513"/>
                  <a:gd name="T5" fmla="*/ 720 h 975"/>
                  <a:gd name="T6" fmla="*/ 154 w 513"/>
                  <a:gd name="T7" fmla="*/ 44 h 975"/>
                  <a:gd name="T8" fmla="*/ 205 w 513"/>
                  <a:gd name="T9" fmla="*/ 13 h 975"/>
                  <a:gd name="T10" fmla="*/ 479 w 513"/>
                  <a:gd name="T11" fmla="*/ 177 h 975"/>
                  <a:gd name="T12" fmla="*/ 506 w 513"/>
                  <a:gd name="T13" fmla="*/ 255 h 975"/>
                  <a:gd name="T14" fmla="*/ 359 w 513"/>
                  <a:gd name="T15" fmla="*/ 931 h 975"/>
                  <a:gd name="T16" fmla="*/ 308 w 513"/>
                  <a:gd name="T17" fmla="*/ 962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975">
                    <a:moveTo>
                      <a:pt x="308" y="962"/>
                    </a:moveTo>
                    <a:cubicBezTo>
                      <a:pt x="34" y="798"/>
                      <a:pt x="34" y="798"/>
                      <a:pt x="34" y="798"/>
                    </a:cubicBezTo>
                    <a:cubicBezTo>
                      <a:pt x="12" y="785"/>
                      <a:pt x="0" y="750"/>
                      <a:pt x="7" y="720"/>
                    </a:cubicBezTo>
                    <a:cubicBezTo>
                      <a:pt x="154" y="44"/>
                      <a:pt x="154" y="44"/>
                      <a:pt x="154" y="44"/>
                    </a:cubicBezTo>
                    <a:cubicBezTo>
                      <a:pt x="161" y="14"/>
                      <a:pt x="184" y="0"/>
                      <a:pt x="205" y="13"/>
                    </a:cubicBezTo>
                    <a:cubicBezTo>
                      <a:pt x="479" y="177"/>
                      <a:pt x="479" y="177"/>
                      <a:pt x="479" y="177"/>
                    </a:cubicBezTo>
                    <a:cubicBezTo>
                      <a:pt x="501" y="190"/>
                      <a:pt x="513" y="225"/>
                      <a:pt x="506" y="255"/>
                    </a:cubicBezTo>
                    <a:cubicBezTo>
                      <a:pt x="359" y="931"/>
                      <a:pt x="359" y="931"/>
                      <a:pt x="359" y="931"/>
                    </a:cubicBezTo>
                    <a:cubicBezTo>
                      <a:pt x="352" y="961"/>
                      <a:pt x="329" y="975"/>
                      <a:pt x="308" y="96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sḷîḋe"/>
              <p:cNvSpPr/>
              <p:nvPr/>
            </p:nvSpPr>
            <p:spPr bwMode="auto">
              <a:xfrm>
                <a:off x="5863817" y="1838377"/>
                <a:ext cx="157677" cy="117824"/>
              </a:xfrm>
              <a:custGeom>
                <a:avLst/>
                <a:gdLst>
                  <a:gd name="T0" fmla="*/ 36 w 44"/>
                  <a:gd name="T1" fmla="*/ 32 h 33"/>
                  <a:gd name="T2" fmla="*/ 5 w 44"/>
                  <a:gd name="T3" fmla="*/ 14 h 33"/>
                  <a:gd name="T4" fmla="*/ 1 w 44"/>
                  <a:gd name="T5" fmla="*/ 5 h 33"/>
                  <a:gd name="T6" fmla="*/ 1 w 44"/>
                  <a:gd name="T7" fmla="*/ 5 h 33"/>
                  <a:gd name="T8" fmla="*/ 8 w 44"/>
                  <a:gd name="T9" fmla="*/ 1 h 33"/>
                  <a:gd name="T10" fmla="*/ 39 w 44"/>
                  <a:gd name="T11" fmla="*/ 19 h 33"/>
                  <a:gd name="T12" fmla="*/ 43 w 44"/>
                  <a:gd name="T13" fmla="*/ 29 h 33"/>
                  <a:gd name="T14" fmla="*/ 43 w 44"/>
                  <a:gd name="T15" fmla="*/ 29 h 33"/>
                  <a:gd name="T16" fmla="*/ 36 w 44"/>
                  <a:gd name="T17"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3">
                    <a:moveTo>
                      <a:pt x="36" y="32"/>
                    </a:moveTo>
                    <a:cubicBezTo>
                      <a:pt x="5" y="14"/>
                      <a:pt x="5" y="14"/>
                      <a:pt x="5" y="14"/>
                    </a:cubicBezTo>
                    <a:cubicBezTo>
                      <a:pt x="2" y="12"/>
                      <a:pt x="0" y="8"/>
                      <a:pt x="1" y="5"/>
                    </a:cubicBezTo>
                    <a:cubicBezTo>
                      <a:pt x="1" y="5"/>
                      <a:pt x="1" y="5"/>
                      <a:pt x="1" y="5"/>
                    </a:cubicBezTo>
                    <a:cubicBezTo>
                      <a:pt x="2" y="1"/>
                      <a:pt x="5" y="0"/>
                      <a:pt x="8" y="1"/>
                    </a:cubicBezTo>
                    <a:cubicBezTo>
                      <a:pt x="39" y="19"/>
                      <a:pt x="39" y="19"/>
                      <a:pt x="39" y="19"/>
                    </a:cubicBezTo>
                    <a:cubicBezTo>
                      <a:pt x="42" y="21"/>
                      <a:pt x="44" y="25"/>
                      <a:pt x="43" y="29"/>
                    </a:cubicBezTo>
                    <a:cubicBezTo>
                      <a:pt x="43" y="29"/>
                      <a:pt x="43" y="29"/>
                      <a:pt x="43" y="29"/>
                    </a:cubicBezTo>
                    <a:cubicBezTo>
                      <a:pt x="42" y="32"/>
                      <a:pt x="39" y="33"/>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îšḻîḋe"/>
              <p:cNvSpPr/>
              <p:nvPr/>
            </p:nvSpPr>
            <p:spPr bwMode="auto">
              <a:xfrm>
                <a:off x="6080406" y="1959666"/>
                <a:ext cx="207925" cy="152478"/>
              </a:xfrm>
              <a:custGeom>
                <a:avLst/>
                <a:gdLst>
                  <a:gd name="T0" fmla="*/ 51 w 58"/>
                  <a:gd name="T1" fmla="*/ 41 h 42"/>
                  <a:gd name="T2" fmla="*/ 4 w 58"/>
                  <a:gd name="T3" fmla="*/ 14 h 42"/>
                  <a:gd name="T4" fmla="*/ 1 w 58"/>
                  <a:gd name="T5" fmla="*/ 5 h 42"/>
                  <a:gd name="T6" fmla="*/ 1 w 58"/>
                  <a:gd name="T7" fmla="*/ 5 h 42"/>
                  <a:gd name="T8" fmla="*/ 7 w 58"/>
                  <a:gd name="T9" fmla="*/ 2 h 42"/>
                  <a:gd name="T10" fmla="*/ 53 w 58"/>
                  <a:gd name="T11" fmla="*/ 28 h 42"/>
                  <a:gd name="T12" fmla="*/ 57 w 58"/>
                  <a:gd name="T13" fmla="*/ 38 h 42"/>
                  <a:gd name="T14" fmla="*/ 57 w 58"/>
                  <a:gd name="T15" fmla="*/ 38 h 42"/>
                  <a:gd name="T16" fmla="*/ 51 w 58"/>
                  <a:gd name="T17" fmla="*/ 4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1"/>
                    </a:moveTo>
                    <a:cubicBezTo>
                      <a:pt x="4" y="14"/>
                      <a:pt x="4" y="14"/>
                      <a:pt x="4" y="14"/>
                    </a:cubicBezTo>
                    <a:cubicBezTo>
                      <a:pt x="2" y="12"/>
                      <a:pt x="0" y="8"/>
                      <a:pt x="1" y="5"/>
                    </a:cubicBezTo>
                    <a:cubicBezTo>
                      <a:pt x="1" y="5"/>
                      <a:pt x="1" y="5"/>
                      <a:pt x="1" y="5"/>
                    </a:cubicBezTo>
                    <a:cubicBezTo>
                      <a:pt x="1" y="1"/>
                      <a:pt x="4" y="0"/>
                      <a:pt x="7" y="2"/>
                    </a:cubicBezTo>
                    <a:cubicBezTo>
                      <a:pt x="53" y="28"/>
                      <a:pt x="53" y="28"/>
                      <a:pt x="53" y="28"/>
                    </a:cubicBezTo>
                    <a:cubicBezTo>
                      <a:pt x="56" y="30"/>
                      <a:pt x="58" y="34"/>
                      <a:pt x="57" y="38"/>
                    </a:cubicBezTo>
                    <a:cubicBezTo>
                      <a:pt x="57" y="38"/>
                      <a:pt x="57" y="38"/>
                      <a:pt x="57" y="38"/>
                    </a:cubicBezTo>
                    <a:cubicBezTo>
                      <a:pt x="56" y="41"/>
                      <a:pt x="53" y="42"/>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îŝḻïdé"/>
              <p:cNvSpPr/>
              <p:nvPr/>
            </p:nvSpPr>
            <p:spPr bwMode="auto">
              <a:xfrm>
                <a:off x="5669754" y="2359921"/>
                <a:ext cx="154211" cy="123023"/>
              </a:xfrm>
              <a:custGeom>
                <a:avLst/>
                <a:gdLst>
                  <a:gd name="T0" fmla="*/ 36 w 43"/>
                  <a:gd name="T1" fmla="*/ 33 h 34"/>
                  <a:gd name="T2" fmla="*/ 4 w 43"/>
                  <a:gd name="T3" fmla="*/ 15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3"/>
                    </a:moveTo>
                    <a:cubicBezTo>
                      <a:pt x="4" y="15"/>
                      <a:pt x="4" y="15"/>
                      <a:pt x="4" y="15"/>
                    </a:cubicBezTo>
                    <a:cubicBezTo>
                      <a:pt x="2" y="13"/>
                      <a:pt x="0" y="9"/>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íṥļíḍê"/>
              <p:cNvSpPr/>
              <p:nvPr/>
            </p:nvSpPr>
            <p:spPr bwMode="auto">
              <a:xfrm>
                <a:off x="5853421" y="2467348"/>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8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8"/>
                      <a:pt x="1" y="5"/>
                    </a:cubicBezTo>
                    <a:cubicBezTo>
                      <a:pt x="1" y="5"/>
                      <a:pt x="1" y="5"/>
                      <a:pt x="1" y="5"/>
                    </a:cubicBezTo>
                    <a:cubicBezTo>
                      <a:pt x="2" y="2"/>
                      <a:pt x="5" y="0"/>
                      <a:pt x="8" y="2"/>
                    </a:cubicBezTo>
                    <a:cubicBezTo>
                      <a:pt x="54" y="28"/>
                      <a:pt x="54" y="28"/>
                      <a:pt x="54" y="28"/>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iSḷïḍé"/>
              <p:cNvSpPr/>
              <p:nvPr/>
            </p:nvSpPr>
            <p:spPr bwMode="auto">
              <a:xfrm>
                <a:off x="5576188" y="1777732"/>
                <a:ext cx="110893" cy="97032"/>
              </a:xfrm>
              <a:custGeom>
                <a:avLst/>
                <a:gdLst>
                  <a:gd name="T0" fmla="*/ 24 w 31"/>
                  <a:gd name="T1" fmla="*/ 25 h 27"/>
                  <a:gd name="T2" fmla="*/ 5 w 31"/>
                  <a:gd name="T3" fmla="*/ 14 h 27"/>
                  <a:gd name="T4" fmla="*/ 1 w 31"/>
                  <a:gd name="T5" fmla="*/ 5 h 27"/>
                  <a:gd name="T6" fmla="*/ 1 w 31"/>
                  <a:gd name="T7" fmla="*/ 5 h 27"/>
                  <a:gd name="T8" fmla="*/ 7 w 31"/>
                  <a:gd name="T9" fmla="*/ 1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1"/>
                    </a:cubicBezTo>
                    <a:cubicBezTo>
                      <a:pt x="27" y="13"/>
                      <a:pt x="27" y="13"/>
                      <a:pt x="27" y="13"/>
                    </a:cubicBezTo>
                    <a:cubicBezTo>
                      <a:pt x="30" y="14"/>
                      <a:pt x="31" y="19"/>
                      <a:pt x="31" y="22"/>
                    </a:cubicBezTo>
                    <a:cubicBezTo>
                      <a:pt x="31" y="22"/>
                      <a:pt x="31" y="22"/>
                      <a:pt x="31" y="22"/>
                    </a:cubicBezTo>
                    <a:cubicBezTo>
                      <a:pt x="30" y="25"/>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ísļiďè"/>
              <p:cNvSpPr/>
              <p:nvPr/>
            </p:nvSpPr>
            <p:spPr bwMode="auto">
              <a:xfrm>
                <a:off x="5647229" y="1925012"/>
                <a:ext cx="259906" cy="180201"/>
              </a:xfrm>
              <a:custGeom>
                <a:avLst/>
                <a:gdLst>
                  <a:gd name="T0" fmla="*/ 64 w 72"/>
                  <a:gd name="T1" fmla="*/ 48 h 50"/>
                  <a:gd name="T2" fmla="*/ 5 w 72"/>
                  <a:gd name="T3" fmla="*/ 14 h 50"/>
                  <a:gd name="T4" fmla="*/ 1 w 72"/>
                  <a:gd name="T5" fmla="*/ 5 h 50"/>
                  <a:gd name="T6" fmla="*/ 1 w 72"/>
                  <a:gd name="T7" fmla="*/ 5 h 50"/>
                  <a:gd name="T8" fmla="*/ 7 w 72"/>
                  <a:gd name="T9" fmla="*/ 2 h 50"/>
                  <a:gd name="T10" fmla="*/ 67 w 72"/>
                  <a:gd name="T11" fmla="*/ 36 h 50"/>
                  <a:gd name="T12" fmla="*/ 71 w 72"/>
                  <a:gd name="T13" fmla="*/ 45 h 50"/>
                  <a:gd name="T14" fmla="*/ 71 w 72"/>
                  <a:gd name="T15" fmla="*/ 45 h 50"/>
                  <a:gd name="T16" fmla="*/ 64 w 72"/>
                  <a:gd name="T17"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0">
                    <a:moveTo>
                      <a:pt x="64" y="48"/>
                    </a:moveTo>
                    <a:cubicBezTo>
                      <a:pt x="5" y="14"/>
                      <a:pt x="5" y="14"/>
                      <a:pt x="5" y="14"/>
                    </a:cubicBezTo>
                    <a:cubicBezTo>
                      <a:pt x="2" y="12"/>
                      <a:pt x="0" y="8"/>
                      <a:pt x="1" y="5"/>
                    </a:cubicBezTo>
                    <a:cubicBezTo>
                      <a:pt x="1" y="5"/>
                      <a:pt x="1" y="5"/>
                      <a:pt x="1" y="5"/>
                    </a:cubicBezTo>
                    <a:cubicBezTo>
                      <a:pt x="2" y="1"/>
                      <a:pt x="5" y="0"/>
                      <a:pt x="7" y="2"/>
                    </a:cubicBezTo>
                    <a:cubicBezTo>
                      <a:pt x="67" y="36"/>
                      <a:pt x="67" y="36"/>
                      <a:pt x="67" y="36"/>
                    </a:cubicBezTo>
                    <a:cubicBezTo>
                      <a:pt x="70" y="38"/>
                      <a:pt x="72" y="42"/>
                      <a:pt x="71" y="45"/>
                    </a:cubicBezTo>
                    <a:cubicBezTo>
                      <a:pt x="71" y="45"/>
                      <a:pt x="71" y="45"/>
                      <a:pt x="71" y="45"/>
                    </a:cubicBezTo>
                    <a:cubicBezTo>
                      <a:pt x="70" y="49"/>
                      <a:pt x="67" y="50"/>
                      <a:pt x="64" y="4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ïşḻïḋe"/>
              <p:cNvSpPr/>
              <p:nvPr/>
            </p:nvSpPr>
            <p:spPr bwMode="auto">
              <a:xfrm>
                <a:off x="5603911" y="2112144"/>
                <a:ext cx="112626" cy="97032"/>
              </a:xfrm>
              <a:custGeom>
                <a:avLst/>
                <a:gdLst>
                  <a:gd name="T0" fmla="*/ 24 w 31"/>
                  <a:gd name="T1" fmla="*/ 25 h 27"/>
                  <a:gd name="T2" fmla="*/ 5 w 31"/>
                  <a:gd name="T3" fmla="*/ 14 h 27"/>
                  <a:gd name="T4" fmla="*/ 1 w 31"/>
                  <a:gd name="T5" fmla="*/ 5 h 27"/>
                  <a:gd name="T6" fmla="*/ 1 w 31"/>
                  <a:gd name="T7" fmla="*/ 5 h 27"/>
                  <a:gd name="T8" fmla="*/ 7 w 31"/>
                  <a:gd name="T9" fmla="*/ 2 h 27"/>
                  <a:gd name="T10" fmla="*/ 27 w 31"/>
                  <a:gd name="T11" fmla="*/ 13 h 27"/>
                  <a:gd name="T12" fmla="*/ 31 w 31"/>
                  <a:gd name="T13" fmla="*/ 22 h 27"/>
                  <a:gd name="T14" fmla="*/ 31 w 31"/>
                  <a:gd name="T15" fmla="*/ 22 h 27"/>
                  <a:gd name="T16" fmla="*/ 24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4" y="25"/>
                    </a:moveTo>
                    <a:cubicBezTo>
                      <a:pt x="5" y="14"/>
                      <a:pt x="5" y="14"/>
                      <a:pt x="5" y="14"/>
                    </a:cubicBezTo>
                    <a:cubicBezTo>
                      <a:pt x="2" y="12"/>
                      <a:pt x="0" y="8"/>
                      <a:pt x="1" y="5"/>
                    </a:cubicBezTo>
                    <a:cubicBezTo>
                      <a:pt x="1" y="5"/>
                      <a:pt x="1" y="5"/>
                      <a:pt x="1" y="5"/>
                    </a:cubicBezTo>
                    <a:cubicBezTo>
                      <a:pt x="1" y="1"/>
                      <a:pt x="4" y="0"/>
                      <a:pt x="7" y="2"/>
                    </a:cubicBezTo>
                    <a:cubicBezTo>
                      <a:pt x="27" y="13"/>
                      <a:pt x="27" y="13"/>
                      <a:pt x="27" y="13"/>
                    </a:cubicBezTo>
                    <a:cubicBezTo>
                      <a:pt x="30" y="15"/>
                      <a:pt x="31" y="19"/>
                      <a:pt x="31" y="22"/>
                    </a:cubicBezTo>
                    <a:cubicBezTo>
                      <a:pt x="31" y="22"/>
                      <a:pt x="31" y="22"/>
                      <a:pt x="31" y="22"/>
                    </a:cubicBezTo>
                    <a:cubicBezTo>
                      <a:pt x="30" y="26"/>
                      <a:pt x="27" y="27"/>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îš1ïdé"/>
              <p:cNvSpPr/>
              <p:nvPr/>
            </p:nvSpPr>
            <p:spPr bwMode="auto">
              <a:xfrm>
                <a:off x="5867282" y="2690868"/>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îŝ1îḑè"/>
              <p:cNvSpPr/>
              <p:nvPr/>
            </p:nvSpPr>
            <p:spPr bwMode="auto">
              <a:xfrm>
                <a:off x="5560594" y="2299277"/>
                <a:ext cx="86635" cy="81438"/>
              </a:xfrm>
              <a:custGeom>
                <a:avLst/>
                <a:gdLst>
                  <a:gd name="T0" fmla="*/ 17 w 24"/>
                  <a:gd name="T1" fmla="*/ 21 h 23"/>
                  <a:gd name="T2" fmla="*/ 4 w 24"/>
                  <a:gd name="T3" fmla="*/ 14 h 23"/>
                  <a:gd name="T4" fmla="*/ 1 w 24"/>
                  <a:gd name="T5" fmla="*/ 5 h 23"/>
                  <a:gd name="T6" fmla="*/ 1 w 24"/>
                  <a:gd name="T7" fmla="*/ 5 h 23"/>
                  <a:gd name="T8" fmla="*/ 7 w 24"/>
                  <a:gd name="T9" fmla="*/ 2 h 23"/>
                  <a:gd name="T10" fmla="*/ 20 w 24"/>
                  <a:gd name="T11" fmla="*/ 9 h 23"/>
                  <a:gd name="T12" fmla="*/ 24 w 24"/>
                  <a:gd name="T13" fmla="*/ 18 h 23"/>
                  <a:gd name="T14" fmla="*/ 24 w 24"/>
                  <a:gd name="T15" fmla="*/ 18 h 23"/>
                  <a:gd name="T16" fmla="*/ 17 w 24"/>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3">
                    <a:moveTo>
                      <a:pt x="17" y="21"/>
                    </a:moveTo>
                    <a:cubicBezTo>
                      <a:pt x="4" y="14"/>
                      <a:pt x="4" y="14"/>
                      <a:pt x="4" y="14"/>
                    </a:cubicBezTo>
                    <a:cubicBezTo>
                      <a:pt x="2" y="13"/>
                      <a:pt x="0" y="8"/>
                      <a:pt x="1" y="5"/>
                    </a:cubicBezTo>
                    <a:cubicBezTo>
                      <a:pt x="1" y="5"/>
                      <a:pt x="1" y="5"/>
                      <a:pt x="1" y="5"/>
                    </a:cubicBezTo>
                    <a:cubicBezTo>
                      <a:pt x="1" y="2"/>
                      <a:pt x="4" y="0"/>
                      <a:pt x="7" y="2"/>
                    </a:cubicBezTo>
                    <a:cubicBezTo>
                      <a:pt x="20" y="9"/>
                      <a:pt x="20" y="9"/>
                      <a:pt x="20" y="9"/>
                    </a:cubicBezTo>
                    <a:cubicBezTo>
                      <a:pt x="23" y="11"/>
                      <a:pt x="24" y="15"/>
                      <a:pt x="24" y="18"/>
                    </a:cubicBezTo>
                    <a:cubicBezTo>
                      <a:pt x="24" y="18"/>
                      <a:pt x="24" y="18"/>
                      <a:pt x="24" y="18"/>
                    </a:cubicBezTo>
                    <a:cubicBezTo>
                      <a:pt x="23" y="22"/>
                      <a:pt x="20" y="23"/>
                      <a:pt x="17"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6" name="iSḷïḍe"/>
              <p:cNvSpPr/>
              <p:nvPr/>
            </p:nvSpPr>
            <p:spPr bwMode="auto">
              <a:xfrm>
                <a:off x="5517276" y="2486409"/>
                <a:ext cx="98765" cy="90101"/>
              </a:xfrm>
              <a:custGeom>
                <a:avLst/>
                <a:gdLst>
                  <a:gd name="T0" fmla="*/ 20 w 27"/>
                  <a:gd name="T1" fmla="*/ 23 h 25"/>
                  <a:gd name="T2" fmla="*/ 4 w 27"/>
                  <a:gd name="T3" fmla="*/ 14 h 25"/>
                  <a:gd name="T4" fmla="*/ 1 w 27"/>
                  <a:gd name="T5" fmla="*/ 5 h 25"/>
                  <a:gd name="T6" fmla="*/ 1 w 27"/>
                  <a:gd name="T7" fmla="*/ 5 h 25"/>
                  <a:gd name="T8" fmla="*/ 7 w 27"/>
                  <a:gd name="T9" fmla="*/ 2 h 25"/>
                  <a:gd name="T10" fmla="*/ 23 w 27"/>
                  <a:gd name="T11" fmla="*/ 11 h 25"/>
                  <a:gd name="T12" fmla="*/ 27 w 27"/>
                  <a:gd name="T13" fmla="*/ 20 h 25"/>
                  <a:gd name="T14" fmla="*/ 27 w 27"/>
                  <a:gd name="T15" fmla="*/ 20 h 25"/>
                  <a:gd name="T16" fmla="*/ 20 w 27"/>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25">
                    <a:moveTo>
                      <a:pt x="20" y="23"/>
                    </a:moveTo>
                    <a:cubicBezTo>
                      <a:pt x="4" y="14"/>
                      <a:pt x="4" y="14"/>
                      <a:pt x="4" y="14"/>
                    </a:cubicBezTo>
                    <a:cubicBezTo>
                      <a:pt x="2" y="13"/>
                      <a:pt x="0" y="9"/>
                      <a:pt x="1" y="5"/>
                    </a:cubicBezTo>
                    <a:cubicBezTo>
                      <a:pt x="1" y="5"/>
                      <a:pt x="1" y="5"/>
                      <a:pt x="1" y="5"/>
                    </a:cubicBezTo>
                    <a:cubicBezTo>
                      <a:pt x="1" y="2"/>
                      <a:pt x="4" y="0"/>
                      <a:pt x="7" y="2"/>
                    </a:cubicBezTo>
                    <a:cubicBezTo>
                      <a:pt x="23" y="11"/>
                      <a:pt x="23" y="11"/>
                      <a:pt x="23" y="11"/>
                    </a:cubicBezTo>
                    <a:cubicBezTo>
                      <a:pt x="26" y="13"/>
                      <a:pt x="27" y="17"/>
                      <a:pt x="27" y="20"/>
                    </a:cubicBezTo>
                    <a:cubicBezTo>
                      <a:pt x="27" y="20"/>
                      <a:pt x="27" y="20"/>
                      <a:pt x="27" y="20"/>
                    </a:cubicBezTo>
                    <a:cubicBezTo>
                      <a:pt x="26" y="24"/>
                      <a:pt x="23" y="25"/>
                      <a:pt x="20"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íṧļíḍe"/>
              <p:cNvSpPr/>
              <p:nvPr/>
            </p:nvSpPr>
            <p:spPr bwMode="auto">
              <a:xfrm>
                <a:off x="5643764" y="2557449"/>
                <a:ext cx="190598" cy="143815"/>
              </a:xfrm>
              <a:custGeom>
                <a:avLst/>
                <a:gdLst>
                  <a:gd name="T0" fmla="*/ 45 w 53"/>
                  <a:gd name="T1" fmla="*/ 38 h 40"/>
                  <a:gd name="T2" fmla="*/ 4 w 53"/>
                  <a:gd name="T3" fmla="*/ 15 h 40"/>
                  <a:gd name="T4" fmla="*/ 1 w 53"/>
                  <a:gd name="T5" fmla="*/ 5 h 40"/>
                  <a:gd name="T6" fmla="*/ 1 w 53"/>
                  <a:gd name="T7" fmla="*/ 5 h 40"/>
                  <a:gd name="T8" fmla="*/ 7 w 53"/>
                  <a:gd name="T9" fmla="*/ 2 h 40"/>
                  <a:gd name="T10" fmla="*/ 48 w 53"/>
                  <a:gd name="T11" fmla="*/ 26 h 40"/>
                  <a:gd name="T12" fmla="*/ 52 w 53"/>
                  <a:gd name="T13" fmla="*/ 35 h 40"/>
                  <a:gd name="T14" fmla="*/ 52 w 53"/>
                  <a:gd name="T15" fmla="*/ 35 h 40"/>
                  <a:gd name="T16" fmla="*/ 45 w 53"/>
                  <a:gd name="T17"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 h="40">
                    <a:moveTo>
                      <a:pt x="45" y="38"/>
                    </a:moveTo>
                    <a:cubicBezTo>
                      <a:pt x="4" y="15"/>
                      <a:pt x="4" y="15"/>
                      <a:pt x="4" y="15"/>
                    </a:cubicBezTo>
                    <a:cubicBezTo>
                      <a:pt x="2" y="13"/>
                      <a:pt x="0" y="9"/>
                      <a:pt x="1" y="5"/>
                    </a:cubicBezTo>
                    <a:cubicBezTo>
                      <a:pt x="1" y="5"/>
                      <a:pt x="1" y="5"/>
                      <a:pt x="1" y="5"/>
                    </a:cubicBezTo>
                    <a:cubicBezTo>
                      <a:pt x="1" y="2"/>
                      <a:pt x="4" y="0"/>
                      <a:pt x="7" y="2"/>
                    </a:cubicBezTo>
                    <a:cubicBezTo>
                      <a:pt x="48" y="26"/>
                      <a:pt x="48" y="26"/>
                      <a:pt x="48" y="26"/>
                    </a:cubicBezTo>
                    <a:cubicBezTo>
                      <a:pt x="51" y="27"/>
                      <a:pt x="53" y="32"/>
                      <a:pt x="52" y="35"/>
                    </a:cubicBezTo>
                    <a:cubicBezTo>
                      <a:pt x="52" y="35"/>
                      <a:pt x="52" y="35"/>
                      <a:pt x="52" y="35"/>
                    </a:cubicBezTo>
                    <a:cubicBezTo>
                      <a:pt x="51" y="39"/>
                      <a:pt x="48" y="40"/>
                      <a:pt x="45"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8" name="íṩḷíde"/>
              <p:cNvSpPr/>
              <p:nvPr/>
            </p:nvSpPr>
            <p:spPr bwMode="auto">
              <a:xfrm>
                <a:off x="5496483" y="2579975"/>
                <a:ext cx="147281" cy="117824"/>
              </a:xfrm>
              <a:custGeom>
                <a:avLst/>
                <a:gdLst>
                  <a:gd name="T0" fmla="*/ 34 w 41"/>
                  <a:gd name="T1" fmla="*/ 31 h 33"/>
                  <a:gd name="T2" fmla="*/ 4 w 41"/>
                  <a:gd name="T3" fmla="*/ 14 h 33"/>
                  <a:gd name="T4" fmla="*/ 1 w 41"/>
                  <a:gd name="T5" fmla="*/ 5 h 33"/>
                  <a:gd name="T6" fmla="*/ 1 w 41"/>
                  <a:gd name="T7" fmla="*/ 5 h 33"/>
                  <a:gd name="T8" fmla="*/ 7 w 41"/>
                  <a:gd name="T9" fmla="*/ 2 h 33"/>
                  <a:gd name="T10" fmla="*/ 37 w 41"/>
                  <a:gd name="T11" fmla="*/ 19 h 33"/>
                  <a:gd name="T12" fmla="*/ 41 w 41"/>
                  <a:gd name="T13" fmla="*/ 28 h 33"/>
                  <a:gd name="T14" fmla="*/ 41 w 41"/>
                  <a:gd name="T15" fmla="*/ 28 h 33"/>
                  <a:gd name="T16" fmla="*/ 34 w 41"/>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34" y="31"/>
                    </a:moveTo>
                    <a:cubicBezTo>
                      <a:pt x="4" y="14"/>
                      <a:pt x="4" y="14"/>
                      <a:pt x="4" y="14"/>
                    </a:cubicBezTo>
                    <a:cubicBezTo>
                      <a:pt x="2" y="13"/>
                      <a:pt x="0" y="9"/>
                      <a:pt x="1" y="5"/>
                    </a:cubicBezTo>
                    <a:cubicBezTo>
                      <a:pt x="1" y="5"/>
                      <a:pt x="1" y="5"/>
                      <a:pt x="1" y="5"/>
                    </a:cubicBezTo>
                    <a:cubicBezTo>
                      <a:pt x="1" y="2"/>
                      <a:pt x="4" y="0"/>
                      <a:pt x="7" y="2"/>
                    </a:cubicBezTo>
                    <a:cubicBezTo>
                      <a:pt x="37" y="19"/>
                      <a:pt x="37" y="19"/>
                      <a:pt x="37" y="19"/>
                    </a:cubicBezTo>
                    <a:cubicBezTo>
                      <a:pt x="40" y="21"/>
                      <a:pt x="41" y="25"/>
                      <a:pt x="41" y="28"/>
                    </a:cubicBezTo>
                    <a:cubicBezTo>
                      <a:pt x="41" y="28"/>
                      <a:pt x="41" y="28"/>
                      <a:pt x="41" y="28"/>
                    </a:cubicBezTo>
                    <a:cubicBezTo>
                      <a:pt x="40" y="32"/>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9" name="îṡlíḓè"/>
              <p:cNvSpPr/>
              <p:nvPr/>
            </p:nvSpPr>
            <p:spPr bwMode="auto">
              <a:xfrm>
                <a:off x="6147981" y="2853742"/>
                <a:ext cx="112626" cy="93566"/>
              </a:xfrm>
              <a:custGeom>
                <a:avLst/>
                <a:gdLst>
                  <a:gd name="T0" fmla="*/ 24 w 31"/>
                  <a:gd name="T1" fmla="*/ 25 h 26"/>
                  <a:gd name="T2" fmla="*/ 5 w 31"/>
                  <a:gd name="T3" fmla="*/ 14 h 26"/>
                  <a:gd name="T4" fmla="*/ 1 w 31"/>
                  <a:gd name="T5" fmla="*/ 5 h 26"/>
                  <a:gd name="T6" fmla="*/ 1 w 31"/>
                  <a:gd name="T7" fmla="*/ 5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5"/>
                    </a:cubicBezTo>
                    <a:cubicBezTo>
                      <a:pt x="1" y="5"/>
                      <a:pt x="1" y="5"/>
                      <a:pt x="1" y="5"/>
                    </a:cubicBezTo>
                    <a:cubicBezTo>
                      <a:pt x="2" y="1"/>
                      <a:pt x="5" y="0"/>
                      <a:pt x="8" y="1"/>
                    </a:cubicBezTo>
                    <a:cubicBezTo>
                      <a:pt x="27" y="12"/>
                      <a:pt x="27" y="12"/>
                      <a:pt x="27" y="12"/>
                    </a:cubicBezTo>
                    <a:cubicBezTo>
                      <a:pt x="30"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0" name="ï$1iḋé"/>
              <p:cNvSpPr/>
              <p:nvPr/>
            </p:nvSpPr>
            <p:spPr bwMode="auto">
              <a:xfrm>
                <a:off x="5747726" y="2193581"/>
                <a:ext cx="232183" cy="166340"/>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îŝľiďê"/>
              <p:cNvSpPr/>
              <p:nvPr/>
            </p:nvSpPr>
            <p:spPr bwMode="auto">
              <a:xfrm>
                <a:off x="5626437" y="2018578"/>
                <a:ext cx="370799" cy="244312"/>
              </a:xfrm>
              <a:custGeom>
                <a:avLst/>
                <a:gdLst>
                  <a:gd name="T0" fmla="*/ 95 w 103"/>
                  <a:gd name="T1" fmla="*/ 66 h 68"/>
                  <a:gd name="T2" fmla="*/ 5 w 103"/>
                  <a:gd name="T3" fmla="*/ 14 h 68"/>
                  <a:gd name="T4" fmla="*/ 1 w 103"/>
                  <a:gd name="T5" fmla="*/ 5 h 68"/>
                  <a:gd name="T6" fmla="*/ 1 w 103"/>
                  <a:gd name="T7" fmla="*/ 5 h 68"/>
                  <a:gd name="T8" fmla="*/ 7 w 103"/>
                  <a:gd name="T9" fmla="*/ 2 h 68"/>
                  <a:gd name="T10" fmla="*/ 98 w 103"/>
                  <a:gd name="T11" fmla="*/ 54 h 68"/>
                  <a:gd name="T12" fmla="*/ 102 w 103"/>
                  <a:gd name="T13" fmla="*/ 63 h 68"/>
                  <a:gd name="T14" fmla="*/ 102 w 103"/>
                  <a:gd name="T15" fmla="*/ 63 h 68"/>
                  <a:gd name="T16" fmla="*/ 95 w 103"/>
                  <a:gd name="T17" fmla="*/ 66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8">
                    <a:moveTo>
                      <a:pt x="95" y="66"/>
                    </a:moveTo>
                    <a:cubicBezTo>
                      <a:pt x="5" y="14"/>
                      <a:pt x="5" y="14"/>
                      <a:pt x="5" y="14"/>
                    </a:cubicBezTo>
                    <a:cubicBezTo>
                      <a:pt x="2" y="12"/>
                      <a:pt x="0" y="8"/>
                      <a:pt x="1" y="5"/>
                    </a:cubicBezTo>
                    <a:cubicBezTo>
                      <a:pt x="1" y="5"/>
                      <a:pt x="1" y="5"/>
                      <a:pt x="1" y="5"/>
                    </a:cubicBezTo>
                    <a:cubicBezTo>
                      <a:pt x="2" y="1"/>
                      <a:pt x="4" y="0"/>
                      <a:pt x="7" y="2"/>
                    </a:cubicBezTo>
                    <a:cubicBezTo>
                      <a:pt x="98" y="54"/>
                      <a:pt x="98" y="54"/>
                      <a:pt x="98" y="54"/>
                    </a:cubicBezTo>
                    <a:cubicBezTo>
                      <a:pt x="101" y="56"/>
                      <a:pt x="103" y="60"/>
                      <a:pt x="102" y="63"/>
                    </a:cubicBezTo>
                    <a:cubicBezTo>
                      <a:pt x="102" y="63"/>
                      <a:pt x="102" y="63"/>
                      <a:pt x="102" y="63"/>
                    </a:cubicBezTo>
                    <a:cubicBezTo>
                      <a:pt x="101" y="67"/>
                      <a:pt x="98" y="68"/>
                      <a:pt x="95" y="6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îSļïḑé"/>
              <p:cNvSpPr/>
              <p:nvPr/>
            </p:nvSpPr>
            <p:spPr bwMode="auto">
              <a:xfrm>
                <a:off x="5583119" y="2205710"/>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2"/>
                      <a:pt x="0" y="8"/>
                      <a:pt x="1" y="5"/>
                    </a:cubicBezTo>
                    <a:cubicBezTo>
                      <a:pt x="1" y="5"/>
                      <a:pt x="1" y="5"/>
                      <a:pt x="1" y="5"/>
                    </a:cubicBezTo>
                    <a:cubicBezTo>
                      <a:pt x="1" y="1"/>
                      <a:pt x="4" y="0"/>
                      <a:pt x="7" y="2"/>
                    </a:cubicBezTo>
                    <a:cubicBezTo>
                      <a:pt x="59" y="32"/>
                      <a:pt x="59" y="32"/>
                      <a:pt x="59" y="32"/>
                    </a:cubicBezTo>
                    <a:cubicBezTo>
                      <a:pt x="62" y="33"/>
                      <a:pt x="64" y="38"/>
                      <a:pt x="63" y="41"/>
                    </a:cubicBezTo>
                    <a:cubicBezTo>
                      <a:pt x="63" y="41"/>
                      <a:pt x="63" y="41"/>
                      <a:pt x="63" y="41"/>
                    </a:cubicBezTo>
                    <a:cubicBezTo>
                      <a:pt x="62" y="44"/>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3" name="î$ľïḑé"/>
              <p:cNvSpPr/>
              <p:nvPr/>
            </p:nvSpPr>
            <p:spPr bwMode="auto">
              <a:xfrm>
                <a:off x="6011097" y="2346059"/>
                <a:ext cx="112626" cy="97032"/>
              </a:xfrm>
              <a:custGeom>
                <a:avLst/>
                <a:gdLst>
                  <a:gd name="T0" fmla="*/ 23 w 31"/>
                  <a:gd name="T1" fmla="*/ 25 h 27"/>
                  <a:gd name="T2" fmla="*/ 4 w 31"/>
                  <a:gd name="T3" fmla="*/ 14 h 27"/>
                  <a:gd name="T4" fmla="*/ 0 w 31"/>
                  <a:gd name="T5" fmla="*/ 5 h 27"/>
                  <a:gd name="T6" fmla="*/ 0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2"/>
                      <a:pt x="0" y="8"/>
                      <a:pt x="0" y="5"/>
                    </a:cubicBezTo>
                    <a:cubicBezTo>
                      <a:pt x="0" y="5"/>
                      <a:pt x="0" y="5"/>
                      <a:pt x="0" y="5"/>
                    </a:cubicBezTo>
                    <a:cubicBezTo>
                      <a:pt x="1" y="1"/>
                      <a:pt x="4" y="0"/>
                      <a:pt x="7" y="2"/>
                    </a:cubicBezTo>
                    <a:cubicBezTo>
                      <a:pt x="26" y="13"/>
                      <a:pt x="26" y="13"/>
                      <a:pt x="26" y="13"/>
                    </a:cubicBezTo>
                    <a:cubicBezTo>
                      <a:pt x="29" y="14"/>
                      <a:pt x="31" y="18"/>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ïsḷïďè"/>
              <p:cNvSpPr/>
              <p:nvPr/>
            </p:nvSpPr>
            <p:spPr bwMode="auto">
              <a:xfrm>
                <a:off x="6518780" y="2202245"/>
                <a:ext cx="112626" cy="97032"/>
              </a:xfrm>
              <a:custGeom>
                <a:avLst/>
                <a:gdLst>
                  <a:gd name="T0" fmla="*/ 23 w 31"/>
                  <a:gd name="T1" fmla="*/ 25 h 27"/>
                  <a:gd name="T2" fmla="*/ 5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5" y="14"/>
                      <a:pt x="5" y="14"/>
                      <a:pt x="5" y="14"/>
                    </a:cubicBezTo>
                    <a:cubicBezTo>
                      <a:pt x="2" y="13"/>
                      <a:pt x="0" y="8"/>
                      <a:pt x="1" y="5"/>
                    </a:cubicBezTo>
                    <a:cubicBezTo>
                      <a:pt x="1" y="5"/>
                      <a:pt x="1" y="5"/>
                      <a:pt x="1" y="5"/>
                    </a:cubicBezTo>
                    <a:cubicBezTo>
                      <a:pt x="2" y="2"/>
                      <a:pt x="5"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5" name="iṧlíďe"/>
              <p:cNvSpPr/>
              <p:nvPr/>
            </p:nvSpPr>
            <p:spPr bwMode="auto">
              <a:xfrm>
                <a:off x="5539802" y="2392843"/>
                <a:ext cx="270302" cy="187132"/>
              </a:xfrm>
              <a:custGeom>
                <a:avLst/>
                <a:gdLst>
                  <a:gd name="T0" fmla="*/ 67 w 75"/>
                  <a:gd name="T1" fmla="*/ 50 h 52"/>
                  <a:gd name="T2" fmla="*/ 4 w 75"/>
                  <a:gd name="T3" fmla="*/ 14 h 52"/>
                  <a:gd name="T4" fmla="*/ 1 w 75"/>
                  <a:gd name="T5" fmla="*/ 5 h 52"/>
                  <a:gd name="T6" fmla="*/ 1 w 75"/>
                  <a:gd name="T7" fmla="*/ 5 h 52"/>
                  <a:gd name="T8" fmla="*/ 7 w 75"/>
                  <a:gd name="T9" fmla="*/ 2 h 52"/>
                  <a:gd name="T10" fmla="*/ 70 w 75"/>
                  <a:gd name="T11" fmla="*/ 38 h 52"/>
                  <a:gd name="T12" fmla="*/ 74 w 75"/>
                  <a:gd name="T13" fmla="*/ 47 h 52"/>
                  <a:gd name="T14" fmla="*/ 74 w 75"/>
                  <a:gd name="T15" fmla="*/ 47 h 52"/>
                  <a:gd name="T16" fmla="*/ 67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7" y="50"/>
                    </a:moveTo>
                    <a:cubicBezTo>
                      <a:pt x="4" y="14"/>
                      <a:pt x="4" y="14"/>
                      <a:pt x="4" y="14"/>
                    </a:cubicBezTo>
                    <a:cubicBezTo>
                      <a:pt x="2" y="13"/>
                      <a:pt x="0" y="8"/>
                      <a:pt x="1" y="5"/>
                    </a:cubicBezTo>
                    <a:cubicBezTo>
                      <a:pt x="1" y="5"/>
                      <a:pt x="1" y="5"/>
                      <a:pt x="1" y="5"/>
                    </a:cubicBezTo>
                    <a:cubicBezTo>
                      <a:pt x="1" y="2"/>
                      <a:pt x="4" y="0"/>
                      <a:pt x="7" y="2"/>
                    </a:cubicBezTo>
                    <a:cubicBezTo>
                      <a:pt x="70" y="38"/>
                      <a:pt x="70" y="38"/>
                      <a:pt x="70" y="38"/>
                    </a:cubicBezTo>
                    <a:cubicBezTo>
                      <a:pt x="73" y="40"/>
                      <a:pt x="75" y="44"/>
                      <a:pt x="74" y="47"/>
                    </a:cubicBezTo>
                    <a:cubicBezTo>
                      <a:pt x="74" y="47"/>
                      <a:pt x="74" y="47"/>
                      <a:pt x="74" y="47"/>
                    </a:cubicBezTo>
                    <a:cubicBezTo>
                      <a:pt x="73" y="51"/>
                      <a:pt x="70" y="52"/>
                      <a:pt x="67"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6" name="iśļïďé"/>
              <p:cNvSpPr/>
              <p:nvPr/>
            </p:nvSpPr>
            <p:spPr bwMode="auto">
              <a:xfrm>
                <a:off x="5596980" y="1684166"/>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2"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îśľïḓê"/>
              <p:cNvSpPr/>
              <p:nvPr/>
            </p:nvSpPr>
            <p:spPr bwMode="auto">
              <a:xfrm>
                <a:off x="5380393" y="2619827"/>
                <a:ext cx="235648" cy="168073"/>
              </a:xfrm>
              <a:custGeom>
                <a:avLst/>
                <a:gdLst>
                  <a:gd name="T0" fmla="*/ 58 w 65"/>
                  <a:gd name="T1" fmla="*/ 45 h 47"/>
                  <a:gd name="T2" fmla="*/ 4 w 65"/>
                  <a:gd name="T3" fmla="*/ 14 h 47"/>
                  <a:gd name="T4" fmla="*/ 1 w 65"/>
                  <a:gd name="T5" fmla="*/ 5 h 47"/>
                  <a:gd name="T6" fmla="*/ 1 w 65"/>
                  <a:gd name="T7" fmla="*/ 5 h 47"/>
                  <a:gd name="T8" fmla="*/ 7 w 65"/>
                  <a:gd name="T9" fmla="*/ 2 h 47"/>
                  <a:gd name="T10" fmla="*/ 61 w 65"/>
                  <a:gd name="T11" fmla="*/ 33 h 47"/>
                  <a:gd name="T12" fmla="*/ 64 w 65"/>
                  <a:gd name="T13" fmla="*/ 42 h 47"/>
                  <a:gd name="T14" fmla="*/ 64 w 65"/>
                  <a:gd name="T15" fmla="*/ 42 h 47"/>
                  <a:gd name="T16" fmla="*/ 58 w 65"/>
                  <a:gd name="T17" fmla="*/ 4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7">
                    <a:moveTo>
                      <a:pt x="58" y="45"/>
                    </a:moveTo>
                    <a:cubicBezTo>
                      <a:pt x="4" y="14"/>
                      <a:pt x="4" y="14"/>
                      <a:pt x="4" y="14"/>
                    </a:cubicBezTo>
                    <a:cubicBezTo>
                      <a:pt x="1" y="13"/>
                      <a:pt x="0" y="9"/>
                      <a:pt x="1" y="5"/>
                    </a:cubicBezTo>
                    <a:cubicBezTo>
                      <a:pt x="1" y="5"/>
                      <a:pt x="1" y="5"/>
                      <a:pt x="1" y="5"/>
                    </a:cubicBezTo>
                    <a:cubicBezTo>
                      <a:pt x="1" y="2"/>
                      <a:pt x="4" y="0"/>
                      <a:pt x="7" y="2"/>
                    </a:cubicBezTo>
                    <a:cubicBezTo>
                      <a:pt x="61" y="33"/>
                      <a:pt x="61" y="33"/>
                      <a:pt x="61" y="33"/>
                    </a:cubicBezTo>
                    <a:cubicBezTo>
                      <a:pt x="63" y="34"/>
                      <a:pt x="65" y="39"/>
                      <a:pt x="64" y="42"/>
                    </a:cubicBezTo>
                    <a:cubicBezTo>
                      <a:pt x="64" y="42"/>
                      <a:pt x="64" y="42"/>
                      <a:pt x="64" y="42"/>
                    </a:cubicBezTo>
                    <a:cubicBezTo>
                      <a:pt x="64" y="45"/>
                      <a:pt x="61" y="47"/>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îšḷïḑé"/>
              <p:cNvSpPr/>
              <p:nvPr/>
            </p:nvSpPr>
            <p:spPr bwMode="auto">
              <a:xfrm>
                <a:off x="5576188" y="3278255"/>
                <a:ext cx="154211" cy="121289"/>
              </a:xfrm>
              <a:custGeom>
                <a:avLst/>
                <a:gdLst>
                  <a:gd name="T0" fmla="*/ 36 w 43"/>
                  <a:gd name="T1" fmla="*/ 32 h 34"/>
                  <a:gd name="T2" fmla="*/ 4 w 43"/>
                  <a:gd name="T3" fmla="*/ 14 h 34"/>
                  <a:gd name="T4" fmla="*/ 1 w 43"/>
                  <a:gd name="T5" fmla="*/ 5 h 34"/>
                  <a:gd name="T6" fmla="*/ 1 w 43"/>
                  <a:gd name="T7" fmla="*/ 5 h 34"/>
                  <a:gd name="T8" fmla="*/ 7 w 43"/>
                  <a:gd name="T9" fmla="*/ 2 h 34"/>
                  <a:gd name="T10" fmla="*/ 39 w 43"/>
                  <a:gd name="T11" fmla="*/ 20 h 34"/>
                  <a:gd name="T12" fmla="*/ 42 w 43"/>
                  <a:gd name="T13" fmla="*/ 29 h 34"/>
                  <a:gd name="T14" fmla="*/ 42 w 43"/>
                  <a:gd name="T15" fmla="*/ 29 h 34"/>
                  <a:gd name="T16" fmla="*/ 36 w 43"/>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34">
                    <a:moveTo>
                      <a:pt x="36" y="32"/>
                    </a:moveTo>
                    <a:cubicBezTo>
                      <a:pt x="4" y="14"/>
                      <a:pt x="4" y="14"/>
                      <a:pt x="4" y="14"/>
                    </a:cubicBezTo>
                    <a:cubicBezTo>
                      <a:pt x="2" y="13"/>
                      <a:pt x="0" y="8"/>
                      <a:pt x="1" y="5"/>
                    </a:cubicBezTo>
                    <a:cubicBezTo>
                      <a:pt x="1" y="5"/>
                      <a:pt x="1" y="5"/>
                      <a:pt x="1" y="5"/>
                    </a:cubicBezTo>
                    <a:cubicBezTo>
                      <a:pt x="1" y="2"/>
                      <a:pt x="4" y="0"/>
                      <a:pt x="7" y="2"/>
                    </a:cubicBezTo>
                    <a:cubicBezTo>
                      <a:pt x="39" y="20"/>
                      <a:pt x="39" y="20"/>
                      <a:pt x="39" y="20"/>
                    </a:cubicBezTo>
                    <a:cubicBezTo>
                      <a:pt x="41" y="22"/>
                      <a:pt x="43" y="26"/>
                      <a:pt x="42" y="29"/>
                    </a:cubicBezTo>
                    <a:cubicBezTo>
                      <a:pt x="42" y="29"/>
                      <a:pt x="42" y="29"/>
                      <a:pt x="42" y="29"/>
                    </a:cubicBezTo>
                    <a:cubicBezTo>
                      <a:pt x="42" y="33"/>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9" name="işḷîde"/>
              <p:cNvSpPr/>
              <p:nvPr/>
            </p:nvSpPr>
            <p:spPr bwMode="auto">
              <a:xfrm>
                <a:off x="5787578" y="3403009"/>
                <a:ext cx="213123" cy="152478"/>
              </a:xfrm>
              <a:custGeom>
                <a:avLst/>
                <a:gdLst>
                  <a:gd name="T0" fmla="*/ 51 w 59"/>
                  <a:gd name="T1" fmla="*/ 40 h 42"/>
                  <a:gd name="T2" fmla="*/ 5 w 59"/>
                  <a:gd name="T3" fmla="*/ 14 h 42"/>
                  <a:gd name="T4" fmla="*/ 1 w 59"/>
                  <a:gd name="T5" fmla="*/ 4 h 42"/>
                  <a:gd name="T6" fmla="*/ 1 w 59"/>
                  <a:gd name="T7" fmla="*/ 4 h 42"/>
                  <a:gd name="T8" fmla="*/ 8 w 59"/>
                  <a:gd name="T9" fmla="*/ 1 h 42"/>
                  <a:gd name="T10" fmla="*/ 54 w 59"/>
                  <a:gd name="T11" fmla="*/ 28 h 42"/>
                  <a:gd name="T12" fmla="*/ 58 w 59"/>
                  <a:gd name="T13" fmla="*/ 37 h 42"/>
                  <a:gd name="T14" fmla="*/ 58 w 59"/>
                  <a:gd name="T15" fmla="*/ 37 h 42"/>
                  <a:gd name="T16" fmla="*/ 51 w 59"/>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2">
                    <a:moveTo>
                      <a:pt x="51" y="40"/>
                    </a:moveTo>
                    <a:cubicBezTo>
                      <a:pt x="5" y="14"/>
                      <a:pt x="5" y="14"/>
                      <a:pt x="5" y="14"/>
                    </a:cubicBezTo>
                    <a:cubicBezTo>
                      <a:pt x="2" y="12"/>
                      <a:pt x="0" y="8"/>
                      <a:pt x="1" y="4"/>
                    </a:cubicBezTo>
                    <a:cubicBezTo>
                      <a:pt x="1" y="4"/>
                      <a:pt x="1" y="4"/>
                      <a:pt x="1" y="4"/>
                    </a:cubicBezTo>
                    <a:cubicBezTo>
                      <a:pt x="2" y="1"/>
                      <a:pt x="5" y="0"/>
                      <a:pt x="8" y="1"/>
                    </a:cubicBezTo>
                    <a:cubicBezTo>
                      <a:pt x="54" y="28"/>
                      <a:pt x="54" y="28"/>
                      <a:pt x="54" y="28"/>
                    </a:cubicBezTo>
                    <a:cubicBezTo>
                      <a:pt x="57" y="30"/>
                      <a:pt x="59" y="34"/>
                      <a:pt x="58" y="37"/>
                    </a:cubicBezTo>
                    <a:cubicBezTo>
                      <a:pt x="58" y="37"/>
                      <a:pt x="58" y="37"/>
                      <a:pt x="58" y="37"/>
                    </a:cubicBezTo>
                    <a:cubicBezTo>
                      <a:pt x="57" y="41"/>
                      <a:pt x="54"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0" name="ïṥḷiďe"/>
              <p:cNvSpPr/>
              <p:nvPr/>
            </p:nvSpPr>
            <p:spPr bwMode="auto">
              <a:xfrm>
                <a:off x="5376927" y="3803265"/>
                <a:ext cx="159409" cy="123023"/>
              </a:xfrm>
              <a:custGeom>
                <a:avLst/>
                <a:gdLst>
                  <a:gd name="T0" fmla="*/ 36 w 44"/>
                  <a:gd name="T1" fmla="*/ 32 h 34"/>
                  <a:gd name="T2" fmla="*/ 5 w 44"/>
                  <a:gd name="T3" fmla="*/ 14 h 34"/>
                  <a:gd name="T4" fmla="*/ 1 w 44"/>
                  <a:gd name="T5" fmla="*/ 5 h 34"/>
                  <a:gd name="T6" fmla="*/ 1 w 44"/>
                  <a:gd name="T7" fmla="*/ 5 h 34"/>
                  <a:gd name="T8" fmla="*/ 8 w 44"/>
                  <a:gd name="T9" fmla="*/ 2 h 34"/>
                  <a:gd name="T10" fmla="*/ 39 w 44"/>
                  <a:gd name="T11" fmla="*/ 20 h 34"/>
                  <a:gd name="T12" fmla="*/ 43 w 44"/>
                  <a:gd name="T13" fmla="*/ 29 h 34"/>
                  <a:gd name="T14" fmla="*/ 43 w 44"/>
                  <a:gd name="T15" fmla="*/ 29 h 34"/>
                  <a:gd name="T16" fmla="*/ 36 w 44"/>
                  <a:gd name="T17"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34">
                    <a:moveTo>
                      <a:pt x="36" y="32"/>
                    </a:moveTo>
                    <a:cubicBezTo>
                      <a:pt x="5" y="14"/>
                      <a:pt x="5" y="14"/>
                      <a:pt x="5" y="14"/>
                    </a:cubicBezTo>
                    <a:cubicBezTo>
                      <a:pt x="2" y="12"/>
                      <a:pt x="0" y="8"/>
                      <a:pt x="1" y="5"/>
                    </a:cubicBezTo>
                    <a:cubicBezTo>
                      <a:pt x="1" y="5"/>
                      <a:pt x="1" y="5"/>
                      <a:pt x="1" y="5"/>
                    </a:cubicBezTo>
                    <a:cubicBezTo>
                      <a:pt x="2" y="1"/>
                      <a:pt x="5" y="0"/>
                      <a:pt x="8" y="2"/>
                    </a:cubicBezTo>
                    <a:cubicBezTo>
                      <a:pt x="39" y="20"/>
                      <a:pt x="39" y="20"/>
                      <a:pt x="39" y="20"/>
                    </a:cubicBezTo>
                    <a:cubicBezTo>
                      <a:pt x="42" y="21"/>
                      <a:pt x="44" y="26"/>
                      <a:pt x="43" y="29"/>
                    </a:cubicBezTo>
                    <a:cubicBezTo>
                      <a:pt x="43" y="29"/>
                      <a:pt x="43" y="29"/>
                      <a:pt x="43" y="29"/>
                    </a:cubicBezTo>
                    <a:cubicBezTo>
                      <a:pt x="42" y="32"/>
                      <a:pt x="39" y="34"/>
                      <a:pt x="36" y="32"/>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1" name="îṩ1íḓè"/>
              <p:cNvSpPr/>
              <p:nvPr/>
            </p:nvSpPr>
            <p:spPr bwMode="auto">
              <a:xfrm>
                <a:off x="5564059" y="3910693"/>
                <a:ext cx="209658" cy="150746"/>
              </a:xfrm>
              <a:custGeom>
                <a:avLst/>
                <a:gdLst>
                  <a:gd name="T0" fmla="*/ 51 w 58"/>
                  <a:gd name="T1" fmla="*/ 40 h 42"/>
                  <a:gd name="T2" fmla="*/ 5 w 58"/>
                  <a:gd name="T3" fmla="*/ 14 h 42"/>
                  <a:gd name="T4" fmla="*/ 1 w 58"/>
                  <a:gd name="T5" fmla="*/ 5 h 42"/>
                  <a:gd name="T6" fmla="*/ 1 w 58"/>
                  <a:gd name="T7" fmla="*/ 5 h 42"/>
                  <a:gd name="T8" fmla="*/ 7 w 58"/>
                  <a:gd name="T9" fmla="*/ 1 h 42"/>
                  <a:gd name="T10" fmla="*/ 53 w 58"/>
                  <a:gd name="T11" fmla="*/ 28 h 42"/>
                  <a:gd name="T12" fmla="*/ 57 w 58"/>
                  <a:gd name="T13" fmla="*/ 37 h 42"/>
                  <a:gd name="T14" fmla="*/ 57 w 58"/>
                  <a:gd name="T15" fmla="*/ 37 h 42"/>
                  <a:gd name="T16" fmla="*/ 51 w 58"/>
                  <a:gd name="T17" fmla="*/ 4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42">
                    <a:moveTo>
                      <a:pt x="51" y="40"/>
                    </a:moveTo>
                    <a:cubicBezTo>
                      <a:pt x="5" y="14"/>
                      <a:pt x="5" y="14"/>
                      <a:pt x="5" y="14"/>
                    </a:cubicBezTo>
                    <a:cubicBezTo>
                      <a:pt x="2" y="12"/>
                      <a:pt x="0" y="8"/>
                      <a:pt x="1" y="5"/>
                    </a:cubicBezTo>
                    <a:cubicBezTo>
                      <a:pt x="1" y="5"/>
                      <a:pt x="1" y="5"/>
                      <a:pt x="1" y="5"/>
                    </a:cubicBezTo>
                    <a:cubicBezTo>
                      <a:pt x="1" y="1"/>
                      <a:pt x="4" y="0"/>
                      <a:pt x="7" y="1"/>
                    </a:cubicBezTo>
                    <a:cubicBezTo>
                      <a:pt x="53" y="28"/>
                      <a:pt x="53" y="28"/>
                      <a:pt x="53" y="28"/>
                    </a:cubicBezTo>
                    <a:cubicBezTo>
                      <a:pt x="56" y="30"/>
                      <a:pt x="58" y="34"/>
                      <a:pt x="57" y="37"/>
                    </a:cubicBezTo>
                    <a:cubicBezTo>
                      <a:pt x="57" y="37"/>
                      <a:pt x="57" y="37"/>
                      <a:pt x="57" y="37"/>
                    </a:cubicBezTo>
                    <a:cubicBezTo>
                      <a:pt x="56" y="41"/>
                      <a:pt x="53" y="42"/>
                      <a:pt x="51" y="4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ïṧľîḋè"/>
              <p:cNvSpPr/>
              <p:nvPr/>
            </p:nvSpPr>
            <p:spPr bwMode="auto">
              <a:xfrm>
                <a:off x="5283361" y="3215877"/>
                <a:ext cx="116092" cy="97032"/>
              </a:xfrm>
              <a:custGeom>
                <a:avLst/>
                <a:gdLst>
                  <a:gd name="T0" fmla="*/ 25 w 32"/>
                  <a:gd name="T1" fmla="*/ 26 h 27"/>
                  <a:gd name="T2" fmla="*/ 5 w 32"/>
                  <a:gd name="T3" fmla="*/ 14 h 27"/>
                  <a:gd name="T4" fmla="*/ 1 w 32"/>
                  <a:gd name="T5" fmla="*/ 5 h 27"/>
                  <a:gd name="T6" fmla="*/ 1 w 32"/>
                  <a:gd name="T7" fmla="*/ 5 h 27"/>
                  <a:gd name="T8" fmla="*/ 8 w 32"/>
                  <a:gd name="T9" fmla="*/ 2 h 27"/>
                  <a:gd name="T10" fmla="*/ 27 w 32"/>
                  <a:gd name="T11" fmla="*/ 13 h 27"/>
                  <a:gd name="T12" fmla="*/ 31 w 32"/>
                  <a:gd name="T13" fmla="*/ 22 h 27"/>
                  <a:gd name="T14" fmla="*/ 31 w 32"/>
                  <a:gd name="T15" fmla="*/ 22 h 27"/>
                  <a:gd name="T16" fmla="*/ 25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6"/>
                    </a:moveTo>
                    <a:cubicBezTo>
                      <a:pt x="5" y="14"/>
                      <a:pt x="5" y="14"/>
                      <a:pt x="5" y="14"/>
                    </a:cubicBezTo>
                    <a:cubicBezTo>
                      <a:pt x="2" y="13"/>
                      <a:pt x="0" y="9"/>
                      <a:pt x="1" y="5"/>
                    </a:cubicBezTo>
                    <a:cubicBezTo>
                      <a:pt x="1" y="5"/>
                      <a:pt x="1" y="5"/>
                      <a:pt x="1" y="5"/>
                    </a:cubicBezTo>
                    <a:cubicBezTo>
                      <a:pt x="2" y="2"/>
                      <a:pt x="5" y="0"/>
                      <a:pt x="8" y="2"/>
                    </a:cubicBezTo>
                    <a:cubicBezTo>
                      <a:pt x="27" y="13"/>
                      <a:pt x="27" y="13"/>
                      <a:pt x="27" y="13"/>
                    </a:cubicBezTo>
                    <a:cubicBezTo>
                      <a:pt x="30" y="15"/>
                      <a:pt x="32" y="19"/>
                      <a:pt x="31" y="22"/>
                    </a:cubicBezTo>
                    <a:cubicBezTo>
                      <a:pt x="31" y="22"/>
                      <a:pt x="31" y="22"/>
                      <a:pt x="31" y="22"/>
                    </a:cubicBezTo>
                    <a:cubicBezTo>
                      <a:pt x="30" y="26"/>
                      <a:pt x="27" y="27"/>
                      <a:pt x="25" y="26"/>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i$ľîḍe"/>
              <p:cNvSpPr/>
              <p:nvPr/>
            </p:nvSpPr>
            <p:spPr bwMode="auto">
              <a:xfrm>
                <a:off x="5356135" y="3364890"/>
                <a:ext cx="259906" cy="181935"/>
              </a:xfrm>
              <a:custGeom>
                <a:avLst/>
                <a:gdLst>
                  <a:gd name="T0" fmla="*/ 65 w 72"/>
                  <a:gd name="T1" fmla="*/ 49 h 51"/>
                  <a:gd name="T2" fmla="*/ 5 w 72"/>
                  <a:gd name="T3" fmla="*/ 15 h 51"/>
                  <a:gd name="T4" fmla="*/ 1 w 72"/>
                  <a:gd name="T5" fmla="*/ 5 h 51"/>
                  <a:gd name="T6" fmla="*/ 1 w 72"/>
                  <a:gd name="T7" fmla="*/ 5 h 51"/>
                  <a:gd name="T8" fmla="*/ 8 w 72"/>
                  <a:gd name="T9" fmla="*/ 2 h 51"/>
                  <a:gd name="T10" fmla="*/ 68 w 72"/>
                  <a:gd name="T11" fmla="*/ 36 h 51"/>
                  <a:gd name="T12" fmla="*/ 71 w 72"/>
                  <a:gd name="T13" fmla="*/ 46 h 51"/>
                  <a:gd name="T14" fmla="*/ 71 w 72"/>
                  <a:gd name="T15" fmla="*/ 46 h 51"/>
                  <a:gd name="T16" fmla="*/ 65 w 72"/>
                  <a:gd name="T17" fmla="*/ 4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51">
                    <a:moveTo>
                      <a:pt x="65" y="49"/>
                    </a:moveTo>
                    <a:cubicBezTo>
                      <a:pt x="5" y="15"/>
                      <a:pt x="5" y="15"/>
                      <a:pt x="5" y="15"/>
                    </a:cubicBezTo>
                    <a:cubicBezTo>
                      <a:pt x="2" y="13"/>
                      <a:pt x="0" y="9"/>
                      <a:pt x="1" y="5"/>
                    </a:cubicBezTo>
                    <a:cubicBezTo>
                      <a:pt x="1" y="5"/>
                      <a:pt x="1" y="5"/>
                      <a:pt x="1" y="5"/>
                    </a:cubicBezTo>
                    <a:cubicBezTo>
                      <a:pt x="2" y="2"/>
                      <a:pt x="5" y="0"/>
                      <a:pt x="8" y="2"/>
                    </a:cubicBezTo>
                    <a:cubicBezTo>
                      <a:pt x="68" y="36"/>
                      <a:pt x="68" y="36"/>
                      <a:pt x="68" y="36"/>
                    </a:cubicBezTo>
                    <a:cubicBezTo>
                      <a:pt x="70" y="38"/>
                      <a:pt x="72" y="42"/>
                      <a:pt x="71" y="46"/>
                    </a:cubicBezTo>
                    <a:cubicBezTo>
                      <a:pt x="71" y="46"/>
                      <a:pt x="71" y="46"/>
                      <a:pt x="71" y="46"/>
                    </a:cubicBezTo>
                    <a:cubicBezTo>
                      <a:pt x="71" y="49"/>
                      <a:pt x="68" y="51"/>
                      <a:pt x="65" y="49"/>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4" name="îṩ1îḋe"/>
              <p:cNvSpPr/>
              <p:nvPr/>
            </p:nvSpPr>
            <p:spPr bwMode="auto">
              <a:xfrm>
                <a:off x="5312817" y="3555487"/>
                <a:ext cx="114359" cy="97032"/>
              </a:xfrm>
              <a:custGeom>
                <a:avLst/>
                <a:gdLst>
                  <a:gd name="T0" fmla="*/ 25 w 32"/>
                  <a:gd name="T1" fmla="*/ 25 h 27"/>
                  <a:gd name="T2" fmla="*/ 5 w 32"/>
                  <a:gd name="T3" fmla="*/ 14 h 27"/>
                  <a:gd name="T4" fmla="*/ 1 w 32"/>
                  <a:gd name="T5" fmla="*/ 4 h 27"/>
                  <a:gd name="T6" fmla="*/ 1 w 32"/>
                  <a:gd name="T7" fmla="*/ 4 h 27"/>
                  <a:gd name="T8" fmla="*/ 8 w 32"/>
                  <a:gd name="T9" fmla="*/ 1 h 27"/>
                  <a:gd name="T10" fmla="*/ 27 w 32"/>
                  <a:gd name="T11" fmla="*/ 12 h 27"/>
                  <a:gd name="T12" fmla="*/ 31 w 32"/>
                  <a:gd name="T13" fmla="*/ 22 h 27"/>
                  <a:gd name="T14" fmla="*/ 31 w 32"/>
                  <a:gd name="T15" fmla="*/ 22 h 27"/>
                  <a:gd name="T16" fmla="*/ 25 w 32"/>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25"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30" y="14"/>
                      <a:pt x="32" y="18"/>
                      <a:pt x="31" y="22"/>
                    </a:cubicBezTo>
                    <a:cubicBezTo>
                      <a:pt x="31" y="22"/>
                      <a:pt x="31" y="22"/>
                      <a:pt x="31" y="22"/>
                    </a:cubicBezTo>
                    <a:cubicBezTo>
                      <a:pt x="30" y="25"/>
                      <a:pt x="27" y="27"/>
                      <a:pt x="25"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íṥlíďè"/>
              <p:cNvSpPr/>
              <p:nvPr/>
            </p:nvSpPr>
            <p:spPr bwMode="auto">
              <a:xfrm>
                <a:off x="5579653" y="4130746"/>
                <a:ext cx="230450" cy="164608"/>
              </a:xfrm>
              <a:custGeom>
                <a:avLst/>
                <a:gdLst>
                  <a:gd name="T0" fmla="*/ 57 w 64"/>
                  <a:gd name="T1" fmla="*/ 44 h 46"/>
                  <a:gd name="T2" fmla="*/ 4 w 64"/>
                  <a:gd name="T3" fmla="*/ 14 h 46"/>
                  <a:gd name="T4" fmla="*/ 1 w 64"/>
                  <a:gd name="T5" fmla="*/ 5 h 46"/>
                  <a:gd name="T6" fmla="*/ 1 w 64"/>
                  <a:gd name="T7" fmla="*/ 5 h 46"/>
                  <a:gd name="T8" fmla="*/ 7 w 64"/>
                  <a:gd name="T9" fmla="*/ 2 h 46"/>
                  <a:gd name="T10" fmla="*/ 59 w 64"/>
                  <a:gd name="T11" fmla="*/ 32 h 46"/>
                  <a:gd name="T12" fmla="*/ 63 w 64"/>
                  <a:gd name="T13" fmla="*/ 41 h 46"/>
                  <a:gd name="T14" fmla="*/ 63 w 64"/>
                  <a:gd name="T15" fmla="*/ 41 h 46"/>
                  <a:gd name="T16" fmla="*/ 57 w 64"/>
                  <a:gd name="T1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46">
                    <a:moveTo>
                      <a:pt x="57" y="44"/>
                    </a:moveTo>
                    <a:cubicBezTo>
                      <a:pt x="4" y="14"/>
                      <a:pt x="4" y="14"/>
                      <a:pt x="4" y="14"/>
                    </a:cubicBezTo>
                    <a:cubicBezTo>
                      <a:pt x="2" y="13"/>
                      <a:pt x="0" y="8"/>
                      <a:pt x="1" y="5"/>
                    </a:cubicBezTo>
                    <a:cubicBezTo>
                      <a:pt x="1" y="5"/>
                      <a:pt x="1" y="5"/>
                      <a:pt x="1" y="5"/>
                    </a:cubicBezTo>
                    <a:cubicBezTo>
                      <a:pt x="1" y="2"/>
                      <a:pt x="4" y="0"/>
                      <a:pt x="7" y="2"/>
                    </a:cubicBezTo>
                    <a:cubicBezTo>
                      <a:pt x="59" y="32"/>
                      <a:pt x="59" y="32"/>
                      <a:pt x="59" y="32"/>
                    </a:cubicBezTo>
                    <a:cubicBezTo>
                      <a:pt x="62" y="34"/>
                      <a:pt x="64" y="38"/>
                      <a:pt x="63" y="41"/>
                    </a:cubicBezTo>
                    <a:cubicBezTo>
                      <a:pt x="63" y="41"/>
                      <a:pt x="63" y="41"/>
                      <a:pt x="63" y="41"/>
                    </a:cubicBezTo>
                    <a:cubicBezTo>
                      <a:pt x="62" y="45"/>
                      <a:pt x="59" y="46"/>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6" name="iṣlíḋè"/>
              <p:cNvSpPr/>
              <p:nvPr/>
            </p:nvSpPr>
            <p:spPr bwMode="auto">
              <a:xfrm>
                <a:off x="5269499" y="3742620"/>
                <a:ext cx="90101" cy="81438"/>
              </a:xfrm>
              <a:custGeom>
                <a:avLst/>
                <a:gdLst>
                  <a:gd name="T0" fmla="*/ 18 w 25"/>
                  <a:gd name="T1" fmla="*/ 21 h 23"/>
                  <a:gd name="T2" fmla="*/ 5 w 25"/>
                  <a:gd name="T3" fmla="*/ 14 h 23"/>
                  <a:gd name="T4" fmla="*/ 1 w 25"/>
                  <a:gd name="T5" fmla="*/ 5 h 23"/>
                  <a:gd name="T6" fmla="*/ 1 w 25"/>
                  <a:gd name="T7" fmla="*/ 5 h 23"/>
                  <a:gd name="T8" fmla="*/ 8 w 25"/>
                  <a:gd name="T9" fmla="*/ 1 h 23"/>
                  <a:gd name="T10" fmla="*/ 20 w 25"/>
                  <a:gd name="T11" fmla="*/ 9 h 23"/>
                  <a:gd name="T12" fmla="*/ 24 w 25"/>
                  <a:gd name="T13" fmla="*/ 18 h 23"/>
                  <a:gd name="T14" fmla="*/ 24 w 25"/>
                  <a:gd name="T15" fmla="*/ 18 h 23"/>
                  <a:gd name="T16" fmla="*/ 18 w 25"/>
                  <a:gd name="T17" fmla="*/ 2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3">
                    <a:moveTo>
                      <a:pt x="18" y="21"/>
                    </a:moveTo>
                    <a:cubicBezTo>
                      <a:pt x="5" y="14"/>
                      <a:pt x="5" y="14"/>
                      <a:pt x="5" y="14"/>
                    </a:cubicBezTo>
                    <a:cubicBezTo>
                      <a:pt x="2" y="12"/>
                      <a:pt x="0" y="8"/>
                      <a:pt x="1" y="5"/>
                    </a:cubicBezTo>
                    <a:cubicBezTo>
                      <a:pt x="1" y="5"/>
                      <a:pt x="1" y="5"/>
                      <a:pt x="1" y="5"/>
                    </a:cubicBezTo>
                    <a:cubicBezTo>
                      <a:pt x="2" y="1"/>
                      <a:pt x="5" y="0"/>
                      <a:pt x="8" y="1"/>
                    </a:cubicBezTo>
                    <a:cubicBezTo>
                      <a:pt x="20" y="9"/>
                      <a:pt x="20" y="9"/>
                      <a:pt x="20" y="9"/>
                    </a:cubicBezTo>
                    <a:cubicBezTo>
                      <a:pt x="23" y="10"/>
                      <a:pt x="25" y="14"/>
                      <a:pt x="24" y="18"/>
                    </a:cubicBezTo>
                    <a:cubicBezTo>
                      <a:pt x="24" y="18"/>
                      <a:pt x="24" y="18"/>
                      <a:pt x="24" y="18"/>
                    </a:cubicBezTo>
                    <a:cubicBezTo>
                      <a:pt x="23" y="21"/>
                      <a:pt x="20" y="23"/>
                      <a:pt x="18" y="2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7" name="ï$líḓê"/>
              <p:cNvSpPr/>
              <p:nvPr/>
            </p:nvSpPr>
            <p:spPr bwMode="auto">
              <a:xfrm>
                <a:off x="5226181" y="3929752"/>
                <a:ext cx="100497" cy="90101"/>
              </a:xfrm>
              <a:custGeom>
                <a:avLst/>
                <a:gdLst>
                  <a:gd name="T0" fmla="*/ 21 w 28"/>
                  <a:gd name="T1" fmla="*/ 23 h 25"/>
                  <a:gd name="T2" fmla="*/ 5 w 28"/>
                  <a:gd name="T3" fmla="*/ 14 h 25"/>
                  <a:gd name="T4" fmla="*/ 1 w 28"/>
                  <a:gd name="T5" fmla="*/ 5 h 25"/>
                  <a:gd name="T6" fmla="*/ 1 w 28"/>
                  <a:gd name="T7" fmla="*/ 5 h 25"/>
                  <a:gd name="T8" fmla="*/ 8 w 28"/>
                  <a:gd name="T9" fmla="*/ 1 h 25"/>
                  <a:gd name="T10" fmla="*/ 23 w 28"/>
                  <a:gd name="T11" fmla="*/ 10 h 25"/>
                  <a:gd name="T12" fmla="*/ 27 w 28"/>
                  <a:gd name="T13" fmla="*/ 20 h 25"/>
                  <a:gd name="T14" fmla="*/ 27 w 28"/>
                  <a:gd name="T15" fmla="*/ 20 h 25"/>
                  <a:gd name="T16" fmla="*/ 21 w 28"/>
                  <a:gd name="T1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5">
                    <a:moveTo>
                      <a:pt x="21" y="23"/>
                    </a:moveTo>
                    <a:cubicBezTo>
                      <a:pt x="5" y="14"/>
                      <a:pt x="5" y="14"/>
                      <a:pt x="5" y="14"/>
                    </a:cubicBezTo>
                    <a:cubicBezTo>
                      <a:pt x="2" y="12"/>
                      <a:pt x="0" y="8"/>
                      <a:pt x="1" y="5"/>
                    </a:cubicBezTo>
                    <a:cubicBezTo>
                      <a:pt x="1" y="5"/>
                      <a:pt x="1" y="5"/>
                      <a:pt x="1" y="5"/>
                    </a:cubicBezTo>
                    <a:cubicBezTo>
                      <a:pt x="2" y="1"/>
                      <a:pt x="5" y="0"/>
                      <a:pt x="8" y="1"/>
                    </a:cubicBezTo>
                    <a:cubicBezTo>
                      <a:pt x="23" y="10"/>
                      <a:pt x="23" y="10"/>
                      <a:pt x="23" y="10"/>
                    </a:cubicBezTo>
                    <a:cubicBezTo>
                      <a:pt x="26" y="12"/>
                      <a:pt x="28" y="16"/>
                      <a:pt x="27" y="20"/>
                    </a:cubicBezTo>
                    <a:cubicBezTo>
                      <a:pt x="27" y="20"/>
                      <a:pt x="27" y="20"/>
                      <a:pt x="27" y="20"/>
                    </a:cubicBezTo>
                    <a:cubicBezTo>
                      <a:pt x="26" y="23"/>
                      <a:pt x="23" y="25"/>
                      <a:pt x="21" y="23"/>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iśḷíḍê"/>
              <p:cNvSpPr/>
              <p:nvPr/>
            </p:nvSpPr>
            <p:spPr bwMode="auto">
              <a:xfrm>
                <a:off x="5352669" y="4000793"/>
                <a:ext cx="194063" cy="140350"/>
              </a:xfrm>
              <a:custGeom>
                <a:avLst/>
                <a:gdLst>
                  <a:gd name="T0" fmla="*/ 46 w 54"/>
                  <a:gd name="T1" fmla="*/ 38 h 39"/>
                  <a:gd name="T2" fmla="*/ 5 w 54"/>
                  <a:gd name="T3" fmla="*/ 14 h 39"/>
                  <a:gd name="T4" fmla="*/ 1 w 54"/>
                  <a:gd name="T5" fmla="*/ 5 h 39"/>
                  <a:gd name="T6" fmla="*/ 1 w 54"/>
                  <a:gd name="T7" fmla="*/ 5 h 39"/>
                  <a:gd name="T8" fmla="*/ 8 w 54"/>
                  <a:gd name="T9" fmla="*/ 2 h 39"/>
                  <a:gd name="T10" fmla="*/ 49 w 54"/>
                  <a:gd name="T11" fmla="*/ 25 h 39"/>
                  <a:gd name="T12" fmla="*/ 53 w 54"/>
                  <a:gd name="T13" fmla="*/ 35 h 39"/>
                  <a:gd name="T14" fmla="*/ 53 w 54"/>
                  <a:gd name="T15" fmla="*/ 35 h 39"/>
                  <a:gd name="T16" fmla="*/ 46 w 54"/>
                  <a:gd name="T17" fmla="*/ 3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39">
                    <a:moveTo>
                      <a:pt x="46" y="38"/>
                    </a:moveTo>
                    <a:cubicBezTo>
                      <a:pt x="5" y="14"/>
                      <a:pt x="5" y="14"/>
                      <a:pt x="5" y="14"/>
                    </a:cubicBezTo>
                    <a:cubicBezTo>
                      <a:pt x="2" y="12"/>
                      <a:pt x="0" y="8"/>
                      <a:pt x="1" y="5"/>
                    </a:cubicBezTo>
                    <a:cubicBezTo>
                      <a:pt x="1" y="5"/>
                      <a:pt x="1" y="5"/>
                      <a:pt x="1" y="5"/>
                    </a:cubicBezTo>
                    <a:cubicBezTo>
                      <a:pt x="2" y="1"/>
                      <a:pt x="5" y="0"/>
                      <a:pt x="8" y="2"/>
                    </a:cubicBezTo>
                    <a:cubicBezTo>
                      <a:pt x="49" y="25"/>
                      <a:pt x="49" y="25"/>
                      <a:pt x="49" y="25"/>
                    </a:cubicBezTo>
                    <a:cubicBezTo>
                      <a:pt x="52" y="27"/>
                      <a:pt x="54" y="31"/>
                      <a:pt x="53" y="35"/>
                    </a:cubicBezTo>
                    <a:cubicBezTo>
                      <a:pt x="53" y="35"/>
                      <a:pt x="53" y="35"/>
                      <a:pt x="53" y="35"/>
                    </a:cubicBezTo>
                    <a:cubicBezTo>
                      <a:pt x="52" y="38"/>
                      <a:pt x="49" y="39"/>
                      <a:pt x="46" y="38"/>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ï$1îḑé"/>
              <p:cNvSpPr/>
              <p:nvPr/>
            </p:nvSpPr>
            <p:spPr bwMode="auto">
              <a:xfrm>
                <a:off x="5203657" y="4023318"/>
                <a:ext cx="152478" cy="117824"/>
              </a:xfrm>
              <a:custGeom>
                <a:avLst/>
                <a:gdLst>
                  <a:gd name="T0" fmla="*/ 34 w 42"/>
                  <a:gd name="T1" fmla="*/ 31 h 33"/>
                  <a:gd name="T2" fmla="*/ 5 w 42"/>
                  <a:gd name="T3" fmla="*/ 14 h 33"/>
                  <a:gd name="T4" fmla="*/ 1 w 42"/>
                  <a:gd name="T5" fmla="*/ 5 h 33"/>
                  <a:gd name="T6" fmla="*/ 1 w 42"/>
                  <a:gd name="T7" fmla="*/ 5 h 33"/>
                  <a:gd name="T8" fmla="*/ 8 w 42"/>
                  <a:gd name="T9" fmla="*/ 2 h 33"/>
                  <a:gd name="T10" fmla="*/ 37 w 42"/>
                  <a:gd name="T11" fmla="*/ 19 h 33"/>
                  <a:gd name="T12" fmla="*/ 41 w 42"/>
                  <a:gd name="T13" fmla="*/ 28 h 33"/>
                  <a:gd name="T14" fmla="*/ 41 w 42"/>
                  <a:gd name="T15" fmla="*/ 28 h 33"/>
                  <a:gd name="T16" fmla="*/ 34 w 42"/>
                  <a:gd name="T17" fmla="*/ 3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3">
                    <a:moveTo>
                      <a:pt x="34" y="31"/>
                    </a:moveTo>
                    <a:cubicBezTo>
                      <a:pt x="5" y="14"/>
                      <a:pt x="5" y="14"/>
                      <a:pt x="5" y="14"/>
                    </a:cubicBezTo>
                    <a:cubicBezTo>
                      <a:pt x="2" y="12"/>
                      <a:pt x="0" y="8"/>
                      <a:pt x="1" y="5"/>
                    </a:cubicBezTo>
                    <a:cubicBezTo>
                      <a:pt x="1" y="5"/>
                      <a:pt x="1" y="5"/>
                      <a:pt x="1" y="5"/>
                    </a:cubicBezTo>
                    <a:cubicBezTo>
                      <a:pt x="2" y="1"/>
                      <a:pt x="5" y="0"/>
                      <a:pt x="8" y="2"/>
                    </a:cubicBezTo>
                    <a:cubicBezTo>
                      <a:pt x="37" y="19"/>
                      <a:pt x="37" y="19"/>
                      <a:pt x="37" y="19"/>
                    </a:cubicBezTo>
                    <a:cubicBezTo>
                      <a:pt x="40" y="20"/>
                      <a:pt x="42" y="24"/>
                      <a:pt x="41" y="28"/>
                    </a:cubicBezTo>
                    <a:cubicBezTo>
                      <a:pt x="41" y="28"/>
                      <a:pt x="41" y="28"/>
                      <a:pt x="41" y="28"/>
                    </a:cubicBezTo>
                    <a:cubicBezTo>
                      <a:pt x="40" y="31"/>
                      <a:pt x="37" y="33"/>
                      <a:pt x="34" y="3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0" name="išliďe"/>
              <p:cNvSpPr/>
              <p:nvPr/>
            </p:nvSpPr>
            <p:spPr bwMode="auto">
              <a:xfrm>
                <a:off x="5860352" y="4291888"/>
                <a:ext cx="110893" cy="97032"/>
              </a:xfrm>
              <a:custGeom>
                <a:avLst/>
                <a:gdLst>
                  <a:gd name="T0" fmla="*/ 23 w 31"/>
                  <a:gd name="T1" fmla="*/ 25 h 27"/>
                  <a:gd name="T2" fmla="*/ 4 w 31"/>
                  <a:gd name="T3" fmla="*/ 14 h 27"/>
                  <a:gd name="T4" fmla="*/ 1 w 31"/>
                  <a:gd name="T5" fmla="*/ 5 h 27"/>
                  <a:gd name="T6" fmla="*/ 1 w 31"/>
                  <a:gd name="T7" fmla="*/ 5 h 27"/>
                  <a:gd name="T8" fmla="*/ 7 w 31"/>
                  <a:gd name="T9" fmla="*/ 2 h 27"/>
                  <a:gd name="T10" fmla="*/ 26 w 31"/>
                  <a:gd name="T11" fmla="*/ 13 h 27"/>
                  <a:gd name="T12" fmla="*/ 30 w 31"/>
                  <a:gd name="T13" fmla="*/ 22 h 27"/>
                  <a:gd name="T14" fmla="*/ 30 w 31"/>
                  <a:gd name="T15" fmla="*/ 22 h 27"/>
                  <a:gd name="T16" fmla="*/ 23 w 31"/>
                  <a:gd name="T17"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7">
                    <a:moveTo>
                      <a:pt x="23" y="25"/>
                    </a:moveTo>
                    <a:cubicBezTo>
                      <a:pt x="4" y="14"/>
                      <a:pt x="4" y="14"/>
                      <a:pt x="4" y="14"/>
                    </a:cubicBezTo>
                    <a:cubicBezTo>
                      <a:pt x="1" y="13"/>
                      <a:pt x="0" y="8"/>
                      <a:pt x="1" y="5"/>
                    </a:cubicBezTo>
                    <a:cubicBezTo>
                      <a:pt x="1" y="5"/>
                      <a:pt x="1" y="5"/>
                      <a:pt x="1" y="5"/>
                    </a:cubicBezTo>
                    <a:cubicBezTo>
                      <a:pt x="1" y="2"/>
                      <a:pt x="4" y="0"/>
                      <a:pt x="7" y="2"/>
                    </a:cubicBezTo>
                    <a:cubicBezTo>
                      <a:pt x="26" y="13"/>
                      <a:pt x="26" y="13"/>
                      <a:pt x="26" y="13"/>
                    </a:cubicBezTo>
                    <a:cubicBezTo>
                      <a:pt x="29" y="14"/>
                      <a:pt x="31" y="19"/>
                      <a:pt x="30" y="22"/>
                    </a:cubicBezTo>
                    <a:cubicBezTo>
                      <a:pt x="30" y="22"/>
                      <a:pt x="30" y="22"/>
                      <a:pt x="30" y="22"/>
                    </a:cubicBezTo>
                    <a:cubicBezTo>
                      <a:pt x="29" y="25"/>
                      <a:pt x="26" y="27"/>
                      <a:pt x="23"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1" name="iṥḷiḓé"/>
              <p:cNvSpPr/>
              <p:nvPr/>
            </p:nvSpPr>
            <p:spPr bwMode="auto">
              <a:xfrm>
                <a:off x="5456632" y="3636925"/>
                <a:ext cx="233916" cy="162874"/>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2" name="ïṧḻiḓè"/>
              <p:cNvSpPr/>
              <p:nvPr/>
            </p:nvSpPr>
            <p:spPr bwMode="auto">
              <a:xfrm>
                <a:off x="5333609" y="3458456"/>
                <a:ext cx="372532" cy="247777"/>
              </a:xfrm>
              <a:custGeom>
                <a:avLst/>
                <a:gdLst>
                  <a:gd name="T0" fmla="*/ 96 w 103"/>
                  <a:gd name="T1" fmla="*/ 67 h 69"/>
                  <a:gd name="T2" fmla="*/ 5 w 103"/>
                  <a:gd name="T3" fmla="*/ 15 h 69"/>
                  <a:gd name="T4" fmla="*/ 1 w 103"/>
                  <a:gd name="T5" fmla="*/ 5 h 69"/>
                  <a:gd name="T6" fmla="*/ 1 w 103"/>
                  <a:gd name="T7" fmla="*/ 5 h 69"/>
                  <a:gd name="T8" fmla="*/ 8 w 103"/>
                  <a:gd name="T9" fmla="*/ 2 h 69"/>
                  <a:gd name="T10" fmla="*/ 99 w 103"/>
                  <a:gd name="T11" fmla="*/ 55 h 69"/>
                  <a:gd name="T12" fmla="*/ 103 w 103"/>
                  <a:gd name="T13" fmla="*/ 64 h 69"/>
                  <a:gd name="T14" fmla="*/ 103 w 103"/>
                  <a:gd name="T15" fmla="*/ 64 h 69"/>
                  <a:gd name="T16" fmla="*/ 96 w 103"/>
                  <a:gd name="T17" fmla="*/ 6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69">
                    <a:moveTo>
                      <a:pt x="96" y="67"/>
                    </a:moveTo>
                    <a:cubicBezTo>
                      <a:pt x="5" y="15"/>
                      <a:pt x="5" y="15"/>
                      <a:pt x="5" y="15"/>
                    </a:cubicBezTo>
                    <a:cubicBezTo>
                      <a:pt x="2" y="13"/>
                      <a:pt x="0" y="9"/>
                      <a:pt x="1" y="5"/>
                    </a:cubicBezTo>
                    <a:cubicBezTo>
                      <a:pt x="1" y="5"/>
                      <a:pt x="1" y="5"/>
                      <a:pt x="1" y="5"/>
                    </a:cubicBezTo>
                    <a:cubicBezTo>
                      <a:pt x="2" y="2"/>
                      <a:pt x="5" y="0"/>
                      <a:pt x="8" y="2"/>
                    </a:cubicBezTo>
                    <a:cubicBezTo>
                      <a:pt x="99" y="55"/>
                      <a:pt x="99" y="55"/>
                      <a:pt x="99" y="55"/>
                    </a:cubicBezTo>
                    <a:cubicBezTo>
                      <a:pt x="102" y="56"/>
                      <a:pt x="103" y="60"/>
                      <a:pt x="103" y="64"/>
                    </a:cubicBezTo>
                    <a:cubicBezTo>
                      <a:pt x="103" y="64"/>
                      <a:pt x="103" y="64"/>
                      <a:pt x="103" y="64"/>
                    </a:cubicBezTo>
                    <a:cubicBezTo>
                      <a:pt x="102" y="67"/>
                      <a:pt x="99" y="69"/>
                      <a:pt x="96" y="67"/>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ïsļíḑê"/>
              <p:cNvSpPr/>
              <p:nvPr/>
            </p:nvSpPr>
            <p:spPr bwMode="auto">
              <a:xfrm>
                <a:off x="5290292" y="3649054"/>
                <a:ext cx="235648" cy="161142"/>
              </a:xfrm>
              <a:custGeom>
                <a:avLst/>
                <a:gdLst>
                  <a:gd name="T0" fmla="*/ 57 w 65"/>
                  <a:gd name="T1" fmla="*/ 44 h 45"/>
                  <a:gd name="T2" fmla="*/ 5 w 65"/>
                  <a:gd name="T3" fmla="*/ 14 h 45"/>
                  <a:gd name="T4" fmla="*/ 1 w 65"/>
                  <a:gd name="T5" fmla="*/ 4 h 45"/>
                  <a:gd name="T6" fmla="*/ 1 w 65"/>
                  <a:gd name="T7" fmla="*/ 4 h 45"/>
                  <a:gd name="T8" fmla="*/ 8 w 65"/>
                  <a:gd name="T9" fmla="*/ 1 h 45"/>
                  <a:gd name="T10" fmla="*/ 60 w 65"/>
                  <a:gd name="T11" fmla="*/ 31 h 45"/>
                  <a:gd name="T12" fmla="*/ 64 w 65"/>
                  <a:gd name="T13" fmla="*/ 41 h 45"/>
                  <a:gd name="T14" fmla="*/ 64 w 65"/>
                  <a:gd name="T15" fmla="*/ 41 h 45"/>
                  <a:gd name="T16" fmla="*/ 57 w 6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 h="45">
                    <a:moveTo>
                      <a:pt x="57" y="44"/>
                    </a:moveTo>
                    <a:cubicBezTo>
                      <a:pt x="5" y="14"/>
                      <a:pt x="5" y="14"/>
                      <a:pt x="5" y="14"/>
                    </a:cubicBezTo>
                    <a:cubicBezTo>
                      <a:pt x="2" y="12"/>
                      <a:pt x="0" y="8"/>
                      <a:pt x="1" y="4"/>
                    </a:cubicBezTo>
                    <a:cubicBezTo>
                      <a:pt x="1" y="4"/>
                      <a:pt x="1" y="4"/>
                      <a:pt x="1" y="4"/>
                    </a:cubicBezTo>
                    <a:cubicBezTo>
                      <a:pt x="2" y="1"/>
                      <a:pt x="5" y="0"/>
                      <a:pt x="8" y="1"/>
                    </a:cubicBezTo>
                    <a:cubicBezTo>
                      <a:pt x="60" y="31"/>
                      <a:pt x="60" y="31"/>
                      <a:pt x="60" y="31"/>
                    </a:cubicBezTo>
                    <a:cubicBezTo>
                      <a:pt x="63" y="33"/>
                      <a:pt x="65" y="37"/>
                      <a:pt x="64" y="41"/>
                    </a:cubicBezTo>
                    <a:cubicBezTo>
                      <a:pt x="64" y="41"/>
                      <a:pt x="64" y="41"/>
                      <a:pt x="64" y="41"/>
                    </a:cubicBezTo>
                    <a:cubicBezTo>
                      <a:pt x="63" y="44"/>
                      <a:pt x="60" y="45"/>
                      <a:pt x="57" y="44"/>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iş1íḑê"/>
              <p:cNvSpPr/>
              <p:nvPr/>
            </p:nvSpPr>
            <p:spPr bwMode="auto">
              <a:xfrm>
                <a:off x="5720003" y="3789403"/>
                <a:ext cx="110893" cy="93566"/>
              </a:xfrm>
              <a:custGeom>
                <a:avLst/>
                <a:gdLst>
                  <a:gd name="T0" fmla="*/ 24 w 31"/>
                  <a:gd name="T1" fmla="*/ 25 h 26"/>
                  <a:gd name="T2" fmla="*/ 5 w 31"/>
                  <a:gd name="T3" fmla="*/ 14 h 26"/>
                  <a:gd name="T4" fmla="*/ 1 w 31"/>
                  <a:gd name="T5" fmla="*/ 4 h 26"/>
                  <a:gd name="T6" fmla="*/ 1 w 31"/>
                  <a:gd name="T7" fmla="*/ 4 h 26"/>
                  <a:gd name="T8" fmla="*/ 8 w 31"/>
                  <a:gd name="T9" fmla="*/ 1 h 26"/>
                  <a:gd name="T10" fmla="*/ 27 w 31"/>
                  <a:gd name="T11" fmla="*/ 12 h 26"/>
                  <a:gd name="T12" fmla="*/ 30 w 31"/>
                  <a:gd name="T13" fmla="*/ 21 h 26"/>
                  <a:gd name="T14" fmla="*/ 30 w 31"/>
                  <a:gd name="T15" fmla="*/ 21 h 26"/>
                  <a:gd name="T16" fmla="*/ 24 w 3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26">
                    <a:moveTo>
                      <a:pt x="24" y="25"/>
                    </a:moveTo>
                    <a:cubicBezTo>
                      <a:pt x="5" y="14"/>
                      <a:pt x="5" y="14"/>
                      <a:pt x="5" y="14"/>
                    </a:cubicBezTo>
                    <a:cubicBezTo>
                      <a:pt x="2" y="12"/>
                      <a:pt x="0" y="8"/>
                      <a:pt x="1" y="4"/>
                    </a:cubicBezTo>
                    <a:cubicBezTo>
                      <a:pt x="1" y="4"/>
                      <a:pt x="1" y="4"/>
                      <a:pt x="1" y="4"/>
                    </a:cubicBezTo>
                    <a:cubicBezTo>
                      <a:pt x="2" y="1"/>
                      <a:pt x="5" y="0"/>
                      <a:pt x="8" y="1"/>
                    </a:cubicBezTo>
                    <a:cubicBezTo>
                      <a:pt x="27" y="12"/>
                      <a:pt x="27" y="12"/>
                      <a:pt x="27" y="12"/>
                    </a:cubicBezTo>
                    <a:cubicBezTo>
                      <a:pt x="29" y="14"/>
                      <a:pt x="31" y="18"/>
                      <a:pt x="30" y="21"/>
                    </a:cubicBezTo>
                    <a:cubicBezTo>
                      <a:pt x="30" y="21"/>
                      <a:pt x="30" y="21"/>
                      <a:pt x="30" y="21"/>
                    </a:cubicBezTo>
                    <a:cubicBezTo>
                      <a:pt x="30" y="25"/>
                      <a:pt x="27" y="26"/>
                      <a:pt x="24" y="2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5" name="íṡḻïḋè"/>
              <p:cNvSpPr/>
              <p:nvPr/>
            </p:nvSpPr>
            <p:spPr bwMode="auto">
              <a:xfrm>
                <a:off x="5246974" y="3836186"/>
                <a:ext cx="270302" cy="187132"/>
              </a:xfrm>
              <a:custGeom>
                <a:avLst/>
                <a:gdLst>
                  <a:gd name="T0" fmla="*/ 68 w 75"/>
                  <a:gd name="T1" fmla="*/ 50 h 52"/>
                  <a:gd name="T2" fmla="*/ 5 w 75"/>
                  <a:gd name="T3" fmla="*/ 14 h 52"/>
                  <a:gd name="T4" fmla="*/ 1 w 75"/>
                  <a:gd name="T5" fmla="*/ 5 h 52"/>
                  <a:gd name="T6" fmla="*/ 1 w 75"/>
                  <a:gd name="T7" fmla="*/ 5 h 52"/>
                  <a:gd name="T8" fmla="*/ 8 w 75"/>
                  <a:gd name="T9" fmla="*/ 1 h 52"/>
                  <a:gd name="T10" fmla="*/ 70 w 75"/>
                  <a:gd name="T11" fmla="*/ 38 h 52"/>
                  <a:gd name="T12" fmla="*/ 74 w 75"/>
                  <a:gd name="T13" fmla="*/ 47 h 52"/>
                  <a:gd name="T14" fmla="*/ 74 w 75"/>
                  <a:gd name="T15" fmla="*/ 47 h 52"/>
                  <a:gd name="T16" fmla="*/ 68 w 75"/>
                  <a:gd name="T17" fmla="*/ 5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2">
                    <a:moveTo>
                      <a:pt x="68" y="50"/>
                    </a:moveTo>
                    <a:cubicBezTo>
                      <a:pt x="5" y="14"/>
                      <a:pt x="5" y="14"/>
                      <a:pt x="5" y="14"/>
                    </a:cubicBezTo>
                    <a:cubicBezTo>
                      <a:pt x="2" y="12"/>
                      <a:pt x="0" y="8"/>
                      <a:pt x="1" y="5"/>
                    </a:cubicBezTo>
                    <a:cubicBezTo>
                      <a:pt x="1" y="5"/>
                      <a:pt x="1" y="5"/>
                      <a:pt x="1" y="5"/>
                    </a:cubicBezTo>
                    <a:cubicBezTo>
                      <a:pt x="2" y="1"/>
                      <a:pt x="5" y="0"/>
                      <a:pt x="8" y="1"/>
                    </a:cubicBezTo>
                    <a:cubicBezTo>
                      <a:pt x="70" y="38"/>
                      <a:pt x="70" y="38"/>
                      <a:pt x="70" y="38"/>
                    </a:cubicBezTo>
                    <a:cubicBezTo>
                      <a:pt x="73" y="39"/>
                      <a:pt x="75" y="43"/>
                      <a:pt x="74" y="47"/>
                    </a:cubicBezTo>
                    <a:cubicBezTo>
                      <a:pt x="74" y="47"/>
                      <a:pt x="74" y="47"/>
                      <a:pt x="74" y="47"/>
                    </a:cubicBezTo>
                    <a:cubicBezTo>
                      <a:pt x="74" y="50"/>
                      <a:pt x="71" y="52"/>
                      <a:pt x="68" y="50"/>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išliḋè"/>
              <p:cNvSpPr/>
              <p:nvPr/>
            </p:nvSpPr>
            <p:spPr bwMode="auto">
              <a:xfrm>
                <a:off x="5305886" y="3122311"/>
                <a:ext cx="211390" cy="155943"/>
              </a:xfrm>
              <a:custGeom>
                <a:avLst/>
                <a:gdLst>
                  <a:gd name="T0" fmla="*/ 51 w 59"/>
                  <a:gd name="T1" fmla="*/ 41 h 43"/>
                  <a:gd name="T2" fmla="*/ 5 w 59"/>
                  <a:gd name="T3" fmla="*/ 14 h 43"/>
                  <a:gd name="T4" fmla="*/ 1 w 59"/>
                  <a:gd name="T5" fmla="*/ 5 h 43"/>
                  <a:gd name="T6" fmla="*/ 1 w 59"/>
                  <a:gd name="T7" fmla="*/ 5 h 43"/>
                  <a:gd name="T8" fmla="*/ 8 w 59"/>
                  <a:gd name="T9" fmla="*/ 2 h 43"/>
                  <a:gd name="T10" fmla="*/ 54 w 59"/>
                  <a:gd name="T11" fmla="*/ 29 h 43"/>
                  <a:gd name="T12" fmla="*/ 58 w 59"/>
                  <a:gd name="T13" fmla="*/ 38 h 43"/>
                  <a:gd name="T14" fmla="*/ 58 w 59"/>
                  <a:gd name="T15" fmla="*/ 38 h 43"/>
                  <a:gd name="T16" fmla="*/ 51 w 59"/>
                  <a:gd name="T17" fmla="*/ 4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43">
                    <a:moveTo>
                      <a:pt x="51" y="41"/>
                    </a:moveTo>
                    <a:cubicBezTo>
                      <a:pt x="5" y="14"/>
                      <a:pt x="5" y="14"/>
                      <a:pt x="5" y="14"/>
                    </a:cubicBezTo>
                    <a:cubicBezTo>
                      <a:pt x="2" y="13"/>
                      <a:pt x="0" y="9"/>
                      <a:pt x="1" y="5"/>
                    </a:cubicBezTo>
                    <a:cubicBezTo>
                      <a:pt x="1" y="5"/>
                      <a:pt x="1" y="5"/>
                      <a:pt x="1" y="5"/>
                    </a:cubicBezTo>
                    <a:cubicBezTo>
                      <a:pt x="2" y="2"/>
                      <a:pt x="5" y="0"/>
                      <a:pt x="8" y="2"/>
                    </a:cubicBezTo>
                    <a:cubicBezTo>
                      <a:pt x="54" y="29"/>
                      <a:pt x="54" y="29"/>
                      <a:pt x="54" y="29"/>
                    </a:cubicBezTo>
                    <a:cubicBezTo>
                      <a:pt x="57" y="30"/>
                      <a:pt x="59" y="34"/>
                      <a:pt x="58" y="38"/>
                    </a:cubicBezTo>
                    <a:cubicBezTo>
                      <a:pt x="58" y="38"/>
                      <a:pt x="58" y="38"/>
                      <a:pt x="58" y="38"/>
                    </a:cubicBezTo>
                    <a:cubicBezTo>
                      <a:pt x="57" y="41"/>
                      <a:pt x="54" y="43"/>
                      <a:pt x="51" y="41"/>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7" name="i$ļiḑé"/>
              <p:cNvSpPr/>
              <p:nvPr/>
            </p:nvSpPr>
            <p:spPr bwMode="auto">
              <a:xfrm>
                <a:off x="5089298" y="4061437"/>
                <a:ext cx="237381" cy="166340"/>
              </a:xfrm>
              <a:custGeom>
                <a:avLst/>
                <a:gdLst>
                  <a:gd name="T0" fmla="*/ 58 w 66"/>
                  <a:gd name="T1" fmla="*/ 45 h 46"/>
                  <a:gd name="T2" fmla="*/ 5 w 66"/>
                  <a:gd name="T3" fmla="*/ 14 h 46"/>
                  <a:gd name="T4" fmla="*/ 1 w 66"/>
                  <a:gd name="T5" fmla="*/ 5 h 46"/>
                  <a:gd name="T6" fmla="*/ 1 w 66"/>
                  <a:gd name="T7" fmla="*/ 5 h 46"/>
                  <a:gd name="T8" fmla="*/ 8 w 66"/>
                  <a:gd name="T9" fmla="*/ 2 h 46"/>
                  <a:gd name="T10" fmla="*/ 61 w 66"/>
                  <a:gd name="T11" fmla="*/ 32 h 46"/>
                  <a:gd name="T12" fmla="*/ 65 w 66"/>
                  <a:gd name="T13" fmla="*/ 42 h 46"/>
                  <a:gd name="T14" fmla="*/ 65 w 66"/>
                  <a:gd name="T15" fmla="*/ 42 h 46"/>
                  <a:gd name="T16" fmla="*/ 58 w 66"/>
                  <a:gd name="T17" fmla="*/ 4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46">
                    <a:moveTo>
                      <a:pt x="58" y="45"/>
                    </a:moveTo>
                    <a:cubicBezTo>
                      <a:pt x="5" y="14"/>
                      <a:pt x="5" y="14"/>
                      <a:pt x="5" y="14"/>
                    </a:cubicBezTo>
                    <a:cubicBezTo>
                      <a:pt x="2" y="12"/>
                      <a:pt x="0" y="8"/>
                      <a:pt x="1" y="5"/>
                    </a:cubicBezTo>
                    <a:cubicBezTo>
                      <a:pt x="1" y="5"/>
                      <a:pt x="1" y="5"/>
                      <a:pt x="1" y="5"/>
                    </a:cubicBezTo>
                    <a:cubicBezTo>
                      <a:pt x="2" y="1"/>
                      <a:pt x="5" y="0"/>
                      <a:pt x="8" y="2"/>
                    </a:cubicBezTo>
                    <a:cubicBezTo>
                      <a:pt x="61" y="32"/>
                      <a:pt x="61" y="32"/>
                      <a:pt x="61" y="32"/>
                    </a:cubicBezTo>
                    <a:cubicBezTo>
                      <a:pt x="64" y="34"/>
                      <a:pt x="66" y="38"/>
                      <a:pt x="65" y="42"/>
                    </a:cubicBezTo>
                    <a:cubicBezTo>
                      <a:pt x="65" y="42"/>
                      <a:pt x="65" y="42"/>
                      <a:pt x="65" y="42"/>
                    </a:cubicBezTo>
                    <a:cubicBezTo>
                      <a:pt x="64" y="45"/>
                      <a:pt x="61" y="46"/>
                      <a:pt x="58" y="45"/>
                    </a:cubicBezTo>
                    <a:close/>
                  </a:path>
                </a:pathLst>
              </a:custGeom>
              <a:solidFill>
                <a:srgbClr val="D4EC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8" name="ïṣľïḓè"/>
              <p:cNvSpPr/>
              <p:nvPr/>
            </p:nvSpPr>
            <p:spPr bwMode="auto">
              <a:xfrm>
                <a:off x="5240043" y="2352990"/>
                <a:ext cx="1221558" cy="1637407"/>
              </a:xfrm>
              <a:custGeom>
                <a:avLst/>
                <a:gdLst>
                  <a:gd name="T0" fmla="*/ 298 w 339"/>
                  <a:gd name="T1" fmla="*/ 325 h 455"/>
                  <a:gd name="T2" fmla="*/ 339 w 339"/>
                  <a:gd name="T3" fmla="*/ 152 h 455"/>
                  <a:gd name="T4" fmla="*/ 266 w 339"/>
                  <a:gd name="T5" fmla="*/ 100 h 455"/>
                  <a:gd name="T6" fmla="*/ 153 w 339"/>
                  <a:gd name="T7" fmla="*/ 34 h 455"/>
                  <a:gd name="T8" fmla="*/ 76 w 339"/>
                  <a:gd name="T9" fmla="*/ 0 h 455"/>
                  <a:gd name="T10" fmla="*/ 35 w 339"/>
                  <a:gd name="T11" fmla="*/ 173 h 455"/>
                  <a:gd name="T12" fmla="*/ 120 w 339"/>
                  <a:gd name="T13" fmla="*/ 444 h 455"/>
                  <a:gd name="T14" fmla="*/ 298 w 339"/>
                  <a:gd name="T15" fmla="*/ 32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455">
                    <a:moveTo>
                      <a:pt x="298" y="325"/>
                    </a:moveTo>
                    <a:cubicBezTo>
                      <a:pt x="339" y="152"/>
                      <a:pt x="339" y="152"/>
                      <a:pt x="339" y="152"/>
                    </a:cubicBezTo>
                    <a:cubicBezTo>
                      <a:pt x="266" y="100"/>
                      <a:pt x="266" y="100"/>
                      <a:pt x="266" y="100"/>
                    </a:cubicBezTo>
                    <a:cubicBezTo>
                      <a:pt x="230" y="74"/>
                      <a:pt x="192" y="52"/>
                      <a:pt x="153" y="34"/>
                    </a:cubicBezTo>
                    <a:cubicBezTo>
                      <a:pt x="76" y="0"/>
                      <a:pt x="76" y="0"/>
                      <a:pt x="76" y="0"/>
                    </a:cubicBezTo>
                    <a:cubicBezTo>
                      <a:pt x="35" y="173"/>
                      <a:pt x="35" y="173"/>
                      <a:pt x="35" y="173"/>
                    </a:cubicBezTo>
                    <a:cubicBezTo>
                      <a:pt x="35" y="173"/>
                      <a:pt x="0" y="298"/>
                      <a:pt x="120" y="444"/>
                    </a:cubicBezTo>
                    <a:cubicBezTo>
                      <a:pt x="272" y="455"/>
                      <a:pt x="298" y="325"/>
                      <a:pt x="298" y="325"/>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ïṧľíḓê"/>
              <p:cNvSpPr/>
              <p:nvPr/>
            </p:nvSpPr>
            <p:spPr bwMode="auto">
              <a:xfrm>
                <a:off x="4839788" y="1734415"/>
                <a:ext cx="1438146" cy="1885184"/>
              </a:xfrm>
              <a:custGeom>
                <a:avLst/>
                <a:gdLst>
                  <a:gd name="T0" fmla="*/ 313 w 399"/>
                  <a:gd name="T1" fmla="*/ 118 h 524"/>
                  <a:gd name="T2" fmla="*/ 180 w 399"/>
                  <a:gd name="T3" fmla="*/ 40 h 524"/>
                  <a:gd name="T4" fmla="*/ 89 w 399"/>
                  <a:gd name="T5" fmla="*/ 0 h 524"/>
                  <a:gd name="T6" fmla="*/ 60 w 399"/>
                  <a:gd name="T7" fmla="*/ 11 h 524"/>
                  <a:gd name="T8" fmla="*/ 84 w 399"/>
                  <a:gd name="T9" fmla="*/ 24 h 524"/>
                  <a:gd name="T10" fmla="*/ 41 w 399"/>
                  <a:gd name="T11" fmla="*/ 204 h 524"/>
                  <a:gd name="T12" fmla="*/ 141 w 399"/>
                  <a:gd name="T13" fmla="*/ 522 h 524"/>
                  <a:gd name="T14" fmla="*/ 212 w 399"/>
                  <a:gd name="T15" fmla="*/ 518 h 524"/>
                  <a:gd name="T16" fmla="*/ 211 w 399"/>
                  <a:gd name="T17" fmla="*/ 520 h 524"/>
                  <a:gd name="T18" fmla="*/ 237 w 399"/>
                  <a:gd name="T19" fmla="*/ 510 h 524"/>
                  <a:gd name="T20" fmla="*/ 244 w 399"/>
                  <a:gd name="T21" fmla="*/ 507 h 524"/>
                  <a:gd name="T22" fmla="*/ 245 w 399"/>
                  <a:gd name="T23" fmla="*/ 507 h 524"/>
                  <a:gd name="T24" fmla="*/ 245 w 399"/>
                  <a:gd name="T25" fmla="*/ 507 h 524"/>
                  <a:gd name="T26" fmla="*/ 350 w 399"/>
                  <a:gd name="T27" fmla="*/ 382 h 524"/>
                  <a:gd name="T28" fmla="*/ 399 w 399"/>
                  <a:gd name="T29" fmla="*/ 179 h 524"/>
                  <a:gd name="T30" fmla="*/ 313 w 399"/>
                  <a:gd name="T31" fmla="*/ 118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524">
                    <a:moveTo>
                      <a:pt x="313" y="118"/>
                    </a:moveTo>
                    <a:cubicBezTo>
                      <a:pt x="270" y="87"/>
                      <a:pt x="226" y="61"/>
                      <a:pt x="180" y="40"/>
                    </a:cubicBezTo>
                    <a:cubicBezTo>
                      <a:pt x="89" y="0"/>
                      <a:pt x="89" y="0"/>
                      <a:pt x="89" y="0"/>
                    </a:cubicBezTo>
                    <a:cubicBezTo>
                      <a:pt x="60" y="11"/>
                      <a:pt x="60" y="11"/>
                      <a:pt x="60" y="11"/>
                    </a:cubicBezTo>
                    <a:cubicBezTo>
                      <a:pt x="60" y="11"/>
                      <a:pt x="73" y="18"/>
                      <a:pt x="84" y="24"/>
                    </a:cubicBezTo>
                    <a:cubicBezTo>
                      <a:pt x="41" y="204"/>
                      <a:pt x="41" y="204"/>
                      <a:pt x="41" y="204"/>
                    </a:cubicBezTo>
                    <a:cubicBezTo>
                      <a:pt x="41" y="204"/>
                      <a:pt x="0" y="350"/>
                      <a:pt x="141" y="522"/>
                    </a:cubicBezTo>
                    <a:cubicBezTo>
                      <a:pt x="168" y="524"/>
                      <a:pt x="191" y="522"/>
                      <a:pt x="212" y="518"/>
                    </a:cubicBezTo>
                    <a:cubicBezTo>
                      <a:pt x="211" y="519"/>
                      <a:pt x="211" y="520"/>
                      <a:pt x="211" y="520"/>
                    </a:cubicBezTo>
                    <a:cubicBezTo>
                      <a:pt x="237" y="510"/>
                      <a:pt x="237" y="510"/>
                      <a:pt x="237" y="510"/>
                    </a:cubicBezTo>
                    <a:cubicBezTo>
                      <a:pt x="240" y="509"/>
                      <a:pt x="242" y="508"/>
                      <a:pt x="244" y="507"/>
                    </a:cubicBezTo>
                    <a:cubicBezTo>
                      <a:pt x="245" y="507"/>
                      <a:pt x="245" y="507"/>
                      <a:pt x="245" y="507"/>
                    </a:cubicBezTo>
                    <a:cubicBezTo>
                      <a:pt x="245" y="507"/>
                      <a:pt x="245" y="507"/>
                      <a:pt x="245" y="507"/>
                    </a:cubicBezTo>
                    <a:cubicBezTo>
                      <a:pt x="332" y="471"/>
                      <a:pt x="350" y="382"/>
                      <a:pt x="350" y="382"/>
                    </a:cubicBezTo>
                    <a:cubicBezTo>
                      <a:pt x="399" y="179"/>
                      <a:pt x="399" y="179"/>
                      <a:pt x="399" y="179"/>
                    </a:cubicBezTo>
                    <a:lnTo>
                      <a:pt x="313" y="118"/>
                    </a:ln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iṧḻïḓè"/>
              <p:cNvSpPr/>
              <p:nvPr/>
            </p:nvSpPr>
            <p:spPr bwMode="auto">
              <a:xfrm>
                <a:off x="5056376" y="1734415"/>
                <a:ext cx="1221558" cy="698281"/>
              </a:xfrm>
              <a:custGeom>
                <a:avLst/>
                <a:gdLst>
                  <a:gd name="T0" fmla="*/ 120 w 339"/>
                  <a:gd name="T1" fmla="*/ 40 h 194"/>
                  <a:gd name="T2" fmla="*/ 29 w 339"/>
                  <a:gd name="T3" fmla="*/ 0 h 194"/>
                  <a:gd name="T4" fmla="*/ 0 w 339"/>
                  <a:gd name="T5" fmla="*/ 11 h 194"/>
                  <a:gd name="T6" fmla="*/ 24 w 339"/>
                  <a:gd name="T7" fmla="*/ 24 h 194"/>
                  <a:gd name="T8" fmla="*/ 8 w 339"/>
                  <a:gd name="T9" fmla="*/ 89 h 194"/>
                  <a:gd name="T10" fmla="*/ 169 w 339"/>
                  <a:gd name="T11" fmla="*/ 194 h 194"/>
                  <a:gd name="T12" fmla="*/ 310 w 339"/>
                  <a:gd name="T13" fmla="*/ 190 h 194"/>
                  <a:gd name="T14" fmla="*/ 339 w 339"/>
                  <a:gd name="T15" fmla="*/ 179 h 194"/>
                  <a:gd name="T16" fmla="*/ 253 w 339"/>
                  <a:gd name="T17" fmla="*/ 118 h 194"/>
                  <a:gd name="T18" fmla="*/ 120 w 339"/>
                  <a:gd name="T19" fmla="*/ 4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194">
                    <a:moveTo>
                      <a:pt x="120" y="40"/>
                    </a:moveTo>
                    <a:cubicBezTo>
                      <a:pt x="29" y="0"/>
                      <a:pt x="29" y="0"/>
                      <a:pt x="29" y="0"/>
                    </a:cubicBezTo>
                    <a:cubicBezTo>
                      <a:pt x="0" y="11"/>
                      <a:pt x="0" y="11"/>
                      <a:pt x="0" y="11"/>
                    </a:cubicBezTo>
                    <a:cubicBezTo>
                      <a:pt x="0" y="11"/>
                      <a:pt x="13" y="18"/>
                      <a:pt x="24" y="24"/>
                    </a:cubicBezTo>
                    <a:cubicBezTo>
                      <a:pt x="8" y="89"/>
                      <a:pt x="8" y="89"/>
                      <a:pt x="8" y="89"/>
                    </a:cubicBezTo>
                    <a:cubicBezTo>
                      <a:pt x="169" y="194"/>
                      <a:pt x="169" y="194"/>
                      <a:pt x="169" y="194"/>
                    </a:cubicBezTo>
                    <a:cubicBezTo>
                      <a:pt x="310" y="190"/>
                      <a:pt x="310" y="190"/>
                      <a:pt x="310" y="190"/>
                    </a:cubicBezTo>
                    <a:cubicBezTo>
                      <a:pt x="339" y="179"/>
                      <a:pt x="339" y="179"/>
                      <a:pt x="339" y="179"/>
                    </a:cubicBezTo>
                    <a:cubicBezTo>
                      <a:pt x="253" y="118"/>
                      <a:pt x="253" y="118"/>
                      <a:pt x="253" y="118"/>
                    </a:cubicBezTo>
                    <a:cubicBezTo>
                      <a:pt x="210" y="87"/>
                      <a:pt x="166" y="61"/>
                      <a:pt x="120" y="40"/>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1" name="î$ļîdê"/>
              <p:cNvSpPr/>
              <p:nvPr/>
            </p:nvSpPr>
            <p:spPr bwMode="auto">
              <a:xfrm>
                <a:off x="5056376" y="1734415"/>
                <a:ext cx="691350" cy="318818"/>
              </a:xfrm>
              <a:custGeom>
                <a:avLst/>
                <a:gdLst>
                  <a:gd name="T0" fmla="*/ 163 w 192"/>
                  <a:gd name="T1" fmla="*/ 89 h 89"/>
                  <a:gd name="T2" fmla="*/ 192 w 192"/>
                  <a:gd name="T3" fmla="*/ 77 h 89"/>
                  <a:gd name="T4" fmla="*/ 120 w 192"/>
                  <a:gd name="T5" fmla="*/ 40 h 89"/>
                  <a:gd name="T6" fmla="*/ 29 w 192"/>
                  <a:gd name="T7" fmla="*/ 0 h 89"/>
                  <a:gd name="T8" fmla="*/ 0 w 192"/>
                  <a:gd name="T9" fmla="*/ 11 h 89"/>
                  <a:gd name="T10" fmla="*/ 24 w 192"/>
                  <a:gd name="T11" fmla="*/ 24 h 89"/>
                  <a:gd name="T12" fmla="*/ 23 w 192"/>
                  <a:gd name="T13" fmla="*/ 28 h 89"/>
                  <a:gd name="T14" fmla="*/ 163 w 192"/>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89">
                    <a:moveTo>
                      <a:pt x="163" y="89"/>
                    </a:moveTo>
                    <a:cubicBezTo>
                      <a:pt x="192" y="77"/>
                      <a:pt x="192" y="77"/>
                      <a:pt x="192" y="77"/>
                    </a:cubicBezTo>
                    <a:cubicBezTo>
                      <a:pt x="168" y="64"/>
                      <a:pt x="144" y="51"/>
                      <a:pt x="120" y="40"/>
                    </a:cubicBezTo>
                    <a:cubicBezTo>
                      <a:pt x="29" y="0"/>
                      <a:pt x="29" y="0"/>
                      <a:pt x="29" y="0"/>
                    </a:cubicBezTo>
                    <a:cubicBezTo>
                      <a:pt x="0" y="11"/>
                      <a:pt x="0" y="11"/>
                      <a:pt x="0" y="11"/>
                    </a:cubicBezTo>
                    <a:cubicBezTo>
                      <a:pt x="0" y="11"/>
                      <a:pt x="13" y="18"/>
                      <a:pt x="24" y="24"/>
                    </a:cubicBezTo>
                    <a:cubicBezTo>
                      <a:pt x="23" y="28"/>
                      <a:pt x="23" y="28"/>
                      <a:pt x="23" y="28"/>
                    </a:cubicBezTo>
                    <a:cubicBezTo>
                      <a:pt x="79" y="53"/>
                      <a:pt x="163" y="89"/>
                      <a:pt x="163" y="89"/>
                    </a:cubicBezTo>
                    <a:close/>
                  </a:path>
                </a:pathLst>
              </a:custGeom>
              <a:solidFill>
                <a:srgbClr val="B45E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2" name="iṧḻíḋè"/>
              <p:cNvSpPr/>
              <p:nvPr/>
            </p:nvSpPr>
            <p:spPr bwMode="auto">
              <a:xfrm>
                <a:off x="5467028" y="1964864"/>
                <a:ext cx="360403" cy="168073"/>
              </a:xfrm>
              <a:custGeom>
                <a:avLst/>
                <a:gdLst>
                  <a:gd name="T0" fmla="*/ 55 w 100"/>
                  <a:gd name="T1" fmla="*/ 0 h 47"/>
                  <a:gd name="T2" fmla="*/ 0 w 100"/>
                  <a:gd name="T3" fmla="*/ 21 h 47"/>
                  <a:gd name="T4" fmla="*/ 46 w 100"/>
                  <a:gd name="T5" fmla="*/ 47 h 47"/>
                  <a:gd name="T6" fmla="*/ 100 w 100"/>
                  <a:gd name="T7" fmla="*/ 27 h 47"/>
                  <a:gd name="T8" fmla="*/ 55 w 100"/>
                  <a:gd name="T9" fmla="*/ 0 h 47"/>
                </a:gdLst>
                <a:ahLst/>
                <a:cxnLst>
                  <a:cxn ang="0">
                    <a:pos x="T0" y="T1"/>
                  </a:cxn>
                  <a:cxn ang="0">
                    <a:pos x="T2" y="T3"/>
                  </a:cxn>
                  <a:cxn ang="0">
                    <a:pos x="T4" y="T5"/>
                  </a:cxn>
                  <a:cxn ang="0">
                    <a:pos x="T6" y="T7"/>
                  </a:cxn>
                  <a:cxn ang="0">
                    <a:pos x="T8" y="T9"/>
                  </a:cxn>
                </a:cxnLst>
                <a:rect l="0" t="0" r="r" b="b"/>
                <a:pathLst>
                  <a:path w="100" h="47">
                    <a:moveTo>
                      <a:pt x="55" y="0"/>
                    </a:moveTo>
                    <a:cubicBezTo>
                      <a:pt x="0" y="21"/>
                      <a:pt x="0" y="21"/>
                      <a:pt x="0" y="21"/>
                    </a:cubicBezTo>
                    <a:cubicBezTo>
                      <a:pt x="46" y="47"/>
                      <a:pt x="46" y="47"/>
                      <a:pt x="46" y="47"/>
                    </a:cubicBezTo>
                    <a:cubicBezTo>
                      <a:pt x="100" y="27"/>
                      <a:pt x="100" y="27"/>
                      <a:pt x="100" y="27"/>
                    </a:cubicBezTo>
                    <a:cubicBezTo>
                      <a:pt x="85" y="17"/>
                      <a:pt x="70" y="9"/>
                      <a:pt x="55" y="0"/>
                    </a:cubicBezTo>
                    <a:close/>
                  </a:path>
                </a:pathLst>
              </a:custGeom>
              <a:solidFill>
                <a:srgbClr val="7E23DC"/>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3" name="íSľíḍê"/>
              <p:cNvSpPr/>
              <p:nvPr/>
            </p:nvSpPr>
            <p:spPr bwMode="auto">
              <a:xfrm>
                <a:off x="4735826" y="1772534"/>
                <a:ext cx="1438146" cy="1926768"/>
              </a:xfrm>
              <a:custGeom>
                <a:avLst/>
                <a:gdLst>
                  <a:gd name="T0" fmla="*/ 350 w 399"/>
                  <a:gd name="T1" fmla="*/ 383 h 535"/>
                  <a:gd name="T2" fmla="*/ 399 w 399"/>
                  <a:gd name="T3" fmla="*/ 179 h 535"/>
                  <a:gd name="T4" fmla="*/ 313 w 399"/>
                  <a:gd name="T5" fmla="*/ 118 h 535"/>
                  <a:gd name="T6" fmla="*/ 180 w 399"/>
                  <a:gd name="T7" fmla="*/ 41 h 535"/>
                  <a:gd name="T8" fmla="*/ 89 w 399"/>
                  <a:gd name="T9" fmla="*/ 0 h 535"/>
                  <a:gd name="T10" fmla="*/ 41 w 399"/>
                  <a:gd name="T11" fmla="*/ 204 h 535"/>
                  <a:gd name="T12" fmla="*/ 141 w 399"/>
                  <a:gd name="T13" fmla="*/ 522 h 535"/>
                  <a:gd name="T14" fmla="*/ 350 w 399"/>
                  <a:gd name="T15" fmla="*/ 383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9" h="535">
                    <a:moveTo>
                      <a:pt x="350" y="383"/>
                    </a:moveTo>
                    <a:cubicBezTo>
                      <a:pt x="399" y="179"/>
                      <a:pt x="399" y="179"/>
                      <a:pt x="399" y="179"/>
                    </a:cubicBezTo>
                    <a:cubicBezTo>
                      <a:pt x="313" y="118"/>
                      <a:pt x="313" y="118"/>
                      <a:pt x="313" y="118"/>
                    </a:cubicBezTo>
                    <a:cubicBezTo>
                      <a:pt x="270" y="87"/>
                      <a:pt x="226" y="61"/>
                      <a:pt x="180" y="41"/>
                    </a:cubicBezTo>
                    <a:cubicBezTo>
                      <a:pt x="89" y="0"/>
                      <a:pt x="89" y="0"/>
                      <a:pt x="89" y="0"/>
                    </a:cubicBezTo>
                    <a:cubicBezTo>
                      <a:pt x="41" y="204"/>
                      <a:pt x="41" y="204"/>
                      <a:pt x="41" y="204"/>
                    </a:cubicBezTo>
                    <a:cubicBezTo>
                      <a:pt x="41" y="204"/>
                      <a:pt x="0" y="350"/>
                      <a:pt x="141" y="522"/>
                    </a:cubicBezTo>
                    <a:cubicBezTo>
                      <a:pt x="319" y="535"/>
                      <a:pt x="350" y="383"/>
                      <a:pt x="350" y="383"/>
                    </a:cubicBezTo>
                    <a:close/>
                  </a:path>
                </a:pathLst>
              </a:custGeom>
              <a:solidFill>
                <a:srgbClr val="983BE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íṩļíďè"/>
              <p:cNvSpPr/>
              <p:nvPr/>
            </p:nvSpPr>
            <p:spPr bwMode="auto">
              <a:xfrm>
                <a:off x="4929889" y="1888625"/>
                <a:ext cx="1150515" cy="1691121"/>
              </a:xfrm>
              <a:custGeom>
                <a:avLst/>
                <a:gdLst>
                  <a:gd name="T0" fmla="*/ 98 w 319"/>
                  <a:gd name="T1" fmla="*/ 468 h 470"/>
                  <a:gd name="T2" fmla="*/ 7 w 319"/>
                  <a:gd name="T3" fmla="*/ 266 h 470"/>
                  <a:gd name="T4" fmla="*/ 9 w 319"/>
                  <a:gd name="T5" fmla="*/ 178 h 470"/>
                  <a:gd name="T6" fmla="*/ 51 w 319"/>
                  <a:gd name="T7" fmla="*/ 0 h 470"/>
                  <a:gd name="T8" fmla="*/ 117 w 319"/>
                  <a:gd name="T9" fmla="*/ 29 h 470"/>
                  <a:gd name="T10" fmla="*/ 246 w 319"/>
                  <a:gd name="T11" fmla="*/ 104 h 470"/>
                  <a:gd name="T12" fmla="*/ 319 w 319"/>
                  <a:gd name="T13" fmla="*/ 157 h 470"/>
                  <a:gd name="T14" fmla="*/ 274 w 319"/>
                  <a:gd name="T15" fmla="*/ 345 h 470"/>
                  <a:gd name="T16" fmla="*/ 274 w 319"/>
                  <a:gd name="T17" fmla="*/ 346 h 470"/>
                  <a:gd name="T18" fmla="*/ 241 w 319"/>
                  <a:gd name="T19" fmla="*/ 411 h 470"/>
                  <a:gd name="T20" fmla="*/ 98 w 319"/>
                  <a:gd name="T21" fmla="*/ 468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470">
                    <a:moveTo>
                      <a:pt x="98" y="468"/>
                    </a:moveTo>
                    <a:cubicBezTo>
                      <a:pt x="35" y="388"/>
                      <a:pt x="13" y="314"/>
                      <a:pt x="7" y="266"/>
                    </a:cubicBezTo>
                    <a:cubicBezTo>
                      <a:pt x="0" y="213"/>
                      <a:pt x="9" y="178"/>
                      <a:pt x="9" y="178"/>
                    </a:cubicBezTo>
                    <a:cubicBezTo>
                      <a:pt x="51" y="0"/>
                      <a:pt x="51" y="0"/>
                      <a:pt x="51" y="0"/>
                    </a:cubicBezTo>
                    <a:cubicBezTo>
                      <a:pt x="117" y="29"/>
                      <a:pt x="117" y="29"/>
                      <a:pt x="117" y="29"/>
                    </a:cubicBezTo>
                    <a:cubicBezTo>
                      <a:pt x="161" y="49"/>
                      <a:pt x="204" y="74"/>
                      <a:pt x="246" y="104"/>
                    </a:cubicBezTo>
                    <a:cubicBezTo>
                      <a:pt x="319" y="157"/>
                      <a:pt x="319" y="157"/>
                      <a:pt x="319" y="157"/>
                    </a:cubicBezTo>
                    <a:cubicBezTo>
                      <a:pt x="274" y="345"/>
                      <a:pt x="274" y="345"/>
                      <a:pt x="274" y="345"/>
                    </a:cubicBezTo>
                    <a:cubicBezTo>
                      <a:pt x="274" y="346"/>
                      <a:pt x="274" y="346"/>
                      <a:pt x="274" y="346"/>
                    </a:cubicBezTo>
                    <a:cubicBezTo>
                      <a:pt x="274" y="347"/>
                      <a:pt x="267" y="380"/>
                      <a:pt x="241" y="411"/>
                    </a:cubicBezTo>
                    <a:cubicBezTo>
                      <a:pt x="208" y="451"/>
                      <a:pt x="160" y="470"/>
                      <a:pt x="98" y="468"/>
                    </a:cubicBezTo>
                    <a:close/>
                  </a:path>
                </a:pathLst>
              </a:custGeom>
              <a:solidFill>
                <a:srgbClr val="721BD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ïṧ1ídè"/>
              <p:cNvSpPr/>
              <p:nvPr/>
            </p:nvSpPr>
            <p:spPr bwMode="auto">
              <a:xfrm>
                <a:off x="4120715" y="4681746"/>
                <a:ext cx="852491" cy="492088"/>
              </a:xfrm>
              <a:custGeom>
                <a:avLst/>
                <a:gdLst>
                  <a:gd name="T0" fmla="*/ 195 w 237"/>
                  <a:gd name="T1" fmla="*/ 24 h 137"/>
                  <a:gd name="T2" fmla="*/ 42 w 237"/>
                  <a:gd name="T3" fmla="*/ 24 h 137"/>
                  <a:gd name="T4" fmla="*/ 42 w 237"/>
                  <a:gd name="T5" fmla="*/ 113 h 137"/>
                  <a:gd name="T6" fmla="*/ 195 w 237"/>
                  <a:gd name="T7" fmla="*/ 113 h 137"/>
                  <a:gd name="T8" fmla="*/ 195 w 237"/>
                  <a:gd name="T9" fmla="*/ 24 h 137"/>
                  <a:gd name="T10" fmla="*/ 116 w 237"/>
                  <a:gd name="T11" fmla="*/ 69 h 137"/>
                  <a:gd name="T12" fmla="*/ 77 w 237"/>
                  <a:gd name="T13" fmla="*/ 69 h 137"/>
                  <a:gd name="T14" fmla="*/ 77 w 237"/>
                  <a:gd name="T15" fmla="*/ 47 h 137"/>
                  <a:gd name="T16" fmla="*/ 116 w 237"/>
                  <a:gd name="T17" fmla="*/ 47 h 137"/>
                  <a:gd name="T18" fmla="*/ 116 w 237"/>
                  <a:gd name="T19" fmla="*/ 6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4"/>
                    </a:moveTo>
                    <a:cubicBezTo>
                      <a:pt x="153" y="0"/>
                      <a:pt x="84" y="0"/>
                      <a:pt x="42" y="24"/>
                    </a:cubicBezTo>
                    <a:cubicBezTo>
                      <a:pt x="0" y="49"/>
                      <a:pt x="0" y="88"/>
                      <a:pt x="42" y="113"/>
                    </a:cubicBezTo>
                    <a:cubicBezTo>
                      <a:pt x="84" y="137"/>
                      <a:pt x="153" y="137"/>
                      <a:pt x="195" y="113"/>
                    </a:cubicBezTo>
                    <a:cubicBezTo>
                      <a:pt x="237" y="88"/>
                      <a:pt x="237" y="49"/>
                      <a:pt x="195" y="24"/>
                    </a:cubicBezTo>
                    <a:close/>
                    <a:moveTo>
                      <a:pt x="116" y="69"/>
                    </a:moveTo>
                    <a:cubicBezTo>
                      <a:pt x="105" y="76"/>
                      <a:pt x="88" y="76"/>
                      <a:pt x="77" y="69"/>
                    </a:cubicBezTo>
                    <a:cubicBezTo>
                      <a:pt x="66" y="63"/>
                      <a:pt x="66" y="53"/>
                      <a:pt x="77" y="47"/>
                    </a:cubicBezTo>
                    <a:cubicBezTo>
                      <a:pt x="88" y="40"/>
                      <a:pt x="105" y="40"/>
                      <a:pt x="116" y="47"/>
                    </a:cubicBezTo>
                    <a:cubicBezTo>
                      <a:pt x="127" y="53"/>
                      <a:pt x="127" y="63"/>
                      <a:pt x="116" y="69"/>
                    </a:cubicBez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6" name="íSľiḑè"/>
              <p:cNvSpPr/>
              <p:nvPr/>
            </p:nvSpPr>
            <p:spPr bwMode="auto">
              <a:xfrm>
                <a:off x="4732361" y="5016159"/>
                <a:ext cx="1081208" cy="521545"/>
              </a:xfrm>
              <a:custGeom>
                <a:avLst/>
                <a:gdLst>
                  <a:gd name="T0" fmla="*/ 48 w 300"/>
                  <a:gd name="T1" fmla="*/ 0 h 145"/>
                  <a:gd name="T2" fmla="*/ 27 w 300"/>
                  <a:gd name="T3" fmla="*/ 16 h 145"/>
                  <a:gd name="T4" fmla="*/ 0 w 300"/>
                  <a:gd name="T5" fmla="*/ 28 h 145"/>
                  <a:gd name="T6" fmla="*/ 21 w 300"/>
                  <a:gd name="T7" fmla="*/ 40 h 145"/>
                  <a:gd name="T8" fmla="*/ 52 w 300"/>
                  <a:gd name="T9" fmla="*/ 42 h 145"/>
                  <a:gd name="T10" fmla="*/ 67 w 300"/>
                  <a:gd name="T11" fmla="*/ 50 h 145"/>
                  <a:gd name="T12" fmla="*/ 61 w 300"/>
                  <a:gd name="T13" fmla="*/ 54 h 145"/>
                  <a:gd name="T14" fmla="*/ 72 w 300"/>
                  <a:gd name="T15" fmla="*/ 61 h 145"/>
                  <a:gd name="T16" fmla="*/ 85 w 300"/>
                  <a:gd name="T17" fmla="*/ 54 h 145"/>
                  <a:gd name="T18" fmla="*/ 105 w 300"/>
                  <a:gd name="T19" fmla="*/ 65 h 145"/>
                  <a:gd name="T20" fmla="*/ 85 w 300"/>
                  <a:gd name="T21" fmla="*/ 77 h 145"/>
                  <a:gd name="T22" fmla="*/ 100 w 300"/>
                  <a:gd name="T23" fmla="*/ 86 h 145"/>
                  <a:gd name="T24" fmla="*/ 115 w 300"/>
                  <a:gd name="T25" fmla="*/ 94 h 145"/>
                  <a:gd name="T26" fmla="*/ 133 w 300"/>
                  <a:gd name="T27" fmla="*/ 84 h 145"/>
                  <a:gd name="T28" fmla="*/ 160 w 300"/>
                  <a:gd name="T29" fmla="*/ 99 h 145"/>
                  <a:gd name="T30" fmla="*/ 149 w 300"/>
                  <a:gd name="T31" fmla="*/ 105 h 145"/>
                  <a:gd name="T32" fmla="*/ 167 w 300"/>
                  <a:gd name="T33" fmla="*/ 115 h 145"/>
                  <a:gd name="T34" fmla="*/ 177 w 300"/>
                  <a:gd name="T35" fmla="*/ 109 h 145"/>
                  <a:gd name="T36" fmla="*/ 185 w 300"/>
                  <a:gd name="T37" fmla="*/ 114 h 145"/>
                  <a:gd name="T38" fmla="*/ 177 w 300"/>
                  <a:gd name="T39" fmla="*/ 130 h 145"/>
                  <a:gd name="T40" fmla="*/ 203 w 300"/>
                  <a:gd name="T41" fmla="*/ 145 h 145"/>
                  <a:gd name="T42" fmla="*/ 300 w 300"/>
                  <a:gd name="T43" fmla="*/ 145 h 145"/>
                  <a:gd name="T44" fmla="*/ 48 w 300"/>
                  <a:gd name="T4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5">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0"/>
                      <a:pt x="67" y="50"/>
                      <a:pt x="67" y="50"/>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5"/>
                      <a:pt x="203" y="145"/>
                      <a:pt x="203" y="145"/>
                    </a:cubicBezTo>
                    <a:cubicBezTo>
                      <a:pt x="300" y="145"/>
                      <a:pt x="300" y="145"/>
                      <a:pt x="300" y="145"/>
                    </a:cubicBezTo>
                    <a:lnTo>
                      <a:pt x="48" y="0"/>
                    </a:lnTo>
                    <a:close/>
                  </a:path>
                </a:pathLst>
              </a:custGeom>
              <a:solidFill>
                <a:srgbClr val="B2D3E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i$ļíḓe"/>
              <p:cNvSpPr/>
              <p:nvPr/>
            </p:nvSpPr>
            <p:spPr bwMode="auto">
              <a:xfrm>
                <a:off x="4158835" y="4652291"/>
                <a:ext cx="779717" cy="493822"/>
              </a:xfrm>
              <a:custGeom>
                <a:avLst/>
                <a:gdLst>
                  <a:gd name="T0" fmla="*/ 216 w 216"/>
                  <a:gd name="T1" fmla="*/ 68 h 137"/>
                  <a:gd name="T2" fmla="*/ 216 w 216"/>
                  <a:gd name="T3" fmla="*/ 39 h 137"/>
                  <a:gd name="T4" fmla="*/ 207 w 216"/>
                  <a:gd name="T5" fmla="*/ 44 h 137"/>
                  <a:gd name="T6" fmla="*/ 184 w 216"/>
                  <a:gd name="T7" fmla="*/ 24 h 137"/>
                  <a:gd name="T8" fmla="*/ 31 w 216"/>
                  <a:gd name="T9" fmla="*/ 24 h 137"/>
                  <a:gd name="T10" fmla="*/ 6 w 216"/>
                  <a:gd name="T11" fmla="*/ 47 h 137"/>
                  <a:gd name="T12" fmla="*/ 0 w 216"/>
                  <a:gd name="T13" fmla="*/ 39 h 137"/>
                  <a:gd name="T14" fmla="*/ 0 w 216"/>
                  <a:gd name="T15" fmla="*/ 68 h 137"/>
                  <a:gd name="T16" fmla="*/ 31 w 216"/>
                  <a:gd name="T17" fmla="*/ 112 h 137"/>
                  <a:gd name="T18" fmla="*/ 184 w 216"/>
                  <a:gd name="T19" fmla="*/ 112 h 137"/>
                  <a:gd name="T20" fmla="*/ 216 w 216"/>
                  <a:gd name="T21" fmla="*/ 68 h 137"/>
                  <a:gd name="T22" fmla="*/ 105 w 216"/>
                  <a:gd name="T23" fmla="*/ 49 h 137"/>
                  <a:gd name="T24" fmla="*/ 65 w 216"/>
                  <a:gd name="T25" fmla="*/ 49 h 137"/>
                  <a:gd name="T26" fmla="*/ 65 w 216"/>
                  <a:gd name="T27" fmla="*/ 26 h 137"/>
                  <a:gd name="T28" fmla="*/ 105 w 216"/>
                  <a:gd name="T29" fmla="*/ 26 h 137"/>
                  <a:gd name="T30" fmla="*/ 105 w 216"/>
                  <a:gd name="T31" fmla="*/ 49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6" h="137">
                    <a:moveTo>
                      <a:pt x="216" y="68"/>
                    </a:moveTo>
                    <a:cubicBezTo>
                      <a:pt x="216" y="39"/>
                      <a:pt x="216" y="39"/>
                      <a:pt x="216" y="39"/>
                    </a:cubicBezTo>
                    <a:cubicBezTo>
                      <a:pt x="207" y="44"/>
                      <a:pt x="207" y="44"/>
                      <a:pt x="207" y="44"/>
                    </a:cubicBezTo>
                    <a:cubicBezTo>
                      <a:pt x="202" y="36"/>
                      <a:pt x="194" y="30"/>
                      <a:pt x="184" y="24"/>
                    </a:cubicBezTo>
                    <a:cubicBezTo>
                      <a:pt x="142" y="0"/>
                      <a:pt x="73" y="0"/>
                      <a:pt x="31" y="24"/>
                    </a:cubicBezTo>
                    <a:cubicBezTo>
                      <a:pt x="20" y="31"/>
                      <a:pt x="11" y="39"/>
                      <a:pt x="6" y="47"/>
                    </a:cubicBezTo>
                    <a:cubicBezTo>
                      <a:pt x="0" y="39"/>
                      <a:pt x="0" y="39"/>
                      <a:pt x="0" y="39"/>
                    </a:cubicBezTo>
                    <a:cubicBezTo>
                      <a:pt x="0" y="68"/>
                      <a:pt x="0" y="68"/>
                      <a:pt x="0" y="68"/>
                    </a:cubicBezTo>
                    <a:cubicBezTo>
                      <a:pt x="0" y="84"/>
                      <a:pt x="10" y="100"/>
                      <a:pt x="31" y="112"/>
                    </a:cubicBezTo>
                    <a:cubicBezTo>
                      <a:pt x="73" y="137"/>
                      <a:pt x="142" y="137"/>
                      <a:pt x="184" y="112"/>
                    </a:cubicBezTo>
                    <a:cubicBezTo>
                      <a:pt x="205" y="100"/>
                      <a:pt x="216" y="84"/>
                      <a:pt x="216" y="68"/>
                    </a:cubicBezTo>
                    <a:close/>
                    <a:moveTo>
                      <a:pt x="105" y="49"/>
                    </a:moveTo>
                    <a:cubicBezTo>
                      <a:pt x="94" y="55"/>
                      <a:pt x="76" y="55"/>
                      <a:pt x="65" y="49"/>
                    </a:cubicBezTo>
                    <a:cubicBezTo>
                      <a:pt x="55" y="43"/>
                      <a:pt x="55" y="33"/>
                      <a:pt x="65" y="26"/>
                    </a:cubicBezTo>
                    <a:cubicBezTo>
                      <a:pt x="76" y="20"/>
                      <a:pt x="94" y="20"/>
                      <a:pt x="105" y="26"/>
                    </a:cubicBezTo>
                    <a:cubicBezTo>
                      <a:pt x="116" y="33"/>
                      <a:pt x="116" y="43"/>
                      <a:pt x="105" y="4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8" name="îṥļiďé"/>
              <p:cNvSpPr/>
              <p:nvPr/>
            </p:nvSpPr>
            <p:spPr bwMode="auto">
              <a:xfrm>
                <a:off x="4158835" y="4792639"/>
                <a:ext cx="356937" cy="327482"/>
              </a:xfrm>
              <a:custGeom>
                <a:avLst/>
                <a:gdLst>
                  <a:gd name="T0" fmla="*/ 99 w 99"/>
                  <a:gd name="T1" fmla="*/ 52 h 91"/>
                  <a:gd name="T2" fmla="*/ 52 w 99"/>
                  <a:gd name="T3" fmla="*/ 29 h 91"/>
                  <a:gd name="T4" fmla="*/ 11 w 99"/>
                  <a:gd name="T5" fmla="*/ 2 h 91"/>
                  <a:gd name="T6" fmla="*/ 6 w 99"/>
                  <a:gd name="T7" fmla="*/ 8 h 91"/>
                  <a:gd name="T8" fmla="*/ 0 w 99"/>
                  <a:gd name="T9" fmla="*/ 0 h 91"/>
                  <a:gd name="T10" fmla="*/ 0 w 99"/>
                  <a:gd name="T11" fmla="*/ 29 h 91"/>
                  <a:gd name="T12" fmla="*/ 31 w 99"/>
                  <a:gd name="T13" fmla="*/ 73 h 91"/>
                  <a:gd name="T14" fmla="*/ 99 w 99"/>
                  <a:gd name="T15" fmla="*/ 91 h 91"/>
                  <a:gd name="T16" fmla="*/ 99 w 99"/>
                  <a:gd name="T17" fmla="*/ 5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91">
                    <a:moveTo>
                      <a:pt x="99" y="52"/>
                    </a:moveTo>
                    <a:cubicBezTo>
                      <a:pt x="52" y="29"/>
                      <a:pt x="52" y="29"/>
                      <a:pt x="52" y="29"/>
                    </a:cubicBezTo>
                    <a:cubicBezTo>
                      <a:pt x="11" y="2"/>
                      <a:pt x="11" y="2"/>
                      <a:pt x="11" y="2"/>
                    </a:cubicBezTo>
                    <a:cubicBezTo>
                      <a:pt x="9" y="4"/>
                      <a:pt x="7" y="6"/>
                      <a:pt x="6" y="8"/>
                    </a:cubicBezTo>
                    <a:cubicBezTo>
                      <a:pt x="0" y="0"/>
                      <a:pt x="0" y="0"/>
                      <a:pt x="0" y="0"/>
                    </a:cubicBezTo>
                    <a:cubicBezTo>
                      <a:pt x="0" y="29"/>
                      <a:pt x="0" y="29"/>
                      <a:pt x="0" y="29"/>
                    </a:cubicBezTo>
                    <a:cubicBezTo>
                      <a:pt x="0" y="45"/>
                      <a:pt x="10" y="61"/>
                      <a:pt x="31" y="73"/>
                    </a:cubicBezTo>
                    <a:cubicBezTo>
                      <a:pt x="50" y="84"/>
                      <a:pt x="74" y="90"/>
                      <a:pt x="99" y="91"/>
                    </a:cubicBezTo>
                    <a:lnTo>
                      <a:pt x="99" y="52"/>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9" name="íṣľïḑè"/>
              <p:cNvSpPr/>
              <p:nvPr/>
            </p:nvSpPr>
            <p:spPr bwMode="auto">
              <a:xfrm>
                <a:off x="4120715" y="4544863"/>
                <a:ext cx="852491" cy="492088"/>
              </a:xfrm>
              <a:custGeom>
                <a:avLst/>
                <a:gdLst>
                  <a:gd name="T0" fmla="*/ 195 w 237"/>
                  <a:gd name="T1" fmla="*/ 25 h 137"/>
                  <a:gd name="T2" fmla="*/ 42 w 237"/>
                  <a:gd name="T3" fmla="*/ 25 h 137"/>
                  <a:gd name="T4" fmla="*/ 42 w 237"/>
                  <a:gd name="T5" fmla="*/ 113 h 137"/>
                  <a:gd name="T6" fmla="*/ 195 w 237"/>
                  <a:gd name="T7" fmla="*/ 113 h 137"/>
                  <a:gd name="T8" fmla="*/ 195 w 237"/>
                  <a:gd name="T9" fmla="*/ 25 h 137"/>
                  <a:gd name="T10" fmla="*/ 116 w 237"/>
                  <a:gd name="T11" fmla="*/ 70 h 137"/>
                  <a:gd name="T12" fmla="*/ 77 w 237"/>
                  <a:gd name="T13" fmla="*/ 70 h 137"/>
                  <a:gd name="T14" fmla="*/ 77 w 237"/>
                  <a:gd name="T15" fmla="*/ 47 h 137"/>
                  <a:gd name="T16" fmla="*/ 116 w 237"/>
                  <a:gd name="T17" fmla="*/ 47 h 137"/>
                  <a:gd name="T18" fmla="*/ 116 w 237"/>
                  <a:gd name="T19" fmla="*/ 7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7" h="137">
                    <a:moveTo>
                      <a:pt x="195" y="25"/>
                    </a:moveTo>
                    <a:cubicBezTo>
                      <a:pt x="153" y="0"/>
                      <a:pt x="84" y="0"/>
                      <a:pt x="42" y="25"/>
                    </a:cubicBezTo>
                    <a:cubicBezTo>
                      <a:pt x="0" y="49"/>
                      <a:pt x="0" y="89"/>
                      <a:pt x="42" y="113"/>
                    </a:cubicBezTo>
                    <a:cubicBezTo>
                      <a:pt x="84" y="137"/>
                      <a:pt x="153" y="137"/>
                      <a:pt x="195" y="113"/>
                    </a:cubicBezTo>
                    <a:cubicBezTo>
                      <a:pt x="237" y="89"/>
                      <a:pt x="237" y="49"/>
                      <a:pt x="195" y="25"/>
                    </a:cubicBezTo>
                    <a:close/>
                    <a:moveTo>
                      <a:pt x="116" y="70"/>
                    </a:moveTo>
                    <a:cubicBezTo>
                      <a:pt x="105" y="76"/>
                      <a:pt x="88" y="76"/>
                      <a:pt x="77" y="70"/>
                    </a:cubicBezTo>
                    <a:cubicBezTo>
                      <a:pt x="66" y="63"/>
                      <a:pt x="66" y="53"/>
                      <a:pt x="77" y="47"/>
                    </a:cubicBezTo>
                    <a:cubicBezTo>
                      <a:pt x="88" y="41"/>
                      <a:pt x="105" y="41"/>
                      <a:pt x="116" y="47"/>
                    </a:cubicBezTo>
                    <a:cubicBezTo>
                      <a:pt x="127" y="53"/>
                      <a:pt x="127" y="63"/>
                      <a:pt x="116" y="70"/>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ïsľiḓè"/>
              <p:cNvSpPr/>
              <p:nvPr/>
            </p:nvSpPr>
            <p:spPr bwMode="auto">
              <a:xfrm>
                <a:off x="4347700" y="4688677"/>
                <a:ext cx="265104" cy="194063"/>
              </a:xfrm>
              <a:custGeom>
                <a:avLst/>
                <a:gdLst>
                  <a:gd name="T0" fmla="*/ 74 w 74"/>
                  <a:gd name="T1" fmla="*/ 0 h 54"/>
                  <a:gd name="T2" fmla="*/ 16 w 74"/>
                  <a:gd name="T3" fmla="*/ 0 h 54"/>
                  <a:gd name="T4" fmla="*/ 0 w 74"/>
                  <a:gd name="T5" fmla="*/ 5 h 54"/>
                  <a:gd name="T6" fmla="*/ 0 w 74"/>
                  <a:gd name="T7" fmla="*/ 54 h 54"/>
                  <a:gd name="T8" fmla="*/ 74 w 74"/>
                  <a:gd name="T9" fmla="*/ 54 h 54"/>
                  <a:gd name="T10" fmla="*/ 74 w 74"/>
                  <a:gd name="T11" fmla="*/ 0 h 54"/>
                  <a:gd name="T12" fmla="*/ 53 w 74"/>
                  <a:gd name="T13" fmla="*/ 39 h 54"/>
                  <a:gd name="T14" fmla="*/ 13 w 74"/>
                  <a:gd name="T15" fmla="*/ 39 h 54"/>
                  <a:gd name="T16" fmla="*/ 13 w 74"/>
                  <a:gd name="T17" fmla="*/ 16 h 54"/>
                  <a:gd name="T18" fmla="*/ 53 w 74"/>
                  <a:gd name="T19" fmla="*/ 16 h 54"/>
                  <a:gd name="T20" fmla="*/ 53 w 74"/>
                  <a:gd name="T21"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4">
                    <a:moveTo>
                      <a:pt x="74" y="0"/>
                    </a:moveTo>
                    <a:cubicBezTo>
                      <a:pt x="16" y="0"/>
                      <a:pt x="16" y="0"/>
                      <a:pt x="16" y="0"/>
                    </a:cubicBezTo>
                    <a:cubicBezTo>
                      <a:pt x="10" y="1"/>
                      <a:pt x="5" y="3"/>
                      <a:pt x="0" y="5"/>
                    </a:cubicBezTo>
                    <a:cubicBezTo>
                      <a:pt x="0" y="54"/>
                      <a:pt x="0" y="54"/>
                      <a:pt x="0" y="54"/>
                    </a:cubicBezTo>
                    <a:cubicBezTo>
                      <a:pt x="74" y="54"/>
                      <a:pt x="74" y="54"/>
                      <a:pt x="74" y="54"/>
                    </a:cubicBezTo>
                    <a:lnTo>
                      <a:pt x="74" y="0"/>
                    </a:lnTo>
                    <a:close/>
                    <a:moveTo>
                      <a:pt x="53" y="39"/>
                    </a:moveTo>
                    <a:cubicBezTo>
                      <a:pt x="42" y="45"/>
                      <a:pt x="24" y="45"/>
                      <a:pt x="13" y="39"/>
                    </a:cubicBezTo>
                    <a:cubicBezTo>
                      <a:pt x="3" y="33"/>
                      <a:pt x="3" y="23"/>
                      <a:pt x="13" y="16"/>
                    </a:cubicBezTo>
                    <a:cubicBezTo>
                      <a:pt x="24" y="10"/>
                      <a:pt x="42" y="10"/>
                      <a:pt x="53" y="16"/>
                    </a:cubicBezTo>
                    <a:cubicBezTo>
                      <a:pt x="64" y="23"/>
                      <a:pt x="64" y="33"/>
                      <a:pt x="53" y="39"/>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ïŝḷíde"/>
              <p:cNvSpPr/>
              <p:nvPr/>
            </p:nvSpPr>
            <p:spPr bwMode="auto">
              <a:xfrm>
                <a:off x="4170964" y="4572586"/>
                <a:ext cx="751994" cy="436642"/>
              </a:xfrm>
              <a:custGeom>
                <a:avLst/>
                <a:gdLst>
                  <a:gd name="T0" fmla="*/ 172 w 209"/>
                  <a:gd name="T1" fmla="*/ 22 h 121"/>
                  <a:gd name="T2" fmla="*/ 37 w 209"/>
                  <a:gd name="T3" fmla="*/ 22 h 121"/>
                  <a:gd name="T4" fmla="*/ 37 w 209"/>
                  <a:gd name="T5" fmla="*/ 100 h 121"/>
                  <a:gd name="T6" fmla="*/ 172 w 209"/>
                  <a:gd name="T7" fmla="*/ 100 h 121"/>
                  <a:gd name="T8" fmla="*/ 172 w 209"/>
                  <a:gd name="T9" fmla="*/ 22 h 121"/>
                  <a:gd name="T10" fmla="*/ 102 w 209"/>
                  <a:gd name="T11" fmla="*/ 62 h 121"/>
                  <a:gd name="T12" fmla="*/ 63 w 209"/>
                  <a:gd name="T13" fmla="*/ 62 h 121"/>
                  <a:gd name="T14" fmla="*/ 63 w 209"/>
                  <a:gd name="T15" fmla="*/ 39 h 121"/>
                  <a:gd name="T16" fmla="*/ 102 w 209"/>
                  <a:gd name="T17" fmla="*/ 39 h 121"/>
                  <a:gd name="T18" fmla="*/ 102 w 209"/>
                  <a:gd name="T19" fmla="*/ 6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9" h="121">
                    <a:moveTo>
                      <a:pt x="172" y="22"/>
                    </a:moveTo>
                    <a:cubicBezTo>
                      <a:pt x="135" y="0"/>
                      <a:pt x="75" y="0"/>
                      <a:pt x="37" y="22"/>
                    </a:cubicBezTo>
                    <a:cubicBezTo>
                      <a:pt x="0" y="43"/>
                      <a:pt x="0" y="78"/>
                      <a:pt x="37" y="100"/>
                    </a:cubicBezTo>
                    <a:cubicBezTo>
                      <a:pt x="75" y="121"/>
                      <a:pt x="135" y="121"/>
                      <a:pt x="172" y="100"/>
                    </a:cubicBezTo>
                    <a:cubicBezTo>
                      <a:pt x="209" y="78"/>
                      <a:pt x="209" y="43"/>
                      <a:pt x="172" y="22"/>
                    </a:cubicBezTo>
                    <a:close/>
                    <a:moveTo>
                      <a:pt x="102" y="62"/>
                    </a:moveTo>
                    <a:cubicBezTo>
                      <a:pt x="91" y="68"/>
                      <a:pt x="74" y="68"/>
                      <a:pt x="63" y="62"/>
                    </a:cubicBezTo>
                    <a:cubicBezTo>
                      <a:pt x="52" y="55"/>
                      <a:pt x="52" y="45"/>
                      <a:pt x="63" y="39"/>
                    </a:cubicBezTo>
                    <a:cubicBezTo>
                      <a:pt x="74" y="33"/>
                      <a:pt x="91" y="33"/>
                      <a:pt x="102" y="39"/>
                    </a:cubicBezTo>
                    <a:cubicBezTo>
                      <a:pt x="113" y="45"/>
                      <a:pt x="113" y="55"/>
                      <a:pt x="102" y="62"/>
                    </a:cubicBez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2" name="ï$ľiḋe"/>
              <p:cNvSpPr/>
              <p:nvPr/>
            </p:nvSpPr>
            <p:spPr bwMode="auto">
              <a:xfrm>
                <a:off x="4198687" y="4572586"/>
                <a:ext cx="700013" cy="233916"/>
              </a:xfrm>
              <a:custGeom>
                <a:avLst/>
                <a:gdLst>
                  <a:gd name="T0" fmla="*/ 29 w 194"/>
                  <a:gd name="T1" fmla="*/ 30 h 65"/>
                  <a:gd name="T2" fmla="*/ 164 w 194"/>
                  <a:gd name="T3" fmla="*/ 30 h 65"/>
                  <a:gd name="T4" fmla="*/ 192 w 194"/>
                  <a:gd name="T5" fmla="*/ 65 h 65"/>
                  <a:gd name="T6" fmla="*/ 164 w 194"/>
                  <a:gd name="T7" fmla="*/ 22 h 65"/>
                  <a:gd name="T8" fmla="*/ 29 w 194"/>
                  <a:gd name="T9" fmla="*/ 22 h 65"/>
                  <a:gd name="T10" fmla="*/ 2 w 194"/>
                  <a:gd name="T11" fmla="*/ 65 h 65"/>
                  <a:gd name="T12" fmla="*/ 29 w 194"/>
                  <a:gd name="T13" fmla="*/ 30 h 65"/>
                </a:gdLst>
                <a:ahLst/>
                <a:cxnLst>
                  <a:cxn ang="0">
                    <a:pos x="T0" y="T1"/>
                  </a:cxn>
                  <a:cxn ang="0">
                    <a:pos x="T2" y="T3"/>
                  </a:cxn>
                  <a:cxn ang="0">
                    <a:pos x="T4" y="T5"/>
                  </a:cxn>
                  <a:cxn ang="0">
                    <a:pos x="T6" y="T7"/>
                  </a:cxn>
                  <a:cxn ang="0">
                    <a:pos x="T8" y="T9"/>
                  </a:cxn>
                  <a:cxn ang="0">
                    <a:pos x="T10" y="T11"/>
                  </a:cxn>
                  <a:cxn ang="0">
                    <a:pos x="T12" y="T13"/>
                  </a:cxn>
                </a:cxnLst>
                <a:rect l="0" t="0" r="r" b="b"/>
                <a:pathLst>
                  <a:path w="194" h="65">
                    <a:moveTo>
                      <a:pt x="29" y="30"/>
                    </a:moveTo>
                    <a:cubicBezTo>
                      <a:pt x="67" y="8"/>
                      <a:pt x="127" y="8"/>
                      <a:pt x="164" y="30"/>
                    </a:cubicBezTo>
                    <a:cubicBezTo>
                      <a:pt x="181" y="40"/>
                      <a:pt x="190" y="52"/>
                      <a:pt x="192" y="65"/>
                    </a:cubicBezTo>
                    <a:cubicBezTo>
                      <a:pt x="194" y="49"/>
                      <a:pt x="185" y="34"/>
                      <a:pt x="164" y="22"/>
                    </a:cubicBezTo>
                    <a:cubicBezTo>
                      <a:pt x="127" y="0"/>
                      <a:pt x="67" y="0"/>
                      <a:pt x="29" y="22"/>
                    </a:cubicBezTo>
                    <a:cubicBezTo>
                      <a:pt x="9" y="34"/>
                      <a:pt x="0" y="49"/>
                      <a:pt x="2" y="65"/>
                    </a:cubicBezTo>
                    <a:cubicBezTo>
                      <a:pt x="3" y="52"/>
                      <a:pt x="12" y="40"/>
                      <a:pt x="29" y="30"/>
                    </a:cubicBez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3" name="íSḷîďè"/>
              <p:cNvSpPr/>
              <p:nvPr/>
            </p:nvSpPr>
            <p:spPr bwMode="auto">
              <a:xfrm>
                <a:off x="4732361" y="4983237"/>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6 h 146"/>
                  <a:gd name="T20" fmla="*/ 85 w 300"/>
                  <a:gd name="T21" fmla="*/ 77 h 146"/>
                  <a:gd name="T22" fmla="*/ 100 w 300"/>
                  <a:gd name="T23" fmla="*/ 86 h 146"/>
                  <a:gd name="T24" fmla="*/ 115 w 300"/>
                  <a:gd name="T25" fmla="*/ 94 h 146"/>
                  <a:gd name="T26" fmla="*/ 133 w 300"/>
                  <a:gd name="T27" fmla="*/ 84 h 146"/>
                  <a:gd name="T28" fmla="*/ 160 w 300"/>
                  <a:gd name="T29" fmla="*/ 100 h 146"/>
                  <a:gd name="T30" fmla="*/ 149 w 300"/>
                  <a:gd name="T31" fmla="*/ 105 h 146"/>
                  <a:gd name="T32" fmla="*/ 167 w 300"/>
                  <a:gd name="T33" fmla="*/ 115 h 146"/>
                  <a:gd name="T34" fmla="*/ 177 w 300"/>
                  <a:gd name="T35" fmla="*/ 110 h 146"/>
                  <a:gd name="T36" fmla="*/ 185 w 300"/>
                  <a:gd name="T37" fmla="*/ 114 h 146"/>
                  <a:gd name="T38" fmla="*/ 177 w 300"/>
                  <a:gd name="T39" fmla="*/ 131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6"/>
                      <a:pt x="105" y="66"/>
                      <a:pt x="105" y="66"/>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100"/>
                      <a:pt x="160" y="100"/>
                      <a:pt x="160" y="100"/>
                    </a:cubicBezTo>
                    <a:cubicBezTo>
                      <a:pt x="149" y="105"/>
                      <a:pt x="149" y="105"/>
                      <a:pt x="149" y="105"/>
                    </a:cubicBezTo>
                    <a:cubicBezTo>
                      <a:pt x="167" y="115"/>
                      <a:pt x="167" y="115"/>
                      <a:pt x="167" y="115"/>
                    </a:cubicBezTo>
                    <a:cubicBezTo>
                      <a:pt x="177" y="110"/>
                      <a:pt x="177" y="110"/>
                      <a:pt x="177" y="110"/>
                    </a:cubicBezTo>
                    <a:cubicBezTo>
                      <a:pt x="185" y="114"/>
                      <a:pt x="185" y="114"/>
                      <a:pt x="185" y="114"/>
                    </a:cubicBezTo>
                    <a:cubicBezTo>
                      <a:pt x="177" y="131"/>
                      <a:pt x="177" y="131"/>
                      <a:pt x="177" y="131"/>
                    </a:cubicBezTo>
                    <a:cubicBezTo>
                      <a:pt x="203" y="146"/>
                      <a:pt x="203" y="146"/>
                      <a:pt x="203" y="146"/>
                    </a:cubicBezTo>
                    <a:cubicBezTo>
                      <a:pt x="300" y="146"/>
                      <a:pt x="300" y="146"/>
                      <a:pt x="300" y="146"/>
                    </a:cubicBezTo>
                    <a:lnTo>
                      <a:pt x="48" y="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4" name="ïšḻíďè"/>
              <p:cNvSpPr/>
              <p:nvPr/>
            </p:nvSpPr>
            <p:spPr bwMode="auto">
              <a:xfrm>
                <a:off x="4732361" y="4908731"/>
                <a:ext cx="1081208" cy="525010"/>
              </a:xfrm>
              <a:custGeom>
                <a:avLst/>
                <a:gdLst>
                  <a:gd name="T0" fmla="*/ 48 w 300"/>
                  <a:gd name="T1" fmla="*/ 0 h 146"/>
                  <a:gd name="T2" fmla="*/ 27 w 300"/>
                  <a:gd name="T3" fmla="*/ 16 h 146"/>
                  <a:gd name="T4" fmla="*/ 0 w 300"/>
                  <a:gd name="T5" fmla="*/ 28 h 146"/>
                  <a:gd name="T6" fmla="*/ 21 w 300"/>
                  <a:gd name="T7" fmla="*/ 40 h 146"/>
                  <a:gd name="T8" fmla="*/ 52 w 300"/>
                  <a:gd name="T9" fmla="*/ 42 h 146"/>
                  <a:gd name="T10" fmla="*/ 67 w 300"/>
                  <a:gd name="T11" fmla="*/ 51 h 146"/>
                  <a:gd name="T12" fmla="*/ 61 w 300"/>
                  <a:gd name="T13" fmla="*/ 54 h 146"/>
                  <a:gd name="T14" fmla="*/ 72 w 300"/>
                  <a:gd name="T15" fmla="*/ 61 h 146"/>
                  <a:gd name="T16" fmla="*/ 85 w 300"/>
                  <a:gd name="T17" fmla="*/ 54 h 146"/>
                  <a:gd name="T18" fmla="*/ 105 w 300"/>
                  <a:gd name="T19" fmla="*/ 65 h 146"/>
                  <a:gd name="T20" fmla="*/ 85 w 300"/>
                  <a:gd name="T21" fmla="*/ 77 h 146"/>
                  <a:gd name="T22" fmla="*/ 100 w 300"/>
                  <a:gd name="T23" fmla="*/ 86 h 146"/>
                  <a:gd name="T24" fmla="*/ 115 w 300"/>
                  <a:gd name="T25" fmla="*/ 94 h 146"/>
                  <a:gd name="T26" fmla="*/ 133 w 300"/>
                  <a:gd name="T27" fmla="*/ 84 h 146"/>
                  <a:gd name="T28" fmla="*/ 160 w 300"/>
                  <a:gd name="T29" fmla="*/ 99 h 146"/>
                  <a:gd name="T30" fmla="*/ 149 w 300"/>
                  <a:gd name="T31" fmla="*/ 105 h 146"/>
                  <a:gd name="T32" fmla="*/ 167 w 300"/>
                  <a:gd name="T33" fmla="*/ 115 h 146"/>
                  <a:gd name="T34" fmla="*/ 177 w 300"/>
                  <a:gd name="T35" fmla="*/ 109 h 146"/>
                  <a:gd name="T36" fmla="*/ 185 w 300"/>
                  <a:gd name="T37" fmla="*/ 114 h 146"/>
                  <a:gd name="T38" fmla="*/ 177 w 300"/>
                  <a:gd name="T39" fmla="*/ 130 h 146"/>
                  <a:gd name="T40" fmla="*/ 203 w 300"/>
                  <a:gd name="T41" fmla="*/ 146 h 146"/>
                  <a:gd name="T42" fmla="*/ 300 w 300"/>
                  <a:gd name="T43" fmla="*/ 146 h 146"/>
                  <a:gd name="T44" fmla="*/ 48 w 300"/>
                  <a:gd name="T4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0" h="146">
                    <a:moveTo>
                      <a:pt x="48" y="0"/>
                    </a:moveTo>
                    <a:cubicBezTo>
                      <a:pt x="42" y="6"/>
                      <a:pt x="35" y="11"/>
                      <a:pt x="27" y="16"/>
                    </a:cubicBezTo>
                    <a:cubicBezTo>
                      <a:pt x="19" y="21"/>
                      <a:pt x="10" y="25"/>
                      <a:pt x="0" y="28"/>
                    </a:cubicBezTo>
                    <a:cubicBezTo>
                      <a:pt x="21" y="40"/>
                      <a:pt x="21" y="40"/>
                      <a:pt x="21" y="40"/>
                    </a:cubicBezTo>
                    <a:cubicBezTo>
                      <a:pt x="52" y="42"/>
                      <a:pt x="52" y="42"/>
                      <a:pt x="52" y="42"/>
                    </a:cubicBezTo>
                    <a:cubicBezTo>
                      <a:pt x="67" y="51"/>
                      <a:pt x="67" y="51"/>
                      <a:pt x="67" y="51"/>
                    </a:cubicBezTo>
                    <a:cubicBezTo>
                      <a:pt x="61" y="54"/>
                      <a:pt x="61" y="54"/>
                      <a:pt x="61" y="54"/>
                    </a:cubicBezTo>
                    <a:cubicBezTo>
                      <a:pt x="72" y="61"/>
                      <a:pt x="72" y="61"/>
                      <a:pt x="72" y="61"/>
                    </a:cubicBezTo>
                    <a:cubicBezTo>
                      <a:pt x="85" y="54"/>
                      <a:pt x="85" y="54"/>
                      <a:pt x="85" y="54"/>
                    </a:cubicBezTo>
                    <a:cubicBezTo>
                      <a:pt x="105" y="65"/>
                      <a:pt x="105" y="65"/>
                      <a:pt x="105" y="65"/>
                    </a:cubicBezTo>
                    <a:cubicBezTo>
                      <a:pt x="85" y="77"/>
                      <a:pt x="85" y="77"/>
                      <a:pt x="85" y="77"/>
                    </a:cubicBezTo>
                    <a:cubicBezTo>
                      <a:pt x="100" y="86"/>
                      <a:pt x="100" y="86"/>
                      <a:pt x="100" y="86"/>
                    </a:cubicBezTo>
                    <a:cubicBezTo>
                      <a:pt x="115" y="94"/>
                      <a:pt x="115" y="94"/>
                      <a:pt x="115" y="94"/>
                    </a:cubicBezTo>
                    <a:cubicBezTo>
                      <a:pt x="133" y="84"/>
                      <a:pt x="133" y="84"/>
                      <a:pt x="133" y="84"/>
                    </a:cubicBezTo>
                    <a:cubicBezTo>
                      <a:pt x="160" y="99"/>
                      <a:pt x="160" y="99"/>
                      <a:pt x="160" y="99"/>
                    </a:cubicBezTo>
                    <a:cubicBezTo>
                      <a:pt x="149" y="105"/>
                      <a:pt x="149" y="105"/>
                      <a:pt x="149" y="105"/>
                    </a:cubicBezTo>
                    <a:cubicBezTo>
                      <a:pt x="167" y="115"/>
                      <a:pt x="167" y="115"/>
                      <a:pt x="167" y="115"/>
                    </a:cubicBezTo>
                    <a:cubicBezTo>
                      <a:pt x="177" y="109"/>
                      <a:pt x="177" y="109"/>
                      <a:pt x="177" y="109"/>
                    </a:cubicBezTo>
                    <a:cubicBezTo>
                      <a:pt x="185" y="114"/>
                      <a:pt x="185" y="114"/>
                      <a:pt x="185" y="114"/>
                    </a:cubicBezTo>
                    <a:cubicBezTo>
                      <a:pt x="177" y="130"/>
                      <a:pt x="177" y="130"/>
                      <a:pt x="177" y="130"/>
                    </a:cubicBezTo>
                    <a:cubicBezTo>
                      <a:pt x="203" y="146"/>
                      <a:pt x="203" y="146"/>
                      <a:pt x="203" y="146"/>
                    </a:cubicBezTo>
                    <a:cubicBezTo>
                      <a:pt x="300" y="146"/>
                      <a:pt x="300" y="146"/>
                      <a:pt x="300" y="146"/>
                    </a:cubicBezTo>
                    <a:lnTo>
                      <a:pt x="48" y="0"/>
                    </a:ln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iṩľiḋè"/>
              <p:cNvSpPr/>
              <p:nvPr/>
            </p:nvSpPr>
            <p:spPr bwMode="auto">
              <a:xfrm>
                <a:off x="5463562" y="5433740"/>
                <a:ext cx="350007" cy="74507"/>
              </a:xfrm>
              <a:prstGeom prst="rect">
                <a:avLst/>
              </a:prstGeom>
              <a:solidFill>
                <a:srgbClr val="E8A2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56" name="ïsļíḍe"/>
              <p:cNvSpPr/>
              <p:nvPr/>
            </p:nvSpPr>
            <p:spPr bwMode="auto">
              <a:xfrm>
                <a:off x="5333609" y="5300322"/>
                <a:ext cx="36387" cy="97032"/>
              </a:xfrm>
              <a:custGeom>
                <a:avLst/>
                <a:gdLst>
                  <a:gd name="T0" fmla="*/ 0 w 21"/>
                  <a:gd name="T1" fmla="*/ 56 h 56"/>
                  <a:gd name="T2" fmla="*/ 0 w 21"/>
                  <a:gd name="T3" fmla="*/ 12 h 56"/>
                  <a:gd name="T4" fmla="*/ 21 w 21"/>
                  <a:gd name="T5" fmla="*/ 0 h 56"/>
                  <a:gd name="T6" fmla="*/ 21 w 21"/>
                  <a:gd name="T7" fmla="*/ 46 h 56"/>
                  <a:gd name="T8" fmla="*/ 0 w 21"/>
                  <a:gd name="T9" fmla="*/ 56 h 56"/>
                </a:gdLst>
                <a:ahLst/>
                <a:cxnLst>
                  <a:cxn ang="0">
                    <a:pos x="T0" y="T1"/>
                  </a:cxn>
                  <a:cxn ang="0">
                    <a:pos x="T2" y="T3"/>
                  </a:cxn>
                  <a:cxn ang="0">
                    <a:pos x="T4" y="T5"/>
                  </a:cxn>
                  <a:cxn ang="0">
                    <a:pos x="T6" y="T7"/>
                  </a:cxn>
                  <a:cxn ang="0">
                    <a:pos x="T8" y="T9"/>
                  </a:cxn>
                </a:cxnLst>
                <a:rect l="0" t="0" r="r" b="b"/>
                <a:pathLst>
                  <a:path w="21" h="56">
                    <a:moveTo>
                      <a:pt x="0" y="56"/>
                    </a:moveTo>
                    <a:lnTo>
                      <a:pt x="0" y="12"/>
                    </a:lnTo>
                    <a:lnTo>
                      <a:pt x="21" y="0"/>
                    </a:lnTo>
                    <a:lnTo>
                      <a:pt x="21" y="46"/>
                    </a:lnTo>
                    <a:lnTo>
                      <a:pt x="0" y="56"/>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7" name="í$ľíḋé"/>
              <p:cNvSpPr/>
              <p:nvPr/>
            </p:nvSpPr>
            <p:spPr bwMode="auto">
              <a:xfrm>
                <a:off x="5269499" y="5286461"/>
                <a:ext cx="64111" cy="110893"/>
              </a:xfrm>
              <a:custGeom>
                <a:avLst/>
                <a:gdLst>
                  <a:gd name="T0" fmla="*/ 0 w 37"/>
                  <a:gd name="T1" fmla="*/ 0 h 64"/>
                  <a:gd name="T2" fmla="*/ 0 w 37"/>
                  <a:gd name="T3" fmla="*/ 43 h 64"/>
                  <a:gd name="T4" fmla="*/ 37 w 37"/>
                  <a:gd name="T5" fmla="*/ 64 h 64"/>
                  <a:gd name="T6" fmla="*/ 37 w 37"/>
                  <a:gd name="T7" fmla="*/ 20 h 64"/>
                  <a:gd name="T8" fmla="*/ 0 w 37"/>
                  <a:gd name="T9" fmla="*/ 0 h 64"/>
                </a:gdLst>
                <a:ahLst/>
                <a:cxnLst>
                  <a:cxn ang="0">
                    <a:pos x="T0" y="T1"/>
                  </a:cxn>
                  <a:cxn ang="0">
                    <a:pos x="T2" y="T3"/>
                  </a:cxn>
                  <a:cxn ang="0">
                    <a:pos x="T4" y="T5"/>
                  </a:cxn>
                  <a:cxn ang="0">
                    <a:pos x="T6" y="T7"/>
                  </a:cxn>
                  <a:cxn ang="0">
                    <a:pos x="T8" y="T9"/>
                  </a:cxn>
                </a:cxnLst>
                <a:rect l="0" t="0" r="r" b="b"/>
                <a:pathLst>
                  <a:path w="37" h="64">
                    <a:moveTo>
                      <a:pt x="0" y="0"/>
                    </a:moveTo>
                    <a:lnTo>
                      <a:pt x="0" y="43"/>
                    </a:lnTo>
                    <a:lnTo>
                      <a:pt x="37" y="64"/>
                    </a:lnTo>
                    <a:lnTo>
                      <a:pt x="37" y="20"/>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i$ľiḑé"/>
              <p:cNvSpPr/>
              <p:nvPr/>
            </p:nvSpPr>
            <p:spPr bwMode="auto">
              <a:xfrm>
                <a:off x="5146477" y="5210222"/>
                <a:ext cx="65843" cy="110893"/>
              </a:xfrm>
              <a:custGeom>
                <a:avLst/>
                <a:gdLst>
                  <a:gd name="T0" fmla="*/ 38 w 38"/>
                  <a:gd name="T1" fmla="*/ 0 h 64"/>
                  <a:gd name="T2" fmla="*/ 38 w 38"/>
                  <a:gd name="T3" fmla="*/ 44 h 64"/>
                  <a:gd name="T4" fmla="*/ 0 w 38"/>
                  <a:gd name="T5" fmla="*/ 64 h 64"/>
                  <a:gd name="T6" fmla="*/ 0 w 38"/>
                  <a:gd name="T7" fmla="*/ 21 h 64"/>
                  <a:gd name="T8" fmla="*/ 38 w 38"/>
                  <a:gd name="T9" fmla="*/ 0 h 64"/>
                </a:gdLst>
                <a:ahLst/>
                <a:cxnLst>
                  <a:cxn ang="0">
                    <a:pos x="T0" y="T1"/>
                  </a:cxn>
                  <a:cxn ang="0">
                    <a:pos x="T2" y="T3"/>
                  </a:cxn>
                  <a:cxn ang="0">
                    <a:pos x="T4" y="T5"/>
                  </a:cxn>
                  <a:cxn ang="0">
                    <a:pos x="T6" y="T7"/>
                  </a:cxn>
                  <a:cxn ang="0">
                    <a:pos x="T8" y="T9"/>
                  </a:cxn>
                </a:cxnLst>
                <a:rect l="0" t="0" r="r" b="b"/>
                <a:pathLst>
                  <a:path w="38" h="64">
                    <a:moveTo>
                      <a:pt x="38" y="0"/>
                    </a:moveTo>
                    <a:lnTo>
                      <a:pt x="38" y="44"/>
                    </a:lnTo>
                    <a:lnTo>
                      <a:pt x="0" y="64"/>
                    </a:lnTo>
                    <a:lnTo>
                      <a:pt x="0" y="21"/>
                    </a:lnTo>
                    <a:lnTo>
                      <a:pt x="38"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9" name="îśliḋê"/>
              <p:cNvSpPr/>
              <p:nvPr/>
            </p:nvSpPr>
            <p:spPr bwMode="auto">
              <a:xfrm>
                <a:off x="5039049" y="5184231"/>
                <a:ext cx="107428" cy="136884"/>
              </a:xfrm>
              <a:custGeom>
                <a:avLst/>
                <a:gdLst>
                  <a:gd name="T0" fmla="*/ 0 w 62"/>
                  <a:gd name="T1" fmla="*/ 0 h 79"/>
                  <a:gd name="T2" fmla="*/ 0 w 62"/>
                  <a:gd name="T3" fmla="*/ 44 h 79"/>
                  <a:gd name="T4" fmla="*/ 62 w 62"/>
                  <a:gd name="T5" fmla="*/ 79 h 79"/>
                  <a:gd name="T6" fmla="*/ 62 w 62"/>
                  <a:gd name="T7" fmla="*/ 36 h 79"/>
                  <a:gd name="T8" fmla="*/ 0 w 62"/>
                  <a:gd name="T9" fmla="*/ 0 h 79"/>
                </a:gdLst>
                <a:ahLst/>
                <a:cxnLst>
                  <a:cxn ang="0">
                    <a:pos x="T0" y="T1"/>
                  </a:cxn>
                  <a:cxn ang="0">
                    <a:pos x="T2" y="T3"/>
                  </a:cxn>
                  <a:cxn ang="0">
                    <a:pos x="T4" y="T5"/>
                  </a:cxn>
                  <a:cxn ang="0">
                    <a:pos x="T6" y="T7"/>
                  </a:cxn>
                  <a:cxn ang="0">
                    <a:pos x="T8" y="T9"/>
                  </a:cxn>
                </a:cxnLst>
                <a:rect l="0" t="0" r="r" b="b"/>
                <a:pathLst>
                  <a:path w="62" h="79">
                    <a:moveTo>
                      <a:pt x="0" y="0"/>
                    </a:moveTo>
                    <a:lnTo>
                      <a:pt x="0" y="44"/>
                    </a:lnTo>
                    <a:lnTo>
                      <a:pt x="62" y="79"/>
                    </a:lnTo>
                    <a:lnTo>
                      <a:pt x="62" y="36"/>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0" name="íŝḷiḋé"/>
              <p:cNvSpPr/>
              <p:nvPr/>
            </p:nvSpPr>
            <p:spPr bwMode="auto">
              <a:xfrm>
                <a:off x="5369996" y="5380027"/>
                <a:ext cx="93566" cy="128220"/>
              </a:xfrm>
              <a:custGeom>
                <a:avLst/>
                <a:gdLst>
                  <a:gd name="T0" fmla="*/ 0 w 54"/>
                  <a:gd name="T1" fmla="*/ 0 h 74"/>
                  <a:gd name="T2" fmla="*/ 0 w 54"/>
                  <a:gd name="T3" fmla="*/ 43 h 74"/>
                  <a:gd name="T4" fmla="*/ 54 w 54"/>
                  <a:gd name="T5" fmla="*/ 74 h 74"/>
                  <a:gd name="T6" fmla="*/ 54 w 54"/>
                  <a:gd name="T7" fmla="*/ 31 h 74"/>
                  <a:gd name="T8" fmla="*/ 0 w 54"/>
                  <a:gd name="T9" fmla="*/ 0 h 74"/>
                </a:gdLst>
                <a:ahLst/>
                <a:cxnLst>
                  <a:cxn ang="0">
                    <a:pos x="T0" y="T1"/>
                  </a:cxn>
                  <a:cxn ang="0">
                    <a:pos x="T2" y="T3"/>
                  </a:cxn>
                  <a:cxn ang="0">
                    <a:pos x="T4" y="T5"/>
                  </a:cxn>
                  <a:cxn ang="0">
                    <a:pos x="T6" y="T7"/>
                  </a:cxn>
                  <a:cxn ang="0">
                    <a:pos x="T8" y="T9"/>
                  </a:cxn>
                </a:cxnLst>
                <a:rect l="0" t="0" r="r" b="b"/>
                <a:pathLst>
                  <a:path w="54" h="74">
                    <a:moveTo>
                      <a:pt x="0" y="0"/>
                    </a:moveTo>
                    <a:lnTo>
                      <a:pt x="0" y="43"/>
                    </a:lnTo>
                    <a:lnTo>
                      <a:pt x="54" y="74"/>
                    </a:lnTo>
                    <a:lnTo>
                      <a:pt x="54" y="31"/>
                    </a:lnTo>
                    <a:lnTo>
                      <a:pt x="0" y="0"/>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îṧḻiḋe"/>
              <p:cNvSpPr/>
              <p:nvPr/>
            </p:nvSpPr>
            <p:spPr bwMode="auto">
              <a:xfrm>
                <a:off x="4952414" y="5102794"/>
                <a:ext cx="39853" cy="100497"/>
              </a:xfrm>
              <a:custGeom>
                <a:avLst/>
                <a:gdLst>
                  <a:gd name="T0" fmla="*/ 23 w 23"/>
                  <a:gd name="T1" fmla="*/ 14 h 58"/>
                  <a:gd name="T2" fmla="*/ 23 w 23"/>
                  <a:gd name="T3" fmla="*/ 58 h 58"/>
                  <a:gd name="T4" fmla="*/ 0 w 23"/>
                  <a:gd name="T5" fmla="*/ 43 h 58"/>
                  <a:gd name="T6" fmla="*/ 0 w 23"/>
                  <a:gd name="T7" fmla="*/ 0 h 58"/>
                  <a:gd name="T8" fmla="*/ 23 w 23"/>
                  <a:gd name="T9" fmla="*/ 14 h 58"/>
                </a:gdLst>
                <a:ahLst/>
                <a:cxnLst>
                  <a:cxn ang="0">
                    <a:pos x="T0" y="T1"/>
                  </a:cxn>
                  <a:cxn ang="0">
                    <a:pos x="T2" y="T3"/>
                  </a:cxn>
                  <a:cxn ang="0">
                    <a:pos x="T4" y="T5"/>
                  </a:cxn>
                  <a:cxn ang="0">
                    <a:pos x="T6" y="T7"/>
                  </a:cxn>
                  <a:cxn ang="0">
                    <a:pos x="T8" y="T9"/>
                  </a:cxn>
                </a:cxnLst>
                <a:rect l="0" t="0" r="r" b="b"/>
                <a:pathLst>
                  <a:path w="23" h="58">
                    <a:moveTo>
                      <a:pt x="23" y="14"/>
                    </a:moveTo>
                    <a:lnTo>
                      <a:pt x="23" y="58"/>
                    </a:lnTo>
                    <a:lnTo>
                      <a:pt x="0" y="43"/>
                    </a:lnTo>
                    <a:lnTo>
                      <a:pt x="0" y="0"/>
                    </a:lnTo>
                    <a:lnTo>
                      <a:pt x="23" y="14"/>
                    </a:lnTo>
                    <a:close/>
                  </a:path>
                </a:pathLst>
              </a:custGeom>
              <a:solidFill>
                <a:srgbClr val="EEAD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îSļîḋé"/>
              <p:cNvSpPr/>
              <p:nvPr/>
            </p:nvSpPr>
            <p:spPr bwMode="auto">
              <a:xfrm>
                <a:off x="4808600" y="5052545"/>
                <a:ext cx="110893" cy="81438"/>
              </a:xfrm>
              <a:custGeom>
                <a:avLst/>
                <a:gdLst>
                  <a:gd name="T0" fmla="*/ 0 w 64"/>
                  <a:gd name="T1" fmla="*/ 0 h 47"/>
                  <a:gd name="T2" fmla="*/ 0 w 64"/>
                  <a:gd name="T3" fmla="*/ 43 h 47"/>
                  <a:gd name="T4" fmla="*/ 64 w 64"/>
                  <a:gd name="T5" fmla="*/ 47 h 47"/>
                  <a:gd name="T6" fmla="*/ 64 w 64"/>
                  <a:gd name="T7" fmla="*/ 4 h 47"/>
                  <a:gd name="T8" fmla="*/ 0 w 64"/>
                  <a:gd name="T9" fmla="*/ 0 h 47"/>
                </a:gdLst>
                <a:ahLst/>
                <a:cxnLst>
                  <a:cxn ang="0">
                    <a:pos x="T0" y="T1"/>
                  </a:cxn>
                  <a:cxn ang="0">
                    <a:pos x="T2" y="T3"/>
                  </a:cxn>
                  <a:cxn ang="0">
                    <a:pos x="T4" y="T5"/>
                  </a:cxn>
                  <a:cxn ang="0">
                    <a:pos x="T6" y="T7"/>
                  </a:cxn>
                  <a:cxn ang="0">
                    <a:pos x="T8" y="T9"/>
                  </a:cxn>
                </a:cxnLst>
                <a:rect l="0" t="0" r="r" b="b"/>
                <a:pathLst>
                  <a:path w="64" h="47">
                    <a:moveTo>
                      <a:pt x="0" y="0"/>
                    </a:moveTo>
                    <a:lnTo>
                      <a:pt x="0" y="43"/>
                    </a:lnTo>
                    <a:lnTo>
                      <a:pt x="64" y="47"/>
                    </a:lnTo>
                    <a:lnTo>
                      <a:pt x="64" y="4"/>
                    </a:lnTo>
                    <a:lnTo>
                      <a:pt x="0"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3" name="ïṥḷidé"/>
              <p:cNvSpPr/>
              <p:nvPr/>
            </p:nvSpPr>
            <p:spPr bwMode="auto">
              <a:xfrm>
                <a:off x="4912562" y="4972841"/>
                <a:ext cx="734667" cy="407186"/>
              </a:xfrm>
              <a:custGeom>
                <a:avLst/>
                <a:gdLst>
                  <a:gd name="T0" fmla="*/ 383 w 424"/>
                  <a:gd name="T1" fmla="*/ 235 h 235"/>
                  <a:gd name="T2" fmla="*/ 0 w 424"/>
                  <a:gd name="T3" fmla="*/ 12 h 235"/>
                  <a:gd name="T4" fmla="*/ 21 w 424"/>
                  <a:gd name="T5" fmla="*/ 0 h 235"/>
                  <a:gd name="T6" fmla="*/ 424 w 424"/>
                  <a:gd name="T7" fmla="*/ 233 h 235"/>
                  <a:gd name="T8" fmla="*/ 383 w 424"/>
                  <a:gd name="T9" fmla="*/ 235 h 235"/>
                </a:gdLst>
                <a:ahLst/>
                <a:cxnLst>
                  <a:cxn ang="0">
                    <a:pos x="T0" y="T1"/>
                  </a:cxn>
                  <a:cxn ang="0">
                    <a:pos x="T2" y="T3"/>
                  </a:cxn>
                  <a:cxn ang="0">
                    <a:pos x="T4" y="T5"/>
                  </a:cxn>
                  <a:cxn ang="0">
                    <a:pos x="T6" y="T7"/>
                  </a:cxn>
                  <a:cxn ang="0">
                    <a:pos x="T8" y="T9"/>
                  </a:cxn>
                </a:cxnLst>
                <a:rect l="0" t="0" r="r" b="b"/>
                <a:pathLst>
                  <a:path w="424" h="235">
                    <a:moveTo>
                      <a:pt x="383" y="235"/>
                    </a:moveTo>
                    <a:lnTo>
                      <a:pt x="0" y="12"/>
                    </a:lnTo>
                    <a:lnTo>
                      <a:pt x="21" y="0"/>
                    </a:lnTo>
                    <a:lnTo>
                      <a:pt x="424" y="233"/>
                    </a:lnTo>
                    <a:lnTo>
                      <a:pt x="383" y="235"/>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4" name="išḻïḍe"/>
              <p:cNvSpPr/>
              <p:nvPr/>
            </p:nvSpPr>
            <p:spPr bwMode="auto">
              <a:xfrm>
                <a:off x="4912562" y="4972841"/>
                <a:ext cx="734667" cy="407186"/>
              </a:xfrm>
              <a:custGeom>
                <a:avLst/>
                <a:gdLst>
                  <a:gd name="T0" fmla="*/ 21 w 424"/>
                  <a:gd name="T1" fmla="*/ 10 h 235"/>
                  <a:gd name="T2" fmla="*/ 406 w 424"/>
                  <a:gd name="T3" fmla="*/ 235 h 235"/>
                  <a:gd name="T4" fmla="*/ 424 w 424"/>
                  <a:gd name="T5" fmla="*/ 233 h 235"/>
                  <a:gd name="T6" fmla="*/ 21 w 424"/>
                  <a:gd name="T7" fmla="*/ 0 h 235"/>
                  <a:gd name="T8" fmla="*/ 0 w 424"/>
                  <a:gd name="T9" fmla="*/ 12 h 235"/>
                  <a:gd name="T10" fmla="*/ 8 w 424"/>
                  <a:gd name="T11" fmla="*/ 19 h 235"/>
                  <a:gd name="T12" fmla="*/ 21 w 424"/>
                  <a:gd name="T13" fmla="*/ 10 h 235"/>
                </a:gdLst>
                <a:ahLst/>
                <a:cxnLst>
                  <a:cxn ang="0">
                    <a:pos x="T0" y="T1"/>
                  </a:cxn>
                  <a:cxn ang="0">
                    <a:pos x="T2" y="T3"/>
                  </a:cxn>
                  <a:cxn ang="0">
                    <a:pos x="T4" y="T5"/>
                  </a:cxn>
                  <a:cxn ang="0">
                    <a:pos x="T6" y="T7"/>
                  </a:cxn>
                  <a:cxn ang="0">
                    <a:pos x="T8" y="T9"/>
                  </a:cxn>
                  <a:cxn ang="0">
                    <a:pos x="T10" y="T11"/>
                  </a:cxn>
                  <a:cxn ang="0">
                    <a:pos x="T12" y="T13"/>
                  </a:cxn>
                </a:cxnLst>
                <a:rect l="0" t="0" r="r" b="b"/>
                <a:pathLst>
                  <a:path w="424" h="235">
                    <a:moveTo>
                      <a:pt x="21" y="10"/>
                    </a:moveTo>
                    <a:lnTo>
                      <a:pt x="406" y="235"/>
                    </a:lnTo>
                    <a:lnTo>
                      <a:pt x="424" y="233"/>
                    </a:lnTo>
                    <a:lnTo>
                      <a:pt x="21" y="0"/>
                    </a:lnTo>
                    <a:lnTo>
                      <a:pt x="0" y="12"/>
                    </a:lnTo>
                    <a:lnTo>
                      <a:pt x="8" y="19"/>
                    </a:lnTo>
                    <a:lnTo>
                      <a:pt x="21" y="10"/>
                    </a:lnTo>
                    <a:close/>
                  </a:path>
                </a:pathLst>
              </a:custGeom>
              <a:solidFill>
                <a:srgbClr val="F2B42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5" name="işḻîďê"/>
              <p:cNvSpPr/>
              <p:nvPr/>
            </p:nvSpPr>
            <p:spPr bwMode="auto">
              <a:xfrm>
                <a:off x="4732361" y="5009228"/>
                <a:ext cx="76239" cy="117824"/>
              </a:xfrm>
              <a:custGeom>
                <a:avLst/>
                <a:gdLst>
                  <a:gd name="T0" fmla="*/ 44 w 44"/>
                  <a:gd name="T1" fmla="*/ 68 h 68"/>
                  <a:gd name="T2" fmla="*/ 44 w 44"/>
                  <a:gd name="T3" fmla="*/ 25 h 68"/>
                  <a:gd name="T4" fmla="*/ 0 w 44"/>
                  <a:gd name="T5" fmla="*/ 0 h 68"/>
                  <a:gd name="T6" fmla="*/ 0 w 44"/>
                  <a:gd name="T7" fmla="*/ 43 h 68"/>
                  <a:gd name="T8" fmla="*/ 44 w 44"/>
                  <a:gd name="T9" fmla="*/ 68 h 68"/>
                </a:gdLst>
                <a:ahLst/>
                <a:cxnLst>
                  <a:cxn ang="0">
                    <a:pos x="T0" y="T1"/>
                  </a:cxn>
                  <a:cxn ang="0">
                    <a:pos x="T2" y="T3"/>
                  </a:cxn>
                  <a:cxn ang="0">
                    <a:pos x="T4" y="T5"/>
                  </a:cxn>
                  <a:cxn ang="0">
                    <a:pos x="T6" y="T7"/>
                  </a:cxn>
                  <a:cxn ang="0">
                    <a:pos x="T8" y="T9"/>
                  </a:cxn>
                </a:cxnLst>
                <a:rect l="0" t="0" r="r" b="b"/>
                <a:pathLst>
                  <a:path w="44" h="68">
                    <a:moveTo>
                      <a:pt x="44" y="68"/>
                    </a:moveTo>
                    <a:lnTo>
                      <a:pt x="44" y="25"/>
                    </a:lnTo>
                    <a:lnTo>
                      <a:pt x="0" y="0"/>
                    </a:lnTo>
                    <a:lnTo>
                      <a:pt x="0" y="43"/>
                    </a:lnTo>
                    <a:lnTo>
                      <a:pt x="44" y="68"/>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6" name="íSḻïḓè"/>
              <p:cNvSpPr/>
              <p:nvPr/>
            </p:nvSpPr>
            <p:spPr bwMode="auto">
              <a:xfrm>
                <a:off x="4992267" y="5102794"/>
                <a:ext cx="46784" cy="100497"/>
              </a:xfrm>
              <a:custGeom>
                <a:avLst/>
                <a:gdLst>
                  <a:gd name="T0" fmla="*/ 27 w 27"/>
                  <a:gd name="T1" fmla="*/ 0 h 58"/>
                  <a:gd name="T2" fmla="*/ 27 w 27"/>
                  <a:gd name="T3" fmla="*/ 43 h 58"/>
                  <a:gd name="T4" fmla="*/ 0 w 27"/>
                  <a:gd name="T5" fmla="*/ 58 h 58"/>
                  <a:gd name="T6" fmla="*/ 0 w 27"/>
                  <a:gd name="T7" fmla="*/ 14 h 58"/>
                  <a:gd name="T8" fmla="*/ 27 w 27"/>
                  <a:gd name="T9" fmla="*/ 0 h 58"/>
                </a:gdLst>
                <a:ahLst/>
                <a:cxnLst>
                  <a:cxn ang="0">
                    <a:pos x="T0" y="T1"/>
                  </a:cxn>
                  <a:cxn ang="0">
                    <a:pos x="T2" y="T3"/>
                  </a:cxn>
                  <a:cxn ang="0">
                    <a:pos x="T4" y="T5"/>
                  </a:cxn>
                  <a:cxn ang="0">
                    <a:pos x="T6" y="T7"/>
                  </a:cxn>
                  <a:cxn ang="0">
                    <a:pos x="T8" y="T9"/>
                  </a:cxn>
                </a:cxnLst>
                <a:rect l="0" t="0" r="r" b="b"/>
                <a:pathLst>
                  <a:path w="27" h="58">
                    <a:moveTo>
                      <a:pt x="27" y="0"/>
                    </a:moveTo>
                    <a:lnTo>
                      <a:pt x="27" y="43"/>
                    </a:lnTo>
                    <a:lnTo>
                      <a:pt x="0" y="58"/>
                    </a:lnTo>
                    <a:lnTo>
                      <a:pt x="0" y="14"/>
                    </a:lnTo>
                    <a:lnTo>
                      <a:pt x="27" y="0"/>
                    </a:lnTo>
                    <a:close/>
                  </a:path>
                </a:pathLst>
              </a:custGeom>
              <a:solidFill>
                <a:srgbClr val="E8A2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7" name="ï$1iḑè"/>
              <p:cNvSpPr/>
              <p:nvPr/>
            </p:nvSpPr>
            <p:spPr bwMode="auto">
              <a:xfrm>
                <a:off x="4515772" y="4588180"/>
                <a:ext cx="382928" cy="218321"/>
              </a:xfrm>
              <a:custGeom>
                <a:avLst/>
                <a:gdLst>
                  <a:gd name="T0" fmla="*/ 76 w 106"/>
                  <a:gd name="T1" fmla="*/ 18 h 61"/>
                  <a:gd name="T2" fmla="*/ 0 w 106"/>
                  <a:gd name="T3" fmla="*/ 2 h 61"/>
                  <a:gd name="T4" fmla="*/ 0 w 106"/>
                  <a:gd name="T5" fmla="*/ 10 h 61"/>
                  <a:gd name="T6" fmla="*/ 76 w 106"/>
                  <a:gd name="T7" fmla="*/ 26 h 61"/>
                  <a:gd name="T8" fmla="*/ 104 w 106"/>
                  <a:gd name="T9" fmla="*/ 61 h 61"/>
                  <a:gd name="T10" fmla="*/ 76 w 106"/>
                  <a:gd name="T11" fmla="*/ 18 h 61"/>
                </a:gdLst>
                <a:ahLst/>
                <a:cxnLst>
                  <a:cxn ang="0">
                    <a:pos x="T0" y="T1"/>
                  </a:cxn>
                  <a:cxn ang="0">
                    <a:pos x="T2" y="T3"/>
                  </a:cxn>
                  <a:cxn ang="0">
                    <a:pos x="T4" y="T5"/>
                  </a:cxn>
                  <a:cxn ang="0">
                    <a:pos x="T6" y="T7"/>
                  </a:cxn>
                  <a:cxn ang="0">
                    <a:pos x="T8" y="T9"/>
                  </a:cxn>
                  <a:cxn ang="0">
                    <a:pos x="T10" y="T11"/>
                  </a:cxn>
                </a:cxnLst>
                <a:rect l="0" t="0" r="r" b="b"/>
                <a:pathLst>
                  <a:path w="106" h="61">
                    <a:moveTo>
                      <a:pt x="76" y="18"/>
                    </a:moveTo>
                    <a:cubicBezTo>
                      <a:pt x="55" y="6"/>
                      <a:pt x="27" y="0"/>
                      <a:pt x="0" y="2"/>
                    </a:cubicBezTo>
                    <a:cubicBezTo>
                      <a:pt x="0" y="10"/>
                      <a:pt x="0" y="10"/>
                      <a:pt x="0" y="10"/>
                    </a:cubicBezTo>
                    <a:cubicBezTo>
                      <a:pt x="27" y="9"/>
                      <a:pt x="55" y="14"/>
                      <a:pt x="76" y="26"/>
                    </a:cubicBezTo>
                    <a:cubicBezTo>
                      <a:pt x="93" y="36"/>
                      <a:pt x="102" y="48"/>
                      <a:pt x="104" y="61"/>
                    </a:cubicBezTo>
                    <a:cubicBezTo>
                      <a:pt x="106" y="45"/>
                      <a:pt x="97" y="30"/>
                      <a:pt x="76" y="18"/>
                    </a:cubicBezTo>
                    <a:close/>
                  </a:path>
                </a:pathLst>
              </a:custGeom>
              <a:solidFill>
                <a:srgbClr val="FDD76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5536"/>
                                        </p:tgtEl>
                                        <p:attrNameLst>
                                          <p:attrName>style.visibility</p:attrName>
                                        </p:attrNameLst>
                                      </p:cBhvr>
                                      <p:to>
                                        <p:strVal val="visible"/>
                                      </p:to>
                                    </p:set>
                                    <p:animEffect transition="in" filter="fade">
                                      <p:cBhvr>
                                        <p:cTn id="7" dur="650"/>
                                        <p:tgtEl>
                                          <p:spTgt spid="65536"/>
                                        </p:tgtEl>
                                      </p:cBhvr>
                                    </p:animEffect>
                                    <p:anim calcmode="lin" valueType="num">
                                      <p:cBhvr>
                                        <p:cTn id="8" dur="650" fill="hold"/>
                                        <p:tgtEl>
                                          <p:spTgt spid="65536"/>
                                        </p:tgtEl>
                                        <p:attrNameLst>
                                          <p:attrName>ppt_x</p:attrName>
                                        </p:attrNameLst>
                                      </p:cBhvr>
                                      <p:tavLst>
                                        <p:tav tm="0">
                                          <p:val>
                                            <p:strVal val="#ppt_x"/>
                                          </p:val>
                                        </p:tav>
                                        <p:tav tm="100000">
                                          <p:val>
                                            <p:strVal val="#ppt_x"/>
                                          </p:val>
                                        </p:tav>
                                      </p:tavLst>
                                    </p:anim>
                                    <p:anim calcmode="lin" valueType="num">
                                      <p:cBhvr>
                                        <p:cTn id="9" dur="650" fill="hold"/>
                                        <p:tgtEl>
                                          <p:spTgt spid="655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隐藏文件</a:t>
            </a:r>
            <a:endParaRPr kumimoji="1" lang="zh-CN" altLang="en-US" sz="5000" b="1" kern="0">
              <a:solidFill>
                <a:srgbClr val="99FF99"/>
              </a:solidFill>
              <a:effectLst>
                <a:outerShdw blurRad="38100" dist="38100" dir="2700000" algn="tl">
                  <a:srgbClr val="000000"/>
                </a:outerShdw>
              </a:effectLst>
            </a:endParaRPr>
          </a:p>
        </p:txBody>
      </p:sp>
      <p:sp>
        <p:nvSpPr>
          <p:cNvPr id="105474" name="Rectangle 3"/>
          <p:cNvSpPr>
            <a:spLocks noGrp="1"/>
          </p:cNvSpPr>
          <p:nvPr>
            <p:ph idx="1"/>
          </p:nvPr>
        </p:nvSpPr>
        <p:spPr>
          <a:xfrm>
            <a:off x="2135188" y="2076450"/>
            <a:ext cx="8229600" cy="4781550"/>
          </a:xfrm>
        </p:spPr>
        <p:txBody>
          <a:bodyPr vert="horz" wrap="square" lIns="91440" tIns="45720" rIns="91440" bIns="45720" anchor="t"/>
          <a:lstStyle/>
          <a:p>
            <a:pPr algn="just" eaLnBrk="1" hangingPunct="1"/>
            <a:r>
              <a:rPr lang="zh-CN" altLang="en-US" b="1" dirty="0"/>
              <a:t>使用简单的</a:t>
            </a:r>
            <a:r>
              <a:rPr lang="en-US" altLang="zh-CN" b="1" dirty="0"/>
              <a:t>DOS</a:t>
            </a:r>
            <a:r>
              <a:rPr lang="zh-CN" altLang="en-US" b="1" dirty="0"/>
              <a:t>命令</a:t>
            </a:r>
            <a:r>
              <a:rPr lang="en-US" altLang="zh-CN" b="1" dirty="0"/>
              <a:t>attrib</a:t>
            </a:r>
            <a:r>
              <a:rPr lang="zh-CN" altLang="en-US" b="1" dirty="0"/>
              <a:t>来隐藏文件</a:t>
            </a:r>
            <a:endParaRPr lang="zh-CN" altLang="en-US" b="1" dirty="0"/>
          </a:p>
          <a:p>
            <a:pPr algn="just" eaLnBrk="1" hangingPunct="1"/>
            <a:endParaRPr lang="zh-CN" altLang="en-US" b="1" dirty="0"/>
          </a:p>
          <a:p>
            <a:pPr eaLnBrk="1" hangingPunct="1"/>
            <a:r>
              <a:rPr lang="zh-CN" altLang="en-US" b="1" dirty="0"/>
              <a:t>例如，为了隐藏文件</a:t>
            </a:r>
            <a:r>
              <a:rPr lang="en-US" altLang="zh-CN" b="1" dirty="0"/>
              <a:t>root.ext</a:t>
            </a:r>
            <a:r>
              <a:rPr lang="zh-CN" altLang="en-US" b="1" dirty="0"/>
              <a:t>，只需执行如下命令：</a:t>
            </a:r>
            <a:endParaRPr lang="zh-CN" altLang="en-US" b="1" dirty="0"/>
          </a:p>
          <a:p>
            <a:pPr eaLnBrk="1" hangingPunct="1"/>
            <a:r>
              <a:rPr lang="en-US" altLang="zh-CN" b="1" dirty="0"/>
              <a:t>C:\winnt\system32\drivers\root&gt; attrib +h root.exe</a:t>
            </a:r>
            <a:endParaRPr lang="en-US" altLang="zh-CN" b="1" dirty="0"/>
          </a:p>
          <a:p>
            <a:pPr eaLnBrk="1" hangingPunct="1"/>
            <a:endParaRPr lang="en-US" altLang="zh-CN" b="1" dirty="0"/>
          </a:p>
          <a:p>
            <a:pPr eaLnBrk="1" hangingPunct="1"/>
            <a:r>
              <a:rPr lang="zh-CN" altLang="en-US" b="1" dirty="0"/>
              <a:t>要隐藏一个目录中的所有文件，使用如下命令：</a:t>
            </a:r>
            <a:endParaRPr lang="zh-CN" altLang="en-US" b="1" dirty="0"/>
          </a:p>
          <a:p>
            <a:pPr eaLnBrk="1" hangingPunct="1"/>
            <a:r>
              <a:rPr lang="en-US" altLang="zh-CN" b="1" dirty="0"/>
              <a:t>C:\winnt\system32\drivers&gt; attrib +h root</a:t>
            </a:r>
            <a:endParaRPr lang="en-US" altLang="zh-CN"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隐藏文件</a:t>
            </a:r>
            <a:endParaRPr kumimoji="1" lang="zh-CN" altLang="en-US" sz="5000" b="1" kern="0">
              <a:solidFill>
                <a:srgbClr val="99FF99"/>
              </a:solidFill>
              <a:effectLst>
                <a:outerShdw blurRad="38100" dist="38100" dir="2700000" algn="tl">
                  <a:srgbClr val="000000"/>
                </a:outerShdw>
              </a:effectLst>
            </a:endParaRPr>
          </a:p>
        </p:txBody>
      </p:sp>
      <p:sp>
        <p:nvSpPr>
          <p:cNvPr id="106498" name="Rectangle 3"/>
          <p:cNvSpPr>
            <a:spLocks noGrp="1"/>
          </p:cNvSpPr>
          <p:nvPr>
            <p:ph idx="1"/>
          </p:nvPr>
        </p:nvSpPr>
        <p:spPr>
          <a:xfrm>
            <a:off x="1981200" y="1600200"/>
            <a:ext cx="8229600" cy="4781550"/>
          </a:xfrm>
        </p:spPr>
        <p:txBody>
          <a:bodyPr vert="horz" wrap="square" lIns="91440" tIns="45720" rIns="91440" bIns="45720" anchor="t"/>
          <a:lstStyle/>
          <a:p>
            <a:pPr algn="just" eaLnBrk="1" hangingPunct="1"/>
            <a:r>
              <a:rPr lang="en-US" altLang="zh-CN" b="1" dirty="0"/>
              <a:t>        </a:t>
            </a:r>
            <a:r>
              <a:rPr lang="en-US" altLang="zh-CN" b="1" dirty="0" smtClean="0"/>
              <a:t>NTFS</a:t>
            </a:r>
            <a:r>
              <a:rPr lang="zh-CN" altLang="en-US" b="1" dirty="0"/>
              <a:t>（</a:t>
            </a:r>
            <a:r>
              <a:rPr lang="en-US" altLang="zh-CN" b="1" dirty="0"/>
              <a:t>Windows NT</a:t>
            </a:r>
            <a:r>
              <a:rPr lang="zh-CN" altLang="en-US" b="1" dirty="0"/>
              <a:t>文件系统）上的所有文件都是以数据流的形式存储的。因此，攻击者可以利用流来隐藏文件。流功能是为了允许为文件添加属性而设计的，例如</a:t>
            </a:r>
            <a:r>
              <a:rPr lang="en-US" altLang="zh-CN" b="1" dirty="0"/>
              <a:t>NT</a:t>
            </a:r>
            <a:r>
              <a:rPr lang="zh-CN" altLang="en-US" b="1" dirty="0"/>
              <a:t>的</a:t>
            </a:r>
            <a:r>
              <a:rPr lang="en-US" altLang="zh-CN" b="1" dirty="0"/>
              <a:t>Macintosh</a:t>
            </a:r>
            <a:r>
              <a:rPr lang="zh-CN" altLang="en-US" b="1" dirty="0"/>
              <a:t>文件兼容功能就要利用它。但不幸的是</a:t>
            </a:r>
            <a:r>
              <a:rPr lang="en-US" altLang="zh-CN" b="1" dirty="0"/>
              <a:t>,</a:t>
            </a:r>
            <a:r>
              <a:rPr lang="zh-CN" altLang="en-US" b="1" dirty="0"/>
              <a:t>这个“功能”也可以被用来隐藏恶意黑客的</a:t>
            </a:r>
            <a:r>
              <a:rPr lang="en-US" altLang="zh-CN" b="1" dirty="0"/>
              <a:t>rootkit</a:t>
            </a:r>
            <a:r>
              <a:rPr lang="zh-CN" altLang="en-US" b="1" dirty="0"/>
              <a:t>文件。</a:t>
            </a:r>
            <a:endParaRPr lang="zh-CN" altLang="en-US" b="1" dirty="0"/>
          </a:p>
          <a:p>
            <a:pPr algn="just" eaLnBrk="1" hangingPunct="1"/>
            <a:r>
              <a:rPr lang="zh-CN" altLang="en-US" b="1" dirty="0"/>
              <a:t>        </a:t>
            </a:r>
            <a:r>
              <a:rPr lang="zh-CN" altLang="en-US" b="1" dirty="0" smtClean="0"/>
              <a:t>为</a:t>
            </a:r>
            <a:r>
              <a:rPr lang="zh-CN" altLang="en-US" b="1" dirty="0"/>
              <a:t>在</a:t>
            </a:r>
            <a:r>
              <a:rPr lang="en-US" altLang="zh-CN" b="1" dirty="0"/>
              <a:t>NTFS</a:t>
            </a:r>
            <a:r>
              <a:rPr lang="zh-CN" altLang="en-US" b="1" dirty="0"/>
              <a:t>流中隐藏文件，需要</a:t>
            </a:r>
            <a:r>
              <a:rPr lang="en-US" altLang="zh-CN" b="1" dirty="0"/>
              <a:t>NT Resource kit</a:t>
            </a:r>
            <a:r>
              <a:rPr lang="zh-CN" altLang="en-US" b="1" dirty="0"/>
              <a:t>中的</a:t>
            </a:r>
            <a:r>
              <a:rPr lang="en-US" altLang="zh-CN" b="1" dirty="0"/>
              <a:t>cp.exe</a:t>
            </a:r>
            <a:r>
              <a:rPr lang="zh-CN" altLang="en-US" b="1" dirty="0"/>
              <a:t>工具。 </a:t>
            </a:r>
            <a:endParaRPr lang="zh-CN" altLang="en-US"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p:cNvSpPr>
          <p:nvPr>
            <p:ph idx="1"/>
          </p:nvPr>
        </p:nvSpPr>
        <p:spPr>
          <a:xfrm>
            <a:off x="1306286" y="1775928"/>
            <a:ext cx="9610530" cy="4543425"/>
          </a:xfrm>
        </p:spPr>
        <p:txBody>
          <a:bodyPr vert="horz" wrap="square" lIns="91440" tIns="45720" rIns="91440" bIns="45720" anchor="t"/>
          <a:lstStyle/>
          <a:p>
            <a:pPr lvl="1" eaLnBrk="1" hangingPunct="1">
              <a:lnSpc>
                <a:spcPct val="90000"/>
              </a:lnSpc>
            </a:pPr>
            <a:r>
              <a:rPr lang="en-US" altLang="zh-CN" b="1" dirty="0"/>
              <a:t>C:\&gt;cp nc.exe \winnt\system32\kernel32.dll:nc.exe</a:t>
            </a:r>
            <a:endParaRPr lang="en-US" altLang="zh-CN" b="1" dirty="0"/>
          </a:p>
          <a:p>
            <a:pPr lvl="1" eaLnBrk="1" hangingPunct="1">
              <a:lnSpc>
                <a:spcPct val="90000"/>
              </a:lnSpc>
            </a:pPr>
            <a:r>
              <a:rPr lang="zh-CN" altLang="en-US" b="1" dirty="0"/>
              <a:t>然后删除原始文件：</a:t>
            </a:r>
            <a:endParaRPr lang="zh-CN" altLang="en-US" b="1" dirty="0"/>
          </a:p>
          <a:p>
            <a:pPr lvl="1" eaLnBrk="1" hangingPunct="1">
              <a:lnSpc>
                <a:spcPct val="90000"/>
              </a:lnSpc>
            </a:pPr>
            <a:r>
              <a:rPr lang="en-US" altLang="zh-CN" b="1" dirty="0"/>
              <a:t>C:\&gt;del nc.exe</a:t>
            </a:r>
            <a:endParaRPr lang="en-US" altLang="zh-CN" b="1" dirty="0"/>
          </a:p>
          <a:p>
            <a:pPr lvl="1" eaLnBrk="1" hangingPunct="1">
              <a:lnSpc>
                <a:spcPct val="90000"/>
              </a:lnSpc>
            </a:pPr>
            <a:r>
              <a:rPr lang="zh-CN" altLang="en-US" b="1" dirty="0"/>
              <a:t>现在文件就从系统中消失了。宿主文件</a:t>
            </a:r>
            <a:r>
              <a:rPr lang="en-US" altLang="zh-CN" b="1" dirty="0"/>
              <a:t>(kernel32.dll)</a:t>
            </a:r>
            <a:r>
              <a:rPr lang="zh-CN" altLang="en-US" b="1" dirty="0"/>
              <a:t>的大小并没有改变。只是硬盘上总的剩余空间减小了。</a:t>
            </a:r>
            <a:endParaRPr lang="zh-CN" altLang="en-US" b="1" dirty="0"/>
          </a:p>
          <a:p>
            <a:pPr eaLnBrk="1" hangingPunct="1">
              <a:lnSpc>
                <a:spcPct val="90000"/>
              </a:lnSpc>
            </a:pPr>
            <a:r>
              <a:rPr lang="zh-CN" altLang="en-US" sz="2400" b="1" dirty="0"/>
              <a:t>       为了从宿主文件中提取寄生文件，仍然使用</a:t>
            </a:r>
            <a:r>
              <a:rPr lang="en-US" altLang="zh-CN" sz="2400" b="1" dirty="0"/>
              <a:t>cp</a:t>
            </a:r>
            <a:r>
              <a:rPr lang="zh-CN" altLang="en-US" sz="2400" b="1" dirty="0"/>
              <a:t>命令：</a:t>
            </a:r>
            <a:endParaRPr lang="zh-CN" altLang="en-US" sz="2400" b="1" dirty="0"/>
          </a:p>
          <a:p>
            <a:pPr lvl="1" eaLnBrk="1" hangingPunct="1">
              <a:lnSpc>
                <a:spcPct val="90000"/>
              </a:lnSpc>
            </a:pPr>
            <a:r>
              <a:rPr lang="en-US" altLang="zh-CN" b="1" dirty="0"/>
              <a:t>C:\cp \winnt\system32\kernel32.dll:nc.exe nc.exe</a:t>
            </a:r>
            <a:endParaRPr lang="en-US" altLang="zh-CN" b="1" dirty="0"/>
          </a:p>
          <a:p>
            <a:pPr lvl="1" eaLnBrk="1" hangingPunct="1">
              <a:lnSpc>
                <a:spcPct val="90000"/>
              </a:lnSpc>
            </a:pPr>
            <a:r>
              <a:rPr lang="zh-CN" altLang="en-US" b="1" dirty="0"/>
              <a:t>因为这是</a:t>
            </a:r>
            <a:r>
              <a:rPr lang="en-US" altLang="zh-CN" b="1" dirty="0"/>
              <a:t>NTFS</a:t>
            </a:r>
            <a:r>
              <a:rPr lang="zh-CN" altLang="en-US" b="1" dirty="0"/>
              <a:t>的一项功能，如果不知情的管理员将这个文件</a:t>
            </a:r>
            <a:r>
              <a:rPr lang="en-US" altLang="zh-CN" b="1" dirty="0"/>
              <a:t>(kernel32.dll)</a:t>
            </a:r>
            <a:r>
              <a:rPr lang="zh-CN" altLang="en-US" b="1" dirty="0"/>
              <a:t>复制到其他的</a:t>
            </a:r>
            <a:r>
              <a:rPr lang="en-US" altLang="zh-CN" b="1" dirty="0"/>
              <a:t>NTFS</a:t>
            </a:r>
            <a:r>
              <a:rPr lang="zh-CN" altLang="en-US" b="1" dirty="0"/>
              <a:t>分区上，寄生的文件会随之移动。</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5000" b="1" kern="0">
                <a:solidFill>
                  <a:srgbClr val="99FF99"/>
                </a:solidFill>
                <a:effectLst>
                  <a:outerShdw blurRad="38100" dist="38100" dir="2700000" algn="tl">
                    <a:srgbClr val="000000"/>
                  </a:outerShdw>
                </a:effectLst>
              </a:rPr>
              <a:t>隐藏文件</a:t>
            </a:r>
            <a:endParaRPr kumimoji="1" lang="zh-CN" altLang="en-US" sz="5000" b="1" kern="0">
              <a:solidFill>
                <a:srgbClr val="99FF99"/>
              </a:solidFill>
              <a:effectLst>
                <a:outerShdw blurRad="38100" dist="38100" dir="2700000" algn="tl">
                  <a:srgbClr val="000000"/>
                </a:outerShdw>
              </a:effectLst>
            </a:endParaRPr>
          </a:p>
        </p:txBody>
      </p:sp>
      <p:sp>
        <p:nvSpPr>
          <p:cNvPr id="108546" name="Rectangle 3"/>
          <p:cNvSpPr>
            <a:spLocks noGrp="1"/>
          </p:cNvSpPr>
          <p:nvPr>
            <p:ph idx="1"/>
          </p:nvPr>
        </p:nvSpPr>
        <p:spPr>
          <a:xfrm>
            <a:off x="1903445" y="2076450"/>
            <a:ext cx="8509517" cy="4781550"/>
          </a:xfrm>
        </p:spPr>
        <p:txBody>
          <a:bodyPr vert="horz" wrap="square" lIns="91440" tIns="45720" rIns="91440" bIns="45720" anchor="t"/>
          <a:lstStyle/>
          <a:p>
            <a:pPr algn="just" eaLnBrk="1" hangingPunct="1"/>
            <a:r>
              <a:rPr lang="en-US" altLang="zh-CN" b="1" dirty="0"/>
              <a:t>        </a:t>
            </a:r>
            <a:r>
              <a:rPr lang="zh-CN" altLang="en-US" b="1" dirty="0" smtClean="0"/>
              <a:t>很多</a:t>
            </a:r>
            <a:r>
              <a:rPr lang="zh-CN" altLang="en-US" b="1" dirty="0"/>
              <a:t>黑客用来隐藏文件的另一项技术是将它们组合到一个自执行的木马程序中，然后将其改名为无害的名称。 </a:t>
            </a:r>
            <a:endParaRPr lang="zh-CN" altLang="en-US" b="1" dirty="0"/>
          </a:p>
          <a:p>
            <a:pPr algn="just" eaLnBrk="1" hangingPunct="1"/>
            <a:r>
              <a:rPr lang="zh-CN" altLang="en-US" b="1" dirty="0"/>
              <a:t>        </a:t>
            </a:r>
            <a:r>
              <a:rPr lang="en-US" altLang="zh-CN" b="1" dirty="0" err="1" smtClean="0"/>
              <a:t>Elitewrap</a:t>
            </a:r>
            <a:r>
              <a:rPr lang="zh-CN" altLang="en-US" b="1" dirty="0"/>
              <a:t>就是一个著名的木马创建工具，它可以将一定数量的文件包装到一个单一的可执行文件中，稍后这个文件可以散布并加以利用。</a:t>
            </a:r>
            <a:endParaRPr lang="zh-CN" altLang="en-US" b="1" dirty="0"/>
          </a:p>
          <a:p>
            <a:pPr algn="just" eaLnBrk="1" hangingPunct="1"/>
            <a:r>
              <a:rPr lang="zh-CN" altLang="en-US" b="1" dirty="0">
                <a:solidFill>
                  <a:srgbClr val="FF0000"/>
                </a:solidFill>
              </a:rPr>
              <a:t>现代局限性</a:t>
            </a:r>
            <a:r>
              <a:rPr lang="en-US" altLang="zh-CN" b="1" dirty="0">
                <a:solidFill>
                  <a:srgbClr val="FF0000"/>
                </a:solidFill>
              </a:rPr>
              <a:t>:Win10/11 + </a:t>
            </a:r>
            <a:r>
              <a:rPr lang="zh-CN" altLang="en-US" b="1" dirty="0">
                <a:solidFill>
                  <a:srgbClr val="FF0000"/>
                </a:solidFill>
              </a:rPr>
              <a:t>新版杀毒、</a:t>
            </a:r>
            <a:r>
              <a:rPr lang="en-US" altLang="zh-CN" b="1" dirty="0">
                <a:solidFill>
                  <a:srgbClr val="FF0000"/>
                </a:solidFill>
              </a:rPr>
              <a:t>EDR </a:t>
            </a:r>
            <a:r>
              <a:rPr lang="zh-CN" altLang="en-US" b="1" dirty="0">
                <a:solidFill>
                  <a:srgbClr val="FF0000"/>
                </a:solidFill>
              </a:rPr>
              <a:t>已针对 </a:t>
            </a:r>
            <a:r>
              <a:rPr lang="en-US" altLang="zh-CN" b="1" dirty="0">
                <a:solidFill>
                  <a:srgbClr val="FF0000"/>
                </a:solidFill>
              </a:rPr>
              <a:t>EliteWrap </a:t>
            </a:r>
            <a:r>
              <a:rPr lang="zh-CN" altLang="en-US" b="1" dirty="0">
                <a:solidFill>
                  <a:srgbClr val="FF0000"/>
                </a:solidFill>
              </a:rPr>
              <a:t>打包特征建立全量拦截，该捆绑器现在几乎无法绕过主流安全软件，黑产已淘汰，改用 </a:t>
            </a:r>
            <a:r>
              <a:rPr lang="en-US" altLang="zh-CN" b="1" dirty="0">
                <a:solidFill>
                  <a:srgbClr val="FF0000"/>
                </a:solidFill>
              </a:rPr>
              <a:t>Shellter、Donut </a:t>
            </a:r>
            <a:r>
              <a:rPr lang="zh-CN" altLang="en-US" b="1" dirty="0">
                <a:solidFill>
                  <a:srgbClr val="FF0000"/>
                </a:solidFill>
              </a:rPr>
              <a:t>进程注入等新型免杀方案。</a:t>
            </a:r>
            <a:endParaRPr lang="zh-CN" altLang="en-US"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3268345" y="1981200"/>
            <a:ext cx="5654675" cy="4114800"/>
          </a:xfrm>
          <a:prstGeom prst="rect">
            <a:avLst/>
          </a:prstGeom>
        </p:spPr>
      </p:pic>
      <p:pic>
        <p:nvPicPr>
          <p:cNvPr id="5" name="图片 4"/>
          <p:cNvPicPr>
            <a:picLocks noChangeAspect="1"/>
          </p:cNvPicPr>
          <p:nvPr/>
        </p:nvPicPr>
        <p:blipFill>
          <a:blip r:embed="rId1"/>
          <a:stretch>
            <a:fillRect/>
          </a:stretch>
        </p:blipFill>
        <p:spPr>
          <a:xfrm>
            <a:off x="644525" y="393700"/>
            <a:ext cx="10796905" cy="619887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649605" y="469265"/>
            <a:ext cx="10754995" cy="611441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768350" y="469265"/>
            <a:ext cx="10401935" cy="595185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1992313" y="1700213"/>
            <a:ext cx="8229600" cy="3240088"/>
          </a:xfrm>
        </p:spPr>
        <p:txBody>
          <a:bodyPr vert="horz" wrap="square" lIns="92075" tIns="46038" rIns="92075" bIns="46038" numCol="1" anchor="ctr" anchorCtr="0" compatLnSpc="1"/>
          <a:lstStyle/>
          <a:p>
            <a:pPr algn="ctr" fontAlgn="base">
              <a:lnSpc>
                <a:spcPct val="100000"/>
              </a:lnSpc>
              <a:spcAft>
                <a:spcPct val="0"/>
              </a:spcAft>
              <a:defRPr/>
            </a:pPr>
            <a:r>
              <a:rPr kumimoji="1" lang="zh-CN" altLang="en-US" sz="15000" b="1" kern="0">
                <a:solidFill>
                  <a:schemeClr val="hlink"/>
                </a:solidFill>
                <a:effectLst>
                  <a:outerShdw blurRad="38100" dist="38100" dir="2700000" algn="tl">
                    <a:srgbClr val="000000"/>
                  </a:outerShdw>
                </a:effectLst>
              </a:rPr>
              <a:t>谢 谢</a:t>
            </a:r>
            <a:endParaRPr kumimoji="1" lang="zh-CN" altLang="en-US" sz="15000" b="1" kern="0">
              <a:solidFill>
                <a:schemeClr val="hlink"/>
              </a:solidFill>
              <a:effectLst>
                <a:outerShdw blurRad="38100" dist="38100" dir="2700000" algn="tl">
                  <a:srgbClr val="000000"/>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ISLIDE.VECTOR" val="28b0fd0e-7ece-4f48-881a-83c93b08799b"/>
</p:tagLst>
</file>

<file path=ppt/tags/tag2.xml><?xml version="1.0" encoding="utf-8"?>
<p:tagLst xmlns:p="http://schemas.openxmlformats.org/presentationml/2006/main">
  <p:tag name="ISLIDE.VECTOR" val="28b0fd0e-7ece-4f48-881a-83c93b08799b"/>
</p:tagLst>
</file>

<file path=ppt/tags/tag3.xml><?xml version="1.0" encoding="utf-8"?>
<p:tagLst xmlns:p="http://schemas.openxmlformats.org/presentationml/2006/main">
  <p:tag name="ISLIDE.VECTOR" val="28b0fd0e-7ece-4f48-881a-83c93b08799b"/>
</p:tagLst>
</file>

<file path=ppt/tags/tag4.xml><?xml version="1.0" encoding="utf-8"?>
<p:tagLst xmlns:p="http://schemas.openxmlformats.org/presentationml/2006/main">
  <p:tag name="ISLIDE.VECTOR" val="28b0fd0e-7ece-4f48-881a-83c93b08799b"/>
</p:tagLst>
</file>

<file path=ppt/tags/tag5.xml><?xml version="1.0" encoding="utf-8"?>
<p:tagLst xmlns:p="http://schemas.openxmlformats.org/presentationml/2006/main">
  <p:tag name="KSO_WM_UNIT_TABLE_BEAUTIFY" val="smartTable{8a5f5bad-4327-4ae0-bfae-9469658059f0}"/>
</p:tagLst>
</file>

<file path=ppt/tags/tag6.xml><?xml version="1.0" encoding="utf-8"?>
<p:tagLst xmlns:p="http://schemas.openxmlformats.org/presentationml/2006/main">
  <p:tag name="ISLIDE.VECTOR" val="28b0fd0e-7ece-4f48-881a-83c93b08799b"/>
</p:tagLst>
</file>

<file path=ppt/tags/tag7.xml><?xml version="1.0" encoding="utf-8"?>
<p:tagLst xmlns:p="http://schemas.openxmlformats.org/presentationml/2006/main">
  <p:tag name="ISLIDE.VECTOR" val="28b0fd0e-7ece-4f48-881a-83c93b08799b"/>
</p:tagLst>
</file>

<file path=ppt/tags/tag8.xml><?xml version="1.0" encoding="utf-8"?>
<p:tagLst xmlns:p="http://schemas.openxmlformats.org/presentationml/2006/main">
  <p:tag name="ISLIDE.VECTOR" val="28b0fd0e-7ece-4f48-881a-83c93b08799b"/>
</p:tagLst>
</file>

<file path=ppt/tags/tag9.xml><?xml version="1.0" encoding="utf-8"?>
<p:tagLst xmlns:p="http://schemas.openxmlformats.org/presentationml/2006/main">
  <p:tag name="ISLIDE.VECTOR" val="28b0fd0e-7ece-4f48-881a-83c93b08799b"/>
</p:tagLst>
</file>

<file path=ppt/tags/tag10.xml><?xml version="1.0" encoding="utf-8"?>
<p:tagLst xmlns:p="http://schemas.openxmlformats.org/presentationml/2006/main">
  <p:tag name="ISLIDE.VECTOR" val="28b0fd0e-7ece-4f48-881a-83c93b08799b"/>
</p:tagLst>
</file>

<file path=ppt/tags/tag11.xml><?xml version="1.0" encoding="utf-8"?>
<p:tagLst xmlns:p="http://schemas.openxmlformats.org/presentationml/2006/main">
  <p:tag name="COMMONDATA" val="eyJoZGlkIjoiMzA1MzljY2Y4ZTIwNzk1OWIzMzdhZjMwODJlM2M5MWEifQ=="/>
  <p:tag name="KSO_WPP_MARK_KEY" val="a91fcb9b-de16-4d1c-9f9e-b6a8bb5493b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13439</Words>
  <Application>WPS 演示</Application>
  <PresentationFormat>宽屏</PresentationFormat>
  <Paragraphs>497</Paragraphs>
  <Slides>88</Slides>
  <Notes>4</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88</vt:i4>
      </vt:variant>
    </vt:vector>
  </HeadingPairs>
  <TitlesOfParts>
    <vt:vector size="105" baseType="lpstr">
      <vt:lpstr>Arial</vt:lpstr>
      <vt:lpstr>宋体</vt:lpstr>
      <vt:lpstr>Wingdings</vt:lpstr>
      <vt:lpstr>Times New Roman</vt:lpstr>
      <vt:lpstr>黑体</vt:lpstr>
      <vt:lpstr>华文行楷</vt:lpstr>
      <vt:lpstr>Wingdings</vt:lpstr>
      <vt:lpstr>思源黑体 CN Heavy</vt:lpstr>
      <vt:lpstr>微软雅黑 Light</vt:lpstr>
      <vt:lpstr>思源黑体 CN Normal</vt:lpstr>
      <vt:lpstr>微软雅黑</vt:lpstr>
      <vt:lpstr>Arial Unicode MS</vt:lpstr>
      <vt:lpstr>等线</vt:lpstr>
      <vt:lpstr>KSOFBD28ECAF</vt:lpstr>
      <vt:lpstr>Courant</vt:lpstr>
      <vt:lpstr>Office 主题​​</vt:lpstr>
      <vt:lpstr>Word.Picture.8</vt:lpstr>
      <vt:lpstr>第4章 网络攻击（二）  </vt:lpstr>
      <vt:lpstr>主要内容</vt:lpstr>
      <vt:lpstr>主要内容</vt:lpstr>
      <vt:lpstr>PowerPoint 演示文稿</vt:lpstr>
      <vt:lpstr>控制利用类攻击</vt:lpstr>
      <vt:lpstr>控制利用类攻击</vt:lpstr>
      <vt:lpstr>PowerPoint 演示文稿</vt:lpstr>
      <vt:lpstr>战争起因</vt:lpstr>
      <vt:lpstr>战争经过</vt:lpstr>
      <vt:lpstr>PowerPoint 演示文稿</vt:lpstr>
      <vt:lpstr>PowerPoint 演示文稿</vt:lpstr>
      <vt:lpstr>特洛伊木马的基本概念</vt:lpstr>
      <vt:lpstr>特洛伊木马的基本概念</vt:lpstr>
      <vt:lpstr>PowerPoint 演示文稿</vt:lpstr>
      <vt:lpstr>隐蔽通信端口</vt:lpstr>
      <vt:lpstr>寄生</vt:lpstr>
      <vt:lpstr>潜伏</vt:lpstr>
      <vt:lpstr>其他</vt:lpstr>
      <vt:lpstr>隐藏进程</vt:lpstr>
      <vt:lpstr>获取权限</vt:lpstr>
      <vt:lpstr>获取权限</vt:lpstr>
      <vt:lpstr>穿透防火墙</vt:lpstr>
      <vt:lpstr>穿透防火墙</vt:lpstr>
      <vt:lpstr>更加隐蔽的加载方式</vt:lpstr>
      <vt:lpstr>PowerPoint 演示文稿</vt:lpstr>
      <vt:lpstr>PowerPoint 演示文稿</vt:lpstr>
      <vt:lpstr>软破坏类攻击</vt:lpstr>
      <vt:lpstr>PowerPoint 演示文稿</vt:lpstr>
      <vt:lpstr>什么是蠕虫?</vt:lpstr>
      <vt:lpstr>蠕虫程序</vt:lpstr>
      <vt:lpstr>蠕虫程序</vt:lpstr>
      <vt:lpstr>蠕虫程序</vt:lpstr>
      <vt:lpstr>蠕虫程序</vt:lpstr>
      <vt:lpstr>蠕虫程序</vt:lpstr>
      <vt:lpstr>蠕虫程序</vt:lpstr>
      <vt:lpstr>蠕虫程序</vt:lpstr>
      <vt:lpstr>网络病毒</vt:lpstr>
      <vt:lpstr>网络病毒特点</vt:lpstr>
      <vt:lpstr>常见网络病毒</vt:lpstr>
      <vt:lpstr>PowerPoint 演示文稿</vt:lpstr>
      <vt:lpstr>拒绝服务</vt:lpstr>
      <vt:lpstr>TCP SYN洪泛攻击</vt:lpstr>
      <vt:lpstr>TCP SYN洪泛攻击</vt:lpstr>
      <vt:lpstr>Land攻击</vt:lpstr>
      <vt:lpstr>Smurf攻击</vt:lpstr>
      <vt:lpstr>IP碎片攻击</vt:lpstr>
      <vt:lpstr>IP数据包首部结构示意图</vt:lpstr>
      <vt:lpstr>IP碎片攻击</vt:lpstr>
      <vt:lpstr>IP碎片攻击实例</vt:lpstr>
      <vt:lpstr>分布式拒绝服务攻击</vt:lpstr>
      <vt:lpstr>分布式拒绝服务攻击</vt:lpstr>
      <vt:lpstr>分布式拒绝服务攻击原理</vt:lpstr>
      <vt:lpstr>分布式拒绝服务攻击原理</vt:lpstr>
      <vt:lpstr>分布式拒绝服务攻击步骤</vt:lpstr>
      <vt:lpstr>常见的DDOS攻击工具</vt:lpstr>
      <vt:lpstr>DDoS的防范</vt:lpstr>
      <vt:lpstr>PowerPoint 演示文稿</vt:lpstr>
      <vt:lpstr>路由器攻击主要技术1</vt:lpstr>
      <vt:lpstr>路由器攻击主要技术2</vt:lpstr>
      <vt:lpstr>路由器攻击主要技术3</vt:lpstr>
      <vt:lpstr>重定向攻击</vt:lpstr>
      <vt:lpstr>制造拒绝服务攻击</vt:lpstr>
      <vt:lpstr>路由器攻击防护</vt:lpstr>
      <vt:lpstr>加强访问控制</vt:lpstr>
      <vt:lpstr>加强访问控制</vt:lpstr>
      <vt:lpstr>PowerPoint 演示文稿</vt:lpstr>
      <vt:lpstr>逻辑炸弹</vt:lpstr>
      <vt:lpstr>PowerPoint 演示文稿</vt:lpstr>
      <vt:lpstr>4.8 消除入侵踪迹</vt:lpstr>
      <vt:lpstr>消除入侵踪迹</vt:lpstr>
      <vt:lpstr>PowerPoint 演示文稿</vt:lpstr>
      <vt:lpstr>禁用审计</vt:lpstr>
      <vt:lpstr>PowerPoint 演示文稿</vt:lpstr>
      <vt:lpstr>清除日志</vt:lpstr>
      <vt:lpstr>清除日志</vt:lpstr>
      <vt:lpstr>清除日志</vt:lpstr>
      <vt:lpstr>PowerPoint 演示文稿</vt:lpstr>
      <vt:lpstr>PowerPoint 演示文稿</vt:lpstr>
      <vt:lpstr>PowerPoint 演示文稿</vt:lpstr>
      <vt:lpstr>PowerPoint 演示文稿</vt:lpstr>
      <vt:lpstr>隐藏文件</vt:lpstr>
      <vt:lpstr>隐藏文件</vt:lpstr>
      <vt:lpstr>PowerPoint 演示文稿</vt:lpstr>
      <vt:lpstr>隐藏文件</vt:lpstr>
      <vt:lpstr>PowerPoint 演示文稿</vt:lpstr>
      <vt:lpstr>PowerPoint 演示文稿</vt:lpstr>
      <vt:lpstr>PowerPoint 演示文稿</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157</cp:revision>
  <dcterms:created xsi:type="dcterms:W3CDTF">2019-09-27T01:23:00Z</dcterms:created>
  <dcterms:modified xsi:type="dcterms:W3CDTF">2026-06-02T13:35:44Z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B0940C6C69804D8F9AC251B87B6CECFE</vt:lpwstr>
  </property>
</Properties>
</file>