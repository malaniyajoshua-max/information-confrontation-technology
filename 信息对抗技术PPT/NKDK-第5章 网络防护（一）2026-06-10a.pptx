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26"/>
  </p:handoutMasterIdLst>
  <p:sldIdLst>
    <p:sldId id="294" r:id="rId3"/>
    <p:sldId id="258" r:id="rId4"/>
    <p:sldId id="295" r:id="rId6"/>
    <p:sldId id="376" r:id="rId7"/>
    <p:sldId id="366" r:id="rId8"/>
    <p:sldId id="367" r:id="rId9"/>
    <p:sldId id="368" r:id="rId10"/>
    <p:sldId id="369" r:id="rId11"/>
    <p:sldId id="370" r:id="rId12"/>
    <p:sldId id="371" r:id="rId13"/>
    <p:sldId id="372" r:id="rId14"/>
    <p:sldId id="373" r:id="rId15"/>
    <p:sldId id="374" r:id="rId16"/>
    <p:sldId id="375" r:id="rId17"/>
    <p:sldId id="497" r:id="rId18"/>
    <p:sldId id="498" r:id="rId19"/>
    <p:sldId id="499" r:id="rId20"/>
    <p:sldId id="500" r:id="rId21"/>
    <p:sldId id="501" r:id="rId22"/>
    <p:sldId id="502" r:id="rId23"/>
    <p:sldId id="503" r:id="rId24"/>
    <p:sldId id="504" r:id="rId25"/>
    <p:sldId id="505" r:id="rId26"/>
    <p:sldId id="506" r:id="rId27"/>
    <p:sldId id="507" r:id="rId28"/>
    <p:sldId id="508" r:id="rId29"/>
    <p:sldId id="509" r:id="rId30"/>
    <p:sldId id="510" r:id="rId31"/>
    <p:sldId id="511" r:id="rId32"/>
    <p:sldId id="729" r:id="rId33"/>
    <p:sldId id="381" r:id="rId34"/>
    <p:sldId id="382" r:id="rId35"/>
    <p:sldId id="383" r:id="rId36"/>
    <p:sldId id="384" r:id="rId37"/>
    <p:sldId id="385" r:id="rId38"/>
    <p:sldId id="386" r:id="rId39"/>
    <p:sldId id="387" r:id="rId40"/>
    <p:sldId id="388" r:id="rId41"/>
    <p:sldId id="389" r:id="rId42"/>
    <p:sldId id="390" r:id="rId43"/>
    <p:sldId id="391" r:id="rId44"/>
    <p:sldId id="392" r:id="rId45"/>
    <p:sldId id="393" r:id="rId46"/>
    <p:sldId id="394" r:id="rId47"/>
    <p:sldId id="395" r:id="rId48"/>
    <p:sldId id="396" r:id="rId49"/>
    <p:sldId id="397" r:id="rId50"/>
    <p:sldId id="398" r:id="rId51"/>
    <p:sldId id="399" r:id="rId52"/>
    <p:sldId id="401" r:id="rId53"/>
    <p:sldId id="402" r:id="rId54"/>
    <p:sldId id="404" r:id="rId55"/>
    <p:sldId id="407" r:id="rId56"/>
    <p:sldId id="410" r:id="rId57"/>
    <p:sldId id="412" r:id="rId58"/>
    <p:sldId id="414" r:id="rId59"/>
    <p:sldId id="415" r:id="rId60"/>
    <p:sldId id="416" r:id="rId61"/>
    <p:sldId id="417" r:id="rId62"/>
    <p:sldId id="418" r:id="rId63"/>
    <p:sldId id="419" r:id="rId64"/>
    <p:sldId id="420" r:id="rId65"/>
    <p:sldId id="421" r:id="rId66"/>
    <p:sldId id="422" r:id="rId67"/>
    <p:sldId id="423" r:id="rId68"/>
    <p:sldId id="424" r:id="rId69"/>
    <p:sldId id="425" r:id="rId70"/>
    <p:sldId id="426" r:id="rId71"/>
    <p:sldId id="730" r:id="rId72"/>
    <p:sldId id="449" r:id="rId73"/>
    <p:sldId id="451" r:id="rId74"/>
    <p:sldId id="453" r:id="rId75"/>
    <p:sldId id="454" r:id="rId76"/>
    <p:sldId id="455" r:id="rId77"/>
    <p:sldId id="456" r:id="rId78"/>
    <p:sldId id="457" r:id="rId79"/>
    <p:sldId id="458" r:id="rId80"/>
    <p:sldId id="459" r:id="rId81"/>
    <p:sldId id="460" r:id="rId82"/>
    <p:sldId id="461" r:id="rId83"/>
    <p:sldId id="462" r:id="rId84"/>
    <p:sldId id="731" r:id="rId85"/>
    <p:sldId id="464" r:id="rId86"/>
    <p:sldId id="467" r:id="rId87"/>
    <p:sldId id="468" r:id="rId88"/>
    <p:sldId id="469" r:id="rId89"/>
    <p:sldId id="470" r:id="rId90"/>
    <p:sldId id="471" r:id="rId91"/>
    <p:sldId id="472" r:id="rId92"/>
    <p:sldId id="473" r:id="rId93"/>
    <p:sldId id="474" r:id="rId94"/>
    <p:sldId id="475" r:id="rId95"/>
    <p:sldId id="476" r:id="rId96"/>
    <p:sldId id="477" r:id="rId97"/>
    <p:sldId id="478" r:id="rId98"/>
    <p:sldId id="479" r:id="rId99"/>
    <p:sldId id="480" r:id="rId100"/>
    <p:sldId id="481" r:id="rId101"/>
    <p:sldId id="482" r:id="rId102"/>
    <p:sldId id="483" r:id="rId103"/>
    <p:sldId id="484" r:id="rId104"/>
    <p:sldId id="732" r:id="rId105"/>
    <p:sldId id="514" r:id="rId106"/>
    <p:sldId id="515" r:id="rId107"/>
    <p:sldId id="516" r:id="rId108"/>
    <p:sldId id="517" r:id="rId109"/>
    <p:sldId id="518" r:id="rId110"/>
    <p:sldId id="519" r:id="rId111"/>
    <p:sldId id="520" r:id="rId112"/>
    <p:sldId id="521" r:id="rId113"/>
    <p:sldId id="522" r:id="rId114"/>
    <p:sldId id="523" r:id="rId115"/>
    <p:sldId id="733" r:id="rId116"/>
    <p:sldId id="592" r:id="rId117"/>
    <p:sldId id="593" r:id="rId118"/>
    <p:sldId id="594" r:id="rId119"/>
    <p:sldId id="595" r:id="rId120"/>
    <p:sldId id="596" r:id="rId121"/>
    <p:sldId id="597" r:id="rId122"/>
    <p:sldId id="598" r:id="rId123"/>
    <p:sldId id="599" r:id="rId124"/>
    <p:sldId id="728" r:id="rId125"/>
  </p:sldIdLst>
  <p:sldSz cx="12192000" cy="6858000"/>
  <p:notesSz cx="6858000" cy="9144000"/>
  <p:custDataLst>
    <p:tags r:id="rId1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9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3EE"/>
    <a:srgbClr val="1F4E79"/>
    <a:srgbClr val="E3C9F7"/>
    <a:srgbClr val="6E0876"/>
    <a:srgbClr val="731AB6"/>
    <a:srgbClr val="740A47"/>
    <a:srgbClr val="720C4E"/>
    <a:srgbClr val="700E54"/>
    <a:srgbClr val="881DB3"/>
    <a:srgbClr val="FEE4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96" autoAdjust="0"/>
    <p:restoredTop sz="72584" autoAdjust="0"/>
  </p:normalViewPr>
  <p:slideViewPr>
    <p:cSldViewPr snapToGrid="0" showGuides="1">
      <p:cViewPr varScale="1">
        <p:scale>
          <a:sx n="49" d="100"/>
          <a:sy n="49" d="100"/>
        </p:scale>
        <p:origin x="942" y="48"/>
      </p:cViewPr>
      <p:guideLst>
        <p:guide orient="horz" pos="2137"/>
        <p:guide pos="3912"/>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0" Type="http://schemas.openxmlformats.org/officeDocument/2006/relationships/tags" Target="tags/tag45.xml"/><Relationship Id="rId13" Type="http://schemas.openxmlformats.org/officeDocument/2006/relationships/slide" Target="slides/slide10.xml"/><Relationship Id="rId129" Type="http://schemas.openxmlformats.org/officeDocument/2006/relationships/tableStyles" Target="tableStyles.xml"/><Relationship Id="rId128" Type="http://schemas.openxmlformats.org/officeDocument/2006/relationships/viewProps" Target="viewProps.xml"/><Relationship Id="rId127" Type="http://schemas.openxmlformats.org/officeDocument/2006/relationships/presProps" Target="presProps.xml"/><Relationship Id="rId126" Type="http://schemas.openxmlformats.org/officeDocument/2006/relationships/handoutMaster" Target="handoutMasters/handoutMaster1.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13D94-3B84-4F7C-A457-BAB026D08DB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4C284-C97B-4A78-9B6C-3354FD79A64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smtClean="0">
                <a:latin typeface="宋体" panose="02010600030101010101" pitchFamily="2" charset="-122"/>
              </a:rPr>
              <a:t> </a:t>
            </a:r>
            <a:r>
              <a:rPr lang="zh-CN" altLang="en-US" dirty="0" smtClean="0">
                <a:latin typeface="宋体" panose="02010600030101010101" pitchFamily="2" charset="-122"/>
              </a:rPr>
              <a:t>本章介绍了网络主动防御的总体框架、纵深防御的策略和网络边界防护的各种技术措施。网络边界安全防护技术是用于解决内部网络与外部网络交界（接口）处的安全技术，各种用于网络边界安全防护设备或手段因解决各种防护需要而被创造出来。</a:t>
            </a:r>
            <a:r>
              <a:rPr lang="zh-CN" altLang="en-US" dirty="0" smtClean="0"/>
              <a:t> </a:t>
            </a:r>
            <a:endParaRPr lang="en-US" altLang="zh-CN" dirty="0" smtClean="0"/>
          </a:p>
          <a:p>
            <a:r>
              <a:rPr lang="en-US" altLang="zh-CN" dirty="0" smtClean="0">
                <a:latin typeface="宋体" panose="02010600030101010101" pitchFamily="2" charset="-122"/>
              </a:rPr>
              <a:t>    </a:t>
            </a:r>
            <a:r>
              <a:rPr lang="zh-CN" altLang="en-US" dirty="0" smtClean="0">
                <a:latin typeface="宋体" panose="02010600030101010101" pitchFamily="2" charset="-122"/>
              </a:rPr>
              <a:t>例如，由于可能存在来自外部网络的入侵，所以具有包过滤功能的路由器、防火墙、入侵检测系统（</a:t>
            </a:r>
            <a:r>
              <a:rPr lang="en-US" altLang="zh-CN" dirty="0" smtClean="0"/>
              <a:t>IDS</a:t>
            </a:r>
            <a:r>
              <a:rPr lang="zh-CN" altLang="en-US" dirty="0" smtClean="0">
                <a:latin typeface="宋体" panose="02010600030101010101" pitchFamily="2" charset="-122"/>
              </a:rPr>
              <a:t>）以及入侵诱骗等设备与技术都应运而生；为了保护信息传输的安全性，虚拟专网（</a:t>
            </a:r>
            <a:r>
              <a:rPr lang="en-US" altLang="zh-CN" dirty="0" smtClean="0"/>
              <a:t>VPN</a:t>
            </a:r>
            <a:r>
              <a:rPr lang="zh-CN" altLang="en-US" dirty="0" smtClean="0">
                <a:latin typeface="宋体" panose="02010600030101010101" pitchFamily="2" charset="-122"/>
              </a:rPr>
              <a:t>）和各种安全传输协议（如</a:t>
            </a:r>
            <a:r>
              <a:rPr lang="en-US" altLang="zh-CN" dirty="0" smtClean="0"/>
              <a:t>SSL</a:t>
            </a:r>
            <a:r>
              <a:rPr lang="zh-CN" altLang="en-US" dirty="0" smtClean="0">
                <a:latin typeface="宋体" panose="02010600030101010101" pitchFamily="2" charset="-122"/>
              </a:rPr>
              <a:t>、</a:t>
            </a:r>
            <a:r>
              <a:rPr lang="en-US" altLang="zh-CN" dirty="0" err="1" smtClean="0"/>
              <a:t>IPSec</a:t>
            </a:r>
            <a:r>
              <a:rPr lang="zh-CN" altLang="en-US" dirty="0" smtClean="0">
                <a:latin typeface="宋体" panose="02010600030101010101" pitchFamily="2" charset="-122"/>
              </a:rPr>
              <a:t>）也被创造出来。</a:t>
            </a:r>
            <a:r>
              <a:rPr lang="zh-CN" altLang="en-US" dirty="0" smtClean="0"/>
              <a:t> </a:t>
            </a:r>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showMasterPhAnim="0">
  <p:cSld name="1_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4101" name="标题 4100"/>
          <p:cNvSpPr>
            <a:spLocks noGrp="1"/>
          </p:cNvSpPr>
          <p:nvPr>
            <p:ph type="ctrTitle" sz="quarter"/>
          </p:nvPr>
        </p:nvSpPr>
        <p:spPr>
          <a:xfrm>
            <a:off x="1725084" y="762000"/>
            <a:ext cx="10363200" cy="1143000"/>
          </a:xfrm>
          <a:prstGeom prst="rect">
            <a:avLst/>
          </a:prstGeom>
          <a:noFill/>
          <a:ln w="9525">
            <a:noFill/>
          </a:ln>
        </p:spPr>
        <p:txBody>
          <a:bodyPr lIns="92075" tIns="46038" rIns="92075" bIns="46038" anchor="b"/>
          <a:lstStyle>
            <a:lvl1pPr lvl="0">
              <a:defRPr/>
            </a:lvl1pPr>
          </a:lstStyle>
          <a:p>
            <a:pPr lvl="0" fontAlgn="base"/>
            <a:r>
              <a:rPr lang="zh-CN" altLang="en-US" strike="noStrike" noProof="1"/>
              <a:t>单击此处编辑母版标题样式</a:t>
            </a:r>
            <a:endParaRPr lang="zh-CN" altLang="en-US" strike="noStrike" noProof="1"/>
          </a:p>
        </p:txBody>
      </p:sp>
      <p:sp>
        <p:nvSpPr>
          <p:cNvPr id="4102" name="副标题 4101"/>
          <p:cNvSpPr>
            <a:spLocks noGrp="1"/>
          </p:cNvSpPr>
          <p:nvPr>
            <p:ph type="subTitle" sz="quarter" idx="1"/>
          </p:nvPr>
        </p:nvSpPr>
        <p:spPr>
          <a:xfrm>
            <a:off x="914400" y="3429000"/>
            <a:ext cx="8534400" cy="1752600"/>
          </a:xfrm>
          <a:prstGeom prst="rect">
            <a:avLst/>
          </a:prstGeom>
          <a:noFill/>
          <a:ln w="9525">
            <a:noFill/>
          </a:ln>
        </p:spPr>
        <p:txBody>
          <a:bodyPr lIns="92075" tIns="46038" rIns="92075" bIns="46038" anchor="ctr"/>
          <a:lstStyle>
            <a:lvl1pPr marL="0" lvl="0" indent="0" algn="ctr">
              <a:buNone/>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fontAlgn="base"/>
            <a:r>
              <a:rPr lang="zh-CN" altLang="en-US" strike="noStrike" noProof="1"/>
              <a:t>单击此处编辑母版副标题样式</a:t>
            </a:r>
            <a:endParaRPr lang="zh-CN" altLang="en-US" strike="noStrike" noProof="1"/>
          </a:p>
        </p:txBody>
      </p:sp>
      <p:sp>
        <p:nvSpPr>
          <p:cNvPr id="4103" name="日期占位符 4102"/>
          <p:cNvSpPr>
            <a:spLocks noGrp="1"/>
          </p:cNvSpPr>
          <p:nvPr>
            <p:ph type="dt" sz="quarter" idx="2"/>
          </p:nvPr>
        </p:nvSpPr>
        <p:spPr>
          <a:xfrm>
            <a:off x="914400" y="6248400"/>
            <a:ext cx="2540000" cy="457200"/>
          </a:xfrm>
          <a:prstGeom prst="rect">
            <a:avLst/>
          </a:prstGeom>
          <a:noFill/>
          <a:ln w="9525">
            <a:noFill/>
          </a:ln>
        </p:spPr>
        <p:txBody>
          <a:bodyPr lIns="92075" tIns="46038" rIns="92075" bIns="46038" anchor="ctr"/>
          <a:lstStyle/>
          <a:p>
            <a:pPr fontAlgn="base"/>
            <a:fld id="{BB962C8B-B14F-4D97-AF65-F5344CB8AC3E}" type="datetime1">
              <a:rPr lang="zh-CN" altLang="en-US" strike="noStrike" noProof="1" dirty="0">
                <a:latin typeface="Times New Roman" panose="02020603050405020304" pitchFamily="18" charset="0"/>
                <a:ea typeface="宋体" panose="02010600030101010101" pitchFamily="2" charset="-122"/>
                <a:cs typeface="+mn-ea"/>
              </a:rPr>
            </a:fld>
            <a:endParaRPr lang="zh-CN" altLang="en-US" strike="noStrike" noProof="1"/>
          </a:p>
        </p:txBody>
      </p:sp>
      <p:sp>
        <p:nvSpPr>
          <p:cNvPr id="4104" name="页脚占位符 4103"/>
          <p:cNvSpPr>
            <a:spLocks noGrp="1"/>
          </p:cNvSpPr>
          <p:nvPr>
            <p:ph type="ftr" sz="quarter" idx="3"/>
          </p:nvPr>
        </p:nvSpPr>
        <p:spPr>
          <a:xfrm>
            <a:off x="4165600" y="6248400"/>
            <a:ext cx="3860800" cy="457200"/>
          </a:xfrm>
          <a:prstGeom prst="rect">
            <a:avLst/>
          </a:prstGeom>
          <a:noFill/>
          <a:ln w="9525">
            <a:noFill/>
          </a:ln>
        </p:spPr>
        <p:txBody>
          <a:bodyPr lIns="92075" tIns="46038" rIns="92075" bIns="46038" anchor="ctr"/>
          <a:lstStyle/>
          <a:p>
            <a:pPr fontAlgn="base"/>
            <a:endParaRPr lang="zh-CN" strike="noStrike" noProof="1"/>
          </a:p>
        </p:txBody>
      </p:sp>
      <p:sp>
        <p:nvSpPr>
          <p:cNvPr id="4105" name="灯片编号占位符 4104"/>
          <p:cNvSpPr>
            <a:spLocks noGrp="1"/>
          </p:cNvSpPr>
          <p:nvPr>
            <p:ph type="sldNum" sz="quarter" idx="4"/>
          </p:nvPr>
        </p:nvSpPr>
        <p:spPr>
          <a:xfrm>
            <a:off x="8737600" y="6248400"/>
            <a:ext cx="2540000" cy="457200"/>
          </a:xfrm>
          <a:prstGeom prst="rect">
            <a:avLst/>
          </a:prstGeom>
          <a:noFill/>
          <a:ln w="9525">
            <a:noFill/>
          </a:ln>
        </p:spPr>
        <p:txBody>
          <a:bodyPr lIns="92075" tIns="46038" rIns="92075" bIns="46038" anchor="ctr"/>
          <a:lstStyle/>
          <a:p>
            <a:pPr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fld>
            <a:endParaRPr lang="zh-CN" strike="noStrike" noProof="1"/>
          </a:p>
        </p:txBody>
      </p:sp>
    </p:spTree>
  </p:cSld>
  <p:clrMapOvr>
    <a:masterClrMapping/>
  </p:clrMapOvr>
  <p:timing>
    <p:tnLst>
      <p:par>
        <p:cTn id="1" dur="indefinite" restart="never" nodeType="tmRoot"/>
      </p:par>
    </p:tn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1_标题和内容">
    <p:bg>
      <p:bgPr>
        <a:blipFill>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lvl1pPr>
              <a:defRPr sz="36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a:xfrm>
            <a:off x="914400" y="6248400"/>
            <a:ext cx="2540000" cy="457200"/>
          </a:xfrm>
          <a:prstGeom prst="rect">
            <a:avLst/>
          </a:prstGeom>
          <a:noFill/>
          <a:ln w="9525">
            <a:noFill/>
          </a:ln>
        </p:spPr>
        <p:txBody>
          <a:bodyPr lIns="92075" tIns="46038" rIns="92075" bIns="46038" anchor="ctr"/>
          <a:lstStyle/>
          <a:p>
            <a:pPr lvl="0" fontAlgn="base"/>
            <a:endParaRPr lang="zh-CN" altLang="en-US" strike="noStrike" noProof="1"/>
          </a:p>
        </p:txBody>
      </p:sp>
      <p:sp>
        <p:nvSpPr>
          <p:cNvPr id="5" name="页脚占位符 4"/>
          <p:cNvSpPr>
            <a:spLocks noGrp="1"/>
          </p:cNvSpPr>
          <p:nvPr>
            <p:ph type="ftr" sz="quarter" idx="11"/>
          </p:nvPr>
        </p:nvSpPr>
        <p:spPr>
          <a:xfrm>
            <a:off x="4165600" y="6248400"/>
            <a:ext cx="3860800" cy="457200"/>
          </a:xfrm>
          <a:prstGeom prst="rect">
            <a:avLst/>
          </a:prstGeom>
          <a:noFill/>
          <a:ln w="9525">
            <a:noFill/>
          </a:ln>
        </p:spPr>
        <p:txBody>
          <a:bodyPr lIns="92075" tIns="46038" rIns="92075" bIns="46038" anchor="ctr"/>
          <a:lstStyle/>
          <a:p>
            <a:pPr lvl="0" fontAlgn="base"/>
            <a:endParaRPr lang="zh-CN" strike="noStrike" noProof="1"/>
          </a:p>
        </p:txBody>
      </p:sp>
      <p:sp>
        <p:nvSpPr>
          <p:cNvPr id="6" name="灯片编号占位符 5"/>
          <p:cNvSpPr>
            <a:spLocks noGrp="1"/>
          </p:cNvSpPr>
          <p:nvPr>
            <p:ph type="sldNum" sz="quarter" idx="12"/>
          </p:nvPr>
        </p:nvSpPr>
        <p:spPr>
          <a:xfrm>
            <a:off x="8737600" y="6248400"/>
            <a:ext cx="2540000" cy="457200"/>
          </a:xfrm>
          <a:prstGeom prst="rect">
            <a:avLst/>
          </a:prstGeom>
          <a:noFill/>
          <a:ln w="9525">
            <a:noFill/>
          </a:ln>
        </p:spPr>
        <p:txBody>
          <a:bodyPr lIns="92075" tIns="46038" rIns="92075" bIns="46038" anchor="ctr"/>
          <a:lstStyle/>
          <a:p>
            <a:pPr lvl="0"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fld>
            <a:endParaRPr lang="zh-CN" strike="noStrike" noProof="1"/>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3" name="页脚占位符 2"/>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4" name="灯片编号占位符 3"/>
          <p:cNvSpPr>
            <a:spLocks noGrp="1"/>
          </p:cNvSpPr>
          <p:nvPr>
            <p:ph type="sldNum" sz="quarter" idx="12"/>
          </p:nvPr>
        </p:nvSpPr>
        <p:spPr>
          <a:xfrm>
            <a:off x="8737600" y="6248400"/>
            <a:ext cx="2540000" cy="457200"/>
          </a:xfrm>
          <a:prstGeom prst="rect">
            <a:avLst/>
          </a:prstGeom>
        </p:spPr>
        <p:txBody>
          <a:bodyPr/>
          <a:lstStyle>
            <a:lvl1pPr>
              <a:defRPr/>
            </a:lvl1pPr>
          </a:lstStyle>
          <a:p>
            <a:fld id="{D92FEE16-A351-4B09-B42B-0B14DA961117}"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609600"/>
            <a:ext cx="10363200" cy="54864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914400" y="6248400"/>
            <a:ext cx="2540000" cy="457200"/>
          </a:xfrm>
          <a:prstGeom prst="rect">
            <a:avLst/>
          </a:prstGeom>
        </p:spPr>
        <p:txBody>
          <a:bodyPr/>
          <a:lstStyle>
            <a:lvl1pPr>
              <a:defRPr/>
            </a:lvl1pPr>
          </a:lstStyle>
          <a:p>
            <a:endParaRPr lang="zh-CN" altLang="en-US"/>
          </a:p>
        </p:txBody>
      </p:sp>
      <p:sp>
        <p:nvSpPr>
          <p:cNvPr id="4" name="页脚占位符 3"/>
          <p:cNvSpPr>
            <a:spLocks noGrp="1"/>
          </p:cNvSpPr>
          <p:nvPr>
            <p:ph type="ftr" sz="quarter" idx="11"/>
          </p:nvPr>
        </p:nvSpPr>
        <p:spPr>
          <a:xfrm>
            <a:off x="4165600" y="6248400"/>
            <a:ext cx="3860800" cy="457200"/>
          </a:xfrm>
          <a:prstGeom prst="rect">
            <a:avLst/>
          </a:prstGeom>
        </p:spPr>
        <p:txBody>
          <a:bodyPr/>
          <a:lstStyle>
            <a:lvl1pPr>
              <a:defRPr/>
            </a:lvl1pPr>
          </a:lstStyle>
          <a:p>
            <a:endParaRPr lang="zh-CN" altLang="en-US"/>
          </a:p>
        </p:txBody>
      </p:sp>
      <p:sp>
        <p:nvSpPr>
          <p:cNvPr id="5" name="灯片编号占位符 4"/>
          <p:cNvSpPr>
            <a:spLocks noGrp="1"/>
          </p:cNvSpPr>
          <p:nvPr>
            <p:ph type="sldNum" sz="quarter" idx="12"/>
          </p:nvPr>
        </p:nvSpPr>
        <p:spPr>
          <a:xfrm>
            <a:off x="8737600" y="6248400"/>
            <a:ext cx="2540000" cy="457200"/>
          </a:xfrm>
          <a:prstGeom prst="rect">
            <a:avLst/>
          </a:prstGeom>
        </p:spPr>
        <p:txBody>
          <a:bodyPr/>
          <a:lstStyle>
            <a:lvl1pPr>
              <a:defRPr/>
            </a:lvl1pPr>
          </a:lstStyle>
          <a:p>
            <a:fld id="{6A2B7FEE-D6C9-4729-8BAD-4347823BA872}"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914400" y="6248400"/>
            <a:ext cx="2540000" cy="457200"/>
          </a:xfrm>
          <a:prstGeom prst="rect">
            <a:avLst/>
          </a:prstGeom>
        </p:spPr>
        <p:txBody>
          <a:bodyPr/>
          <a:lstStyle>
            <a:lvl1pPr>
              <a:defRPr/>
            </a:lvl1pPr>
          </a:lstStyle>
          <a:p>
            <a:endParaRPr lang="zh-CN" altLang="en-US"/>
          </a:p>
        </p:txBody>
      </p:sp>
      <p:sp>
        <p:nvSpPr>
          <p:cNvPr id="4" name="页脚占位符 3"/>
          <p:cNvSpPr>
            <a:spLocks noGrp="1"/>
          </p:cNvSpPr>
          <p:nvPr>
            <p:ph type="ftr" sz="quarter" idx="11"/>
          </p:nvPr>
        </p:nvSpPr>
        <p:spPr>
          <a:xfrm>
            <a:off x="4165600" y="6248400"/>
            <a:ext cx="3860800" cy="457200"/>
          </a:xfrm>
          <a:prstGeom prst="rect">
            <a:avLst/>
          </a:prstGeom>
        </p:spPr>
        <p:txBody>
          <a:bodyPr/>
          <a:lstStyle>
            <a:lvl1pPr>
              <a:defRPr/>
            </a:lvl1pPr>
          </a:lstStyle>
          <a:p>
            <a:endParaRPr lang="zh-CN" altLang="en-US"/>
          </a:p>
        </p:txBody>
      </p:sp>
      <p:sp>
        <p:nvSpPr>
          <p:cNvPr id="5" name="灯片编号占位符 4"/>
          <p:cNvSpPr>
            <a:spLocks noGrp="1"/>
          </p:cNvSpPr>
          <p:nvPr>
            <p:ph type="sldNum" sz="quarter" idx="12"/>
          </p:nvPr>
        </p:nvSpPr>
        <p:spPr>
          <a:xfrm>
            <a:off x="8737600" y="6248400"/>
            <a:ext cx="2540000" cy="457200"/>
          </a:xfrm>
          <a:prstGeom prst="rect">
            <a:avLst/>
          </a:prstGeom>
        </p:spPr>
        <p:txBody>
          <a:bodyPr/>
          <a:lstStyle>
            <a:lvl1pPr>
              <a:defRPr/>
            </a:lvl1pPr>
          </a:lstStyle>
          <a:p>
            <a:fld id="{7033FD0F-7F07-4BDC-A626-E949EAD1DEE4}"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14400" y="1981200"/>
            <a:ext cx="5080000" cy="41148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97600" y="1981200"/>
            <a:ext cx="5080000" cy="41148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914400" y="6248400"/>
            <a:ext cx="2540000" cy="457200"/>
          </a:xfrm>
          <a:prstGeom prst="rect">
            <a:avLst/>
          </a:prstGeom>
        </p:spPr>
        <p:txBody>
          <a:bodyPr/>
          <a:lstStyle>
            <a:lvl1pPr>
              <a:defRPr/>
            </a:lvl1pPr>
          </a:lstStyle>
          <a:p>
            <a:endParaRPr lang="zh-CN" altLang="en-US"/>
          </a:p>
        </p:txBody>
      </p:sp>
      <p:sp>
        <p:nvSpPr>
          <p:cNvPr id="6" name="页脚占位符 5"/>
          <p:cNvSpPr>
            <a:spLocks noGrp="1"/>
          </p:cNvSpPr>
          <p:nvPr>
            <p:ph type="ftr" sz="quarter" idx="11"/>
          </p:nvPr>
        </p:nvSpPr>
        <p:spPr>
          <a:xfrm>
            <a:off x="4165600" y="6248400"/>
            <a:ext cx="3860800" cy="457200"/>
          </a:xfrm>
          <a:prstGeom prst="rect">
            <a:avLst/>
          </a:prstGeom>
        </p:spPr>
        <p:txBody>
          <a:bodyPr/>
          <a:lstStyle>
            <a:lvl1pPr>
              <a:defRPr/>
            </a:lvl1pPr>
          </a:lstStyle>
          <a:p>
            <a:endParaRPr lang="zh-CN" altLang="en-US"/>
          </a:p>
        </p:txBody>
      </p:sp>
      <p:sp>
        <p:nvSpPr>
          <p:cNvPr id="7" name="灯片编号占位符 6"/>
          <p:cNvSpPr>
            <a:spLocks noGrp="1"/>
          </p:cNvSpPr>
          <p:nvPr>
            <p:ph type="sldNum" sz="quarter" idx="12"/>
          </p:nvPr>
        </p:nvSpPr>
        <p:spPr>
          <a:xfrm>
            <a:off x="8737600" y="6248400"/>
            <a:ext cx="2540000" cy="457200"/>
          </a:xfrm>
          <a:prstGeom prst="rect">
            <a:avLst/>
          </a:prstGeom>
        </p:spPr>
        <p:txBody>
          <a:bodyPr/>
          <a:lstStyle>
            <a:lvl1pPr>
              <a:defRPr/>
            </a:lvl1pPr>
          </a:lstStyle>
          <a:p>
            <a:fld id="{6470C09B-1573-4AAB-8237-252F63230C11}"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914400" y="1981200"/>
            <a:ext cx="10363200" cy="4114800"/>
          </a:xfrm>
          <a:prstGeom prst="rect">
            <a:avLst/>
          </a:prstGeom>
        </p:spPr>
        <p:txBody>
          <a:bodyPr/>
          <a:lstStyle/>
          <a:p>
            <a:endParaRPr lang="zh-CN" altLang="en-US"/>
          </a:p>
        </p:txBody>
      </p:sp>
      <p:sp>
        <p:nvSpPr>
          <p:cNvPr id="4" name="日期占位符 3"/>
          <p:cNvSpPr>
            <a:spLocks noGrp="1"/>
          </p:cNvSpPr>
          <p:nvPr>
            <p:ph type="dt" sz="half" idx="10"/>
          </p:nvPr>
        </p:nvSpPr>
        <p:spPr>
          <a:xfrm>
            <a:off x="914400" y="6248400"/>
            <a:ext cx="2540000" cy="457200"/>
          </a:xfrm>
          <a:prstGeom prst="rect">
            <a:avLst/>
          </a:prstGeom>
        </p:spPr>
        <p:txBody>
          <a:bodyPr/>
          <a:lstStyle>
            <a:lvl1pPr>
              <a:defRPr/>
            </a:lvl1pPr>
          </a:lstStyle>
          <a:p>
            <a:endParaRPr lang="zh-CN" altLang="en-US"/>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zh-CN" altLang="en-US"/>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lvl1pPr>
              <a:defRPr/>
            </a:lvl1pPr>
          </a:lstStyle>
          <a:p>
            <a:fld id="{ECAA9C67-F34A-412A-947B-B68458189962}"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notesSlide" Target="../notesSlides/notesSlide1.xml"/><Relationship Id="rId21" Type="http://schemas.openxmlformats.org/officeDocument/2006/relationships/slideLayout" Target="../slideLayouts/slideLayout2.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5.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5.xml"/><Relationship Id="rId2" Type="http://schemas.openxmlformats.org/officeDocument/2006/relationships/image" Target="../media/image7.wmf"/><Relationship Id="rId1"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5.xml"/><Relationship Id="rId2" Type="http://schemas.openxmlformats.org/officeDocument/2006/relationships/image" Target="../media/image8.w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5.xml"/><Relationship Id="rId2" Type="http://schemas.openxmlformats.org/officeDocument/2006/relationships/image" Target="../media/image9.wmf"/><Relationship Id="rId1" Type="http://schemas.openxmlformats.org/officeDocument/2006/relationships/oleObject" Target="../embeddings/oleObject4.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wm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5.xml"/><Relationship Id="rId2" Type="http://schemas.openxmlformats.org/officeDocument/2006/relationships/image" Target="../media/image12.wmf"/><Relationship Id="rId1" Type="http://schemas.openxmlformats.org/officeDocument/2006/relationships/oleObject" Target="../embeddings/oleObject5.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6.xml"/><Relationship Id="rId2" Type="http://schemas.openxmlformats.org/officeDocument/2006/relationships/image" Target="../media/image13.wmf"/><Relationship Id="rId1" Type="http://schemas.openxmlformats.org/officeDocument/2006/relationships/oleObject" Target="../embeddings/oleObject6.bin"/></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6.xml"/><Relationship Id="rId2" Type="http://schemas.openxmlformats.org/officeDocument/2006/relationships/image" Target="../media/image14.wmf"/><Relationship Id="rId1" Type="http://schemas.openxmlformats.org/officeDocument/2006/relationships/oleObject" Target="../embeddings/oleObject7.bin"/></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6.xml"/><Relationship Id="rId2" Type="http://schemas.openxmlformats.org/officeDocument/2006/relationships/image" Target="../media/image15.wmf"/><Relationship Id="rId1" Type="http://schemas.openxmlformats.org/officeDocument/2006/relationships/oleObject" Target="../embeddings/oleObject8.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6.xml"/><Relationship Id="rId2" Type="http://schemas.openxmlformats.org/officeDocument/2006/relationships/image" Target="../media/image16.wmf"/><Relationship Id="rId1" Type="http://schemas.openxmlformats.org/officeDocument/2006/relationships/oleObject" Target="../embeddings/oleObject9.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6.xml"/><Relationship Id="rId2" Type="http://schemas.openxmlformats.org/officeDocument/2006/relationships/image" Target="../media/image17.wmf"/><Relationship Id="rId1" Type="http://schemas.openxmlformats.org/officeDocument/2006/relationships/oleObject" Target="../embeddings/oleObject10.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6.xml"/><Relationship Id="rId2" Type="http://schemas.openxmlformats.org/officeDocument/2006/relationships/image" Target="../media/image18.wmf"/><Relationship Id="rId1" Type="http://schemas.openxmlformats.org/officeDocument/2006/relationships/oleObject" Target="../embeddings/oleObject11.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6.xml"/><Relationship Id="rId2" Type="http://schemas.openxmlformats.org/officeDocument/2006/relationships/image" Target="../media/image19.wmf"/><Relationship Id="rId1" Type="http://schemas.openxmlformats.org/officeDocument/2006/relationships/oleObject" Target="../embeddings/oleObject12.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27.xml"/><Relationship Id="rId2" Type="http://schemas.openxmlformats.org/officeDocument/2006/relationships/image" Target="../media/image21.wmf"/><Relationship Id="rId1" Type="http://schemas.openxmlformats.org/officeDocument/2006/relationships/image" Target="../media/image20.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1.wmf"/><Relationship Id="rId2" Type="http://schemas.openxmlformats.org/officeDocument/2006/relationships/image" Target="../media/image23.wmf"/><Relationship Id="rId1" Type="http://schemas.openxmlformats.org/officeDocument/2006/relationships/image" Target="../media/image22.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5.xml"/><Relationship Id="rId2" Type="http://schemas.openxmlformats.org/officeDocument/2006/relationships/image" Target="../media/image24.wmf"/><Relationship Id="rId1" Type="http://schemas.openxmlformats.org/officeDocument/2006/relationships/oleObject" Target="../embeddings/oleObject13.bin"/></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9.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0.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2.wmf"/></Relationships>
</file>

<file path=ppt/slides/_rels/slide96.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1" Type="http://schemas.openxmlformats.org/officeDocument/2006/relationships/slideLayout" Target="../slideLayouts/slideLayout5.xml"/><Relationship Id="rId10" Type="http://schemas.openxmlformats.org/officeDocument/2006/relationships/tags" Target="../tags/tag41.xml"/><Relationship Id="rId1" Type="http://schemas.openxmlformats.org/officeDocument/2006/relationships/tags" Target="../tags/tag32.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6.png"/><Relationship Id="rId1" Type="http://schemas.openxmlformats.org/officeDocument/2006/relationships/image" Target="../media/image25.wmf"/></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5.xml"/><Relationship Id="rId2" Type="http://schemas.openxmlformats.org/officeDocument/2006/relationships/image" Target="../media/image27.emf"/><Relationship Id="rId1" Type="http://schemas.openxmlformats.org/officeDocument/2006/relationships/oleObject" Target="../embeddings/oleObject14.bin"/></Relationships>
</file>

<file path=ppt/slides/_rels/slide120.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5.xml"/><Relationship Id="rId2" Type="http://schemas.openxmlformats.org/officeDocument/2006/relationships/image" Target="../media/image28.emf"/><Relationship Id="rId1" Type="http://schemas.openxmlformats.org/officeDocument/2006/relationships/oleObject" Target="../embeddings/oleObject15.bin"/></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72705"/>
          <p:cNvSpPr>
            <a:spLocks noGrp="1"/>
          </p:cNvSpPr>
          <p:nvPr>
            <p:ph type="ctrTitle" sz="quarter"/>
          </p:nvPr>
        </p:nvSpPr>
        <p:spPr>
          <a:xfrm>
            <a:off x="2209800" y="1736726"/>
            <a:ext cx="7772400" cy="1323975"/>
          </a:xfrm>
        </p:spPr>
        <p:txBody>
          <a:bodyPr lIns="92075" tIns="46038" rIns="92075" bIns="46038" anchor="b"/>
          <a:lstStyle/>
          <a:p>
            <a:pPr algn="ctr" fontAlgn="base">
              <a:lnSpc>
                <a:spcPct val="100000"/>
              </a:lnSpc>
              <a:spcAft>
                <a:spcPct val="0"/>
              </a:spcAft>
              <a:defRPr/>
            </a:pPr>
            <a:r>
              <a:rPr lang="zh-CN" altLang="en-US" sz="5400" b="1" noProof="1" smtClean="0">
                <a:solidFill>
                  <a:schemeClr val="tx2"/>
                </a:solidFill>
                <a:effectLst>
                  <a:outerShdw blurRad="38100" dist="38100" dir="2700000">
                    <a:srgbClr val="000000"/>
                  </a:outerShdw>
                </a:effectLst>
                <a:latin typeface="黑体" panose="02010609060101010101" pitchFamily="49" charset="-122"/>
              </a:rPr>
              <a:t>第</a:t>
            </a:r>
            <a:r>
              <a:rPr lang="en-US" altLang="zh-CN" sz="5400" b="1" noProof="1" smtClean="0">
                <a:solidFill>
                  <a:schemeClr val="tx2"/>
                </a:solidFill>
                <a:effectLst>
                  <a:outerShdw blurRad="38100" dist="38100" dir="2700000">
                    <a:srgbClr val="000000"/>
                  </a:outerShdw>
                </a:effectLst>
                <a:latin typeface="黑体" panose="02010609060101010101" pitchFamily="49" charset="-122"/>
              </a:rPr>
              <a:t>5</a:t>
            </a:r>
            <a:r>
              <a:rPr lang="zh-CN" altLang="en-US" sz="5400" b="1" noProof="1" smtClean="0">
                <a:solidFill>
                  <a:schemeClr val="tx2"/>
                </a:solidFill>
                <a:effectLst>
                  <a:outerShdw blurRad="38100" dist="38100" dir="2700000">
                    <a:srgbClr val="000000"/>
                  </a:outerShdw>
                </a:effectLst>
                <a:latin typeface="黑体" panose="02010609060101010101" pitchFamily="49" charset="-122"/>
              </a:rPr>
              <a:t>章 </a:t>
            </a:r>
            <a:r>
              <a:rPr lang="zh-CN" altLang="en-US" sz="5400" b="1" noProof="1">
                <a:solidFill>
                  <a:schemeClr val="tx2"/>
                </a:solidFill>
                <a:effectLst>
                  <a:outerShdw blurRad="38100" dist="38100" dir="2700000">
                    <a:srgbClr val="000000"/>
                  </a:outerShdw>
                </a:effectLst>
                <a:latin typeface="黑体" panose="02010609060101010101" pitchFamily="49" charset="-122"/>
              </a:rPr>
              <a:t>网络</a:t>
            </a:r>
            <a:r>
              <a:rPr lang="zh-CN" altLang="en-US" sz="5400" b="1" noProof="1" smtClean="0">
                <a:solidFill>
                  <a:schemeClr val="tx2"/>
                </a:solidFill>
                <a:effectLst>
                  <a:outerShdw blurRad="38100" dist="38100" dir="2700000">
                    <a:srgbClr val="000000"/>
                  </a:outerShdw>
                </a:effectLst>
                <a:latin typeface="黑体" panose="02010609060101010101" pitchFamily="49" charset="-122"/>
              </a:rPr>
              <a:t>防护</a:t>
            </a:r>
            <a:br>
              <a:rPr lang="en-US" altLang="zh-CN" sz="5400" b="1" noProof="1" smtClean="0">
                <a:solidFill>
                  <a:schemeClr val="tx2"/>
                </a:solidFill>
                <a:effectLst>
                  <a:outerShdw blurRad="38100" dist="38100" dir="2700000">
                    <a:srgbClr val="000000"/>
                  </a:outerShdw>
                </a:effectLst>
                <a:latin typeface="黑体" panose="02010609060101010101" pitchFamily="49" charset="-122"/>
              </a:rPr>
            </a:br>
            <a:r>
              <a:rPr lang="en-US" altLang="zh-CN" sz="5400" b="1" noProof="1">
                <a:solidFill>
                  <a:schemeClr val="tx2"/>
                </a:solidFill>
                <a:effectLst>
                  <a:outerShdw blurRad="38100" dist="38100" dir="2700000">
                    <a:srgbClr val="000000"/>
                  </a:outerShdw>
                </a:effectLst>
                <a:latin typeface="黑体" panose="02010609060101010101" pitchFamily="49" charset="-122"/>
              </a:rPr>
              <a:t> </a:t>
            </a:r>
            <a:r>
              <a:rPr lang="en-US" altLang="zh-CN" sz="5400" b="1" noProof="1" smtClean="0">
                <a:solidFill>
                  <a:schemeClr val="tx2"/>
                </a:solidFill>
                <a:effectLst>
                  <a:outerShdw blurRad="38100" dist="38100" dir="2700000">
                    <a:srgbClr val="000000"/>
                  </a:outerShdw>
                </a:effectLst>
                <a:latin typeface="黑体" panose="02010609060101010101" pitchFamily="49" charset="-122"/>
              </a:rPr>
              <a:t>    </a:t>
            </a:r>
            <a:r>
              <a:rPr lang="zh-CN" altLang="en-US" sz="5400" b="1" noProof="1" smtClean="0">
                <a:solidFill>
                  <a:schemeClr val="tx2"/>
                </a:solidFill>
                <a:effectLst>
                  <a:outerShdw blurRad="38100" dist="38100" dir="2700000">
                    <a:srgbClr val="000000"/>
                  </a:outerShdw>
                </a:effectLst>
                <a:latin typeface="黑体" panose="02010609060101010101" pitchFamily="49" charset="-122"/>
              </a:rPr>
              <a:t>（一）</a:t>
            </a:r>
            <a:endParaRPr lang="zh-CN" altLang="en-US" sz="7200" b="1" noProof="1">
              <a:effectLst>
                <a:outerShdw blurRad="38100" dist="38100" dir="2700000">
                  <a:srgbClr val="000000"/>
                </a:outerShdw>
              </a:effectLst>
            </a:endParaRPr>
          </a:p>
        </p:txBody>
      </p:sp>
      <p:sp>
        <p:nvSpPr>
          <p:cNvPr id="13314" name="文本框 88067"/>
          <p:cNvSpPr txBox="1"/>
          <p:nvPr/>
        </p:nvSpPr>
        <p:spPr>
          <a:xfrm>
            <a:off x="4748055" y="4341814"/>
            <a:ext cx="2697480" cy="1568450"/>
          </a:xfrm>
          <a:prstGeom prst="rect">
            <a:avLst/>
          </a:prstGeom>
          <a:noFill/>
          <a:ln w="9525">
            <a:noFill/>
          </a:ln>
        </p:spPr>
        <p:txBody>
          <a:bodyPr wrap="none" anchor="t">
            <a:spAutoFit/>
          </a:bodyPr>
          <a:lstStyle/>
          <a:p>
            <a:pPr algn="ctr"/>
            <a:r>
              <a:rPr lang="zh-CN" altLang="en-US" sz="2400" dirty="0">
                <a:latin typeface="Times New Roman" panose="02020603050405020304" pitchFamily="18" charset="0"/>
                <a:ea typeface="华文行楷" panose="02010800040101010101" pitchFamily="2" charset="-122"/>
              </a:rPr>
              <a:t>李朝晖</a:t>
            </a:r>
            <a:endParaRPr lang="zh-CN" altLang="en-US" sz="2400" dirty="0">
              <a:latin typeface="Times New Roman" panose="02020603050405020304" pitchFamily="18" charset="0"/>
              <a:ea typeface="华文行楷" panose="02010800040101010101" pitchFamily="2" charset="-122"/>
            </a:endParaRPr>
          </a:p>
          <a:p>
            <a:pPr algn="ctr"/>
            <a:r>
              <a:rPr lang="zh-CN" altLang="en-US" sz="2400" dirty="0">
                <a:latin typeface="Times New Roman" panose="02020603050405020304" pitchFamily="18" charset="0"/>
                <a:ea typeface="华文行楷" panose="02010800040101010101" pitchFamily="2" charset="-122"/>
              </a:rPr>
              <a:t>南开大学 网安学院</a:t>
            </a:r>
            <a:endParaRPr lang="zh-CN" altLang="en-US" sz="2400" dirty="0">
              <a:latin typeface="Times New Roman" panose="02020603050405020304" pitchFamily="18" charset="0"/>
              <a:ea typeface="华文行楷" panose="02010800040101010101" pitchFamily="2" charset="-122"/>
            </a:endParaRPr>
          </a:p>
          <a:p>
            <a:pPr algn="ctr"/>
            <a:endParaRPr lang="zh-CN" altLang="en-US" sz="2400" dirty="0">
              <a:latin typeface="Times New Roman" panose="02020603050405020304" pitchFamily="18" charset="0"/>
              <a:ea typeface="宋体" panose="02010600030101010101" pitchFamily="2" charset="-122"/>
            </a:endParaRPr>
          </a:p>
          <a:p>
            <a:pPr algn="ctr"/>
            <a:r>
              <a:rPr lang="en-US" altLang="zh-CN" sz="2400" dirty="0" smtClean="0">
                <a:latin typeface="Times New Roman" panose="02020603050405020304" pitchFamily="18" charset="0"/>
                <a:ea typeface="宋体" panose="02010600030101010101" pitchFamily="2" charset="-122"/>
              </a:rPr>
              <a:t>2026</a:t>
            </a:r>
            <a:endParaRPr lang="en-US" altLang="zh-CN" sz="240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7"/>
          <p:cNvSpPr txBox="1"/>
          <p:nvPr/>
        </p:nvSpPr>
        <p:spPr>
          <a:xfrm>
            <a:off x="1280160" y="3434063"/>
            <a:ext cx="3940233" cy="1405000"/>
          </a:xfrm>
          <a:prstGeom prst="rect">
            <a:avLst/>
          </a:prstGeom>
          <a:noFill/>
        </p:spPr>
        <p:txBody>
          <a:bodyPr wrap="square">
            <a:spAutoFit/>
          </a:bodyPr>
          <a:lstStyle/>
          <a:p>
            <a:pPr marR="0" defTabSz="1217930" fontAlgn="auto">
              <a:buClrTx/>
              <a:buSzTx/>
              <a:buFont typeface="Arial" panose="020B0604020202020204" pitchFamily="34" charset="0"/>
              <a:defRPr/>
            </a:pPr>
            <a:r>
              <a:rPr kumimoji="0" lang="zh-CN" altLang="en-US" sz="4265"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rPr>
              <a:t>第</a:t>
            </a:r>
            <a:r>
              <a:rPr kumimoji="0" lang="en-US" altLang="zh-CN" sz="4265"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rPr>
              <a:t>5</a:t>
            </a:r>
            <a:r>
              <a:rPr kumimoji="0" lang="zh-CN" altLang="en-US" sz="4265"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rPr>
              <a:t>章 网络防护</a:t>
            </a:r>
            <a:endParaRPr kumimoji="0" lang="en-US" altLang="zh-CN" sz="4265"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endParaRPr>
          </a:p>
          <a:p>
            <a:pPr marR="0" defTabSz="1217930" fontAlgn="auto">
              <a:buClrTx/>
              <a:buSzTx/>
              <a:buFont typeface="Arial" panose="020B0604020202020204" pitchFamily="34" charset="0"/>
              <a:defRPr/>
            </a:pPr>
            <a:r>
              <a:rPr lang="en-US" altLang="zh-CN" sz="4265" noProof="1" smtClean="0">
                <a:solidFill>
                  <a:srgbClr val="002060"/>
                </a:solidFill>
                <a:latin typeface="思源黑体 CN Heavy" panose="020B0A00000000000000" pitchFamily="34" charset="-122"/>
                <a:ea typeface="思源黑体 CN Heavy" panose="020B0A00000000000000" pitchFamily="34" charset="-122"/>
                <a:cs typeface="+mn-ea"/>
                <a:sym typeface="+mn-ea"/>
              </a:rPr>
              <a:t>                 (</a:t>
            </a:r>
            <a:r>
              <a:rPr lang="zh-CN" altLang="en-US" sz="4265" noProof="1" smtClean="0">
                <a:solidFill>
                  <a:srgbClr val="002060"/>
                </a:solidFill>
                <a:latin typeface="思源黑体 CN Heavy" panose="020B0A00000000000000" pitchFamily="34" charset="-122"/>
                <a:ea typeface="思源黑体 CN Heavy" panose="020B0A00000000000000" pitchFamily="34" charset="-122"/>
                <a:cs typeface="+mn-ea"/>
                <a:sym typeface="+mn-ea"/>
              </a:rPr>
              <a:t>一）</a:t>
            </a:r>
            <a:endParaRPr kumimoji="0" lang="zh-CN" altLang="en-US" sz="4265" kern="1200" cap="none" spc="0" normalizeH="0" baseline="0" noProof="1">
              <a:solidFill>
                <a:srgbClr val="002060"/>
              </a:solidFill>
              <a:latin typeface="思源黑体 CN Heavy" panose="020B0A00000000000000" pitchFamily="34" charset="-122"/>
              <a:ea typeface="思源黑体 CN Heavy" panose="020B0A00000000000000" pitchFamily="34" charset="-122"/>
              <a:cs typeface="+mn-ea"/>
              <a:sym typeface="+mn-ea"/>
            </a:endParaRPr>
          </a:p>
        </p:txBody>
      </p:sp>
      <p:grpSp>
        <p:nvGrpSpPr>
          <p:cNvPr id="20" name="组合 19"/>
          <p:cNvGrpSpPr/>
          <p:nvPr/>
        </p:nvGrpSpPr>
        <p:grpSpPr>
          <a:xfrm>
            <a:off x="2576451" y="1645590"/>
            <a:ext cx="1622688" cy="1622688"/>
            <a:chOff x="882649" y="2219325"/>
            <a:chExt cx="2070101" cy="2070101"/>
          </a:xfrm>
        </p:grpSpPr>
        <p:sp>
          <p:nvSpPr>
            <p:cNvPr id="21" name="椭圆 20"/>
            <p:cNvSpPr/>
            <p:nvPr/>
          </p:nvSpPr>
          <p:spPr>
            <a:xfrm>
              <a:off x="1019174" y="2355850"/>
              <a:ext cx="1797050" cy="1797050"/>
            </a:xfrm>
            <a:prstGeom prst="ellipse">
              <a:avLst/>
            </a:prstGeom>
            <a:noFill/>
            <a:ln>
              <a:solidFill>
                <a:srgbClr val="0F73E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smtClean="0">
                  <a:solidFill>
                    <a:schemeClr val="accent5">
                      <a:lumMod val="50000"/>
                    </a:schemeClr>
                  </a:solidFill>
                  <a:effectLst/>
                  <a:latin typeface="+mj-lt"/>
                  <a:ea typeface="微软雅黑 Light" panose="020B0502040204020203" pitchFamily="34" charset="-122"/>
                  <a:cs typeface="+mn-ea"/>
                  <a:sym typeface="+mn-lt"/>
                </a:rPr>
                <a:t>05</a:t>
              </a:r>
              <a:endParaRPr lang="en-US" sz="4000" b="1" dirty="0">
                <a:solidFill>
                  <a:schemeClr val="accent5">
                    <a:lumMod val="50000"/>
                  </a:schemeClr>
                </a:solidFill>
                <a:effectLst/>
                <a:latin typeface="+mj-lt"/>
                <a:cs typeface="+mn-ea"/>
                <a:sym typeface="+mn-lt"/>
              </a:endParaRPr>
            </a:p>
          </p:txBody>
        </p:sp>
        <p:sp>
          <p:nvSpPr>
            <p:cNvPr id="22" name="空心弧 21"/>
            <p:cNvSpPr/>
            <p:nvPr/>
          </p:nvSpPr>
          <p:spPr>
            <a:xfrm rot="7613872">
              <a:off x="882649" y="2219325"/>
              <a:ext cx="2070101" cy="2070101"/>
            </a:xfrm>
            <a:prstGeom prst="blockArc">
              <a:avLst>
                <a:gd name="adj1" fmla="val 10800000"/>
                <a:gd name="adj2" fmla="val 3959450"/>
                <a:gd name="adj3" fmla="val 6684"/>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mn-ea"/>
                <a:sym typeface="+mn-lt"/>
              </a:endParaRPr>
            </a:p>
          </p:txBody>
        </p:sp>
      </p:grpSp>
      <p:grpSp>
        <p:nvGrpSpPr>
          <p:cNvPr id="38" name="组合 37"/>
          <p:cNvGrpSpPr/>
          <p:nvPr>
            <p:custDataLst>
              <p:tags r:id="rId1"/>
            </p:custDataLst>
          </p:nvPr>
        </p:nvGrpSpPr>
        <p:grpSpPr>
          <a:xfrm>
            <a:off x="5562189" y="1170848"/>
            <a:ext cx="4963698" cy="617070"/>
            <a:chOff x="5493750" y="892151"/>
            <a:chExt cx="4963698" cy="617070"/>
          </a:xfrm>
        </p:grpSpPr>
        <p:sp>
          <p:nvSpPr>
            <p:cNvPr id="23" name="矩形: 圆角 22"/>
            <p:cNvSpPr/>
            <p:nvPr>
              <p:custDataLst>
                <p:tags r:id="rId2"/>
              </p:custDataLst>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12" name="human-head-silhouette-with-cogwheels_31441"/>
            <p:cNvSpPr>
              <a:spLocks noChangeAspect="1"/>
            </p:cNvSpPr>
            <p:nvPr>
              <p:custDataLst>
                <p:tags r:id="rId3"/>
              </p:custDataLst>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37" name="矩形: 圆角 36"/>
            <p:cNvSpPr/>
            <p:nvPr>
              <p:custDataLst>
                <p:tags r:id="rId4"/>
              </p:custDataLst>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smtClean="0">
                  <a:solidFill>
                    <a:schemeClr val="tx1">
                      <a:lumMod val="85000"/>
                      <a:lumOff val="15000"/>
                    </a:schemeClr>
                  </a:solidFill>
                  <a:ea typeface="+mj-ea"/>
                  <a:cs typeface="+mn-ea"/>
                  <a:sym typeface="+mn-lt"/>
                </a:rPr>
                <a:t>5.1</a:t>
              </a:r>
              <a:r>
                <a:rPr lang="en-US" altLang="zh-CN" sz="2400" dirty="0" smtClean="0">
                  <a:solidFill>
                    <a:schemeClr val="tx1">
                      <a:lumMod val="85000"/>
                      <a:lumOff val="15000"/>
                    </a:schemeClr>
                  </a:solidFill>
                  <a:latin typeface="+mj-ea"/>
                  <a:ea typeface="+mj-ea"/>
                  <a:cs typeface="+mn-ea"/>
                  <a:sym typeface="+mn-lt"/>
                </a:rPr>
                <a:t> </a:t>
              </a:r>
              <a:r>
                <a:rPr lang="zh-CN" altLang="en-US" sz="2400" dirty="0" smtClean="0">
                  <a:solidFill>
                    <a:schemeClr val="tx1">
                      <a:lumMod val="85000"/>
                      <a:lumOff val="15000"/>
                    </a:schemeClr>
                  </a:solidFill>
                  <a:latin typeface="+mj-ea"/>
                  <a:ea typeface="+mj-ea"/>
                  <a:cs typeface="+mn-ea"/>
                  <a:sym typeface="+mn-lt"/>
                </a:rPr>
                <a:t>网络主动防御</a:t>
              </a:r>
              <a:endParaRPr lang="zh-CN" altLang="en-US" sz="2400" dirty="0">
                <a:solidFill>
                  <a:schemeClr val="tx1">
                    <a:lumMod val="85000"/>
                    <a:lumOff val="15000"/>
                  </a:schemeClr>
                </a:solidFill>
                <a:latin typeface="+mj-ea"/>
                <a:ea typeface="+mj-ea"/>
                <a:cs typeface="+mn-ea"/>
                <a:sym typeface="+mn-lt"/>
              </a:endParaRPr>
            </a:p>
          </p:txBody>
        </p:sp>
      </p:grpSp>
      <p:grpSp>
        <p:nvGrpSpPr>
          <p:cNvPr id="67" name="组合 66"/>
          <p:cNvGrpSpPr/>
          <p:nvPr>
            <p:custDataLst>
              <p:tags r:id="rId5"/>
            </p:custDataLst>
          </p:nvPr>
        </p:nvGrpSpPr>
        <p:grpSpPr>
          <a:xfrm>
            <a:off x="5562189" y="2036857"/>
            <a:ext cx="4963698" cy="617070"/>
            <a:chOff x="5493750" y="892151"/>
            <a:chExt cx="4963698" cy="617070"/>
          </a:xfrm>
        </p:grpSpPr>
        <p:sp>
          <p:nvSpPr>
            <p:cNvPr id="68" name="矩形: 圆角 67"/>
            <p:cNvSpPr/>
            <p:nvPr>
              <p:custDataLst>
                <p:tags r:id="rId6"/>
              </p:custDataLst>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69" name="human-head-silhouette-with-cogwheels_31441"/>
            <p:cNvSpPr>
              <a:spLocks noChangeAspect="1"/>
            </p:cNvSpPr>
            <p:nvPr>
              <p:custDataLst>
                <p:tags r:id="rId7"/>
              </p:custDataLst>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70" name="矩形: 圆角 69"/>
            <p:cNvSpPr/>
            <p:nvPr>
              <p:custDataLst>
                <p:tags r:id="rId8"/>
              </p:custDataLst>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lumMod val="85000"/>
                      <a:lumOff val="15000"/>
                    </a:schemeClr>
                  </a:solidFill>
                  <a:ea typeface="+mj-ea"/>
                  <a:cs typeface="+mn-ea"/>
                  <a:sym typeface="+mn-lt"/>
                </a:rPr>
                <a:t>5</a:t>
              </a:r>
              <a:r>
                <a:rPr lang="en-US" altLang="zh-CN" sz="2400" dirty="0" smtClean="0">
                  <a:solidFill>
                    <a:schemeClr val="tx1">
                      <a:lumMod val="85000"/>
                      <a:lumOff val="15000"/>
                    </a:schemeClr>
                  </a:solidFill>
                  <a:ea typeface="+mj-ea"/>
                  <a:cs typeface="+mn-ea"/>
                  <a:sym typeface="+mn-lt"/>
                </a:rPr>
                <a:t>.2</a:t>
              </a:r>
              <a:r>
                <a:rPr lang="en-US" altLang="zh-CN" sz="2400" dirty="0" smtClean="0">
                  <a:solidFill>
                    <a:schemeClr val="tx1">
                      <a:lumMod val="85000"/>
                      <a:lumOff val="15000"/>
                    </a:schemeClr>
                  </a:solidFill>
                  <a:latin typeface="+mj-ea"/>
                  <a:ea typeface="+mj-ea"/>
                  <a:cs typeface="+mn-ea"/>
                  <a:sym typeface="+mn-lt"/>
                </a:rPr>
                <a:t> </a:t>
              </a:r>
              <a:r>
                <a:rPr lang="zh-CN" altLang="en-US" sz="2400" dirty="0" smtClean="0">
                  <a:solidFill>
                    <a:schemeClr val="tx1">
                      <a:lumMod val="85000"/>
                      <a:lumOff val="15000"/>
                    </a:schemeClr>
                  </a:solidFill>
                  <a:latin typeface="+mj-ea"/>
                  <a:ea typeface="+mj-ea"/>
                  <a:cs typeface="+mn-ea"/>
                  <a:sym typeface="+mn-lt"/>
                </a:rPr>
                <a:t>防火墙</a:t>
              </a:r>
              <a:endParaRPr lang="zh-CN" altLang="en-US" sz="2400" dirty="0">
                <a:solidFill>
                  <a:schemeClr val="tx1">
                    <a:lumMod val="85000"/>
                    <a:lumOff val="15000"/>
                  </a:schemeClr>
                </a:solidFill>
                <a:latin typeface="+mj-ea"/>
                <a:ea typeface="+mj-ea"/>
                <a:cs typeface="+mn-ea"/>
                <a:sym typeface="+mn-lt"/>
              </a:endParaRPr>
            </a:p>
          </p:txBody>
        </p:sp>
      </p:grpSp>
      <p:grpSp>
        <p:nvGrpSpPr>
          <p:cNvPr id="71" name="组合 70"/>
          <p:cNvGrpSpPr/>
          <p:nvPr>
            <p:custDataLst>
              <p:tags r:id="rId9"/>
            </p:custDataLst>
          </p:nvPr>
        </p:nvGrpSpPr>
        <p:grpSpPr>
          <a:xfrm>
            <a:off x="5562189" y="2902866"/>
            <a:ext cx="4963698" cy="617070"/>
            <a:chOff x="5493750" y="892151"/>
            <a:chExt cx="4963698" cy="617070"/>
          </a:xfrm>
        </p:grpSpPr>
        <p:sp>
          <p:nvSpPr>
            <p:cNvPr id="72" name="矩形: 圆角 71"/>
            <p:cNvSpPr/>
            <p:nvPr>
              <p:custDataLst>
                <p:tags r:id="rId10"/>
              </p:custDataLst>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73" name="human-head-silhouette-with-cogwheels_31441"/>
            <p:cNvSpPr>
              <a:spLocks noChangeAspect="1"/>
            </p:cNvSpPr>
            <p:nvPr>
              <p:custDataLst>
                <p:tags r:id="rId11"/>
              </p:custDataLst>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74" name="矩形: 圆角 73"/>
            <p:cNvSpPr/>
            <p:nvPr>
              <p:custDataLst>
                <p:tags r:id="rId12"/>
              </p:custDataLst>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lumMod val="85000"/>
                      <a:lumOff val="15000"/>
                    </a:schemeClr>
                  </a:solidFill>
                  <a:ea typeface="+mj-ea"/>
                  <a:cs typeface="+mn-ea"/>
                  <a:sym typeface="+mn-lt"/>
                </a:rPr>
                <a:t>5</a:t>
              </a:r>
              <a:r>
                <a:rPr lang="en-US" altLang="zh-CN" sz="2400" dirty="0" smtClean="0">
                  <a:solidFill>
                    <a:schemeClr val="tx1">
                      <a:lumMod val="85000"/>
                      <a:lumOff val="15000"/>
                    </a:schemeClr>
                  </a:solidFill>
                  <a:ea typeface="+mj-ea"/>
                  <a:cs typeface="+mn-ea"/>
                  <a:sym typeface="+mn-lt"/>
                </a:rPr>
                <a:t>.3</a:t>
              </a:r>
              <a:r>
                <a:rPr lang="en-US" altLang="zh-CN" sz="2400" dirty="0" smtClean="0">
                  <a:solidFill>
                    <a:schemeClr val="tx1">
                      <a:lumMod val="85000"/>
                      <a:lumOff val="15000"/>
                    </a:schemeClr>
                  </a:solidFill>
                  <a:latin typeface="+mj-ea"/>
                  <a:ea typeface="+mj-ea"/>
                  <a:cs typeface="+mn-ea"/>
                  <a:sym typeface="+mn-lt"/>
                </a:rPr>
                <a:t> </a:t>
              </a:r>
              <a:r>
                <a:rPr lang="zh-CN" altLang="en-US" sz="2400" dirty="0" smtClean="0">
                  <a:solidFill>
                    <a:schemeClr val="tx1">
                      <a:lumMod val="85000"/>
                      <a:lumOff val="15000"/>
                    </a:schemeClr>
                  </a:solidFill>
                  <a:latin typeface="+mj-ea"/>
                  <a:ea typeface="+mj-ea"/>
                  <a:cs typeface="+mn-ea"/>
                  <a:sym typeface="+mn-lt"/>
                </a:rPr>
                <a:t>虚拟专用网</a:t>
              </a:r>
              <a:endParaRPr lang="zh-CN" altLang="en-US" sz="2400" dirty="0">
                <a:solidFill>
                  <a:schemeClr val="tx1">
                    <a:lumMod val="85000"/>
                    <a:lumOff val="15000"/>
                  </a:schemeClr>
                </a:solidFill>
                <a:latin typeface="+mj-ea"/>
                <a:ea typeface="+mj-ea"/>
                <a:cs typeface="+mn-ea"/>
                <a:sym typeface="+mn-lt"/>
              </a:endParaRPr>
            </a:p>
          </p:txBody>
        </p:sp>
      </p:grpSp>
      <p:grpSp>
        <p:nvGrpSpPr>
          <p:cNvPr id="75" name="组合 74"/>
          <p:cNvGrpSpPr/>
          <p:nvPr>
            <p:custDataLst>
              <p:tags r:id="rId13"/>
            </p:custDataLst>
          </p:nvPr>
        </p:nvGrpSpPr>
        <p:grpSpPr>
          <a:xfrm>
            <a:off x="5562189" y="3768875"/>
            <a:ext cx="4963698" cy="617070"/>
            <a:chOff x="5493750" y="892151"/>
            <a:chExt cx="4963698" cy="617070"/>
          </a:xfrm>
        </p:grpSpPr>
        <p:sp>
          <p:nvSpPr>
            <p:cNvPr id="76" name="矩形: 圆角 75"/>
            <p:cNvSpPr/>
            <p:nvPr>
              <p:custDataLst>
                <p:tags r:id="rId14"/>
              </p:custDataLst>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77" name="human-head-silhouette-with-cogwheels_31441"/>
            <p:cNvSpPr>
              <a:spLocks noChangeAspect="1"/>
            </p:cNvSpPr>
            <p:nvPr>
              <p:custDataLst>
                <p:tags r:id="rId15"/>
              </p:custDataLst>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78" name="矩形: 圆角 77"/>
            <p:cNvSpPr/>
            <p:nvPr>
              <p:custDataLst>
                <p:tags r:id="rId16"/>
              </p:custDataLst>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lumMod val="85000"/>
                      <a:lumOff val="15000"/>
                    </a:schemeClr>
                  </a:solidFill>
                  <a:ea typeface="+mj-ea"/>
                  <a:cs typeface="+mn-ea"/>
                  <a:sym typeface="+mn-lt"/>
                </a:rPr>
                <a:t>5</a:t>
              </a:r>
              <a:r>
                <a:rPr lang="en-US" altLang="zh-CN" sz="2400" dirty="0" smtClean="0">
                  <a:solidFill>
                    <a:schemeClr val="tx1">
                      <a:lumMod val="85000"/>
                      <a:lumOff val="15000"/>
                    </a:schemeClr>
                  </a:solidFill>
                  <a:ea typeface="+mj-ea"/>
                  <a:cs typeface="+mn-ea"/>
                  <a:sym typeface="+mn-lt"/>
                </a:rPr>
                <a:t>.4</a:t>
              </a:r>
              <a:r>
                <a:rPr lang="en-US" altLang="zh-CN" sz="2400" dirty="0" smtClean="0">
                  <a:solidFill>
                    <a:schemeClr val="tx1">
                      <a:lumMod val="85000"/>
                      <a:lumOff val="15000"/>
                    </a:schemeClr>
                  </a:solidFill>
                  <a:latin typeface="+mj-ea"/>
                  <a:ea typeface="+mj-ea"/>
                  <a:cs typeface="+mn-ea"/>
                  <a:sym typeface="+mn-lt"/>
                </a:rPr>
                <a:t> </a:t>
              </a:r>
              <a:r>
                <a:rPr lang="zh-CN" altLang="en-US" sz="2400" dirty="0" smtClean="0">
                  <a:solidFill>
                    <a:schemeClr val="tx1">
                      <a:lumMod val="85000"/>
                      <a:lumOff val="15000"/>
                    </a:schemeClr>
                  </a:solidFill>
                  <a:latin typeface="+mj-ea"/>
                  <a:ea typeface="+mj-ea"/>
                  <a:cs typeface="+mn-ea"/>
                  <a:sym typeface="+mn-lt"/>
                </a:rPr>
                <a:t>蜜罐技术</a:t>
              </a:r>
              <a:endParaRPr lang="zh-CN" altLang="en-US" sz="2400" dirty="0">
                <a:solidFill>
                  <a:schemeClr val="tx1">
                    <a:lumMod val="85000"/>
                    <a:lumOff val="15000"/>
                  </a:schemeClr>
                </a:solidFill>
                <a:latin typeface="+mj-ea"/>
                <a:ea typeface="+mj-ea"/>
                <a:cs typeface="+mn-ea"/>
                <a:sym typeface="+mn-lt"/>
              </a:endParaRPr>
            </a:p>
          </p:txBody>
        </p:sp>
      </p:grpSp>
      <p:grpSp>
        <p:nvGrpSpPr>
          <p:cNvPr id="79" name="组合 78"/>
          <p:cNvGrpSpPr/>
          <p:nvPr>
            <p:custDataLst>
              <p:tags r:id="rId17"/>
            </p:custDataLst>
          </p:nvPr>
        </p:nvGrpSpPr>
        <p:grpSpPr>
          <a:xfrm>
            <a:off x="5562189" y="4634884"/>
            <a:ext cx="4963698" cy="617070"/>
            <a:chOff x="5493750" y="892151"/>
            <a:chExt cx="4963698" cy="617070"/>
          </a:xfrm>
        </p:grpSpPr>
        <p:sp>
          <p:nvSpPr>
            <p:cNvPr id="80" name="矩形: 圆角 79"/>
            <p:cNvSpPr/>
            <p:nvPr>
              <p:custDataLst>
                <p:tags r:id="rId18"/>
              </p:custDataLst>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81" name="human-head-silhouette-with-cogwheels_31441"/>
            <p:cNvSpPr>
              <a:spLocks noChangeAspect="1"/>
            </p:cNvSpPr>
            <p:nvPr>
              <p:custDataLst>
                <p:tags r:id="rId19"/>
              </p:custDataLst>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82" name="矩形: 圆角 81"/>
            <p:cNvSpPr/>
            <p:nvPr>
              <p:custDataLst>
                <p:tags r:id="rId20"/>
              </p:custDataLst>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lumMod val="85000"/>
                      <a:lumOff val="15000"/>
                    </a:schemeClr>
                  </a:solidFill>
                  <a:ea typeface="+mj-ea"/>
                  <a:cs typeface="+mn-ea"/>
                  <a:sym typeface="+mn-lt"/>
                </a:rPr>
                <a:t>5</a:t>
              </a:r>
              <a:r>
                <a:rPr lang="en-US" altLang="zh-CN" sz="2400" dirty="0" smtClean="0">
                  <a:solidFill>
                    <a:schemeClr val="tx1">
                      <a:lumMod val="85000"/>
                      <a:lumOff val="15000"/>
                    </a:schemeClr>
                  </a:solidFill>
                  <a:ea typeface="+mj-ea"/>
                  <a:cs typeface="+mn-ea"/>
                  <a:sym typeface="+mn-lt"/>
                </a:rPr>
                <a:t>.5 </a:t>
              </a:r>
              <a:r>
                <a:rPr lang="zh-CN" altLang="en-US" sz="2400" dirty="0" smtClean="0">
                  <a:solidFill>
                    <a:schemeClr val="tx1">
                      <a:lumMod val="85000"/>
                      <a:lumOff val="15000"/>
                    </a:schemeClr>
                  </a:solidFill>
                  <a:ea typeface="+mj-ea"/>
                  <a:cs typeface="+mn-ea"/>
                  <a:sym typeface="+mn-lt"/>
                </a:rPr>
                <a:t>入侵检测</a:t>
              </a:r>
              <a:endParaRPr lang="zh-CN" altLang="en-US" sz="2400" dirty="0">
                <a:solidFill>
                  <a:schemeClr val="tx1">
                    <a:lumMod val="85000"/>
                    <a:lumOff val="15000"/>
                  </a:schemeClr>
                </a:solidFill>
                <a:latin typeface="+mj-ea"/>
                <a:ea typeface="+mj-ea"/>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750" fill="hold"/>
                                        <p:tgtEl>
                                          <p:spTgt spid="20"/>
                                        </p:tgtEl>
                                        <p:attrNameLst>
                                          <p:attrName>ppt_w</p:attrName>
                                        </p:attrNameLst>
                                      </p:cBhvr>
                                      <p:tavLst>
                                        <p:tav tm="0">
                                          <p:val>
                                            <p:fltVal val="0"/>
                                          </p:val>
                                        </p:tav>
                                        <p:tav tm="100000">
                                          <p:val>
                                            <p:strVal val="#ppt_w"/>
                                          </p:val>
                                        </p:tav>
                                      </p:tavLst>
                                    </p:anim>
                                    <p:anim calcmode="lin" valueType="num">
                                      <p:cBhvr>
                                        <p:cTn id="8" dur="750" fill="hold"/>
                                        <p:tgtEl>
                                          <p:spTgt spid="20"/>
                                        </p:tgtEl>
                                        <p:attrNameLst>
                                          <p:attrName>ppt_h</p:attrName>
                                        </p:attrNameLst>
                                      </p:cBhvr>
                                      <p:tavLst>
                                        <p:tav tm="0">
                                          <p:val>
                                            <p:fltVal val="0"/>
                                          </p:val>
                                        </p:tav>
                                        <p:tav tm="100000">
                                          <p:val>
                                            <p:strVal val="#ppt_h"/>
                                          </p:val>
                                        </p:tav>
                                      </p:tavLst>
                                    </p:anim>
                                    <p:animEffect transition="in" filter="fade">
                                      <p:cBhvr>
                                        <p:cTn id="9" dur="750"/>
                                        <p:tgtEl>
                                          <p:spTgt spid="20"/>
                                        </p:tgtEl>
                                      </p:cBhvr>
                                    </p:animEffect>
                                  </p:childTnLst>
                                </p:cTn>
                              </p:par>
                              <p:par>
                                <p:cTn id="10" presetID="22" presetClass="entr" presetSubtype="8" fill="hold" grpId="0" nodeType="withEffect">
                                  <p:stCondLst>
                                    <p:cond delay="30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1000"/>
                            </p:stCondLst>
                            <p:childTnLst>
                              <p:par>
                                <p:cTn id="14" presetID="17" presetClass="entr" presetSubtype="8" fill="hold" nodeType="afterEffect">
                                  <p:stCondLst>
                                    <p:cond delay="0"/>
                                  </p:stCondLst>
                                  <p:childTnLst>
                                    <p:set>
                                      <p:cBhvr>
                                        <p:cTn id="15" dur="1" fill="hold">
                                          <p:stCondLst>
                                            <p:cond delay="0"/>
                                          </p:stCondLst>
                                        </p:cTn>
                                        <p:tgtEl>
                                          <p:spTgt spid="38"/>
                                        </p:tgtEl>
                                        <p:attrNameLst>
                                          <p:attrName>style.visibility</p:attrName>
                                        </p:attrNameLst>
                                      </p:cBhvr>
                                      <p:to>
                                        <p:strVal val="visible"/>
                                      </p:to>
                                    </p:set>
                                    <p:anim calcmode="lin" valueType="num">
                                      <p:cBhvr>
                                        <p:cTn id="16" dur="500" fill="hold"/>
                                        <p:tgtEl>
                                          <p:spTgt spid="38"/>
                                        </p:tgtEl>
                                        <p:attrNameLst>
                                          <p:attrName>ppt_x</p:attrName>
                                        </p:attrNameLst>
                                      </p:cBhvr>
                                      <p:tavLst>
                                        <p:tav tm="0">
                                          <p:val>
                                            <p:strVal val="#ppt_x-#ppt_w/2"/>
                                          </p:val>
                                        </p:tav>
                                        <p:tav tm="100000">
                                          <p:val>
                                            <p:strVal val="#ppt_x"/>
                                          </p:val>
                                        </p:tav>
                                      </p:tavLst>
                                    </p:anim>
                                    <p:anim calcmode="lin" valueType="num">
                                      <p:cBhvr>
                                        <p:cTn id="17" dur="500" fill="hold"/>
                                        <p:tgtEl>
                                          <p:spTgt spid="38"/>
                                        </p:tgtEl>
                                        <p:attrNameLst>
                                          <p:attrName>ppt_y</p:attrName>
                                        </p:attrNameLst>
                                      </p:cBhvr>
                                      <p:tavLst>
                                        <p:tav tm="0">
                                          <p:val>
                                            <p:strVal val="#ppt_y"/>
                                          </p:val>
                                        </p:tav>
                                        <p:tav tm="100000">
                                          <p:val>
                                            <p:strVal val="#ppt_y"/>
                                          </p:val>
                                        </p:tav>
                                      </p:tavLst>
                                    </p:anim>
                                    <p:anim calcmode="lin" valueType="num">
                                      <p:cBhvr>
                                        <p:cTn id="18" dur="500" fill="hold"/>
                                        <p:tgtEl>
                                          <p:spTgt spid="38"/>
                                        </p:tgtEl>
                                        <p:attrNameLst>
                                          <p:attrName>ppt_w</p:attrName>
                                        </p:attrNameLst>
                                      </p:cBhvr>
                                      <p:tavLst>
                                        <p:tav tm="0">
                                          <p:val>
                                            <p:fltVal val="0"/>
                                          </p:val>
                                        </p:tav>
                                        <p:tav tm="100000">
                                          <p:val>
                                            <p:strVal val="#ppt_w"/>
                                          </p:val>
                                        </p:tav>
                                      </p:tavLst>
                                    </p:anim>
                                    <p:anim calcmode="lin" valueType="num">
                                      <p:cBhvr>
                                        <p:cTn id="19" dur="500" fill="hold"/>
                                        <p:tgtEl>
                                          <p:spTgt spid="38"/>
                                        </p:tgtEl>
                                        <p:attrNameLst>
                                          <p:attrName>ppt_h</p:attrName>
                                        </p:attrNameLst>
                                      </p:cBhvr>
                                      <p:tavLst>
                                        <p:tav tm="0">
                                          <p:val>
                                            <p:strVal val="#ppt_h"/>
                                          </p:val>
                                        </p:tav>
                                        <p:tav tm="100000">
                                          <p:val>
                                            <p:strVal val="#ppt_h"/>
                                          </p:val>
                                        </p:tav>
                                      </p:tavLst>
                                    </p:anim>
                                  </p:childTnLst>
                                </p:cTn>
                              </p:par>
                            </p:childTnLst>
                          </p:cTn>
                        </p:par>
                        <p:par>
                          <p:cTn id="20" fill="hold">
                            <p:stCondLst>
                              <p:cond delay="1500"/>
                            </p:stCondLst>
                            <p:childTnLst>
                              <p:par>
                                <p:cTn id="21" presetID="17" presetClass="entr" presetSubtype="8" fill="hold" nodeType="afterEffect">
                                  <p:stCondLst>
                                    <p:cond delay="0"/>
                                  </p:stCondLst>
                                  <p:childTnLst>
                                    <p:set>
                                      <p:cBhvr>
                                        <p:cTn id="22" dur="1" fill="hold">
                                          <p:stCondLst>
                                            <p:cond delay="0"/>
                                          </p:stCondLst>
                                        </p:cTn>
                                        <p:tgtEl>
                                          <p:spTgt spid="67"/>
                                        </p:tgtEl>
                                        <p:attrNameLst>
                                          <p:attrName>style.visibility</p:attrName>
                                        </p:attrNameLst>
                                      </p:cBhvr>
                                      <p:to>
                                        <p:strVal val="visible"/>
                                      </p:to>
                                    </p:set>
                                    <p:anim calcmode="lin" valueType="num">
                                      <p:cBhvr>
                                        <p:cTn id="23" dur="500" fill="hold"/>
                                        <p:tgtEl>
                                          <p:spTgt spid="67"/>
                                        </p:tgtEl>
                                        <p:attrNameLst>
                                          <p:attrName>ppt_x</p:attrName>
                                        </p:attrNameLst>
                                      </p:cBhvr>
                                      <p:tavLst>
                                        <p:tav tm="0">
                                          <p:val>
                                            <p:strVal val="#ppt_x-#ppt_w/2"/>
                                          </p:val>
                                        </p:tav>
                                        <p:tav tm="100000">
                                          <p:val>
                                            <p:strVal val="#ppt_x"/>
                                          </p:val>
                                        </p:tav>
                                      </p:tavLst>
                                    </p:anim>
                                    <p:anim calcmode="lin" valueType="num">
                                      <p:cBhvr>
                                        <p:cTn id="24" dur="500" fill="hold"/>
                                        <p:tgtEl>
                                          <p:spTgt spid="67"/>
                                        </p:tgtEl>
                                        <p:attrNameLst>
                                          <p:attrName>ppt_y</p:attrName>
                                        </p:attrNameLst>
                                      </p:cBhvr>
                                      <p:tavLst>
                                        <p:tav tm="0">
                                          <p:val>
                                            <p:strVal val="#ppt_y"/>
                                          </p:val>
                                        </p:tav>
                                        <p:tav tm="100000">
                                          <p:val>
                                            <p:strVal val="#ppt_y"/>
                                          </p:val>
                                        </p:tav>
                                      </p:tavLst>
                                    </p:anim>
                                    <p:anim calcmode="lin" valueType="num">
                                      <p:cBhvr>
                                        <p:cTn id="25" dur="500" fill="hold"/>
                                        <p:tgtEl>
                                          <p:spTgt spid="67"/>
                                        </p:tgtEl>
                                        <p:attrNameLst>
                                          <p:attrName>ppt_w</p:attrName>
                                        </p:attrNameLst>
                                      </p:cBhvr>
                                      <p:tavLst>
                                        <p:tav tm="0">
                                          <p:val>
                                            <p:fltVal val="0"/>
                                          </p:val>
                                        </p:tav>
                                        <p:tav tm="100000">
                                          <p:val>
                                            <p:strVal val="#ppt_w"/>
                                          </p:val>
                                        </p:tav>
                                      </p:tavLst>
                                    </p:anim>
                                    <p:anim calcmode="lin" valueType="num">
                                      <p:cBhvr>
                                        <p:cTn id="26" dur="500" fill="hold"/>
                                        <p:tgtEl>
                                          <p:spTgt spid="67"/>
                                        </p:tgtEl>
                                        <p:attrNameLst>
                                          <p:attrName>ppt_h</p:attrName>
                                        </p:attrNameLst>
                                      </p:cBhvr>
                                      <p:tavLst>
                                        <p:tav tm="0">
                                          <p:val>
                                            <p:strVal val="#ppt_h"/>
                                          </p:val>
                                        </p:tav>
                                        <p:tav tm="100000">
                                          <p:val>
                                            <p:strVal val="#ppt_h"/>
                                          </p:val>
                                        </p:tav>
                                      </p:tavLst>
                                    </p:anim>
                                  </p:childTnLst>
                                </p:cTn>
                              </p:par>
                            </p:childTnLst>
                          </p:cTn>
                        </p:par>
                        <p:par>
                          <p:cTn id="27" fill="hold">
                            <p:stCondLst>
                              <p:cond delay="2000"/>
                            </p:stCondLst>
                            <p:childTnLst>
                              <p:par>
                                <p:cTn id="28" presetID="17" presetClass="entr" presetSubtype="8" fill="hold" nodeType="afterEffect">
                                  <p:stCondLst>
                                    <p:cond delay="0"/>
                                  </p:stCondLst>
                                  <p:childTnLst>
                                    <p:set>
                                      <p:cBhvr>
                                        <p:cTn id="29" dur="1" fill="hold">
                                          <p:stCondLst>
                                            <p:cond delay="0"/>
                                          </p:stCondLst>
                                        </p:cTn>
                                        <p:tgtEl>
                                          <p:spTgt spid="71"/>
                                        </p:tgtEl>
                                        <p:attrNameLst>
                                          <p:attrName>style.visibility</p:attrName>
                                        </p:attrNameLst>
                                      </p:cBhvr>
                                      <p:to>
                                        <p:strVal val="visible"/>
                                      </p:to>
                                    </p:set>
                                    <p:anim calcmode="lin" valueType="num">
                                      <p:cBhvr>
                                        <p:cTn id="30" dur="500" fill="hold"/>
                                        <p:tgtEl>
                                          <p:spTgt spid="71"/>
                                        </p:tgtEl>
                                        <p:attrNameLst>
                                          <p:attrName>ppt_x</p:attrName>
                                        </p:attrNameLst>
                                      </p:cBhvr>
                                      <p:tavLst>
                                        <p:tav tm="0">
                                          <p:val>
                                            <p:strVal val="#ppt_x-#ppt_w/2"/>
                                          </p:val>
                                        </p:tav>
                                        <p:tav tm="100000">
                                          <p:val>
                                            <p:strVal val="#ppt_x"/>
                                          </p:val>
                                        </p:tav>
                                      </p:tavLst>
                                    </p:anim>
                                    <p:anim calcmode="lin" valueType="num">
                                      <p:cBhvr>
                                        <p:cTn id="31" dur="500" fill="hold"/>
                                        <p:tgtEl>
                                          <p:spTgt spid="71"/>
                                        </p:tgtEl>
                                        <p:attrNameLst>
                                          <p:attrName>ppt_y</p:attrName>
                                        </p:attrNameLst>
                                      </p:cBhvr>
                                      <p:tavLst>
                                        <p:tav tm="0">
                                          <p:val>
                                            <p:strVal val="#ppt_y"/>
                                          </p:val>
                                        </p:tav>
                                        <p:tav tm="100000">
                                          <p:val>
                                            <p:strVal val="#ppt_y"/>
                                          </p:val>
                                        </p:tav>
                                      </p:tavLst>
                                    </p:anim>
                                    <p:anim calcmode="lin" valueType="num">
                                      <p:cBhvr>
                                        <p:cTn id="32" dur="500" fill="hold"/>
                                        <p:tgtEl>
                                          <p:spTgt spid="71"/>
                                        </p:tgtEl>
                                        <p:attrNameLst>
                                          <p:attrName>ppt_w</p:attrName>
                                        </p:attrNameLst>
                                      </p:cBhvr>
                                      <p:tavLst>
                                        <p:tav tm="0">
                                          <p:val>
                                            <p:fltVal val="0"/>
                                          </p:val>
                                        </p:tav>
                                        <p:tav tm="100000">
                                          <p:val>
                                            <p:strVal val="#ppt_w"/>
                                          </p:val>
                                        </p:tav>
                                      </p:tavLst>
                                    </p:anim>
                                    <p:anim calcmode="lin" valueType="num">
                                      <p:cBhvr>
                                        <p:cTn id="33" dur="500" fill="hold"/>
                                        <p:tgtEl>
                                          <p:spTgt spid="71"/>
                                        </p:tgtEl>
                                        <p:attrNameLst>
                                          <p:attrName>ppt_h</p:attrName>
                                        </p:attrNameLst>
                                      </p:cBhvr>
                                      <p:tavLst>
                                        <p:tav tm="0">
                                          <p:val>
                                            <p:strVal val="#ppt_h"/>
                                          </p:val>
                                        </p:tav>
                                        <p:tav tm="100000">
                                          <p:val>
                                            <p:strVal val="#ppt_h"/>
                                          </p:val>
                                        </p:tav>
                                      </p:tavLst>
                                    </p:anim>
                                  </p:childTnLst>
                                </p:cTn>
                              </p:par>
                            </p:childTnLst>
                          </p:cTn>
                        </p:par>
                        <p:par>
                          <p:cTn id="34" fill="hold">
                            <p:stCondLst>
                              <p:cond delay="2500"/>
                            </p:stCondLst>
                            <p:childTnLst>
                              <p:par>
                                <p:cTn id="35" presetID="17" presetClass="entr" presetSubtype="8" fill="hold" nodeType="afterEffect">
                                  <p:stCondLst>
                                    <p:cond delay="0"/>
                                  </p:stCondLst>
                                  <p:childTnLst>
                                    <p:set>
                                      <p:cBhvr>
                                        <p:cTn id="36" dur="1" fill="hold">
                                          <p:stCondLst>
                                            <p:cond delay="0"/>
                                          </p:stCondLst>
                                        </p:cTn>
                                        <p:tgtEl>
                                          <p:spTgt spid="75"/>
                                        </p:tgtEl>
                                        <p:attrNameLst>
                                          <p:attrName>style.visibility</p:attrName>
                                        </p:attrNameLst>
                                      </p:cBhvr>
                                      <p:to>
                                        <p:strVal val="visible"/>
                                      </p:to>
                                    </p:set>
                                    <p:anim calcmode="lin" valueType="num">
                                      <p:cBhvr>
                                        <p:cTn id="37" dur="500" fill="hold"/>
                                        <p:tgtEl>
                                          <p:spTgt spid="75"/>
                                        </p:tgtEl>
                                        <p:attrNameLst>
                                          <p:attrName>ppt_x</p:attrName>
                                        </p:attrNameLst>
                                      </p:cBhvr>
                                      <p:tavLst>
                                        <p:tav tm="0">
                                          <p:val>
                                            <p:strVal val="#ppt_x-#ppt_w/2"/>
                                          </p:val>
                                        </p:tav>
                                        <p:tav tm="100000">
                                          <p:val>
                                            <p:strVal val="#ppt_x"/>
                                          </p:val>
                                        </p:tav>
                                      </p:tavLst>
                                    </p:anim>
                                    <p:anim calcmode="lin" valueType="num">
                                      <p:cBhvr>
                                        <p:cTn id="38" dur="500" fill="hold"/>
                                        <p:tgtEl>
                                          <p:spTgt spid="75"/>
                                        </p:tgtEl>
                                        <p:attrNameLst>
                                          <p:attrName>ppt_y</p:attrName>
                                        </p:attrNameLst>
                                      </p:cBhvr>
                                      <p:tavLst>
                                        <p:tav tm="0">
                                          <p:val>
                                            <p:strVal val="#ppt_y"/>
                                          </p:val>
                                        </p:tav>
                                        <p:tav tm="100000">
                                          <p:val>
                                            <p:strVal val="#ppt_y"/>
                                          </p:val>
                                        </p:tav>
                                      </p:tavLst>
                                    </p:anim>
                                    <p:anim calcmode="lin" valueType="num">
                                      <p:cBhvr>
                                        <p:cTn id="39" dur="500" fill="hold"/>
                                        <p:tgtEl>
                                          <p:spTgt spid="75"/>
                                        </p:tgtEl>
                                        <p:attrNameLst>
                                          <p:attrName>ppt_w</p:attrName>
                                        </p:attrNameLst>
                                      </p:cBhvr>
                                      <p:tavLst>
                                        <p:tav tm="0">
                                          <p:val>
                                            <p:fltVal val="0"/>
                                          </p:val>
                                        </p:tav>
                                        <p:tav tm="100000">
                                          <p:val>
                                            <p:strVal val="#ppt_w"/>
                                          </p:val>
                                        </p:tav>
                                      </p:tavLst>
                                    </p:anim>
                                    <p:anim calcmode="lin" valueType="num">
                                      <p:cBhvr>
                                        <p:cTn id="40" dur="500" fill="hold"/>
                                        <p:tgtEl>
                                          <p:spTgt spid="75"/>
                                        </p:tgtEl>
                                        <p:attrNameLst>
                                          <p:attrName>ppt_h</p:attrName>
                                        </p:attrNameLst>
                                      </p:cBhvr>
                                      <p:tavLst>
                                        <p:tav tm="0">
                                          <p:val>
                                            <p:strVal val="#ppt_h"/>
                                          </p:val>
                                        </p:tav>
                                        <p:tav tm="100000">
                                          <p:val>
                                            <p:strVal val="#ppt_h"/>
                                          </p:val>
                                        </p:tav>
                                      </p:tavLst>
                                    </p:anim>
                                  </p:childTnLst>
                                </p:cTn>
                              </p:par>
                            </p:childTnLst>
                          </p:cTn>
                        </p:par>
                        <p:par>
                          <p:cTn id="41" fill="hold">
                            <p:stCondLst>
                              <p:cond delay="3000"/>
                            </p:stCondLst>
                            <p:childTnLst>
                              <p:par>
                                <p:cTn id="42" presetID="17" presetClass="entr" presetSubtype="8" fill="hold" nodeType="afterEffect">
                                  <p:stCondLst>
                                    <p:cond delay="0"/>
                                  </p:stCondLst>
                                  <p:childTnLst>
                                    <p:set>
                                      <p:cBhvr>
                                        <p:cTn id="43" dur="1" fill="hold">
                                          <p:stCondLst>
                                            <p:cond delay="0"/>
                                          </p:stCondLst>
                                        </p:cTn>
                                        <p:tgtEl>
                                          <p:spTgt spid="79"/>
                                        </p:tgtEl>
                                        <p:attrNameLst>
                                          <p:attrName>style.visibility</p:attrName>
                                        </p:attrNameLst>
                                      </p:cBhvr>
                                      <p:to>
                                        <p:strVal val="visible"/>
                                      </p:to>
                                    </p:set>
                                    <p:anim calcmode="lin" valueType="num">
                                      <p:cBhvr>
                                        <p:cTn id="44" dur="500" fill="hold"/>
                                        <p:tgtEl>
                                          <p:spTgt spid="79"/>
                                        </p:tgtEl>
                                        <p:attrNameLst>
                                          <p:attrName>ppt_x</p:attrName>
                                        </p:attrNameLst>
                                      </p:cBhvr>
                                      <p:tavLst>
                                        <p:tav tm="0">
                                          <p:val>
                                            <p:strVal val="#ppt_x-#ppt_w/2"/>
                                          </p:val>
                                        </p:tav>
                                        <p:tav tm="100000">
                                          <p:val>
                                            <p:strVal val="#ppt_x"/>
                                          </p:val>
                                        </p:tav>
                                      </p:tavLst>
                                    </p:anim>
                                    <p:anim calcmode="lin" valueType="num">
                                      <p:cBhvr>
                                        <p:cTn id="45" dur="500" fill="hold"/>
                                        <p:tgtEl>
                                          <p:spTgt spid="79"/>
                                        </p:tgtEl>
                                        <p:attrNameLst>
                                          <p:attrName>ppt_y</p:attrName>
                                        </p:attrNameLst>
                                      </p:cBhvr>
                                      <p:tavLst>
                                        <p:tav tm="0">
                                          <p:val>
                                            <p:strVal val="#ppt_y"/>
                                          </p:val>
                                        </p:tav>
                                        <p:tav tm="100000">
                                          <p:val>
                                            <p:strVal val="#ppt_y"/>
                                          </p:val>
                                        </p:tav>
                                      </p:tavLst>
                                    </p:anim>
                                    <p:anim calcmode="lin" valueType="num">
                                      <p:cBhvr>
                                        <p:cTn id="46" dur="500" fill="hold"/>
                                        <p:tgtEl>
                                          <p:spTgt spid="79"/>
                                        </p:tgtEl>
                                        <p:attrNameLst>
                                          <p:attrName>ppt_w</p:attrName>
                                        </p:attrNameLst>
                                      </p:cBhvr>
                                      <p:tavLst>
                                        <p:tav tm="0">
                                          <p:val>
                                            <p:fltVal val="0"/>
                                          </p:val>
                                        </p:tav>
                                        <p:tav tm="100000">
                                          <p:val>
                                            <p:strVal val="#ppt_w"/>
                                          </p:val>
                                        </p:tav>
                                      </p:tavLst>
                                    </p:anim>
                                    <p:anim calcmode="lin" valueType="num">
                                      <p:cBhvr>
                                        <p:cTn id="47" dur="500" fill="hold"/>
                                        <p:tgtEl>
                                          <p:spTgt spid="7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73729"/>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4400" noProof="1">
                <a:solidFill>
                  <a:schemeClr val="tx2"/>
                </a:solidFill>
                <a:effectLst>
                  <a:outerShdw blurRad="38100" dist="38100" dir="2700000">
                    <a:srgbClr val="000000"/>
                  </a:outerShdw>
                </a:effectLst>
              </a:rPr>
              <a:t>前言</a:t>
            </a:r>
            <a:endParaRPr lang="zh-CN" altLang="en-US" sz="4400" noProof="1">
              <a:solidFill>
                <a:schemeClr val="tx2"/>
              </a:solidFill>
              <a:effectLst>
                <a:outerShdw blurRad="38100" dist="38100" dir="2700000">
                  <a:srgbClr val="000000"/>
                </a:outerShdw>
              </a:effectLst>
            </a:endParaRPr>
          </a:p>
        </p:txBody>
      </p:sp>
      <p:sp>
        <p:nvSpPr>
          <p:cNvPr id="14338" name="文本占位符 73730"/>
          <p:cNvSpPr>
            <a:spLocks noGrp="1"/>
          </p:cNvSpPr>
          <p:nvPr>
            <p:ph idx="1"/>
          </p:nvPr>
        </p:nvSpPr>
        <p:spPr/>
        <p:txBody>
          <a:bodyPr vert="horz" wrap="square" lIns="91440" tIns="45720" rIns="91440" bIns="45720" anchor="t"/>
          <a:lstStyle/>
          <a:p>
            <a:pPr eaLnBrk="1" hangingPunct="1"/>
            <a:r>
              <a:rPr lang="en-US" altLang="zh-CN" dirty="0">
                <a:latin typeface="宋体" panose="02010600030101010101" pitchFamily="2" charset="-122"/>
              </a:rPr>
              <a:t>    </a:t>
            </a:r>
            <a:r>
              <a:rPr lang="zh-CN" altLang="en-US" dirty="0" smtClean="0">
                <a:latin typeface="宋体" panose="02010600030101010101" pitchFamily="2" charset="-122"/>
              </a:rPr>
              <a:t>本章介绍了网络主动防御的总体框架、纵深防御的策略和网络边界</a:t>
            </a:r>
            <a:r>
              <a:rPr lang="zh-CN" altLang="en-US" dirty="0">
                <a:latin typeface="宋体" panose="02010600030101010101" pitchFamily="2" charset="-122"/>
              </a:rPr>
              <a:t>防护的各种技术措施。网络边界安全防护技术是用于解决内部网络与外部网络交界（接口）处的安全技术，各种用于网络边界安全防护设备或手段因解决各种防护需要而被创造出来。</a:t>
            </a:r>
            <a:r>
              <a:rPr lang="zh-CN" altLang="en-US" dirty="0"/>
              <a:t> </a:t>
            </a:r>
            <a:endParaRPr lang="en-US" altLang="zh-CN" dirty="0" smtClean="0"/>
          </a:p>
          <a:p>
            <a:r>
              <a:rPr lang="en-US" altLang="zh-CN" dirty="0">
                <a:latin typeface="宋体" panose="02010600030101010101" pitchFamily="2" charset="-122"/>
              </a:rPr>
              <a:t> </a:t>
            </a:r>
            <a:r>
              <a:rPr lang="en-US" altLang="zh-CN" dirty="0" smtClean="0">
                <a:latin typeface="宋体" panose="02010600030101010101" pitchFamily="2" charset="-122"/>
              </a:rPr>
              <a:t>   </a:t>
            </a:r>
            <a:r>
              <a:rPr lang="zh-CN" altLang="en-US" dirty="0" smtClean="0">
                <a:latin typeface="宋体" panose="02010600030101010101" pitchFamily="2" charset="-122"/>
              </a:rPr>
              <a:t>例如</a:t>
            </a:r>
            <a:r>
              <a:rPr lang="zh-CN" altLang="en-US" dirty="0">
                <a:latin typeface="宋体" panose="02010600030101010101" pitchFamily="2" charset="-122"/>
              </a:rPr>
              <a:t>，由于可能存在来自外部网络的入侵，所以具有包过滤功能的路由器、防火墙、入侵检测系统（</a:t>
            </a:r>
            <a:r>
              <a:rPr lang="en-US" altLang="zh-CN" dirty="0"/>
              <a:t>IDS</a:t>
            </a:r>
            <a:r>
              <a:rPr lang="zh-CN" altLang="en-US" dirty="0">
                <a:latin typeface="宋体" panose="02010600030101010101" pitchFamily="2" charset="-122"/>
              </a:rPr>
              <a:t>）以及入侵诱骗等设备与技术都应运而生；为了保护信息传输的安全性，虚拟专网（</a:t>
            </a:r>
            <a:r>
              <a:rPr lang="en-US" altLang="zh-CN" dirty="0"/>
              <a:t>VPN</a:t>
            </a:r>
            <a:r>
              <a:rPr lang="zh-CN" altLang="en-US" dirty="0">
                <a:latin typeface="宋体" panose="02010600030101010101" pitchFamily="2" charset="-122"/>
              </a:rPr>
              <a:t>）和各种安全传输协议（如</a:t>
            </a:r>
            <a:r>
              <a:rPr lang="en-US" altLang="zh-CN" dirty="0"/>
              <a:t>SSL</a:t>
            </a:r>
            <a:r>
              <a:rPr lang="zh-CN" altLang="en-US" dirty="0">
                <a:latin typeface="宋体" panose="02010600030101010101" pitchFamily="2" charset="-122"/>
              </a:rPr>
              <a:t>、</a:t>
            </a:r>
            <a:r>
              <a:rPr lang="en-US" altLang="zh-CN" dirty="0" err="1"/>
              <a:t>IPSec</a:t>
            </a:r>
            <a:r>
              <a:rPr lang="zh-CN" altLang="en-US" dirty="0">
                <a:latin typeface="宋体" panose="02010600030101010101" pitchFamily="2" charset="-122"/>
              </a:rPr>
              <a:t>）也被创造出来。</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4000" dirty="0" smtClean="0">
                <a:solidFill>
                  <a:srgbClr val="002060"/>
                </a:solidFill>
                <a:latin typeface="思源黑体 CN Heavy" panose="020B0A00000000000000" pitchFamily="34" charset="-122"/>
                <a:ea typeface="思源黑体 CN Heavy" panose="020B0A00000000000000" pitchFamily="34" charset="-122"/>
                <a:cs typeface="+mn-ea"/>
                <a:sym typeface="+mn-lt"/>
              </a:rPr>
              <a:t>网络</a:t>
            </a:r>
            <a:r>
              <a:rPr lang="zh-CN" altLang="en-US" sz="4000" dirty="0">
                <a:solidFill>
                  <a:srgbClr val="002060"/>
                </a:solidFill>
                <a:latin typeface="思源黑体 CN Heavy" panose="020B0A00000000000000" pitchFamily="34" charset="-122"/>
                <a:ea typeface="思源黑体 CN Heavy" panose="020B0A00000000000000" pitchFamily="34" charset="-122"/>
                <a:cs typeface="+mn-ea"/>
                <a:sym typeface="+mn-lt"/>
              </a:rPr>
              <a:t>主动防御</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sz="5000" b="1" dirty="0">
                <a:latin typeface="黑体" panose="02010609060101010101" pitchFamily="49" charset="-122"/>
                <a:ea typeface="黑体" panose="02010609060101010101" pitchFamily="49" charset="-122"/>
              </a:rPr>
              <a:t>网络主动防御</a:t>
            </a:r>
            <a:endParaRPr lang="zh-CN" altLang="en-US" sz="5000" b="1" dirty="0">
              <a:latin typeface="黑体" panose="02010609060101010101" pitchFamily="49" charset="-122"/>
              <a:ea typeface="黑体" panose="02010609060101010101" pitchFamily="49" charset="-122"/>
            </a:endParaRPr>
          </a:p>
        </p:txBody>
      </p:sp>
      <p:sp>
        <p:nvSpPr>
          <p:cNvPr id="61443" name="Rectangle 3"/>
          <p:cNvSpPr>
            <a:spLocks noGrp="1" noChangeArrowheads="1"/>
          </p:cNvSpPr>
          <p:nvPr>
            <p:ph type="body" idx="1"/>
          </p:nvPr>
        </p:nvSpPr>
        <p:spPr>
          <a:xfrm>
            <a:off x="2209800" y="2120900"/>
            <a:ext cx="7772400" cy="3975100"/>
          </a:xfrm>
        </p:spPr>
        <p:txBody>
          <a:bodyPr/>
          <a:lstStyle/>
          <a:p>
            <a:pPr>
              <a:buClr>
                <a:srgbClr val="FF0000"/>
              </a:buClr>
              <a:buFont typeface="Wingdings" panose="05000000000000000000" pitchFamily="2" charset="2"/>
              <a:buChar char="Ø"/>
            </a:pPr>
            <a:r>
              <a:rPr lang="zh-CN" altLang="en-US" sz="3600" b="1">
                <a:ea typeface="黑体" panose="02010609060101010101" pitchFamily="49" charset="-122"/>
              </a:rPr>
              <a:t>网络主动防御安全模型 </a:t>
            </a:r>
            <a:endParaRPr lang="zh-CN" altLang="en-US" sz="3600" b="1">
              <a:ea typeface="黑体" panose="02010609060101010101" pitchFamily="49" charset="-122"/>
            </a:endParaRPr>
          </a:p>
          <a:p>
            <a:pPr>
              <a:buClr>
                <a:srgbClr val="FF0000"/>
              </a:buClr>
              <a:buFont typeface="Wingdings" panose="05000000000000000000" pitchFamily="2" charset="2"/>
              <a:buChar char="Ø"/>
            </a:pPr>
            <a:endParaRPr lang="zh-CN" altLang="en-US" sz="3600" b="1">
              <a:ea typeface="黑体" panose="02010609060101010101" pitchFamily="49" charset="-122"/>
            </a:endParaRPr>
          </a:p>
          <a:p>
            <a:pPr>
              <a:buClr>
                <a:srgbClr val="FF0000"/>
              </a:buClr>
              <a:buFont typeface="Wingdings" panose="05000000000000000000" pitchFamily="2" charset="2"/>
              <a:buChar char="Ø"/>
            </a:pPr>
            <a:r>
              <a:rPr lang="zh-CN" altLang="en-US" sz="3600" b="1">
                <a:ea typeface="黑体" panose="02010609060101010101" pitchFamily="49" charset="-122"/>
              </a:rPr>
              <a:t>纵深防御策略 </a:t>
            </a:r>
            <a:endParaRPr lang="zh-CN" altLang="en-US" sz="3600" b="1">
              <a:ea typeface="黑体" panose="02010609060101010101" pitchFamily="49" charset="-122"/>
            </a:endParaRPr>
          </a:p>
          <a:p>
            <a:pPr>
              <a:buClr>
                <a:srgbClr val="FF0000"/>
              </a:buClr>
              <a:buFont typeface="Wingdings" panose="05000000000000000000" pitchFamily="2" charset="2"/>
              <a:buChar char="Ø"/>
            </a:pPr>
            <a:endParaRPr lang="zh-CN" altLang="en-US" sz="3600" b="1">
              <a:ea typeface="黑体" panose="02010609060101010101" pitchFamily="49" charset="-122"/>
            </a:endParaRPr>
          </a:p>
          <a:p>
            <a:pPr>
              <a:buClr>
                <a:srgbClr val="FF0000"/>
              </a:buClr>
              <a:buFont typeface="Wingdings" panose="05000000000000000000" pitchFamily="2" charset="2"/>
              <a:buChar char="Ø"/>
            </a:pPr>
            <a:r>
              <a:rPr lang="zh-CN" altLang="en-US" sz="3600" b="1">
                <a:ea typeface="黑体" panose="02010609060101010101" pitchFamily="49" charset="-122"/>
              </a:rPr>
              <a:t>网络主动防御系统体系结构</a:t>
            </a:r>
            <a:endParaRPr lang="zh-CN" altLang="en-US" sz="3600" b="1">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body" idx="1"/>
          </p:nvPr>
        </p:nvSpPr>
        <p:spPr>
          <a:xfrm>
            <a:off x="1485089" y="1603441"/>
            <a:ext cx="9221821" cy="4724400"/>
          </a:xfrm>
        </p:spPr>
        <p:txBody>
          <a:bodyPr/>
          <a:lstStyle/>
          <a:p>
            <a:pPr>
              <a:lnSpc>
                <a:spcPct val="150000"/>
              </a:lnSpc>
            </a:pPr>
            <a:r>
              <a:rPr lang="zh-CN" altLang="en-US" sz="2400" b="1" dirty="0" smtClean="0">
                <a:latin typeface="黑体" panose="02010609060101010101" pitchFamily="49" charset="-122"/>
                <a:ea typeface="黑体" panose="02010609060101010101" pitchFamily="49" charset="-122"/>
              </a:rPr>
              <a:t>    1998年5月</a:t>
            </a:r>
            <a:r>
              <a:rPr lang="zh-CN" altLang="en-US" sz="2400" b="1" dirty="0">
                <a:latin typeface="黑体" panose="02010609060101010101" pitchFamily="49" charset="-122"/>
                <a:ea typeface="黑体" panose="02010609060101010101" pitchFamily="49" charset="-122"/>
              </a:rPr>
              <a:t>美国公布了由国家安全局</a:t>
            </a:r>
            <a:r>
              <a:rPr lang="en-US" altLang="zh-CN" sz="2400" b="1" dirty="0">
                <a:latin typeface="黑体" panose="02010609060101010101" pitchFamily="49" charset="-122"/>
                <a:ea typeface="黑体" panose="02010609060101010101" pitchFamily="49" charset="-122"/>
              </a:rPr>
              <a:t>NSA</a:t>
            </a:r>
            <a:r>
              <a:rPr lang="zh-CN" altLang="en-US" sz="2400" b="1" dirty="0">
                <a:latin typeface="黑体" panose="02010609060101010101" pitchFamily="49" charset="-122"/>
                <a:ea typeface="黑体" panose="02010609060101010101" pitchFamily="49" charset="-122"/>
              </a:rPr>
              <a:t>起草的1.0版本《信息保障技术框架》（</a:t>
            </a:r>
            <a:r>
              <a:rPr lang="en-US" altLang="zh-CN" sz="2400" b="1" dirty="0">
                <a:latin typeface="黑体" panose="02010609060101010101" pitchFamily="49" charset="-122"/>
                <a:ea typeface="黑体" panose="02010609060101010101" pitchFamily="49" charset="-122"/>
              </a:rPr>
              <a:t>Information Assurance Technical Framework，</a:t>
            </a:r>
            <a:r>
              <a:rPr lang="zh-CN" altLang="en-US" sz="2400" b="1" dirty="0">
                <a:latin typeface="黑体" panose="02010609060101010101" pitchFamily="49" charset="-122"/>
                <a:ea typeface="黑体" panose="02010609060101010101" pitchFamily="49" charset="-122"/>
              </a:rPr>
              <a:t>简写为</a:t>
            </a:r>
            <a:r>
              <a:rPr lang="en-US" altLang="zh-CN" sz="2400" b="1" dirty="0">
                <a:latin typeface="黑体" panose="02010609060101010101" pitchFamily="49" charset="-122"/>
                <a:ea typeface="黑体" panose="02010609060101010101" pitchFamily="49" charset="-122"/>
              </a:rPr>
              <a:t>IATF）。1999</a:t>
            </a:r>
            <a:r>
              <a:rPr lang="zh-CN" altLang="en-US" sz="2400" b="1" dirty="0">
                <a:latin typeface="黑体" panose="02010609060101010101" pitchFamily="49" charset="-122"/>
                <a:ea typeface="黑体" panose="02010609060101010101" pitchFamily="49" charset="-122"/>
              </a:rPr>
              <a:t>年8月31日</a:t>
            </a:r>
            <a:r>
              <a:rPr lang="en-US" altLang="zh-CN" sz="2400" b="1" dirty="0">
                <a:latin typeface="黑体" panose="02010609060101010101" pitchFamily="49" charset="-122"/>
                <a:ea typeface="黑体" panose="02010609060101010101" pitchFamily="49" charset="-122"/>
              </a:rPr>
              <a:t>IATF</a:t>
            </a:r>
            <a:r>
              <a:rPr lang="zh-CN" altLang="en-US" sz="2400" b="1" dirty="0">
                <a:latin typeface="黑体" panose="02010609060101010101" pitchFamily="49" charset="-122"/>
                <a:ea typeface="黑体" panose="02010609060101010101" pitchFamily="49" charset="-122"/>
              </a:rPr>
              <a:t>论坛发布了</a:t>
            </a:r>
            <a:r>
              <a:rPr lang="en-US" altLang="zh-CN" sz="2400" b="1" dirty="0">
                <a:latin typeface="黑体" panose="02010609060101010101" pitchFamily="49" charset="-122"/>
                <a:ea typeface="黑体" panose="02010609060101010101" pitchFamily="49" charset="-122"/>
              </a:rPr>
              <a:t>IATF2.0</a:t>
            </a:r>
            <a:r>
              <a:rPr lang="zh-CN" altLang="en-US" sz="2400" b="1" dirty="0">
                <a:latin typeface="黑体" panose="02010609060101010101" pitchFamily="49" charset="-122"/>
                <a:ea typeface="黑体" panose="02010609060101010101" pitchFamily="49" charset="-122"/>
              </a:rPr>
              <a:t>版本，2000年9月22日又推出了</a:t>
            </a:r>
            <a:r>
              <a:rPr lang="en-US" altLang="zh-CN" sz="2400" b="1" dirty="0">
                <a:latin typeface="黑体" panose="02010609060101010101" pitchFamily="49" charset="-122"/>
                <a:ea typeface="黑体" panose="02010609060101010101" pitchFamily="49" charset="-122"/>
              </a:rPr>
              <a:t>IATF3.0</a:t>
            </a:r>
            <a:r>
              <a:rPr lang="zh-CN" altLang="en-US" sz="2400" b="1" dirty="0">
                <a:latin typeface="黑体" panose="02010609060101010101" pitchFamily="49" charset="-122"/>
                <a:ea typeface="黑体" panose="02010609060101010101" pitchFamily="49" charset="-122"/>
              </a:rPr>
              <a:t>版本。在</a:t>
            </a:r>
            <a:r>
              <a:rPr lang="en-US" altLang="zh-CN" sz="2400" b="1" dirty="0">
                <a:latin typeface="黑体" panose="02010609060101010101" pitchFamily="49" charset="-122"/>
                <a:ea typeface="黑体" panose="02010609060101010101" pitchFamily="49" charset="-122"/>
              </a:rPr>
              <a:t>IATF3.0</a:t>
            </a:r>
            <a:r>
              <a:rPr lang="zh-CN" altLang="en-US" sz="2400" b="1" dirty="0">
                <a:latin typeface="黑体" panose="02010609060101010101" pitchFamily="49" charset="-122"/>
                <a:ea typeface="黑体" panose="02010609060101010101" pitchFamily="49" charset="-122"/>
              </a:rPr>
              <a:t>中定义了对一个系统进行信息保障的过程以及系统中所有部件的安全需求。遵循这些原则，信息保障被分成四个部分：</a:t>
            </a:r>
            <a:r>
              <a:rPr lang="zh-CN" altLang="en-US" sz="2400" b="1" dirty="0">
                <a:solidFill>
                  <a:srgbClr val="FF0000"/>
                </a:solidFill>
                <a:latin typeface="黑体" panose="02010609060101010101" pitchFamily="49" charset="-122"/>
                <a:ea typeface="黑体" panose="02010609060101010101" pitchFamily="49" charset="-122"/>
              </a:rPr>
              <a:t>保护、检测、响应</a:t>
            </a:r>
            <a:r>
              <a:rPr lang="zh-CN" altLang="en-US" sz="2400" b="1" dirty="0">
                <a:solidFill>
                  <a:schemeClr val="tx1"/>
                </a:solidFill>
                <a:latin typeface="黑体" panose="02010609060101010101" pitchFamily="49" charset="-122"/>
                <a:ea typeface="黑体" panose="02010609060101010101" pitchFamily="49" charset="-122"/>
              </a:rPr>
              <a:t>和</a:t>
            </a:r>
            <a:r>
              <a:rPr lang="zh-CN" altLang="en-US" sz="2400" b="1" dirty="0">
                <a:solidFill>
                  <a:srgbClr val="FF0000"/>
                </a:solidFill>
                <a:latin typeface="黑体" panose="02010609060101010101" pitchFamily="49" charset="-122"/>
                <a:ea typeface="黑体" panose="02010609060101010101" pitchFamily="49" charset="-122"/>
              </a:rPr>
              <a:t>恢复</a:t>
            </a:r>
            <a:r>
              <a:rPr lang="zh-CN" altLang="en-US" sz="2400" b="1" dirty="0">
                <a:latin typeface="黑体" panose="02010609060101010101" pitchFamily="49" charset="-122"/>
                <a:ea typeface="黑体" panose="02010609060101010101" pitchFamily="49" charset="-122"/>
              </a:rPr>
              <a:t>，这就是所谓的</a:t>
            </a:r>
            <a:r>
              <a:rPr lang="en-US" altLang="zh-CN" sz="2400" b="1" dirty="0">
                <a:latin typeface="黑体" panose="02010609060101010101" pitchFamily="49" charset="-122"/>
                <a:ea typeface="黑体" panose="02010609060101010101" pitchFamily="49" charset="-122"/>
              </a:rPr>
              <a:t>PDRR</a:t>
            </a:r>
            <a:r>
              <a:rPr lang="zh-CN" altLang="en-US" sz="2400" b="1" dirty="0">
                <a:latin typeface="黑体" panose="02010609060101010101" pitchFamily="49" charset="-122"/>
                <a:ea typeface="黑体" panose="02010609060101010101" pitchFamily="49" charset="-122"/>
              </a:rPr>
              <a:t>模型。 </a:t>
            </a:r>
            <a:endParaRPr lang="zh-CN" altLang="en-US" sz="2400" b="1" dirty="0">
              <a:latin typeface="黑体" panose="02010609060101010101" pitchFamily="49" charset="-122"/>
              <a:ea typeface="黑体" panose="02010609060101010101" pitchFamily="49" charset="-122"/>
            </a:endParaRPr>
          </a:p>
          <a:p>
            <a:endParaRPr lang="zh-CN" altLang="en-US" sz="2400" b="1" dirty="0">
              <a:latin typeface="黑体" panose="02010609060101010101" pitchFamily="49" charset="-122"/>
              <a:ea typeface="黑体" panose="02010609060101010101" pitchFamily="49" charset="-122"/>
            </a:endParaRPr>
          </a:p>
        </p:txBody>
      </p:sp>
      <p:grpSp>
        <p:nvGrpSpPr>
          <p:cNvPr id="4" name="组合 3"/>
          <p:cNvGrpSpPr/>
          <p:nvPr/>
        </p:nvGrpSpPr>
        <p:grpSpPr>
          <a:xfrm>
            <a:off x="3011772" y="211064"/>
            <a:ext cx="5937671" cy="1109044"/>
            <a:chOff x="3279913" y="488294"/>
            <a:chExt cx="5937671" cy="1109044"/>
          </a:xfrm>
        </p:grpSpPr>
        <p:grpSp>
          <p:nvGrpSpPr>
            <p:cNvPr id="5" name="组合 4"/>
            <p:cNvGrpSpPr/>
            <p:nvPr/>
          </p:nvGrpSpPr>
          <p:grpSpPr>
            <a:xfrm>
              <a:off x="3279913" y="909457"/>
              <a:ext cx="5937671" cy="687881"/>
              <a:chOff x="3279913" y="909457"/>
              <a:chExt cx="5937671" cy="687881"/>
            </a:xfrm>
          </p:grpSpPr>
          <p:sp>
            <p:nvSpPr>
              <p:cNvPr id="159" name="矩形: 圆角 9"/>
              <p:cNvSpPr/>
              <p:nvPr/>
            </p:nvSpPr>
            <p:spPr>
              <a:xfrm>
                <a:off x="3279913" y="909457"/>
                <a:ext cx="5937671"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4288353"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网络主动防御安全模型</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algn="ctr"/>
            <a:r>
              <a:rPr lang="zh-CN" altLang="en-US" sz="5000" b="1" dirty="0">
                <a:latin typeface="黑体" panose="02010609060101010101" pitchFamily="49" charset="-122"/>
                <a:ea typeface="黑体" panose="02010609060101010101" pitchFamily="49" charset="-122"/>
              </a:rPr>
              <a:t>网络主动防御安全模型</a:t>
            </a:r>
            <a:endParaRPr lang="zh-CN" altLang="en-US" sz="5000" b="1" dirty="0">
              <a:latin typeface="黑体" panose="02010609060101010101" pitchFamily="49" charset="-122"/>
              <a:ea typeface="黑体" panose="02010609060101010101" pitchFamily="49" charset="-122"/>
            </a:endParaRPr>
          </a:p>
        </p:txBody>
      </p:sp>
      <p:graphicFrame>
        <p:nvGraphicFramePr>
          <p:cNvPr id="63491" name="Object 3"/>
          <p:cNvGraphicFramePr>
            <a:graphicFrameLocks noGrp="1" noChangeAspect="1"/>
          </p:cNvGraphicFramePr>
          <p:nvPr>
            <p:ph type="body" idx="1"/>
          </p:nvPr>
        </p:nvGraphicFramePr>
        <p:xfrm>
          <a:off x="4286251" y="1981200"/>
          <a:ext cx="3617913" cy="4114800"/>
        </p:xfrm>
        <a:graphic>
          <a:graphicData uri="http://schemas.openxmlformats.org/presentationml/2006/ole">
            <mc:AlternateContent xmlns:mc="http://schemas.openxmlformats.org/markup-compatibility/2006">
              <mc:Choice xmlns:v="urn:schemas-microsoft-com:vml" Requires="v">
                <p:oleObj spid="_x0000_s2132" name="BMP 图像" r:id="rId1" imgW="1590675" imgH="1866900" progId="Paint.Picture">
                  <p:embed/>
                </p:oleObj>
              </mc:Choice>
              <mc:Fallback>
                <p:oleObj name="BMP 图像" r:id="rId1" imgW="1590675" imgH="1866900" progId="Paint.Picture">
                  <p:embed/>
                  <p:pic>
                    <p:nvPicPr>
                      <p:cNvPr id="0" name="图片 2131"/>
                      <p:cNvPicPr>
                        <a:picLocks noChangeAspect="1" noChangeArrowheads="1"/>
                      </p:cNvPicPr>
                      <p:nvPr/>
                    </p:nvPicPr>
                    <p:blipFill>
                      <a:blip r:embed="rId2"/>
                      <a:srcRect/>
                      <a:stretch>
                        <a:fillRect/>
                      </a:stretch>
                    </p:blipFill>
                    <p:spPr bwMode="auto">
                      <a:xfrm>
                        <a:off x="4286251" y="1981200"/>
                        <a:ext cx="361791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algn="ctr"/>
            <a:r>
              <a:rPr lang="zh-CN" altLang="en-US" sz="5000" b="1" dirty="0">
                <a:latin typeface="黑体" panose="02010609060101010101" pitchFamily="49" charset="-122"/>
                <a:ea typeface="黑体" panose="02010609060101010101" pitchFamily="49" charset="-122"/>
              </a:rPr>
              <a:t>网络主动防御安全模型</a:t>
            </a:r>
            <a:endParaRPr lang="zh-CN" altLang="en-US" sz="5000" b="1" dirty="0">
              <a:latin typeface="黑体" panose="02010609060101010101" pitchFamily="49" charset="-122"/>
              <a:ea typeface="黑体" panose="02010609060101010101" pitchFamily="49" charset="-122"/>
            </a:endParaRPr>
          </a:p>
        </p:txBody>
      </p:sp>
      <p:sp>
        <p:nvSpPr>
          <p:cNvPr id="64515" name="Rectangle 3"/>
          <p:cNvSpPr>
            <a:spLocks noGrp="1" noChangeArrowheads="1"/>
          </p:cNvSpPr>
          <p:nvPr>
            <p:ph type="body" idx="1"/>
          </p:nvPr>
        </p:nvSpPr>
        <p:spPr>
          <a:xfrm>
            <a:off x="1489952" y="1752600"/>
            <a:ext cx="9093741" cy="2998787"/>
          </a:xfrm>
        </p:spPr>
        <p:txBody>
          <a:bodyPr/>
          <a:lstStyle/>
          <a:p>
            <a:pPr>
              <a:lnSpc>
                <a:spcPct val="150000"/>
              </a:lnSpc>
            </a:pPr>
            <a:r>
              <a:rPr lang="zh-CN" altLang="en-US" sz="2400" b="1" dirty="0" smtClean="0">
                <a:latin typeface="黑体" panose="02010609060101010101" pitchFamily="49" charset="-122"/>
                <a:ea typeface="黑体" panose="02010609060101010101" pitchFamily="49" charset="-122"/>
              </a:rPr>
              <a:t>    在</a:t>
            </a:r>
            <a:r>
              <a:rPr lang="en-US" altLang="zh-CN" sz="2400" b="1" dirty="0">
                <a:latin typeface="黑体" panose="02010609060101010101" pitchFamily="49" charset="-122"/>
                <a:ea typeface="黑体" panose="02010609060101010101" pitchFamily="49" charset="-122"/>
              </a:rPr>
              <a:t>PDRR</a:t>
            </a:r>
            <a:r>
              <a:rPr lang="zh-CN" altLang="en-US" sz="2400" b="1" dirty="0">
                <a:latin typeface="黑体" panose="02010609060101010101" pitchFamily="49" charset="-122"/>
                <a:ea typeface="黑体" panose="02010609060101010101" pitchFamily="49" charset="-122"/>
              </a:rPr>
              <a:t>模型中，主动防御的思想体现的不突出。</a:t>
            </a:r>
            <a:r>
              <a:rPr lang="zh-CN" altLang="en-US" sz="2400" b="1" dirty="0">
                <a:latin typeface="黑体" panose="02010609060101010101" pitchFamily="49" charset="-122"/>
                <a:ea typeface="黑体" panose="02010609060101010101" pitchFamily="49" charset="-122"/>
              </a:rPr>
              <a:t>而基于网络主动防御的思想对</a:t>
            </a:r>
            <a:r>
              <a:rPr lang="en-US" altLang="zh-CN" sz="2400" b="1" dirty="0">
                <a:latin typeface="黑体" panose="02010609060101010101" pitchFamily="49" charset="-122"/>
                <a:ea typeface="黑体" panose="02010609060101010101" pitchFamily="49" charset="-122"/>
              </a:rPr>
              <a:t>PDRR</a:t>
            </a:r>
            <a:r>
              <a:rPr lang="zh-CN" altLang="en-US" sz="2400" b="1" dirty="0">
                <a:latin typeface="黑体" panose="02010609060101010101" pitchFamily="49" charset="-122"/>
                <a:ea typeface="黑体" panose="02010609060101010101" pitchFamily="49" charset="-122"/>
              </a:rPr>
              <a:t>安全模型进行扩展，提出一种网络主动防御安全模型。 </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algn="ctr"/>
            <a:r>
              <a:rPr lang="zh-CN" altLang="en-US" sz="5000" b="1" dirty="0">
                <a:latin typeface="黑体" panose="02010609060101010101" pitchFamily="49" charset="-122"/>
                <a:ea typeface="黑体" panose="02010609060101010101" pitchFamily="49" charset="-122"/>
              </a:rPr>
              <a:t>网络主动防御安全模型</a:t>
            </a:r>
            <a:r>
              <a:rPr lang="zh-CN" altLang="en-US" sz="4800" b="1" dirty="0">
                <a:ea typeface="黑体" panose="02010609060101010101" pitchFamily="49" charset="-122"/>
              </a:rPr>
              <a:t> </a:t>
            </a:r>
            <a:endParaRPr lang="zh-CN" altLang="en-US" sz="4800" b="1" dirty="0">
              <a:ea typeface="黑体" panose="02010609060101010101" pitchFamily="49" charset="-122"/>
            </a:endParaRPr>
          </a:p>
        </p:txBody>
      </p:sp>
      <p:sp>
        <p:nvSpPr>
          <p:cNvPr id="65539" name="Rectangle 3"/>
          <p:cNvSpPr>
            <a:spLocks noChangeArrowheads="1"/>
          </p:cNvSpPr>
          <p:nvPr/>
        </p:nvSpPr>
        <p:spPr bwMode="auto">
          <a:xfrm>
            <a:off x="1524001" y="241616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65540" name="Object 4"/>
          <p:cNvGraphicFramePr>
            <a:graphicFrameLocks noChangeAspect="1"/>
          </p:cNvGraphicFramePr>
          <p:nvPr/>
        </p:nvGraphicFramePr>
        <p:xfrm>
          <a:off x="3287714" y="1529265"/>
          <a:ext cx="4752975" cy="4711700"/>
        </p:xfrm>
        <a:graphic>
          <a:graphicData uri="http://schemas.openxmlformats.org/presentationml/2006/ole">
            <mc:AlternateContent xmlns:mc="http://schemas.openxmlformats.org/markup-compatibility/2006">
              <mc:Choice xmlns:v="urn:schemas-microsoft-com:vml" Requires="v">
                <p:oleObj spid="_x0000_s3156" name="图片" r:id="rId1" imgW="2181225" imgH="2162175" progId="Word.Picture.8">
                  <p:embed/>
                </p:oleObj>
              </mc:Choice>
              <mc:Fallback>
                <p:oleObj name="图片" r:id="rId1" imgW="2181225" imgH="2162175" progId="Word.Picture.8">
                  <p:embed/>
                  <p:pic>
                    <p:nvPicPr>
                      <p:cNvPr id="0" name="图片 315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714" y="1529265"/>
                        <a:ext cx="4752975" cy="471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algn="ctr"/>
            <a:r>
              <a:rPr lang="zh-CN" altLang="en-US" sz="5000" b="1" dirty="0">
                <a:latin typeface="黑体" panose="02010609060101010101" pitchFamily="49" charset="-122"/>
                <a:ea typeface="黑体" panose="02010609060101010101" pitchFamily="49" charset="-122"/>
              </a:rPr>
              <a:t>网络主动防御安全模型</a:t>
            </a:r>
            <a:endParaRPr lang="zh-CN" altLang="en-US" sz="5000" b="1" dirty="0">
              <a:latin typeface="黑体" panose="02010609060101010101" pitchFamily="49" charset="-122"/>
              <a:ea typeface="黑体" panose="02010609060101010101" pitchFamily="49" charset="-122"/>
            </a:endParaRPr>
          </a:p>
        </p:txBody>
      </p:sp>
      <p:sp>
        <p:nvSpPr>
          <p:cNvPr id="66563" name="Rectangle 3"/>
          <p:cNvSpPr>
            <a:spLocks noGrp="1" noChangeArrowheads="1"/>
          </p:cNvSpPr>
          <p:nvPr>
            <p:ph type="body" idx="1"/>
          </p:nvPr>
        </p:nvSpPr>
        <p:spPr>
          <a:xfrm>
            <a:off x="742950" y="1570990"/>
            <a:ext cx="10667365" cy="3835400"/>
          </a:xfrm>
        </p:spPr>
        <p:txBody>
          <a:bodyPr/>
          <a:lstStyle/>
          <a:p>
            <a:pPr algn="just">
              <a:lnSpc>
                <a:spcPct val="110000"/>
              </a:lnSpc>
            </a:pPr>
            <a:r>
              <a:rPr lang="zh-CN" altLang="en-US" sz="2400" b="1" dirty="0">
                <a:latin typeface="黑体" panose="02010609060101010101" pitchFamily="49" charset="-122"/>
                <a:ea typeface="黑体" panose="02010609060101010101" pitchFamily="49" charset="-122"/>
              </a:rPr>
              <a:t> </a:t>
            </a:r>
            <a:r>
              <a:rPr lang="zh-CN" altLang="en-US" sz="2400" b="1" dirty="0" smtClean="0">
                <a:latin typeface="黑体" panose="02010609060101010101" pitchFamily="49" charset="-122"/>
                <a:ea typeface="黑体" panose="02010609060101010101" pitchFamily="49" charset="-122"/>
              </a:rPr>
              <a:t>   该</a:t>
            </a:r>
            <a:r>
              <a:rPr lang="zh-CN" altLang="en-US" sz="2400" b="1" dirty="0">
                <a:latin typeface="黑体" panose="02010609060101010101" pitchFamily="49" charset="-122"/>
                <a:ea typeface="黑体" panose="02010609060101010101" pitchFamily="49" charset="-122"/>
              </a:rPr>
              <a:t>模型分为三层：</a:t>
            </a:r>
            <a:r>
              <a:rPr lang="zh-CN" altLang="en-US" sz="2400" b="1" dirty="0">
                <a:highlight>
                  <a:srgbClr val="FFFF00"/>
                </a:highlight>
                <a:latin typeface="黑体" panose="02010609060101010101" pitchFamily="49" charset="-122"/>
                <a:ea typeface="黑体" panose="02010609060101010101" pitchFamily="49" charset="-122"/>
              </a:rPr>
              <a:t>管理、策略和技术</a:t>
            </a:r>
            <a:r>
              <a:rPr lang="zh-CN" altLang="en-US" sz="2400" b="1" dirty="0">
                <a:latin typeface="黑体" panose="02010609060101010101" pitchFamily="49" charset="-122"/>
                <a:ea typeface="黑体" panose="02010609060101010101" pitchFamily="49" charset="-122"/>
              </a:rPr>
              <a:t>。其中技术包括六个部分：</a:t>
            </a:r>
            <a:r>
              <a:rPr lang="zh-CN" altLang="en-US" sz="2400" b="1" dirty="0">
                <a:solidFill>
                  <a:srgbClr val="FF0000"/>
                </a:solidFill>
                <a:latin typeface="黑体" panose="02010609060101010101" pitchFamily="49" charset="-122"/>
                <a:ea typeface="黑体" panose="02010609060101010101" pitchFamily="49" charset="-122"/>
              </a:rPr>
              <a:t>预警、保护、检测、响应、恢复、反击</a:t>
            </a:r>
            <a:r>
              <a:rPr lang="zh-CN" altLang="en-US" sz="2400" b="1" dirty="0">
                <a:latin typeface="黑体" panose="02010609060101010101" pitchFamily="49" charset="-122"/>
                <a:ea typeface="黑体" panose="02010609060101010101" pitchFamily="49" charset="-122"/>
              </a:rPr>
              <a:t>。</a:t>
            </a:r>
            <a:endParaRPr lang="zh-CN" altLang="en-US" sz="2400" b="1" dirty="0">
              <a:latin typeface="黑体" panose="02010609060101010101" pitchFamily="49" charset="-122"/>
              <a:ea typeface="黑体" panose="02010609060101010101" pitchFamily="49" charset="-122"/>
            </a:endParaRPr>
          </a:p>
          <a:p>
            <a:pPr algn="just">
              <a:lnSpc>
                <a:spcPct val="110000"/>
              </a:lnSpc>
            </a:pPr>
            <a:r>
              <a:rPr lang="zh-CN" altLang="en-US" sz="2400" b="1" dirty="0">
                <a:latin typeface="黑体" panose="02010609060101010101" pitchFamily="49" charset="-122"/>
                <a:ea typeface="黑体" panose="02010609060101010101" pitchFamily="49" charset="-122"/>
              </a:rPr>
              <a:t> </a:t>
            </a:r>
            <a:r>
              <a:rPr lang="zh-CN" altLang="en-US" sz="2400" b="1" dirty="0" smtClean="0">
                <a:latin typeface="黑体" panose="02010609060101010101" pitchFamily="49" charset="-122"/>
                <a:ea typeface="黑体" panose="02010609060101010101" pitchFamily="49" charset="-122"/>
              </a:rPr>
              <a:t>   由于</a:t>
            </a:r>
            <a:r>
              <a:rPr lang="zh-CN" altLang="en-US" sz="2400" b="1" dirty="0">
                <a:latin typeface="黑体" panose="02010609060101010101" pitchFamily="49" charset="-122"/>
                <a:ea typeface="黑体" panose="02010609060101010101" pitchFamily="49" charset="-122"/>
              </a:rPr>
              <a:t>管理在网络安全中的重要作用，因此管理位于安全模型的核心层。管理的对象包括三个方面的内容：</a:t>
            </a:r>
            <a:r>
              <a:rPr lang="zh-CN" altLang="en-US" sz="2400" b="1" dirty="0">
                <a:highlight>
                  <a:srgbClr val="00FF00"/>
                </a:highlight>
                <a:latin typeface="黑体" panose="02010609060101010101" pitchFamily="49" charset="-122"/>
                <a:ea typeface="黑体" panose="02010609060101010101" pitchFamily="49" charset="-122"/>
              </a:rPr>
              <a:t>对技术的管理</a:t>
            </a:r>
            <a:r>
              <a:rPr lang="zh-CN" altLang="en-US" sz="2400" b="1" dirty="0">
                <a:latin typeface="黑体" panose="02010609060101010101" pitchFamily="49" charset="-122"/>
                <a:ea typeface="黑体" panose="02010609060101010101" pitchFamily="49" charset="-122"/>
              </a:rPr>
              <a:t>、</a:t>
            </a:r>
            <a:r>
              <a:rPr lang="zh-CN" altLang="en-US" sz="2400" b="1" dirty="0">
                <a:highlight>
                  <a:srgbClr val="00FF00"/>
                </a:highlight>
                <a:latin typeface="黑体" panose="02010609060101010101" pitchFamily="49" charset="-122"/>
                <a:ea typeface="黑体" panose="02010609060101010101" pitchFamily="49" charset="-122"/>
              </a:rPr>
              <a:t>对人的管理</a:t>
            </a:r>
            <a:r>
              <a:rPr lang="zh-CN" altLang="en-US" sz="2400" b="1" dirty="0">
                <a:latin typeface="黑体" panose="02010609060101010101" pitchFamily="49" charset="-122"/>
                <a:ea typeface="黑体" panose="02010609060101010101" pitchFamily="49" charset="-122"/>
              </a:rPr>
              <a:t>和</a:t>
            </a:r>
            <a:r>
              <a:rPr lang="zh-CN" altLang="en-US" sz="2400" b="1" dirty="0">
                <a:highlight>
                  <a:srgbClr val="00FF00"/>
                </a:highlight>
                <a:latin typeface="黑体" panose="02010609060101010101" pitchFamily="49" charset="-122"/>
                <a:ea typeface="黑体" panose="02010609060101010101" pitchFamily="49" charset="-122"/>
              </a:rPr>
              <a:t>对政策的管理</a:t>
            </a:r>
            <a:r>
              <a:rPr lang="zh-CN" altLang="en-US" sz="2400" b="1" dirty="0">
                <a:latin typeface="黑体" panose="02010609060101010101" pitchFamily="49" charset="-122"/>
                <a:ea typeface="黑体" panose="02010609060101010101" pitchFamily="49" charset="-122"/>
              </a:rPr>
              <a:t>。</a:t>
            </a:r>
            <a:endParaRPr lang="zh-CN" altLang="en-US" sz="2400" b="1" dirty="0">
              <a:latin typeface="黑体" panose="02010609060101010101" pitchFamily="49" charset="-122"/>
              <a:ea typeface="黑体" panose="02010609060101010101" pitchFamily="49" charset="-122"/>
            </a:endParaRPr>
          </a:p>
          <a:p>
            <a:pPr algn="just">
              <a:lnSpc>
                <a:spcPct val="110000"/>
              </a:lnSpc>
            </a:pPr>
            <a:r>
              <a:rPr lang="zh-CN" altLang="en-US" sz="2400" b="1" dirty="0">
                <a:latin typeface="黑体" panose="02010609060101010101" pitchFamily="49" charset="-122"/>
                <a:ea typeface="黑体" panose="02010609060101010101" pitchFamily="49" charset="-122"/>
              </a:rPr>
              <a:t> </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对技术的管理主要通过策略进行，以使各种安全技术能成为一个有机的整体，从而提高系统的整体防护能力。</a:t>
            </a:r>
            <a:endParaRPr lang="zh-CN" altLang="en-US" sz="2400" b="1" dirty="0">
              <a:latin typeface="黑体" panose="02010609060101010101" pitchFamily="49" charset="-122"/>
              <a:ea typeface="黑体" panose="02010609060101010101" pitchFamily="49" charset="-122"/>
            </a:endParaRPr>
          </a:p>
          <a:p>
            <a:pPr algn="just">
              <a:lnSpc>
                <a:spcPct val="110000"/>
              </a:lnSpc>
            </a:pPr>
            <a:r>
              <a:rPr lang="zh-CN" altLang="en-US" sz="2400" b="1" dirty="0">
                <a:latin typeface="黑体" panose="02010609060101010101" pitchFamily="49" charset="-122"/>
                <a:ea typeface="黑体" panose="02010609060101010101" pitchFamily="49" charset="-122"/>
              </a:rPr>
              <a:t> </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对人的管理同样重要。对人的管理主要通过各种政策和安全制度对参与信息系统的人员进行安全制度强制的执行、安全意识和安全技术的培训等，增强参与信息系统的人员的安全意识和遵纪守法意识，提高安全警觉性，从而加强系统的整体安全性。</a:t>
            </a:r>
            <a:endParaRPr lang="zh-CN" altLang="en-US" sz="2400" b="1" dirty="0">
              <a:latin typeface="黑体" panose="02010609060101010101" pitchFamily="49" charset="-122"/>
              <a:ea typeface="黑体" panose="02010609060101010101" pitchFamily="49" charset="-122"/>
            </a:endParaRPr>
          </a:p>
          <a:p>
            <a:pPr algn="just">
              <a:lnSpc>
                <a:spcPct val="110000"/>
              </a:lnSpc>
            </a:pPr>
            <a:r>
              <a:rPr lang="zh-CN" altLang="en-US" sz="2400" b="1" dirty="0">
                <a:latin typeface="黑体" panose="02010609060101010101" pitchFamily="49" charset="-122"/>
                <a:ea typeface="黑体" panose="02010609060101010101" pitchFamily="49" charset="-122"/>
              </a:rPr>
              <a:t> </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对政策的管理主要包括政策的制定、执行和改进等。 </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algn="ctr"/>
            <a:r>
              <a:rPr lang="zh-CN" altLang="en-US" sz="5000" b="1" dirty="0">
                <a:latin typeface="黑体" panose="02010609060101010101" pitchFamily="49" charset="-122"/>
                <a:ea typeface="黑体" panose="02010609060101010101" pitchFamily="49" charset="-122"/>
              </a:rPr>
              <a:t>网络主动防御安全模型</a:t>
            </a:r>
            <a:endParaRPr lang="zh-CN" altLang="en-US" sz="5000" b="1" dirty="0">
              <a:latin typeface="黑体" panose="02010609060101010101" pitchFamily="49" charset="-122"/>
              <a:ea typeface="黑体" panose="02010609060101010101" pitchFamily="49" charset="-122"/>
            </a:endParaRPr>
          </a:p>
        </p:txBody>
      </p:sp>
      <p:sp>
        <p:nvSpPr>
          <p:cNvPr id="67587" name="Rectangle 3"/>
          <p:cNvSpPr>
            <a:spLocks noGrp="1" noChangeArrowheads="1"/>
          </p:cNvSpPr>
          <p:nvPr>
            <p:ph type="body" idx="1"/>
          </p:nvPr>
        </p:nvSpPr>
        <p:spPr>
          <a:xfrm>
            <a:off x="1392677" y="1752600"/>
            <a:ext cx="9482846" cy="3417887"/>
          </a:xfrm>
        </p:spPr>
        <p:txBody>
          <a:bodyPr/>
          <a:lstStyle/>
          <a:p>
            <a:pPr algn="just">
              <a:lnSpc>
                <a:spcPct val="150000"/>
              </a:lnSpc>
            </a:pPr>
            <a:r>
              <a:rPr lang="zh-CN" altLang="en-US" sz="2400" b="1" dirty="0">
                <a:ea typeface="黑体" panose="02010609060101010101" pitchFamily="49" charset="-122"/>
              </a:rPr>
              <a:t> </a:t>
            </a:r>
            <a:r>
              <a:rPr lang="zh-CN" altLang="en-US" sz="2400" b="1" dirty="0" smtClean="0">
                <a:ea typeface="黑体" panose="02010609060101010101" pitchFamily="49" charset="-122"/>
              </a:rPr>
              <a:t>        策略</a:t>
            </a:r>
            <a:r>
              <a:rPr lang="zh-CN" altLang="en-US" sz="2400" b="1" dirty="0">
                <a:ea typeface="黑体" panose="02010609060101010101" pitchFamily="49" charset="-122"/>
              </a:rPr>
              <a:t>是将各种安全技术有机结合起来的关键。安全策略是整个网络安全的依据。不同的网络需要不同的策略，比如网络规模的大小和网络配置的不同都需要不同的网络安全策略。安全策略将是整个企业安全行为的准则。在下一节中，</a:t>
            </a:r>
            <a:r>
              <a:rPr lang="zh-CN" altLang="en-US" sz="2400" b="1" dirty="0">
                <a:ea typeface="黑体" panose="02010609060101010101" pitchFamily="49" charset="-122"/>
              </a:rPr>
              <a:t>将提出一种纵深防御策略来融合各种网络技术以达到网络安全最大化。</a:t>
            </a:r>
            <a:endParaRPr lang="zh-CN" altLang="en-US" sz="2400" b="1" dirty="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type="body" idx="1"/>
          </p:nvPr>
        </p:nvSpPr>
        <p:spPr>
          <a:xfrm>
            <a:off x="914400" y="1611549"/>
            <a:ext cx="10363200" cy="4114800"/>
          </a:xfrm>
        </p:spPr>
        <p:txBody>
          <a:bodyPr/>
          <a:lstStyle/>
          <a:p>
            <a:pPr>
              <a:lnSpc>
                <a:spcPct val="120000"/>
              </a:lnSpc>
            </a:pPr>
            <a:r>
              <a:rPr lang="zh-CN" altLang="en-US" sz="2400" b="1" dirty="0" smtClean="0">
                <a:latin typeface="黑体" panose="02010609060101010101" pitchFamily="49" charset="-122"/>
                <a:ea typeface="黑体" panose="02010609060101010101" pitchFamily="49" charset="-122"/>
              </a:rPr>
              <a:t>    </a:t>
            </a:r>
            <a:r>
              <a:rPr lang="zh-CN" altLang="en-US" sz="2400" b="1" dirty="0" smtClean="0">
                <a:highlight>
                  <a:srgbClr val="FFFF00"/>
                </a:highlight>
                <a:latin typeface="黑体" panose="02010609060101010101" pitchFamily="49" charset="-122"/>
                <a:ea typeface="黑体" panose="02010609060101010101" pitchFamily="49" charset="-122"/>
              </a:rPr>
              <a:t>预警</a:t>
            </a:r>
            <a:r>
              <a:rPr lang="zh-CN" altLang="en-US" sz="2400" b="1" dirty="0">
                <a:latin typeface="黑体" panose="02010609060101010101" pitchFamily="49" charset="-122"/>
                <a:ea typeface="黑体" panose="02010609060101010101" pitchFamily="49" charset="-122"/>
              </a:rPr>
              <a:t>的基本宗旨就是根据以前掌握系统的脆弱性和了解当前的犯罪趋势，预测未来可能受到的攻击和危害。</a:t>
            </a:r>
            <a:r>
              <a:rPr lang="zh-CN" altLang="en-US" sz="2400" b="1" dirty="0">
                <a:highlight>
                  <a:srgbClr val="FFFF00"/>
                </a:highlight>
                <a:latin typeface="黑体" panose="02010609060101010101" pitchFamily="49" charset="-122"/>
                <a:ea typeface="黑体" panose="02010609060101010101" pitchFamily="49" charset="-122"/>
              </a:rPr>
              <a:t>保护</a:t>
            </a:r>
            <a:r>
              <a:rPr lang="zh-CN" altLang="en-US" sz="2400" b="1" dirty="0">
                <a:latin typeface="黑体" panose="02010609060101010101" pitchFamily="49" charset="-122"/>
                <a:ea typeface="黑体" panose="02010609060101010101" pitchFamily="49" charset="-122"/>
              </a:rPr>
              <a:t>通常是通过采用一些传统的静态安全技术及方法来实现，以保护系统和网络数据的各种安全属性。</a:t>
            </a:r>
            <a:r>
              <a:rPr lang="zh-CN" altLang="en-US" sz="2400" b="1" dirty="0">
                <a:highlight>
                  <a:srgbClr val="FFFF00"/>
                </a:highlight>
                <a:latin typeface="黑体" panose="02010609060101010101" pitchFamily="49" charset="-122"/>
                <a:ea typeface="黑体" panose="02010609060101010101" pitchFamily="49" charset="-122"/>
              </a:rPr>
              <a:t>检测</a:t>
            </a:r>
            <a:r>
              <a:rPr lang="zh-CN" altLang="en-US" sz="2400" b="1" dirty="0">
                <a:latin typeface="黑体" panose="02010609060101010101" pitchFamily="49" charset="-122"/>
                <a:ea typeface="黑体" panose="02010609060101010101" pitchFamily="49" charset="-122"/>
              </a:rPr>
              <a:t>为动态响应提供了信息和依据，同时也辅助了安全策略的制定和执行，通过对网络的检测和监控，不仅能够发现网络攻击，同时也能发现本地网络存在的脆弱性漏洞，这样就可以通过循环反馈来做出响应。</a:t>
            </a:r>
            <a:r>
              <a:rPr lang="zh-CN" altLang="en-US" sz="2400" b="1" dirty="0">
                <a:highlight>
                  <a:srgbClr val="FFFF00"/>
                </a:highlight>
                <a:latin typeface="黑体" panose="02010609060101010101" pitchFamily="49" charset="-122"/>
                <a:ea typeface="黑体" panose="02010609060101010101" pitchFamily="49" charset="-122"/>
              </a:rPr>
              <a:t>响应</a:t>
            </a:r>
            <a:r>
              <a:rPr lang="zh-CN" altLang="en-US" sz="2400" b="1" dirty="0">
                <a:latin typeface="黑体" panose="02010609060101010101" pitchFamily="49" charset="-122"/>
                <a:ea typeface="黑体" panose="02010609060101010101" pitchFamily="49" charset="-122"/>
              </a:rPr>
              <a:t>就是对危及网络安全的事件和行为做出反应，阻止对信息系统的进一步破坏并使损失降到最低。</a:t>
            </a:r>
            <a:r>
              <a:rPr lang="zh-CN" altLang="en-US" sz="2400" b="1" dirty="0">
                <a:highlight>
                  <a:srgbClr val="FFFF00"/>
                </a:highlight>
                <a:latin typeface="黑体" panose="02010609060101010101" pitchFamily="49" charset="-122"/>
                <a:ea typeface="黑体" panose="02010609060101010101" pitchFamily="49" charset="-122"/>
              </a:rPr>
              <a:t>恢复</a:t>
            </a:r>
            <a:r>
              <a:rPr lang="zh-CN" altLang="en-US" sz="2400" b="1" dirty="0">
                <a:latin typeface="黑体" panose="02010609060101010101" pitchFamily="49" charset="-122"/>
                <a:ea typeface="黑体" panose="02010609060101010101" pitchFamily="49" charset="-122"/>
              </a:rPr>
              <a:t>是针对环境的物理灾害和人为蓄意破坏而采取的安全措施和对策，从而使信息系统能迅速恢复正常的运行。</a:t>
            </a:r>
            <a:r>
              <a:rPr lang="zh-CN" altLang="en-US" sz="2400" b="1" dirty="0">
                <a:highlight>
                  <a:srgbClr val="FFFF00"/>
                </a:highlight>
                <a:latin typeface="黑体" panose="02010609060101010101" pitchFamily="49" charset="-122"/>
                <a:ea typeface="黑体" panose="02010609060101010101" pitchFamily="49" charset="-122"/>
              </a:rPr>
              <a:t>反击</a:t>
            </a:r>
            <a:r>
              <a:rPr lang="zh-CN" altLang="en-US" sz="2400" b="1" dirty="0">
                <a:latin typeface="黑体" panose="02010609060101010101" pitchFamily="49" charset="-122"/>
                <a:ea typeface="黑体" panose="02010609060101010101" pitchFamily="49" charset="-122"/>
              </a:rPr>
              <a:t>就是运用各种网络攻击手段对网络攻击者进行攻击，迫使其停止攻击。 </a:t>
            </a:r>
            <a:endParaRPr lang="zh-CN" altLang="en-US" sz="2400" b="1" dirty="0">
              <a:latin typeface="黑体" panose="02010609060101010101" pitchFamily="49" charset="-122"/>
              <a:ea typeface="黑体" panose="02010609060101010101" pitchFamily="49" charset="-122"/>
            </a:endParaRPr>
          </a:p>
          <a:p>
            <a:pPr>
              <a:lnSpc>
                <a:spcPct val="90000"/>
              </a:lnSpc>
            </a:pPr>
            <a:endParaRPr lang="zh-CN" altLang="en-US" sz="2400" b="1" dirty="0">
              <a:latin typeface="黑体" panose="02010609060101010101" pitchFamily="49" charset="-122"/>
              <a:ea typeface="黑体" panose="02010609060101010101" pitchFamily="49" charset="-122"/>
            </a:endParaRPr>
          </a:p>
        </p:txBody>
      </p:sp>
      <p:grpSp>
        <p:nvGrpSpPr>
          <p:cNvPr id="4" name="组合 3"/>
          <p:cNvGrpSpPr/>
          <p:nvPr/>
        </p:nvGrpSpPr>
        <p:grpSpPr>
          <a:xfrm>
            <a:off x="3525948" y="307952"/>
            <a:ext cx="5140104" cy="1109044"/>
            <a:chOff x="3279913" y="488294"/>
            <a:chExt cx="5140104" cy="1109044"/>
          </a:xfrm>
        </p:grpSpPr>
        <p:grpSp>
          <p:nvGrpSpPr>
            <p:cNvPr id="5" name="组合 4"/>
            <p:cNvGrpSpPr/>
            <p:nvPr/>
          </p:nvGrpSpPr>
          <p:grpSpPr>
            <a:xfrm>
              <a:off x="3279913" y="909457"/>
              <a:ext cx="5140104" cy="687881"/>
              <a:chOff x="3279913" y="909457"/>
              <a:chExt cx="5140104" cy="687881"/>
            </a:xfrm>
          </p:grpSpPr>
          <p:sp>
            <p:nvSpPr>
              <p:cNvPr id="159" name="矩形: 圆角 9"/>
              <p:cNvSpPr/>
              <p:nvPr/>
            </p:nvSpPr>
            <p:spPr>
              <a:xfrm>
                <a:off x="3279913" y="909457"/>
                <a:ext cx="5140104"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3467616"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主动循环防御策略</a:t>
                </a:r>
                <a:endPar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a:r>
              <a:rPr lang="zh-CN" altLang="en-US" sz="5000" b="1" dirty="0">
                <a:latin typeface="黑体" panose="02010609060101010101" pitchFamily="49" charset="-122"/>
                <a:ea typeface="黑体" panose="02010609060101010101" pitchFamily="49" charset="-122"/>
              </a:rPr>
              <a:t>纵深防御策略</a:t>
            </a:r>
            <a:endParaRPr lang="zh-CN" altLang="en-US" sz="5000" b="1" dirty="0">
              <a:latin typeface="黑体" panose="02010609060101010101" pitchFamily="49" charset="-122"/>
              <a:ea typeface="黑体" panose="02010609060101010101" pitchFamily="49" charset="-122"/>
            </a:endParaRPr>
          </a:p>
        </p:txBody>
      </p:sp>
      <p:sp>
        <p:nvSpPr>
          <p:cNvPr id="69635" name="Rectangle 3"/>
          <p:cNvSpPr>
            <a:spLocks noGrp="1" noChangeArrowheads="1"/>
          </p:cNvSpPr>
          <p:nvPr>
            <p:ph type="body" idx="1"/>
          </p:nvPr>
        </p:nvSpPr>
        <p:spPr>
          <a:xfrm>
            <a:off x="1465634" y="2067028"/>
            <a:ext cx="9260732" cy="3348037"/>
          </a:xfrm>
        </p:spPr>
        <p:txBody>
          <a:bodyPr/>
          <a:lstStyle/>
          <a:p>
            <a:pPr algn="just">
              <a:lnSpc>
                <a:spcPct val="150000"/>
              </a:lnSpc>
            </a:pPr>
            <a:r>
              <a:rPr lang="zh-CN" altLang="en-US" b="1" dirty="0">
                <a:latin typeface="黑体" panose="02010609060101010101" pitchFamily="49" charset="-122"/>
                <a:ea typeface="黑体" panose="02010609060101010101" pitchFamily="49" charset="-122"/>
              </a:rPr>
              <a:t> </a:t>
            </a:r>
            <a:r>
              <a:rPr lang="zh-CN" altLang="en-US" b="1" dirty="0" smtClean="0">
                <a:latin typeface="黑体" panose="02010609060101010101" pitchFamily="49" charset="-122"/>
                <a:ea typeface="黑体" panose="02010609060101010101" pitchFamily="49" charset="-122"/>
              </a:rPr>
              <a:t>    </a:t>
            </a:r>
            <a:r>
              <a:rPr lang="zh-CN" altLang="en-US" b="1" dirty="0" smtClean="0">
                <a:ea typeface="黑体" panose="02010609060101010101" pitchFamily="49" charset="-122"/>
              </a:rPr>
              <a:t>“</a:t>
            </a:r>
            <a:r>
              <a:rPr lang="zh-CN" altLang="en-US" b="1" dirty="0">
                <a:latin typeface="黑体" panose="02010609060101010101" pitchFamily="49" charset="-122"/>
                <a:ea typeface="黑体" panose="02010609060101010101" pitchFamily="49" charset="-122"/>
              </a:rPr>
              <a:t>纵深防御（</a:t>
            </a:r>
            <a:r>
              <a:rPr lang="en-US" altLang="zh-CN" b="1" dirty="0">
                <a:latin typeface="黑体" panose="02010609060101010101" pitchFamily="49" charset="-122"/>
                <a:ea typeface="黑体" panose="02010609060101010101" pitchFamily="49" charset="-122"/>
              </a:rPr>
              <a:t>Defense-in-Depth）</a:t>
            </a:r>
            <a:r>
              <a:rPr lang="en-US" altLang="zh-CN" b="1" dirty="0">
                <a:ea typeface="黑体" panose="02010609060101010101" pitchFamily="49" charset="-122"/>
              </a:rPr>
              <a:t>”</a:t>
            </a:r>
            <a:r>
              <a:rPr lang="zh-CN" altLang="en-US" b="1" dirty="0">
                <a:latin typeface="黑体" panose="02010609060101010101" pitchFamily="49" charset="-122"/>
                <a:ea typeface="黑体" panose="02010609060101010101" pitchFamily="49" charset="-122"/>
              </a:rPr>
              <a:t>的概念可以应用于很多领域，我们在网络主动防御系统中提出纵深防御策略主要是使网络主动防御系统中的各个子系统形成一个层次性的纵深防御体系。</a:t>
            </a:r>
            <a:endParaRPr lang="zh-CN" altLang="en-US"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algn="ctr"/>
            <a:r>
              <a:rPr lang="zh-CN" altLang="en-US" sz="5000" b="1" dirty="0">
                <a:latin typeface="黑体" panose="02010609060101010101" pitchFamily="49" charset="-122"/>
                <a:ea typeface="黑体" panose="02010609060101010101" pitchFamily="49" charset="-122"/>
              </a:rPr>
              <a:t>纵深防御策略</a:t>
            </a:r>
            <a:endParaRPr lang="zh-CN" altLang="en-US" sz="5000" b="1" dirty="0">
              <a:latin typeface="黑体" panose="02010609060101010101" pitchFamily="49" charset="-122"/>
              <a:ea typeface="黑体" panose="02010609060101010101" pitchFamily="49" charset="-122"/>
            </a:endParaRPr>
          </a:p>
        </p:txBody>
      </p:sp>
      <p:sp>
        <p:nvSpPr>
          <p:cNvPr id="70659" name="Rectangle 3"/>
          <p:cNvSpPr>
            <a:spLocks noChangeArrowheads="1"/>
          </p:cNvSpPr>
          <p:nvPr/>
        </p:nvSpPr>
        <p:spPr bwMode="auto">
          <a:xfrm>
            <a:off x="1524001" y="25251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70660" name="Object 4"/>
          <p:cNvGraphicFramePr>
            <a:graphicFrameLocks noChangeAspect="1"/>
          </p:cNvGraphicFramePr>
          <p:nvPr/>
        </p:nvGraphicFramePr>
        <p:xfrm>
          <a:off x="1774825" y="1989138"/>
          <a:ext cx="8496300" cy="2857500"/>
        </p:xfrm>
        <a:graphic>
          <a:graphicData uri="http://schemas.openxmlformats.org/presentationml/2006/ole">
            <mc:AlternateContent xmlns:mc="http://schemas.openxmlformats.org/markup-compatibility/2006">
              <mc:Choice xmlns:v="urn:schemas-microsoft-com:vml" Requires="v">
                <p:oleObj spid="_x0000_s4180" name="图片" r:id="rId1" imgW="4276725" imgH="1438275" progId="Word.Picture.8">
                  <p:embed/>
                </p:oleObj>
              </mc:Choice>
              <mc:Fallback>
                <p:oleObj name="图片" r:id="rId1" imgW="4276725" imgH="1438275" progId="Word.Picture.8">
                  <p:embed/>
                  <p:pic>
                    <p:nvPicPr>
                      <p:cNvPr id="0" name="图片 417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825" y="1989138"/>
                        <a:ext cx="8496300" cy="285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lgn="ctr"/>
            <a:r>
              <a:rPr lang="zh-CN" altLang="en-US" sz="5000" b="1" dirty="0">
                <a:latin typeface="黑体" panose="02010609060101010101" pitchFamily="49" charset="-122"/>
                <a:ea typeface="黑体" panose="02010609060101010101" pitchFamily="49" charset="-122"/>
              </a:rPr>
              <a:t>纵深防御策略</a:t>
            </a:r>
            <a:endParaRPr lang="zh-CN" altLang="en-US" sz="5000" b="1" dirty="0">
              <a:latin typeface="黑体" panose="02010609060101010101" pitchFamily="49" charset="-122"/>
              <a:ea typeface="黑体" panose="02010609060101010101" pitchFamily="49" charset="-122"/>
            </a:endParaRPr>
          </a:p>
        </p:txBody>
      </p:sp>
      <p:sp>
        <p:nvSpPr>
          <p:cNvPr id="71683" name="Rectangle 3"/>
          <p:cNvSpPr>
            <a:spLocks noGrp="1" noChangeArrowheads="1"/>
          </p:cNvSpPr>
          <p:nvPr>
            <p:ph type="body" idx="1"/>
          </p:nvPr>
        </p:nvSpPr>
        <p:spPr>
          <a:xfrm>
            <a:off x="914400" y="1752600"/>
            <a:ext cx="10363200" cy="4114800"/>
          </a:xfrm>
        </p:spPr>
        <p:txBody>
          <a:bodyPr/>
          <a:lstStyle/>
          <a:p>
            <a:pPr algn="just">
              <a:lnSpc>
                <a:spcPct val="130000"/>
              </a:lnSpc>
            </a:pPr>
            <a:r>
              <a:rPr lang="zh-CN" altLang="en-US" sz="2400" b="1" dirty="0">
                <a:latin typeface="黑体" panose="02010609060101010101" pitchFamily="49" charset="-122"/>
                <a:ea typeface="黑体" panose="02010609060101010101" pitchFamily="49" charset="-122"/>
              </a:rPr>
              <a:t>纵深防御策略描述如下：</a:t>
            </a:r>
            <a:endParaRPr lang="zh-CN" altLang="en-US" sz="2400" b="1" dirty="0">
              <a:latin typeface="黑体" panose="02010609060101010101" pitchFamily="49" charset="-122"/>
              <a:ea typeface="黑体" panose="02010609060101010101" pitchFamily="49" charset="-122"/>
            </a:endParaRPr>
          </a:p>
          <a:p>
            <a:pPr algn="just">
              <a:lnSpc>
                <a:spcPct val="130000"/>
              </a:lnSpc>
            </a:pPr>
            <a:r>
              <a:rPr lang="zh-CN" altLang="en-US" sz="2400" b="1" dirty="0">
                <a:latin typeface="黑体" panose="02010609060101010101" pitchFamily="49" charset="-122"/>
                <a:ea typeface="黑体" panose="02010609060101010101" pitchFamily="49" charset="-122"/>
              </a:rPr>
              <a:t>(1) 网络安全首先是网络管理的安全。网络入侵事件的发生很多都是由于网络管理员的管理漏洞，而非系统漏洞。比如我们只需对本地网络中的路由器或防火墙配置最简单的网络地址转换（</a:t>
            </a:r>
            <a:r>
              <a:rPr lang="en-US" altLang="zh-CN" sz="2400" b="1" dirty="0">
                <a:latin typeface="黑体" panose="02010609060101010101" pitchFamily="49" charset="-122"/>
                <a:ea typeface="黑体" panose="02010609060101010101" pitchFamily="49" charset="-122"/>
              </a:rPr>
              <a:t>NAT）</a:t>
            </a:r>
            <a:r>
              <a:rPr lang="zh-CN" altLang="en-US" sz="2400" b="1" dirty="0">
                <a:latin typeface="黑体" panose="02010609060101010101" pitchFamily="49" charset="-122"/>
                <a:ea typeface="黑体" panose="02010609060101010101" pitchFamily="49" charset="-122"/>
              </a:rPr>
              <a:t>协议就可以隐藏内部信息使一些网络攻击失效。因此，首先要保证网络管理的安全，这包括对技术管理的安全、对人员管理的安全和对政策管理的安全。</a:t>
            </a:r>
            <a:endParaRPr lang="zh-CN" altLang="en-US" sz="2400" b="1" dirty="0">
              <a:latin typeface="黑体" panose="02010609060101010101" pitchFamily="49" charset="-122"/>
              <a:ea typeface="黑体" panose="02010609060101010101" pitchFamily="49" charset="-122"/>
            </a:endParaRPr>
          </a:p>
          <a:p>
            <a:pPr algn="just">
              <a:lnSpc>
                <a:spcPct val="130000"/>
              </a:lnSpc>
            </a:pPr>
            <a:r>
              <a:rPr lang="zh-CN" altLang="en-US" sz="2400" b="1" dirty="0">
                <a:latin typeface="黑体" panose="02010609060101010101" pitchFamily="49" charset="-122"/>
                <a:ea typeface="黑体" panose="02010609060101010101" pitchFamily="49" charset="-122"/>
              </a:rPr>
              <a:t>(2) 纵深防御策略是一个层次性的循环防御策略，即从第一层的</a:t>
            </a:r>
            <a:r>
              <a:rPr lang="zh-CN" altLang="en-US" sz="2400" b="1" dirty="0">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预警</a:t>
            </a:r>
            <a:r>
              <a:rPr lang="zh-CN" altLang="en-US" sz="2400" b="1" dirty="0">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到最后的</a:t>
            </a:r>
            <a:r>
              <a:rPr lang="zh-CN" altLang="en-US" sz="2400" b="1" dirty="0">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反击</a:t>
            </a:r>
            <a:r>
              <a:rPr lang="zh-CN" altLang="en-US" sz="2400" b="1" dirty="0">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，然后一个完整的防御过程又为以后的</a:t>
            </a:r>
            <a:r>
              <a:rPr lang="zh-CN" altLang="en-US" sz="2400" b="1" dirty="0">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预警</a:t>
            </a:r>
            <a:r>
              <a:rPr lang="zh-CN" altLang="en-US" sz="2400" b="1" dirty="0">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提供帮助。该层次性的结构可以根据网络攻击的深入提供不同层次的防护。 </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algn="ctr"/>
            <a:r>
              <a:rPr lang="zh-CN" altLang="en-US" sz="5000" b="1" dirty="0">
                <a:latin typeface="黑体" panose="02010609060101010101" pitchFamily="49" charset="-122"/>
                <a:ea typeface="黑体" panose="02010609060101010101" pitchFamily="49" charset="-122"/>
              </a:rPr>
              <a:t>纵深防御策略</a:t>
            </a:r>
            <a:endParaRPr lang="zh-CN" altLang="en-US" sz="5000" b="1" dirty="0">
              <a:latin typeface="黑体" panose="02010609060101010101" pitchFamily="49" charset="-122"/>
              <a:ea typeface="黑体" panose="02010609060101010101" pitchFamily="49" charset="-122"/>
            </a:endParaRPr>
          </a:p>
        </p:txBody>
      </p:sp>
      <p:sp>
        <p:nvSpPr>
          <p:cNvPr id="72707" name="Rectangle 3"/>
          <p:cNvSpPr>
            <a:spLocks noGrp="1" noChangeArrowheads="1"/>
          </p:cNvSpPr>
          <p:nvPr>
            <p:ph type="body" idx="1"/>
          </p:nvPr>
        </p:nvSpPr>
        <p:spPr>
          <a:xfrm>
            <a:off x="914400" y="1572638"/>
            <a:ext cx="10363200" cy="4114800"/>
          </a:xfrm>
        </p:spPr>
        <p:txBody>
          <a:bodyPr/>
          <a:lstStyle/>
          <a:p>
            <a:pPr algn="just">
              <a:lnSpc>
                <a:spcPct val="120000"/>
              </a:lnSpc>
            </a:pPr>
            <a:r>
              <a:rPr lang="zh-CN" altLang="en-US" sz="2400" b="1" dirty="0">
                <a:latin typeface="黑体" panose="02010609060101010101" pitchFamily="49" charset="-122"/>
                <a:ea typeface="黑体" panose="02010609060101010101" pitchFamily="49" charset="-122"/>
              </a:rPr>
              <a:t>(3) 层与层之间必须</a:t>
            </a:r>
            <a:r>
              <a:rPr lang="zh-CN" altLang="en-US" sz="2400" b="1" dirty="0">
                <a:latin typeface="黑体" panose="02010609060101010101" pitchFamily="49" charset="-122"/>
                <a:ea typeface="黑体" panose="02010609060101010101" pitchFamily="49" charset="-122"/>
              </a:rPr>
              <a:t>进需要利用安全的网络通信协议进行。各层子系统进行信息交互的目的就是使各层间相互配合来保证一层被攻破，会有下一层的防护阻止网络攻击的继续进行。比如在检测到攻击后，入侵检测系统需要和防火墙进行联动，同时和网络监控系统交互信息，这样网络攻击可以在防火墙就遭到拒绝，同时网络监控系统也做出相应的响应，拒绝网络攻击流量。</a:t>
            </a:r>
            <a:endParaRPr lang="zh-CN" altLang="en-US" sz="2400" b="1" dirty="0">
              <a:latin typeface="黑体" panose="02010609060101010101" pitchFamily="49" charset="-122"/>
              <a:ea typeface="黑体" panose="02010609060101010101" pitchFamily="49" charset="-122"/>
            </a:endParaRPr>
          </a:p>
          <a:p>
            <a:pPr algn="just">
              <a:lnSpc>
                <a:spcPct val="120000"/>
              </a:lnSpc>
            </a:pPr>
            <a:r>
              <a:rPr lang="zh-CN" altLang="en-US" sz="2400" b="1" dirty="0">
                <a:latin typeface="黑体" panose="02010609060101010101" pitchFamily="49" charset="-122"/>
                <a:ea typeface="黑体" panose="02010609060101010101" pitchFamily="49" charset="-122"/>
              </a:rPr>
              <a:t>(4) 网络内部的攻击往往更容易，且危害更大。一般从网络外部进行攻击所耗费的时间和精力要远大于网络内部的攻击，更是远大于同一个局域网内的攻击。如何设置安全策略和安全技术来防止网络内部的攻击往往比抵御外来的攻击更重要。所以网络监控系统需要实时监测内部网络的各个主机行为，并根据相应的策略限制网络内部的可能的异常行为。</a:t>
            </a:r>
            <a:r>
              <a:rPr lang="zh-CN" altLang="en-US" sz="2400" dirty="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algn="ctr"/>
            <a:r>
              <a:rPr lang="zh-CN" altLang="en-US" sz="5000" b="1" dirty="0">
                <a:latin typeface="黑体" panose="02010609060101010101" pitchFamily="49" charset="-122"/>
                <a:ea typeface="黑体" panose="02010609060101010101" pitchFamily="49" charset="-122"/>
              </a:rPr>
              <a:t>纵深防御策略</a:t>
            </a:r>
            <a:endParaRPr lang="zh-CN" altLang="en-US" sz="5000" b="1" dirty="0">
              <a:latin typeface="黑体" panose="02010609060101010101" pitchFamily="49" charset="-122"/>
              <a:ea typeface="黑体" panose="02010609060101010101" pitchFamily="49" charset="-122"/>
            </a:endParaRPr>
          </a:p>
        </p:txBody>
      </p:sp>
      <p:sp>
        <p:nvSpPr>
          <p:cNvPr id="73731" name="Rectangle 3"/>
          <p:cNvSpPr>
            <a:spLocks noGrp="1" noChangeArrowheads="1"/>
          </p:cNvSpPr>
          <p:nvPr>
            <p:ph type="body" idx="1"/>
          </p:nvPr>
        </p:nvSpPr>
        <p:spPr>
          <a:xfrm>
            <a:off x="1582366" y="1938812"/>
            <a:ext cx="9027268" cy="3417887"/>
          </a:xfrm>
        </p:spPr>
        <p:txBody>
          <a:bodyPr/>
          <a:lstStyle/>
          <a:p>
            <a:pPr algn="just">
              <a:lnSpc>
                <a:spcPct val="140000"/>
              </a:lnSpc>
            </a:pPr>
            <a:r>
              <a:rPr lang="zh-CN" altLang="en-US" sz="2400" b="1" dirty="0">
                <a:latin typeface="黑体" panose="02010609060101010101" pitchFamily="49" charset="-122"/>
                <a:ea typeface="黑体" panose="02010609060101010101" pitchFamily="49" charset="-122"/>
              </a:rPr>
              <a:t>(5) 反向攻击是最后的手段，不可轻易实施。只有在满足了一定的条件，比如符合法律规定，不违背道德，并且在前面所有的防御手段无法阻止网络攻击的情况下才可进行。</a:t>
            </a:r>
            <a:endParaRPr lang="zh-CN" altLang="en-US" sz="2400" b="1" dirty="0">
              <a:latin typeface="黑体" panose="02010609060101010101" pitchFamily="49" charset="-122"/>
              <a:ea typeface="黑体" panose="02010609060101010101" pitchFamily="49" charset="-122"/>
            </a:endParaRPr>
          </a:p>
          <a:p>
            <a:pPr algn="just">
              <a:lnSpc>
                <a:spcPct val="140000"/>
              </a:lnSpc>
            </a:pPr>
            <a:r>
              <a:rPr lang="zh-CN" altLang="en-US" sz="2400" b="1" dirty="0">
                <a:latin typeface="黑体" panose="02010609060101010101" pitchFamily="49" charset="-122"/>
                <a:ea typeface="黑体" panose="02010609060101010101" pitchFamily="49" charset="-122"/>
              </a:rPr>
              <a:t>(6) 网络攻击技术在不停地发展，因此网络主动防御技术也需不断地更新和发展。网络主动防御技术就是要在和网络攻击的不断斗争中进一步地发展。 </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algn="ctr"/>
            <a:r>
              <a:rPr lang="zh-CN" altLang="en-US" sz="5000" b="1" dirty="0">
                <a:latin typeface="黑体" panose="02010609060101010101" pitchFamily="49" charset="-122"/>
                <a:ea typeface="黑体" panose="02010609060101010101" pitchFamily="49" charset="-122"/>
              </a:rPr>
              <a:t>纵深防御策略</a:t>
            </a:r>
            <a:endParaRPr lang="en-US" altLang="zh-CN" sz="5000" b="1" dirty="0">
              <a:latin typeface="黑体" panose="02010609060101010101" pitchFamily="49" charset="-122"/>
              <a:ea typeface="黑体" panose="02010609060101010101" pitchFamily="49" charset="-122"/>
            </a:endParaRPr>
          </a:p>
        </p:txBody>
      </p:sp>
      <p:sp>
        <p:nvSpPr>
          <p:cNvPr id="74755" name="Rectangle 3"/>
          <p:cNvSpPr>
            <a:spLocks noGrp="1" noChangeArrowheads="1"/>
          </p:cNvSpPr>
          <p:nvPr>
            <p:ph type="body" idx="1"/>
          </p:nvPr>
        </p:nvSpPr>
        <p:spPr>
          <a:xfrm>
            <a:off x="1524000" y="1752600"/>
            <a:ext cx="9143999" cy="3905250"/>
          </a:xfrm>
        </p:spPr>
        <p:txBody>
          <a:bodyPr/>
          <a:lstStyle/>
          <a:p>
            <a:pPr>
              <a:lnSpc>
                <a:spcPct val="130000"/>
              </a:lnSpc>
            </a:pPr>
            <a:r>
              <a:rPr lang="zh-CN" altLang="en-US" sz="2400" b="1" dirty="0" smtClean="0">
                <a:ea typeface="黑体" panose="02010609060101010101" pitchFamily="49" charset="-122"/>
              </a:rPr>
              <a:t>        “</a:t>
            </a:r>
            <a:r>
              <a:rPr lang="zh-CN" altLang="en-US" sz="2400" b="1" dirty="0" smtClean="0">
                <a:latin typeface="黑体" panose="02010609060101010101" pitchFamily="49" charset="-122"/>
                <a:ea typeface="黑体" panose="02010609060101010101" pitchFamily="49" charset="-122"/>
              </a:rPr>
              <a:t>纵深防御</a:t>
            </a:r>
            <a:r>
              <a:rPr lang="zh-CN" altLang="en-US" sz="2400" b="1" dirty="0" smtClean="0">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本身并不是一个新概念。在战场上就有</a:t>
            </a:r>
            <a:r>
              <a:rPr lang="zh-CN" altLang="en-US" sz="2400" b="1" dirty="0">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纵深防御</a:t>
            </a:r>
            <a:r>
              <a:rPr lang="zh-CN" altLang="en-US" sz="2400" b="1" dirty="0">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策略来有效地保护己方。在</a:t>
            </a:r>
            <a:r>
              <a:rPr lang="en-US" altLang="zh-CN" sz="2400" b="1" dirty="0">
                <a:latin typeface="黑体" panose="02010609060101010101" pitchFamily="49" charset="-122"/>
                <a:ea typeface="黑体" panose="02010609060101010101" pitchFamily="49" charset="-122"/>
              </a:rPr>
              <a:t>IATF</a:t>
            </a:r>
            <a:r>
              <a:rPr lang="zh-CN" altLang="en-US" sz="2400" b="1" dirty="0">
                <a:latin typeface="黑体" panose="02010609060101010101" pitchFamily="49" charset="-122"/>
                <a:ea typeface="黑体" panose="02010609060101010101" pitchFamily="49" charset="-122"/>
              </a:rPr>
              <a:t>中也提出了</a:t>
            </a:r>
            <a:r>
              <a:rPr lang="zh-CN" altLang="en-US" sz="2400" b="1" dirty="0">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纵深防御</a:t>
            </a:r>
            <a:r>
              <a:rPr lang="zh-CN" altLang="en-US" sz="2400" b="1" dirty="0">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的思想。</a:t>
            </a:r>
            <a:r>
              <a:rPr lang="en-US" altLang="zh-CN" sz="2400" b="1" dirty="0">
                <a:latin typeface="黑体" panose="02010609060101010101" pitchFamily="49" charset="-122"/>
                <a:ea typeface="黑体" panose="02010609060101010101" pitchFamily="49" charset="-122"/>
              </a:rPr>
              <a:t>IATF</a:t>
            </a:r>
            <a:r>
              <a:rPr lang="zh-CN" altLang="en-US" sz="2400" b="1" dirty="0">
                <a:latin typeface="黑体" panose="02010609060101010101" pitchFamily="49" charset="-122"/>
                <a:ea typeface="黑体" panose="02010609060101010101" pitchFamily="49" charset="-122"/>
              </a:rPr>
              <a:t>认为信息保障依赖于人（</a:t>
            </a:r>
            <a:r>
              <a:rPr lang="en-US" altLang="zh-CN" sz="2400" b="1" dirty="0">
                <a:latin typeface="黑体" panose="02010609060101010101" pitchFamily="49" charset="-122"/>
                <a:ea typeface="黑体" panose="02010609060101010101" pitchFamily="49" charset="-122"/>
              </a:rPr>
              <a:t>People）、</a:t>
            </a:r>
            <a:r>
              <a:rPr lang="zh-CN" altLang="en-US" sz="2400" b="1" dirty="0">
                <a:latin typeface="黑体" panose="02010609060101010101" pitchFamily="49" charset="-122"/>
                <a:ea typeface="黑体" panose="02010609060101010101" pitchFamily="49" charset="-122"/>
              </a:rPr>
              <a:t>技术（</a:t>
            </a:r>
            <a:r>
              <a:rPr lang="en-US" altLang="zh-CN" sz="2400" b="1" dirty="0">
                <a:latin typeface="黑体" panose="02010609060101010101" pitchFamily="49" charset="-122"/>
                <a:ea typeface="黑体" panose="02010609060101010101" pitchFamily="49" charset="-122"/>
              </a:rPr>
              <a:t>Technology）</a:t>
            </a:r>
            <a:r>
              <a:rPr lang="zh-CN" altLang="en-US" sz="2400" b="1" dirty="0">
                <a:latin typeface="黑体" panose="02010609060101010101" pitchFamily="49" charset="-122"/>
                <a:ea typeface="黑体" panose="02010609060101010101" pitchFamily="49" charset="-122"/>
              </a:rPr>
              <a:t>及操作（</a:t>
            </a:r>
            <a:r>
              <a:rPr lang="en-US" altLang="zh-CN" sz="2400" b="1" dirty="0">
                <a:latin typeface="黑体" panose="02010609060101010101" pitchFamily="49" charset="-122"/>
                <a:ea typeface="黑体" panose="02010609060101010101" pitchFamily="49" charset="-122"/>
              </a:rPr>
              <a:t>Operations）</a:t>
            </a:r>
            <a:r>
              <a:rPr lang="zh-CN" altLang="en-US" sz="2400" b="1" dirty="0">
                <a:latin typeface="黑体" panose="02010609060101010101" pitchFamily="49" charset="-122"/>
                <a:ea typeface="黑体" panose="02010609060101010101" pitchFamily="49" charset="-122"/>
              </a:rPr>
              <a:t>三者去完成任务并掌握技术及保护信息基础设施，即人在技术的支持下去执行操作从而来对信息系统进行保障。</a:t>
            </a:r>
            <a:r>
              <a:rPr lang="en-US" altLang="zh-CN" sz="2400" b="1" dirty="0">
                <a:latin typeface="黑体" panose="02010609060101010101" pitchFamily="49" charset="-122"/>
                <a:ea typeface="黑体" panose="02010609060101010101" pitchFamily="49" charset="-122"/>
              </a:rPr>
              <a:t>IATF</a:t>
            </a:r>
            <a:r>
              <a:rPr lang="zh-CN" altLang="en-US" sz="2400" b="1" dirty="0">
                <a:latin typeface="黑体" panose="02010609060101010101" pitchFamily="49" charset="-122"/>
                <a:ea typeface="黑体" panose="02010609060101010101" pitchFamily="49" charset="-122"/>
              </a:rPr>
              <a:t>给出一个框架结构，用来提供可重叠的层次性保护手段。这样当某个攻击成功地攻击了某层的话，它并不能威胁整个信息基础设施的安全。 </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algn="ctr"/>
            <a:r>
              <a:rPr lang="zh-CN" altLang="en-US" sz="5000" b="1" dirty="0">
                <a:latin typeface="黑体" panose="02010609060101010101" pitchFamily="49" charset="-122"/>
                <a:ea typeface="黑体" panose="02010609060101010101" pitchFamily="49" charset="-122"/>
              </a:rPr>
              <a:t>纵深防御策略</a:t>
            </a:r>
            <a:endParaRPr lang="zh-CN" altLang="en-US" sz="5000" b="1" dirty="0">
              <a:latin typeface="黑体" panose="02010609060101010101" pitchFamily="49" charset="-122"/>
              <a:ea typeface="黑体" panose="02010609060101010101" pitchFamily="49" charset="-122"/>
            </a:endParaRPr>
          </a:p>
        </p:txBody>
      </p:sp>
      <p:sp>
        <p:nvSpPr>
          <p:cNvPr id="75779" name="Rectangle 3"/>
          <p:cNvSpPr>
            <a:spLocks noGrp="1" noChangeArrowheads="1"/>
          </p:cNvSpPr>
          <p:nvPr>
            <p:ph type="body" idx="1"/>
          </p:nvPr>
        </p:nvSpPr>
        <p:spPr>
          <a:xfrm>
            <a:off x="1731523" y="2120900"/>
            <a:ext cx="8774349" cy="3975100"/>
          </a:xfrm>
        </p:spPr>
        <p:txBody>
          <a:bodyPr/>
          <a:lstStyle/>
          <a:p>
            <a:pPr algn="just"/>
            <a:r>
              <a:rPr lang="zh-CN" altLang="en-US" b="1" dirty="0">
                <a:latin typeface="黑体" panose="02010609060101010101" pitchFamily="49" charset="-122"/>
                <a:ea typeface="黑体" panose="02010609060101010101" pitchFamily="49" charset="-122"/>
              </a:rPr>
              <a:t>网络主动防御系统的纵深防御策略和</a:t>
            </a:r>
            <a:r>
              <a:rPr lang="en-US" altLang="zh-CN" b="1" dirty="0">
                <a:latin typeface="黑体" panose="02010609060101010101" pitchFamily="49" charset="-122"/>
                <a:ea typeface="黑体" panose="02010609060101010101" pitchFamily="49" charset="-122"/>
              </a:rPr>
              <a:t>IATF</a:t>
            </a:r>
            <a:r>
              <a:rPr lang="zh-CN" altLang="en-US" b="1" dirty="0">
                <a:latin typeface="黑体" panose="02010609060101010101" pitchFamily="49" charset="-122"/>
                <a:ea typeface="黑体" panose="02010609060101010101" pitchFamily="49" charset="-122"/>
              </a:rPr>
              <a:t>的纵深防御策略相比较，有以下不同：</a:t>
            </a:r>
            <a:endParaRPr lang="zh-CN" altLang="en-US" b="1" dirty="0">
              <a:latin typeface="黑体" panose="02010609060101010101" pitchFamily="49" charset="-122"/>
              <a:ea typeface="黑体" panose="02010609060101010101" pitchFamily="49" charset="-122"/>
            </a:endParaRPr>
          </a:p>
          <a:p>
            <a:pPr algn="just"/>
            <a:r>
              <a:rPr lang="zh-CN" altLang="en-US" b="1" dirty="0">
                <a:latin typeface="黑体" panose="02010609060101010101" pitchFamily="49" charset="-122"/>
                <a:ea typeface="黑体" panose="02010609060101010101" pitchFamily="49" charset="-122"/>
              </a:rPr>
              <a:t>(1) </a:t>
            </a:r>
            <a:r>
              <a:rPr lang="en-US" altLang="zh-CN" b="1" dirty="0">
                <a:latin typeface="黑体" panose="02010609060101010101" pitchFamily="49" charset="-122"/>
                <a:ea typeface="黑体" panose="02010609060101010101" pitchFamily="49" charset="-122"/>
              </a:rPr>
              <a:t>IATF</a:t>
            </a:r>
            <a:r>
              <a:rPr lang="zh-CN" altLang="en-US" b="1" dirty="0">
                <a:latin typeface="黑体" panose="02010609060101010101" pitchFamily="49" charset="-122"/>
                <a:ea typeface="黑体" panose="02010609060101010101" pitchFamily="49" charset="-122"/>
              </a:rPr>
              <a:t>的纵深防御策略是一个宏观的概念，给出的是一个框架。本文提出的网络主动防御系统的纵深防御策略主要关注的是技术本身，较为具体且可操作性强，而且在防护的同时还强调主动的攻击。</a:t>
            </a:r>
            <a:endParaRPr lang="zh-CN" altLang="en-US"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algn="ctr"/>
            <a:r>
              <a:rPr lang="zh-CN" altLang="en-US" sz="5000" b="1" dirty="0">
                <a:latin typeface="黑体" panose="02010609060101010101" pitchFamily="49" charset="-122"/>
                <a:ea typeface="黑体" panose="02010609060101010101" pitchFamily="49" charset="-122"/>
              </a:rPr>
              <a:t>纵深防御策略</a:t>
            </a:r>
            <a:endParaRPr lang="zh-CN" altLang="en-US" sz="5000" b="1" dirty="0">
              <a:latin typeface="黑体" panose="02010609060101010101" pitchFamily="49" charset="-122"/>
              <a:ea typeface="黑体" panose="02010609060101010101" pitchFamily="49" charset="-122"/>
            </a:endParaRPr>
          </a:p>
        </p:txBody>
      </p:sp>
      <p:sp>
        <p:nvSpPr>
          <p:cNvPr id="76803" name="Rectangle 3"/>
          <p:cNvSpPr>
            <a:spLocks noGrp="1" noChangeArrowheads="1"/>
          </p:cNvSpPr>
          <p:nvPr>
            <p:ph type="body" idx="1"/>
          </p:nvPr>
        </p:nvSpPr>
        <p:spPr>
          <a:xfrm>
            <a:off x="1206230" y="1981200"/>
            <a:ext cx="9863847" cy="4114800"/>
          </a:xfrm>
        </p:spPr>
        <p:txBody>
          <a:bodyPr/>
          <a:lstStyle/>
          <a:p>
            <a:pPr algn="just">
              <a:lnSpc>
                <a:spcPct val="90000"/>
              </a:lnSpc>
            </a:pPr>
            <a:r>
              <a:rPr lang="zh-CN" altLang="en-US" sz="2400" b="1" dirty="0">
                <a:latin typeface="黑体" panose="02010609060101010101" pitchFamily="49" charset="-122"/>
                <a:ea typeface="黑体" panose="02010609060101010101" pitchFamily="49" charset="-122"/>
              </a:rPr>
              <a:t>(2) </a:t>
            </a:r>
            <a:r>
              <a:rPr lang="en-US" altLang="zh-CN" sz="2400" b="1" dirty="0">
                <a:latin typeface="黑体" panose="02010609060101010101" pitchFamily="49" charset="-122"/>
                <a:ea typeface="黑体" panose="02010609060101010101" pitchFamily="49" charset="-122"/>
              </a:rPr>
              <a:t>IATF</a:t>
            </a:r>
            <a:r>
              <a:rPr lang="zh-CN" altLang="en-US" sz="2400" b="1" dirty="0">
                <a:latin typeface="黑体" panose="02010609060101010101" pitchFamily="49" charset="-122"/>
                <a:ea typeface="黑体" panose="02010609060101010101" pitchFamily="49" charset="-122"/>
              </a:rPr>
              <a:t>的纵深防御策略关注的是如何层次性地保护信息资源，并不关心实现保护的某一层究竟使用了什么防护措施。本文从技术的角度出发，强调了主动防御的思想，并且关注的是每一层所使用的技术，以及这些技术如何使用以达到保护网络的目的。</a:t>
            </a:r>
            <a:endParaRPr lang="zh-CN" altLang="en-US" sz="2400" b="1" dirty="0">
              <a:latin typeface="黑体" panose="02010609060101010101" pitchFamily="49" charset="-122"/>
              <a:ea typeface="黑体" panose="02010609060101010101" pitchFamily="49" charset="-122"/>
            </a:endParaRPr>
          </a:p>
          <a:p>
            <a:pPr algn="just">
              <a:lnSpc>
                <a:spcPct val="90000"/>
              </a:lnSpc>
            </a:pPr>
            <a:r>
              <a:rPr lang="zh-CN" altLang="en-US" sz="2400" b="1" dirty="0">
                <a:latin typeface="黑体" panose="02010609060101010101" pitchFamily="49" charset="-122"/>
                <a:ea typeface="黑体" panose="02010609060101010101" pitchFamily="49" charset="-122"/>
              </a:rPr>
              <a:t>(3) </a:t>
            </a:r>
            <a:r>
              <a:rPr lang="en-US" altLang="zh-CN" sz="2400" b="1" dirty="0">
                <a:latin typeface="黑体" panose="02010609060101010101" pitchFamily="49" charset="-122"/>
                <a:ea typeface="黑体" panose="02010609060101010101" pitchFamily="49" charset="-122"/>
              </a:rPr>
              <a:t>IATF</a:t>
            </a:r>
            <a:r>
              <a:rPr lang="zh-CN" altLang="en-US" sz="2400" b="1" dirty="0">
                <a:latin typeface="黑体" panose="02010609060101010101" pitchFamily="49" charset="-122"/>
                <a:ea typeface="黑体" panose="02010609060101010101" pitchFamily="49" charset="-122"/>
              </a:rPr>
              <a:t>将被保护的资源分为四类：本地计算环境、飞地边界、网络与基础设施、支撑基础设施。其纵深防御的概念是依据这四类资源来防御，比如对突破了飞地边界的防护层，仍然有本地计算环境的防护层在保护本地计算环境，或者突破了本地计算环境的保护层，仍然不能对支持基础设施构成威胁。而我们是从一个网络攻击穿刺的角度出发，根据网络攻击的进程而实施的层次性的纵深防御。</a:t>
            </a:r>
            <a:endParaRPr lang="zh-CN" altLang="en-US" sz="2400" b="1" dirty="0">
              <a:latin typeface="黑体" panose="02010609060101010101" pitchFamily="49" charset="-122"/>
              <a:ea typeface="黑体" panose="02010609060101010101" pitchFamily="49" charset="-122"/>
            </a:endParaRPr>
          </a:p>
          <a:p>
            <a:pPr>
              <a:lnSpc>
                <a:spcPct val="90000"/>
              </a:lnSpc>
            </a:pPr>
            <a:endParaRPr lang="zh-CN" altLang="en-US" sz="2400" b="1" dirty="0">
              <a:latin typeface="黑体" panose="02010609060101010101" pitchFamily="49" charset="-122"/>
              <a:ea typeface="黑体" panose="02010609060101010101" pitchFamily="49" charset="-122"/>
            </a:endParaRPr>
          </a:p>
          <a:p>
            <a:pPr>
              <a:lnSpc>
                <a:spcPct val="90000"/>
              </a:lnSpc>
            </a:pP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noChangeArrowheads="1"/>
          </p:cNvSpPr>
          <p:nvPr>
            <p:ph type="body" idx="1"/>
          </p:nvPr>
        </p:nvSpPr>
        <p:spPr>
          <a:xfrm>
            <a:off x="1237034" y="2024605"/>
            <a:ext cx="9677400" cy="3792535"/>
          </a:xfrm>
        </p:spPr>
        <p:txBody>
          <a:bodyPr/>
          <a:lstStyle/>
          <a:p>
            <a:pPr>
              <a:lnSpc>
                <a:spcPct val="130000"/>
              </a:lnSpc>
            </a:pPr>
            <a:r>
              <a:rPr lang="zh-CN" altLang="en-US" sz="2400" b="1" dirty="0" smtClean="0">
                <a:latin typeface="宋体" panose="02010600030101010101" pitchFamily="2" charset="-122"/>
                <a:ea typeface="黑体" panose="02010609060101010101" pitchFamily="49" charset="-122"/>
              </a:rPr>
              <a:t>    为了</a:t>
            </a:r>
            <a:r>
              <a:rPr lang="zh-CN" altLang="en-US" sz="2400" b="1" dirty="0">
                <a:latin typeface="宋体" panose="02010600030101010101" pitchFamily="2" charset="-122"/>
                <a:ea typeface="黑体" panose="02010609060101010101" pitchFamily="49" charset="-122"/>
              </a:rPr>
              <a:t>阻止各种网络攻击行为，传统的方法主要是采用单一的静态的安全技术来防护。这些方法在真正的网络攻击行为发生时，尤其在遭受新型的网络攻击方法攻击时，可能会给系统带来不可预料的损失。因此，需要研究一些积极主动的网络安全防御手段和反击手段，并和传统的网络防御方法相结合，来构建一个安全的网络。为此，根据网络主动防御安全模型和纵深防御策略，我们提出一种网络主动防御系统体系结构。</a:t>
            </a:r>
            <a:endParaRPr lang="zh-CN" altLang="en-US" sz="2400" b="1" dirty="0">
              <a:ea typeface="黑体" panose="02010609060101010101" pitchFamily="49" charset="-122"/>
            </a:endParaRPr>
          </a:p>
        </p:txBody>
      </p:sp>
      <p:grpSp>
        <p:nvGrpSpPr>
          <p:cNvPr id="4" name="组合 3"/>
          <p:cNvGrpSpPr/>
          <p:nvPr/>
        </p:nvGrpSpPr>
        <p:grpSpPr>
          <a:xfrm>
            <a:off x="2757945" y="264223"/>
            <a:ext cx="6635578" cy="1109044"/>
            <a:chOff x="3279913" y="488294"/>
            <a:chExt cx="6635578" cy="1109044"/>
          </a:xfrm>
        </p:grpSpPr>
        <p:grpSp>
          <p:nvGrpSpPr>
            <p:cNvPr id="5" name="组合 4"/>
            <p:cNvGrpSpPr/>
            <p:nvPr/>
          </p:nvGrpSpPr>
          <p:grpSpPr>
            <a:xfrm>
              <a:off x="3279913" y="909457"/>
              <a:ext cx="6635578" cy="687881"/>
              <a:chOff x="3279913" y="909457"/>
              <a:chExt cx="6635578" cy="687881"/>
            </a:xfrm>
          </p:grpSpPr>
          <p:sp>
            <p:nvSpPr>
              <p:cNvPr id="159" name="矩形: 圆角 9"/>
              <p:cNvSpPr/>
              <p:nvPr/>
            </p:nvSpPr>
            <p:spPr>
              <a:xfrm>
                <a:off x="3279913" y="909457"/>
                <a:ext cx="6635578"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5059680" cy="534035"/>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网络主动防御系统体系结构</a:t>
                </a:r>
                <a:endPar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1981201" y="228601"/>
            <a:ext cx="1522413" cy="4137025"/>
          </a:xfrm>
        </p:spPr>
        <p:txBody>
          <a:bodyPr/>
          <a:lstStyle/>
          <a:p>
            <a:r>
              <a:rPr lang="zh-CN" altLang="en-US" sz="5000" b="1">
                <a:latin typeface="黑体" panose="02010609060101010101" pitchFamily="49" charset="-122"/>
                <a:ea typeface="黑体" panose="02010609060101010101" pitchFamily="49" charset="-122"/>
              </a:rPr>
              <a:t>网络</a:t>
            </a:r>
            <a:br>
              <a:rPr lang="zh-CN" altLang="en-US" sz="5000" b="1">
                <a:latin typeface="黑体" panose="02010609060101010101" pitchFamily="49" charset="-122"/>
                <a:ea typeface="黑体" panose="02010609060101010101" pitchFamily="49" charset="-122"/>
              </a:rPr>
            </a:br>
            <a:r>
              <a:rPr lang="zh-CN" altLang="en-US" sz="5000" b="1">
                <a:latin typeface="黑体" panose="02010609060101010101" pitchFamily="49" charset="-122"/>
                <a:ea typeface="黑体" panose="02010609060101010101" pitchFamily="49" charset="-122"/>
              </a:rPr>
              <a:t>主动</a:t>
            </a:r>
            <a:br>
              <a:rPr lang="zh-CN" altLang="en-US" sz="5000" b="1">
                <a:latin typeface="黑体" panose="02010609060101010101" pitchFamily="49" charset="-122"/>
                <a:ea typeface="黑体" panose="02010609060101010101" pitchFamily="49" charset="-122"/>
              </a:rPr>
            </a:br>
            <a:r>
              <a:rPr lang="zh-CN" altLang="en-US" sz="5000" b="1">
                <a:latin typeface="黑体" panose="02010609060101010101" pitchFamily="49" charset="-122"/>
                <a:ea typeface="黑体" panose="02010609060101010101" pitchFamily="49" charset="-122"/>
              </a:rPr>
              <a:t>防御</a:t>
            </a:r>
            <a:br>
              <a:rPr lang="zh-CN" altLang="en-US" sz="5000" b="1">
                <a:latin typeface="黑体" panose="02010609060101010101" pitchFamily="49" charset="-122"/>
                <a:ea typeface="黑体" panose="02010609060101010101" pitchFamily="49" charset="-122"/>
              </a:rPr>
            </a:br>
            <a:r>
              <a:rPr lang="zh-CN" altLang="en-US" sz="5000" b="1">
                <a:latin typeface="黑体" panose="02010609060101010101" pitchFamily="49" charset="-122"/>
                <a:ea typeface="黑体" panose="02010609060101010101" pitchFamily="49" charset="-122"/>
              </a:rPr>
              <a:t>体系</a:t>
            </a:r>
            <a:br>
              <a:rPr lang="zh-CN" altLang="en-US" sz="5000" b="1">
                <a:latin typeface="黑体" panose="02010609060101010101" pitchFamily="49" charset="-122"/>
                <a:ea typeface="黑体" panose="02010609060101010101" pitchFamily="49" charset="-122"/>
              </a:rPr>
            </a:br>
            <a:r>
              <a:rPr lang="zh-CN" altLang="en-US" sz="5000" b="1">
                <a:latin typeface="黑体" panose="02010609060101010101" pitchFamily="49" charset="-122"/>
                <a:ea typeface="黑体" panose="02010609060101010101" pitchFamily="49" charset="-122"/>
              </a:rPr>
              <a:t>结构</a:t>
            </a:r>
            <a:endParaRPr lang="zh-CN" altLang="en-US" sz="5000" b="1">
              <a:latin typeface="黑体" panose="02010609060101010101" pitchFamily="49" charset="-122"/>
              <a:ea typeface="黑体" panose="02010609060101010101" pitchFamily="49" charset="-122"/>
            </a:endParaRPr>
          </a:p>
        </p:txBody>
      </p:sp>
      <p:sp>
        <p:nvSpPr>
          <p:cNvPr id="78851" name="Rectangle 3"/>
          <p:cNvSpPr>
            <a:spLocks noChangeArrowheads="1"/>
          </p:cNvSpPr>
          <p:nvPr/>
        </p:nvSpPr>
        <p:spPr bwMode="auto">
          <a:xfrm>
            <a:off x="1524001" y="6344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78852" name="Object 4"/>
          <p:cNvGraphicFramePr>
            <a:graphicFrameLocks noChangeAspect="1"/>
          </p:cNvGraphicFramePr>
          <p:nvPr/>
        </p:nvGraphicFramePr>
        <p:xfrm>
          <a:off x="3792538" y="188913"/>
          <a:ext cx="6227762" cy="6526212"/>
        </p:xfrm>
        <a:graphic>
          <a:graphicData uri="http://schemas.openxmlformats.org/presentationml/2006/ole">
            <mc:AlternateContent xmlns:mc="http://schemas.openxmlformats.org/markup-compatibility/2006">
              <mc:Choice xmlns:v="urn:schemas-microsoft-com:vml" Requires="v">
                <p:oleObj spid="_x0000_s21578" name="图片" r:id="rId1" imgW="4989830" imgH="5220970" progId="Word.Picture.8">
                  <p:embed/>
                </p:oleObj>
              </mc:Choice>
              <mc:Fallback>
                <p:oleObj name="图片" r:id="rId1" imgW="4989830" imgH="5220970" progId="Word.Picture.8">
                  <p:embed/>
                  <p:pic>
                    <p:nvPicPr>
                      <p:cNvPr id="0" name="图片 215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2538" y="188913"/>
                        <a:ext cx="6227762" cy="6526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algn="ctr"/>
            <a:r>
              <a:rPr lang="zh-CN" altLang="en-US" sz="4800" b="1" dirty="0">
                <a:ea typeface="黑体" panose="02010609060101010101" pitchFamily="49" charset="-122"/>
              </a:rPr>
              <a:t>网络主动防御系统</a:t>
            </a:r>
            <a:endParaRPr lang="zh-CN" altLang="en-US" sz="4800" b="1" dirty="0">
              <a:ea typeface="黑体" panose="02010609060101010101" pitchFamily="49" charset="-122"/>
            </a:endParaRPr>
          </a:p>
        </p:txBody>
      </p:sp>
      <p:sp>
        <p:nvSpPr>
          <p:cNvPr id="79875" name="Rectangle 3"/>
          <p:cNvSpPr>
            <a:spLocks noGrp="1" noChangeArrowheads="1"/>
          </p:cNvSpPr>
          <p:nvPr>
            <p:ph type="body" idx="1"/>
          </p:nvPr>
        </p:nvSpPr>
        <p:spPr>
          <a:xfrm>
            <a:off x="914400" y="1752600"/>
            <a:ext cx="10363200" cy="4114800"/>
          </a:xfrm>
        </p:spPr>
        <p:txBody>
          <a:bodyPr/>
          <a:lstStyle/>
          <a:p>
            <a:pPr>
              <a:lnSpc>
                <a:spcPct val="150000"/>
              </a:lnSpc>
            </a:pPr>
            <a:r>
              <a:rPr lang="zh-CN" altLang="en-US" sz="2400" b="1" dirty="0" smtClean="0">
                <a:latin typeface="黑体" panose="02010609060101010101" pitchFamily="49" charset="-122"/>
                <a:ea typeface="黑体" panose="02010609060101010101" pitchFamily="49" charset="-122"/>
              </a:rPr>
              <a:t>    网络</a:t>
            </a:r>
            <a:r>
              <a:rPr lang="zh-CN" altLang="en-US" sz="2400" b="1" dirty="0">
                <a:latin typeface="黑体" panose="02010609060101010101" pitchFamily="49" charset="-122"/>
                <a:ea typeface="黑体" panose="02010609060101010101" pitchFamily="49" charset="-122"/>
              </a:rPr>
              <a:t>主动防御系统体系结构是一个三维的立体结构，分为三个层面：技术层面、策略和安全技术管理层面、管理层面。技术层面分为六层和一个网络安全通信协议。这六层为：</a:t>
            </a:r>
            <a:r>
              <a:rPr lang="zh-CN" altLang="en-US" sz="2400" b="1" dirty="0">
                <a:highlight>
                  <a:srgbClr val="FFFF00"/>
                </a:highlight>
                <a:latin typeface="黑体" panose="02010609060101010101" pitchFamily="49" charset="-122"/>
                <a:ea typeface="黑体" panose="02010609060101010101" pitchFamily="49" charset="-122"/>
              </a:rPr>
              <a:t>预警、保护、检测、响应、恢复和反击</a:t>
            </a:r>
            <a:r>
              <a:rPr lang="zh-CN" altLang="en-US" sz="2400" b="1" dirty="0">
                <a:latin typeface="黑体" panose="02010609060101010101" pitchFamily="49" charset="-122"/>
                <a:ea typeface="黑体" panose="02010609060101010101" pitchFamily="49" charset="-122"/>
              </a:rPr>
              <a:t>。策略和安全技术管理层面包括两个方面：纵深防御策略和安全技术管理。安全技术管理对六层的技术进行管理，纵深防御策略使得六层的技术在统一的安全策略下能协调工作，来共同构筑一个多层纵深的防护体系。安全管理除了体现在策略和安全技术管理层面对安全技术进行管理外，还体现在管理层面对人员的安全管理、对政策的安全管理和其他必要的安全管理。</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algn="ctr"/>
            <a:r>
              <a:rPr lang="zh-CN" altLang="en-US" sz="4800" b="1" dirty="0">
                <a:ea typeface="黑体" panose="02010609060101010101" pitchFamily="49" charset="-122"/>
              </a:rPr>
              <a:t>网络主动防御系统</a:t>
            </a:r>
            <a:endParaRPr lang="zh-CN" altLang="en-US" sz="4800" b="1" dirty="0">
              <a:ea typeface="黑体" panose="02010609060101010101" pitchFamily="49" charset="-122"/>
            </a:endParaRPr>
          </a:p>
        </p:txBody>
      </p:sp>
      <p:sp>
        <p:nvSpPr>
          <p:cNvPr id="80899" name="Rectangle 3"/>
          <p:cNvSpPr>
            <a:spLocks noGrp="1" noChangeArrowheads="1"/>
          </p:cNvSpPr>
          <p:nvPr>
            <p:ph type="body" idx="1"/>
          </p:nvPr>
        </p:nvSpPr>
        <p:spPr>
          <a:xfrm>
            <a:off x="914400" y="1752600"/>
            <a:ext cx="10363200" cy="4114800"/>
          </a:xfrm>
        </p:spPr>
        <p:txBody>
          <a:bodyPr/>
          <a:lstStyle/>
          <a:p>
            <a:pPr>
              <a:lnSpc>
                <a:spcPct val="90000"/>
              </a:lnSpc>
            </a:pPr>
            <a:r>
              <a:rPr lang="zh-CN" altLang="en-US" sz="2400" b="1" dirty="0">
                <a:latin typeface="黑体" panose="02010609060101010101" pitchFamily="49" charset="-122"/>
                <a:ea typeface="黑体" panose="02010609060101010101" pitchFamily="49" charset="-122"/>
              </a:rPr>
              <a:t>下面我们对体系结构中六层技术中的主要技术作进一步的说明。</a:t>
            </a:r>
            <a:endParaRPr lang="zh-CN" altLang="en-US" sz="2400" b="1" dirty="0">
              <a:latin typeface="黑体" panose="02010609060101010101" pitchFamily="49" charset="-122"/>
              <a:ea typeface="黑体" panose="02010609060101010101" pitchFamily="49" charset="-122"/>
            </a:endParaRPr>
          </a:p>
          <a:p>
            <a:pPr algn="just">
              <a:lnSpc>
                <a:spcPct val="90000"/>
              </a:lnSpc>
            </a:pPr>
            <a:r>
              <a:rPr lang="zh-CN" altLang="en-US" sz="2400" b="1" dirty="0">
                <a:latin typeface="黑体" panose="02010609060101010101" pitchFamily="49" charset="-122"/>
                <a:ea typeface="黑体" panose="02010609060101010101" pitchFamily="49" charset="-122"/>
              </a:rPr>
              <a:t>(1) 预警。预警是对可能发生的网络攻击给出预先的警告。这包括以下几个方面：漏洞预警、行为预警、攻击趋势预警和情报收集分析预警等。漏洞预警是根据公布的已知的系统漏洞或研究发现的系统漏洞来对可能发生的网络攻击提出预警；行为预警是分析网络黑客的各种行为来发现其可能要进行的网络攻击；攻击趋势预警是分析已发生或正在发生的网络攻击来判断可能的网络攻击；情报收集分析预警是综合分析通过各种途径收集来的情报判断是否有发生网络攻击的可能性。</a:t>
            </a:r>
            <a:endParaRPr lang="zh-CN" altLang="en-US" sz="2400" b="1" dirty="0">
              <a:latin typeface="黑体" panose="02010609060101010101" pitchFamily="49" charset="-122"/>
              <a:ea typeface="黑体" panose="02010609060101010101" pitchFamily="49" charset="-122"/>
            </a:endParaRPr>
          </a:p>
          <a:p>
            <a:pPr algn="just">
              <a:lnSpc>
                <a:spcPct val="90000"/>
              </a:lnSpc>
            </a:pPr>
            <a:r>
              <a:rPr lang="zh-CN" altLang="en-US" sz="2400" b="1" dirty="0">
                <a:latin typeface="黑体" panose="02010609060101010101" pitchFamily="49" charset="-122"/>
                <a:ea typeface="黑体" panose="02010609060101010101" pitchFamily="49" charset="-122"/>
              </a:rPr>
              <a:t>(2) 保护。保护就是采用一切的手段保护我们信息系统的可用性、机密性、完整性、可用性、可控性和不可否认性。这里的手段一般指静态的防护手段，包括：防火墙、防病毒、虚拟专用网（</a:t>
            </a:r>
            <a:r>
              <a:rPr lang="en-US" altLang="zh-CN" sz="2400" b="1" dirty="0">
                <a:latin typeface="黑体" panose="02010609060101010101" pitchFamily="49" charset="-122"/>
                <a:ea typeface="黑体" panose="02010609060101010101" pitchFamily="49" charset="-122"/>
              </a:rPr>
              <a:t>VPN）、</a:t>
            </a:r>
            <a:r>
              <a:rPr lang="zh-CN" altLang="en-US" sz="2400" b="1" dirty="0">
                <a:latin typeface="黑体" panose="02010609060101010101" pitchFamily="49" charset="-122"/>
                <a:ea typeface="黑体" panose="02010609060101010101" pitchFamily="49" charset="-122"/>
              </a:rPr>
              <a:t>操作系统安全增强等。</a:t>
            </a:r>
            <a:endParaRPr lang="zh-CN" altLang="en-US" sz="2400" b="1" dirty="0">
              <a:latin typeface="黑体" panose="02010609060101010101" pitchFamily="49" charset="-122"/>
              <a:ea typeface="黑体" panose="02010609060101010101" pitchFamily="49" charset="-122"/>
            </a:endParaRPr>
          </a:p>
          <a:p>
            <a:pPr>
              <a:lnSpc>
                <a:spcPct val="90000"/>
              </a:lnSpc>
            </a:pPr>
            <a:endParaRPr lang="zh-CN" altLang="en-US" sz="2400" b="1" dirty="0">
              <a:latin typeface="黑体" panose="02010609060101010101" pitchFamily="49" charset="-122"/>
              <a:ea typeface="黑体" panose="02010609060101010101"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algn="ctr"/>
            <a:r>
              <a:rPr lang="zh-CN" altLang="en-US" sz="4800" b="1" dirty="0">
                <a:ea typeface="黑体" panose="02010609060101010101" pitchFamily="49" charset="-122"/>
              </a:rPr>
              <a:t>网络主动防御系统</a:t>
            </a:r>
            <a:endParaRPr lang="zh-CN" altLang="en-US" sz="4800" b="1" dirty="0">
              <a:ea typeface="黑体" panose="02010609060101010101" pitchFamily="49" charset="-122"/>
            </a:endParaRPr>
          </a:p>
        </p:txBody>
      </p:sp>
      <p:sp>
        <p:nvSpPr>
          <p:cNvPr id="81923" name="Rectangle 3"/>
          <p:cNvSpPr>
            <a:spLocks noGrp="1" noChangeArrowheads="1"/>
          </p:cNvSpPr>
          <p:nvPr>
            <p:ph type="body" idx="1"/>
          </p:nvPr>
        </p:nvSpPr>
        <p:spPr/>
        <p:txBody>
          <a:bodyPr/>
          <a:lstStyle/>
          <a:p>
            <a:pPr algn="just"/>
            <a:r>
              <a:rPr lang="zh-CN" altLang="en-US" b="1" dirty="0">
                <a:latin typeface="黑体" panose="02010609060101010101" pitchFamily="49" charset="-122"/>
                <a:ea typeface="黑体" panose="02010609060101010101" pitchFamily="49" charset="-122"/>
              </a:rPr>
              <a:t>(3) 检测。在网络主动防御系统体系结构中，检测是非常重要的一个环节。检测的目的是发现网络攻击，检测本地网络存在的非法信息流，以及检测本地网络存在的安全漏洞，从而有效地阻止网络攻击。检测部分主要用到的技术有入侵检测技术、网络实时监控技术和网络安全扫描技术等。</a:t>
            </a:r>
            <a:endParaRPr lang="zh-CN" altLang="en-US" b="1" dirty="0">
              <a:latin typeface="黑体" panose="02010609060101010101" pitchFamily="49" charset="-122"/>
              <a:ea typeface="黑体" panose="02010609060101010101" pitchFamily="49" charset="-122"/>
            </a:endParaRPr>
          </a:p>
          <a:p>
            <a:endParaRPr lang="zh-CN" altLang="en-US"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algn="ctr"/>
            <a:r>
              <a:rPr lang="zh-CN" altLang="en-US" sz="4800" b="1" dirty="0">
                <a:ea typeface="黑体" panose="02010609060101010101" pitchFamily="49" charset="-122"/>
              </a:rPr>
              <a:t>网络主动防御系统</a:t>
            </a:r>
            <a:endParaRPr lang="zh-CN" altLang="en-US" sz="4800" b="1" dirty="0">
              <a:ea typeface="黑体" panose="02010609060101010101" pitchFamily="49" charset="-122"/>
            </a:endParaRPr>
          </a:p>
        </p:txBody>
      </p:sp>
      <p:sp>
        <p:nvSpPr>
          <p:cNvPr id="82947" name="Rectangle 3"/>
          <p:cNvSpPr>
            <a:spLocks noGrp="1" noChangeArrowheads="1"/>
          </p:cNvSpPr>
          <p:nvPr>
            <p:ph type="body" idx="1"/>
          </p:nvPr>
        </p:nvSpPr>
        <p:spPr>
          <a:xfrm>
            <a:off x="781050" y="1752600"/>
            <a:ext cx="10693400" cy="4114800"/>
          </a:xfrm>
        </p:spPr>
        <p:txBody>
          <a:bodyPr/>
          <a:lstStyle/>
          <a:p>
            <a:pPr algn="just">
              <a:lnSpc>
                <a:spcPct val="120000"/>
              </a:lnSpc>
            </a:pPr>
            <a:r>
              <a:rPr lang="zh-CN" altLang="en-US" sz="2400" b="1" dirty="0">
                <a:latin typeface="黑体" panose="02010609060101010101" pitchFamily="49" charset="-122"/>
                <a:ea typeface="黑体" panose="02010609060101010101" pitchFamily="49" charset="-122"/>
              </a:rPr>
              <a:t>(4) 响应。响应就是对危及网络安全的事件和行为做出反应，阻止对信息系统的进一步破坏并使损失降到最低。这就要求在检测到网络攻击后及时地阻断网络攻击，或者将网络攻击引诱到其他的主机上去，使网络攻击不能对信息系统造成进一步的破坏。另外，还需要定位网络攻击源，并进行网络攻击取证，为诉诸法律和网络反击做准备。阻断网络攻击主要是和其他的技术配合，比如检测到网络攻击后，利用防火墙和网络监控系统来阻断网络攻击。引诱网络攻击可以利用网络僚机技术和网络攻击诱骗技术将网络攻击流量引导到假的目标上，并可以对攻击流量进行分析为攻击源定位提供信息。最后根据所获得的网络攻击的特征信息，如攻击源信息、攻击的类型、攻击源、进入点、攻击目标与危害性、现场状态等信息，对网络攻击实现电子取证。</a:t>
            </a:r>
            <a:endParaRPr lang="zh-CN" altLang="en-US" sz="2400" b="1" dirty="0">
              <a:latin typeface="黑体" panose="02010609060101010101" pitchFamily="49" charset="-122"/>
              <a:ea typeface="黑体" panose="02010609060101010101" pitchFamily="49" charset="-122"/>
            </a:endParaRPr>
          </a:p>
          <a:p>
            <a:pPr>
              <a:lnSpc>
                <a:spcPct val="90000"/>
              </a:lnSpc>
            </a:pP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algn="ctr"/>
            <a:r>
              <a:rPr lang="zh-CN" altLang="en-US" sz="4800" b="1" dirty="0">
                <a:ea typeface="黑体" panose="02010609060101010101" pitchFamily="49" charset="-122"/>
              </a:rPr>
              <a:t>网络主动防御系统</a:t>
            </a:r>
            <a:endParaRPr lang="zh-CN" altLang="en-US" sz="4800" b="1" dirty="0">
              <a:ea typeface="黑体" panose="02010609060101010101" pitchFamily="49" charset="-122"/>
            </a:endParaRPr>
          </a:p>
        </p:txBody>
      </p:sp>
      <p:sp>
        <p:nvSpPr>
          <p:cNvPr id="83971" name="Rectangle 3"/>
          <p:cNvSpPr>
            <a:spLocks noGrp="1" noChangeArrowheads="1"/>
          </p:cNvSpPr>
          <p:nvPr>
            <p:ph type="body" idx="1"/>
          </p:nvPr>
        </p:nvSpPr>
        <p:spPr>
          <a:xfrm>
            <a:off x="914400" y="1752600"/>
            <a:ext cx="10363200" cy="4114800"/>
          </a:xfrm>
        </p:spPr>
        <p:txBody>
          <a:bodyPr/>
          <a:lstStyle/>
          <a:p>
            <a:pPr algn="just">
              <a:lnSpc>
                <a:spcPct val="120000"/>
              </a:lnSpc>
            </a:pPr>
            <a:r>
              <a:rPr lang="zh-CN" altLang="en-US" sz="2400" b="1" dirty="0">
                <a:latin typeface="黑体" panose="02010609060101010101" pitchFamily="49" charset="-122"/>
                <a:ea typeface="黑体" panose="02010609060101010101" pitchFamily="49" charset="-122"/>
              </a:rPr>
              <a:t>(5) 恢复。及时地恢复系统，使系统能尽快正常地对外提供服务，是降低网络攻击造成损失的有效途径。为了能保证受到攻击后能够及时成功地恢复系统，必须在平时做好备份工作。这包括对信息系统所存储的有用数据进行备份恢复工作，还包括对信息系统本身进行备份恢复工作。备份技术有三种：现场内备份、现场外备份和冷热备份。</a:t>
            </a:r>
            <a:endParaRPr lang="zh-CN" altLang="en-US" sz="2400" b="1" dirty="0">
              <a:latin typeface="黑体" panose="02010609060101010101" pitchFamily="49" charset="-122"/>
              <a:ea typeface="黑体" panose="02010609060101010101" pitchFamily="49" charset="-122"/>
            </a:endParaRPr>
          </a:p>
          <a:p>
            <a:pPr>
              <a:lnSpc>
                <a:spcPct val="120000"/>
              </a:lnSpc>
            </a:pPr>
            <a:r>
              <a:rPr lang="zh-CN" altLang="en-US" sz="2400" b="1" dirty="0">
                <a:latin typeface="黑体" panose="02010609060101010101" pitchFamily="49" charset="-122"/>
                <a:ea typeface="黑体" panose="02010609060101010101" pitchFamily="49" charset="-122"/>
              </a:rPr>
              <a:t>(6) 反击。反击就是对网络攻击者进行反向的攻击。网络反向攻击就是综合运用各种网络攻击手段对网络攻击者进行攻击，迫使其停止攻击。这些攻击手段包括探测类攻击、阻塞类攻击、漏洞类攻击、控制类攻击、欺骗类攻击和病毒类攻击。网络反向攻击的实施需要慎重，必须在遵守道德和国家法律的前提下进行。 </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algn="ctr"/>
            <a:r>
              <a:rPr lang="zh-CN" altLang="en-US" sz="4800" b="1" dirty="0">
                <a:ea typeface="黑体" panose="02010609060101010101" pitchFamily="49" charset="-122"/>
              </a:rPr>
              <a:t>网络主动防御系统</a:t>
            </a:r>
            <a:endParaRPr lang="zh-CN" altLang="en-US" sz="4800" b="1" dirty="0">
              <a:ea typeface="黑体" panose="02010609060101010101" pitchFamily="49" charset="-122"/>
            </a:endParaRPr>
          </a:p>
        </p:txBody>
      </p:sp>
      <p:sp>
        <p:nvSpPr>
          <p:cNvPr id="84995" name="Rectangle 3"/>
          <p:cNvSpPr>
            <a:spLocks noGrp="1" noChangeArrowheads="1"/>
          </p:cNvSpPr>
          <p:nvPr>
            <p:ph type="body" idx="1"/>
          </p:nvPr>
        </p:nvSpPr>
        <p:spPr/>
        <p:txBody>
          <a:bodyPr/>
          <a:lstStyle/>
          <a:p>
            <a:pPr>
              <a:lnSpc>
                <a:spcPct val="120000"/>
              </a:lnSpc>
            </a:pPr>
            <a:r>
              <a:rPr lang="zh-CN" altLang="en-US" sz="2400" b="1" dirty="0">
                <a:latin typeface="黑体" panose="02010609060101010101" pitchFamily="49" charset="-122"/>
                <a:ea typeface="黑体" panose="02010609060101010101" pitchFamily="49" charset="-122"/>
              </a:rPr>
              <a:t>(7) 网络安全通信协议。要构建一个纵深的网络主动防御体系，各种技术所构成的子系统间的信息交互不可避免。然而，如果通信时子系统的身份被伪造，网络通信的内容被泄漏和篡改，那么整个网络的安全就无从谈起。因此，网络主动防御系统需要一种安全的网络通信协议来保证各个子系统通信的安全。</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algn="ctr"/>
            <a:r>
              <a:rPr lang="zh-CN" altLang="en-US" sz="4800" b="1" dirty="0">
                <a:ea typeface="黑体" panose="02010609060101010101" pitchFamily="49" charset="-122"/>
              </a:rPr>
              <a:t>网络主动防御系统</a:t>
            </a:r>
            <a:endParaRPr lang="zh-CN" altLang="en-US" sz="4800" b="1" dirty="0">
              <a:ea typeface="黑体" panose="02010609060101010101" pitchFamily="49" charset="-122"/>
            </a:endParaRPr>
          </a:p>
        </p:txBody>
      </p:sp>
      <p:sp>
        <p:nvSpPr>
          <p:cNvPr id="86019" name="Rectangle 3"/>
          <p:cNvSpPr>
            <a:spLocks noGrp="1" noChangeArrowheads="1"/>
          </p:cNvSpPr>
          <p:nvPr>
            <p:ph type="body" idx="1"/>
          </p:nvPr>
        </p:nvSpPr>
        <p:spPr/>
        <p:txBody>
          <a:bodyPr/>
          <a:lstStyle/>
          <a:p>
            <a:pPr>
              <a:lnSpc>
                <a:spcPct val="120000"/>
              </a:lnSpc>
            </a:pPr>
            <a:r>
              <a:rPr lang="zh-CN" altLang="en-US" sz="2400" b="1" dirty="0" smtClean="0">
                <a:latin typeface="黑体" panose="02010609060101010101" pitchFamily="49" charset="-122"/>
                <a:ea typeface="黑体" panose="02010609060101010101" pitchFamily="49" charset="-122"/>
              </a:rPr>
              <a:t>    在</a:t>
            </a:r>
            <a:r>
              <a:rPr lang="zh-CN" altLang="en-US" sz="2400" b="1" dirty="0">
                <a:latin typeface="黑体" panose="02010609060101010101" pitchFamily="49" charset="-122"/>
                <a:ea typeface="黑体" panose="02010609060101010101" pitchFamily="49" charset="-122"/>
              </a:rPr>
              <a:t>这些安全技术中，有些属于被动和静态的安全技术，比如防火墙、</a:t>
            </a:r>
            <a:r>
              <a:rPr lang="en-US" altLang="zh-CN" sz="2400" b="1" dirty="0">
                <a:latin typeface="黑体" panose="02010609060101010101" pitchFamily="49" charset="-122"/>
                <a:ea typeface="黑体" panose="02010609060101010101" pitchFamily="49" charset="-122"/>
              </a:rPr>
              <a:t>VPN、</a:t>
            </a:r>
            <a:r>
              <a:rPr lang="zh-CN" altLang="en-US" sz="2400" b="1" dirty="0">
                <a:latin typeface="黑体" panose="02010609060101010101" pitchFamily="49" charset="-122"/>
                <a:ea typeface="黑体" panose="02010609060101010101" pitchFamily="49" charset="-122"/>
              </a:rPr>
              <a:t>操作系统安全增强、数据和系统的备份恢复等；有些属于主动和动态的安全技术，比如入侵检测、网络信息流监控、网络实时监控、网络僚机、网络攻击诱骗和网络反向攻击等等。 </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4000" dirty="0" smtClean="0">
                <a:solidFill>
                  <a:srgbClr val="002060"/>
                </a:solidFill>
                <a:latin typeface="思源黑体 CN Heavy" panose="020B0A00000000000000" pitchFamily="34" charset="-122"/>
                <a:ea typeface="思源黑体 CN Heavy" panose="020B0A00000000000000" pitchFamily="34" charset="-122"/>
                <a:cs typeface="+mn-ea"/>
                <a:sym typeface="+mn-lt"/>
              </a:rPr>
              <a:t>防火墙</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p:txBody>
          <a:bodyPr/>
          <a:lstStyle/>
          <a:p>
            <a:pPr>
              <a:lnSpc>
                <a:spcPct val="150000"/>
              </a:lnSpc>
            </a:pPr>
            <a:r>
              <a:rPr lang="en-US" altLang="zh-CN" dirty="0" smtClean="0">
                <a:cs typeface="Times New Roman" panose="02020603050405020304" pitchFamily="18" charset="0"/>
              </a:rPr>
              <a:t>        Internet</a:t>
            </a:r>
            <a:r>
              <a:rPr lang="zh-CN" altLang="en-US" dirty="0">
                <a:latin typeface="宋体" panose="02010600030101010101" pitchFamily="2" charset="-122"/>
              </a:rPr>
              <a:t>防火墙的主要目标是控制可信网络（</a:t>
            </a:r>
            <a:r>
              <a:rPr lang="en-US" altLang="zh-CN" dirty="0">
                <a:cs typeface="Times New Roman" panose="02020603050405020304" pitchFamily="18" charset="0"/>
              </a:rPr>
              <a:t>trusted network</a:t>
            </a:r>
            <a:r>
              <a:rPr lang="en-US" altLang="zh-CN" dirty="0">
                <a:latin typeface="宋体" panose="02010600030101010101" pitchFamily="2" charset="-122"/>
              </a:rPr>
              <a:t>）</a:t>
            </a:r>
            <a:r>
              <a:rPr lang="zh-CN" altLang="en-US" dirty="0">
                <a:latin typeface="宋体" panose="02010600030101010101" pitchFamily="2" charset="-122"/>
              </a:rPr>
              <a:t>和</a:t>
            </a:r>
            <a:r>
              <a:rPr lang="en-US" altLang="zh-CN" dirty="0">
                <a:cs typeface="Times New Roman" panose="02020603050405020304" pitchFamily="18" charset="0"/>
              </a:rPr>
              <a:t>Internet</a:t>
            </a:r>
            <a:r>
              <a:rPr lang="zh-CN" altLang="en-US" dirty="0">
                <a:latin typeface="宋体" panose="02010600030101010101" pitchFamily="2" charset="-122"/>
              </a:rPr>
              <a:t>之间的连接。防火墙允许访问服务并保护这些服务的用户。防火墙可以看成保护内部网边界的哨卡，阻塞进出防火墙的恶意信息流。</a:t>
            </a:r>
            <a:r>
              <a:rPr lang="zh-CN" altLang="en-US" dirty="0"/>
              <a:t> </a:t>
            </a:r>
            <a:endParaRPr lang="zh-CN" altLang="en-US" dirty="0"/>
          </a:p>
        </p:txBody>
      </p:sp>
      <p:grpSp>
        <p:nvGrpSpPr>
          <p:cNvPr id="4" name="组合 3"/>
          <p:cNvGrpSpPr/>
          <p:nvPr/>
        </p:nvGrpSpPr>
        <p:grpSpPr>
          <a:xfrm>
            <a:off x="4197207" y="400455"/>
            <a:ext cx="3797586" cy="1109044"/>
            <a:chOff x="3279913" y="488294"/>
            <a:chExt cx="3797586" cy="1109044"/>
          </a:xfrm>
        </p:grpSpPr>
        <p:grpSp>
          <p:nvGrpSpPr>
            <p:cNvPr id="5" name="组合 4"/>
            <p:cNvGrpSpPr/>
            <p:nvPr/>
          </p:nvGrpSpPr>
          <p:grpSpPr>
            <a:xfrm>
              <a:off x="3279913" y="909457"/>
              <a:ext cx="3797586" cy="687881"/>
              <a:chOff x="3279913" y="909457"/>
              <a:chExt cx="3797586" cy="687881"/>
            </a:xfrm>
          </p:grpSpPr>
          <p:sp>
            <p:nvSpPr>
              <p:cNvPr id="159" name="矩形: 圆角 9"/>
              <p:cNvSpPr/>
              <p:nvPr/>
            </p:nvSpPr>
            <p:spPr>
              <a:xfrm>
                <a:off x="3279913" y="909457"/>
                <a:ext cx="3797586"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2236510"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防火墙概论</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b="1">
                <a:solidFill>
                  <a:schemeClr val="hlink"/>
                </a:solidFill>
                <a:latin typeface="宋体" panose="02010600030101010101" pitchFamily="2" charset="-122"/>
              </a:rPr>
              <a:t>一、</a:t>
            </a:r>
            <a:r>
              <a:rPr lang="zh-CN" altLang="en-US" b="1">
                <a:solidFill>
                  <a:schemeClr val="hlink"/>
                </a:solidFill>
                <a:latin typeface="Times New Roman" panose="02020603050405020304" pitchFamily="18" charset="0"/>
                <a:cs typeface="Times New Roman" panose="02020603050405020304" pitchFamily="18" charset="0"/>
              </a:rPr>
              <a:t> </a:t>
            </a:r>
            <a:r>
              <a:rPr lang="zh-CN" altLang="en-US" b="1">
                <a:solidFill>
                  <a:schemeClr val="hlink"/>
                </a:solidFill>
                <a:latin typeface="宋体" panose="02010600030101010101" pitchFamily="2" charset="-122"/>
              </a:rPr>
              <a:t>防火墙的策略与技术</a:t>
            </a:r>
            <a:r>
              <a:rPr lang="zh-CN" altLang="en-US"/>
              <a:t> </a:t>
            </a:r>
            <a:endParaRPr lang="zh-CN" altLang="en-US"/>
          </a:p>
        </p:txBody>
      </p:sp>
      <p:sp>
        <p:nvSpPr>
          <p:cNvPr id="33795" name="Rectangle 3"/>
          <p:cNvSpPr>
            <a:spLocks noGrp="1" noChangeArrowheads="1"/>
          </p:cNvSpPr>
          <p:nvPr>
            <p:ph type="body" idx="1"/>
          </p:nvPr>
        </p:nvSpPr>
        <p:spPr/>
        <p:txBody>
          <a:bodyPr/>
          <a:lstStyle/>
          <a:p>
            <a:pPr algn="just">
              <a:lnSpc>
                <a:spcPct val="90000"/>
              </a:lnSpc>
            </a:pPr>
            <a:r>
              <a:rPr lang="zh-CN" altLang="en-US">
                <a:latin typeface="宋体" panose="02010600030101010101" pitchFamily="2" charset="-122"/>
              </a:rPr>
              <a:t>对防火墙的使用都必须遵循以下三条原则：</a:t>
            </a:r>
            <a:endParaRPr lang="zh-CN" altLang="en-US">
              <a:cs typeface="Times New Roman" panose="02020603050405020304" pitchFamily="18" charset="0"/>
            </a:endParaRPr>
          </a:p>
          <a:p>
            <a:pPr algn="just">
              <a:lnSpc>
                <a:spcPct val="90000"/>
              </a:lnSpc>
            </a:pPr>
            <a:r>
              <a:rPr lang="zh-CN" altLang="en-US">
                <a:latin typeface="宋体" panose="02010600030101010101" pitchFamily="2" charset="-122"/>
              </a:rPr>
              <a:t>（</a:t>
            </a:r>
            <a:r>
              <a:rPr lang="zh-CN" altLang="en-US">
                <a:cs typeface="Times New Roman" panose="02020603050405020304" pitchFamily="18" charset="0"/>
              </a:rPr>
              <a:t>1</a:t>
            </a:r>
            <a:r>
              <a:rPr lang="zh-CN" altLang="en-US">
                <a:latin typeface="宋体" panose="02010600030101010101" pitchFamily="2" charset="-122"/>
              </a:rPr>
              <a:t>）进出网络的双向通信信息必须通过防火墙；</a:t>
            </a:r>
            <a:endParaRPr lang="zh-CN" altLang="en-US">
              <a:cs typeface="Times New Roman" panose="02020603050405020304" pitchFamily="18" charset="0"/>
            </a:endParaRPr>
          </a:p>
          <a:p>
            <a:pPr algn="just">
              <a:lnSpc>
                <a:spcPct val="90000"/>
              </a:lnSpc>
            </a:pPr>
            <a:r>
              <a:rPr lang="zh-CN" altLang="en-US">
                <a:latin typeface="宋体" panose="02010600030101010101" pitchFamily="2" charset="-122"/>
              </a:rPr>
              <a:t>（</a:t>
            </a:r>
            <a:r>
              <a:rPr lang="zh-CN" altLang="en-US">
                <a:cs typeface="Times New Roman" panose="02020603050405020304" pitchFamily="18" charset="0"/>
              </a:rPr>
              <a:t>2</a:t>
            </a:r>
            <a:r>
              <a:rPr lang="zh-CN" altLang="en-US">
                <a:latin typeface="宋体" panose="02010600030101010101" pitchFamily="2" charset="-122"/>
              </a:rPr>
              <a:t>）只能允许经过本地安全策略授权的通信信息通过；</a:t>
            </a:r>
            <a:endParaRPr lang="zh-CN" altLang="en-US">
              <a:cs typeface="Times New Roman" panose="02020603050405020304" pitchFamily="18" charset="0"/>
            </a:endParaRPr>
          </a:p>
          <a:p>
            <a:pPr>
              <a:lnSpc>
                <a:spcPct val="90000"/>
              </a:lnSpc>
            </a:pPr>
            <a:r>
              <a:rPr lang="zh-CN" altLang="en-US">
                <a:latin typeface="宋体" panose="02010600030101010101" pitchFamily="2" charset="-122"/>
              </a:rPr>
              <a:t>（</a:t>
            </a:r>
            <a:r>
              <a:rPr lang="zh-CN" altLang="en-US">
                <a:cs typeface="Times New Roman" panose="02020603050405020304" pitchFamily="18" charset="0"/>
              </a:rPr>
              <a:t>3</a:t>
            </a:r>
            <a:r>
              <a:rPr lang="zh-CN" altLang="en-US">
                <a:latin typeface="宋体" panose="02010600030101010101" pitchFamily="2" charset="-122"/>
              </a:rPr>
              <a:t>）防火墙本身不能影响网络信息的流通。</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b="1">
                <a:solidFill>
                  <a:schemeClr val="hlink"/>
                </a:solidFill>
                <a:latin typeface="宋体" panose="02010600030101010101" pitchFamily="2" charset="-122"/>
              </a:rPr>
              <a:t>1 防火墙的引入</a:t>
            </a:r>
            <a:r>
              <a:rPr lang="zh-CN" altLang="en-US"/>
              <a:t> </a:t>
            </a:r>
            <a:endParaRPr lang="zh-CN" altLang="en-US"/>
          </a:p>
        </p:txBody>
      </p:sp>
      <p:sp>
        <p:nvSpPr>
          <p:cNvPr id="34819" name="Rectangle 3"/>
          <p:cNvSpPr>
            <a:spLocks noGrp="1" noChangeArrowheads="1"/>
          </p:cNvSpPr>
          <p:nvPr>
            <p:ph type="body" idx="1"/>
          </p:nvPr>
        </p:nvSpPr>
        <p:spPr/>
        <p:txBody>
          <a:bodyPr/>
          <a:lstStyle/>
          <a:p>
            <a:r>
              <a:rPr lang="en-US" altLang="zh-CN">
                <a:latin typeface="宋体" panose="02010600030101010101" pitchFamily="2" charset="-122"/>
              </a:rPr>
              <a:t>    </a:t>
            </a:r>
            <a:r>
              <a:rPr lang="zh-CN" altLang="en-US">
                <a:latin typeface="宋体" panose="02010600030101010101" pitchFamily="2" charset="-122"/>
              </a:rPr>
              <a:t>防火墙并不是对每一台主机系统进行自我保护，而是让所有对系统的访问通过网络中的某一点。通过保护这一点，尽可能地对外界屏蔽，保护内部网络的信息和结构。防火墙是设置在</a:t>
            </a:r>
            <a:r>
              <a:rPr lang="zh-CN" altLang="en-US" b="1">
                <a:latin typeface="宋体" panose="02010600030101010101" pitchFamily="2" charset="-122"/>
              </a:rPr>
              <a:t>可信网络（</a:t>
            </a:r>
            <a:r>
              <a:rPr lang="en-US" altLang="zh-CN" b="1">
                <a:cs typeface="Times New Roman" panose="02020603050405020304" pitchFamily="18" charset="0"/>
              </a:rPr>
              <a:t>trusted network</a:t>
            </a:r>
            <a:r>
              <a:rPr lang="en-US" altLang="zh-CN" b="1">
                <a:latin typeface="宋体" panose="02010600030101010101" pitchFamily="2" charset="-122"/>
              </a:rPr>
              <a:t>）</a:t>
            </a:r>
            <a:r>
              <a:rPr lang="zh-CN" altLang="en-US">
                <a:latin typeface="宋体" panose="02010600030101010101" pitchFamily="2" charset="-122"/>
              </a:rPr>
              <a:t>和外部不可信任的</a:t>
            </a:r>
            <a:r>
              <a:rPr lang="zh-CN" altLang="en-US">
                <a:latin typeface="宋体" panose="02010600030101010101" pitchFamily="2" charset="-122"/>
              </a:rPr>
              <a:t>网络之间的一道屏障，可以实施比较广泛的安全策略来控制信息流进入可信网络，防止不可预料的潜在的入侵破坏；另一方面能够限制可信网络中的用户对外部网络的非授权访问。</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2"/>
          <p:cNvGrpSpPr/>
          <p:nvPr/>
        </p:nvGrpSpPr>
        <p:grpSpPr bwMode="auto">
          <a:xfrm>
            <a:off x="1752601" y="1773239"/>
            <a:ext cx="8888413" cy="3243263"/>
            <a:chOff x="96" y="1093"/>
            <a:chExt cx="5599" cy="2043"/>
          </a:xfrm>
        </p:grpSpPr>
        <p:sp>
          <p:nvSpPr>
            <p:cNvPr id="35843" name="Line 3"/>
            <p:cNvSpPr>
              <a:spLocks noChangeShapeType="1"/>
            </p:cNvSpPr>
            <p:nvPr/>
          </p:nvSpPr>
          <p:spPr bwMode="auto">
            <a:xfrm rot="-5400000">
              <a:off x="1704" y="1357"/>
              <a:ext cx="0" cy="72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4" name="Line 4"/>
            <p:cNvSpPr>
              <a:spLocks noChangeShapeType="1"/>
            </p:cNvSpPr>
            <p:nvPr/>
          </p:nvSpPr>
          <p:spPr bwMode="auto">
            <a:xfrm rot="-5400000">
              <a:off x="1704" y="2173"/>
              <a:ext cx="0" cy="72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845" name="Group 5"/>
            <p:cNvGrpSpPr/>
            <p:nvPr/>
          </p:nvGrpSpPr>
          <p:grpSpPr bwMode="auto">
            <a:xfrm>
              <a:off x="2736" y="1285"/>
              <a:ext cx="1816" cy="1440"/>
              <a:chOff x="1641" y="1356"/>
              <a:chExt cx="2508" cy="1569"/>
            </a:xfrm>
          </p:grpSpPr>
          <p:sp>
            <p:nvSpPr>
              <p:cNvPr id="35846" name="Oval 6"/>
              <p:cNvSpPr>
                <a:spLocks noChangeArrowheads="1"/>
              </p:cNvSpPr>
              <p:nvPr/>
            </p:nvSpPr>
            <p:spPr bwMode="auto">
              <a:xfrm rot="20700000">
                <a:off x="2741" y="2587"/>
                <a:ext cx="406" cy="338"/>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7" name="Oval 7"/>
              <p:cNvSpPr>
                <a:spLocks noChangeArrowheads="1"/>
              </p:cNvSpPr>
              <p:nvPr/>
            </p:nvSpPr>
            <p:spPr bwMode="auto">
              <a:xfrm rot="20700000">
                <a:off x="2422" y="1356"/>
                <a:ext cx="410" cy="339"/>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8" name="Oval 8"/>
              <p:cNvSpPr>
                <a:spLocks noChangeArrowheads="1"/>
              </p:cNvSpPr>
              <p:nvPr/>
            </p:nvSpPr>
            <p:spPr bwMode="auto">
              <a:xfrm rot="20700000">
                <a:off x="1876" y="1592"/>
                <a:ext cx="248" cy="208"/>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9" name="Oval 9"/>
              <p:cNvSpPr>
                <a:spLocks noChangeArrowheads="1"/>
              </p:cNvSpPr>
              <p:nvPr/>
            </p:nvSpPr>
            <p:spPr bwMode="auto">
              <a:xfrm rot="20700000">
                <a:off x="1922" y="2414"/>
                <a:ext cx="247" cy="199"/>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0" name="Oval 10"/>
              <p:cNvSpPr>
                <a:spLocks noChangeArrowheads="1"/>
              </p:cNvSpPr>
              <p:nvPr/>
            </p:nvSpPr>
            <p:spPr bwMode="auto">
              <a:xfrm rot="20700000">
                <a:off x="1696" y="2115"/>
                <a:ext cx="407" cy="329"/>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1" name="Oval 11"/>
              <p:cNvSpPr>
                <a:spLocks noChangeArrowheads="1"/>
              </p:cNvSpPr>
              <p:nvPr/>
            </p:nvSpPr>
            <p:spPr bwMode="auto">
              <a:xfrm rot="20700000">
                <a:off x="2108" y="1442"/>
                <a:ext cx="409" cy="336"/>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2" name="Oval 12"/>
              <p:cNvSpPr>
                <a:spLocks noChangeArrowheads="1"/>
              </p:cNvSpPr>
              <p:nvPr/>
            </p:nvSpPr>
            <p:spPr bwMode="auto">
              <a:xfrm rot="20700000">
                <a:off x="3737" y="2238"/>
                <a:ext cx="412" cy="337"/>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3" name="Oval 13"/>
              <p:cNvSpPr>
                <a:spLocks noChangeArrowheads="1"/>
              </p:cNvSpPr>
              <p:nvPr/>
            </p:nvSpPr>
            <p:spPr bwMode="auto">
              <a:xfrm rot="20700000">
                <a:off x="3440" y="2389"/>
                <a:ext cx="412" cy="343"/>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854" name="Group 14"/>
              <p:cNvGrpSpPr/>
              <p:nvPr/>
            </p:nvGrpSpPr>
            <p:grpSpPr bwMode="auto">
              <a:xfrm>
                <a:off x="1641" y="1395"/>
                <a:ext cx="2461" cy="1457"/>
                <a:chOff x="1641" y="1395"/>
                <a:chExt cx="2461" cy="1457"/>
              </a:xfrm>
            </p:grpSpPr>
            <p:sp>
              <p:nvSpPr>
                <p:cNvPr id="35855" name="Oval 15"/>
                <p:cNvSpPr>
                  <a:spLocks noChangeArrowheads="1"/>
                </p:cNvSpPr>
                <p:nvPr/>
              </p:nvSpPr>
              <p:spPr bwMode="auto">
                <a:xfrm rot="20700000">
                  <a:off x="1641" y="1736"/>
                  <a:ext cx="733" cy="611"/>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856" name="Group 16"/>
                <p:cNvGrpSpPr/>
                <p:nvPr/>
              </p:nvGrpSpPr>
              <p:grpSpPr bwMode="auto">
                <a:xfrm>
                  <a:off x="1907" y="1711"/>
                  <a:ext cx="1433" cy="1141"/>
                  <a:chOff x="1907" y="1711"/>
                  <a:chExt cx="1433" cy="1141"/>
                </a:xfrm>
              </p:grpSpPr>
              <p:sp>
                <p:nvSpPr>
                  <p:cNvPr id="35857" name="Oval 17"/>
                  <p:cNvSpPr>
                    <a:spLocks noChangeArrowheads="1"/>
                  </p:cNvSpPr>
                  <p:nvPr/>
                </p:nvSpPr>
                <p:spPr bwMode="auto">
                  <a:xfrm rot="20700000">
                    <a:off x="1964" y="1711"/>
                    <a:ext cx="1376" cy="1141"/>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8" name="Freeform 18"/>
                  <p:cNvSpPr/>
                  <p:nvPr/>
                </p:nvSpPr>
                <p:spPr bwMode="auto">
                  <a:xfrm>
                    <a:off x="1907" y="1991"/>
                    <a:ext cx="213" cy="323"/>
                  </a:xfrm>
                  <a:custGeom>
                    <a:avLst/>
                    <a:gdLst>
                      <a:gd name="T0" fmla="*/ 164 w 213"/>
                      <a:gd name="T1" fmla="*/ 0 h 323"/>
                      <a:gd name="T2" fmla="*/ 0 w 213"/>
                      <a:gd name="T3" fmla="*/ 316 h 323"/>
                      <a:gd name="T4" fmla="*/ 121 w 213"/>
                      <a:gd name="T5" fmla="*/ 322 h 323"/>
                      <a:gd name="T6" fmla="*/ 212 w 213"/>
                      <a:gd name="T7" fmla="*/ 13 h 323"/>
                      <a:gd name="T8" fmla="*/ 164 w 213"/>
                      <a:gd name="T9" fmla="*/ 0 h 323"/>
                    </a:gdLst>
                    <a:ahLst/>
                    <a:cxnLst>
                      <a:cxn ang="0">
                        <a:pos x="T0" y="T1"/>
                      </a:cxn>
                      <a:cxn ang="0">
                        <a:pos x="T2" y="T3"/>
                      </a:cxn>
                      <a:cxn ang="0">
                        <a:pos x="T4" y="T5"/>
                      </a:cxn>
                      <a:cxn ang="0">
                        <a:pos x="T6" y="T7"/>
                      </a:cxn>
                      <a:cxn ang="0">
                        <a:pos x="T8" y="T9"/>
                      </a:cxn>
                    </a:cxnLst>
                    <a:rect l="0" t="0" r="r" b="b"/>
                    <a:pathLst>
                      <a:path w="213" h="323">
                        <a:moveTo>
                          <a:pt x="164" y="0"/>
                        </a:moveTo>
                        <a:lnTo>
                          <a:pt x="0" y="316"/>
                        </a:lnTo>
                        <a:lnTo>
                          <a:pt x="121" y="322"/>
                        </a:lnTo>
                        <a:lnTo>
                          <a:pt x="212" y="13"/>
                        </a:lnTo>
                        <a:lnTo>
                          <a:pt x="164" y="0"/>
                        </a:lnTo>
                      </a:path>
                    </a:pathLst>
                  </a:cu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5859" name="Oval 19"/>
                <p:cNvSpPr>
                  <a:spLocks noChangeArrowheads="1"/>
                </p:cNvSpPr>
                <p:nvPr/>
              </p:nvSpPr>
              <p:spPr bwMode="auto">
                <a:xfrm rot="20700000">
                  <a:off x="2467" y="1705"/>
                  <a:ext cx="1377" cy="1142"/>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0" name="Oval 20"/>
                <p:cNvSpPr>
                  <a:spLocks noChangeArrowheads="1"/>
                </p:cNvSpPr>
                <p:nvPr/>
              </p:nvSpPr>
              <p:spPr bwMode="auto">
                <a:xfrm rot="20700000">
                  <a:off x="3609" y="1705"/>
                  <a:ext cx="493" cy="409"/>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1" name="Oval 21"/>
                <p:cNvSpPr>
                  <a:spLocks noChangeArrowheads="1"/>
                </p:cNvSpPr>
                <p:nvPr/>
              </p:nvSpPr>
              <p:spPr bwMode="auto">
                <a:xfrm rot="20700000">
                  <a:off x="3595" y="2355"/>
                  <a:ext cx="327" cy="276"/>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2" name="Oval 22"/>
                <p:cNvSpPr>
                  <a:spLocks noChangeArrowheads="1"/>
                </p:cNvSpPr>
                <p:nvPr/>
              </p:nvSpPr>
              <p:spPr bwMode="auto">
                <a:xfrm rot="20700000">
                  <a:off x="3412" y="1647"/>
                  <a:ext cx="328" cy="266"/>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3" name="Oval 23"/>
                <p:cNvSpPr>
                  <a:spLocks noChangeArrowheads="1"/>
                </p:cNvSpPr>
                <p:nvPr/>
              </p:nvSpPr>
              <p:spPr bwMode="auto">
                <a:xfrm rot="20700000">
                  <a:off x="3600" y="1991"/>
                  <a:ext cx="495" cy="404"/>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4" name="Oval 24"/>
                <p:cNvSpPr>
                  <a:spLocks noChangeArrowheads="1"/>
                </p:cNvSpPr>
                <p:nvPr/>
              </p:nvSpPr>
              <p:spPr bwMode="auto">
                <a:xfrm rot="20700000">
                  <a:off x="1998" y="1500"/>
                  <a:ext cx="735" cy="607"/>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5" name="Oval 25"/>
                <p:cNvSpPr>
                  <a:spLocks noChangeArrowheads="1"/>
                </p:cNvSpPr>
                <p:nvPr/>
              </p:nvSpPr>
              <p:spPr bwMode="auto">
                <a:xfrm rot="20700000">
                  <a:off x="2734" y="1436"/>
                  <a:ext cx="735" cy="607"/>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6" name="Oval 26"/>
                <p:cNvSpPr>
                  <a:spLocks noChangeArrowheads="1"/>
                </p:cNvSpPr>
                <p:nvPr/>
              </p:nvSpPr>
              <p:spPr bwMode="auto">
                <a:xfrm rot="20700000">
                  <a:off x="2386" y="1395"/>
                  <a:ext cx="736" cy="607"/>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7" name="Oval 27"/>
                <p:cNvSpPr>
                  <a:spLocks noChangeArrowheads="1"/>
                </p:cNvSpPr>
                <p:nvPr/>
              </p:nvSpPr>
              <p:spPr bwMode="auto">
                <a:xfrm rot="20700000">
                  <a:off x="2338" y="2169"/>
                  <a:ext cx="730" cy="608"/>
                </a:xfrm>
                <a:prstGeom prst="ellipse">
                  <a:avLst/>
                </a:prstGeom>
                <a:solidFill>
                  <a:schemeClr val="accent2"/>
                </a:solidFill>
                <a:ln w="1270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8" name="Freeform 28"/>
                <p:cNvSpPr/>
                <p:nvPr/>
              </p:nvSpPr>
              <p:spPr bwMode="auto">
                <a:xfrm>
                  <a:off x="2085" y="1513"/>
                  <a:ext cx="1827" cy="1241"/>
                </a:xfrm>
                <a:custGeom>
                  <a:avLst/>
                  <a:gdLst>
                    <a:gd name="T0" fmla="*/ 300 w 1827"/>
                    <a:gd name="T1" fmla="*/ 77 h 1241"/>
                    <a:gd name="T2" fmla="*/ 656 w 1827"/>
                    <a:gd name="T3" fmla="*/ 143 h 1241"/>
                    <a:gd name="T4" fmla="*/ 1026 w 1827"/>
                    <a:gd name="T5" fmla="*/ 0 h 1241"/>
                    <a:gd name="T6" fmla="*/ 1348 w 1827"/>
                    <a:gd name="T7" fmla="*/ 231 h 1241"/>
                    <a:gd name="T8" fmla="*/ 1418 w 1827"/>
                    <a:gd name="T9" fmla="*/ 234 h 1241"/>
                    <a:gd name="T10" fmla="*/ 1614 w 1827"/>
                    <a:gd name="T11" fmla="*/ 282 h 1241"/>
                    <a:gd name="T12" fmla="*/ 1678 w 1827"/>
                    <a:gd name="T13" fmla="*/ 345 h 1241"/>
                    <a:gd name="T14" fmla="*/ 1826 w 1827"/>
                    <a:gd name="T15" fmla="*/ 455 h 1241"/>
                    <a:gd name="T16" fmla="*/ 1817 w 1827"/>
                    <a:gd name="T17" fmla="*/ 502 h 1241"/>
                    <a:gd name="T18" fmla="*/ 1657 w 1827"/>
                    <a:gd name="T19" fmla="*/ 981 h 1241"/>
                    <a:gd name="T20" fmla="*/ 1485 w 1827"/>
                    <a:gd name="T21" fmla="*/ 1083 h 1241"/>
                    <a:gd name="T22" fmla="*/ 868 w 1827"/>
                    <a:gd name="T23" fmla="*/ 1205 h 1241"/>
                    <a:gd name="T24" fmla="*/ 807 w 1827"/>
                    <a:gd name="T25" fmla="*/ 1152 h 1241"/>
                    <a:gd name="T26" fmla="*/ 388 w 1827"/>
                    <a:gd name="T27" fmla="*/ 1189 h 1241"/>
                    <a:gd name="T28" fmla="*/ 321 w 1827"/>
                    <a:gd name="T29" fmla="*/ 1240 h 1241"/>
                    <a:gd name="T30" fmla="*/ 0 w 1827"/>
                    <a:gd name="T31" fmla="*/ 612 h 1241"/>
                    <a:gd name="T32" fmla="*/ 300 w 1827"/>
                    <a:gd name="T33" fmla="*/ 77 h 1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27" h="1241">
                      <a:moveTo>
                        <a:pt x="300" y="77"/>
                      </a:moveTo>
                      <a:lnTo>
                        <a:pt x="656" y="143"/>
                      </a:lnTo>
                      <a:lnTo>
                        <a:pt x="1026" y="0"/>
                      </a:lnTo>
                      <a:lnTo>
                        <a:pt x="1348" y="231"/>
                      </a:lnTo>
                      <a:lnTo>
                        <a:pt x="1418" y="234"/>
                      </a:lnTo>
                      <a:lnTo>
                        <a:pt x="1614" y="282"/>
                      </a:lnTo>
                      <a:lnTo>
                        <a:pt x="1678" y="345"/>
                      </a:lnTo>
                      <a:lnTo>
                        <a:pt x="1826" y="455"/>
                      </a:lnTo>
                      <a:lnTo>
                        <a:pt x="1817" y="502"/>
                      </a:lnTo>
                      <a:lnTo>
                        <a:pt x="1657" y="981"/>
                      </a:lnTo>
                      <a:lnTo>
                        <a:pt x="1485" y="1083"/>
                      </a:lnTo>
                      <a:lnTo>
                        <a:pt x="868" y="1205"/>
                      </a:lnTo>
                      <a:lnTo>
                        <a:pt x="807" y="1152"/>
                      </a:lnTo>
                      <a:lnTo>
                        <a:pt x="388" y="1189"/>
                      </a:lnTo>
                      <a:lnTo>
                        <a:pt x="321" y="1240"/>
                      </a:lnTo>
                      <a:lnTo>
                        <a:pt x="0" y="612"/>
                      </a:lnTo>
                      <a:lnTo>
                        <a:pt x="300" y="77"/>
                      </a:lnTo>
                    </a:path>
                  </a:pathLst>
                </a:cu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5869" name="Text Box 29"/>
            <p:cNvSpPr txBox="1">
              <a:spLocks noChangeArrowheads="1"/>
            </p:cNvSpPr>
            <p:nvPr/>
          </p:nvSpPr>
          <p:spPr bwMode="auto">
            <a:xfrm>
              <a:off x="3072" y="1801"/>
              <a:ext cx="1248" cy="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85000"/>
                </a:lnSpc>
                <a:spcBef>
                  <a:spcPct val="25000"/>
                </a:spcBef>
              </a:pPr>
              <a:r>
                <a:rPr lang="en-US" altLang="zh-CN" sz="3600" b="1">
                  <a:effectLst>
                    <a:outerShdw blurRad="38100" dist="38100" dir="2700000" algn="tl">
                      <a:srgbClr val="000000"/>
                    </a:outerShdw>
                  </a:effectLst>
                  <a:latin typeface="Arial" panose="020B0604020202020204" pitchFamily="34" charset="0"/>
                </a:rPr>
                <a:t>Internet</a:t>
              </a:r>
              <a:endParaRPr lang="en-US" altLang="zh-CN" sz="3600" b="1">
                <a:effectLst>
                  <a:outerShdw blurRad="38100" dist="38100" dir="2700000" algn="tl">
                    <a:srgbClr val="000000"/>
                  </a:outerShdw>
                </a:effectLst>
                <a:latin typeface="Arial" panose="020B0604020202020204" pitchFamily="34" charset="0"/>
              </a:endParaRPr>
            </a:p>
          </p:txBody>
        </p:sp>
        <p:grpSp>
          <p:nvGrpSpPr>
            <p:cNvPr id="35870" name="Group 30"/>
            <p:cNvGrpSpPr/>
            <p:nvPr/>
          </p:nvGrpSpPr>
          <p:grpSpPr bwMode="auto">
            <a:xfrm>
              <a:off x="4839" y="1183"/>
              <a:ext cx="435" cy="473"/>
              <a:chOff x="4222" y="2888"/>
              <a:chExt cx="435" cy="473"/>
            </a:xfrm>
          </p:grpSpPr>
          <p:sp>
            <p:nvSpPr>
              <p:cNvPr id="35871" name="Freeform 31"/>
              <p:cNvSpPr/>
              <p:nvPr/>
            </p:nvSpPr>
            <p:spPr bwMode="auto">
              <a:xfrm>
                <a:off x="4373" y="2903"/>
                <a:ext cx="189" cy="458"/>
              </a:xfrm>
              <a:custGeom>
                <a:avLst/>
                <a:gdLst>
                  <a:gd name="T0" fmla="*/ 188 w 189"/>
                  <a:gd name="T1" fmla="*/ 0 h 458"/>
                  <a:gd name="T2" fmla="*/ 0 w 189"/>
                  <a:gd name="T3" fmla="*/ 5 h 458"/>
                  <a:gd name="T4" fmla="*/ 0 w 189"/>
                  <a:gd name="T5" fmla="*/ 457 h 458"/>
                  <a:gd name="T6" fmla="*/ 188 w 189"/>
                  <a:gd name="T7" fmla="*/ 437 h 458"/>
                  <a:gd name="T8" fmla="*/ 188 w 189"/>
                  <a:gd name="T9" fmla="*/ 0 h 458"/>
                </a:gdLst>
                <a:ahLst/>
                <a:cxnLst>
                  <a:cxn ang="0">
                    <a:pos x="T0" y="T1"/>
                  </a:cxn>
                  <a:cxn ang="0">
                    <a:pos x="T2" y="T3"/>
                  </a:cxn>
                  <a:cxn ang="0">
                    <a:pos x="T4" y="T5"/>
                  </a:cxn>
                  <a:cxn ang="0">
                    <a:pos x="T6" y="T7"/>
                  </a:cxn>
                  <a:cxn ang="0">
                    <a:pos x="T8" y="T9"/>
                  </a:cxn>
                </a:cxnLst>
                <a:rect l="0" t="0" r="r" b="b"/>
                <a:pathLst>
                  <a:path w="189" h="458">
                    <a:moveTo>
                      <a:pt x="188" y="0"/>
                    </a:moveTo>
                    <a:lnTo>
                      <a:pt x="0" y="5"/>
                    </a:lnTo>
                    <a:lnTo>
                      <a:pt x="0" y="457"/>
                    </a:lnTo>
                    <a:lnTo>
                      <a:pt x="188" y="437"/>
                    </a:lnTo>
                    <a:lnTo>
                      <a:pt x="188" y="0"/>
                    </a:lnTo>
                  </a:path>
                </a:pathLst>
              </a:custGeom>
              <a:solidFill>
                <a:srgbClr val="B5B5B5"/>
              </a:solidFill>
              <a:ln w="12700" cap="rnd" cmpd="sng">
                <a:solidFill>
                  <a:srgbClr val="B5B5B5"/>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2" name="Freeform 32"/>
              <p:cNvSpPr/>
              <p:nvPr/>
            </p:nvSpPr>
            <p:spPr bwMode="auto">
              <a:xfrm>
                <a:off x="4384" y="3144"/>
                <a:ext cx="168" cy="195"/>
              </a:xfrm>
              <a:custGeom>
                <a:avLst/>
                <a:gdLst>
                  <a:gd name="T0" fmla="*/ 0 w 168"/>
                  <a:gd name="T1" fmla="*/ 11 h 195"/>
                  <a:gd name="T2" fmla="*/ 167 w 168"/>
                  <a:gd name="T3" fmla="*/ 0 h 195"/>
                  <a:gd name="T4" fmla="*/ 167 w 168"/>
                  <a:gd name="T5" fmla="*/ 177 h 195"/>
                  <a:gd name="T6" fmla="*/ 0 w 168"/>
                  <a:gd name="T7" fmla="*/ 194 h 195"/>
                  <a:gd name="T8" fmla="*/ 0 w 168"/>
                  <a:gd name="T9" fmla="*/ 11 h 195"/>
                </a:gdLst>
                <a:ahLst/>
                <a:cxnLst>
                  <a:cxn ang="0">
                    <a:pos x="T0" y="T1"/>
                  </a:cxn>
                  <a:cxn ang="0">
                    <a:pos x="T2" y="T3"/>
                  </a:cxn>
                  <a:cxn ang="0">
                    <a:pos x="T4" y="T5"/>
                  </a:cxn>
                  <a:cxn ang="0">
                    <a:pos x="T6" y="T7"/>
                  </a:cxn>
                  <a:cxn ang="0">
                    <a:pos x="T8" y="T9"/>
                  </a:cxn>
                </a:cxnLst>
                <a:rect l="0" t="0" r="r" b="b"/>
                <a:pathLst>
                  <a:path w="168" h="195">
                    <a:moveTo>
                      <a:pt x="0" y="11"/>
                    </a:moveTo>
                    <a:lnTo>
                      <a:pt x="167" y="0"/>
                    </a:lnTo>
                    <a:lnTo>
                      <a:pt x="167" y="177"/>
                    </a:lnTo>
                    <a:lnTo>
                      <a:pt x="0" y="194"/>
                    </a:lnTo>
                    <a:lnTo>
                      <a:pt x="0" y="11"/>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3" name="Freeform 33"/>
              <p:cNvSpPr/>
              <p:nvPr/>
            </p:nvSpPr>
            <p:spPr bwMode="auto">
              <a:xfrm>
                <a:off x="4384" y="2987"/>
                <a:ext cx="160" cy="131"/>
              </a:xfrm>
              <a:custGeom>
                <a:avLst/>
                <a:gdLst>
                  <a:gd name="T0" fmla="*/ 0 w 160"/>
                  <a:gd name="T1" fmla="*/ 6 h 131"/>
                  <a:gd name="T2" fmla="*/ 159 w 160"/>
                  <a:gd name="T3" fmla="*/ 0 h 131"/>
                  <a:gd name="T4" fmla="*/ 159 w 160"/>
                  <a:gd name="T5" fmla="*/ 121 h 131"/>
                  <a:gd name="T6" fmla="*/ 0 w 160"/>
                  <a:gd name="T7" fmla="*/ 130 h 131"/>
                  <a:gd name="T8" fmla="*/ 0 w 160"/>
                  <a:gd name="T9" fmla="*/ 6 h 131"/>
                </a:gdLst>
                <a:ahLst/>
                <a:cxnLst>
                  <a:cxn ang="0">
                    <a:pos x="T0" y="T1"/>
                  </a:cxn>
                  <a:cxn ang="0">
                    <a:pos x="T2" y="T3"/>
                  </a:cxn>
                  <a:cxn ang="0">
                    <a:pos x="T4" y="T5"/>
                  </a:cxn>
                  <a:cxn ang="0">
                    <a:pos x="T6" y="T7"/>
                  </a:cxn>
                  <a:cxn ang="0">
                    <a:pos x="T8" y="T9"/>
                  </a:cxn>
                </a:cxnLst>
                <a:rect l="0" t="0" r="r" b="b"/>
                <a:pathLst>
                  <a:path w="160" h="131">
                    <a:moveTo>
                      <a:pt x="0" y="6"/>
                    </a:moveTo>
                    <a:lnTo>
                      <a:pt x="159" y="0"/>
                    </a:lnTo>
                    <a:lnTo>
                      <a:pt x="159" y="121"/>
                    </a:lnTo>
                    <a:lnTo>
                      <a:pt x="0" y="130"/>
                    </a:lnTo>
                    <a:lnTo>
                      <a:pt x="0" y="6"/>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4" name="Freeform 34"/>
              <p:cNvSpPr/>
              <p:nvPr/>
            </p:nvSpPr>
            <p:spPr bwMode="auto">
              <a:xfrm>
                <a:off x="4222" y="2889"/>
                <a:ext cx="340" cy="19"/>
              </a:xfrm>
              <a:custGeom>
                <a:avLst/>
                <a:gdLst>
                  <a:gd name="T0" fmla="*/ 0 w 340"/>
                  <a:gd name="T1" fmla="*/ 1 h 19"/>
                  <a:gd name="T2" fmla="*/ 151 w 340"/>
                  <a:gd name="T3" fmla="*/ 18 h 19"/>
                  <a:gd name="T4" fmla="*/ 339 w 340"/>
                  <a:gd name="T5" fmla="*/ 14 h 19"/>
                  <a:gd name="T6" fmla="*/ 181 w 340"/>
                  <a:gd name="T7" fmla="*/ 0 h 19"/>
                  <a:gd name="T8" fmla="*/ 0 w 340"/>
                  <a:gd name="T9" fmla="*/ 1 h 19"/>
                </a:gdLst>
                <a:ahLst/>
                <a:cxnLst>
                  <a:cxn ang="0">
                    <a:pos x="T0" y="T1"/>
                  </a:cxn>
                  <a:cxn ang="0">
                    <a:pos x="T2" y="T3"/>
                  </a:cxn>
                  <a:cxn ang="0">
                    <a:pos x="T4" y="T5"/>
                  </a:cxn>
                  <a:cxn ang="0">
                    <a:pos x="T6" y="T7"/>
                  </a:cxn>
                  <a:cxn ang="0">
                    <a:pos x="T8" y="T9"/>
                  </a:cxn>
                </a:cxnLst>
                <a:rect l="0" t="0" r="r" b="b"/>
                <a:pathLst>
                  <a:path w="340" h="19">
                    <a:moveTo>
                      <a:pt x="0" y="1"/>
                    </a:moveTo>
                    <a:lnTo>
                      <a:pt x="151" y="18"/>
                    </a:lnTo>
                    <a:lnTo>
                      <a:pt x="339" y="14"/>
                    </a:lnTo>
                    <a:lnTo>
                      <a:pt x="181" y="0"/>
                    </a:lnTo>
                    <a:lnTo>
                      <a:pt x="0" y="1"/>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5" name="Freeform 35"/>
              <p:cNvSpPr/>
              <p:nvPr/>
            </p:nvSpPr>
            <p:spPr bwMode="auto">
              <a:xfrm>
                <a:off x="4222" y="2889"/>
                <a:ext cx="152" cy="472"/>
              </a:xfrm>
              <a:custGeom>
                <a:avLst/>
                <a:gdLst>
                  <a:gd name="T0" fmla="*/ 151 w 152"/>
                  <a:gd name="T1" fmla="*/ 471 h 472"/>
                  <a:gd name="T2" fmla="*/ 0 w 152"/>
                  <a:gd name="T3" fmla="*/ 358 h 472"/>
                  <a:gd name="T4" fmla="*/ 0 w 152"/>
                  <a:gd name="T5" fmla="*/ 0 h 472"/>
                  <a:gd name="T6" fmla="*/ 151 w 152"/>
                  <a:gd name="T7" fmla="*/ 18 h 472"/>
                  <a:gd name="T8" fmla="*/ 151 w 152"/>
                  <a:gd name="T9" fmla="*/ 471 h 472"/>
                </a:gdLst>
                <a:ahLst/>
                <a:cxnLst>
                  <a:cxn ang="0">
                    <a:pos x="T0" y="T1"/>
                  </a:cxn>
                  <a:cxn ang="0">
                    <a:pos x="T2" y="T3"/>
                  </a:cxn>
                  <a:cxn ang="0">
                    <a:pos x="T4" y="T5"/>
                  </a:cxn>
                  <a:cxn ang="0">
                    <a:pos x="T6" y="T7"/>
                  </a:cxn>
                  <a:cxn ang="0">
                    <a:pos x="T8" y="T9"/>
                  </a:cxn>
                </a:cxnLst>
                <a:rect l="0" t="0" r="r" b="b"/>
                <a:pathLst>
                  <a:path w="152" h="472">
                    <a:moveTo>
                      <a:pt x="151" y="471"/>
                    </a:moveTo>
                    <a:lnTo>
                      <a:pt x="0" y="358"/>
                    </a:lnTo>
                    <a:lnTo>
                      <a:pt x="0" y="0"/>
                    </a:lnTo>
                    <a:lnTo>
                      <a:pt x="151" y="18"/>
                    </a:lnTo>
                    <a:lnTo>
                      <a:pt x="151" y="471"/>
                    </a:lnTo>
                  </a:path>
                </a:pathLst>
              </a:custGeom>
              <a:solidFill>
                <a:srgbClr val="B5B5B5"/>
              </a:solidFill>
              <a:ln w="12700" cap="rnd" cmpd="sng">
                <a:solidFill>
                  <a:srgbClr val="B5B5B5"/>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6" name="Freeform 36"/>
              <p:cNvSpPr/>
              <p:nvPr/>
            </p:nvSpPr>
            <p:spPr bwMode="auto">
              <a:xfrm>
                <a:off x="4356" y="2905"/>
                <a:ext cx="18" cy="456"/>
              </a:xfrm>
              <a:custGeom>
                <a:avLst/>
                <a:gdLst>
                  <a:gd name="T0" fmla="*/ 17 w 18"/>
                  <a:gd name="T1" fmla="*/ 2 h 456"/>
                  <a:gd name="T2" fmla="*/ 0 w 18"/>
                  <a:gd name="T3" fmla="*/ 0 h 456"/>
                  <a:gd name="T4" fmla="*/ 0 w 18"/>
                  <a:gd name="T5" fmla="*/ 443 h 456"/>
                  <a:gd name="T6" fmla="*/ 17 w 18"/>
                  <a:gd name="T7" fmla="*/ 455 h 456"/>
                  <a:gd name="T8" fmla="*/ 17 w 18"/>
                  <a:gd name="T9" fmla="*/ 2 h 456"/>
                </a:gdLst>
                <a:ahLst/>
                <a:cxnLst>
                  <a:cxn ang="0">
                    <a:pos x="T0" y="T1"/>
                  </a:cxn>
                  <a:cxn ang="0">
                    <a:pos x="T2" y="T3"/>
                  </a:cxn>
                  <a:cxn ang="0">
                    <a:pos x="T4" y="T5"/>
                  </a:cxn>
                  <a:cxn ang="0">
                    <a:pos x="T6" y="T7"/>
                  </a:cxn>
                  <a:cxn ang="0">
                    <a:pos x="T8" y="T9"/>
                  </a:cxn>
                </a:cxnLst>
                <a:rect l="0" t="0" r="r" b="b"/>
                <a:pathLst>
                  <a:path w="18" h="456">
                    <a:moveTo>
                      <a:pt x="17" y="2"/>
                    </a:moveTo>
                    <a:lnTo>
                      <a:pt x="0" y="0"/>
                    </a:lnTo>
                    <a:lnTo>
                      <a:pt x="0" y="443"/>
                    </a:lnTo>
                    <a:lnTo>
                      <a:pt x="17" y="455"/>
                    </a:lnTo>
                    <a:lnTo>
                      <a:pt x="17" y="2"/>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7" name="Freeform 37"/>
              <p:cNvSpPr/>
              <p:nvPr/>
            </p:nvSpPr>
            <p:spPr bwMode="auto">
              <a:xfrm>
                <a:off x="4384" y="2986"/>
                <a:ext cx="168" cy="137"/>
              </a:xfrm>
              <a:custGeom>
                <a:avLst/>
                <a:gdLst>
                  <a:gd name="T0" fmla="*/ 167 w 168"/>
                  <a:gd name="T1" fmla="*/ 0 h 137"/>
                  <a:gd name="T2" fmla="*/ 167 w 168"/>
                  <a:gd name="T3" fmla="*/ 125 h 137"/>
                  <a:gd name="T4" fmla="*/ 0 w 168"/>
                  <a:gd name="T5" fmla="*/ 136 h 137"/>
                  <a:gd name="T6" fmla="*/ 0 w 168"/>
                  <a:gd name="T7" fmla="*/ 130 h 137"/>
                  <a:gd name="T8" fmla="*/ 159 w 168"/>
                  <a:gd name="T9" fmla="*/ 122 h 137"/>
                  <a:gd name="T10" fmla="*/ 159 w 168"/>
                  <a:gd name="T11" fmla="*/ 1 h 137"/>
                  <a:gd name="T12" fmla="*/ 167 w 168"/>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68" h="137">
                    <a:moveTo>
                      <a:pt x="167" y="0"/>
                    </a:moveTo>
                    <a:lnTo>
                      <a:pt x="167" y="125"/>
                    </a:lnTo>
                    <a:lnTo>
                      <a:pt x="0" y="136"/>
                    </a:lnTo>
                    <a:lnTo>
                      <a:pt x="0" y="130"/>
                    </a:lnTo>
                    <a:lnTo>
                      <a:pt x="159" y="122"/>
                    </a:lnTo>
                    <a:lnTo>
                      <a:pt x="159" y="1"/>
                    </a:lnTo>
                    <a:lnTo>
                      <a:pt x="167" y="0"/>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8" name="Freeform 38"/>
              <p:cNvSpPr/>
              <p:nvPr/>
            </p:nvSpPr>
            <p:spPr bwMode="auto">
              <a:xfrm>
                <a:off x="4384" y="2961"/>
                <a:ext cx="168" cy="27"/>
              </a:xfrm>
              <a:custGeom>
                <a:avLst/>
                <a:gdLst>
                  <a:gd name="T0" fmla="*/ 0 w 168"/>
                  <a:gd name="T1" fmla="*/ 15 h 27"/>
                  <a:gd name="T2" fmla="*/ 0 w 168"/>
                  <a:gd name="T3" fmla="*/ 19 h 27"/>
                  <a:gd name="T4" fmla="*/ 39 w 168"/>
                  <a:gd name="T5" fmla="*/ 18 h 27"/>
                  <a:gd name="T6" fmla="*/ 39 w 168"/>
                  <a:gd name="T7" fmla="*/ 26 h 27"/>
                  <a:gd name="T8" fmla="*/ 128 w 168"/>
                  <a:gd name="T9" fmla="*/ 23 h 27"/>
                  <a:gd name="T10" fmla="*/ 128 w 168"/>
                  <a:gd name="T11" fmla="*/ 16 h 27"/>
                  <a:gd name="T12" fmla="*/ 167 w 168"/>
                  <a:gd name="T13" fmla="*/ 14 h 27"/>
                  <a:gd name="T14" fmla="*/ 167 w 168"/>
                  <a:gd name="T15" fmla="*/ 8 h 27"/>
                  <a:gd name="T16" fmla="*/ 128 w 168"/>
                  <a:gd name="T17" fmla="*/ 10 h 27"/>
                  <a:gd name="T18" fmla="*/ 128 w 168"/>
                  <a:gd name="T19" fmla="*/ 0 h 27"/>
                  <a:gd name="T20" fmla="*/ 111 w 168"/>
                  <a:gd name="T21" fmla="*/ 1 h 27"/>
                  <a:gd name="T22" fmla="*/ 32 w 168"/>
                  <a:gd name="T23" fmla="*/ 13 h 27"/>
                  <a:gd name="T24" fmla="*/ 0 w 168"/>
                  <a:gd name="T2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27">
                    <a:moveTo>
                      <a:pt x="0" y="15"/>
                    </a:moveTo>
                    <a:lnTo>
                      <a:pt x="0" y="19"/>
                    </a:lnTo>
                    <a:lnTo>
                      <a:pt x="39" y="18"/>
                    </a:lnTo>
                    <a:lnTo>
                      <a:pt x="39" y="26"/>
                    </a:lnTo>
                    <a:lnTo>
                      <a:pt x="128" y="23"/>
                    </a:lnTo>
                    <a:lnTo>
                      <a:pt x="128" y="16"/>
                    </a:lnTo>
                    <a:lnTo>
                      <a:pt x="167" y="14"/>
                    </a:lnTo>
                    <a:lnTo>
                      <a:pt x="167" y="8"/>
                    </a:lnTo>
                    <a:lnTo>
                      <a:pt x="128" y="10"/>
                    </a:lnTo>
                    <a:lnTo>
                      <a:pt x="128" y="0"/>
                    </a:lnTo>
                    <a:lnTo>
                      <a:pt x="111" y="1"/>
                    </a:lnTo>
                    <a:lnTo>
                      <a:pt x="32" y="13"/>
                    </a:lnTo>
                    <a:lnTo>
                      <a:pt x="0" y="15"/>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9" name="Freeform 39"/>
              <p:cNvSpPr/>
              <p:nvPr/>
            </p:nvSpPr>
            <p:spPr bwMode="auto">
              <a:xfrm>
                <a:off x="4384" y="2920"/>
                <a:ext cx="168" cy="23"/>
              </a:xfrm>
              <a:custGeom>
                <a:avLst/>
                <a:gdLst>
                  <a:gd name="T0" fmla="*/ 167 w 168"/>
                  <a:gd name="T1" fmla="*/ 0 h 23"/>
                  <a:gd name="T2" fmla="*/ 167 w 168"/>
                  <a:gd name="T3" fmla="*/ 17 h 23"/>
                  <a:gd name="T4" fmla="*/ 0 w 168"/>
                  <a:gd name="T5" fmla="*/ 22 h 23"/>
                  <a:gd name="T6" fmla="*/ 0 w 168"/>
                  <a:gd name="T7" fmla="*/ 19 h 23"/>
                  <a:gd name="T8" fmla="*/ 158 w 168"/>
                  <a:gd name="T9" fmla="*/ 1 h 23"/>
                  <a:gd name="T10" fmla="*/ 167 w 168"/>
                  <a:gd name="T11" fmla="*/ 0 h 23"/>
                </a:gdLst>
                <a:ahLst/>
                <a:cxnLst>
                  <a:cxn ang="0">
                    <a:pos x="T0" y="T1"/>
                  </a:cxn>
                  <a:cxn ang="0">
                    <a:pos x="T2" y="T3"/>
                  </a:cxn>
                  <a:cxn ang="0">
                    <a:pos x="T4" y="T5"/>
                  </a:cxn>
                  <a:cxn ang="0">
                    <a:pos x="T6" y="T7"/>
                  </a:cxn>
                  <a:cxn ang="0">
                    <a:pos x="T8" y="T9"/>
                  </a:cxn>
                  <a:cxn ang="0">
                    <a:pos x="T10" y="T11"/>
                  </a:cxn>
                </a:cxnLst>
                <a:rect l="0" t="0" r="r" b="b"/>
                <a:pathLst>
                  <a:path w="168" h="23">
                    <a:moveTo>
                      <a:pt x="167" y="0"/>
                    </a:moveTo>
                    <a:lnTo>
                      <a:pt x="167" y="17"/>
                    </a:lnTo>
                    <a:lnTo>
                      <a:pt x="0" y="22"/>
                    </a:lnTo>
                    <a:lnTo>
                      <a:pt x="0" y="19"/>
                    </a:lnTo>
                    <a:lnTo>
                      <a:pt x="158" y="1"/>
                    </a:lnTo>
                    <a:lnTo>
                      <a:pt x="167" y="0"/>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0" name="Freeform 40"/>
              <p:cNvSpPr/>
              <p:nvPr/>
            </p:nvSpPr>
            <p:spPr bwMode="auto">
              <a:xfrm>
                <a:off x="4222" y="2888"/>
                <a:ext cx="340" cy="20"/>
              </a:xfrm>
              <a:custGeom>
                <a:avLst/>
                <a:gdLst>
                  <a:gd name="T0" fmla="*/ 0 w 340"/>
                  <a:gd name="T1" fmla="*/ 2 h 20"/>
                  <a:gd name="T2" fmla="*/ 151 w 340"/>
                  <a:gd name="T3" fmla="*/ 19 h 20"/>
                  <a:gd name="T4" fmla="*/ 339 w 340"/>
                  <a:gd name="T5" fmla="*/ 14 h 20"/>
                  <a:gd name="T6" fmla="*/ 181 w 340"/>
                  <a:gd name="T7" fmla="*/ 0 h 20"/>
                  <a:gd name="T8" fmla="*/ 0 w 340"/>
                  <a:gd name="T9" fmla="*/ 2 h 20"/>
                </a:gdLst>
                <a:ahLst/>
                <a:cxnLst>
                  <a:cxn ang="0">
                    <a:pos x="T0" y="T1"/>
                  </a:cxn>
                  <a:cxn ang="0">
                    <a:pos x="T2" y="T3"/>
                  </a:cxn>
                  <a:cxn ang="0">
                    <a:pos x="T4" y="T5"/>
                  </a:cxn>
                  <a:cxn ang="0">
                    <a:pos x="T6" y="T7"/>
                  </a:cxn>
                  <a:cxn ang="0">
                    <a:pos x="T8" y="T9"/>
                  </a:cxn>
                </a:cxnLst>
                <a:rect l="0" t="0" r="r" b="b"/>
                <a:pathLst>
                  <a:path w="340" h="20">
                    <a:moveTo>
                      <a:pt x="0" y="2"/>
                    </a:moveTo>
                    <a:lnTo>
                      <a:pt x="151" y="19"/>
                    </a:lnTo>
                    <a:lnTo>
                      <a:pt x="339" y="14"/>
                    </a:lnTo>
                    <a:lnTo>
                      <a:pt x="181" y="0"/>
                    </a:lnTo>
                    <a:lnTo>
                      <a:pt x="0" y="2"/>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1" name="Freeform 41"/>
              <p:cNvSpPr/>
              <p:nvPr/>
            </p:nvSpPr>
            <p:spPr bwMode="auto">
              <a:xfrm>
                <a:off x="4372" y="2903"/>
                <a:ext cx="190" cy="458"/>
              </a:xfrm>
              <a:custGeom>
                <a:avLst/>
                <a:gdLst>
                  <a:gd name="T0" fmla="*/ 0 w 190"/>
                  <a:gd name="T1" fmla="*/ 5 h 458"/>
                  <a:gd name="T2" fmla="*/ 0 w 190"/>
                  <a:gd name="T3" fmla="*/ 457 h 458"/>
                  <a:gd name="T4" fmla="*/ 189 w 190"/>
                  <a:gd name="T5" fmla="*/ 437 h 458"/>
                  <a:gd name="T6" fmla="*/ 189 w 190"/>
                  <a:gd name="T7" fmla="*/ 0 h 458"/>
                  <a:gd name="T8" fmla="*/ 0 w 190"/>
                  <a:gd name="T9" fmla="*/ 5 h 458"/>
                </a:gdLst>
                <a:ahLst/>
                <a:cxnLst>
                  <a:cxn ang="0">
                    <a:pos x="T0" y="T1"/>
                  </a:cxn>
                  <a:cxn ang="0">
                    <a:pos x="T2" y="T3"/>
                  </a:cxn>
                  <a:cxn ang="0">
                    <a:pos x="T4" y="T5"/>
                  </a:cxn>
                  <a:cxn ang="0">
                    <a:pos x="T6" y="T7"/>
                  </a:cxn>
                  <a:cxn ang="0">
                    <a:pos x="T8" y="T9"/>
                  </a:cxn>
                </a:cxnLst>
                <a:rect l="0" t="0" r="r" b="b"/>
                <a:pathLst>
                  <a:path w="190" h="458">
                    <a:moveTo>
                      <a:pt x="0" y="5"/>
                    </a:moveTo>
                    <a:lnTo>
                      <a:pt x="0" y="457"/>
                    </a:lnTo>
                    <a:lnTo>
                      <a:pt x="189" y="437"/>
                    </a:lnTo>
                    <a:lnTo>
                      <a:pt x="189" y="0"/>
                    </a:lnTo>
                    <a:lnTo>
                      <a:pt x="0" y="5"/>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2" name="Freeform 42"/>
              <p:cNvSpPr/>
              <p:nvPr/>
            </p:nvSpPr>
            <p:spPr bwMode="auto">
              <a:xfrm>
                <a:off x="4222" y="2889"/>
                <a:ext cx="151" cy="472"/>
              </a:xfrm>
              <a:custGeom>
                <a:avLst/>
                <a:gdLst>
                  <a:gd name="T0" fmla="*/ 0 w 151"/>
                  <a:gd name="T1" fmla="*/ 0 h 472"/>
                  <a:gd name="T2" fmla="*/ 0 w 151"/>
                  <a:gd name="T3" fmla="*/ 358 h 472"/>
                  <a:gd name="T4" fmla="*/ 150 w 151"/>
                  <a:gd name="T5" fmla="*/ 471 h 472"/>
                  <a:gd name="T6" fmla="*/ 150 w 151"/>
                  <a:gd name="T7" fmla="*/ 18 h 472"/>
                  <a:gd name="T8" fmla="*/ 0 w 151"/>
                  <a:gd name="T9" fmla="*/ 0 h 472"/>
                </a:gdLst>
                <a:ahLst/>
                <a:cxnLst>
                  <a:cxn ang="0">
                    <a:pos x="T0" y="T1"/>
                  </a:cxn>
                  <a:cxn ang="0">
                    <a:pos x="T2" y="T3"/>
                  </a:cxn>
                  <a:cxn ang="0">
                    <a:pos x="T4" y="T5"/>
                  </a:cxn>
                  <a:cxn ang="0">
                    <a:pos x="T6" y="T7"/>
                  </a:cxn>
                  <a:cxn ang="0">
                    <a:pos x="T8" y="T9"/>
                  </a:cxn>
                </a:cxnLst>
                <a:rect l="0" t="0" r="r" b="b"/>
                <a:pathLst>
                  <a:path w="151" h="472">
                    <a:moveTo>
                      <a:pt x="0" y="0"/>
                    </a:moveTo>
                    <a:lnTo>
                      <a:pt x="0" y="358"/>
                    </a:lnTo>
                    <a:lnTo>
                      <a:pt x="150" y="471"/>
                    </a:lnTo>
                    <a:lnTo>
                      <a:pt x="150" y="18"/>
                    </a:lnTo>
                    <a:lnTo>
                      <a:pt x="0" y="0"/>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3" name="Line 43"/>
              <p:cNvSpPr>
                <a:spLocks noChangeShapeType="1"/>
              </p:cNvSpPr>
              <p:nvPr/>
            </p:nvSpPr>
            <p:spPr bwMode="auto">
              <a:xfrm>
                <a:off x="4356" y="2906"/>
                <a:ext cx="0" cy="44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4" name="Freeform 44"/>
              <p:cNvSpPr/>
              <p:nvPr/>
            </p:nvSpPr>
            <p:spPr bwMode="auto">
              <a:xfrm>
                <a:off x="4356" y="2912"/>
                <a:ext cx="206" cy="17"/>
              </a:xfrm>
              <a:custGeom>
                <a:avLst/>
                <a:gdLst>
                  <a:gd name="T0" fmla="*/ 0 w 206"/>
                  <a:gd name="T1" fmla="*/ 9 h 17"/>
                  <a:gd name="T2" fmla="*/ 16 w 206"/>
                  <a:gd name="T3" fmla="*/ 16 h 17"/>
                  <a:gd name="T4" fmla="*/ 205 w 206"/>
                  <a:gd name="T5" fmla="*/ 0 h 17"/>
                </a:gdLst>
                <a:ahLst/>
                <a:cxnLst>
                  <a:cxn ang="0">
                    <a:pos x="T0" y="T1"/>
                  </a:cxn>
                  <a:cxn ang="0">
                    <a:pos x="T2" y="T3"/>
                  </a:cxn>
                  <a:cxn ang="0">
                    <a:pos x="T4" y="T5"/>
                  </a:cxn>
                </a:cxnLst>
                <a:rect l="0" t="0" r="r" b="b"/>
                <a:pathLst>
                  <a:path w="206" h="17">
                    <a:moveTo>
                      <a:pt x="0" y="9"/>
                    </a:moveTo>
                    <a:lnTo>
                      <a:pt x="16" y="16"/>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5" name="Freeform 45"/>
              <p:cNvSpPr/>
              <p:nvPr/>
            </p:nvSpPr>
            <p:spPr bwMode="auto">
              <a:xfrm>
                <a:off x="4356" y="2945"/>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6" name="Freeform 46"/>
              <p:cNvSpPr/>
              <p:nvPr/>
            </p:nvSpPr>
            <p:spPr bwMode="auto">
              <a:xfrm>
                <a:off x="4384" y="2920"/>
                <a:ext cx="168" cy="23"/>
              </a:xfrm>
              <a:custGeom>
                <a:avLst/>
                <a:gdLst>
                  <a:gd name="T0" fmla="*/ 0 w 168"/>
                  <a:gd name="T1" fmla="*/ 5 h 23"/>
                  <a:gd name="T2" fmla="*/ 0 w 168"/>
                  <a:gd name="T3" fmla="*/ 22 h 23"/>
                  <a:gd name="T4" fmla="*/ 167 w 168"/>
                  <a:gd name="T5" fmla="*/ 17 h 23"/>
                  <a:gd name="T6" fmla="*/ 167 w 168"/>
                  <a:gd name="T7" fmla="*/ 0 h 23"/>
                  <a:gd name="T8" fmla="*/ 0 w 168"/>
                  <a:gd name="T9" fmla="*/ 5 h 23"/>
                </a:gdLst>
                <a:ahLst/>
                <a:cxnLst>
                  <a:cxn ang="0">
                    <a:pos x="T0" y="T1"/>
                  </a:cxn>
                  <a:cxn ang="0">
                    <a:pos x="T2" y="T3"/>
                  </a:cxn>
                  <a:cxn ang="0">
                    <a:pos x="T4" y="T5"/>
                  </a:cxn>
                  <a:cxn ang="0">
                    <a:pos x="T6" y="T7"/>
                  </a:cxn>
                  <a:cxn ang="0">
                    <a:pos x="T8" y="T9"/>
                  </a:cxn>
                </a:cxnLst>
                <a:rect l="0" t="0" r="r" b="b"/>
                <a:pathLst>
                  <a:path w="168" h="23">
                    <a:moveTo>
                      <a:pt x="0" y="5"/>
                    </a:moveTo>
                    <a:lnTo>
                      <a:pt x="0" y="22"/>
                    </a:lnTo>
                    <a:lnTo>
                      <a:pt x="167" y="17"/>
                    </a:lnTo>
                    <a:lnTo>
                      <a:pt x="167" y="0"/>
                    </a:lnTo>
                    <a:lnTo>
                      <a:pt x="0" y="5"/>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7" name="Freeform 47"/>
              <p:cNvSpPr/>
              <p:nvPr/>
            </p:nvSpPr>
            <p:spPr bwMode="auto">
              <a:xfrm>
                <a:off x="4356" y="2955"/>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8" name="Freeform 48"/>
              <p:cNvSpPr/>
              <p:nvPr/>
            </p:nvSpPr>
            <p:spPr bwMode="auto">
              <a:xfrm>
                <a:off x="4356" y="2986"/>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9" name="Freeform 49"/>
              <p:cNvSpPr/>
              <p:nvPr/>
            </p:nvSpPr>
            <p:spPr bwMode="auto">
              <a:xfrm>
                <a:off x="4356" y="3111"/>
                <a:ext cx="206" cy="17"/>
              </a:xfrm>
              <a:custGeom>
                <a:avLst/>
                <a:gdLst>
                  <a:gd name="T0" fmla="*/ 205 w 206"/>
                  <a:gd name="T1" fmla="*/ 0 h 17"/>
                  <a:gd name="T2" fmla="*/ 16 w 206"/>
                  <a:gd name="T3" fmla="*/ 16 h 17"/>
                  <a:gd name="T4" fmla="*/ 0 w 206"/>
                  <a:gd name="T5" fmla="*/ 7 h 17"/>
                </a:gdLst>
                <a:ahLst/>
                <a:cxnLst>
                  <a:cxn ang="0">
                    <a:pos x="T0" y="T1"/>
                  </a:cxn>
                  <a:cxn ang="0">
                    <a:pos x="T2" y="T3"/>
                  </a:cxn>
                  <a:cxn ang="0">
                    <a:pos x="T4" y="T5"/>
                  </a:cxn>
                </a:cxnLst>
                <a:rect l="0" t="0" r="r" b="b"/>
                <a:pathLst>
                  <a:path w="206" h="17">
                    <a:moveTo>
                      <a:pt x="205" y="0"/>
                    </a:moveTo>
                    <a:lnTo>
                      <a:pt x="16" y="16"/>
                    </a:lnTo>
                    <a:lnTo>
                      <a:pt x="0" y="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90" name="Line 50"/>
              <p:cNvSpPr>
                <a:spLocks noChangeShapeType="1"/>
              </p:cNvSpPr>
              <p:nvPr/>
            </p:nvSpPr>
            <p:spPr bwMode="auto">
              <a:xfrm>
                <a:off x="4384" y="2993"/>
                <a:ext cx="0" cy="12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1" name="Line 51"/>
              <p:cNvSpPr>
                <a:spLocks noChangeShapeType="1"/>
              </p:cNvSpPr>
              <p:nvPr/>
            </p:nvSpPr>
            <p:spPr bwMode="auto">
              <a:xfrm>
                <a:off x="4551" y="2987"/>
                <a:ext cx="0" cy="12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2" name="Freeform 52"/>
              <p:cNvSpPr/>
              <p:nvPr/>
            </p:nvSpPr>
            <p:spPr bwMode="auto">
              <a:xfrm>
                <a:off x="4384" y="2987"/>
                <a:ext cx="160" cy="130"/>
              </a:xfrm>
              <a:custGeom>
                <a:avLst/>
                <a:gdLst>
                  <a:gd name="T0" fmla="*/ 159 w 160"/>
                  <a:gd name="T1" fmla="*/ 0 h 130"/>
                  <a:gd name="T2" fmla="*/ 159 w 160"/>
                  <a:gd name="T3" fmla="*/ 121 h 130"/>
                  <a:gd name="T4" fmla="*/ 0 w 160"/>
                  <a:gd name="T5" fmla="*/ 129 h 130"/>
                </a:gdLst>
                <a:ahLst/>
                <a:cxnLst>
                  <a:cxn ang="0">
                    <a:pos x="T0" y="T1"/>
                  </a:cxn>
                  <a:cxn ang="0">
                    <a:pos x="T2" y="T3"/>
                  </a:cxn>
                  <a:cxn ang="0">
                    <a:pos x="T4" y="T5"/>
                  </a:cxn>
                </a:cxnLst>
                <a:rect l="0" t="0" r="r" b="b"/>
                <a:pathLst>
                  <a:path w="160" h="130">
                    <a:moveTo>
                      <a:pt x="159" y="0"/>
                    </a:moveTo>
                    <a:lnTo>
                      <a:pt x="159" y="121"/>
                    </a:lnTo>
                    <a:lnTo>
                      <a:pt x="0" y="12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93" name="Line 53"/>
              <p:cNvSpPr>
                <a:spLocks noChangeShapeType="1"/>
              </p:cNvSpPr>
              <p:nvPr/>
            </p:nvSpPr>
            <p:spPr bwMode="auto">
              <a:xfrm>
                <a:off x="4543" y="3108"/>
                <a:ext cx="8" cy="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4" name="Line 54"/>
              <p:cNvSpPr>
                <a:spLocks noChangeShapeType="1"/>
              </p:cNvSpPr>
              <p:nvPr/>
            </p:nvSpPr>
            <p:spPr bwMode="auto">
              <a:xfrm flipH="1">
                <a:off x="4384" y="3028"/>
                <a:ext cx="159" cy="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5" name="Line 55"/>
              <p:cNvSpPr>
                <a:spLocks noChangeShapeType="1"/>
              </p:cNvSpPr>
              <p:nvPr/>
            </p:nvSpPr>
            <p:spPr bwMode="auto">
              <a:xfrm flipH="1">
                <a:off x="4384" y="3070"/>
                <a:ext cx="159" cy="9"/>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6" name="Freeform 56"/>
              <p:cNvSpPr/>
              <p:nvPr/>
            </p:nvSpPr>
            <p:spPr bwMode="auto">
              <a:xfrm>
                <a:off x="4356" y="3144"/>
                <a:ext cx="206" cy="17"/>
              </a:xfrm>
              <a:custGeom>
                <a:avLst/>
                <a:gdLst>
                  <a:gd name="T0" fmla="*/ 0 w 206"/>
                  <a:gd name="T1" fmla="*/ 3 h 17"/>
                  <a:gd name="T2" fmla="*/ 16 w 206"/>
                  <a:gd name="T3" fmla="*/ 16 h 17"/>
                  <a:gd name="T4" fmla="*/ 205 w 206"/>
                  <a:gd name="T5" fmla="*/ 0 h 17"/>
                </a:gdLst>
                <a:ahLst/>
                <a:cxnLst>
                  <a:cxn ang="0">
                    <a:pos x="T0" y="T1"/>
                  </a:cxn>
                  <a:cxn ang="0">
                    <a:pos x="T2" y="T3"/>
                  </a:cxn>
                  <a:cxn ang="0">
                    <a:pos x="T4" y="T5"/>
                  </a:cxn>
                </a:cxnLst>
                <a:rect l="0" t="0" r="r" b="b"/>
                <a:pathLst>
                  <a:path w="206" h="17">
                    <a:moveTo>
                      <a:pt x="0" y="3"/>
                    </a:moveTo>
                    <a:lnTo>
                      <a:pt x="16" y="16"/>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97" name="Freeform 57"/>
              <p:cNvSpPr/>
              <p:nvPr/>
            </p:nvSpPr>
            <p:spPr bwMode="auto">
              <a:xfrm>
                <a:off x="4356" y="3320"/>
                <a:ext cx="206" cy="21"/>
              </a:xfrm>
              <a:custGeom>
                <a:avLst/>
                <a:gdLst>
                  <a:gd name="T0" fmla="*/ 0 w 206"/>
                  <a:gd name="T1" fmla="*/ 7 h 21"/>
                  <a:gd name="T2" fmla="*/ 16 w 206"/>
                  <a:gd name="T3" fmla="*/ 20 h 21"/>
                  <a:gd name="T4" fmla="*/ 205 w 206"/>
                  <a:gd name="T5" fmla="*/ 0 h 21"/>
                </a:gdLst>
                <a:ahLst/>
                <a:cxnLst>
                  <a:cxn ang="0">
                    <a:pos x="T0" y="T1"/>
                  </a:cxn>
                  <a:cxn ang="0">
                    <a:pos x="T2" y="T3"/>
                  </a:cxn>
                  <a:cxn ang="0">
                    <a:pos x="T4" y="T5"/>
                  </a:cxn>
                </a:cxnLst>
                <a:rect l="0" t="0" r="r" b="b"/>
                <a:pathLst>
                  <a:path w="206" h="21">
                    <a:moveTo>
                      <a:pt x="0" y="7"/>
                    </a:moveTo>
                    <a:lnTo>
                      <a:pt x="16" y="20"/>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98" name="Line 58"/>
              <p:cNvSpPr>
                <a:spLocks noChangeShapeType="1"/>
              </p:cNvSpPr>
              <p:nvPr/>
            </p:nvSpPr>
            <p:spPr bwMode="auto">
              <a:xfrm>
                <a:off x="4384" y="3154"/>
                <a:ext cx="0" cy="18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9" name="Line 59"/>
              <p:cNvSpPr>
                <a:spLocks noChangeShapeType="1"/>
              </p:cNvSpPr>
              <p:nvPr/>
            </p:nvSpPr>
            <p:spPr bwMode="auto">
              <a:xfrm>
                <a:off x="4551" y="3144"/>
                <a:ext cx="0" cy="17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0" name="Freeform 60"/>
              <p:cNvSpPr/>
              <p:nvPr/>
            </p:nvSpPr>
            <p:spPr bwMode="auto">
              <a:xfrm>
                <a:off x="4384" y="3308"/>
                <a:ext cx="168" cy="21"/>
              </a:xfrm>
              <a:custGeom>
                <a:avLst/>
                <a:gdLst>
                  <a:gd name="T0" fmla="*/ 0 w 168"/>
                  <a:gd name="T1" fmla="*/ 20 h 21"/>
                  <a:gd name="T2" fmla="*/ 167 w 168"/>
                  <a:gd name="T3" fmla="*/ 4 h 21"/>
                  <a:gd name="T4" fmla="*/ 167 w 168"/>
                  <a:gd name="T5" fmla="*/ 0 h 21"/>
                  <a:gd name="T6" fmla="*/ 0 w 168"/>
                  <a:gd name="T7" fmla="*/ 17 h 21"/>
                  <a:gd name="T8" fmla="*/ 0 w 168"/>
                  <a:gd name="T9" fmla="*/ 20 h 21"/>
                </a:gdLst>
                <a:ahLst/>
                <a:cxnLst>
                  <a:cxn ang="0">
                    <a:pos x="T0" y="T1"/>
                  </a:cxn>
                  <a:cxn ang="0">
                    <a:pos x="T2" y="T3"/>
                  </a:cxn>
                  <a:cxn ang="0">
                    <a:pos x="T4" y="T5"/>
                  </a:cxn>
                  <a:cxn ang="0">
                    <a:pos x="T6" y="T7"/>
                  </a:cxn>
                  <a:cxn ang="0">
                    <a:pos x="T8" y="T9"/>
                  </a:cxn>
                </a:cxnLst>
                <a:rect l="0" t="0" r="r" b="b"/>
                <a:pathLst>
                  <a:path w="168" h="21">
                    <a:moveTo>
                      <a:pt x="0" y="20"/>
                    </a:moveTo>
                    <a:lnTo>
                      <a:pt x="167" y="4"/>
                    </a:lnTo>
                    <a:lnTo>
                      <a:pt x="167" y="0"/>
                    </a:lnTo>
                    <a:lnTo>
                      <a:pt x="0" y="17"/>
                    </a:lnTo>
                    <a:lnTo>
                      <a:pt x="0" y="2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1" name="Freeform 61"/>
              <p:cNvSpPr/>
              <p:nvPr/>
            </p:nvSpPr>
            <p:spPr bwMode="auto">
              <a:xfrm>
                <a:off x="4384" y="3300"/>
                <a:ext cx="168" cy="21"/>
              </a:xfrm>
              <a:custGeom>
                <a:avLst/>
                <a:gdLst>
                  <a:gd name="T0" fmla="*/ 0 w 168"/>
                  <a:gd name="T1" fmla="*/ 20 h 21"/>
                  <a:gd name="T2" fmla="*/ 167 w 168"/>
                  <a:gd name="T3" fmla="*/ 3 h 21"/>
                  <a:gd name="T4" fmla="*/ 167 w 168"/>
                  <a:gd name="T5" fmla="*/ 0 h 21"/>
                  <a:gd name="T6" fmla="*/ 0 w 168"/>
                  <a:gd name="T7" fmla="*/ 16 h 21"/>
                  <a:gd name="T8" fmla="*/ 0 w 168"/>
                  <a:gd name="T9" fmla="*/ 20 h 21"/>
                </a:gdLst>
                <a:ahLst/>
                <a:cxnLst>
                  <a:cxn ang="0">
                    <a:pos x="T0" y="T1"/>
                  </a:cxn>
                  <a:cxn ang="0">
                    <a:pos x="T2" y="T3"/>
                  </a:cxn>
                  <a:cxn ang="0">
                    <a:pos x="T4" y="T5"/>
                  </a:cxn>
                  <a:cxn ang="0">
                    <a:pos x="T6" y="T7"/>
                  </a:cxn>
                  <a:cxn ang="0">
                    <a:pos x="T8" y="T9"/>
                  </a:cxn>
                </a:cxnLst>
                <a:rect l="0" t="0" r="r" b="b"/>
                <a:pathLst>
                  <a:path w="168" h="21">
                    <a:moveTo>
                      <a:pt x="0" y="20"/>
                    </a:moveTo>
                    <a:lnTo>
                      <a:pt x="167" y="3"/>
                    </a:lnTo>
                    <a:lnTo>
                      <a:pt x="167" y="0"/>
                    </a:lnTo>
                    <a:lnTo>
                      <a:pt x="0" y="16"/>
                    </a:lnTo>
                    <a:lnTo>
                      <a:pt x="0" y="2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2" name="Freeform 62"/>
              <p:cNvSpPr/>
              <p:nvPr/>
            </p:nvSpPr>
            <p:spPr bwMode="auto">
              <a:xfrm>
                <a:off x="4384" y="3293"/>
                <a:ext cx="168" cy="20"/>
              </a:xfrm>
              <a:custGeom>
                <a:avLst/>
                <a:gdLst>
                  <a:gd name="T0" fmla="*/ 167 w 168"/>
                  <a:gd name="T1" fmla="*/ 3 h 20"/>
                  <a:gd name="T2" fmla="*/ 0 w 168"/>
                  <a:gd name="T3" fmla="*/ 19 h 20"/>
                  <a:gd name="T4" fmla="*/ 0 w 168"/>
                  <a:gd name="T5" fmla="*/ 15 h 20"/>
                  <a:gd name="T6" fmla="*/ 167 w 168"/>
                  <a:gd name="T7" fmla="*/ 0 h 20"/>
                  <a:gd name="T8" fmla="*/ 167 w 168"/>
                  <a:gd name="T9" fmla="*/ 3 h 20"/>
                </a:gdLst>
                <a:ahLst/>
                <a:cxnLst>
                  <a:cxn ang="0">
                    <a:pos x="T0" y="T1"/>
                  </a:cxn>
                  <a:cxn ang="0">
                    <a:pos x="T2" y="T3"/>
                  </a:cxn>
                  <a:cxn ang="0">
                    <a:pos x="T4" y="T5"/>
                  </a:cxn>
                  <a:cxn ang="0">
                    <a:pos x="T6" y="T7"/>
                  </a:cxn>
                  <a:cxn ang="0">
                    <a:pos x="T8" y="T9"/>
                  </a:cxn>
                </a:cxnLst>
                <a:rect l="0" t="0" r="r" b="b"/>
                <a:pathLst>
                  <a:path w="168" h="20">
                    <a:moveTo>
                      <a:pt x="167" y="3"/>
                    </a:moveTo>
                    <a:lnTo>
                      <a:pt x="0" y="19"/>
                    </a:lnTo>
                    <a:lnTo>
                      <a:pt x="0" y="15"/>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3" name="Freeform 63"/>
              <p:cNvSpPr/>
              <p:nvPr/>
            </p:nvSpPr>
            <p:spPr bwMode="auto">
              <a:xfrm>
                <a:off x="4384" y="3285"/>
                <a:ext cx="168" cy="18"/>
              </a:xfrm>
              <a:custGeom>
                <a:avLst/>
                <a:gdLst>
                  <a:gd name="T0" fmla="*/ 167 w 168"/>
                  <a:gd name="T1" fmla="*/ 3 h 18"/>
                  <a:gd name="T2" fmla="*/ 0 w 168"/>
                  <a:gd name="T3" fmla="*/ 17 h 18"/>
                  <a:gd name="T4" fmla="*/ 0 w 168"/>
                  <a:gd name="T5" fmla="*/ 14 h 18"/>
                  <a:gd name="T6" fmla="*/ 167 w 168"/>
                  <a:gd name="T7" fmla="*/ 0 h 18"/>
                  <a:gd name="T8" fmla="*/ 167 w 168"/>
                  <a:gd name="T9" fmla="*/ 3 h 18"/>
                </a:gdLst>
                <a:ahLst/>
                <a:cxnLst>
                  <a:cxn ang="0">
                    <a:pos x="T0" y="T1"/>
                  </a:cxn>
                  <a:cxn ang="0">
                    <a:pos x="T2" y="T3"/>
                  </a:cxn>
                  <a:cxn ang="0">
                    <a:pos x="T4" y="T5"/>
                  </a:cxn>
                  <a:cxn ang="0">
                    <a:pos x="T6" y="T7"/>
                  </a:cxn>
                  <a:cxn ang="0">
                    <a:pos x="T8" y="T9"/>
                  </a:cxn>
                </a:cxnLst>
                <a:rect l="0" t="0" r="r" b="b"/>
                <a:pathLst>
                  <a:path w="168" h="18">
                    <a:moveTo>
                      <a:pt x="167" y="3"/>
                    </a:moveTo>
                    <a:lnTo>
                      <a:pt x="0" y="17"/>
                    </a:lnTo>
                    <a:lnTo>
                      <a:pt x="0" y="14"/>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4" name="Freeform 64"/>
              <p:cNvSpPr/>
              <p:nvPr/>
            </p:nvSpPr>
            <p:spPr bwMode="auto">
              <a:xfrm>
                <a:off x="4384" y="3276"/>
                <a:ext cx="168" cy="19"/>
              </a:xfrm>
              <a:custGeom>
                <a:avLst/>
                <a:gdLst>
                  <a:gd name="T0" fmla="*/ 167 w 168"/>
                  <a:gd name="T1" fmla="*/ 3 h 19"/>
                  <a:gd name="T2" fmla="*/ 0 w 168"/>
                  <a:gd name="T3" fmla="*/ 18 h 19"/>
                  <a:gd name="T4" fmla="*/ 0 w 168"/>
                  <a:gd name="T5" fmla="*/ 14 h 19"/>
                  <a:gd name="T6" fmla="*/ 167 w 168"/>
                  <a:gd name="T7" fmla="*/ 0 h 19"/>
                  <a:gd name="T8" fmla="*/ 167 w 168"/>
                  <a:gd name="T9" fmla="*/ 3 h 19"/>
                </a:gdLst>
                <a:ahLst/>
                <a:cxnLst>
                  <a:cxn ang="0">
                    <a:pos x="T0" y="T1"/>
                  </a:cxn>
                  <a:cxn ang="0">
                    <a:pos x="T2" y="T3"/>
                  </a:cxn>
                  <a:cxn ang="0">
                    <a:pos x="T4" y="T5"/>
                  </a:cxn>
                  <a:cxn ang="0">
                    <a:pos x="T6" y="T7"/>
                  </a:cxn>
                  <a:cxn ang="0">
                    <a:pos x="T8" y="T9"/>
                  </a:cxn>
                </a:cxnLst>
                <a:rect l="0" t="0" r="r" b="b"/>
                <a:pathLst>
                  <a:path w="168" h="19">
                    <a:moveTo>
                      <a:pt x="167" y="3"/>
                    </a:moveTo>
                    <a:lnTo>
                      <a:pt x="0" y="18"/>
                    </a:lnTo>
                    <a:lnTo>
                      <a:pt x="0" y="14"/>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5" name="Freeform 65"/>
              <p:cNvSpPr/>
              <p:nvPr/>
            </p:nvSpPr>
            <p:spPr bwMode="auto">
              <a:xfrm>
                <a:off x="4384" y="2921"/>
                <a:ext cx="160" cy="21"/>
              </a:xfrm>
              <a:custGeom>
                <a:avLst/>
                <a:gdLst>
                  <a:gd name="T0" fmla="*/ 159 w 160"/>
                  <a:gd name="T1" fmla="*/ 0 h 21"/>
                  <a:gd name="T2" fmla="*/ 159 w 160"/>
                  <a:gd name="T3" fmla="*/ 15 h 21"/>
                  <a:gd name="T4" fmla="*/ 0 w 160"/>
                  <a:gd name="T5" fmla="*/ 20 h 21"/>
                  <a:gd name="T6" fmla="*/ 1 w 160"/>
                  <a:gd name="T7" fmla="*/ 5 h 21"/>
                  <a:gd name="T8" fmla="*/ 159 w 160"/>
                  <a:gd name="T9" fmla="*/ 0 h 21"/>
                </a:gdLst>
                <a:ahLst/>
                <a:cxnLst>
                  <a:cxn ang="0">
                    <a:pos x="T0" y="T1"/>
                  </a:cxn>
                  <a:cxn ang="0">
                    <a:pos x="T2" y="T3"/>
                  </a:cxn>
                  <a:cxn ang="0">
                    <a:pos x="T4" y="T5"/>
                  </a:cxn>
                  <a:cxn ang="0">
                    <a:pos x="T6" y="T7"/>
                  </a:cxn>
                  <a:cxn ang="0">
                    <a:pos x="T8" y="T9"/>
                  </a:cxn>
                </a:cxnLst>
                <a:rect l="0" t="0" r="r" b="b"/>
                <a:pathLst>
                  <a:path w="160" h="21">
                    <a:moveTo>
                      <a:pt x="159" y="0"/>
                    </a:moveTo>
                    <a:lnTo>
                      <a:pt x="159" y="15"/>
                    </a:lnTo>
                    <a:lnTo>
                      <a:pt x="0" y="20"/>
                    </a:lnTo>
                    <a:lnTo>
                      <a:pt x="1" y="5"/>
                    </a:lnTo>
                    <a:lnTo>
                      <a:pt x="159" y="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6" name="Line 66"/>
              <p:cNvSpPr>
                <a:spLocks noChangeShapeType="1"/>
              </p:cNvSpPr>
              <p:nvPr/>
            </p:nvSpPr>
            <p:spPr bwMode="auto">
              <a:xfrm>
                <a:off x="4543" y="2936"/>
                <a:ext cx="8" cy="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7" name="Freeform 67"/>
              <p:cNvSpPr/>
              <p:nvPr/>
            </p:nvSpPr>
            <p:spPr bwMode="auto">
              <a:xfrm>
                <a:off x="4423" y="2961"/>
                <a:ext cx="90" cy="27"/>
              </a:xfrm>
              <a:custGeom>
                <a:avLst/>
                <a:gdLst>
                  <a:gd name="T0" fmla="*/ 0 w 90"/>
                  <a:gd name="T1" fmla="*/ 26 h 27"/>
                  <a:gd name="T2" fmla="*/ 0 w 90"/>
                  <a:gd name="T3" fmla="*/ 3 h 27"/>
                  <a:gd name="T4" fmla="*/ 89 w 90"/>
                  <a:gd name="T5" fmla="*/ 0 h 27"/>
                  <a:gd name="T6" fmla="*/ 89 w 90"/>
                  <a:gd name="T7" fmla="*/ 23 h 27"/>
                  <a:gd name="T8" fmla="*/ 0 w 90"/>
                  <a:gd name="T9" fmla="*/ 26 h 27"/>
                </a:gdLst>
                <a:ahLst/>
                <a:cxnLst>
                  <a:cxn ang="0">
                    <a:pos x="T0" y="T1"/>
                  </a:cxn>
                  <a:cxn ang="0">
                    <a:pos x="T2" y="T3"/>
                  </a:cxn>
                  <a:cxn ang="0">
                    <a:pos x="T4" y="T5"/>
                  </a:cxn>
                  <a:cxn ang="0">
                    <a:pos x="T6" y="T7"/>
                  </a:cxn>
                  <a:cxn ang="0">
                    <a:pos x="T8" y="T9"/>
                  </a:cxn>
                </a:cxnLst>
                <a:rect l="0" t="0" r="r" b="b"/>
                <a:pathLst>
                  <a:path w="90" h="27">
                    <a:moveTo>
                      <a:pt x="0" y="26"/>
                    </a:moveTo>
                    <a:lnTo>
                      <a:pt x="0" y="3"/>
                    </a:lnTo>
                    <a:lnTo>
                      <a:pt x="89" y="0"/>
                    </a:lnTo>
                    <a:lnTo>
                      <a:pt x="89" y="23"/>
                    </a:lnTo>
                    <a:lnTo>
                      <a:pt x="0" y="26"/>
                    </a:lnTo>
                  </a:path>
                </a:pathLst>
              </a:custGeom>
              <a:noFill/>
              <a:ln w="12700" cap="rnd" cmpd="sng">
                <a:solidFill>
                  <a:srgbClr val="51515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8" name="Freeform 68"/>
              <p:cNvSpPr/>
              <p:nvPr/>
            </p:nvSpPr>
            <p:spPr bwMode="auto">
              <a:xfrm>
                <a:off x="4384" y="2961"/>
                <a:ext cx="168" cy="24"/>
              </a:xfrm>
              <a:custGeom>
                <a:avLst/>
                <a:gdLst>
                  <a:gd name="T0" fmla="*/ 113 w 168"/>
                  <a:gd name="T1" fmla="*/ 8 h 24"/>
                  <a:gd name="T2" fmla="*/ 167 w 168"/>
                  <a:gd name="T3" fmla="*/ 6 h 24"/>
                  <a:gd name="T4" fmla="*/ 167 w 168"/>
                  <a:gd name="T5" fmla="*/ 14 h 24"/>
                  <a:gd name="T6" fmla="*/ 159 w 168"/>
                  <a:gd name="T7" fmla="*/ 13 h 24"/>
                  <a:gd name="T8" fmla="*/ 113 w 168"/>
                  <a:gd name="T9" fmla="*/ 14 h 24"/>
                  <a:gd name="T10" fmla="*/ 113 w 168"/>
                  <a:gd name="T11" fmla="*/ 20 h 24"/>
                  <a:gd name="T12" fmla="*/ 39 w 168"/>
                  <a:gd name="T13" fmla="*/ 23 h 24"/>
                  <a:gd name="T14" fmla="*/ 39 w 168"/>
                  <a:gd name="T15" fmla="*/ 18 h 24"/>
                  <a:gd name="T16" fmla="*/ 32 w 168"/>
                  <a:gd name="T17" fmla="*/ 17 h 24"/>
                  <a:gd name="T18" fmla="*/ 0 w 168"/>
                  <a:gd name="T19" fmla="*/ 18 h 24"/>
                  <a:gd name="T20" fmla="*/ 0 w 168"/>
                  <a:gd name="T21" fmla="*/ 12 h 24"/>
                  <a:gd name="T22" fmla="*/ 39 w 168"/>
                  <a:gd name="T23" fmla="*/ 10 h 24"/>
                  <a:gd name="T24" fmla="*/ 39 w 168"/>
                  <a:gd name="T25" fmla="*/ 3 h 24"/>
                  <a:gd name="T26" fmla="*/ 128 w 168"/>
                  <a:gd name="T27" fmla="*/ 0 h 24"/>
                  <a:gd name="T28" fmla="*/ 113 w 168"/>
                  <a:gd name="T2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8" h="24">
                    <a:moveTo>
                      <a:pt x="113" y="8"/>
                    </a:moveTo>
                    <a:lnTo>
                      <a:pt x="167" y="6"/>
                    </a:lnTo>
                    <a:lnTo>
                      <a:pt x="167" y="14"/>
                    </a:lnTo>
                    <a:lnTo>
                      <a:pt x="159" y="13"/>
                    </a:lnTo>
                    <a:lnTo>
                      <a:pt x="113" y="14"/>
                    </a:lnTo>
                    <a:lnTo>
                      <a:pt x="113" y="20"/>
                    </a:lnTo>
                    <a:lnTo>
                      <a:pt x="39" y="23"/>
                    </a:lnTo>
                    <a:lnTo>
                      <a:pt x="39" y="18"/>
                    </a:lnTo>
                    <a:lnTo>
                      <a:pt x="32" y="17"/>
                    </a:lnTo>
                    <a:lnTo>
                      <a:pt x="0" y="18"/>
                    </a:lnTo>
                    <a:lnTo>
                      <a:pt x="0" y="12"/>
                    </a:lnTo>
                    <a:lnTo>
                      <a:pt x="39" y="10"/>
                    </a:lnTo>
                    <a:lnTo>
                      <a:pt x="39" y="3"/>
                    </a:lnTo>
                    <a:lnTo>
                      <a:pt x="128" y="0"/>
                    </a:lnTo>
                    <a:lnTo>
                      <a:pt x="113" y="8"/>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9" name="Freeform 69"/>
              <p:cNvSpPr/>
              <p:nvPr/>
            </p:nvSpPr>
            <p:spPr bwMode="auto">
              <a:xfrm>
                <a:off x="4384" y="2972"/>
                <a:ext cx="129" cy="17"/>
              </a:xfrm>
              <a:custGeom>
                <a:avLst/>
                <a:gdLst>
                  <a:gd name="T0" fmla="*/ 0 w 129"/>
                  <a:gd name="T1" fmla="*/ 0 h 17"/>
                  <a:gd name="T2" fmla="*/ 0 w 129"/>
                  <a:gd name="T3" fmla="*/ 8 h 17"/>
                  <a:gd name="T4" fmla="*/ 38 w 129"/>
                  <a:gd name="T5" fmla="*/ 7 h 17"/>
                  <a:gd name="T6" fmla="*/ 38 w 129"/>
                  <a:gd name="T7" fmla="*/ 16 h 17"/>
                  <a:gd name="T8" fmla="*/ 128 w 129"/>
                  <a:gd name="T9" fmla="*/ 12 h 17"/>
                  <a:gd name="T10" fmla="*/ 128 w 129"/>
                  <a:gd name="T11" fmla="*/ 4 h 17"/>
                  <a:gd name="T12" fmla="*/ 112 w 129"/>
                  <a:gd name="T13" fmla="*/ 2 h 17"/>
                </a:gdLst>
                <a:ahLst/>
                <a:cxnLst>
                  <a:cxn ang="0">
                    <a:pos x="T0" y="T1"/>
                  </a:cxn>
                  <a:cxn ang="0">
                    <a:pos x="T2" y="T3"/>
                  </a:cxn>
                  <a:cxn ang="0">
                    <a:pos x="T4" y="T5"/>
                  </a:cxn>
                  <a:cxn ang="0">
                    <a:pos x="T6" y="T7"/>
                  </a:cxn>
                  <a:cxn ang="0">
                    <a:pos x="T8" y="T9"/>
                  </a:cxn>
                  <a:cxn ang="0">
                    <a:pos x="T10" y="T11"/>
                  </a:cxn>
                  <a:cxn ang="0">
                    <a:pos x="T12" y="T13"/>
                  </a:cxn>
                </a:cxnLst>
                <a:rect l="0" t="0" r="r" b="b"/>
                <a:pathLst>
                  <a:path w="129" h="17">
                    <a:moveTo>
                      <a:pt x="0" y="0"/>
                    </a:moveTo>
                    <a:lnTo>
                      <a:pt x="0" y="8"/>
                    </a:lnTo>
                    <a:lnTo>
                      <a:pt x="38" y="7"/>
                    </a:lnTo>
                    <a:lnTo>
                      <a:pt x="38" y="16"/>
                    </a:lnTo>
                    <a:lnTo>
                      <a:pt x="128" y="12"/>
                    </a:lnTo>
                    <a:lnTo>
                      <a:pt x="128" y="4"/>
                    </a:lnTo>
                    <a:lnTo>
                      <a:pt x="112" y="2"/>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0" name="Line 70"/>
              <p:cNvSpPr>
                <a:spLocks noChangeShapeType="1"/>
              </p:cNvSpPr>
              <p:nvPr/>
            </p:nvSpPr>
            <p:spPr bwMode="auto">
              <a:xfrm flipH="1">
                <a:off x="4512" y="2974"/>
                <a:ext cx="39" cy="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11" name="Line 71"/>
              <p:cNvSpPr>
                <a:spLocks noChangeShapeType="1"/>
              </p:cNvSpPr>
              <p:nvPr/>
            </p:nvSpPr>
            <p:spPr bwMode="auto">
              <a:xfrm>
                <a:off x="4512" y="2961"/>
                <a:ext cx="0" cy="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12" name="Freeform 72"/>
              <p:cNvSpPr/>
              <p:nvPr/>
            </p:nvSpPr>
            <p:spPr bwMode="auto">
              <a:xfrm>
                <a:off x="4392" y="2931"/>
                <a:ext cx="17" cy="17"/>
              </a:xfrm>
              <a:custGeom>
                <a:avLst/>
                <a:gdLst>
                  <a:gd name="T0" fmla="*/ 16 w 17"/>
                  <a:gd name="T1" fmla="*/ 6 h 17"/>
                  <a:gd name="T2" fmla="*/ 13 w 17"/>
                  <a:gd name="T3" fmla="*/ 6 h 17"/>
                  <a:gd name="T4" fmla="*/ 13 w 17"/>
                  <a:gd name="T5" fmla="*/ 3 h 17"/>
                  <a:gd name="T6" fmla="*/ 10 w 17"/>
                  <a:gd name="T7" fmla="*/ 3 h 17"/>
                  <a:gd name="T8" fmla="*/ 8 w 17"/>
                  <a:gd name="T9" fmla="*/ 0 h 17"/>
                  <a:gd name="T10" fmla="*/ 5 w 17"/>
                  <a:gd name="T11" fmla="*/ 0 h 17"/>
                  <a:gd name="T12" fmla="*/ 5 w 17"/>
                  <a:gd name="T13" fmla="*/ 3 h 17"/>
                  <a:gd name="T14" fmla="*/ 2 w 17"/>
                  <a:gd name="T15" fmla="*/ 6 h 17"/>
                  <a:gd name="T16" fmla="*/ 2 w 17"/>
                  <a:gd name="T17" fmla="*/ 6 h 17"/>
                  <a:gd name="T18" fmla="*/ 0 w 17"/>
                  <a:gd name="T19" fmla="*/ 9 h 17"/>
                  <a:gd name="T20" fmla="*/ 2 w 17"/>
                  <a:gd name="T21" fmla="*/ 12 h 17"/>
                  <a:gd name="T22" fmla="*/ 5 w 17"/>
                  <a:gd name="T23" fmla="*/ 12 h 17"/>
                  <a:gd name="T24" fmla="*/ 5 w 17"/>
                  <a:gd name="T25" fmla="*/ 16 h 17"/>
                  <a:gd name="T26" fmla="*/ 8 w 17"/>
                  <a:gd name="T27" fmla="*/ 16 h 17"/>
                  <a:gd name="T28" fmla="*/ 10 w 17"/>
                  <a:gd name="T29" fmla="*/ 16 h 17"/>
                  <a:gd name="T30" fmla="*/ 13 w 17"/>
                  <a:gd name="T31" fmla="*/ 12 h 17"/>
                  <a:gd name="T32" fmla="*/ 13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3" y="6"/>
                    </a:lnTo>
                    <a:lnTo>
                      <a:pt x="13" y="3"/>
                    </a:lnTo>
                    <a:lnTo>
                      <a:pt x="10" y="3"/>
                    </a:lnTo>
                    <a:lnTo>
                      <a:pt x="8" y="0"/>
                    </a:lnTo>
                    <a:lnTo>
                      <a:pt x="5" y="0"/>
                    </a:lnTo>
                    <a:lnTo>
                      <a:pt x="5" y="3"/>
                    </a:lnTo>
                    <a:lnTo>
                      <a:pt x="2" y="6"/>
                    </a:lnTo>
                    <a:lnTo>
                      <a:pt x="2" y="6"/>
                    </a:lnTo>
                    <a:lnTo>
                      <a:pt x="0" y="9"/>
                    </a:lnTo>
                    <a:lnTo>
                      <a:pt x="2" y="12"/>
                    </a:lnTo>
                    <a:lnTo>
                      <a:pt x="5" y="12"/>
                    </a:lnTo>
                    <a:lnTo>
                      <a:pt x="5" y="16"/>
                    </a:lnTo>
                    <a:lnTo>
                      <a:pt x="8" y="16"/>
                    </a:lnTo>
                    <a:lnTo>
                      <a:pt x="10" y="16"/>
                    </a:lnTo>
                    <a:lnTo>
                      <a:pt x="13" y="12"/>
                    </a:lnTo>
                    <a:lnTo>
                      <a:pt x="13"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3" name="Freeform 73"/>
              <p:cNvSpPr/>
              <p:nvPr/>
            </p:nvSpPr>
            <p:spPr bwMode="auto">
              <a:xfrm>
                <a:off x="4415" y="2930"/>
                <a:ext cx="17" cy="17"/>
              </a:xfrm>
              <a:custGeom>
                <a:avLst/>
                <a:gdLst>
                  <a:gd name="T0" fmla="*/ 16 w 17"/>
                  <a:gd name="T1" fmla="*/ 6 h 17"/>
                  <a:gd name="T2" fmla="*/ 16 w 17"/>
                  <a:gd name="T3" fmla="*/ 6 h 17"/>
                  <a:gd name="T4" fmla="*/ 13 w 17"/>
                  <a:gd name="T5" fmla="*/ 3 h 17"/>
                  <a:gd name="T6" fmla="*/ 10 w 17"/>
                  <a:gd name="T7" fmla="*/ 0 h 17"/>
                  <a:gd name="T8" fmla="*/ 8 w 17"/>
                  <a:gd name="T9" fmla="*/ 0 h 17"/>
                  <a:gd name="T10" fmla="*/ 5 w 17"/>
                  <a:gd name="T11" fmla="*/ 0 h 17"/>
                  <a:gd name="T12" fmla="*/ 2 w 17"/>
                  <a:gd name="T13" fmla="*/ 3 h 17"/>
                  <a:gd name="T14" fmla="*/ 2 w 17"/>
                  <a:gd name="T15" fmla="*/ 3 h 17"/>
                  <a:gd name="T16" fmla="*/ 0 w 17"/>
                  <a:gd name="T17" fmla="*/ 6 h 17"/>
                  <a:gd name="T18" fmla="*/ 0 w 17"/>
                  <a:gd name="T19" fmla="*/ 9 h 17"/>
                  <a:gd name="T20" fmla="*/ 2 w 17"/>
                  <a:gd name="T21" fmla="*/ 9 h 17"/>
                  <a:gd name="T22" fmla="*/ 2 w 17"/>
                  <a:gd name="T23" fmla="*/ 12 h 17"/>
                  <a:gd name="T24" fmla="*/ 5 w 17"/>
                  <a:gd name="T25" fmla="*/ 16 h 17"/>
                  <a:gd name="T26" fmla="*/ 8 w 17"/>
                  <a:gd name="T27" fmla="*/ 16 h 17"/>
                  <a:gd name="T28" fmla="*/ 10 w 17"/>
                  <a:gd name="T29" fmla="*/ 16 h 17"/>
                  <a:gd name="T30" fmla="*/ 13 w 17"/>
                  <a:gd name="T31" fmla="*/ 12 h 17"/>
                  <a:gd name="T32" fmla="*/ 16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6" y="6"/>
                    </a:lnTo>
                    <a:lnTo>
                      <a:pt x="13" y="3"/>
                    </a:lnTo>
                    <a:lnTo>
                      <a:pt x="10" y="0"/>
                    </a:lnTo>
                    <a:lnTo>
                      <a:pt x="8" y="0"/>
                    </a:lnTo>
                    <a:lnTo>
                      <a:pt x="5" y="0"/>
                    </a:lnTo>
                    <a:lnTo>
                      <a:pt x="2" y="3"/>
                    </a:lnTo>
                    <a:lnTo>
                      <a:pt x="2" y="3"/>
                    </a:lnTo>
                    <a:lnTo>
                      <a:pt x="0" y="6"/>
                    </a:lnTo>
                    <a:lnTo>
                      <a:pt x="0" y="9"/>
                    </a:lnTo>
                    <a:lnTo>
                      <a:pt x="2" y="9"/>
                    </a:lnTo>
                    <a:lnTo>
                      <a:pt x="2" y="12"/>
                    </a:lnTo>
                    <a:lnTo>
                      <a:pt x="5" y="16"/>
                    </a:lnTo>
                    <a:lnTo>
                      <a:pt x="8" y="16"/>
                    </a:lnTo>
                    <a:lnTo>
                      <a:pt x="10" y="16"/>
                    </a:lnTo>
                    <a:lnTo>
                      <a:pt x="13" y="12"/>
                    </a:lnTo>
                    <a:lnTo>
                      <a:pt x="16"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4" name="Freeform 74"/>
              <p:cNvSpPr/>
              <p:nvPr/>
            </p:nvSpPr>
            <p:spPr bwMode="auto">
              <a:xfrm>
                <a:off x="4438" y="2930"/>
                <a:ext cx="17" cy="17"/>
              </a:xfrm>
              <a:custGeom>
                <a:avLst/>
                <a:gdLst>
                  <a:gd name="T0" fmla="*/ 16 w 17"/>
                  <a:gd name="T1" fmla="*/ 10 h 17"/>
                  <a:gd name="T2" fmla="*/ 16 w 17"/>
                  <a:gd name="T3" fmla="*/ 5 h 17"/>
                  <a:gd name="T4" fmla="*/ 13 w 17"/>
                  <a:gd name="T5" fmla="*/ 0 h 17"/>
                  <a:gd name="T6" fmla="*/ 10 w 17"/>
                  <a:gd name="T7" fmla="*/ 0 h 17"/>
                  <a:gd name="T8" fmla="*/ 8 w 17"/>
                  <a:gd name="T9" fmla="*/ 0 h 17"/>
                  <a:gd name="T10" fmla="*/ 8 w 17"/>
                  <a:gd name="T11" fmla="*/ 0 h 17"/>
                  <a:gd name="T12" fmla="*/ 5 w 17"/>
                  <a:gd name="T13" fmla="*/ 0 h 17"/>
                  <a:gd name="T14" fmla="*/ 2 w 17"/>
                  <a:gd name="T15" fmla="*/ 5 h 17"/>
                  <a:gd name="T16" fmla="*/ 2 w 17"/>
                  <a:gd name="T17" fmla="*/ 5 h 17"/>
                  <a:gd name="T18" fmla="*/ 0 w 17"/>
                  <a:gd name="T19" fmla="*/ 10 h 17"/>
                  <a:gd name="T20" fmla="*/ 2 w 17"/>
                  <a:gd name="T21" fmla="*/ 10 h 17"/>
                  <a:gd name="T22" fmla="*/ 5 w 17"/>
                  <a:gd name="T23" fmla="*/ 16 h 17"/>
                  <a:gd name="T24" fmla="*/ 8 w 17"/>
                  <a:gd name="T25" fmla="*/ 16 h 17"/>
                  <a:gd name="T26" fmla="*/ 8 w 17"/>
                  <a:gd name="T27" fmla="*/ 16 h 17"/>
                  <a:gd name="T28" fmla="*/ 10 w 17"/>
                  <a:gd name="T29" fmla="*/ 16 h 17"/>
                  <a:gd name="T30" fmla="*/ 13 w 17"/>
                  <a:gd name="T31" fmla="*/ 16 h 17"/>
                  <a:gd name="T32" fmla="*/ 16 w 17"/>
                  <a:gd name="T33" fmla="*/ 10 h 17"/>
                  <a:gd name="T34" fmla="*/ 16 w 17"/>
                  <a:gd name="T35" fmla="*/ 10 h 17"/>
                  <a:gd name="T36" fmla="*/ 16 w 17"/>
                  <a:gd name="T3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10"/>
                    </a:moveTo>
                    <a:lnTo>
                      <a:pt x="16" y="5"/>
                    </a:lnTo>
                    <a:lnTo>
                      <a:pt x="13" y="0"/>
                    </a:lnTo>
                    <a:lnTo>
                      <a:pt x="10" y="0"/>
                    </a:lnTo>
                    <a:lnTo>
                      <a:pt x="8" y="0"/>
                    </a:lnTo>
                    <a:lnTo>
                      <a:pt x="8" y="0"/>
                    </a:lnTo>
                    <a:lnTo>
                      <a:pt x="5" y="0"/>
                    </a:lnTo>
                    <a:lnTo>
                      <a:pt x="2" y="5"/>
                    </a:lnTo>
                    <a:lnTo>
                      <a:pt x="2" y="5"/>
                    </a:lnTo>
                    <a:lnTo>
                      <a:pt x="0" y="10"/>
                    </a:lnTo>
                    <a:lnTo>
                      <a:pt x="2" y="10"/>
                    </a:lnTo>
                    <a:lnTo>
                      <a:pt x="5" y="16"/>
                    </a:lnTo>
                    <a:lnTo>
                      <a:pt x="8" y="16"/>
                    </a:lnTo>
                    <a:lnTo>
                      <a:pt x="8" y="16"/>
                    </a:lnTo>
                    <a:lnTo>
                      <a:pt x="10" y="16"/>
                    </a:lnTo>
                    <a:lnTo>
                      <a:pt x="13" y="16"/>
                    </a:lnTo>
                    <a:lnTo>
                      <a:pt x="16" y="10"/>
                    </a:lnTo>
                    <a:lnTo>
                      <a:pt x="16" y="10"/>
                    </a:lnTo>
                    <a:lnTo>
                      <a:pt x="16" y="10"/>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5" name="Freeform 75"/>
              <p:cNvSpPr/>
              <p:nvPr/>
            </p:nvSpPr>
            <p:spPr bwMode="auto">
              <a:xfrm>
                <a:off x="4462" y="2930"/>
                <a:ext cx="17" cy="17"/>
              </a:xfrm>
              <a:custGeom>
                <a:avLst/>
                <a:gdLst>
                  <a:gd name="T0" fmla="*/ 16 w 17"/>
                  <a:gd name="T1" fmla="*/ 5 h 17"/>
                  <a:gd name="T2" fmla="*/ 16 w 17"/>
                  <a:gd name="T3" fmla="*/ 5 h 17"/>
                  <a:gd name="T4" fmla="*/ 13 w 17"/>
                  <a:gd name="T5" fmla="*/ 0 h 17"/>
                  <a:gd name="T6" fmla="*/ 10 w 17"/>
                  <a:gd name="T7" fmla="*/ 0 h 17"/>
                  <a:gd name="T8" fmla="*/ 8 w 17"/>
                  <a:gd name="T9" fmla="*/ 0 h 17"/>
                  <a:gd name="T10" fmla="*/ 8 w 17"/>
                  <a:gd name="T11" fmla="*/ 0 h 17"/>
                  <a:gd name="T12" fmla="*/ 2 w 17"/>
                  <a:gd name="T13" fmla="*/ 0 h 17"/>
                  <a:gd name="T14" fmla="*/ 0 w 17"/>
                  <a:gd name="T15" fmla="*/ 5 h 17"/>
                  <a:gd name="T16" fmla="*/ 0 w 17"/>
                  <a:gd name="T17" fmla="*/ 5 h 17"/>
                  <a:gd name="T18" fmla="*/ 0 w 17"/>
                  <a:gd name="T19" fmla="*/ 10 h 17"/>
                  <a:gd name="T20" fmla="*/ 2 w 17"/>
                  <a:gd name="T21" fmla="*/ 10 h 17"/>
                  <a:gd name="T22" fmla="*/ 2 w 17"/>
                  <a:gd name="T23" fmla="*/ 16 h 17"/>
                  <a:gd name="T24" fmla="*/ 5 w 17"/>
                  <a:gd name="T25" fmla="*/ 16 h 17"/>
                  <a:gd name="T26" fmla="*/ 8 w 17"/>
                  <a:gd name="T27" fmla="*/ 16 h 17"/>
                  <a:gd name="T28" fmla="*/ 10 w 17"/>
                  <a:gd name="T29" fmla="*/ 16 h 17"/>
                  <a:gd name="T30" fmla="*/ 13 w 17"/>
                  <a:gd name="T31" fmla="*/ 16 h 17"/>
                  <a:gd name="T32" fmla="*/ 16 w 17"/>
                  <a:gd name="T33" fmla="*/ 10 h 17"/>
                  <a:gd name="T34" fmla="*/ 16 w 17"/>
                  <a:gd name="T35" fmla="*/ 10 h 17"/>
                  <a:gd name="T36" fmla="*/ 16 w 17"/>
                  <a:gd name="T37" fmla="*/ 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5"/>
                    </a:moveTo>
                    <a:lnTo>
                      <a:pt x="16" y="5"/>
                    </a:lnTo>
                    <a:lnTo>
                      <a:pt x="13" y="0"/>
                    </a:lnTo>
                    <a:lnTo>
                      <a:pt x="10" y="0"/>
                    </a:lnTo>
                    <a:lnTo>
                      <a:pt x="8" y="0"/>
                    </a:lnTo>
                    <a:lnTo>
                      <a:pt x="8" y="0"/>
                    </a:lnTo>
                    <a:lnTo>
                      <a:pt x="2" y="0"/>
                    </a:lnTo>
                    <a:lnTo>
                      <a:pt x="0" y="5"/>
                    </a:lnTo>
                    <a:lnTo>
                      <a:pt x="0" y="5"/>
                    </a:lnTo>
                    <a:lnTo>
                      <a:pt x="0" y="10"/>
                    </a:lnTo>
                    <a:lnTo>
                      <a:pt x="2" y="10"/>
                    </a:lnTo>
                    <a:lnTo>
                      <a:pt x="2" y="16"/>
                    </a:lnTo>
                    <a:lnTo>
                      <a:pt x="5" y="16"/>
                    </a:lnTo>
                    <a:lnTo>
                      <a:pt x="8" y="16"/>
                    </a:lnTo>
                    <a:lnTo>
                      <a:pt x="10" y="16"/>
                    </a:lnTo>
                    <a:lnTo>
                      <a:pt x="13" y="16"/>
                    </a:lnTo>
                    <a:lnTo>
                      <a:pt x="16" y="10"/>
                    </a:lnTo>
                    <a:lnTo>
                      <a:pt x="16" y="10"/>
                    </a:lnTo>
                    <a:lnTo>
                      <a:pt x="16" y="5"/>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6" name="Freeform 76"/>
              <p:cNvSpPr/>
              <p:nvPr/>
            </p:nvSpPr>
            <p:spPr bwMode="auto">
              <a:xfrm>
                <a:off x="4486" y="2929"/>
                <a:ext cx="17" cy="17"/>
              </a:xfrm>
              <a:custGeom>
                <a:avLst/>
                <a:gdLst>
                  <a:gd name="T0" fmla="*/ 16 w 17"/>
                  <a:gd name="T1" fmla="*/ 8 h 17"/>
                  <a:gd name="T2" fmla="*/ 12 w 17"/>
                  <a:gd name="T3" fmla="*/ 4 h 17"/>
                  <a:gd name="T4" fmla="*/ 12 w 17"/>
                  <a:gd name="T5" fmla="*/ 4 h 17"/>
                  <a:gd name="T6" fmla="*/ 12 w 17"/>
                  <a:gd name="T7" fmla="*/ 0 h 17"/>
                  <a:gd name="T8" fmla="*/ 6 w 17"/>
                  <a:gd name="T9" fmla="*/ 0 h 17"/>
                  <a:gd name="T10" fmla="*/ 3 w 17"/>
                  <a:gd name="T11" fmla="*/ 0 h 17"/>
                  <a:gd name="T12" fmla="*/ 3 w 17"/>
                  <a:gd name="T13" fmla="*/ 0 h 17"/>
                  <a:gd name="T14" fmla="*/ 0 w 17"/>
                  <a:gd name="T15" fmla="*/ 4 h 17"/>
                  <a:gd name="T16" fmla="*/ 0 w 17"/>
                  <a:gd name="T17" fmla="*/ 8 h 17"/>
                  <a:gd name="T18" fmla="*/ 0 w 17"/>
                  <a:gd name="T19" fmla="*/ 8 h 17"/>
                  <a:gd name="T20" fmla="*/ 0 w 17"/>
                  <a:gd name="T21" fmla="*/ 12 h 17"/>
                  <a:gd name="T22" fmla="*/ 3 w 17"/>
                  <a:gd name="T23" fmla="*/ 16 h 17"/>
                  <a:gd name="T24" fmla="*/ 3 w 17"/>
                  <a:gd name="T25" fmla="*/ 16 h 17"/>
                  <a:gd name="T26" fmla="*/ 6 w 17"/>
                  <a:gd name="T27" fmla="*/ 16 h 17"/>
                  <a:gd name="T28" fmla="*/ 9 w 17"/>
                  <a:gd name="T29" fmla="*/ 16 h 17"/>
                  <a:gd name="T30" fmla="*/ 12 w 17"/>
                  <a:gd name="T31" fmla="*/ 16 h 17"/>
                  <a:gd name="T32" fmla="*/ 12 w 17"/>
                  <a:gd name="T33" fmla="*/ 12 h 17"/>
                  <a:gd name="T34" fmla="*/ 16 w 17"/>
                  <a:gd name="T35" fmla="*/ 8 h 17"/>
                  <a:gd name="T36" fmla="*/ 16 w 17"/>
                  <a:gd name="T3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8"/>
                    </a:moveTo>
                    <a:lnTo>
                      <a:pt x="12" y="4"/>
                    </a:lnTo>
                    <a:lnTo>
                      <a:pt x="12" y="4"/>
                    </a:lnTo>
                    <a:lnTo>
                      <a:pt x="12" y="0"/>
                    </a:lnTo>
                    <a:lnTo>
                      <a:pt x="6" y="0"/>
                    </a:lnTo>
                    <a:lnTo>
                      <a:pt x="3" y="0"/>
                    </a:lnTo>
                    <a:lnTo>
                      <a:pt x="3" y="0"/>
                    </a:lnTo>
                    <a:lnTo>
                      <a:pt x="0" y="4"/>
                    </a:lnTo>
                    <a:lnTo>
                      <a:pt x="0" y="8"/>
                    </a:lnTo>
                    <a:lnTo>
                      <a:pt x="0" y="8"/>
                    </a:lnTo>
                    <a:lnTo>
                      <a:pt x="0" y="12"/>
                    </a:lnTo>
                    <a:lnTo>
                      <a:pt x="3" y="16"/>
                    </a:lnTo>
                    <a:lnTo>
                      <a:pt x="3" y="16"/>
                    </a:lnTo>
                    <a:lnTo>
                      <a:pt x="6" y="16"/>
                    </a:lnTo>
                    <a:lnTo>
                      <a:pt x="9" y="16"/>
                    </a:lnTo>
                    <a:lnTo>
                      <a:pt x="12" y="16"/>
                    </a:lnTo>
                    <a:lnTo>
                      <a:pt x="12" y="12"/>
                    </a:lnTo>
                    <a:lnTo>
                      <a:pt x="16" y="8"/>
                    </a:lnTo>
                    <a:lnTo>
                      <a:pt x="16" y="8"/>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7" name="Freeform 77"/>
              <p:cNvSpPr/>
              <p:nvPr/>
            </p:nvSpPr>
            <p:spPr bwMode="auto">
              <a:xfrm>
                <a:off x="4508" y="2927"/>
                <a:ext cx="17" cy="17"/>
              </a:xfrm>
              <a:custGeom>
                <a:avLst/>
                <a:gdLst>
                  <a:gd name="T0" fmla="*/ 16 w 17"/>
                  <a:gd name="T1" fmla="*/ 6 h 17"/>
                  <a:gd name="T2" fmla="*/ 13 w 17"/>
                  <a:gd name="T3" fmla="*/ 6 h 17"/>
                  <a:gd name="T4" fmla="*/ 13 w 17"/>
                  <a:gd name="T5" fmla="*/ 3 h 17"/>
                  <a:gd name="T6" fmla="*/ 10 w 17"/>
                  <a:gd name="T7" fmla="*/ 3 h 17"/>
                  <a:gd name="T8" fmla="*/ 8 w 17"/>
                  <a:gd name="T9" fmla="*/ 0 h 17"/>
                  <a:gd name="T10" fmla="*/ 8 w 17"/>
                  <a:gd name="T11" fmla="*/ 0 h 17"/>
                  <a:gd name="T12" fmla="*/ 5 w 17"/>
                  <a:gd name="T13" fmla="*/ 3 h 17"/>
                  <a:gd name="T14" fmla="*/ 0 w 17"/>
                  <a:gd name="T15" fmla="*/ 3 h 17"/>
                  <a:gd name="T16" fmla="*/ 0 w 17"/>
                  <a:gd name="T17" fmla="*/ 6 h 17"/>
                  <a:gd name="T18" fmla="*/ 0 w 17"/>
                  <a:gd name="T19" fmla="*/ 9 h 17"/>
                  <a:gd name="T20" fmla="*/ 0 w 17"/>
                  <a:gd name="T21" fmla="*/ 9 h 17"/>
                  <a:gd name="T22" fmla="*/ 5 w 17"/>
                  <a:gd name="T23" fmla="*/ 12 h 17"/>
                  <a:gd name="T24" fmla="*/ 8 w 17"/>
                  <a:gd name="T25" fmla="*/ 16 h 17"/>
                  <a:gd name="T26" fmla="*/ 8 w 17"/>
                  <a:gd name="T27" fmla="*/ 16 h 17"/>
                  <a:gd name="T28" fmla="*/ 10 w 17"/>
                  <a:gd name="T29" fmla="*/ 12 h 17"/>
                  <a:gd name="T30" fmla="*/ 13 w 17"/>
                  <a:gd name="T31" fmla="*/ 12 h 17"/>
                  <a:gd name="T32" fmla="*/ 13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3" y="6"/>
                    </a:lnTo>
                    <a:lnTo>
                      <a:pt x="13" y="3"/>
                    </a:lnTo>
                    <a:lnTo>
                      <a:pt x="10" y="3"/>
                    </a:lnTo>
                    <a:lnTo>
                      <a:pt x="8" y="0"/>
                    </a:lnTo>
                    <a:lnTo>
                      <a:pt x="8" y="0"/>
                    </a:lnTo>
                    <a:lnTo>
                      <a:pt x="5" y="3"/>
                    </a:lnTo>
                    <a:lnTo>
                      <a:pt x="0" y="3"/>
                    </a:lnTo>
                    <a:lnTo>
                      <a:pt x="0" y="6"/>
                    </a:lnTo>
                    <a:lnTo>
                      <a:pt x="0" y="9"/>
                    </a:lnTo>
                    <a:lnTo>
                      <a:pt x="0" y="9"/>
                    </a:lnTo>
                    <a:lnTo>
                      <a:pt x="5" y="12"/>
                    </a:lnTo>
                    <a:lnTo>
                      <a:pt x="8" y="16"/>
                    </a:lnTo>
                    <a:lnTo>
                      <a:pt x="8" y="16"/>
                    </a:lnTo>
                    <a:lnTo>
                      <a:pt x="10" y="12"/>
                    </a:lnTo>
                    <a:lnTo>
                      <a:pt x="13" y="12"/>
                    </a:lnTo>
                    <a:lnTo>
                      <a:pt x="13"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8" name="Freeform 78"/>
              <p:cNvSpPr/>
              <p:nvPr/>
            </p:nvSpPr>
            <p:spPr bwMode="auto">
              <a:xfrm>
                <a:off x="4532" y="2927"/>
                <a:ext cx="17" cy="17"/>
              </a:xfrm>
              <a:custGeom>
                <a:avLst/>
                <a:gdLst>
                  <a:gd name="T0" fmla="*/ 16 w 17"/>
                  <a:gd name="T1" fmla="*/ 8 h 17"/>
                  <a:gd name="T2" fmla="*/ 16 w 17"/>
                  <a:gd name="T3" fmla="*/ 8 h 17"/>
                  <a:gd name="T4" fmla="*/ 16 w 17"/>
                  <a:gd name="T5" fmla="*/ 4 h 17"/>
                  <a:gd name="T6" fmla="*/ 12 w 17"/>
                  <a:gd name="T7" fmla="*/ 4 h 17"/>
                  <a:gd name="T8" fmla="*/ 9 w 17"/>
                  <a:gd name="T9" fmla="*/ 0 h 17"/>
                  <a:gd name="T10" fmla="*/ 6 w 17"/>
                  <a:gd name="T11" fmla="*/ 0 h 17"/>
                  <a:gd name="T12" fmla="*/ 3 w 17"/>
                  <a:gd name="T13" fmla="*/ 4 h 17"/>
                  <a:gd name="T14" fmla="*/ 0 w 17"/>
                  <a:gd name="T15" fmla="*/ 4 h 17"/>
                  <a:gd name="T16" fmla="*/ 0 w 17"/>
                  <a:gd name="T17" fmla="*/ 8 h 17"/>
                  <a:gd name="T18" fmla="*/ 0 w 17"/>
                  <a:gd name="T19" fmla="*/ 12 h 17"/>
                  <a:gd name="T20" fmla="*/ 0 w 17"/>
                  <a:gd name="T21" fmla="*/ 12 h 17"/>
                  <a:gd name="T22" fmla="*/ 3 w 17"/>
                  <a:gd name="T23" fmla="*/ 16 h 17"/>
                  <a:gd name="T24" fmla="*/ 6 w 17"/>
                  <a:gd name="T25" fmla="*/ 16 h 17"/>
                  <a:gd name="T26" fmla="*/ 9 w 17"/>
                  <a:gd name="T27" fmla="*/ 16 h 17"/>
                  <a:gd name="T28" fmla="*/ 12 w 17"/>
                  <a:gd name="T29" fmla="*/ 16 h 17"/>
                  <a:gd name="T30" fmla="*/ 16 w 17"/>
                  <a:gd name="T31" fmla="*/ 16 h 17"/>
                  <a:gd name="T32" fmla="*/ 16 w 17"/>
                  <a:gd name="T33" fmla="*/ 12 h 17"/>
                  <a:gd name="T34" fmla="*/ 16 w 17"/>
                  <a:gd name="T35"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 h="17">
                    <a:moveTo>
                      <a:pt x="16" y="8"/>
                    </a:moveTo>
                    <a:lnTo>
                      <a:pt x="16" y="8"/>
                    </a:lnTo>
                    <a:lnTo>
                      <a:pt x="16" y="4"/>
                    </a:lnTo>
                    <a:lnTo>
                      <a:pt x="12" y="4"/>
                    </a:lnTo>
                    <a:lnTo>
                      <a:pt x="9" y="0"/>
                    </a:lnTo>
                    <a:lnTo>
                      <a:pt x="6" y="0"/>
                    </a:lnTo>
                    <a:lnTo>
                      <a:pt x="3" y="4"/>
                    </a:lnTo>
                    <a:lnTo>
                      <a:pt x="0" y="4"/>
                    </a:lnTo>
                    <a:lnTo>
                      <a:pt x="0" y="8"/>
                    </a:lnTo>
                    <a:lnTo>
                      <a:pt x="0" y="12"/>
                    </a:lnTo>
                    <a:lnTo>
                      <a:pt x="0" y="12"/>
                    </a:lnTo>
                    <a:lnTo>
                      <a:pt x="3" y="16"/>
                    </a:lnTo>
                    <a:lnTo>
                      <a:pt x="6" y="16"/>
                    </a:lnTo>
                    <a:lnTo>
                      <a:pt x="9" y="16"/>
                    </a:lnTo>
                    <a:lnTo>
                      <a:pt x="12" y="16"/>
                    </a:lnTo>
                    <a:lnTo>
                      <a:pt x="16" y="16"/>
                    </a:lnTo>
                    <a:lnTo>
                      <a:pt x="16" y="12"/>
                    </a:lnTo>
                    <a:lnTo>
                      <a:pt x="16" y="8"/>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9" name="Freeform 79"/>
              <p:cNvSpPr/>
              <p:nvPr/>
            </p:nvSpPr>
            <p:spPr bwMode="auto">
              <a:xfrm>
                <a:off x="4535" y="2987"/>
                <a:ext cx="17" cy="122"/>
              </a:xfrm>
              <a:custGeom>
                <a:avLst/>
                <a:gdLst>
                  <a:gd name="T0" fmla="*/ 0 w 17"/>
                  <a:gd name="T1" fmla="*/ 0 h 122"/>
                  <a:gd name="T2" fmla="*/ 0 w 17"/>
                  <a:gd name="T3" fmla="*/ 42 h 122"/>
                  <a:gd name="T4" fmla="*/ 12 w 17"/>
                  <a:gd name="T5" fmla="*/ 42 h 122"/>
                  <a:gd name="T6" fmla="*/ 0 w 17"/>
                  <a:gd name="T7" fmla="*/ 47 h 122"/>
                  <a:gd name="T8" fmla="*/ 0 w 17"/>
                  <a:gd name="T9" fmla="*/ 84 h 122"/>
                  <a:gd name="T10" fmla="*/ 12 w 17"/>
                  <a:gd name="T11" fmla="*/ 84 h 122"/>
                  <a:gd name="T12" fmla="*/ 0 w 17"/>
                  <a:gd name="T13" fmla="*/ 89 h 122"/>
                  <a:gd name="T14" fmla="*/ 0 w 17"/>
                  <a:gd name="T15" fmla="*/ 121 h 122"/>
                  <a:gd name="T16" fmla="*/ 16 w 17"/>
                  <a:gd name="T17" fmla="*/ 121 h 122"/>
                  <a:gd name="T18" fmla="*/ 16 w 17"/>
                  <a:gd name="T19" fmla="*/ 0 h 122"/>
                  <a:gd name="T20" fmla="*/ 0 w 17"/>
                  <a:gd name="T21"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122">
                    <a:moveTo>
                      <a:pt x="0" y="0"/>
                    </a:moveTo>
                    <a:lnTo>
                      <a:pt x="0" y="42"/>
                    </a:lnTo>
                    <a:lnTo>
                      <a:pt x="12" y="42"/>
                    </a:lnTo>
                    <a:lnTo>
                      <a:pt x="0" y="47"/>
                    </a:lnTo>
                    <a:lnTo>
                      <a:pt x="0" y="84"/>
                    </a:lnTo>
                    <a:lnTo>
                      <a:pt x="12" y="84"/>
                    </a:lnTo>
                    <a:lnTo>
                      <a:pt x="0" y="89"/>
                    </a:lnTo>
                    <a:lnTo>
                      <a:pt x="0" y="121"/>
                    </a:lnTo>
                    <a:lnTo>
                      <a:pt x="16" y="121"/>
                    </a:lnTo>
                    <a:lnTo>
                      <a:pt x="16" y="0"/>
                    </a:lnTo>
                    <a:lnTo>
                      <a:pt x="0" y="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20" name="Freeform 80"/>
              <p:cNvSpPr/>
              <p:nvPr/>
            </p:nvSpPr>
            <p:spPr bwMode="auto">
              <a:xfrm>
                <a:off x="4561" y="3296"/>
                <a:ext cx="96" cy="45"/>
              </a:xfrm>
              <a:custGeom>
                <a:avLst/>
                <a:gdLst>
                  <a:gd name="T0" fmla="*/ 0 w 96"/>
                  <a:gd name="T1" fmla="*/ 44 h 45"/>
                  <a:gd name="T2" fmla="*/ 95 w 96"/>
                  <a:gd name="T3" fmla="*/ 35 h 45"/>
                  <a:gd name="T4" fmla="*/ 0 w 96"/>
                  <a:gd name="T5" fmla="*/ 0 h 45"/>
                  <a:gd name="T6" fmla="*/ 0 w 96"/>
                  <a:gd name="T7" fmla="*/ 44 h 45"/>
                </a:gdLst>
                <a:ahLst/>
                <a:cxnLst>
                  <a:cxn ang="0">
                    <a:pos x="T0" y="T1"/>
                  </a:cxn>
                  <a:cxn ang="0">
                    <a:pos x="T2" y="T3"/>
                  </a:cxn>
                  <a:cxn ang="0">
                    <a:pos x="T4" y="T5"/>
                  </a:cxn>
                  <a:cxn ang="0">
                    <a:pos x="T6" y="T7"/>
                  </a:cxn>
                </a:cxnLst>
                <a:rect l="0" t="0" r="r" b="b"/>
                <a:pathLst>
                  <a:path w="96" h="45">
                    <a:moveTo>
                      <a:pt x="0" y="44"/>
                    </a:moveTo>
                    <a:lnTo>
                      <a:pt x="95" y="35"/>
                    </a:lnTo>
                    <a:lnTo>
                      <a:pt x="0" y="0"/>
                    </a:lnTo>
                    <a:lnTo>
                      <a:pt x="0" y="44"/>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5921" name="Group 81"/>
            <p:cNvGrpSpPr/>
            <p:nvPr/>
          </p:nvGrpSpPr>
          <p:grpSpPr bwMode="auto">
            <a:xfrm>
              <a:off x="4320" y="2341"/>
              <a:ext cx="720" cy="334"/>
              <a:chOff x="1514" y="941"/>
              <a:chExt cx="926" cy="508"/>
            </a:xfrm>
          </p:grpSpPr>
          <p:sp>
            <p:nvSpPr>
              <p:cNvPr id="35922" name="Line 82"/>
              <p:cNvSpPr>
                <a:spLocks noChangeShapeType="1"/>
              </p:cNvSpPr>
              <p:nvPr/>
            </p:nvSpPr>
            <p:spPr bwMode="auto">
              <a:xfrm>
                <a:off x="1514" y="941"/>
                <a:ext cx="574" cy="404"/>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23" name="Line 83"/>
              <p:cNvSpPr>
                <a:spLocks noChangeShapeType="1"/>
              </p:cNvSpPr>
              <p:nvPr/>
            </p:nvSpPr>
            <p:spPr bwMode="auto">
              <a:xfrm flipH="1" flipV="1">
                <a:off x="2049" y="1176"/>
                <a:ext cx="39" cy="169"/>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24" name="Line 84"/>
              <p:cNvSpPr>
                <a:spLocks noChangeShapeType="1"/>
              </p:cNvSpPr>
              <p:nvPr/>
            </p:nvSpPr>
            <p:spPr bwMode="auto">
              <a:xfrm>
                <a:off x="2049" y="1162"/>
                <a:ext cx="391" cy="287"/>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5925" name="Text Box 85"/>
            <p:cNvSpPr txBox="1">
              <a:spLocks noChangeArrowheads="1"/>
            </p:cNvSpPr>
            <p:nvPr/>
          </p:nvSpPr>
          <p:spPr bwMode="auto">
            <a:xfrm>
              <a:off x="4697" y="2886"/>
              <a:ext cx="9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US" sz="2000" b="1">
                  <a:solidFill>
                    <a:schemeClr val="accent1"/>
                  </a:solidFill>
                  <a:effectLst>
                    <a:outerShdw blurRad="38100" dist="38100" dir="2700000" algn="tl">
                      <a:srgbClr val="000000"/>
                    </a:outerShdw>
                  </a:effectLst>
                  <a:latin typeface="Arial" panose="020B0604020202020204" pitchFamily="34" charset="0"/>
                </a:rPr>
                <a:t>远程客户端</a:t>
              </a:r>
              <a:endParaRPr lang="zh-CN" altLang="en-US" sz="2000" b="1">
                <a:solidFill>
                  <a:schemeClr val="accent1"/>
                </a:solidFill>
                <a:effectLst>
                  <a:outerShdw blurRad="38100" dist="38100" dir="2700000" algn="tl">
                    <a:srgbClr val="000000"/>
                  </a:outerShdw>
                </a:effectLst>
                <a:latin typeface="Arial" panose="020B0604020202020204" pitchFamily="34" charset="0"/>
              </a:endParaRPr>
            </a:p>
          </p:txBody>
        </p:sp>
        <p:sp>
          <p:nvSpPr>
            <p:cNvPr id="35926" name="Line 86"/>
            <p:cNvSpPr>
              <a:spLocks noChangeShapeType="1"/>
            </p:cNvSpPr>
            <p:nvPr/>
          </p:nvSpPr>
          <p:spPr bwMode="auto">
            <a:xfrm>
              <a:off x="2064" y="1717"/>
              <a:ext cx="0" cy="81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27" name="Line 87"/>
            <p:cNvSpPr>
              <a:spLocks noChangeShapeType="1"/>
            </p:cNvSpPr>
            <p:nvPr/>
          </p:nvSpPr>
          <p:spPr bwMode="auto">
            <a:xfrm>
              <a:off x="672" y="1813"/>
              <a:ext cx="0" cy="24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28" name="Line 88"/>
            <p:cNvSpPr>
              <a:spLocks noChangeShapeType="1"/>
            </p:cNvSpPr>
            <p:nvPr/>
          </p:nvSpPr>
          <p:spPr bwMode="auto">
            <a:xfrm>
              <a:off x="96" y="2053"/>
              <a:ext cx="124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29" name="Line 89"/>
            <p:cNvSpPr>
              <a:spLocks noChangeShapeType="1"/>
            </p:cNvSpPr>
            <p:nvPr/>
          </p:nvSpPr>
          <p:spPr bwMode="auto">
            <a:xfrm>
              <a:off x="1021" y="2057"/>
              <a:ext cx="0" cy="2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930" name="Group 90"/>
            <p:cNvGrpSpPr/>
            <p:nvPr/>
          </p:nvGrpSpPr>
          <p:grpSpPr bwMode="auto">
            <a:xfrm>
              <a:off x="1453" y="1417"/>
              <a:ext cx="435" cy="473"/>
              <a:chOff x="4222" y="2888"/>
              <a:chExt cx="435" cy="473"/>
            </a:xfrm>
          </p:grpSpPr>
          <p:sp>
            <p:nvSpPr>
              <p:cNvPr id="35931" name="Freeform 91"/>
              <p:cNvSpPr/>
              <p:nvPr/>
            </p:nvSpPr>
            <p:spPr bwMode="auto">
              <a:xfrm>
                <a:off x="4373" y="2903"/>
                <a:ext cx="189" cy="458"/>
              </a:xfrm>
              <a:custGeom>
                <a:avLst/>
                <a:gdLst>
                  <a:gd name="T0" fmla="*/ 188 w 189"/>
                  <a:gd name="T1" fmla="*/ 0 h 458"/>
                  <a:gd name="T2" fmla="*/ 0 w 189"/>
                  <a:gd name="T3" fmla="*/ 5 h 458"/>
                  <a:gd name="T4" fmla="*/ 0 w 189"/>
                  <a:gd name="T5" fmla="*/ 457 h 458"/>
                  <a:gd name="T6" fmla="*/ 188 w 189"/>
                  <a:gd name="T7" fmla="*/ 437 h 458"/>
                  <a:gd name="T8" fmla="*/ 188 w 189"/>
                  <a:gd name="T9" fmla="*/ 0 h 458"/>
                </a:gdLst>
                <a:ahLst/>
                <a:cxnLst>
                  <a:cxn ang="0">
                    <a:pos x="T0" y="T1"/>
                  </a:cxn>
                  <a:cxn ang="0">
                    <a:pos x="T2" y="T3"/>
                  </a:cxn>
                  <a:cxn ang="0">
                    <a:pos x="T4" y="T5"/>
                  </a:cxn>
                  <a:cxn ang="0">
                    <a:pos x="T6" y="T7"/>
                  </a:cxn>
                  <a:cxn ang="0">
                    <a:pos x="T8" y="T9"/>
                  </a:cxn>
                </a:cxnLst>
                <a:rect l="0" t="0" r="r" b="b"/>
                <a:pathLst>
                  <a:path w="189" h="458">
                    <a:moveTo>
                      <a:pt x="188" y="0"/>
                    </a:moveTo>
                    <a:lnTo>
                      <a:pt x="0" y="5"/>
                    </a:lnTo>
                    <a:lnTo>
                      <a:pt x="0" y="457"/>
                    </a:lnTo>
                    <a:lnTo>
                      <a:pt x="188" y="437"/>
                    </a:lnTo>
                    <a:lnTo>
                      <a:pt x="188" y="0"/>
                    </a:lnTo>
                  </a:path>
                </a:pathLst>
              </a:custGeom>
              <a:solidFill>
                <a:srgbClr val="B5B5B5"/>
              </a:solidFill>
              <a:ln w="12700" cap="rnd" cmpd="sng">
                <a:solidFill>
                  <a:srgbClr val="B5B5B5"/>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2" name="Freeform 92"/>
              <p:cNvSpPr/>
              <p:nvPr/>
            </p:nvSpPr>
            <p:spPr bwMode="auto">
              <a:xfrm>
                <a:off x="4384" y="3144"/>
                <a:ext cx="168" cy="195"/>
              </a:xfrm>
              <a:custGeom>
                <a:avLst/>
                <a:gdLst>
                  <a:gd name="T0" fmla="*/ 0 w 168"/>
                  <a:gd name="T1" fmla="*/ 11 h 195"/>
                  <a:gd name="T2" fmla="*/ 167 w 168"/>
                  <a:gd name="T3" fmla="*/ 0 h 195"/>
                  <a:gd name="T4" fmla="*/ 167 w 168"/>
                  <a:gd name="T5" fmla="*/ 177 h 195"/>
                  <a:gd name="T6" fmla="*/ 0 w 168"/>
                  <a:gd name="T7" fmla="*/ 194 h 195"/>
                  <a:gd name="T8" fmla="*/ 0 w 168"/>
                  <a:gd name="T9" fmla="*/ 11 h 195"/>
                </a:gdLst>
                <a:ahLst/>
                <a:cxnLst>
                  <a:cxn ang="0">
                    <a:pos x="T0" y="T1"/>
                  </a:cxn>
                  <a:cxn ang="0">
                    <a:pos x="T2" y="T3"/>
                  </a:cxn>
                  <a:cxn ang="0">
                    <a:pos x="T4" y="T5"/>
                  </a:cxn>
                  <a:cxn ang="0">
                    <a:pos x="T6" y="T7"/>
                  </a:cxn>
                  <a:cxn ang="0">
                    <a:pos x="T8" y="T9"/>
                  </a:cxn>
                </a:cxnLst>
                <a:rect l="0" t="0" r="r" b="b"/>
                <a:pathLst>
                  <a:path w="168" h="195">
                    <a:moveTo>
                      <a:pt x="0" y="11"/>
                    </a:moveTo>
                    <a:lnTo>
                      <a:pt x="167" y="0"/>
                    </a:lnTo>
                    <a:lnTo>
                      <a:pt x="167" y="177"/>
                    </a:lnTo>
                    <a:lnTo>
                      <a:pt x="0" y="194"/>
                    </a:lnTo>
                    <a:lnTo>
                      <a:pt x="0" y="11"/>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3" name="Freeform 93"/>
              <p:cNvSpPr/>
              <p:nvPr/>
            </p:nvSpPr>
            <p:spPr bwMode="auto">
              <a:xfrm>
                <a:off x="4384" y="2987"/>
                <a:ext cx="160" cy="131"/>
              </a:xfrm>
              <a:custGeom>
                <a:avLst/>
                <a:gdLst>
                  <a:gd name="T0" fmla="*/ 0 w 160"/>
                  <a:gd name="T1" fmla="*/ 6 h 131"/>
                  <a:gd name="T2" fmla="*/ 159 w 160"/>
                  <a:gd name="T3" fmla="*/ 0 h 131"/>
                  <a:gd name="T4" fmla="*/ 159 w 160"/>
                  <a:gd name="T5" fmla="*/ 121 h 131"/>
                  <a:gd name="T6" fmla="*/ 0 w 160"/>
                  <a:gd name="T7" fmla="*/ 130 h 131"/>
                  <a:gd name="T8" fmla="*/ 0 w 160"/>
                  <a:gd name="T9" fmla="*/ 6 h 131"/>
                </a:gdLst>
                <a:ahLst/>
                <a:cxnLst>
                  <a:cxn ang="0">
                    <a:pos x="T0" y="T1"/>
                  </a:cxn>
                  <a:cxn ang="0">
                    <a:pos x="T2" y="T3"/>
                  </a:cxn>
                  <a:cxn ang="0">
                    <a:pos x="T4" y="T5"/>
                  </a:cxn>
                  <a:cxn ang="0">
                    <a:pos x="T6" y="T7"/>
                  </a:cxn>
                  <a:cxn ang="0">
                    <a:pos x="T8" y="T9"/>
                  </a:cxn>
                </a:cxnLst>
                <a:rect l="0" t="0" r="r" b="b"/>
                <a:pathLst>
                  <a:path w="160" h="131">
                    <a:moveTo>
                      <a:pt x="0" y="6"/>
                    </a:moveTo>
                    <a:lnTo>
                      <a:pt x="159" y="0"/>
                    </a:lnTo>
                    <a:lnTo>
                      <a:pt x="159" y="121"/>
                    </a:lnTo>
                    <a:lnTo>
                      <a:pt x="0" y="130"/>
                    </a:lnTo>
                    <a:lnTo>
                      <a:pt x="0" y="6"/>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4" name="Freeform 94"/>
              <p:cNvSpPr/>
              <p:nvPr/>
            </p:nvSpPr>
            <p:spPr bwMode="auto">
              <a:xfrm>
                <a:off x="4222" y="2889"/>
                <a:ext cx="340" cy="19"/>
              </a:xfrm>
              <a:custGeom>
                <a:avLst/>
                <a:gdLst>
                  <a:gd name="T0" fmla="*/ 0 w 340"/>
                  <a:gd name="T1" fmla="*/ 1 h 19"/>
                  <a:gd name="T2" fmla="*/ 151 w 340"/>
                  <a:gd name="T3" fmla="*/ 18 h 19"/>
                  <a:gd name="T4" fmla="*/ 339 w 340"/>
                  <a:gd name="T5" fmla="*/ 14 h 19"/>
                  <a:gd name="T6" fmla="*/ 181 w 340"/>
                  <a:gd name="T7" fmla="*/ 0 h 19"/>
                  <a:gd name="T8" fmla="*/ 0 w 340"/>
                  <a:gd name="T9" fmla="*/ 1 h 19"/>
                </a:gdLst>
                <a:ahLst/>
                <a:cxnLst>
                  <a:cxn ang="0">
                    <a:pos x="T0" y="T1"/>
                  </a:cxn>
                  <a:cxn ang="0">
                    <a:pos x="T2" y="T3"/>
                  </a:cxn>
                  <a:cxn ang="0">
                    <a:pos x="T4" y="T5"/>
                  </a:cxn>
                  <a:cxn ang="0">
                    <a:pos x="T6" y="T7"/>
                  </a:cxn>
                  <a:cxn ang="0">
                    <a:pos x="T8" y="T9"/>
                  </a:cxn>
                </a:cxnLst>
                <a:rect l="0" t="0" r="r" b="b"/>
                <a:pathLst>
                  <a:path w="340" h="19">
                    <a:moveTo>
                      <a:pt x="0" y="1"/>
                    </a:moveTo>
                    <a:lnTo>
                      <a:pt x="151" y="18"/>
                    </a:lnTo>
                    <a:lnTo>
                      <a:pt x="339" y="14"/>
                    </a:lnTo>
                    <a:lnTo>
                      <a:pt x="181" y="0"/>
                    </a:lnTo>
                    <a:lnTo>
                      <a:pt x="0" y="1"/>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5" name="Freeform 95"/>
              <p:cNvSpPr/>
              <p:nvPr/>
            </p:nvSpPr>
            <p:spPr bwMode="auto">
              <a:xfrm>
                <a:off x="4222" y="2889"/>
                <a:ext cx="152" cy="472"/>
              </a:xfrm>
              <a:custGeom>
                <a:avLst/>
                <a:gdLst>
                  <a:gd name="T0" fmla="*/ 151 w 152"/>
                  <a:gd name="T1" fmla="*/ 471 h 472"/>
                  <a:gd name="T2" fmla="*/ 0 w 152"/>
                  <a:gd name="T3" fmla="*/ 358 h 472"/>
                  <a:gd name="T4" fmla="*/ 0 w 152"/>
                  <a:gd name="T5" fmla="*/ 0 h 472"/>
                  <a:gd name="T6" fmla="*/ 151 w 152"/>
                  <a:gd name="T7" fmla="*/ 18 h 472"/>
                  <a:gd name="T8" fmla="*/ 151 w 152"/>
                  <a:gd name="T9" fmla="*/ 471 h 472"/>
                </a:gdLst>
                <a:ahLst/>
                <a:cxnLst>
                  <a:cxn ang="0">
                    <a:pos x="T0" y="T1"/>
                  </a:cxn>
                  <a:cxn ang="0">
                    <a:pos x="T2" y="T3"/>
                  </a:cxn>
                  <a:cxn ang="0">
                    <a:pos x="T4" y="T5"/>
                  </a:cxn>
                  <a:cxn ang="0">
                    <a:pos x="T6" y="T7"/>
                  </a:cxn>
                  <a:cxn ang="0">
                    <a:pos x="T8" y="T9"/>
                  </a:cxn>
                </a:cxnLst>
                <a:rect l="0" t="0" r="r" b="b"/>
                <a:pathLst>
                  <a:path w="152" h="472">
                    <a:moveTo>
                      <a:pt x="151" y="471"/>
                    </a:moveTo>
                    <a:lnTo>
                      <a:pt x="0" y="358"/>
                    </a:lnTo>
                    <a:lnTo>
                      <a:pt x="0" y="0"/>
                    </a:lnTo>
                    <a:lnTo>
                      <a:pt x="151" y="18"/>
                    </a:lnTo>
                    <a:lnTo>
                      <a:pt x="151" y="471"/>
                    </a:lnTo>
                  </a:path>
                </a:pathLst>
              </a:custGeom>
              <a:solidFill>
                <a:srgbClr val="B5B5B5"/>
              </a:solidFill>
              <a:ln w="12700" cap="rnd" cmpd="sng">
                <a:solidFill>
                  <a:srgbClr val="B5B5B5"/>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6" name="Freeform 96"/>
              <p:cNvSpPr/>
              <p:nvPr/>
            </p:nvSpPr>
            <p:spPr bwMode="auto">
              <a:xfrm>
                <a:off x="4356" y="2905"/>
                <a:ext cx="18" cy="456"/>
              </a:xfrm>
              <a:custGeom>
                <a:avLst/>
                <a:gdLst>
                  <a:gd name="T0" fmla="*/ 17 w 18"/>
                  <a:gd name="T1" fmla="*/ 2 h 456"/>
                  <a:gd name="T2" fmla="*/ 0 w 18"/>
                  <a:gd name="T3" fmla="*/ 0 h 456"/>
                  <a:gd name="T4" fmla="*/ 0 w 18"/>
                  <a:gd name="T5" fmla="*/ 443 h 456"/>
                  <a:gd name="T6" fmla="*/ 17 w 18"/>
                  <a:gd name="T7" fmla="*/ 455 h 456"/>
                  <a:gd name="T8" fmla="*/ 17 w 18"/>
                  <a:gd name="T9" fmla="*/ 2 h 456"/>
                </a:gdLst>
                <a:ahLst/>
                <a:cxnLst>
                  <a:cxn ang="0">
                    <a:pos x="T0" y="T1"/>
                  </a:cxn>
                  <a:cxn ang="0">
                    <a:pos x="T2" y="T3"/>
                  </a:cxn>
                  <a:cxn ang="0">
                    <a:pos x="T4" y="T5"/>
                  </a:cxn>
                  <a:cxn ang="0">
                    <a:pos x="T6" y="T7"/>
                  </a:cxn>
                  <a:cxn ang="0">
                    <a:pos x="T8" y="T9"/>
                  </a:cxn>
                </a:cxnLst>
                <a:rect l="0" t="0" r="r" b="b"/>
                <a:pathLst>
                  <a:path w="18" h="456">
                    <a:moveTo>
                      <a:pt x="17" y="2"/>
                    </a:moveTo>
                    <a:lnTo>
                      <a:pt x="0" y="0"/>
                    </a:lnTo>
                    <a:lnTo>
                      <a:pt x="0" y="443"/>
                    </a:lnTo>
                    <a:lnTo>
                      <a:pt x="17" y="455"/>
                    </a:lnTo>
                    <a:lnTo>
                      <a:pt x="17" y="2"/>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7" name="Freeform 97"/>
              <p:cNvSpPr/>
              <p:nvPr/>
            </p:nvSpPr>
            <p:spPr bwMode="auto">
              <a:xfrm>
                <a:off x="4384" y="2986"/>
                <a:ext cx="168" cy="137"/>
              </a:xfrm>
              <a:custGeom>
                <a:avLst/>
                <a:gdLst>
                  <a:gd name="T0" fmla="*/ 167 w 168"/>
                  <a:gd name="T1" fmla="*/ 0 h 137"/>
                  <a:gd name="T2" fmla="*/ 167 w 168"/>
                  <a:gd name="T3" fmla="*/ 125 h 137"/>
                  <a:gd name="T4" fmla="*/ 0 w 168"/>
                  <a:gd name="T5" fmla="*/ 136 h 137"/>
                  <a:gd name="T6" fmla="*/ 0 w 168"/>
                  <a:gd name="T7" fmla="*/ 130 h 137"/>
                  <a:gd name="T8" fmla="*/ 159 w 168"/>
                  <a:gd name="T9" fmla="*/ 122 h 137"/>
                  <a:gd name="T10" fmla="*/ 159 w 168"/>
                  <a:gd name="T11" fmla="*/ 1 h 137"/>
                  <a:gd name="T12" fmla="*/ 167 w 168"/>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68" h="137">
                    <a:moveTo>
                      <a:pt x="167" y="0"/>
                    </a:moveTo>
                    <a:lnTo>
                      <a:pt x="167" y="125"/>
                    </a:lnTo>
                    <a:lnTo>
                      <a:pt x="0" y="136"/>
                    </a:lnTo>
                    <a:lnTo>
                      <a:pt x="0" y="130"/>
                    </a:lnTo>
                    <a:lnTo>
                      <a:pt x="159" y="122"/>
                    </a:lnTo>
                    <a:lnTo>
                      <a:pt x="159" y="1"/>
                    </a:lnTo>
                    <a:lnTo>
                      <a:pt x="167" y="0"/>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8" name="Freeform 98"/>
              <p:cNvSpPr/>
              <p:nvPr/>
            </p:nvSpPr>
            <p:spPr bwMode="auto">
              <a:xfrm>
                <a:off x="4384" y="2961"/>
                <a:ext cx="168" cy="27"/>
              </a:xfrm>
              <a:custGeom>
                <a:avLst/>
                <a:gdLst>
                  <a:gd name="T0" fmla="*/ 0 w 168"/>
                  <a:gd name="T1" fmla="*/ 15 h 27"/>
                  <a:gd name="T2" fmla="*/ 0 w 168"/>
                  <a:gd name="T3" fmla="*/ 19 h 27"/>
                  <a:gd name="T4" fmla="*/ 39 w 168"/>
                  <a:gd name="T5" fmla="*/ 18 h 27"/>
                  <a:gd name="T6" fmla="*/ 39 w 168"/>
                  <a:gd name="T7" fmla="*/ 26 h 27"/>
                  <a:gd name="T8" fmla="*/ 128 w 168"/>
                  <a:gd name="T9" fmla="*/ 23 h 27"/>
                  <a:gd name="T10" fmla="*/ 128 w 168"/>
                  <a:gd name="T11" fmla="*/ 16 h 27"/>
                  <a:gd name="T12" fmla="*/ 167 w 168"/>
                  <a:gd name="T13" fmla="*/ 14 h 27"/>
                  <a:gd name="T14" fmla="*/ 167 w 168"/>
                  <a:gd name="T15" fmla="*/ 8 h 27"/>
                  <a:gd name="T16" fmla="*/ 128 w 168"/>
                  <a:gd name="T17" fmla="*/ 10 h 27"/>
                  <a:gd name="T18" fmla="*/ 128 w 168"/>
                  <a:gd name="T19" fmla="*/ 0 h 27"/>
                  <a:gd name="T20" fmla="*/ 111 w 168"/>
                  <a:gd name="T21" fmla="*/ 1 h 27"/>
                  <a:gd name="T22" fmla="*/ 32 w 168"/>
                  <a:gd name="T23" fmla="*/ 13 h 27"/>
                  <a:gd name="T24" fmla="*/ 0 w 168"/>
                  <a:gd name="T2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27">
                    <a:moveTo>
                      <a:pt x="0" y="15"/>
                    </a:moveTo>
                    <a:lnTo>
                      <a:pt x="0" y="19"/>
                    </a:lnTo>
                    <a:lnTo>
                      <a:pt x="39" y="18"/>
                    </a:lnTo>
                    <a:lnTo>
                      <a:pt x="39" y="26"/>
                    </a:lnTo>
                    <a:lnTo>
                      <a:pt x="128" y="23"/>
                    </a:lnTo>
                    <a:lnTo>
                      <a:pt x="128" y="16"/>
                    </a:lnTo>
                    <a:lnTo>
                      <a:pt x="167" y="14"/>
                    </a:lnTo>
                    <a:lnTo>
                      <a:pt x="167" y="8"/>
                    </a:lnTo>
                    <a:lnTo>
                      <a:pt x="128" y="10"/>
                    </a:lnTo>
                    <a:lnTo>
                      <a:pt x="128" y="0"/>
                    </a:lnTo>
                    <a:lnTo>
                      <a:pt x="111" y="1"/>
                    </a:lnTo>
                    <a:lnTo>
                      <a:pt x="32" y="13"/>
                    </a:lnTo>
                    <a:lnTo>
                      <a:pt x="0" y="15"/>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9" name="Freeform 99"/>
              <p:cNvSpPr/>
              <p:nvPr/>
            </p:nvSpPr>
            <p:spPr bwMode="auto">
              <a:xfrm>
                <a:off x="4384" y="2920"/>
                <a:ext cx="168" cy="23"/>
              </a:xfrm>
              <a:custGeom>
                <a:avLst/>
                <a:gdLst>
                  <a:gd name="T0" fmla="*/ 167 w 168"/>
                  <a:gd name="T1" fmla="*/ 0 h 23"/>
                  <a:gd name="T2" fmla="*/ 167 w 168"/>
                  <a:gd name="T3" fmla="*/ 17 h 23"/>
                  <a:gd name="T4" fmla="*/ 0 w 168"/>
                  <a:gd name="T5" fmla="*/ 22 h 23"/>
                  <a:gd name="T6" fmla="*/ 0 w 168"/>
                  <a:gd name="T7" fmla="*/ 19 h 23"/>
                  <a:gd name="T8" fmla="*/ 158 w 168"/>
                  <a:gd name="T9" fmla="*/ 1 h 23"/>
                  <a:gd name="T10" fmla="*/ 167 w 168"/>
                  <a:gd name="T11" fmla="*/ 0 h 23"/>
                </a:gdLst>
                <a:ahLst/>
                <a:cxnLst>
                  <a:cxn ang="0">
                    <a:pos x="T0" y="T1"/>
                  </a:cxn>
                  <a:cxn ang="0">
                    <a:pos x="T2" y="T3"/>
                  </a:cxn>
                  <a:cxn ang="0">
                    <a:pos x="T4" y="T5"/>
                  </a:cxn>
                  <a:cxn ang="0">
                    <a:pos x="T6" y="T7"/>
                  </a:cxn>
                  <a:cxn ang="0">
                    <a:pos x="T8" y="T9"/>
                  </a:cxn>
                  <a:cxn ang="0">
                    <a:pos x="T10" y="T11"/>
                  </a:cxn>
                </a:cxnLst>
                <a:rect l="0" t="0" r="r" b="b"/>
                <a:pathLst>
                  <a:path w="168" h="23">
                    <a:moveTo>
                      <a:pt x="167" y="0"/>
                    </a:moveTo>
                    <a:lnTo>
                      <a:pt x="167" y="17"/>
                    </a:lnTo>
                    <a:lnTo>
                      <a:pt x="0" y="22"/>
                    </a:lnTo>
                    <a:lnTo>
                      <a:pt x="0" y="19"/>
                    </a:lnTo>
                    <a:lnTo>
                      <a:pt x="158" y="1"/>
                    </a:lnTo>
                    <a:lnTo>
                      <a:pt x="167" y="0"/>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0" name="Freeform 100"/>
              <p:cNvSpPr/>
              <p:nvPr/>
            </p:nvSpPr>
            <p:spPr bwMode="auto">
              <a:xfrm>
                <a:off x="4222" y="2888"/>
                <a:ext cx="340" cy="20"/>
              </a:xfrm>
              <a:custGeom>
                <a:avLst/>
                <a:gdLst>
                  <a:gd name="T0" fmla="*/ 0 w 340"/>
                  <a:gd name="T1" fmla="*/ 2 h 20"/>
                  <a:gd name="T2" fmla="*/ 151 w 340"/>
                  <a:gd name="T3" fmla="*/ 19 h 20"/>
                  <a:gd name="T4" fmla="*/ 339 w 340"/>
                  <a:gd name="T5" fmla="*/ 14 h 20"/>
                  <a:gd name="T6" fmla="*/ 181 w 340"/>
                  <a:gd name="T7" fmla="*/ 0 h 20"/>
                  <a:gd name="T8" fmla="*/ 0 w 340"/>
                  <a:gd name="T9" fmla="*/ 2 h 20"/>
                </a:gdLst>
                <a:ahLst/>
                <a:cxnLst>
                  <a:cxn ang="0">
                    <a:pos x="T0" y="T1"/>
                  </a:cxn>
                  <a:cxn ang="0">
                    <a:pos x="T2" y="T3"/>
                  </a:cxn>
                  <a:cxn ang="0">
                    <a:pos x="T4" y="T5"/>
                  </a:cxn>
                  <a:cxn ang="0">
                    <a:pos x="T6" y="T7"/>
                  </a:cxn>
                  <a:cxn ang="0">
                    <a:pos x="T8" y="T9"/>
                  </a:cxn>
                </a:cxnLst>
                <a:rect l="0" t="0" r="r" b="b"/>
                <a:pathLst>
                  <a:path w="340" h="20">
                    <a:moveTo>
                      <a:pt x="0" y="2"/>
                    </a:moveTo>
                    <a:lnTo>
                      <a:pt x="151" y="19"/>
                    </a:lnTo>
                    <a:lnTo>
                      <a:pt x="339" y="14"/>
                    </a:lnTo>
                    <a:lnTo>
                      <a:pt x="181" y="0"/>
                    </a:lnTo>
                    <a:lnTo>
                      <a:pt x="0" y="2"/>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1" name="Freeform 101"/>
              <p:cNvSpPr/>
              <p:nvPr/>
            </p:nvSpPr>
            <p:spPr bwMode="auto">
              <a:xfrm>
                <a:off x="4372" y="2903"/>
                <a:ext cx="190" cy="458"/>
              </a:xfrm>
              <a:custGeom>
                <a:avLst/>
                <a:gdLst>
                  <a:gd name="T0" fmla="*/ 0 w 190"/>
                  <a:gd name="T1" fmla="*/ 5 h 458"/>
                  <a:gd name="T2" fmla="*/ 0 w 190"/>
                  <a:gd name="T3" fmla="*/ 457 h 458"/>
                  <a:gd name="T4" fmla="*/ 189 w 190"/>
                  <a:gd name="T5" fmla="*/ 437 h 458"/>
                  <a:gd name="T6" fmla="*/ 189 w 190"/>
                  <a:gd name="T7" fmla="*/ 0 h 458"/>
                  <a:gd name="T8" fmla="*/ 0 w 190"/>
                  <a:gd name="T9" fmla="*/ 5 h 458"/>
                </a:gdLst>
                <a:ahLst/>
                <a:cxnLst>
                  <a:cxn ang="0">
                    <a:pos x="T0" y="T1"/>
                  </a:cxn>
                  <a:cxn ang="0">
                    <a:pos x="T2" y="T3"/>
                  </a:cxn>
                  <a:cxn ang="0">
                    <a:pos x="T4" y="T5"/>
                  </a:cxn>
                  <a:cxn ang="0">
                    <a:pos x="T6" y="T7"/>
                  </a:cxn>
                  <a:cxn ang="0">
                    <a:pos x="T8" y="T9"/>
                  </a:cxn>
                </a:cxnLst>
                <a:rect l="0" t="0" r="r" b="b"/>
                <a:pathLst>
                  <a:path w="190" h="458">
                    <a:moveTo>
                      <a:pt x="0" y="5"/>
                    </a:moveTo>
                    <a:lnTo>
                      <a:pt x="0" y="457"/>
                    </a:lnTo>
                    <a:lnTo>
                      <a:pt x="189" y="437"/>
                    </a:lnTo>
                    <a:lnTo>
                      <a:pt x="189" y="0"/>
                    </a:lnTo>
                    <a:lnTo>
                      <a:pt x="0" y="5"/>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2" name="Freeform 102"/>
              <p:cNvSpPr/>
              <p:nvPr/>
            </p:nvSpPr>
            <p:spPr bwMode="auto">
              <a:xfrm>
                <a:off x="4222" y="2889"/>
                <a:ext cx="151" cy="472"/>
              </a:xfrm>
              <a:custGeom>
                <a:avLst/>
                <a:gdLst>
                  <a:gd name="T0" fmla="*/ 0 w 151"/>
                  <a:gd name="T1" fmla="*/ 0 h 472"/>
                  <a:gd name="T2" fmla="*/ 0 w 151"/>
                  <a:gd name="T3" fmla="*/ 358 h 472"/>
                  <a:gd name="T4" fmla="*/ 150 w 151"/>
                  <a:gd name="T5" fmla="*/ 471 h 472"/>
                  <a:gd name="T6" fmla="*/ 150 w 151"/>
                  <a:gd name="T7" fmla="*/ 18 h 472"/>
                  <a:gd name="T8" fmla="*/ 0 w 151"/>
                  <a:gd name="T9" fmla="*/ 0 h 472"/>
                </a:gdLst>
                <a:ahLst/>
                <a:cxnLst>
                  <a:cxn ang="0">
                    <a:pos x="T0" y="T1"/>
                  </a:cxn>
                  <a:cxn ang="0">
                    <a:pos x="T2" y="T3"/>
                  </a:cxn>
                  <a:cxn ang="0">
                    <a:pos x="T4" y="T5"/>
                  </a:cxn>
                  <a:cxn ang="0">
                    <a:pos x="T6" y="T7"/>
                  </a:cxn>
                  <a:cxn ang="0">
                    <a:pos x="T8" y="T9"/>
                  </a:cxn>
                </a:cxnLst>
                <a:rect l="0" t="0" r="r" b="b"/>
                <a:pathLst>
                  <a:path w="151" h="472">
                    <a:moveTo>
                      <a:pt x="0" y="0"/>
                    </a:moveTo>
                    <a:lnTo>
                      <a:pt x="0" y="358"/>
                    </a:lnTo>
                    <a:lnTo>
                      <a:pt x="150" y="471"/>
                    </a:lnTo>
                    <a:lnTo>
                      <a:pt x="150" y="18"/>
                    </a:lnTo>
                    <a:lnTo>
                      <a:pt x="0" y="0"/>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3" name="Line 103"/>
              <p:cNvSpPr>
                <a:spLocks noChangeShapeType="1"/>
              </p:cNvSpPr>
              <p:nvPr/>
            </p:nvSpPr>
            <p:spPr bwMode="auto">
              <a:xfrm>
                <a:off x="4356" y="2906"/>
                <a:ext cx="0" cy="44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44" name="Freeform 104"/>
              <p:cNvSpPr/>
              <p:nvPr/>
            </p:nvSpPr>
            <p:spPr bwMode="auto">
              <a:xfrm>
                <a:off x="4356" y="2912"/>
                <a:ext cx="206" cy="17"/>
              </a:xfrm>
              <a:custGeom>
                <a:avLst/>
                <a:gdLst>
                  <a:gd name="T0" fmla="*/ 0 w 206"/>
                  <a:gd name="T1" fmla="*/ 9 h 17"/>
                  <a:gd name="T2" fmla="*/ 16 w 206"/>
                  <a:gd name="T3" fmla="*/ 16 h 17"/>
                  <a:gd name="T4" fmla="*/ 205 w 206"/>
                  <a:gd name="T5" fmla="*/ 0 h 17"/>
                </a:gdLst>
                <a:ahLst/>
                <a:cxnLst>
                  <a:cxn ang="0">
                    <a:pos x="T0" y="T1"/>
                  </a:cxn>
                  <a:cxn ang="0">
                    <a:pos x="T2" y="T3"/>
                  </a:cxn>
                  <a:cxn ang="0">
                    <a:pos x="T4" y="T5"/>
                  </a:cxn>
                </a:cxnLst>
                <a:rect l="0" t="0" r="r" b="b"/>
                <a:pathLst>
                  <a:path w="206" h="17">
                    <a:moveTo>
                      <a:pt x="0" y="9"/>
                    </a:moveTo>
                    <a:lnTo>
                      <a:pt x="16" y="16"/>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5" name="Freeform 105"/>
              <p:cNvSpPr/>
              <p:nvPr/>
            </p:nvSpPr>
            <p:spPr bwMode="auto">
              <a:xfrm>
                <a:off x="4356" y="2945"/>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6" name="Freeform 106"/>
              <p:cNvSpPr/>
              <p:nvPr/>
            </p:nvSpPr>
            <p:spPr bwMode="auto">
              <a:xfrm>
                <a:off x="4384" y="2920"/>
                <a:ext cx="168" cy="23"/>
              </a:xfrm>
              <a:custGeom>
                <a:avLst/>
                <a:gdLst>
                  <a:gd name="T0" fmla="*/ 0 w 168"/>
                  <a:gd name="T1" fmla="*/ 5 h 23"/>
                  <a:gd name="T2" fmla="*/ 0 w 168"/>
                  <a:gd name="T3" fmla="*/ 22 h 23"/>
                  <a:gd name="T4" fmla="*/ 167 w 168"/>
                  <a:gd name="T5" fmla="*/ 17 h 23"/>
                  <a:gd name="T6" fmla="*/ 167 w 168"/>
                  <a:gd name="T7" fmla="*/ 0 h 23"/>
                  <a:gd name="T8" fmla="*/ 0 w 168"/>
                  <a:gd name="T9" fmla="*/ 5 h 23"/>
                </a:gdLst>
                <a:ahLst/>
                <a:cxnLst>
                  <a:cxn ang="0">
                    <a:pos x="T0" y="T1"/>
                  </a:cxn>
                  <a:cxn ang="0">
                    <a:pos x="T2" y="T3"/>
                  </a:cxn>
                  <a:cxn ang="0">
                    <a:pos x="T4" y="T5"/>
                  </a:cxn>
                  <a:cxn ang="0">
                    <a:pos x="T6" y="T7"/>
                  </a:cxn>
                  <a:cxn ang="0">
                    <a:pos x="T8" y="T9"/>
                  </a:cxn>
                </a:cxnLst>
                <a:rect l="0" t="0" r="r" b="b"/>
                <a:pathLst>
                  <a:path w="168" h="23">
                    <a:moveTo>
                      <a:pt x="0" y="5"/>
                    </a:moveTo>
                    <a:lnTo>
                      <a:pt x="0" y="22"/>
                    </a:lnTo>
                    <a:lnTo>
                      <a:pt x="167" y="17"/>
                    </a:lnTo>
                    <a:lnTo>
                      <a:pt x="167" y="0"/>
                    </a:lnTo>
                    <a:lnTo>
                      <a:pt x="0" y="5"/>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7" name="Freeform 107"/>
              <p:cNvSpPr/>
              <p:nvPr/>
            </p:nvSpPr>
            <p:spPr bwMode="auto">
              <a:xfrm>
                <a:off x="4356" y="2955"/>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8" name="Freeform 108"/>
              <p:cNvSpPr/>
              <p:nvPr/>
            </p:nvSpPr>
            <p:spPr bwMode="auto">
              <a:xfrm>
                <a:off x="4356" y="2986"/>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9" name="Freeform 109"/>
              <p:cNvSpPr/>
              <p:nvPr/>
            </p:nvSpPr>
            <p:spPr bwMode="auto">
              <a:xfrm>
                <a:off x="4356" y="3111"/>
                <a:ext cx="206" cy="17"/>
              </a:xfrm>
              <a:custGeom>
                <a:avLst/>
                <a:gdLst>
                  <a:gd name="T0" fmla="*/ 205 w 206"/>
                  <a:gd name="T1" fmla="*/ 0 h 17"/>
                  <a:gd name="T2" fmla="*/ 16 w 206"/>
                  <a:gd name="T3" fmla="*/ 16 h 17"/>
                  <a:gd name="T4" fmla="*/ 0 w 206"/>
                  <a:gd name="T5" fmla="*/ 7 h 17"/>
                </a:gdLst>
                <a:ahLst/>
                <a:cxnLst>
                  <a:cxn ang="0">
                    <a:pos x="T0" y="T1"/>
                  </a:cxn>
                  <a:cxn ang="0">
                    <a:pos x="T2" y="T3"/>
                  </a:cxn>
                  <a:cxn ang="0">
                    <a:pos x="T4" y="T5"/>
                  </a:cxn>
                </a:cxnLst>
                <a:rect l="0" t="0" r="r" b="b"/>
                <a:pathLst>
                  <a:path w="206" h="17">
                    <a:moveTo>
                      <a:pt x="205" y="0"/>
                    </a:moveTo>
                    <a:lnTo>
                      <a:pt x="16" y="16"/>
                    </a:lnTo>
                    <a:lnTo>
                      <a:pt x="0" y="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50" name="Line 110"/>
              <p:cNvSpPr>
                <a:spLocks noChangeShapeType="1"/>
              </p:cNvSpPr>
              <p:nvPr/>
            </p:nvSpPr>
            <p:spPr bwMode="auto">
              <a:xfrm>
                <a:off x="4384" y="2993"/>
                <a:ext cx="0" cy="12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51" name="Line 111"/>
              <p:cNvSpPr>
                <a:spLocks noChangeShapeType="1"/>
              </p:cNvSpPr>
              <p:nvPr/>
            </p:nvSpPr>
            <p:spPr bwMode="auto">
              <a:xfrm>
                <a:off x="4551" y="2987"/>
                <a:ext cx="0" cy="12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52" name="Freeform 112"/>
              <p:cNvSpPr/>
              <p:nvPr/>
            </p:nvSpPr>
            <p:spPr bwMode="auto">
              <a:xfrm>
                <a:off x="4384" y="2987"/>
                <a:ext cx="160" cy="130"/>
              </a:xfrm>
              <a:custGeom>
                <a:avLst/>
                <a:gdLst>
                  <a:gd name="T0" fmla="*/ 159 w 160"/>
                  <a:gd name="T1" fmla="*/ 0 h 130"/>
                  <a:gd name="T2" fmla="*/ 159 w 160"/>
                  <a:gd name="T3" fmla="*/ 121 h 130"/>
                  <a:gd name="T4" fmla="*/ 0 w 160"/>
                  <a:gd name="T5" fmla="*/ 129 h 130"/>
                </a:gdLst>
                <a:ahLst/>
                <a:cxnLst>
                  <a:cxn ang="0">
                    <a:pos x="T0" y="T1"/>
                  </a:cxn>
                  <a:cxn ang="0">
                    <a:pos x="T2" y="T3"/>
                  </a:cxn>
                  <a:cxn ang="0">
                    <a:pos x="T4" y="T5"/>
                  </a:cxn>
                </a:cxnLst>
                <a:rect l="0" t="0" r="r" b="b"/>
                <a:pathLst>
                  <a:path w="160" h="130">
                    <a:moveTo>
                      <a:pt x="159" y="0"/>
                    </a:moveTo>
                    <a:lnTo>
                      <a:pt x="159" y="121"/>
                    </a:lnTo>
                    <a:lnTo>
                      <a:pt x="0" y="12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53" name="Line 113"/>
              <p:cNvSpPr>
                <a:spLocks noChangeShapeType="1"/>
              </p:cNvSpPr>
              <p:nvPr/>
            </p:nvSpPr>
            <p:spPr bwMode="auto">
              <a:xfrm>
                <a:off x="4543" y="3108"/>
                <a:ext cx="8" cy="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54" name="Line 114"/>
              <p:cNvSpPr>
                <a:spLocks noChangeShapeType="1"/>
              </p:cNvSpPr>
              <p:nvPr/>
            </p:nvSpPr>
            <p:spPr bwMode="auto">
              <a:xfrm flipH="1">
                <a:off x="4384" y="3028"/>
                <a:ext cx="159" cy="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55" name="Line 115"/>
              <p:cNvSpPr>
                <a:spLocks noChangeShapeType="1"/>
              </p:cNvSpPr>
              <p:nvPr/>
            </p:nvSpPr>
            <p:spPr bwMode="auto">
              <a:xfrm flipH="1">
                <a:off x="4384" y="3070"/>
                <a:ext cx="159" cy="9"/>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56" name="Freeform 116"/>
              <p:cNvSpPr/>
              <p:nvPr/>
            </p:nvSpPr>
            <p:spPr bwMode="auto">
              <a:xfrm>
                <a:off x="4356" y="3144"/>
                <a:ext cx="206" cy="17"/>
              </a:xfrm>
              <a:custGeom>
                <a:avLst/>
                <a:gdLst>
                  <a:gd name="T0" fmla="*/ 0 w 206"/>
                  <a:gd name="T1" fmla="*/ 3 h 17"/>
                  <a:gd name="T2" fmla="*/ 16 w 206"/>
                  <a:gd name="T3" fmla="*/ 16 h 17"/>
                  <a:gd name="T4" fmla="*/ 205 w 206"/>
                  <a:gd name="T5" fmla="*/ 0 h 17"/>
                </a:gdLst>
                <a:ahLst/>
                <a:cxnLst>
                  <a:cxn ang="0">
                    <a:pos x="T0" y="T1"/>
                  </a:cxn>
                  <a:cxn ang="0">
                    <a:pos x="T2" y="T3"/>
                  </a:cxn>
                  <a:cxn ang="0">
                    <a:pos x="T4" y="T5"/>
                  </a:cxn>
                </a:cxnLst>
                <a:rect l="0" t="0" r="r" b="b"/>
                <a:pathLst>
                  <a:path w="206" h="17">
                    <a:moveTo>
                      <a:pt x="0" y="3"/>
                    </a:moveTo>
                    <a:lnTo>
                      <a:pt x="16" y="16"/>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57" name="Freeform 117"/>
              <p:cNvSpPr/>
              <p:nvPr/>
            </p:nvSpPr>
            <p:spPr bwMode="auto">
              <a:xfrm>
                <a:off x="4356" y="3320"/>
                <a:ext cx="206" cy="21"/>
              </a:xfrm>
              <a:custGeom>
                <a:avLst/>
                <a:gdLst>
                  <a:gd name="T0" fmla="*/ 0 w 206"/>
                  <a:gd name="T1" fmla="*/ 7 h 21"/>
                  <a:gd name="T2" fmla="*/ 16 w 206"/>
                  <a:gd name="T3" fmla="*/ 20 h 21"/>
                  <a:gd name="T4" fmla="*/ 205 w 206"/>
                  <a:gd name="T5" fmla="*/ 0 h 21"/>
                </a:gdLst>
                <a:ahLst/>
                <a:cxnLst>
                  <a:cxn ang="0">
                    <a:pos x="T0" y="T1"/>
                  </a:cxn>
                  <a:cxn ang="0">
                    <a:pos x="T2" y="T3"/>
                  </a:cxn>
                  <a:cxn ang="0">
                    <a:pos x="T4" y="T5"/>
                  </a:cxn>
                </a:cxnLst>
                <a:rect l="0" t="0" r="r" b="b"/>
                <a:pathLst>
                  <a:path w="206" h="21">
                    <a:moveTo>
                      <a:pt x="0" y="7"/>
                    </a:moveTo>
                    <a:lnTo>
                      <a:pt x="16" y="20"/>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58" name="Line 118"/>
              <p:cNvSpPr>
                <a:spLocks noChangeShapeType="1"/>
              </p:cNvSpPr>
              <p:nvPr/>
            </p:nvSpPr>
            <p:spPr bwMode="auto">
              <a:xfrm>
                <a:off x="4384" y="3154"/>
                <a:ext cx="0" cy="18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59" name="Line 119"/>
              <p:cNvSpPr>
                <a:spLocks noChangeShapeType="1"/>
              </p:cNvSpPr>
              <p:nvPr/>
            </p:nvSpPr>
            <p:spPr bwMode="auto">
              <a:xfrm>
                <a:off x="4551" y="3144"/>
                <a:ext cx="0" cy="17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60" name="Freeform 120"/>
              <p:cNvSpPr/>
              <p:nvPr/>
            </p:nvSpPr>
            <p:spPr bwMode="auto">
              <a:xfrm>
                <a:off x="4384" y="3308"/>
                <a:ext cx="168" cy="21"/>
              </a:xfrm>
              <a:custGeom>
                <a:avLst/>
                <a:gdLst>
                  <a:gd name="T0" fmla="*/ 0 w 168"/>
                  <a:gd name="T1" fmla="*/ 20 h 21"/>
                  <a:gd name="T2" fmla="*/ 167 w 168"/>
                  <a:gd name="T3" fmla="*/ 4 h 21"/>
                  <a:gd name="T4" fmla="*/ 167 w 168"/>
                  <a:gd name="T5" fmla="*/ 0 h 21"/>
                  <a:gd name="T6" fmla="*/ 0 w 168"/>
                  <a:gd name="T7" fmla="*/ 17 h 21"/>
                  <a:gd name="T8" fmla="*/ 0 w 168"/>
                  <a:gd name="T9" fmla="*/ 20 h 21"/>
                </a:gdLst>
                <a:ahLst/>
                <a:cxnLst>
                  <a:cxn ang="0">
                    <a:pos x="T0" y="T1"/>
                  </a:cxn>
                  <a:cxn ang="0">
                    <a:pos x="T2" y="T3"/>
                  </a:cxn>
                  <a:cxn ang="0">
                    <a:pos x="T4" y="T5"/>
                  </a:cxn>
                  <a:cxn ang="0">
                    <a:pos x="T6" y="T7"/>
                  </a:cxn>
                  <a:cxn ang="0">
                    <a:pos x="T8" y="T9"/>
                  </a:cxn>
                </a:cxnLst>
                <a:rect l="0" t="0" r="r" b="b"/>
                <a:pathLst>
                  <a:path w="168" h="21">
                    <a:moveTo>
                      <a:pt x="0" y="20"/>
                    </a:moveTo>
                    <a:lnTo>
                      <a:pt x="167" y="4"/>
                    </a:lnTo>
                    <a:lnTo>
                      <a:pt x="167" y="0"/>
                    </a:lnTo>
                    <a:lnTo>
                      <a:pt x="0" y="17"/>
                    </a:lnTo>
                    <a:lnTo>
                      <a:pt x="0" y="2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61" name="Freeform 121"/>
              <p:cNvSpPr/>
              <p:nvPr/>
            </p:nvSpPr>
            <p:spPr bwMode="auto">
              <a:xfrm>
                <a:off x="4384" y="3300"/>
                <a:ext cx="168" cy="21"/>
              </a:xfrm>
              <a:custGeom>
                <a:avLst/>
                <a:gdLst>
                  <a:gd name="T0" fmla="*/ 0 w 168"/>
                  <a:gd name="T1" fmla="*/ 20 h 21"/>
                  <a:gd name="T2" fmla="*/ 167 w 168"/>
                  <a:gd name="T3" fmla="*/ 3 h 21"/>
                  <a:gd name="T4" fmla="*/ 167 w 168"/>
                  <a:gd name="T5" fmla="*/ 0 h 21"/>
                  <a:gd name="T6" fmla="*/ 0 w 168"/>
                  <a:gd name="T7" fmla="*/ 16 h 21"/>
                  <a:gd name="T8" fmla="*/ 0 w 168"/>
                  <a:gd name="T9" fmla="*/ 20 h 21"/>
                </a:gdLst>
                <a:ahLst/>
                <a:cxnLst>
                  <a:cxn ang="0">
                    <a:pos x="T0" y="T1"/>
                  </a:cxn>
                  <a:cxn ang="0">
                    <a:pos x="T2" y="T3"/>
                  </a:cxn>
                  <a:cxn ang="0">
                    <a:pos x="T4" y="T5"/>
                  </a:cxn>
                  <a:cxn ang="0">
                    <a:pos x="T6" y="T7"/>
                  </a:cxn>
                  <a:cxn ang="0">
                    <a:pos x="T8" y="T9"/>
                  </a:cxn>
                </a:cxnLst>
                <a:rect l="0" t="0" r="r" b="b"/>
                <a:pathLst>
                  <a:path w="168" h="21">
                    <a:moveTo>
                      <a:pt x="0" y="20"/>
                    </a:moveTo>
                    <a:lnTo>
                      <a:pt x="167" y="3"/>
                    </a:lnTo>
                    <a:lnTo>
                      <a:pt x="167" y="0"/>
                    </a:lnTo>
                    <a:lnTo>
                      <a:pt x="0" y="16"/>
                    </a:lnTo>
                    <a:lnTo>
                      <a:pt x="0" y="2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62" name="Freeform 122"/>
              <p:cNvSpPr/>
              <p:nvPr/>
            </p:nvSpPr>
            <p:spPr bwMode="auto">
              <a:xfrm>
                <a:off x="4384" y="3293"/>
                <a:ext cx="168" cy="20"/>
              </a:xfrm>
              <a:custGeom>
                <a:avLst/>
                <a:gdLst>
                  <a:gd name="T0" fmla="*/ 167 w 168"/>
                  <a:gd name="T1" fmla="*/ 3 h 20"/>
                  <a:gd name="T2" fmla="*/ 0 w 168"/>
                  <a:gd name="T3" fmla="*/ 19 h 20"/>
                  <a:gd name="T4" fmla="*/ 0 w 168"/>
                  <a:gd name="T5" fmla="*/ 15 h 20"/>
                  <a:gd name="T6" fmla="*/ 167 w 168"/>
                  <a:gd name="T7" fmla="*/ 0 h 20"/>
                  <a:gd name="T8" fmla="*/ 167 w 168"/>
                  <a:gd name="T9" fmla="*/ 3 h 20"/>
                </a:gdLst>
                <a:ahLst/>
                <a:cxnLst>
                  <a:cxn ang="0">
                    <a:pos x="T0" y="T1"/>
                  </a:cxn>
                  <a:cxn ang="0">
                    <a:pos x="T2" y="T3"/>
                  </a:cxn>
                  <a:cxn ang="0">
                    <a:pos x="T4" y="T5"/>
                  </a:cxn>
                  <a:cxn ang="0">
                    <a:pos x="T6" y="T7"/>
                  </a:cxn>
                  <a:cxn ang="0">
                    <a:pos x="T8" y="T9"/>
                  </a:cxn>
                </a:cxnLst>
                <a:rect l="0" t="0" r="r" b="b"/>
                <a:pathLst>
                  <a:path w="168" h="20">
                    <a:moveTo>
                      <a:pt x="167" y="3"/>
                    </a:moveTo>
                    <a:lnTo>
                      <a:pt x="0" y="19"/>
                    </a:lnTo>
                    <a:lnTo>
                      <a:pt x="0" y="15"/>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63" name="Freeform 123"/>
              <p:cNvSpPr/>
              <p:nvPr/>
            </p:nvSpPr>
            <p:spPr bwMode="auto">
              <a:xfrm>
                <a:off x="4384" y="3285"/>
                <a:ext cx="168" cy="18"/>
              </a:xfrm>
              <a:custGeom>
                <a:avLst/>
                <a:gdLst>
                  <a:gd name="T0" fmla="*/ 167 w 168"/>
                  <a:gd name="T1" fmla="*/ 3 h 18"/>
                  <a:gd name="T2" fmla="*/ 0 w 168"/>
                  <a:gd name="T3" fmla="*/ 17 h 18"/>
                  <a:gd name="T4" fmla="*/ 0 w 168"/>
                  <a:gd name="T5" fmla="*/ 14 h 18"/>
                  <a:gd name="T6" fmla="*/ 167 w 168"/>
                  <a:gd name="T7" fmla="*/ 0 h 18"/>
                  <a:gd name="T8" fmla="*/ 167 w 168"/>
                  <a:gd name="T9" fmla="*/ 3 h 18"/>
                </a:gdLst>
                <a:ahLst/>
                <a:cxnLst>
                  <a:cxn ang="0">
                    <a:pos x="T0" y="T1"/>
                  </a:cxn>
                  <a:cxn ang="0">
                    <a:pos x="T2" y="T3"/>
                  </a:cxn>
                  <a:cxn ang="0">
                    <a:pos x="T4" y="T5"/>
                  </a:cxn>
                  <a:cxn ang="0">
                    <a:pos x="T6" y="T7"/>
                  </a:cxn>
                  <a:cxn ang="0">
                    <a:pos x="T8" y="T9"/>
                  </a:cxn>
                </a:cxnLst>
                <a:rect l="0" t="0" r="r" b="b"/>
                <a:pathLst>
                  <a:path w="168" h="18">
                    <a:moveTo>
                      <a:pt x="167" y="3"/>
                    </a:moveTo>
                    <a:lnTo>
                      <a:pt x="0" y="17"/>
                    </a:lnTo>
                    <a:lnTo>
                      <a:pt x="0" y="14"/>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64" name="Freeform 124"/>
              <p:cNvSpPr/>
              <p:nvPr/>
            </p:nvSpPr>
            <p:spPr bwMode="auto">
              <a:xfrm>
                <a:off x="4384" y="3276"/>
                <a:ext cx="168" cy="19"/>
              </a:xfrm>
              <a:custGeom>
                <a:avLst/>
                <a:gdLst>
                  <a:gd name="T0" fmla="*/ 167 w 168"/>
                  <a:gd name="T1" fmla="*/ 3 h 19"/>
                  <a:gd name="T2" fmla="*/ 0 w 168"/>
                  <a:gd name="T3" fmla="*/ 18 h 19"/>
                  <a:gd name="T4" fmla="*/ 0 w 168"/>
                  <a:gd name="T5" fmla="*/ 14 h 19"/>
                  <a:gd name="T6" fmla="*/ 167 w 168"/>
                  <a:gd name="T7" fmla="*/ 0 h 19"/>
                  <a:gd name="T8" fmla="*/ 167 w 168"/>
                  <a:gd name="T9" fmla="*/ 3 h 19"/>
                </a:gdLst>
                <a:ahLst/>
                <a:cxnLst>
                  <a:cxn ang="0">
                    <a:pos x="T0" y="T1"/>
                  </a:cxn>
                  <a:cxn ang="0">
                    <a:pos x="T2" y="T3"/>
                  </a:cxn>
                  <a:cxn ang="0">
                    <a:pos x="T4" y="T5"/>
                  </a:cxn>
                  <a:cxn ang="0">
                    <a:pos x="T6" y="T7"/>
                  </a:cxn>
                  <a:cxn ang="0">
                    <a:pos x="T8" y="T9"/>
                  </a:cxn>
                </a:cxnLst>
                <a:rect l="0" t="0" r="r" b="b"/>
                <a:pathLst>
                  <a:path w="168" h="19">
                    <a:moveTo>
                      <a:pt x="167" y="3"/>
                    </a:moveTo>
                    <a:lnTo>
                      <a:pt x="0" y="18"/>
                    </a:lnTo>
                    <a:lnTo>
                      <a:pt x="0" y="14"/>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65" name="Freeform 125"/>
              <p:cNvSpPr/>
              <p:nvPr/>
            </p:nvSpPr>
            <p:spPr bwMode="auto">
              <a:xfrm>
                <a:off x="4384" y="2921"/>
                <a:ext cx="160" cy="21"/>
              </a:xfrm>
              <a:custGeom>
                <a:avLst/>
                <a:gdLst>
                  <a:gd name="T0" fmla="*/ 159 w 160"/>
                  <a:gd name="T1" fmla="*/ 0 h 21"/>
                  <a:gd name="T2" fmla="*/ 159 w 160"/>
                  <a:gd name="T3" fmla="*/ 15 h 21"/>
                  <a:gd name="T4" fmla="*/ 0 w 160"/>
                  <a:gd name="T5" fmla="*/ 20 h 21"/>
                  <a:gd name="T6" fmla="*/ 1 w 160"/>
                  <a:gd name="T7" fmla="*/ 5 h 21"/>
                  <a:gd name="T8" fmla="*/ 159 w 160"/>
                  <a:gd name="T9" fmla="*/ 0 h 21"/>
                </a:gdLst>
                <a:ahLst/>
                <a:cxnLst>
                  <a:cxn ang="0">
                    <a:pos x="T0" y="T1"/>
                  </a:cxn>
                  <a:cxn ang="0">
                    <a:pos x="T2" y="T3"/>
                  </a:cxn>
                  <a:cxn ang="0">
                    <a:pos x="T4" y="T5"/>
                  </a:cxn>
                  <a:cxn ang="0">
                    <a:pos x="T6" y="T7"/>
                  </a:cxn>
                  <a:cxn ang="0">
                    <a:pos x="T8" y="T9"/>
                  </a:cxn>
                </a:cxnLst>
                <a:rect l="0" t="0" r="r" b="b"/>
                <a:pathLst>
                  <a:path w="160" h="21">
                    <a:moveTo>
                      <a:pt x="159" y="0"/>
                    </a:moveTo>
                    <a:lnTo>
                      <a:pt x="159" y="15"/>
                    </a:lnTo>
                    <a:lnTo>
                      <a:pt x="0" y="20"/>
                    </a:lnTo>
                    <a:lnTo>
                      <a:pt x="1" y="5"/>
                    </a:lnTo>
                    <a:lnTo>
                      <a:pt x="159" y="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66" name="Line 126"/>
              <p:cNvSpPr>
                <a:spLocks noChangeShapeType="1"/>
              </p:cNvSpPr>
              <p:nvPr/>
            </p:nvSpPr>
            <p:spPr bwMode="auto">
              <a:xfrm>
                <a:off x="4543" y="2936"/>
                <a:ext cx="8" cy="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67" name="Freeform 127"/>
              <p:cNvSpPr/>
              <p:nvPr/>
            </p:nvSpPr>
            <p:spPr bwMode="auto">
              <a:xfrm>
                <a:off x="4423" y="2961"/>
                <a:ext cx="90" cy="27"/>
              </a:xfrm>
              <a:custGeom>
                <a:avLst/>
                <a:gdLst>
                  <a:gd name="T0" fmla="*/ 0 w 90"/>
                  <a:gd name="T1" fmla="*/ 26 h 27"/>
                  <a:gd name="T2" fmla="*/ 0 w 90"/>
                  <a:gd name="T3" fmla="*/ 3 h 27"/>
                  <a:gd name="T4" fmla="*/ 89 w 90"/>
                  <a:gd name="T5" fmla="*/ 0 h 27"/>
                  <a:gd name="T6" fmla="*/ 89 w 90"/>
                  <a:gd name="T7" fmla="*/ 23 h 27"/>
                  <a:gd name="T8" fmla="*/ 0 w 90"/>
                  <a:gd name="T9" fmla="*/ 26 h 27"/>
                </a:gdLst>
                <a:ahLst/>
                <a:cxnLst>
                  <a:cxn ang="0">
                    <a:pos x="T0" y="T1"/>
                  </a:cxn>
                  <a:cxn ang="0">
                    <a:pos x="T2" y="T3"/>
                  </a:cxn>
                  <a:cxn ang="0">
                    <a:pos x="T4" y="T5"/>
                  </a:cxn>
                  <a:cxn ang="0">
                    <a:pos x="T6" y="T7"/>
                  </a:cxn>
                  <a:cxn ang="0">
                    <a:pos x="T8" y="T9"/>
                  </a:cxn>
                </a:cxnLst>
                <a:rect l="0" t="0" r="r" b="b"/>
                <a:pathLst>
                  <a:path w="90" h="27">
                    <a:moveTo>
                      <a:pt x="0" y="26"/>
                    </a:moveTo>
                    <a:lnTo>
                      <a:pt x="0" y="3"/>
                    </a:lnTo>
                    <a:lnTo>
                      <a:pt x="89" y="0"/>
                    </a:lnTo>
                    <a:lnTo>
                      <a:pt x="89" y="23"/>
                    </a:lnTo>
                    <a:lnTo>
                      <a:pt x="0" y="26"/>
                    </a:lnTo>
                  </a:path>
                </a:pathLst>
              </a:custGeom>
              <a:noFill/>
              <a:ln w="12700" cap="rnd" cmpd="sng">
                <a:solidFill>
                  <a:srgbClr val="51515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68" name="Freeform 128"/>
              <p:cNvSpPr/>
              <p:nvPr/>
            </p:nvSpPr>
            <p:spPr bwMode="auto">
              <a:xfrm>
                <a:off x="4384" y="2961"/>
                <a:ext cx="168" cy="24"/>
              </a:xfrm>
              <a:custGeom>
                <a:avLst/>
                <a:gdLst>
                  <a:gd name="T0" fmla="*/ 113 w 168"/>
                  <a:gd name="T1" fmla="*/ 8 h 24"/>
                  <a:gd name="T2" fmla="*/ 167 w 168"/>
                  <a:gd name="T3" fmla="*/ 6 h 24"/>
                  <a:gd name="T4" fmla="*/ 167 w 168"/>
                  <a:gd name="T5" fmla="*/ 14 h 24"/>
                  <a:gd name="T6" fmla="*/ 159 w 168"/>
                  <a:gd name="T7" fmla="*/ 13 h 24"/>
                  <a:gd name="T8" fmla="*/ 113 w 168"/>
                  <a:gd name="T9" fmla="*/ 14 h 24"/>
                  <a:gd name="T10" fmla="*/ 113 w 168"/>
                  <a:gd name="T11" fmla="*/ 20 h 24"/>
                  <a:gd name="T12" fmla="*/ 39 w 168"/>
                  <a:gd name="T13" fmla="*/ 23 h 24"/>
                  <a:gd name="T14" fmla="*/ 39 w 168"/>
                  <a:gd name="T15" fmla="*/ 18 h 24"/>
                  <a:gd name="T16" fmla="*/ 32 w 168"/>
                  <a:gd name="T17" fmla="*/ 17 h 24"/>
                  <a:gd name="T18" fmla="*/ 0 w 168"/>
                  <a:gd name="T19" fmla="*/ 18 h 24"/>
                  <a:gd name="T20" fmla="*/ 0 w 168"/>
                  <a:gd name="T21" fmla="*/ 12 h 24"/>
                  <a:gd name="T22" fmla="*/ 39 w 168"/>
                  <a:gd name="T23" fmla="*/ 10 h 24"/>
                  <a:gd name="T24" fmla="*/ 39 w 168"/>
                  <a:gd name="T25" fmla="*/ 3 h 24"/>
                  <a:gd name="T26" fmla="*/ 128 w 168"/>
                  <a:gd name="T27" fmla="*/ 0 h 24"/>
                  <a:gd name="T28" fmla="*/ 113 w 168"/>
                  <a:gd name="T2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8" h="24">
                    <a:moveTo>
                      <a:pt x="113" y="8"/>
                    </a:moveTo>
                    <a:lnTo>
                      <a:pt x="167" y="6"/>
                    </a:lnTo>
                    <a:lnTo>
                      <a:pt x="167" y="14"/>
                    </a:lnTo>
                    <a:lnTo>
                      <a:pt x="159" y="13"/>
                    </a:lnTo>
                    <a:lnTo>
                      <a:pt x="113" y="14"/>
                    </a:lnTo>
                    <a:lnTo>
                      <a:pt x="113" y="20"/>
                    </a:lnTo>
                    <a:lnTo>
                      <a:pt x="39" y="23"/>
                    </a:lnTo>
                    <a:lnTo>
                      <a:pt x="39" y="18"/>
                    </a:lnTo>
                    <a:lnTo>
                      <a:pt x="32" y="17"/>
                    </a:lnTo>
                    <a:lnTo>
                      <a:pt x="0" y="18"/>
                    </a:lnTo>
                    <a:lnTo>
                      <a:pt x="0" y="12"/>
                    </a:lnTo>
                    <a:lnTo>
                      <a:pt x="39" y="10"/>
                    </a:lnTo>
                    <a:lnTo>
                      <a:pt x="39" y="3"/>
                    </a:lnTo>
                    <a:lnTo>
                      <a:pt x="128" y="0"/>
                    </a:lnTo>
                    <a:lnTo>
                      <a:pt x="113" y="8"/>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69" name="Freeform 129"/>
              <p:cNvSpPr/>
              <p:nvPr/>
            </p:nvSpPr>
            <p:spPr bwMode="auto">
              <a:xfrm>
                <a:off x="4384" y="2972"/>
                <a:ext cx="129" cy="17"/>
              </a:xfrm>
              <a:custGeom>
                <a:avLst/>
                <a:gdLst>
                  <a:gd name="T0" fmla="*/ 0 w 129"/>
                  <a:gd name="T1" fmla="*/ 0 h 17"/>
                  <a:gd name="T2" fmla="*/ 0 w 129"/>
                  <a:gd name="T3" fmla="*/ 8 h 17"/>
                  <a:gd name="T4" fmla="*/ 38 w 129"/>
                  <a:gd name="T5" fmla="*/ 7 h 17"/>
                  <a:gd name="T6" fmla="*/ 38 w 129"/>
                  <a:gd name="T7" fmla="*/ 16 h 17"/>
                  <a:gd name="T8" fmla="*/ 128 w 129"/>
                  <a:gd name="T9" fmla="*/ 12 h 17"/>
                  <a:gd name="T10" fmla="*/ 128 w 129"/>
                  <a:gd name="T11" fmla="*/ 4 h 17"/>
                  <a:gd name="T12" fmla="*/ 112 w 129"/>
                  <a:gd name="T13" fmla="*/ 2 h 17"/>
                </a:gdLst>
                <a:ahLst/>
                <a:cxnLst>
                  <a:cxn ang="0">
                    <a:pos x="T0" y="T1"/>
                  </a:cxn>
                  <a:cxn ang="0">
                    <a:pos x="T2" y="T3"/>
                  </a:cxn>
                  <a:cxn ang="0">
                    <a:pos x="T4" y="T5"/>
                  </a:cxn>
                  <a:cxn ang="0">
                    <a:pos x="T6" y="T7"/>
                  </a:cxn>
                  <a:cxn ang="0">
                    <a:pos x="T8" y="T9"/>
                  </a:cxn>
                  <a:cxn ang="0">
                    <a:pos x="T10" y="T11"/>
                  </a:cxn>
                  <a:cxn ang="0">
                    <a:pos x="T12" y="T13"/>
                  </a:cxn>
                </a:cxnLst>
                <a:rect l="0" t="0" r="r" b="b"/>
                <a:pathLst>
                  <a:path w="129" h="17">
                    <a:moveTo>
                      <a:pt x="0" y="0"/>
                    </a:moveTo>
                    <a:lnTo>
                      <a:pt x="0" y="8"/>
                    </a:lnTo>
                    <a:lnTo>
                      <a:pt x="38" y="7"/>
                    </a:lnTo>
                    <a:lnTo>
                      <a:pt x="38" y="16"/>
                    </a:lnTo>
                    <a:lnTo>
                      <a:pt x="128" y="12"/>
                    </a:lnTo>
                    <a:lnTo>
                      <a:pt x="128" y="4"/>
                    </a:lnTo>
                    <a:lnTo>
                      <a:pt x="112" y="2"/>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70" name="Line 130"/>
              <p:cNvSpPr>
                <a:spLocks noChangeShapeType="1"/>
              </p:cNvSpPr>
              <p:nvPr/>
            </p:nvSpPr>
            <p:spPr bwMode="auto">
              <a:xfrm flipH="1">
                <a:off x="4512" y="2974"/>
                <a:ext cx="39" cy="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71" name="Line 131"/>
              <p:cNvSpPr>
                <a:spLocks noChangeShapeType="1"/>
              </p:cNvSpPr>
              <p:nvPr/>
            </p:nvSpPr>
            <p:spPr bwMode="auto">
              <a:xfrm>
                <a:off x="4512" y="2961"/>
                <a:ext cx="0" cy="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72" name="Freeform 132"/>
              <p:cNvSpPr/>
              <p:nvPr/>
            </p:nvSpPr>
            <p:spPr bwMode="auto">
              <a:xfrm>
                <a:off x="4392" y="2931"/>
                <a:ext cx="17" cy="17"/>
              </a:xfrm>
              <a:custGeom>
                <a:avLst/>
                <a:gdLst>
                  <a:gd name="T0" fmla="*/ 16 w 17"/>
                  <a:gd name="T1" fmla="*/ 6 h 17"/>
                  <a:gd name="T2" fmla="*/ 13 w 17"/>
                  <a:gd name="T3" fmla="*/ 6 h 17"/>
                  <a:gd name="T4" fmla="*/ 13 w 17"/>
                  <a:gd name="T5" fmla="*/ 3 h 17"/>
                  <a:gd name="T6" fmla="*/ 10 w 17"/>
                  <a:gd name="T7" fmla="*/ 3 h 17"/>
                  <a:gd name="T8" fmla="*/ 8 w 17"/>
                  <a:gd name="T9" fmla="*/ 0 h 17"/>
                  <a:gd name="T10" fmla="*/ 5 w 17"/>
                  <a:gd name="T11" fmla="*/ 0 h 17"/>
                  <a:gd name="T12" fmla="*/ 5 w 17"/>
                  <a:gd name="T13" fmla="*/ 3 h 17"/>
                  <a:gd name="T14" fmla="*/ 2 w 17"/>
                  <a:gd name="T15" fmla="*/ 6 h 17"/>
                  <a:gd name="T16" fmla="*/ 2 w 17"/>
                  <a:gd name="T17" fmla="*/ 6 h 17"/>
                  <a:gd name="T18" fmla="*/ 0 w 17"/>
                  <a:gd name="T19" fmla="*/ 9 h 17"/>
                  <a:gd name="T20" fmla="*/ 2 w 17"/>
                  <a:gd name="T21" fmla="*/ 12 h 17"/>
                  <a:gd name="T22" fmla="*/ 5 w 17"/>
                  <a:gd name="T23" fmla="*/ 12 h 17"/>
                  <a:gd name="T24" fmla="*/ 5 w 17"/>
                  <a:gd name="T25" fmla="*/ 16 h 17"/>
                  <a:gd name="T26" fmla="*/ 8 w 17"/>
                  <a:gd name="T27" fmla="*/ 16 h 17"/>
                  <a:gd name="T28" fmla="*/ 10 w 17"/>
                  <a:gd name="T29" fmla="*/ 16 h 17"/>
                  <a:gd name="T30" fmla="*/ 13 w 17"/>
                  <a:gd name="T31" fmla="*/ 12 h 17"/>
                  <a:gd name="T32" fmla="*/ 13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3" y="6"/>
                    </a:lnTo>
                    <a:lnTo>
                      <a:pt x="13" y="3"/>
                    </a:lnTo>
                    <a:lnTo>
                      <a:pt x="10" y="3"/>
                    </a:lnTo>
                    <a:lnTo>
                      <a:pt x="8" y="0"/>
                    </a:lnTo>
                    <a:lnTo>
                      <a:pt x="5" y="0"/>
                    </a:lnTo>
                    <a:lnTo>
                      <a:pt x="5" y="3"/>
                    </a:lnTo>
                    <a:lnTo>
                      <a:pt x="2" y="6"/>
                    </a:lnTo>
                    <a:lnTo>
                      <a:pt x="2" y="6"/>
                    </a:lnTo>
                    <a:lnTo>
                      <a:pt x="0" y="9"/>
                    </a:lnTo>
                    <a:lnTo>
                      <a:pt x="2" y="12"/>
                    </a:lnTo>
                    <a:lnTo>
                      <a:pt x="5" y="12"/>
                    </a:lnTo>
                    <a:lnTo>
                      <a:pt x="5" y="16"/>
                    </a:lnTo>
                    <a:lnTo>
                      <a:pt x="8" y="16"/>
                    </a:lnTo>
                    <a:lnTo>
                      <a:pt x="10" y="16"/>
                    </a:lnTo>
                    <a:lnTo>
                      <a:pt x="13" y="12"/>
                    </a:lnTo>
                    <a:lnTo>
                      <a:pt x="13"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73" name="Freeform 133"/>
              <p:cNvSpPr/>
              <p:nvPr/>
            </p:nvSpPr>
            <p:spPr bwMode="auto">
              <a:xfrm>
                <a:off x="4415" y="2930"/>
                <a:ext cx="17" cy="17"/>
              </a:xfrm>
              <a:custGeom>
                <a:avLst/>
                <a:gdLst>
                  <a:gd name="T0" fmla="*/ 16 w 17"/>
                  <a:gd name="T1" fmla="*/ 6 h 17"/>
                  <a:gd name="T2" fmla="*/ 16 w 17"/>
                  <a:gd name="T3" fmla="*/ 6 h 17"/>
                  <a:gd name="T4" fmla="*/ 13 w 17"/>
                  <a:gd name="T5" fmla="*/ 3 h 17"/>
                  <a:gd name="T6" fmla="*/ 10 w 17"/>
                  <a:gd name="T7" fmla="*/ 0 h 17"/>
                  <a:gd name="T8" fmla="*/ 8 w 17"/>
                  <a:gd name="T9" fmla="*/ 0 h 17"/>
                  <a:gd name="T10" fmla="*/ 5 w 17"/>
                  <a:gd name="T11" fmla="*/ 0 h 17"/>
                  <a:gd name="T12" fmla="*/ 2 w 17"/>
                  <a:gd name="T13" fmla="*/ 3 h 17"/>
                  <a:gd name="T14" fmla="*/ 2 w 17"/>
                  <a:gd name="T15" fmla="*/ 3 h 17"/>
                  <a:gd name="T16" fmla="*/ 0 w 17"/>
                  <a:gd name="T17" fmla="*/ 6 h 17"/>
                  <a:gd name="T18" fmla="*/ 0 w 17"/>
                  <a:gd name="T19" fmla="*/ 9 h 17"/>
                  <a:gd name="T20" fmla="*/ 2 w 17"/>
                  <a:gd name="T21" fmla="*/ 9 h 17"/>
                  <a:gd name="T22" fmla="*/ 2 w 17"/>
                  <a:gd name="T23" fmla="*/ 12 h 17"/>
                  <a:gd name="T24" fmla="*/ 5 w 17"/>
                  <a:gd name="T25" fmla="*/ 16 h 17"/>
                  <a:gd name="T26" fmla="*/ 8 w 17"/>
                  <a:gd name="T27" fmla="*/ 16 h 17"/>
                  <a:gd name="T28" fmla="*/ 10 w 17"/>
                  <a:gd name="T29" fmla="*/ 16 h 17"/>
                  <a:gd name="T30" fmla="*/ 13 w 17"/>
                  <a:gd name="T31" fmla="*/ 12 h 17"/>
                  <a:gd name="T32" fmla="*/ 16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6" y="6"/>
                    </a:lnTo>
                    <a:lnTo>
                      <a:pt x="13" y="3"/>
                    </a:lnTo>
                    <a:lnTo>
                      <a:pt x="10" y="0"/>
                    </a:lnTo>
                    <a:lnTo>
                      <a:pt x="8" y="0"/>
                    </a:lnTo>
                    <a:lnTo>
                      <a:pt x="5" y="0"/>
                    </a:lnTo>
                    <a:lnTo>
                      <a:pt x="2" y="3"/>
                    </a:lnTo>
                    <a:lnTo>
                      <a:pt x="2" y="3"/>
                    </a:lnTo>
                    <a:lnTo>
                      <a:pt x="0" y="6"/>
                    </a:lnTo>
                    <a:lnTo>
                      <a:pt x="0" y="9"/>
                    </a:lnTo>
                    <a:lnTo>
                      <a:pt x="2" y="9"/>
                    </a:lnTo>
                    <a:lnTo>
                      <a:pt x="2" y="12"/>
                    </a:lnTo>
                    <a:lnTo>
                      <a:pt x="5" y="16"/>
                    </a:lnTo>
                    <a:lnTo>
                      <a:pt x="8" y="16"/>
                    </a:lnTo>
                    <a:lnTo>
                      <a:pt x="10" y="16"/>
                    </a:lnTo>
                    <a:lnTo>
                      <a:pt x="13" y="12"/>
                    </a:lnTo>
                    <a:lnTo>
                      <a:pt x="16"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74" name="Freeform 134"/>
              <p:cNvSpPr/>
              <p:nvPr/>
            </p:nvSpPr>
            <p:spPr bwMode="auto">
              <a:xfrm>
                <a:off x="4438" y="2930"/>
                <a:ext cx="17" cy="17"/>
              </a:xfrm>
              <a:custGeom>
                <a:avLst/>
                <a:gdLst>
                  <a:gd name="T0" fmla="*/ 16 w 17"/>
                  <a:gd name="T1" fmla="*/ 10 h 17"/>
                  <a:gd name="T2" fmla="*/ 16 w 17"/>
                  <a:gd name="T3" fmla="*/ 5 h 17"/>
                  <a:gd name="T4" fmla="*/ 13 w 17"/>
                  <a:gd name="T5" fmla="*/ 0 h 17"/>
                  <a:gd name="T6" fmla="*/ 10 w 17"/>
                  <a:gd name="T7" fmla="*/ 0 h 17"/>
                  <a:gd name="T8" fmla="*/ 8 w 17"/>
                  <a:gd name="T9" fmla="*/ 0 h 17"/>
                  <a:gd name="T10" fmla="*/ 8 w 17"/>
                  <a:gd name="T11" fmla="*/ 0 h 17"/>
                  <a:gd name="T12" fmla="*/ 5 w 17"/>
                  <a:gd name="T13" fmla="*/ 0 h 17"/>
                  <a:gd name="T14" fmla="*/ 2 w 17"/>
                  <a:gd name="T15" fmla="*/ 5 h 17"/>
                  <a:gd name="T16" fmla="*/ 2 w 17"/>
                  <a:gd name="T17" fmla="*/ 5 h 17"/>
                  <a:gd name="T18" fmla="*/ 0 w 17"/>
                  <a:gd name="T19" fmla="*/ 10 h 17"/>
                  <a:gd name="T20" fmla="*/ 2 w 17"/>
                  <a:gd name="T21" fmla="*/ 10 h 17"/>
                  <a:gd name="T22" fmla="*/ 5 w 17"/>
                  <a:gd name="T23" fmla="*/ 16 h 17"/>
                  <a:gd name="T24" fmla="*/ 8 w 17"/>
                  <a:gd name="T25" fmla="*/ 16 h 17"/>
                  <a:gd name="T26" fmla="*/ 8 w 17"/>
                  <a:gd name="T27" fmla="*/ 16 h 17"/>
                  <a:gd name="T28" fmla="*/ 10 w 17"/>
                  <a:gd name="T29" fmla="*/ 16 h 17"/>
                  <a:gd name="T30" fmla="*/ 13 w 17"/>
                  <a:gd name="T31" fmla="*/ 16 h 17"/>
                  <a:gd name="T32" fmla="*/ 16 w 17"/>
                  <a:gd name="T33" fmla="*/ 10 h 17"/>
                  <a:gd name="T34" fmla="*/ 16 w 17"/>
                  <a:gd name="T35" fmla="*/ 10 h 17"/>
                  <a:gd name="T36" fmla="*/ 16 w 17"/>
                  <a:gd name="T3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10"/>
                    </a:moveTo>
                    <a:lnTo>
                      <a:pt x="16" y="5"/>
                    </a:lnTo>
                    <a:lnTo>
                      <a:pt x="13" y="0"/>
                    </a:lnTo>
                    <a:lnTo>
                      <a:pt x="10" y="0"/>
                    </a:lnTo>
                    <a:lnTo>
                      <a:pt x="8" y="0"/>
                    </a:lnTo>
                    <a:lnTo>
                      <a:pt x="8" y="0"/>
                    </a:lnTo>
                    <a:lnTo>
                      <a:pt x="5" y="0"/>
                    </a:lnTo>
                    <a:lnTo>
                      <a:pt x="2" y="5"/>
                    </a:lnTo>
                    <a:lnTo>
                      <a:pt x="2" y="5"/>
                    </a:lnTo>
                    <a:lnTo>
                      <a:pt x="0" y="10"/>
                    </a:lnTo>
                    <a:lnTo>
                      <a:pt x="2" y="10"/>
                    </a:lnTo>
                    <a:lnTo>
                      <a:pt x="5" y="16"/>
                    </a:lnTo>
                    <a:lnTo>
                      <a:pt x="8" y="16"/>
                    </a:lnTo>
                    <a:lnTo>
                      <a:pt x="8" y="16"/>
                    </a:lnTo>
                    <a:lnTo>
                      <a:pt x="10" y="16"/>
                    </a:lnTo>
                    <a:lnTo>
                      <a:pt x="13" y="16"/>
                    </a:lnTo>
                    <a:lnTo>
                      <a:pt x="16" y="10"/>
                    </a:lnTo>
                    <a:lnTo>
                      <a:pt x="16" y="10"/>
                    </a:lnTo>
                    <a:lnTo>
                      <a:pt x="16" y="10"/>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75" name="Freeform 135"/>
              <p:cNvSpPr/>
              <p:nvPr/>
            </p:nvSpPr>
            <p:spPr bwMode="auto">
              <a:xfrm>
                <a:off x="4462" y="2930"/>
                <a:ext cx="17" cy="17"/>
              </a:xfrm>
              <a:custGeom>
                <a:avLst/>
                <a:gdLst>
                  <a:gd name="T0" fmla="*/ 16 w 17"/>
                  <a:gd name="T1" fmla="*/ 5 h 17"/>
                  <a:gd name="T2" fmla="*/ 16 w 17"/>
                  <a:gd name="T3" fmla="*/ 5 h 17"/>
                  <a:gd name="T4" fmla="*/ 13 w 17"/>
                  <a:gd name="T5" fmla="*/ 0 h 17"/>
                  <a:gd name="T6" fmla="*/ 10 w 17"/>
                  <a:gd name="T7" fmla="*/ 0 h 17"/>
                  <a:gd name="T8" fmla="*/ 8 w 17"/>
                  <a:gd name="T9" fmla="*/ 0 h 17"/>
                  <a:gd name="T10" fmla="*/ 8 w 17"/>
                  <a:gd name="T11" fmla="*/ 0 h 17"/>
                  <a:gd name="T12" fmla="*/ 2 w 17"/>
                  <a:gd name="T13" fmla="*/ 0 h 17"/>
                  <a:gd name="T14" fmla="*/ 0 w 17"/>
                  <a:gd name="T15" fmla="*/ 5 h 17"/>
                  <a:gd name="T16" fmla="*/ 0 w 17"/>
                  <a:gd name="T17" fmla="*/ 5 h 17"/>
                  <a:gd name="T18" fmla="*/ 0 w 17"/>
                  <a:gd name="T19" fmla="*/ 10 h 17"/>
                  <a:gd name="T20" fmla="*/ 2 w 17"/>
                  <a:gd name="T21" fmla="*/ 10 h 17"/>
                  <a:gd name="T22" fmla="*/ 2 w 17"/>
                  <a:gd name="T23" fmla="*/ 16 h 17"/>
                  <a:gd name="T24" fmla="*/ 5 w 17"/>
                  <a:gd name="T25" fmla="*/ 16 h 17"/>
                  <a:gd name="T26" fmla="*/ 8 w 17"/>
                  <a:gd name="T27" fmla="*/ 16 h 17"/>
                  <a:gd name="T28" fmla="*/ 10 w 17"/>
                  <a:gd name="T29" fmla="*/ 16 h 17"/>
                  <a:gd name="T30" fmla="*/ 13 w 17"/>
                  <a:gd name="T31" fmla="*/ 16 h 17"/>
                  <a:gd name="T32" fmla="*/ 16 w 17"/>
                  <a:gd name="T33" fmla="*/ 10 h 17"/>
                  <a:gd name="T34" fmla="*/ 16 w 17"/>
                  <a:gd name="T35" fmla="*/ 10 h 17"/>
                  <a:gd name="T36" fmla="*/ 16 w 17"/>
                  <a:gd name="T37" fmla="*/ 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5"/>
                    </a:moveTo>
                    <a:lnTo>
                      <a:pt x="16" y="5"/>
                    </a:lnTo>
                    <a:lnTo>
                      <a:pt x="13" y="0"/>
                    </a:lnTo>
                    <a:lnTo>
                      <a:pt x="10" y="0"/>
                    </a:lnTo>
                    <a:lnTo>
                      <a:pt x="8" y="0"/>
                    </a:lnTo>
                    <a:lnTo>
                      <a:pt x="8" y="0"/>
                    </a:lnTo>
                    <a:lnTo>
                      <a:pt x="2" y="0"/>
                    </a:lnTo>
                    <a:lnTo>
                      <a:pt x="0" y="5"/>
                    </a:lnTo>
                    <a:lnTo>
                      <a:pt x="0" y="5"/>
                    </a:lnTo>
                    <a:lnTo>
                      <a:pt x="0" y="10"/>
                    </a:lnTo>
                    <a:lnTo>
                      <a:pt x="2" y="10"/>
                    </a:lnTo>
                    <a:lnTo>
                      <a:pt x="2" y="16"/>
                    </a:lnTo>
                    <a:lnTo>
                      <a:pt x="5" y="16"/>
                    </a:lnTo>
                    <a:lnTo>
                      <a:pt x="8" y="16"/>
                    </a:lnTo>
                    <a:lnTo>
                      <a:pt x="10" y="16"/>
                    </a:lnTo>
                    <a:lnTo>
                      <a:pt x="13" y="16"/>
                    </a:lnTo>
                    <a:lnTo>
                      <a:pt x="16" y="10"/>
                    </a:lnTo>
                    <a:lnTo>
                      <a:pt x="16" y="10"/>
                    </a:lnTo>
                    <a:lnTo>
                      <a:pt x="16" y="5"/>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76" name="Freeform 136"/>
              <p:cNvSpPr/>
              <p:nvPr/>
            </p:nvSpPr>
            <p:spPr bwMode="auto">
              <a:xfrm>
                <a:off x="4486" y="2929"/>
                <a:ext cx="17" cy="17"/>
              </a:xfrm>
              <a:custGeom>
                <a:avLst/>
                <a:gdLst>
                  <a:gd name="T0" fmla="*/ 16 w 17"/>
                  <a:gd name="T1" fmla="*/ 8 h 17"/>
                  <a:gd name="T2" fmla="*/ 12 w 17"/>
                  <a:gd name="T3" fmla="*/ 4 h 17"/>
                  <a:gd name="T4" fmla="*/ 12 w 17"/>
                  <a:gd name="T5" fmla="*/ 4 h 17"/>
                  <a:gd name="T6" fmla="*/ 12 w 17"/>
                  <a:gd name="T7" fmla="*/ 0 h 17"/>
                  <a:gd name="T8" fmla="*/ 6 w 17"/>
                  <a:gd name="T9" fmla="*/ 0 h 17"/>
                  <a:gd name="T10" fmla="*/ 3 w 17"/>
                  <a:gd name="T11" fmla="*/ 0 h 17"/>
                  <a:gd name="T12" fmla="*/ 3 w 17"/>
                  <a:gd name="T13" fmla="*/ 0 h 17"/>
                  <a:gd name="T14" fmla="*/ 0 w 17"/>
                  <a:gd name="T15" fmla="*/ 4 h 17"/>
                  <a:gd name="T16" fmla="*/ 0 w 17"/>
                  <a:gd name="T17" fmla="*/ 8 h 17"/>
                  <a:gd name="T18" fmla="*/ 0 w 17"/>
                  <a:gd name="T19" fmla="*/ 8 h 17"/>
                  <a:gd name="T20" fmla="*/ 0 w 17"/>
                  <a:gd name="T21" fmla="*/ 12 h 17"/>
                  <a:gd name="T22" fmla="*/ 3 w 17"/>
                  <a:gd name="T23" fmla="*/ 16 h 17"/>
                  <a:gd name="T24" fmla="*/ 3 w 17"/>
                  <a:gd name="T25" fmla="*/ 16 h 17"/>
                  <a:gd name="T26" fmla="*/ 6 w 17"/>
                  <a:gd name="T27" fmla="*/ 16 h 17"/>
                  <a:gd name="T28" fmla="*/ 9 w 17"/>
                  <a:gd name="T29" fmla="*/ 16 h 17"/>
                  <a:gd name="T30" fmla="*/ 12 w 17"/>
                  <a:gd name="T31" fmla="*/ 16 h 17"/>
                  <a:gd name="T32" fmla="*/ 12 w 17"/>
                  <a:gd name="T33" fmla="*/ 12 h 17"/>
                  <a:gd name="T34" fmla="*/ 16 w 17"/>
                  <a:gd name="T35" fmla="*/ 8 h 17"/>
                  <a:gd name="T36" fmla="*/ 16 w 17"/>
                  <a:gd name="T3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8"/>
                    </a:moveTo>
                    <a:lnTo>
                      <a:pt x="12" y="4"/>
                    </a:lnTo>
                    <a:lnTo>
                      <a:pt x="12" y="4"/>
                    </a:lnTo>
                    <a:lnTo>
                      <a:pt x="12" y="0"/>
                    </a:lnTo>
                    <a:lnTo>
                      <a:pt x="6" y="0"/>
                    </a:lnTo>
                    <a:lnTo>
                      <a:pt x="3" y="0"/>
                    </a:lnTo>
                    <a:lnTo>
                      <a:pt x="3" y="0"/>
                    </a:lnTo>
                    <a:lnTo>
                      <a:pt x="0" y="4"/>
                    </a:lnTo>
                    <a:lnTo>
                      <a:pt x="0" y="8"/>
                    </a:lnTo>
                    <a:lnTo>
                      <a:pt x="0" y="8"/>
                    </a:lnTo>
                    <a:lnTo>
                      <a:pt x="0" y="12"/>
                    </a:lnTo>
                    <a:lnTo>
                      <a:pt x="3" y="16"/>
                    </a:lnTo>
                    <a:lnTo>
                      <a:pt x="3" y="16"/>
                    </a:lnTo>
                    <a:lnTo>
                      <a:pt x="6" y="16"/>
                    </a:lnTo>
                    <a:lnTo>
                      <a:pt x="9" y="16"/>
                    </a:lnTo>
                    <a:lnTo>
                      <a:pt x="12" y="16"/>
                    </a:lnTo>
                    <a:lnTo>
                      <a:pt x="12" y="12"/>
                    </a:lnTo>
                    <a:lnTo>
                      <a:pt x="16" y="8"/>
                    </a:lnTo>
                    <a:lnTo>
                      <a:pt x="16" y="8"/>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77" name="Freeform 137"/>
              <p:cNvSpPr/>
              <p:nvPr/>
            </p:nvSpPr>
            <p:spPr bwMode="auto">
              <a:xfrm>
                <a:off x="4508" y="2927"/>
                <a:ext cx="17" cy="17"/>
              </a:xfrm>
              <a:custGeom>
                <a:avLst/>
                <a:gdLst>
                  <a:gd name="T0" fmla="*/ 16 w 17"/>
                  <a:gd name="T1" fmla="*/ 6 h 17"/>
                  <a:gd name="T2" fmla="*/ 13 w 17"/>
                  <a:gd name="T3" fmla="*/ 6 h 17"/>
                  <a:gd name="T4" fmla="*/ 13 w 17"/>
                  <a:gd name="T5" fmla="*/ 3 h 17"/>
                  <a:gd name="T6" fmla="*/ 10 w 17"/>
                  <a:gd name="T7" fmla="*/ 3 h 17"/>
                  <a:gd name="T8" fmla="*/ 8 w 17"/>
                  <a:gd name="T9" fmla="*/ 0 h 17"/>
                  <a:gd name="T10" fmla="*/ 8 w 17"/>
                  <a:gd name="T11" fmla="*/ 0 h 17"/>
                  <a:gd name="T12" fmla="*/ 5 w 17"/>
                  <a:gd name="T13" fmla="*/ 3 h 17"/>
                  <a:gd name="T14" fmla="*/ 0 w 17"/>
                  <a:gd name="T15" fmla="*/ 3 h 17"/>
                  <a:gd name="T16" fmla="*/ 0 w 17"/>
                  <a:gd name="T17" fmla="*/ 6 h 17"/>
                  <a:gd name="T18" fmla="*/ 0 w 17"/>
                  <a:gd name="T19" fmla="*/ 9 h 17"/>
                  <a:gd name="T20" fmla="*/ 0 w 17"/>
                  <a:gd name="T21" fmla="*/ 9 h 17"/>
                  <a:gd name="T22" fmla="*/ 5 w 17"/>
                  <a:gd name="T23" fmla="*/ 12 h 17"/>
                  <a:gd name="T24" fmla="*/ 8 w 17"/>
                  <a:gd name="T25" fmla="*/ 16 h 17"/>
                  <a:gd name="T26" fmla="*/ 8 w 17"/>
                  <a:gd name="T27" fmla="*/ 16 h 17"/>
                  <a:gd name="T28" fmla="*/ 10 w 17"/>
                  <a:gd name="T29" fmla="*/ 12 h 17"/>
                  <a:gd name="T30" fmla="*/ 13 w 17"/>
                  <a:gd name="T31" fmla="*/ 12 h 17"/>
                  <a:gd name="T32" fmla="*/ 13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3" y="6"/>
                    </a:lnTo>
                    <a:lnTo>
                      <a:pt x="13" y="3"/>
                    </a:lnTo>
                    <a:lnTo>
                      <a:pt x="10" y="3"/>
                    </a:lnTo>
                    <a:lnTo>
                      <a:pt x="8" y="0"/>
                    </a:lnTo>
                    <a:lnTo>
                      <a:pt x="8" y="0"/>
                    </a:lnTo>
                    <a:lnTo>
                      <a:pt x="5" y="3"/>
                    </a:lnTo>
                    <a:lnTo>
                      <a:pt x="0" y="3"/>
                    </a:lnTo>
                    <a:lnTo>
                      <a:pt x="0" y="6"/>
                    </a:lnTo>
                    <a:lnTo>
                      <a:pt x="0" y="9"/>
                    </a:lnTo>
                    <a:lnTo>
                      <a:pt x="0" y="9"/>
                    </a:lnTo>
                    <a:lnTo>
                      <a:pt x="5" y="12"/>
                    </a:lnTo>
                    <a:lnTo>
                      <a:pt x="8" y="16"/>
                    </a:lnTo>
                    <a:lnTo>
                      <a:pt x="8" y="16"/>
                    </a:lnTo>
                    <a:lnTo>
                      <a:pt x="10" y="12"/>
                    </a:lnTo>
                    <a:lnTo>
                      <a:pt x="13" y="12"/>
                    </a:lnTo>
                    <a:lnTo>
                      <a:pt x="13"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78" name="Freeform 138"/>
              <p:cNvSpPr/>
              <p:nvPr/>
            </p:nvSpPr>
            <p:spPr bwMode="auto">
              <a:xfrm>
                <a:off x="4532" y="2927"/>
                <a:ext cx="17" cy="17"/>
              </a:xfrm>
              <a:custGeom>
                <a:avLst/>
                <a:gdLst>
                  <a:gd name="T0" fmla="*/ 16 w 17"/>
                  <a:gd name="T1" fmla="*/ 8 h 17"/>
                  <a:gd name="T2" fmla="*/ 16 w 17"/>
                  <a:gd name="T3" fmla="*/ 8 h 17"/>
                  <a:gd name="T4" fmla="*/ 16 w 17"/>
                  <a:gd name="T5" fmla="*/ 4 h 17"/>
                  <a:gd name="T6" fmla="*/ 12 w 17"/>
                  <a:gd name="T7" fmla="*/ 4 h 17"/>
                  <a:gd name="T8" fmla="*/ 9 w 17"/>
                  <a:gd name="T9" fmla="*/ 0 h 17"/>
                  <a:gd name="T10" fmla="*/ 6 w 17"/>
                  <a:gd name="T11" fmla="*/ 0 h 17"/>
                  <a:gd name="T12" fmla="*/ 3 w 17"/>
                  <a:gd name="T13" fmla="*/ 4 h 17"/>
                  <a:gd name="T14" fmla="*/ 0 w 17"/>
                  <a:gd name="T15" fmla="*/ 4 h 17"/>
                  <a:gd name="T16" fmla="*/ 0 w 17"/>
                  <a:gd name="T17" fmla="*/ 8 h 17"/>
                  <a:gd name="T18" fmla="*/ 0 w 17"/>
                  <a:gd name="T19" fmla="*/ 12 h 17"/>
                  <a:gd name="T20" fmla="*/ 0 w 17"/>
                  <a:gd name="T21" fmla="*/ 12 h 17"/>
                  <a:gd name="T22" fmla="*/ 3 w 17"/>
                  <a:gd name="T23" fmla="*/ 16 h 17"/>
                  <a:gd name="T24" fmla="*/ 6 w 17"/>
                  <a:gd name="T25" fmla="*/ 16 h 17"/>
                  <a:gd name="T26" fmla="*/ 9 w 17"/>
                  <a:gd name="T27" fmla="*/ 16 h 17"/>
                  <a:gd name="T28" fmla="*/ 12 w 17"/>
                  <a:gd name="T29" fmla="*/ 16 h 17"/>
                  <a:gd name="T30" fmla="*/ 16 w 17"/>
                  <a:gd name="T31" fmla="*/ 16 h 17"/>
                  <a:gd name="T32" fmla="*/ 16 w 17"/>
                  <a:gd name="T33" fmla="*/ 12 h 17"/>
                  <a:gd name="T34" fmla="*/ 16 w 17"/>
                  <a:gd name="T35"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 h="17">
                    <a:moveTo>
                      <a:pt x="16" y="8"/>
                    </a:moveTo>
                    <a:lnTo>
                      <a:pt x="16" y="8"/>
                    </a:lnTo>
                    <a:lnTo>
                      <a:pt x="16" y="4"/>
                    </a:lnTo>
                    <a:lnTo>
                      <a:pt x="12" y="4"/>
                    </a:lnTo>
                    <a:lnTo>
                      <a:pt x="9" y="0"/>
                    </a:lnTo>
                    <a:lnTo>
                      <a:pt x="6" y="0"/>
                    </a:lnTo>
                    <a:lnTo>
                      <a:pt x="3" y="4"/>
                    </a:lnTo>
                    <a:lnTo>
                      <a:pt x="0" y="4"/>
                    </a:lnTo>
                    <a:lnTo>
                      <a:pt x="0" y="8"/>
                    </a:lnTo>
                    <a:lnTo>
                      <a:pt x="0" y="12"/>
                    </a:lnTo>
                    <a:lnTo>
                      <a:pt x="0" y="12"/>
                    </a:lnTo>
                    <a:lnTo>
                      <a:pt x="3" y="16"/>
                    </a:lnTo>
                    <a:lnTo>
                      <a:pt x="6" y="16"/>
                    </a:lnTo>
                    <a:lnTo>
                      <a:pt x="9" y="16"/>
                    </a:lnTo>
                    <a:lnTo>
                      <a:pt x="12" y="16"/>
                    </a:lnTo>
                    <a:lnTo>
                      <a:pt x="16" y="16"/>
                    </a:lnTo>
                    <a:lnTo>
                      <a:pt x="16" y="12"/>
                    </a:lnTo>
                    <a:lnTo>
                      <a:pt x="16" y="8"/>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79" name="Freeform 139"/>
              <p:cNvSpPr/>
              <p:nvPr/>
            </p:nvSpPr>
            <p:spPr bwMode="auto">
              <a:xfrm>
                <a:off x="4535" y="2987"/>
                <a:ext cx="17" cy="122"/>
              </a:xfrm>
              <a:custGeom>
                <a:avLst/>
                <a:gdLst>
                  <a:gd name="T0" fmla="*/ 0 w 17"/>
                  <a:gd name="T1" fmla="*/ 0 h 122"/>
                  <a:gd name="T2" fmla="*/ 0 w 17"/>
                  <a:gd name="T3" fmla="*/ 42 h 122"/>
                  <a:gd name="T4" fmla="*/ 12 w 17"/>
                  <a:gd name="T5" fmla="*/ 42 h 122"/>
                  <a:gd name="T6" fmla="*/ 0 w 17"/>
                  <a:gd name="T7" fmla="*/ 47 h 122"/>
                  <a:gd name="T8" fmla="*/ 0 w 17"/>
                  <a:gd name="T9" fmla="*/ 84 h 122"/>
                  <a:gd name="T10" fmla="*/ 12 w 17"/>
                  <a:gd name="T11" fmla="*/ 84 h 122"/>
                  <a:gd name="T12" fmla="*/ 0 w 17"/>
                  <a:gd name="T13" fmla="*/ 89 h 122"/>
                  <a:gd name="T14" fmla="*/ 0 w 17"/>
                  <a:gd name="T15" fmla="*/ 121 h 122"/>
                  <a:gd name="T16" fmla="*/ 16 w 17"/>
                  <a:gd name="T17" fmla="*/ 121 h 122"/>
                  <a:gd name="T18" fmla="*/ 16 w 17"/>
                  <a:gd name="T19" fmla="*/ 0 h 122"/>
                  <a:gd name="T20" fmla="*/ 0 w 17"/>
                  <a:gd name="T21"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122">
                    <a:moveTo>
                      <a:pt x="0" y="0"/>
                    </a:moveTo>
                    <a:lnTo>
                      <a:pt x="0" y="42"/>
                    </a:lnTo>
                    <a:lnTo>
                      <a:pt x="12" y="42"/>
                    </a:lnTo>
                    <a:lnTo>
                      <a:pt x="0" y="47"/>
                    </a:lnTo>
                    <a:lnTo>
                      <a:pt x="0" y="84"/>
                    </a:lnTo>
                    <a:lnTo>
                      <a:pt x="12" y="84"/>
                    </a:lnTo>
                    <a:lnTo>
                      <a:pt x="0" y="89"/>
                    </a:lnTo>
                    <a:lnTo>
                      <a:pt x="0" y="121"/>
                    </a:lnTo>
                    <a:lnTo>
                      <a:pt x="16" y="121"/>
                    </a:lnTo>
                    <a:lnTo>
                      <a:pt x="16" y="0"/>
                    </a:lnTo>
                    <a:lnTo>
                      <a:pt x="0" y="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80" name="Freeform 140"/>
              <p:cNvSpPr/>
              <p:nvPr/>
            </p:nvSpPr>
            <p:spPr bwMode="auto">
              <a:xfrm>
                <a:off x="4561" y="3296"/>
                <a:ext cx="96" cy="45"/>
              </a:xfrm>
              <a:custGeom>
                <a:avLst/>
                <a:gdLst>
                  <a:gd name="T0" fmla="*/ 0 w 96"/>
                  <a:gd name="T1" fmla="*/ 44 h 45"/>
                  <a:gd name="T2" fmla="*/ 95 w 96"/>
                  <a:gd name="T3" fmla="*/ 35 h 45"/>
                  <a:gd name="T4" fmla="*/ 0 w 96"/>
                  <a:gd name="T5" fmla="*/ 0 h 45"/>
                  <a:gd name="T6" fmla="*/ 0 w 96"/>
                  <a:gd name="T7" fmla="*/ 44 h 45"/>
                </a:gdLst>
                <a:ahLst/>
                <a:cxnLst>
                  <a:cxn ang="0">
                    <a:pos x="T0" y="T1"/>
                  </a:cxn>
                  <a:cxn ang="0">
                    <a:pos x="T2" y="T3"/>
                  </a:cxn>
                  <a:cxn ang="0">
                    <a:pos x="T4" y="T5"/>
                  </a:cxn>
                  <a:cxn ang="0">
                    <a:pos x="T6" y="T7"/>
                  </a:cxn>
                </a:cxnLst>
                <a:rect l="0" t="0" r="r" b="b"/>
                <a:pathLst>
                  <a:path w="96" h="45">
                    <a:moveTo>
                      <a:pt x="0" y="44"/>
                    </a:moveTo>
                    <a:lnTo>
                      <a:pt x="95" y="35"/>
                    </a:lnTo>
                    <a:lnTo>
                      <a:pt x="0" y="0"/>
                    </a:lnTo>
                    <a:lnTo>
                      <a:pt x="0" y="44"/>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35981" name="Picture 141"/>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6" y="1429"/>
              <a:ext cx="54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982" name="Picture 142"/>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33" y="2337"/>
              <a:ext cx="54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983" name="Text Box 143"/>
            <p:cNvSpPr txBox="1">
              <a:spLocks noChangeArrowheads="1"/>
            </p:cNvSpPr>
            <p:nvPr/>
          </p:nvSpPr>
          <p:spPr bwMode="auto">
            <a:xfrm>
              <a:off x="989" y="2905"/>
              <a:ext cx="1332"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85000"/>
                </a:lnSpc>
                <a:spcBef>
                  <a:spcPct val="25000"/>
                </a:spcBef>
              </a:pPr>
              <a:r>
                <a:rPr lang="en-US" altLang="zh-CN" b="1">
                  <a:solidFill>
                    <a:schemeClr val="accent1"/>
                  </a:solidFill>
                  <a:effectLst>
                    <a:outerShdw blurRad="38100" dist="38100" dir="2700000" algn="tl">
                      <a:srgbClr val="000000"/>
                    </a:outerShdw>
                  </a:effectLst>
                  <a:latin typeface="Arial" panose="020B0604020202020204" pitchFamily="34" charset="0"/>
                </a:rPr>
                <a:t>VPN </a:t>
              </a:r>
              <a:r>
                <a:rPr lang="zh-CN" altLang="en-US" b="1">
                  <a:solidFill>
                    <a:schemeClr val="accent1"/>
                  </a:solidFill>
                  <a:effectLst>
                    <a:outerShdw blurRad="38100" dist="38100" dir="2700000" algn="tl">
                      <a:srgbClr val="000000"/>
                    </a:outerShdw>
                  </a:effectLst>
                  <a:latin typeface="Arial" panose="020B0604020202020204" pitchFamily="34" charset="0"/>
                </a:rPr>
                <a:t>服务器</a:t>
              </a:r>
              <a:endParaRPr lang="zh-CN" altLang="en-US" b="1">
                <a:solidFill>
                  <a:schemeClr val="accent1"/>
                </a:solidFill>
                <a:effectLst>
                  <a:outerShdw blurRad="38100" dist="38100" dir="2700000" algn="tl">
                    <a:srgbClr val="000000"/>
                  </a:outerShdw>
                </a:effectLst>
                <a:latin typeface="Arial" panose="020B0604020202020204" pitchFamily="34" charset="0"/>
              </a:endParaRPr>
            </a:p>
          </p:txBody>
        </p:sp>
        <p:pic>
          <p:nvPicPr>
            <p:cNvPr id="35984" name="Picture 144"/>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928" y="2483"/>
              <a:ext cx="54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985" name="Line 145"/>
            <p:cNvSpPr>
              <a:spLocks noChangeShapeType="1"/>
            </p:cNvSpPr>
            <p:nvPr/>
          </p:nvSpPr>
          <p:spPr bwMode="auto">
            <a:xfrm flipV="1">
              <a:off x="2640" y="1475"/>
              <a:ext cx="2124" cy="434"/>
            </a:xfrm>
            <a:prstGeom prst="line">
              <a:avLst/>
            </a:prstGeom>
            <a:noFill/>
            <a:ln w="38100">
              <a:solidFill>
                <a:schemeClr val="folHlink"/>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986" name="Line 146"/>
            <p:cNvSpPr>
              <a:spLocks noChangeShapeType="1"/>
            </p:cNvSpPr>
            <p:nvPr/>
          </p:nvSpPr>
          <p:spPr bwMode="auto">
            <a:xfrm flipH="1" flipV="1">
              <a:off x="2592" y="2101"/>
              <a:ext cx="1776" cy="240"/>
            </a:xfrm>
            <a:prstGeom prst="line">
              <a:avLst/>
            </a:prstGeom>
            <a:noFill/>
            <a:ln w="38100">
              <a:solidFill>
                <a:schemeClr val="hlink"/>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grpSp>
          <p:nvGrpSpPr>
            <p:cNvPr id="35987" name="Group 147"/>
            <p:cNvGrpSpPr/>
            <p:nvPr/>
          </p:nvGrpSpPr>
          <p:grpSpPr bwMode="auto">
            <a:xfrm>
              <a:off x="124" y="2287"/>
              <a:ext cx="435" cy="473"/>
              <a:chOff x="4222" y="2888"/>
              <a:chExt cx="435" cy="473"/>
            </a:xfrm>
          </p:grpSpPr>
          <p:sp>
            <p:nvSpPr>
              <p:cNvPr id="35988" name="Freeform 148"/>
              <p:cNvSpPr/>
              <p:nvPr/>
            </p:nvSpPr>
            <p:spPr bwMode="auto">
              <a:xfrm>
                <a:off x="4373" y="2903"/>
                <a:ext cx="189" cy="458"/>
              </a:xfrm>
              <a:custGeom>
                <a:avLst/>
                <a:gdLst>
                  <a:gd name="T0" fmla="*/ 188 w 189"/>
                  <a:gd name="T1" fmla="*/ 0 h 458"/>
                  <a:gd name="T2" fmla="*/ 0 w 189"/>
                  <a:gd name="T3" fmla="*/ 5 h 458"/>
                  <a:gd name="T4" fmla="*/ 0 w 189"/>
                  <a:gd name="T5" fmla="*/ 457 h 458"/>
                  <a:gd name="T6" fmla="*/ 188 w 189"/>
                  <a:gd name="T7" fmla="*/ 437 h 458"/>
                  <a:gd name="T8" fmla="*/ 188 w 189"/>
                  <a:gd name="T9" fmla="*/ 0 h 458"/>
                </a:gdLst>
                <a:ahLst/>
                <a:cxnLst>
                  <a:cxn ang="0">
                    <a:pos x="T0" y="T1"/>
                  </a:cxn>
                  <a:cxn ang="0">
                    <a:pos x="T2" y="T3"/>
                  </a:cxn>
                  <a:cxn ang="0">
                    <a:pos x="T4" y="T5"/>
                  </a:cxn>
                  <a:cxn ang="0">
                    <a:pos x="T6" y="T7"/>
                  </a:cxn>
                  <a:cxn ang="0">
                    <a:pos x="T8" y="T9"/>
                  </a:cxn>
                </a:cxnLst>
                <a:rect l="0" t="0" r="r" b="b"/>
                <a:pathLst>
                  <a:path w="189" h="458">
                    <a:moveTo>
                      <a:pt x="188" y="0"/>
                    </a:moveTo>
                    <a:lnTo>
                      <a:pt x="0" y="5"/>
                    </a:lnTo>
                    <a:lnTo>
                      <a:pt x="0" y="457"/>
                    </a:lnTo>
                    <a:lnTo>
                      <a:pt x="188" y="437"/>
                    </a:lnTo>
                    <a:lnTo>
                      <a:pt x="188" y="0"/>
                    </a:lnTo>
                  </a:path>
                </a:pathLst>
              </a:custGeom>
              <a:solidFill>
                <a:srgbClr val="B5B5B5"/>
              </a:solidFill>
              <a:ln w="12700" cap="rnd" cmpd="sng">
                <a:solidFill>
                  <a:srgbClr val="B5B5B5"/>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89" name="Freeform 149"/>
              <p:cNvSpPr/>
              <p:nvPr/>
            </p:nvSpPr>
            <p:spPr bwMode="auto">
              <a:xfrm>
                <a:off x="4384" y="3144"/>
                <a:ext cx="168" cy="195"/>
              </a:xfrm>
              <a:custGeom>
                <a:avLst/>
                <a:gdLst>
                  <a:gd name="T0" fmla="*/ 0 w 168"/>
                  <a:gd name="T1" fmla="*/ 11 h 195"/>
                  <a:gd name="T2" fmla="*/ 167 w 168"/>
                  <a:gd name="T3" fmla="*/ 0 h 195"/>
                  <a:gd name="T4" fmla="*/ 167 w 168"/>
                  <a:gd name="T5" fmla="*/ 177 h 195"/>
                  <a:gd name="T6" fmla="*/ 0 w 168"/>
                  <a:gd name="T7" fmla="*/ 194 h 195"/>
                  <a:gd name="T8" fmla="*/ 0 w 168"/>
                  <a:gd name="T9" fmla="*/ 11 h 195"/>
                </a:gdLst>
                <a:ahLst/>
                <a:cxnLst>
                  <a:cxn ang="0">
                    <a:pos x="T0" y="T1"/>
                  </a:cxn>
                  <a:cxn ang="0">
                    <a:pos x="T2" y="T3"/>
                  </a:cxn>
                  <a:cxn ang="0">
                    <a:pos x="T4" y="T5"/>
                  </a:cxn>
                  <a:cxn ang="0">
                    <a:pos x="T6" y="T7"/>
                  </a:cxn>
                  <a:cxn ang="0">
                    <a:pos x="T8" y="T9"/>
                  </a:cxn>
                </a:cxnLst>
                <a:rect l="0" t="0" r="r" b="b"/>
                <a:pathLst>
                  <a:path w="168" h="195">
                    <a:moveTo>
                      <a:pt x="0" y="11"/>
                    </a:moveTo>
                    <a:lnTo>
                      <a:pt x="167" y="0"/>
                    </a:lnTo>
                    <a:lnTo>
                      <a:pt x="167" y="177"/>
                    </a:lnTo>
                    <a:lnTo>
                      <a:pt x="0" y="194"/>
                    </a:lnTo>
                    <a:lnTo>
                      <a:pt x="0" y="11"/>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90" name="Freeform 150"/>
              <p:cNvSpPr/>
              <p:nvPr/>
            </p:nvSpPr>
            <p:spPr bwMode="auto">
              <a:xfrm>
                <a:off x="4384" y="2987"/>
                <a:ext cx="160" cy="131"/>
              </a:xfrm>
              <a:custGeom>
                <a:avLst/>
                <a:gdLst>
                  <a:gd name="T0" fmla="*/ 0 w 160"/>
                  <a:gd name="T1" fmla="*/ 6 h 131"/>
                  <a:gd name="T2" fmla="*/ 159 w 160"/>
                  <a:gd name="T3" fmla="*/ 0 h 131"/>
                  <a:gd name="T4" fmla="*/ 159 w 160"/>
                  <a:gd name="T5" fmla="*/ 121 h 131"/>
                  <a:gd name="T6" fmla="*/ 0 w 160"/>
                  <a:gd name="T7" fmla="*/ 130 h 131"/>
                  <a:gd name="T8" fmla="*/ 0 w 160"/>
                  <a:gd name="T9" fmla="*/ 6 h 131"/>
                </a:gdLst>
                <a:ahLst/>
                <a:cxnLst>
                  <a:cxn ang="0">
                    <a:pos x="T0" y="T1"/>
                  </a:cxn>
                  <a:cxn ang="0">
                    <a:pos x="T2" y="T3"/>
                  </a:cxn>
                  <a:cxn ang="0">
                    <a:pos x="T4" y="T5"/>
                  </a:cxn>
                  <a:cxn ang="0">
                    <a:pos x="T6" y="T7"/>
                  </a:cxn>
                  <a:cxn ang="0">
                    <a:pos x="T8" y="T9"/>
                  </a:cxn>
                </a:cxnLst>
                <a:rect l="0" t="0" r="r" b="b"/>
                <a:pathLst>
                  <a:path w="160" h="131">
                    <a:moveTo>
                      <a:pt x="0" y="6"/>
                    </a:moveTo>
                    <a:lnTo>
                      <a:pt x="159" y="0"/>
                    </a:lnTo>
                    <a:lnTo>
                      <a:pt x="159" y="121"/>
                    </a:lnTo>
                    <a:lnTo>
                      <a:pt x="0" y="130"/>
                    </a:lnTo>
                    <a:lnTo>
                      <a:pt x="0" y="6"/>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91" name="Freeform 151"/>
              <p:cNvSpPr/>
              <p:nvPr/>
            </p:nvSpPr>
            <p:spPr bwMode="auto">
              <a:xfrm>
                <a:off x="4222" y="2889"/>
                <a:ext cx="340" cy="19"/>
              </a:xfrm>
              <a:custGeom>
                <a:avLst/>
                <a:gdLst>
                  <a:gd name="T0" fmla="*/ 0 w 340"/>
                  <a:gd name="T1" fmla="*/ 1 h 19"/>
                  <a:gd name="T2" fmla="*/ 151 w 340"/>
                  <a:gd name="T3" fmla="*/ 18 h 19"/>
                  <a:gd name="T4" fmla="*/ 339 w 340"/>
                  <a:gd name="T5" fmla="*/ 14 h 19"/>
                  <a:gd name="T6" fmla="*/ 181 w 340"/>
                  <a:gd name="T7" fmla="*/ 0 h 19"/>
                  <a:gd name="T8" fmla="*/ 0 w 340"/>
                  <a:gd name="T9" fmla="*/ 1 h 19"/>
                </a:gdLst>
                <a:ahLst/>
                <a:cxnLst>
                  <a:cxn ang="0">
                    <a:pos x="T0" y="T1"/>
                  </a:cxn>
                  <a:cxn ang="0">
                    <a:pos x="T2" y="T3"/>
                  </a:cxn>
                  <a:cxn ang="0">
                    <a:pos x="T4" y="T5"/>
                  </a:cxn>
                  <a:cxn ang="0">
                    <a:pos x="T6" y="T7"/>
                  </a:cxn>
                  <a:cxn ang="0">
                    <a:pos x="T8" y="T9"/>
                  </a:cxn>
                </a:cxnLst>
                <a:rect l="0" t="0" r="r" b="b"/>
                <a:pathLst>
                  <a:path w="340" h="19">
                    <a:moveTo>
                      <a:pt x="0" y="1"/>
                    </a:moveTo>
                    <a:lnTo>
                      <a:pt x="151" y="18"/>
                    </a:lnTo>
                    <a:lnTo>
                      <a:pt x="339" y="14"/>
                    </a:lnTo>
                    <a:lnTo>
                      <a:pt x="181" y="0"/>
                    </a:lnTo>
                    <a:lnTo>
                      <a:pt x="0" y="1"/>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92" name="Freeform 152"/>
              <p:cNvSpPr/>
              <p:nvPr/>
            </p:nvSpPr>
            <p:spPr bwMode="auto">
              <a:xfrm>
                <a:off x="4222" y="2889"/>
                <a:ext cx="152" cy="472"/>
              </a:xfrm>
              <a:custGeom>
                <a:avLst/>
                <a:gdLst>
                  <a:gd name="T0" fmla="*/ 151 w 152"/>
                  <a:gd name="T1" fmla="*/ 471 h 472"/>
                  <a:gd name="T2" fmla="*/ 0 w 152"/>
                  <a:gd name="T3" fmla="*/ 358 h 472"/>
                  <a:gd name="T4" fmla="*/ 0 w 152"/>
                  <a:gd name="T5" fmla="*/ 0 h 472"/>
                  <a:gd name="T6" fmla="*/ 151 w 152"/>
                  <a:gd name="T7" fmla="*/ 18 h 472"/>
                  <a:gd name="T8" fmla="*/ 151 w 152"/>
                  <a:gd name="T9" fmla="*/ 471 h 472"/>
                </a:gdLst>
                <a:ahLst/>
                <a:cxnLst>
                  <a:cxn ang="0">
                    <a:pos x="T0" y="T1"/>
                  </a:cxn>
                  <a:cxn ang="0">
                    <a:pos x="T2" y="T3"/>
                  </a:cxn>
                  <a:cxn ang="0">
                    <a:pos x="T4" y="T5"/>
                  </a:cxn>
                  <a:cxn ang="0">
                    <a:pos x="T6" y="T7"/>
                  </a:cxn>
                  <a:cxn ang="0">
                    <a:pos x="T8" y="T9"/>
                  </a:cxn>
                </a:cxnLst>
                <a:rect l="0" t="0" r="r" b="b"/>
                <a:pathLst>
                  <a:path w="152" h="472">
                    <a:moveTo>
                      <a:pt x="151" y="471"/>
                    </a:moveTo>
                    <a:lnTo>
                      <a:pt x="0" y="358"/>
                    </a:lnTo>
                    <a:lnTo>
                      <a:pt x="0" y="0"/>
                    </a:lnTo>
                    <a:lnTo>
                      <a:pt x="151" y="18"/>
                    </a:lnTo>
                    <a:lnTo>
                      <a:pt x="151" y="471"/>
                    </a:lnTo>
                  </a:path>
                </a:pathLst>
              </a:custGeom>
              <a:solidFill>
                <a:srgbClr val="B5B5B5"/>
              </a:solidFill>
              <a:ln w="12700" cap="rnd" cmpd="sng">
                <a:solidFill>
                  <a:srgbClr val="B5B5B5"/>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93" name="Freeform 153"/>
              <p:cNvSpPr/>
              <p:nvPr/>
            </p:nvSpPr>
            <p:spPr bwMode="auto">
              <a:xfrm>
                <a:off x="4356" y="2905"/>
                <a:ext cx="18" cy="456"/>
              </a:xfrm>
              <a:custGeom>
                <a:avLst/>
                <a:gdLst>
                  <a:gd name="T0" fmla="*/ 17 w 18"/>
                  <a:gd name="T1" fmla="*/ 2 h 456"/>
                  <a:gd name="T2" fmla="*/ 0 w 18"/>
                  <a:gd name="T3" fmla="*/ 0 h 456"/>
                  <a:gd name="T4" fmla="*/ 0 w 18"/>
                  <a:gd name="T5" fmla="*/ 443 h 456"/>
                  <a:gd name="T6" fmla="*/ 17 w 18"/>
                  <a:gd name="T7" fmla="*/ 455 h 456"/>
                  <a:gd name="T8" fmla="*/ 17 w 18"/>
                  <a:gd name="T9" fmla="*/ 2 h 456"/>
                </a:gdLst>
                <a:ahLst/>
                <a:cxnLst>
                  <a:cxn ang="0">
                    <a:pos x="T0" y="T1"/>
                  </a:cxn>
                  <a:cxn ang="0">
                    <a:pos x="T2" y="T3"/>
                  </a:cxn>
                  <a:cxn ang="0">
                    <a:pos x="T4" y="T5"/>
                  </a:cxn>
                  <a:cxn ang="0">
                    <a:pos x="T6" y="T7"/>
                  </a:cxn>
                  <a:cxn ang="0">
                    <a:pos x="T8" y="T9"/>
                  </a:cxn>
                </a:cxnLst>
                <a:rect l="0" t="0" r="r" b="b"/>
                <a:pathLst>
                  <a:path w="18" h="456">
                    <a:moveTo>
                      <a:pt x="17" y="2"/>
                    </a:moveTo>
                    <a:lnTo>
                      <a:pt x="0" y="0"/>
                    </a:lnTo>
                    <a:lnTo>
                      <a:pt x="0" y="443"/>
                    </a:lnTo>
                    <a:lnTo>
                      <a:pt x="17" y="455"/>
                    </a:lnTo>
                    <a:lnTo>
                      <a:pt x="17" y="2"/>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94" name="Freeform 154"/>
              <p:cNvSpPr/>
              <p:nvPr/>
            </p:nvSpPr>
            <p:spPr bwMode="auto">
              <a:xfrm>
                <a:off x="4384" y="2986"/>
                <a:ext cx="168" cy="137"/>
              </a:xfrm>
              <a:custGeom>
                <a:avLst/>
                <a:gdLst>
                  <a:gd name="T0" fmla="*/ 167 w 168"/>
                  <a:gd name="T1" fmla="*/ 0 h 137"/>
                  <a:gd name="T2" fmla="*/ 167 w 168"/>
                  <a:gd name="T3" fmla="*/ 125 h 137"/>
                  <a:gd name="T4" fmla="*/ 0 w 168"/>
                  <a:gd name="T5" fmla="*/ 136 h 137"/>
                  <a:gd name="T6" fmla="*/ 0 w 168"/>
                  <a:gd name="T7" fmla="*/ 130 h 137"/>
                  <a:gd name="T8" fmla="*/ 159 w 168"/>
                  <a:gd name="T9" fmla="*/ 122 h 137"/>
                  <a:gd name="T10" fmla="*/ 159 w 168"/>
                  <a:gd name="T11" fmla="*/ 1 h 137"/>
                  <a:gd name="T12" fmla="*/ 167 w 168"/>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68" h="137">
                    <a:moveTo>
                      <a:pt x="167" y="0"/>
                    </a:moveTo>
                    <a:lnTo>
                      <a:pt x="167" y="125"/>
                    </a:lnTo>
                    <a:lnTo>
                      <a:pt x="0" y="136"/>
                    </a:lnTo>
                    <a:lnTo>
                      <a:pt x="0" y="130"/>
                    </a:lnTo>
                    <a:lnTo>
                      <a:pt x="159" y="122"/>
                    </a:lnTo>
                    <a:lnTo>
                      <a:pt x="159" y="1"/>
                    </a:lnTo>
                    <a:lnTo>
                      <a:pt x="167" y="0"/>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95" name="Freeform 155"/>
              <p:cNvSpPr/>
              <p:nvPr/>
            </p:nvSpPr>
            <p:spPr bwMode="auto">
              <a:xfrm>
                <a:off x="4384" y="2961"/>
                <a:ext cx="168" cy="27"/>
              </a:xfrm>
              <a:custGeom>
                <a:avLst/>
                <a:gdLst>
                  <a:gd name="T0" fmla="*/ 0 w 168"/>
                  <a:gd name="T1" fmla="*/ 15 h 27"/>
                  <a:gd name="T2" fmla="*/ 0 w 168"/>
                  <a:gd name="T3" fmla="*/ 19 h 27"/>
                  <a:gd name="T4" fmla="*/ 39 w 168"/>
                  <a:gd name="T5" fmla="*/ 18 h 27"/>
                  <a:gd name="T6" fmla="*/ 39 w 168"/>
                  <a:gd name="T7" fmla="*/ 26 h 27"/>
                  <a:gd name="T8" fmla="*/ 128 w 168"/>
                  <a:gd name="T9" fmla="*/ 23 h 27"/>
                  <a:gd name="T10" fmla="*/ 128 w 168"/>
                  <a:gd name="T11" fmla="*/ 16 h 27"/>
                  <a:gd name="T12" fmla="*/ 167 w 168"/>
                  <a:gd name="T13" fmla="*/ 14 h 27"/>
                  <a:gd name="T14" fmla="*/ 167 w 168"/>
                  <a:gd name="T15" fmla="*/ 8 h 27"/>
                  <a:gd name="T16" fmla="*/ 128 w 168"/>
                  <a:gd name="T17" fmla="*/ 10 h 27"/>
                  <a:gd name="T18" fmla="*/ 128 w 168"/>
                  <a:gd name="T19" fmla="*/ 0 h 27"/>
                  <a:gd name="T20" fmla="*/ 111 w 168"/>
                  <a:gd name="T21" fmla="*/ 1 h 27"/>
                  <a:gd name="T22" fmla="*/ 32 w 168"/>
                  <a:gd name="T23" fmla="*/ 13 h 27"/>
                  <a:gd name="T24" fmla="*/ 0 w 168"/>
                  <a:gd name="T2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27">
                    <a:moveTo>
                      <a:pt x="0" y="15"/>
                    </a:moveTo>
                    <a:lnTo>
                      <a:pt x="0" y="19"/>
                    </a:lnTo>
                    <a:lnTo>
                      <a:pt x="39" y="18"/>
                    </a:lnTo>
                    <a:lnTo>
                      <a:pt x="39" y="26"/>
                    </a:lnTo>
                    <a:lnTo>
                      <a:pt x="128" y="23"/>
                    </a:lnTo>
                    <a:lnTo>
                      <a:pt x="128" y="16"/>
                    </a:lnTo>
                    <a:lnTo>
                      <a:pt x="167" y="14"/>
                    </a:lnTo>
                    <a:lnTo>
                      <a:pt x="167" y="8"/>
                    </a:lnTo>
                    <a:lnTo>
                      <a:pt x="128" y="10"/>
                    </a:lnTo>
                    <a:lnTo>
                      <a:pt x="128" y="0"/>
                    </a:lnTo>
                    <a:lnTo>
                      <a:pt x="111" y="1"/>
                    </a:lnTo>
                    <a:lnTo>
                      <a:pt x="32" y="13"/>
                    </a:lnTo>
                    <a:lnTo>
                      <a:pt x="0" y="15"/>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96" name="Freeform 156"/>
              <p:cNvSpPr/>
              <p:nvPr/>
            </p:nvSpPr>
            <p:spPr bwMode="auto">
              <a:xfrm>
                <a:off x="4384" y="2920"/>
                <a:ext cx="168" cy="23"/>
              </a:xfrm>
              <a:custGeom>
                <a:avLst/>
                <a:gdLst>
                  <a:gd name="T0" fmla="*/ 167 w 168"/>
                  <a:gd name="T1" fmla="*/ 0 h 23"/>
                  <a:gd name="T2" fmla="*/ 167 w 168"/>
                  <a:gd name="T3" fmla="*/ 17 h 23"/>
                  <a:gd name="T4" fmla="*/ 0 w 168"/>
                  <a:gd name="T5" fmla="*/ 22 h 23"/>
                  <a:gd name="T6" fmla="*/ 0 w 168"/>
                  <a:gd name="T7" fmla="*/ 19 h 23"/>
                  <a:gd name="T8" fmla="*/ 158 w 168"/>
                  <a:gd name="T9" fmla="*/ 1 h 23"/>
                  <a:gd name="T10" fmla="*/ 167 w 168"/>
                  <a:gd name="T11" fmla="*/ 0 h 23"/>
                </a:gdLst>
                <a:ahLst/>
                <a:cxnLst>
                  <a:cxn ang="0">
                    <a:pos x="T0" y="T1"/>
                  </a:cxn>
                  <a:cxn ang="0">
                    <a:pos x="T2" y="T3"/>
                  </a:cxn>
                  <a:cxn ang="0">
                    <a:pos x="T4" y="T5"/>
                  </a:cxn>
                  <a:cxn ang="0">
                    <a:pos x="T6" y="T7"/>
                  </a:cxn>
                  <a:cxn ang="0">
                    <a:pos x="T8" y="T9"/>
                  </a:cxn>
                  <a:cxn ang="0">
                    <a:pos x="T10" y="T11"/>
                  </a:cxn>
                </a:cxnLst>
                <a:rect l="0" t="0" r="r" b="b"/>
                <a:pathLst>
                  <a:path w="168" h="23">
                    <a:moveTo>
                      <a:pt x="167" y="0"/>
                    </a:moveTo>
                    <a:lnTo>
                      <a:pt x="167" y="17"/>
                    </a:lnTo>
                    <a:lnTo>
                      <a:pt x="0" y="22"/>
                    </a:lnTo>
                    <a:lnTo>
                      <a:pt x="0" y="19"/>
                    </a:lnTo>
                    <a:lnTo>
                      <a:pt x="158" y="1"/>
                    </a:lnTo>
                    <a:lnTo>
                      <a:pt x="167" y="0"/>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97" name="Freeform 157"/>
              <p:cNvSpPr/>
              <p:nvPr/>
            </p:nvSpPr>
            <p:spPr bwMode="auto">
              <a:xfrm>
                <a:off x="4222" y="2888"/>
                <a:ext cx="340" cy="20"/>
              </a:xfrm>
              <a:custGeom>
                <a:avLst/>
                <a:gdLst>
                  <a:gd name="T0" fmla="*/ 0 w 340"/>
                  <a:gd name="T1" fmla="*/ 2 h 20"/>
                  <a:gd name="T2" fmla="*/ 151 w 340"/>
                  <a:gd name="T3" fmla="*/ 19 h 20"/>
                  <a:gd name="T4" fmla="*/ 339 w 340"/>
                  <a:gd name="T5" fmla="*/ 14 h 20"/>
                  <a:gd name="T6" fmla="*/ 181 w 340"/>
                  <a:gd name="T7" fmla="*/ 0 h 20"/>
                  <a:gd name="T8" fmla="*/ 0 w 340"/>
                  <a:gd name="T9" fmla="*/ 2 h 20"/>
                </a:gdLst>
                <a:ahLst/>
                <a:cxnLst>
                  <a:cxn ang="0">
                    <a:pos x="T0" y="T1"/>
                  </a:cxn>
                  <a:cxn ang="0">
                    <a:pos x="T2" y="T3"/>
                  </a:cxn>
                  <a:cxn ang="0">
                    <a:pos x="T4" y="T5"/>
                  </a:cxn>
                  <a:cxn ang="0">
                    <a:pos x="T6" y="T7"/>
                  </a:cxn>
                  <a:cxn ang="0">
                    <a:pos x="T8" y="T9"/>
                  </a:cxn>
                </a:cxnLst>
                <a:rect l="0" t="0" r="r" b="b"/>
                <a:pathLst>
                  <a:path w="340" h="20">
                    <a:moveTo>
                      <a:pt x="0" y="2"/>
                    </a:moveTo>
                    <a:lnTo>
                      <a:pt x="151" y="19"/>
                    </a:lnTo>
                    <a:lnTo>
                      <a:pt x="339" y="14"/>
                    </a:lnTo>
                    <a:lnTo>
                      <a:pt x="181" y="0"/>
                    </a:lnTo>
                    <a:lnTo>
                      <a:pt x="0" y="2"/>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98" name="Freeform 158"/>
              <p:cNvSpPr/>
              <p:nvPr/>
            </p:nvSpPr>
            <p:spPr bwMode="auto">
              <a:xfrm>
                <a:off x="4372" y="2903"/>
                <a:ext cx="190" cy="458"/>
              </a:xfrm>
              <a:custGeom>
                <a:avLst/>
                <a:gdLst>
                  <a:gd name="T0" fmla="*/ 0 w 190"/>
                  <a:gd name="T1" fmla="*/ 5 h 458"/>
                  <a:gd name="T2" fmla="*/ 0 w 190"/>
                  <a:gd name="T3" fmla="*/ 457 h 458"/>
                  <a:gd name="T4" fmla="*/ 189 w 190"/>
                  <a:gd name="T5" fmla="*/ 437 h 458"/>
                  <a:gd name="T6" fmla="*/ 189 w 190"/>
                  <a:gd name="T7" fmla="*/ 0 h 458"/>
                  <a:gd name="T8" fmla="*/ 0 w 190"/>
                  <a:gd name="T9" fmla="*/ 5 h 458"/>
                </a:gdLst>
                <a:ahLst/>
                <a:cxnLst>
                  <a:cxn ang="0">
                    <a:pos x="T0" y="T1"/>
                  </a:cxn>
                  <a:cxn ang="0">
                    <a:pos x="T2" y="T3"/>
                  </a:cxn>
                  <a:cxn ang="0">
                    <a:pos x="T4" y="T5"/>
                  </a:cxn>
                  <a:cxn ang="0">
                    <a:pos x="T6" y="T7"/>
                  </a:cxn>
                  <a:cxn ang="0">
                    <a:pos x="T8" y="T9"/>
                  </a:cxn>
                </a:cxnLst>
                <a:rect l="0" t="0" r="r" b="b"/>
                <a:pathLst>
                  <a:path w="190" h="458">
                    <a:moveTo>
                      <a:pt x="0" y="5"/>
                    </a:moveTo>
                    <a:lnTo>
                      <a:pt x="0" y="457"/>
                    </a:lnTo>
                    <a:lnTo>
                      <a:pt x="189" y="437"/>
                    </a:lnTo>
                    <a:lnTo>
                      <a:pt x="189" y="0"/>
                    </a:lnTo>
                    <a:lnTo>
                      <a:pt x="0" y="5"/>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99" name="Freeform 159"/>
              <p:cNvSpPr/>
              <p:nvPr/>
            </p:nvSpPr>
            <p:spPr bwMode="auto">
              <a:xfrm>
                <a:off x="4222" y="2889"/>
                <a:ext cx="151" cy="472"/>
              </a:xfrm>
              <a:custGeom>
                <a:avLst/>
                <a:gdLst>
                  <a:gd name="T0" fmla="*/ 0 w 151"/>
                  <a:gd name="T1" fmla="*/ 0 h 472"/>
                  <a:gd name="T2" fmla="*/ 0 w 151"/>
                  <a:gd name="T3" fmla="*/ 358 h 472"/>
                  <a:gd name="T4" fmla="*/ 150 w 151"/>
                  <a:gd name="T5" fmla="*/ 471 h 472"/>
                  <a:gd name="T6" fmla="*/ 150 w 151"/>
                  <a:gd name="T7" fmla="*/ 18 h 472"/>
                  <a:gd name="T8" fmla="*/ 0 w 151"/>
                  <a:gd name="T9" fmla="*/ 0 h 472"/>
                </a:gdLst>
                <a:ahLst/>
                <a:cxnLst>
                  <a:cxn ang="0">
                    <a:pos x="T0" y="T1"/>
                  </a:cxn>
                  <a:cxn ang="0">
                    <a:pos x="T2" y="T3"/>
                  </a:cxn>
                  <a:cxn ang="0">
                    <a:pos x="T4" y="T5"/>
                  </a:cxn>
                  <a:cxn ang="0">
                    <a:pos x="T6" y="T7"/>
                  </a:cxn>
                  <a:cxn ang="0">
                    <a:pos x="T8" y="T9"/>
                  </a:cxn>
                </a:cxnLst>
                <a:rect l="0" t="0" r="r" b="b"/>
                <a:pathLst>
                  <a:path w="151" h="472">
                    <a:moveTo>
                      <a:pt x="0" y="0"/>
                    </a:moveTo>
                    <a:lnTo>
                      <a:pt x="0" y="358"/>
                    </a:lnTo>
                    <a:lnTo>
                      <a:pt x="150" y="471"/>
                    </a:lnTo>
                    <a:lnTo>
                      <a:pt x="150" y="18"/>
                    </a:lnTo>
                    <a:lnTo>
                      <a:pt x="0" y="0"/>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00" name="Line 160"/>
              <p:cNvSpPr>
                <a:spLocks noChangeShapeType="1"/>
              </p:cNvSpPr>
              <p:nvPr/>
            </p:nvSpPr>
            <p:spPr bwMode="auto">
              <a:xfrm>
                <a:off x="4356" y="2906"/>
                <a:ext cx="0" cy="44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01" name="Freeform 161"/>
              <p:cNvSpPr/>
              <p:nvPr/>
            </p:nvSpPr>
            <p:spPr bwMode="auto">
              <a:xfrm>
                <a:off x="4356" y="2912"/>
                <a:ext cx="206" cy="17"/>
              </a:xfrm>
              <a:custGeom>
                <a:avLst/>
                <a:gdLst>
                  <a:gd name="T0" fmla="*/ 0 w 206"/>
                  <a:gd name="T1" fmla="*/ 9 h 17"/>
                  <a:gd name="T2" fmla="*/ 16 w 206"/>
                  <a:gd name="T3" fmla="*/ 16 h 17"/>
                  <a:gd name="T4" fmla="*/ 205 w 206"/>
                  <a:gd name="T5" fmla="*/ 0 h 17"/>
                </a:gdLst>
                <a:ahLst/>
                <a:cxnLst>
                  <a:cxn ang="0">
                    <a:pos x="T0" y="T1"/>
                  </a:cxn>
                  <a:cxn ang="0">
                    <a:pos x="T2" y="T3"/>
                  </a:cxn>
                  <a:cxn ang="0">
                    <a:pos x="T4" y="T5"/>
                  </a:cxn>
                </a:cxnLst>
                <a:rect l="0" t="0" r="r" b="b"/>
                <a:pathLst>
                  <a:path w="206" h="17">
                    <a:moveTo>
                      <a:pt x="0" y="9"/>
                    </a:moveTo>
                    <a:lnTo>
                      <a:pt x="16" y="16"/>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02" name="Freeform 162"/>
              <p:cNvSpPr/>
              <p:nvPr/>
            </p:nvSpPr>
            <p:spPr bwMode="auto">
              <a:xfrm>
                <a:off x="4356" y="2945"/>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03" name="Freeform 163"/>
              <p:cNvSpPr/>
              <p:nvPr/>
            </p:nvSpPr>
            <p:spPr bwMode="auto">
              <a:xfrm>
                <a:off x="4384" y="2920"/>
                <a:ext cx="168" cy="23"/>
              </a:xfrm>
              <a:custGeom>
                <a:avLst/>
                <a:gdLst>
                  <a:gd name="T0" fmla="*/ 0 w 168"/>
                  <a:gd name="T1" fmla="*/ 5 h 23"/>
                  <a:gd name="T2" fmla="*/ 0 w 168"/>
                  <a:gd name="T3" fmla="*/ 22 h 23"/>
                  <a:gd name="T4" fmla="*/ 167 w 168"/>
                  <a:gd name="T5" fmla="*/ 17 h 23"/>
                  <a:gd name="T6" fmla="*/ 167 w 168"/>
                  <a:gd name="T7" fmla="*/ 0 h 23"/>
                  <a:gd name="T8" fmla="*/ 0 w 168"/>
                  <a:gd name="T9" fmla="*/ 5 h 23"/>
                </a:gdLst>
                <a:ahLst/>
                <a:cxnLst>
                  <a:cxn ang="0">
                    <a:pos x="T0" y="T1"/>
                  </a:cxn>
                  <a:cxn ang="0">
                    <a:pos x="T2" y="T3"/>
                  </a:cxn>
                  <a:cxn ang="0">
                    <a:pos x="T4" y="T5"/>
                  </a:cxn>
                  <a:cxn ang="0">
                    <a:pos x="T6" y="T7"/>
                  </a:cxn>
                  <a:cxn ang="0">
                    <a:pos x="T8" y="T9"/>
                  </a:cxn>
                </a:cxnLst>
                <a:rect l="0" t="0" r="r" b="b"/>
                <a:pathLst>
                  <a:path w="168" h="23">
                    <a:moveTo>
                      <a:pt x="0" y="5"/>
                    </a:moveTo>
                    <a:lnTo>
                      <a:pt x="0" y="22"/>
                    </a:lnTo>
                    <a:lnTo>
                      <a:pt x="167" y="17"/>
                    </a:lnTo>
                    <a:lnTo>
                      <a:pt x="167" y="0"/>
                    </a:lnTo>
                    <a:lnTo>
                      <a:pt x="0" y="5"/>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04" name="Freeform 164"/>
              <p:cNvSpPr/>
              <p:nvPr/>
            </p:nvSpPr>
            <p:spPr bwMode="auto">
              <a:xfrm>
                <a:off x="4356" y="2955"/>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05" name="Freeform 165"/>
              <p:cNvSpPr/>
              <p:nvPr/>
            </p:nvSpPr>
            <p:spPr bwMode="auto">
              <a:xfrm>
                <a:off x="4356" y="2986"/>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06" name="Freeform 166"/>
              <p:cNvSpPr/>
              <p:nvPr/>
            </p:nvSpPr>
            <p:spPr bwMode="auto">
              <a:xfrm>
                <a:off x="4356" y="3111"/>
                <a:ext cx="206" cy="17"/>
              </a:xfrm>
              <a:custGeom>
                <a:avLst/>
                <a:gdLst>
                  <a:gd name="T0" fmla="*/ 205 w 206"/>
                  <a:gd name="T1" fmla="*/ 0 h 17"/>
                  <a:gd name="T2" fmla="*/ 16 w 206"/>
                  <a:gd name="T3" fmla="*/ 16 h 17"/>
                  <a:gd name="T4" fmla="*/ 0 w 206"/>
                  <a:gd name="T5" fmla="*/ 7 h 17"/>
                </a:gdLst>
                <a:ahLst/>
                <a:cxnLst>
                  <a:cxn ang="0">
                    <a:pos x="T0" y="T1"/>
                  </a:cxn>
                  <a:cxn ang="0">
                    <a:pos x="T2" y="T3"/>
                  </a:cxn>
                  <a:cxn ang="0">
                    <a:pos x="T4" y="T5"/>
                  </a:cxn>
                </a:cxnLst>
                <a:rect l="0" t="0" r="r" b="b"/>
                <a:pathLst>
                  <a:path w="206" h="17">
                    <a:moveTo>
                      <a:pt x="205" y="0"/>
                    </a:moveTo>
                    <a:lnTo>
                      <a:pt x="16" y="16"/>
                    </a:lnTo>
                    <a:lnTo>
                      <a:pt x="0" y="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07" name="Line 167"/>
              <p:cNvSpPr>
                <a:spLocks noChangeShapeType="1"/>
              </p:cNvSpPr>
              <p:nvPr/>
            </p:nvSpPr>
            <p:spPr bwMode="auto">
              <a:xfrm>
                <a:off x="4384" y="2993"/>
                <a:ext cx="0" cy="12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08" name="Line 168"/>
              <p:cNvSpPr>
                <a:spLocks noChangeShapeType="1"/>
              </p:cNvSpPr>
              <p:nvPr/>
            </p:nvSpPr>
            <p:spPr bwMode="auto">
              <a:xfrm>
                <a:off x="4551" y="2987"/>
                <a:ext cx="0" cy="12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09" name="Freeform 169"/>
              <p:cNvSpPr/>
              <p:nvPr/>
            </p:nvSpPr>
            <p:spPr bwMode="auto">
              <a:xfrm>
                <a:off x="4384" y="2987"/>
                <a:ext cx="160" cy="130"/>
              </a:xfrm>
              <a:custGeom>
                <a:avLst/>
                <a:gdLst>
                  <a:gd name="T0" fmla="*/ 159 w 160"/>
                  <a:gd name="T1" fmla="*/ 0 h 130"/>
                  <a:gd name="T2" fmla="*/ 159 w 160"/>
                  <a:gd name="T3" fmla="*/ 121 h 130"/>
                  <a:gd name="T4" fmla="*/ 0 w 160"/>
                  <a:gd name="T5" fmla="*/ 129 h 130"/>
                </a:gdLst>
                <a:ahLst/>
                <a:cxnLst>
                  <a:cxn ang="0">
                    <a:pos x="T0" y="T1"/>
                  </a:cxn>
                  <a:cxn ang="0">
                    <a:pos x="T2" y="T3"/>
                  </a:cxn>
                  <a:cxn ang="0">
                    <a:pos x="T4" y="T5"/>
                  </a:cxn>
                </a:cxnLst>
                <a:rect l="0" t="0" r="r" b="b"/>
                <a:pathLst>
                  <a:path w="160" h="130">
                    <a:moveTo>
                      <a:pt x="159" y="0"/>
                    </a:moveTo>
                    <a:lnTo>
                      <a:pt x="159" y="121"/>
                    </a:lnTo>
                    <a:lnTo>
                      <a:pt x="0" y="12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10" name="Line 170"/>
              <p:cNvSpPr>
                <a:spLocks noChangeShapeType="1"/>
              </p:cNvSpPr>
              <p:nvPr/>
            </p:nvSpPr>
            <p:spPr bwMode="auto">
              <a:xfrm>
                <a:off x="4543" y="3108"/>
                <a:ext cx="8" cy="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11" name="Line 171"/>
              <p:cNvSpPr>
                <a:spLocks noChangeShapeType="1"/>
              </p:cNvSpPr>
              <p:nvPr/>
            </p:nvSpPr>
            <p:spPr bwMode="auto">
              <a:xfrm flipH="1">
                <a:off x="4384" y="3028"/>
                <a:ext cx="159" cy="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12" name="Line 172"/>
              <p:cNvSpPr>
                <a:spLocks noChangeShapeType="1"/>
              </p:cNvSpPr>
              <p:nvPr/>
            </p:nvSpPr>
            <p:spPr bwMode="auto">
              <a:xfrm flipH="1">
                <a:off x="4384" y="3070"/>
                <a:ext cx="159" cy="9"/>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13" name="Freeform 173"/>
              <p:cNvSpPr/>
              <p:nvPr/>
            </p:nvSpPr>
            <p:spPr bwMode="auto">
              <a:xfrm>
                <a:off x="4356" y="3144"/>
                <a:ext cx="206" cy="17"/>
              </a:xfrm>
              <a:custGeom>
                <a:avLst/>
                <a:gdLst>
                  <a:gd name="T0" fmla="*/ 0 w 206"/>
                  <a:gd name="T1" fmla="*/ 3 h 17"/>
                  <a:gd name="T2" fmla="*/ 16 w 206"/>
                  <a:gd name="T3" fmla="*/ 16 h 17"/>
                  <a:gd name="T4" fmla="*/ 205 w 206"/>
                  <a:gd name="T5" fmla="*/ 0 h 17"/>
                </a:gdLst>
                <a:ahLst/>
                <a:cxnLst>
                  <a:cxn ang="0">
                    <a:pos x="T0" y="T1"/>
                  </a:cxn>
                  <a:cxn ang="0">
                    <a:pos x="T2" y="T3"/>
                  </a:cxn>
                  <a:cxn ang="0">
                    <a:pos x="T4" y="T5"/>
                  </a:cxn>
                </a:cxnLst>
                <a:rect l="0" t="0" r="r" b="b"/>
                <a:pathLst>
                  <a:path w="206" h="17">
                    <a:moveTo>
                      <a:pt x="0" y="3"/>
                    </a:moveTo>
                    <a:lnTo>
                      <a:pt x="16" y="16"/>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14" name="Freeform 174"/>
              <p:cNvSpPr/>
              <p:nvPr/>
            </p:nvSpPr>
            <p:spPr bwMode="auto">
              <a:xfrm>
                <a:off x="4356" y="3320"/>
                <a:ext cx="206" cy="21"/>
              </a:xfrm>
              <a:custGeom>
                <a:avLst/>
                <a:gdLst>
                  <a:gd name="T0" fmla="*/ 0 w 206"/>
                  <a:gd name="T1" fmla="*/ 7 h 21"/>
                  <a:gd name="T2" fmla="*/ 16 w 206"/>
                  <a:gd name="T3" fmla="*/ 20 h 21"/>
                  <a:gd name="T4" fmla="*/ 205 w 206"/>
                  <a:gd name="T5" fmla="*/ 0 h 21"/>
                </a:gdLst>
                <a:ahLst/>
                <a:cxnLst>
                  <a:cxn ang="0">
                    <a:pos x="T0" y="T1"/>
                  </a:cxn>
                  <a:cxn ang="0">
                    <a:pos x="T2" y="T3"/>
                  </a:cxn>
                  <a:cxn ang="0">
                    <a:pos x="T4" y="T5"/>
                  </a:cxn>
                </a:cxnLst>
                <a:rect l="0" t="0" r="r" b="b"/>
                <a:pathLst>
                  <a:path w="206" h="21">
                    <a:moveTo>
                      <a:pt x="0" y="7"/>
                    </a:moveTo>
                    <a:lnTo>
                      <a:pt x="16" y="20"/>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15" name="Line 175"/>
              <p:cNvSpPr>
                <a:spLocks noChangeShapeType="1"/>
              </p:cNvSpPr>
              <p:nvPr/>
            </p:nvSpPr>
            <p:spPr bwMode="auto">
              <a:xfrm>
                <a:off x="4384" y="3154"/>
                <a:ext cx="0" cy="18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16" name="Line 176"/>
              <p:cNvSpPr>
                <a:spLocks noChangeShapeType="1"/>
              </p:cNvSpPr>
              <p:nvPr/>
            </p:nvSpPr>
            <p:spPr bwMode="auto">
              <a:xfrm>
                <a:off x="4551" y="3144"/>
                <a:ext cx="0" cy="17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17" name="Freeform 177"/>
              <p:cNvSpPr/>
              <p:nvPr/>
            </p:nvSpPr>
            <p:spPr bwMode="auto">
              <a:xfrm>
                <a:off x="4384" y="3308"/>
                <a:ext cx="168" cy="21"/>
              </a:xfrm>
              <a:custGeom>
                <a:avLst/>
                <a:gdLst>
                  <a:gd name="T0" fmla="*/ 0 w 168"/>
                  <a:gd name="T1" fmla="*/ 20 h 21"/>
                  <a:gd name="T2" fmla="*/ 167 w 168"/>
                  <a:gd name="T3" fmla="*/ 4 h 21"/>
                  <a:gd name="T4" fmla="*/ 167 w 168"/>
                  <a:gd name="T5" fmla="*/ 0 h 21"/>
                  <a:gd name="T6" fmla="*/ 0 w 168"/>
                  <a:gd name="T7" fmla="*/ 17 h 21"/>
                  <a:gd name="T8" fmla="*/ 0 w 168"/>
                  <a:gd name="T9" fmla="*/ 20 h 21"/>
                </a:gdLst>
                <a:ahLst/>
                <a:cxnLst>
                  <a:cxn ang="0">
                    <a:pos x="T0" y="T1"/>
                  </a:cxn>
                  <a:cxn ang="0">
                    <a:pos x="T2" y="T3"/>
                  </a:cxn>
                  <a:cxn ang="0">
                    <a:pos x="T4" y="T5"/>
                  </a:cxn>
                  <a:cxn ang="0">
                    <a:pos x="T6" y="T7"/>
                  </a:cxn>
                  <a:cxn ang="0">
                    <a:pos x="T8" y="T9"/>
                  </a:cxn>
                </a:cxnLst>
                <a:rect l="0" t="0" r="r" b="b"/>
                <a:pathLst>
                  <a:path w="168" h="21">
                    <a:moveTo>
                      <a:pt x="0" y="20"/>
                    </a:moveTo>
                    <a:lnTo>
                      <a:pt x="167" y="4"/>
                    </a:lnTo>
                    <a:lnTo>
                      <a:pt x="167" y="0"/>
                    </a:lnTo>
                    <a:lnTo>
                      <a:pt x="0" y="17"/>
                    </a:lnTo>
                    <a:lnTo>
                      <a:pt x="0" y="2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18" name="Freeform 178"/>
              <p:cNvSpPr/>
              <p:nvPr/>
            </p:nvSpPr>
            <p:spPr bwMode="auto">
              <a:xfrm>
                <a:off x="4384" y="3300"/>
                <a:ext cx="168" cy="21"/>
              </a:xfrm>
              <a:custGeom>
                <a:avLst/>
                <a:gdLst>
                  <a:gd name="T0" fmla="*/ 0 w 168"/>
                  <a:gd name="T1" fmla="*/ 20 h 21"/>
                  <a:gd name="T2" fmla="*/ 167 w 168"/>
                  <a:gd name="T3" fmla="*/ 3 h 21"/>
                  <a:gd name="T4" fmla="*/ 167 w 168"/>
                  <a:gd name="T5" fmla="*/ 0 h 21"/>
                  <a:gd name="T6" fmla="*/ 0 w 168"/>
                  <a:gd name="T7" fmla="*/ 16 h 21"/>
                  <a:gd name="T8" fmla="*/ 0 w 168"/>
                  <a:gd name="T9" fmla="*/ 20 h 21"/>
                </a:gdLst>
                <a:ahLst/>
                <a:cxnLst>
                  <a:cxn ang="0">
                    <a:pos x="T0" y="T1"/>
                  </a:cxn>
                  <a:cxn ang="0">
                    <a:pos x="T2" y="T3"/>
                  </a:cxn>
                  <a:cxn ang="0">
                    <a:pos x="T4" y="T5"/>
                  </a:cxn>
                  <a:cxn ang="0">
                    <a:pos x="T6" y="T7"/>
                  </a:cxn>
                  <a:cxn ang="0">
                    <a:pos x="T8" y="T9"/>
                  </a:cxn>
                </a:cxnLst>
                <a:rect l="0" t="0" r="r" b="b"/>
                <a:pathLst>
                  <a:path w="168" h="21">
                    <a:moveTo>
                      <a:pt x="0" y="20"/>
                    </a:moveTo>
                    <a:lnTo>
                      <a:pt x="167" y="3"/>
                    </a:lnTo>
                    <a:lnTo>
                      <a:pt x="167" y="0"/>
                    </a:lnTo>
                    <a:lnTo>
                      <a:pt x="0" y="16"/>
                    </a:lnTo>
                    <a:lnTo>
                      <a:pt x="0" y="2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19" name="Freeform 179"/>
              <p:cNvSpPr/>
              <p:nvPr/>
            </p:nvSpPr>
            <p:spPr bwMode="auto">
              <a:xfrm>
                <a:off x="4384" y="3293"/>
                <a:ext cx="168" cy="20"/>
              </a:xfrm>
              <a:custGeom>
                <a:avLst/>
                <a:gdLst>
                  <a:gd name="T0" fmla="*/ 167 w 168"/>
                  <a:gd name="T1" fmla="*/ 3 h 20"/>
                  <a:gd name="T2" fmla="*/ 0 w 168"/>
                  <a:gd name="T3" fmla="*/ 19 h 20"/>
                  <a:gd name="T4" fmla="*/ 0 w 168"/>
                  <a:gd name="T5" fmla="*/ 15 h 20"/>
                  <a:gd name="T6" fmla="*/ 167 w 168"/>
                  <a:gd name="T7" fmla="*/ 0 h 20"/>
                  <a:gd name="T8" fmla="*/ 167 w 168"/>
                  <a:gd name="T9" fmla="*/ 3 h 20"/>
                </a:gdLst>
                <a:ahLst/>
                <a:cxnLst>
                  <a:cxn ang="0">
                    <a:pos x="T0" y="T1"/>
                  </a:cxn>
                  <a:cxn ang="0">
                    <a:pos x="T2" y="T3"/>
                  </a:cxn>
                  <a:cxn ang="0">
                    <a:pos x="T4" y="T5"/>
                  </a:cxn>
                  <a:cxn ang="0">
                    <a:pos x="T6" y="T7"/>
                  </a:cxn>
                  <a:cxn ang="0">
                    <a:pos x="T8" y="T9"/>
                  </a:cxn>
                </a:cxnLst>
                <a:rect l="0" t="0" r="r" b="b"/>
                <a:pathLst>
                  <a:path w="168" h="20">
                    <a:moveTo>
                      <a:pt x="167" y="3"/>
                    </a:moveTo>
                    <a:lnTo>
                      <a:pt x="0" y="19"/>
                    </a:lnTo>
                    <a:lnTo>
                      <a:pt x="0" y="15"/>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20" name="Freeform 180"/>
              <p:cNvSpPr/>
              <p:nvPr/>
            </p:nvSpPr>
            <p:spPr bwMode="auto">
              <a:xfrm>
                <a:off x="4384" y="3285"/>
                <a:ext cx="168" cy="18"/>
              </a:xfrm>
              <a:custGeom>
                <a:avLst/>
                <a:gdLst>
                  <a:gd name="T0" fmla="*/ 167 w 168"/>
                  <a:gd name="T1" fmla="*/ 3 h 18"/>
                  <a:gd name="T2" fmla="*/ 0 w 168"/>
                  <a:gd name="T3" fmla="*/ 17 h 18"/>
                  <a:gd name="T4" fmla="*/ 0 w 168"/>
                  <a:gd name="T5" fmla="*/ 14 h 18"/>
                  <a:gd name="T6" fmla="*/ 167 w 168"/>
                  <a:gd name="T7" fmla="*/ 0 h 18"/>
                  <a:gd name="T8" fmla="*/ 167 w 168"/>
                  <a:gd name="T9" fmla="*/ 3 h 18"/>
                </a:gdLst>
                <a:ahLst/>
                <a:cxnLst>
                  <a:cxn ang="0">
                    <a:pos x="T0" y="T1"/>
                  </a:cxn>
                  <a:cxn ang="0">
                    <a:pos x="T2" y="T3"/>
                  </a:cxn>
                  <a:cxn ang="0">
                    <a:pos x="T4" y="T5"/>
                  </a:cxn>
                  <a:cxn ang="0">
                    <a:pos x="T6" y="T7"/>
                  </a:cxn>
                  <a:cxn ang="0">
                    <a:pos x="T8" y="T9"/>
                  </a:cxn>
                </a:cxnLst>
                <a:rect l="0" t="0" r="r" b="b"/>
                <a:pathLst>
                  <a:path w="168" h="18">
                    <a:moveTo>
                      <a:pt x="167" y="3"/>
                    </a:moveTo>
                    <a:lnTo>
                      <a:pt x="0" y="17"/>
                    </a:lnTo>
                    <a:lnTo>
                      <a:pt x="0" y="14"/>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21" name="Freeform 181"/>
              <p:cNvSpPr/>
              <p:nvPr/>
            </p:nvSpPr>
            <p:spPr bwMode="auto">
              <a:xfrm>
                <a:off x="4384" y="3276"/>
                <a:ext cx="168" cy="19"/>
              </a:xfrm>
              <a:custGeom>
                <a:avLst/>
                <a:gdLst>
                  <a:gd name="T0" fmla="*/ 167 w 168"/>
                  <a:gd name="T1" fmla="*/ 3 h 19"/>
                  <a:gd name="T2" fmla="*/ 0 w 168"/>
                  <a:gd name="T3" fmla="*/ 18 h 19"/>
                  <a:gd name="T4" fmla="*/ 0 w 168"/>
                  <a:gd name="T5" fmla="*/ 14 h 19"/>
                  <a:gd name="T6" fmla="*/ 167 w 168"/>
                  <a:gd name="T7" fmla="*/ 0 h 19"/>
                  <a:gd name="T8" fmla="*/ 167 w 168"/>
                  <a:gd name="T9" fmla="*/ 3 h 19"/>
                </a:gdLst>
                <a:ahLst/>
                <a:cxnLst>
                  <a:cxn ang="0">
                    <a:pos x="T0" y="T1"/>
                  </a:cxn>
                  <a:cxn ang="0">
                    <a:pos x="T2" y="T3"/>
                  </a:cxn>
                  <a:cxn ang="0">
                    <a:pos x="T4" y="T5"/>
                  </a:cxn>
                  <a:cxn ang="0">
                    <a:pos x="T6" y="T7"/>
                  </a:cxn>
                  <a:cxn ang="0">
                    <a:pos x="T8" y="T9"/>
                  </a:cxn>
                </a:cxnLst>
                <a:rect l="0" t="0" r="r" b="b"/>
                <a:pathLst>
                  <a:path w="168" h="19">
                    <a:moveTo>
                      <a:pt x="167" y="3"/>
                    </a:moveTo>
                    <a:lnTo>
                      <a:pt x="0" y="18"/>
                    </a:lnTo>
                    <a:lnTo>
                      <a:pt x="0" y="14"/>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22" name="Freeform 182"/>
              <p:cNvSpPr/>
              <p:nvPr/>
            </p:nvSpPr>
            <p:spPr bwMode="auto">
              <a:xfrm>
                <a:off x="4384" y="2921"/>
                <a:ext cx="160" cy="21"/>
              </a:xfrm>
              <a:custGeom>
                <a:avLst/>
                <a:gdLst>
                  <a:gd name="T0" fmla="*/ 159 w 160"/>
                  <a:gd name="T1" fmla="*/ 0 h 21"/>
                  <a:gd name="T2" fmla="*/ 159 w 160"/>
                  <a:gd name="T3" fmla="*/ 15 h 21"/>
                  <a:gd name="T4" fmla="*/ 0 w 160"/>
                  <a:gd name="T5" fmla="*/ 20 h 21"/>
                  <a:gd name="T6" fmla="*/ 1 w 160"/>
                  <a:gd name="T7" fmla="*/ 5 h 21"/>
                  <a:gd name="T8" fmla="*/ 159 w 160"/>
                  <a:gd name="T9" fmla="*/ 0 h 21"/>
                </a:gdLst>
                <a:ahLst/>
                <a:cxnLst>
                  <a:cxn ang="0">
                    <a:pos x="T0" y="T1"/>
                  </a:cxn>
                  <a:cxn ang="0">
                    <a:pos x="T2" y="T3"/>
                  </a:cxn>
                  <a:cxn ang="0">
                    <a:pos x="T4" y="T5"/>
                  </a:cxn>
                  <a:cxn ang="0">
                    <a:pos x="T6" y="T7"/>
                  </a:cxn>
                  <a:cxn ang="0">
                    <a:pos x="T8" y="T9"/>
                  </a:cxn>
                </a:cxnLst>
                <a:rect l="0" t="0" r="r" b="b"/>
                <a:pathLst>
                  <a:path w="160" h="21">
                    <a:moveTo>
                      <a:pt x="159" y="0"/>
                    </a:moveTo>
                    <a:lnTo>
                      <a:pt x="159" y="15"/>
                    </a:lnTo>
                    <a:lnTo>
                      <a:pt x="0" y="20"/>
                    </a:lnTo>
                    <a:lnTo>
                      <a:pt x="1" y="5"/>
                    </a:lnTo>
                    <a:lnTo>
                      <a:pt x="159" y="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23" name="Line 183"/>
              <p:cNvSpPr>
                <a:spLocks noChangeShapeType="1"/>
              </p:cNvSpPr>
              <p:nvPr/>
            </p:nvSpPr>
            <p:spPr bwMode="auto">
              <a:xfrm>
                <a:off x="4543" y="2936"/>
                <a:ext cx="8" cy="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24" name="Freeform 184"/>
              <p:cNvSpPr/>
              <p:nvPr/>
            </p:nvSpPr>
            <p:spPr bwMode="auto">
              <a:xfrm>
                <a:off x="4423" y="2961"/>
                <a:ext cx="90" cy="27"/>
              </a:xfrm>
              <a:custGeom>
                <a:avLst/>
                <a:gdLst>
                  <a:gd name="T0" fmla="*/ 0 w 90"/>
                  <a:gd name="T1" fmla="*/ 26 h 27"/>
                  <a:gd name="T2" fmla="*/ 0 w 90"/>
                  <a:gd name="T3" fmla="*/ 3 h 27"/>
                  <a:gd name="T4" fmla="*/ 89 w 90"/>
                  <a:gd name="T5" fmla="*/ 0 h 27"/>
                  <a:gd name="T6" fmla="*/ 89 w 90"/>
                  <a:gd name="T7" fmla="*/ 23 h 27"/>
                  <a:gd name="T8" fmla="*/ 0 w 90"/>
                  <a:gd name="T9" fmla="*/ 26 h 27"/>
                </a:gdLst>
                <a:ahLst/>
                <a:cxnLst>
                  <a:cxn ang="0">
                    <a:pos x="T0" y="T1"/>
                  </a:cxn>
                  <a:cxn ang="0">
                    <a:pos x="T2" y="T3"/>
                  </a:cxn>
                  <a:cxn ang="0">
                    <a:pos x="T4" y="T5"/>
                  </a:cxn>
                  <a:cxn ang="0">
                    <a:pos x="T6" y="T7"/>
                  </a:cxn>
                  <a:cxn ang="0">
                    <a:pos x="T8" y="T9"/>
                  </a:cxn>
                </a:cxnLst>
                <a:rect l="0" t="0" r="r" b="b"/>
                <a:pathLst>
                  <a:path w="90" h="27">
                    <a:moveTo>
                      <a:pt x="0" y="26"/>
                    </a:moveTo>
                    <a:lnTo>
                      <a:pt x="0" y="3"/>
                    </a:lnTo>
                    <a:lnTo>
                      <a:pt x="89" y="0"/>
                    </a:lnTo>
                    <a:lnTo>
                      <a:pt x="89" y="23"/>
                    </a:lnTo>
                    <a:lnTo>
                      <a:pt x="0" y="26"/>
                    </a:lnTo>
                  </a:path>
                </a:pathLst>
              </a:custGeom>
              <a:noFill/>
              <a:ln w="12700" cap="rnd" cmpd="sng">
                <a:solidFill>
                  <a:srgbClr val="51515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25" name="Freeform 185"/>
              <p:cNvSpPr/>
              <p:nvPr/>
            </p:nvSpPr>
            <p:spPr bwMode="auto">
              <a:xfrm>
                <a:off x="4384" y="2961"/>
                <a:ext cx="168" cy="24"/>
              </a:xfrm>
              <a:custGeom>
                <a:avLst/>
                <a:gdLst>
                  <a:gd name="T0" fmla="*/ 113 w 168"/>
                  <a:gd name="T1" fmla="*/ 8 h 24"/>
                  <a:gd name="T2" fmla="*/ 167 w 168"/>
                  <a:gd name="T3" fmla="*/ 6 h 24"/>
                  <a:gd name="T4" fmla="*/ 167 w 168"/>
                  <a:gd name="T5" fmla="*/ 14 h 24"/>
                  <a:gd name="T6" fmla="*/ 159 w 168"/>
                  <a:gd name="T7" fmla="*/ 13 h 24"/>
                  <a:gd name="T8" fmla="*/ 113 w 168"/>
                  <a:gd name="T9" fmla="*/ 14 h 24"/>
                  <a:gd name="T10" fmla="*/ 113 w 168"/>
                  <a:gd name="T11" fmla="*/ 20 h 24"/>
                  <a:gd name="T12" fmla="*/ 39 w 168"/>
                  <a:gd name="T13" fmla="*/ 23 h 24"/>
                  <a:gd name="T14" fmla="*/ 39 w 168"/>
                  <a:gd name="T15" fmla="*/ 18 h 24"/>
                  <a:gd name="T16" fmla="*/ 32 w 168"/>
                  <a:gd name="T17" fmla="*/ 17 h 24"/>
                  <a:gd name="T18" fmla="*/ 0 w 168"/>
                  <a:gd name="T19" fmla="*/ 18 h 24"/>
                  <a:gd name="T20" fmla="*/ 0 w 168"/>
                  <a:gd name="T21" fmla="*/ 12 h 24"/>
                  <a:gd name="T22" fmla="*/ 39 w 168"/>
                  <a:gd name="T23" fmla="*/ 10 h 24"/>
                  <a:gd name="T24" fmla="*/ 39 w 168"/>
                  <a:gd name="T25" fmla="*/ 3 h 24"/>
                  <a:gd name="T26" fmla="*/ 128 w 168"/>
                  <a:gd name="T27" fmla="*/ 0 h 24"/>
                  <a:gd name="T28" fmla="*/ 113 w 168"/>
                  <a:gd name="T2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8" h="24">
                    <a:moveTo>
                      <a:pt x="113" y="8"/>
                    </a:moveTo>
                    <a:lnTo>
                      <a:pt x="167" y="6"/>
                    </a:lnTo>
                    <a:lnTo>
                      <a:pt x="167" y="14"/>
                    </a:lnTo>
                    <a:lnTo>
                      <a:pt x="159" y="13"/>
                    </a:lnTo>
                    <a:lnTo>
                      <a:pt x="113" y="14"/>
                    </a:lnTo>
                    <a:lnTo>
                      <a:pt x="113" y="20"/>
                    </a:lnTo>
                    <a:lnTo>
                      <a:pt x="39" y="23"/>
                    </a:lnTo>
                    <a:lnTo>
                      <a:pt x="39" y="18"/>
                    </a:lnTo>
                    <a:lnTo>
                      <a:pt x="32" y="17"/>
                    </a:lnTo>
                    <a:lnTo>
                      <a:pt x="0" y="18"/>
                    </a:lnTo>
                    <a:lnTo>
                      <a:pt x="0" y="12"/>
                    </a:lnTo>
                    <a:lnTo>
                      <a:pt x="39" y="10"/>
                    </a:lnTo>
                    <a:lnTo>
                      <a:pt x="39" y="3"/>
                    </a:lnTo>
                    <a:lnTo>
                      <a:pt x="128" y="0"/>
                    </a:lnTo>
                    <a:lnTo>
                      <a:pt x="113" y="8"/>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26" name="Freeform 186"/>
              <p:cNvSpPr/>
              <p:nvPr/>
            </p:nvSpPr>
            <p:spPr bwMode="auto">
              <a:xfrm>
                <a:off x="4384" y="2972"/>
                <a:ext cx="129" cy="17"/>
              </a:xfrm>
              <a:custGeom>
                <a:avLst/>
                <a:gdLst>
                  <a:gd name="T0" fmla="*/ 0 w 129"/>
                  <a:gd name="T1" fmla="*/ 0 h 17"/>
                  <a:gd name="T2" fmla="*/ 0 w 129"/>
                  <a:gd name="T3" fmla="*/ 8 h 17"/>
                  <a:gd name="T4" fmla="*/ 38 w 129"/>
                  <a:gd name="T5" fmla="*/ 7 h 17"/>
                  <a:gd name="T6" fmla="*/ 38 w 129"/>
                  <a:gd name="T7" fmla="*/ 16 h 17"/>
                  <a:gd name="T8" fmla="*/ 128 w 129"/>
                  <a:gd name="T9" fmla="*/ 12 h 17"/>
                  <a:gd name="T10" fmla="*/ 128 w 129"/>
                  <a:gd name="T11" fmla="*/ 4 h 17"/>
                  <a:gd name="T12" fmla="*/ 112 w 129"/>
                  <a:gd name="T13" fmla="*/ 2 h 17"/>
                </a:gdLst>
                <a:ahLst/>
                <a:cxnLst>
                  <a:cxn ang="0">
                    <a:pos x="T0" y="T1"/>
                  </a:cxn>
                  <a:cxn ang="0">
                    <a:pos x="T2" y="T3"/>
                  </a:cxn>
                  <a:cxn ang="0">
                    <a:pos x="T4" y="T5"/>
                  </a:cxn>
                  <a:cxn ang="0">
                    <a:pos x="T6" y="T7"/>
                  </a:cxn>
                  <a:cxn ang="0">
                    <a:pos x="T8" y="T9"/>
                  </a:cxn>
                  <a:cxn ang="0">
                    <a:pos x="T10" y="T11"/>
                  </a:cxn>
                  <a:cxn ang="0">
                    <a:pos x="T12" y="T13"/>
                  </a:cxn>
                </a:cxnLst>
                <a:rect l="0" t="0" r="r" b="b"/>
                <a:pathLst>
                  <a:path w="129" h="17">
                    <a:moveTo>
                      <a:pt x="0" y="0"/>
                    </a:moveTo>
                    <a:lnTo>
                      <a:pt x="0" y="8"/>
                    </a:lnTo>
                    <a:lnTo>
                      <a:pt x="38" y="7"/>
                    </a:lnTo>
                    <a:lnTo>
                      <a:pt x="38" y="16"/>
                    </a:lnTo>
                    <a:lnTo>
                      <a:pt x="128" y="12"/>
                    </a:lnTo>
                    <a:lnTo>
                      <a:pt x="128" y="4"/>
                    </a:lnTo>
                    <a:lnTo>
                      <a:pt x="112" y="2"/>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27" name="Line 187"/>
              <p:cNvSpPr>
                <a:spLocks noChangeShapeType="1"/>
              </p:cNvSpPr>
              <p:nvPr/>
            </p:nvSpPr>
            <p:spPr bwMode="auto">
              <a:xfrm flipH="1">
                <a:off x="4512" y="2974"/>
                <a:ext cx="39" cy="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28" name="Line 188"/>
              <p:cNvSpPr>
                <a:spLocks noChangeShapeType="1"/>
              </p:cNvSpPr>
              <p:nvPr/>
            </p:nvSpPr>
            <p:spPr bwMode="auto">
              <a:xfrm>
                <a:off x="4512" y="2961"/>
                <a:ext cx="0" cy="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29" name="Freeform 189"/>
              <p:cNvSpPr/>
              <p:nvPr/>
            </p:nvSpPr>
            <p:spPr bwMode="auto">
              <a:xfrm>
                <a:off x="4392" y="2931"/>
                <a:ext cx="17" cy="17"/>
              </a:xfrm>
              <a:custGeom>
                <a:avLst/>
                <a:gdLst>
                  <a:gd name="T0" fmla="*/ 16 w 17"/>
                  <a:gd name="T1" fmla="*/ 6 h 17"/>
                  <a:gd name="T2" fmla="*/ 13 w 17"/>
                  <a:gd name="T3" fmla="*/ 6 h 17"/>
                  <a:gd name="T4" fmla="*/ 13 w 17"/>
                  <a:gd name="T5" fmla="*/ 3 h 17"/>
                  <a:gd name="T6" fmla="*/ 10 w 17"/>
                  <a:gd name="T7" fmla="*/ 3 h 17"/>
                  <a:gd name="T8" fmla="*/ 8 w 17"/>
                  <a:gd name="T9" fmla="*/ 0 h 17"/>
                  <a:gd name="T10" fmla="*/ 5 w 17"/>
                  <a:gd name="T11" fmla="*/ 0 h 17"/>
                  <a:gd name="T12" fmla="*/ 5 w 17"/>
                  <a:gd name="T13" fmla="*/ 3 h 17"/>
                  <a:gd name="T14" fmla="*/ 2 w 17"/>
                  <a:gd name="T15" fmla="*/ 6 h 17"/>
                  <a:gd name="T16" fmla="*/ 2 w 17"/>
                  <a:gd name="T17" fmla="*/ 6 h 17"/>
                  <a:gd name="T18" fmla="*/ 0 w 17"/>
                  <a:gd name="T19" fmla="*/ 9 h 17"/>
                  <a:gd name="T20" fmla="*/ 2 w 17"/>
                  <a:gd name="T21" fmla="*/ 12 h 17"/>
                  <a:gd name="T22" fmla="*/ 5 w 17"/>
                  <a:gd name="T23" fmla="*/ 12 h 17"/>
                  <a:gd name="T24" fmla="*/ 5 w 17"/>
                  <a:gd name="T25" fmla="*/ 16 h 17"/>
                  <a:gd name="T26" fmla="*/ 8 w 17"/>
                  <a:gd name="T27" fmla="*/ 16 h 17"/>
                  <a:gd name="T28" fmla="*/ 10 w 17"/>
                  <a:gd name="T29" fmla="*/ 16 h 17"/>
                  <a:gd name="T30" fmla="*/ 13 w 17"/>
                  <a:gd name="T31" fmla="*/ 12 h 17"/>
                  <a:gd name="T32" fmla="*/ 13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3" y="6"/>
                    </a:lnTo>
                    <a:lnTo>
                      <a:pt x="13" y="3"/>
                    </a:lnTo>
                    <a:lnTo>
                      <a:pt x="10" y="3"/>
                    </a:lnTo>
                    <a:lnTo>
                      <a:pt x="8" y="0"/>
                    </a:lnTo>
                    <a:lnTo>
                      <a:pt x="5" y="0"/>
                    </a:lnTo>
                    <a:lnTo>
                      <a:pt x="5" y="3"/>
                    </a:lnTo>
                    <a:lnTo>
                      <a:pt x="2" y="6"/>
                    </a:lnTo>
                    <a:lnTo>
                      <a:pt x="2" y="6"/>
                    </a:lnTo>
                    <a:lnTo>
                      <a:pt x="0" y="9"/>
                    </a:lnTo>
                    <a:lnTo>
                      <a:pt x="2" y="12"/>
                    </a:lnTo>
                    <a:lnTo>
                      <a:pt x="5" y="12"/>
                    </a:lnTo>
                    <a:lnTo>
                      <a:pt x="5" y="16"/>
                    </a:lnTo>
                    <a:lnTo>
                      <a:pt x="8" y="16"/>
                    </a:lnTo>
                    <a:lnTo>
                      <a:pt x="10" y="16"/>
                    </a:lnTo>
                    <a:lnTo>
                      <a:pt x="13" y="12"/>
                    </a:lnTo>
                    <a:lnTo>
                      <a:pt x="13"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30" name="Freeform 190"/>
              <p:cNvSpPr/>
              <p:nvPr/>
            </p:nvSpPr>
            <p:spPr bwMode="auto">
              <a:xfrm>
                <a:off x="4415" y="2930"/>
                <a:ext cx="17" cy="17"/>
              </a:xfrm>
              <a:custGeom>
                <a:avLst/>
                <a:gdLst>
                  <a:gd name="T0" fmla="*/ 16 w 17"/>
                  <a:gd name="T1" fmla="*/ 6 h 17"/>
                  <a:gd name="T2" fmla="*/ 16 w 17"/>
                  <a:gd name="T3" fmla="*/ 6 h 17"/>
                  <a:gd name="T4" fmla="*/ 13 w 17"/>
                  <a:gd name="T5" fmla="*/ 3 h 17"/>
                  <a:gd name="T6" fmla="*/ 10 w 17"/>
                  <a:gd name="T7" fmla="*/ 0 h 17"/>
                  <a:gd name="T8" fmla="*/ 8 w 17"/>
                  <a:gd name="T9" fmla="*/ 0 h 17"/>
                  <a:gd name="T10" fmla="*/ 5 w 17"/>
                  <a:gd name="T11" fmla="*/ 0 h 17"/>
                  <a:gd name="T12" fmla="*/ 2 w 17"/>
                  <a:gd name="T13" fmla="*/ 3 h 17"/>
                  <a:gd name="T14" fmla="*/ 2 w 17"/>
                  <a:gd name="T15" fmla="*/ 3 h 17"/>
                  <a:gd name="T16" fmla="*/ 0 w 17"/>
                  <a:gd name="T17" fmla="*/ 6 h 17"/>
                  <a:gd name="T18" fmla="*/ 0 w 17"/>
                  <a:gd name="T19" fmla="*/ 9 h 17"/>
                  <a:gd name="T20" fmla="*/ 2 w 17"/>
                  <a:gd name="T21" fmla="*/ 9 h 17"/>
                  <a:gd name="T22" fmla="*/ 2 w 17"/>
                  <a:gd name="T23" fmla="*/ 12 h 17"/>
                  <a:gd name="T24" fmla="*/ 5 w 17"/>
                  <a:gd name="T25" fmla="*/ 16 h 17"/>
                  <a:gd name="T26" fmla="*/ 8 w 17"/>
                  <a:gd name="T27" fmla="*/ 16 h 17"/>
                  <a:gd name="T28" fmla="*/ 10 w 17"/>
                  <a:gd name="T29" fmla="*/ 16 h 17"/>
                  <a:gd name="T30" fmla="*/ 13 w 17"/>
                  <a:gd name="T31" fmla="*/ 12 h 17"/>
                  <a:gd name="T32" fmla="*/ 16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6" y="6"/>
                    </a:lnTo>
                    <a:lnTo>
                      <a:pt x="13" y="3"/>
                    </a:lnTo>
                    <a:lnTo>
                      <a:pt x="10" y="0"/>
                    </a:lnTo>
                    <a:lnTo>
                      <a:pt x="8" y="0"/>
                    </a:lnTo>
                    <a:lnTo>
                      <a:pt x="5" y="0"/>
                    </a:lnTo>
                    <a:lnTo>
                      <a:pt x="2" y="3"/>
                    </a:lnTo>
                    <a:lnTo>
                      <a:pt x="2" y="3"/>
                    </a:lnTo>
                    <a:lnTo>
                      <a:pt x="0" y="6"/>
                    </a:lnTo>
                    <a:lnTo>
                      <a:pt x="0" y="9"/>
                    </a:lnTo>
                    <a:lnTo>
                      <a:pt x="2" y="9"/>
                    </a:lnTo>
                    <a:lnTo>
                      <a:pt x="2" y="12"/>
                    </a:lnTo>
                    <a:lnTo>
                      <a:pt x="5" y="16"/>
                    </a:lnTo>
                    <a:lnTo>
                      <a:pt x="8" y="16"/>
                    </a:lnTo>
                    <a:lnTo>
                      <a:pt x="10" y="16"/>
                    </a:lnTo>
                    <a:lnTo>
                      <a:pt x="13" y="12"/>
                    </a:lnTo>
                    <a:lnTo>
                      <a:pt x="16"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31" name="Freeform 191"/>
              <p:cNvSpPr/>
              <p:nvPr/>
            </p:nvSpPr>
            <p:spPr bwMode="auto">
              <a:xfrm>
                <a:off x="4438" y="2930"/>
                <a:ext cx="17" cy="17"/>
              </a:xfrm>
              <a:custGeom>
                <a:avLst/>
                <a:gdLst>
                  <a:gd name="T0" fmla="*/ 16 w 17"/>
                  <a:gd name="T1" fmla="*/ 10 h 17"/>
                  <a:gd name="T2" fmla="*/ 16 w 17"/>
                  <a:gd name="T3" fmla="*/ 5 h 17"/>
                  <a:gd name="T4" fmla="*/ 13 w 17"/>
                  <a:gd name="T5" fmla="*/ 0 h 17"/>
                  <a:gd name="T6" fmla="*/ 10 w 17"/>
                  <a:gd name="T7" fmla="*/ 0 h 17"/>
                  <a:gd name="T8" fmla="*/ 8 w 17"/>
                  <a:gd name="T9" fmla="*/ 0 h 17"/>
                  <a:gd name="T10" fmla="*/ 8 w 17"/>
                  <a:gd name="T11" fmla="*/ 0 h 17"/>
                  <a:gd name="T12" fmla="*/ 5 w 17"/>
                  <a:gd name="T13" fmla="*/ 0 h 17"/>
                  <a:gd name="T14" fmla="*/ 2 w 17"/>
                  <a:gd name="T15" fmla="*/ 5 h 17"/>
                  <a:gd name="T16" fmla="*/ 2 w 17"/>
                  <a:gd name="T17" fmla="*/ 5 h 17"/>
                  <a:gd name="T18" fmla="*/ 0 w 17"/>
                  <a:gd name="T19" fmla="*/ 10 h 17"/>
                  <a:gd name="T20" fmla="*/ 2 w 17"/>
                  <a:gd name="T21" fmla="*/ 10 h 17"/>
                  <a:gd name="T22" fmla="*/ 5 w 17"/>
                  <a:gd name="T23" fmla="*/ 16 h 17"/>
                  <a:gd name="T24" fmla="*/ 8 w 17"/>
                  <a:gd name="T25" fmla="*/ 16 h 17"/>
                  <a:gd name="T26" fmla="*/ 8 w 17"/>
                  <a:gd name="T27" fmla="*/ 16 h 17"/>
                  <a:gd name="T28" fmla="*/ 10 w 17"/>
                  <a:gd name="T29" fmla="*/ 16 h 17"/>
                  <a:gd name="T30" fmla="*/ 13 w 17"/>
                  <a:gd name="T31" fmla="*/ 16 h 17"/>
                  <a:gd name="T32" fmla="*/ 16 w 17"/>
                  <a:gd name="T33" fmla="*/ 10 h 17"/>
                  <a:gd name="T34" fmla="*/ 16 w 17"/>
                  <a:gd name="T35" fmla="*/ 10 h 17"/>
                  <a:gd name="T36" fmla="*/ 16 w 17"/>
                  <a:gd name="T3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10"/>
                    </a:moveTo>
                    <a:lnTo>
                      <a:pt x="16" y="5"/>
                    </a:lnTo>
                    <a:lnTo>
                      <a:pt x="13" y="0"/>
                    </a:lnTo>
                    <a:lnTo>
                      <a:pt x="10" y="0"/>
                    </a:lnTo>
                    <a:lnTo>
                      <a:pt x="8" y="0"/>
                    </a:lnTo>
                    <a:lnTo>
                      <a:pt x="8" y="0"/>
                    </a:lnTo>
                    <a:lnTo>
                      <a:pt x="5" y="0"/>
                    </a:lnTo>
                    <a:lnTo>
                      <a:pt x="2" y="5"/>
                    </a:lnTo>
                    <a:lnTo>
                      <a:pt x="2" y="5"/>
                    </a:lnTo>
                    <a:lnTo>
                      <a:pt x="0" y="10"/>
                    </a:lnTo>
                    <a:lnTo>
                      <a:pt x="2" y="10"/>
                    </a:lnTo>
                    <a:lnTo>
                      <a:pt x="5" y="16"/>
                    </a:lnTo>
                    <a:lnTo>
                      <a:pt x="8" y="16"/>
                    </a:lnTo>
                    <a:lnTo>
                      <a:pt x="8" y="16"/>
                    </a:lnTo>
                    <a:lnTo>
                      <a:pt x="10" y="16"/>
                    </a:lnTo>
                    <a:lnTo>
                      <a:pt x="13" y="16"/>
                    </a:lnTo>
                    <a:lnTo>
                      <a:pt x="16" y="10"/>
                    </a:lnTo>
                    <a:lnTo>
                      <a:pt x="16" y="10"/>
                    </a:lnTo>
                    <a:lnTo>
                      <a:pt x="16" y="10"/>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32" name="Freeform 192"/>
              <p:cNvSpPr/>
              <p:nvPr/>
            </p:nvSpPr>
            <p:spPr bwMode="auto">
              <a:xfrm>
                <a:off x="4462" y="2930"/>
                <a:ext cx="17" cy="17"/>
              </a:xfrm>
              <a:custGeom>
                <a:avLst/>
                <a:gdLst>
                  <a:gd name="T0" fmla="*/ 16 w 17"/>
                  <a:gd name="T1" fmla="*/ 5 h 17"/>
                  <a:gd name="T2" fmla="*/ 16 w 17"/>
                  <a:gd name="T3" fmla="*/ 5 h 17"/>
                  <a:gd name="T4" fmla="*/ 13 w 17"/>
                  <a:gd name="T5" fmla="*/ 0 h 17"/>
                  <a:gd name="T6" fmla="*/ 10 w 17"/>
                  <a:gd name="T7" fmla="*/ 0 h 17"/>
                  <a:gd name="T8" fmla="*/ 8 w 17"/>
                  <a:gd name="T9" fmla="*/ 0 h 17"/>
                  <a:gd name="T10" fmla="*/ 8 w 17"/>
                  <a:gd name="T11" fmla="*/ 0 h 17"/>
                  <a:gd name="T12" fmla="*/ 2 w 17"/>
                  <a:gd name="T13" fmla="*/ 0 h 17"/>
                  <a:gd name="T14" fmla="*/ 0 w 17"/>
                  <a:gd name="T15" fmla="*/ 5 h 17"/>
                  <a:gd name="T16" fmla="*/ 0 w 17"/>
                  <a:gd name="T17" fmla="*/ 5 h 17"/>
                  <a:gd name="T18" fmla="*/ 0 w 17"/>
                  <a:gd name="T19" fmla="*/ 10 h 17"/>
                  <a:gd name="T20" fmla="*/ 2 w 17"/>
                  <a:gd name="T21" fmla="*/ 10 h 17"/>
                  <a:gd name="T22" fmla="*/ 2 w 17"/>
                  <a:gd name="T23" fmla="*/ 16 h 17"/>
                  <a:gd name="T24" fmla="*/ 5 w 17"/>
                  <a:gd name="T25" fmla="*/ 16 h 17"/>
                  <a:gd name="T26" fmla="*/ 8 w 17"/>
                  <a:gd name="T27" fmla="*/ 16 h 17"/>
                  <a:gd name="T28" fmla="*/ 10 w 17"/>
                  <a:gd name="T29" fmla="*/ 16 h 17"/>
                  <a:gd name="T30" fmla="*/ 13 w 17"/>
                  <a:gd name="T31" fmla="*/ 16 h 17"/>
                  <a:gd name="T32" fmla="*/ 16 w 17"/>
                  <a:gd name="T33" fmla="*/ 10 h 17"/>
                  <a:gd name="T34" fmla="*/ 16 w 17"/>
                  <a:gd name="T35" fmla="*/ 10 h 17"/>
                  <a:gd name="T36" fmla="*/ 16 w 17"/>
                  <a:gd name="T37" fmla="*/ 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5"/>
                    </a:moveTo>
                    <a:lnTo>
                      <a:pt x="16" y="5"/>
                    </a:lnTo>
                    <a:lnTo>
                      <a:pt x="13" y="0"/>
                    </a:lnTo>
                    <a:lnTo>
                      <a:pt x="10" y="0"/>
                    </a:lnTo>
                    <a:lnTo>
                      <a:pt x="8" y="0"/>
                    </a:lnTo>
                    <a:lnTo>
                      <a:pt x="8" y="0"/>
                    </a:lnTo>
                    <a:lnTo>
                      <a:pt x="2" y="0"/>
                    </a:lnTo>
                    <a:lnTo>
                      <a:pt x="0" y="5"/>
                    </a:lnTo>
                    <a:lnTo>
                      <a:pt x="0" y="5"/>
                    </a:lnTo>
                    <a:lnTo>
                      <a:pt x="0" y="10"/>
                    </a:lnTo>
                    <a:lnTo>
                      <a:pt x="2" y="10"/>
                    </a:lnTo>
                    <a:lnTo>
                      <a:pt x="2" y="16"/>
                    </a:lnTo>
                    <a:lnTo>
                      <a:pt x="5" y="16"/>
                    </a:lnTo>
                    <a:lnTo>
                      <a:pt x="8" y="16"/>
                    </a:lnTo>
                    <a:lnTo>
                      <a:pt x="10" y="16"/>
                    </a:lnTo>
                    <a:lnTo>
                      <a:pt x="13" y="16"/>
                    </a:lnTo>
                    <a:lnTo>
                      <a:pt x="16" y="10"/>
                    </a:lnTo>
                    <a:lnTo>
                      <a:pt x="16" y="10"/>
                    </a:lnTo>
                    <a:lnTo>
                      <a:pt x="16" y="5"/>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33" name="Freeform 193"/>
              <p:cNvSpPr/>
              <p:nvPr/>
            </p:nvSpPr>
            <p:spPr bwMode="auto">
              <a:xfrm>
                <a:off x="4486" y="2929"/>
                <a:ext cx="17" cy="17"/>
              </a:xfrm>
              <a:custGeom>
                <a:avLst/>
                <a:gdLst>
                  <a:gd name="T0" fmla="*/ 16 w 17"/>
                  <a:gd name="T1" fmla="*/ 8 h 17"/>
                  <a:gd name="T2" fmla="*/ 12 w 17"/>
                  <a:gd name="T3" fmla="*/ 4 h 17"/>
                  <a:gd name="T4" fmla="*/ 12 w 17"/>
                  <a:gd name="T5" fmla="*/ 4 h 17"/>
                  <a:gd name="T6" fmla="*/ 12 w 17"/>
                  <a:gd name="T7" fmla="*/ 0 h 17"/>
                  <a:gd name="T8" fmla="*/ 6 w 17"/>
                  <a:gd name="T9" fmla="*/ 0 h 17"/>
                  <a:gd name="T10" fmla="*/ 3 w 17"/>
                  <a:gd name="T11" fmla="*/ 0 h 17"/>
                  <a:gd name="T12" fmla="*/ 3 w 17"/>
                  <a:gd name="T13" fmla="*/ 0 h 17"/>
                  <a:gd name="T14" fmla="*/ 0 w 17"/>
                  <a:gd name="T15" fmla="*/ 4 h 17"/>
                  <a:gd name="T16" fmla="*/ 0 w 17"/>
                  <a:gd name="T17" fmla="*/ 8 h 17"/>
                  <a:gd name="T18" fmla="*/ 0 w 17"/>
                  <a:gd name="T19" fmla="*/ 8 h 17"/>
                  <a:gd name="T20" fmla="*/ 0 w 17"/>
                  <a:gd name="T21" fmla="*/ 12 h 17"/>
                  <a:gd name="T22" fmla="*/ 3 w 17"/>
                  <a:gd name="T23" fmla="*/ 16 h 17"/>
                  <a:gd name="T24" fmla="*/ 3 w 17"/>
                  <a:gd name="T25" fmla="*/ 16 h 17"/>
                  <a:gd name="T26" fmla="*/ 6 w 17"/>
                  <a:gd name="T27" fmla="*/ 16 h 17"/>
                  <a:gd name="T28" fmla="*/ 9 w 17"/>
                  <a:gd name="T29" fmla="*/ 16 h 17"/>
                  <a:gd name="T30" fmla="*/ 12 w 17"/>
                  <a:gd name="T31" fmla="*/ 16 h 17"/>
                  <a:gd name="T32" fmla="*/ 12 w 17"/>
                  <a:gd name="T33" fmla="*/ 12 h 17"/>
                  <a:gd name="T34" fmla="*/ 16 w 17"/>
                  <a:gd name="T35" fmla="*/ 8 h 17"/>
                  <a:gd name="T36" fmla="*/ 16 w 17"/>
                  <a:gd name="T3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8"/>
                    </a:moveTo>
                    <a:lnTo>
                      <a:pt x="12" y="4"/>
                    </a:lnTo>
                    <a:lnTo>
                      <a:pt x="12" y="4"/>
                    </a:lnTo>
                    <a:lnTo>
                      <a:pt x="12" y="0"/>
                    </a:lnTo>
                    <a:lnTo>
                      <a:pt x="6" y="0"/>
                    </a:lnTo>
                    <a:lnTo>
                      <a:pt x="3" y="0"/>
                    </a:lnTo>
                    <a:lnTo>
                      <a:pt x="3" y="0"/>
                    </a:lnTo>
                    <a:lnTo>
                      <a:pt x="0" y="4"/>
                    </a:lnTo>
                    <a:lnTo>
                      <a:pt x="0" y="8"/>
                    </a:lnTo>
                    <a:lnTo>
                      <a:pt x="0" y="8"/>
                    </a:lnTo>
                    <a:lnTo>
                      <a:pt x="0" y="12"/>
                    </a:lnTo>
                    <a:lnTo>
                      <a:pt x="3" y="16"/>
                    </a:lnTo>
                    <a:lnTo>
                      <a:pt x="3" y="16"/>
                    </a:lnTo>
                    <a:lnTo>
                      <a:pt x="6" y="16"/>
                    </a:lnTo>
                    <a:lnTo>
                      <a:pt x="9" y="16"/>
                    </a:lnTo>
                    <a:lnTo>
                      <a:pt x="12" y="16"/>
                    </a:lnTo>
                    <a:lnTo>
                      <a:pt x="12" y="12"/>
                    </a:lnTo>
                    <a:lnTo>
                      <a:pt x="16" y="8"/>
                    </a:lnTo>
                    <a:lnTo>
                      <a:pt x="16" y="8"/>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34" name="Freeform 194"/>
              <p:cNvSpPr/>
              <p:nvPr/>
            </p:nvSpPr>
            <p:spPr bwMode="auto">
              <a:xfrm>
                <a:off x="4508" y="2927"/>
                <a:ext cx="17" cy="17"/>
              </a:xfrm>
              <a:custGeom>
                <a:avLst/>
                <a:gdLst>
                  <a:gd name="T0" fmla="*/ 16 w 17"/>
                  <a:gd name="T1" fmla="*/ 6 h 17"/>
                  <a:gd name="T2" fmla="*/ 13 w 17"/>
                  <a:gd name="T3" fmla="*/ 6 h 17"/>
                  <a:gd name="T4" fmla="*/ 13 w 17"/>
                  <a:gd name="T5" fmla="*/ 3 h 17"/>
                  <a:gd name="T6" fmla="*/ 10 w 17"/>
                  <a:gd name="T7" fmla="*/ 3 h 17"/>
                  <a:gd name="T8" fmla="*/ 8 w 17"/>
                  <a:gd name="T9" fmla="*/ 0 h 17"/>
                  <a:gd name="T10" fmla="*/ 8 w 17"/>
                  <a:gd name="T11" fmla="*/ 0 h 17"/>
                  <a:gd name="T12" fmla="*/ 5 w 17"/>
                  <a:gd name="T13" fmla="*/ 3 h 17"/>
                  <a:gd name="T14" fmla="*/ 0 w 17"/>
                  <a:gd name="T15" fmla="*/ 3 h 17"/>
                  <a:gd name="T16" fmla="*/ 0 w 17"/>
                  <a:gd name="T17" fmla="*/ 6 h 17"/>
                  <a:gd name="T18" fmla="*/ 0 w 17"/>
                  <a:gd name="T19" fmla="*/ 9 h 17"/>
                  <a:gd name="T20" fmla="*/ 0 w 17"/>
                  <a:gd name="T21" fmla="*/ 9 h 17"/>
                  <a:gd name="T22" fmla="*/ 5 w 17"/>
                  <a:gd name="T23" fmla="*/ 12 h 17"/>
                  <a:gd name="T24" fmla="*/ 8 w 17"/>
                  <a:gd name="T25" fmla="*/ 16 h 17"/>
                  <a:gd name="T26" fmla="*/ 8 w 17"/>
                  <a:gd name="T27" fmla="*/ 16 h 17"/>
                  <a:gd name="T28" fmla="*/ 10 w 17"/>
                  <a:gd name="T29" fmla="*/ 12 h 17"/>
                  <a:gd name="T30" fmla="*/ 13 w 17"/>
                  <a:gd name="T31" fmla="*/ 12 h 17"/>
                  <a:gd name="T32" fmla="*/ 13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3" y="6"/>
                    </a:lnTo>
                    <a:lnTo>
                      <a:pt x="13" y="3"/>
                    </a:lnTo>
                    <a:lnTo>
                      <a:pt x="10" y="3"/>
                    </a:lnTo>
                    <a:lnTo>
                      <a:pt x="8" y="0"/>
                    </a:lnTo>
                    <a:lnTo>
                      <a:pt x="8" y="0"/>
                    </a:lnTo>
                    <a:lnTo>
                      <a:pt x="5" y="3"/>
                    </a:lnTo>
                    <a:lnTo>
                      <a:pt x="0" y="3"/>
                    </a:lnTo>
                    <a:lnTo>
                      <a:pt x="0" y="6"/>
                    </a:lnTo>
                    <a:lnTo>
                      <a:pt x="0" y="9"/>
                    </a:lnTo>
                    <a:lnTo>
                      <a:pt x="0" y="9"/>
                    </a:lnTo>
                    <a:lnTo>
                      <a:pt x="5" y="12"/>
                    </a:lnTo>
                    <a:lnTo>
                      <a:pt x="8" y="16"/>
                    </a:lnTo>
                    <a:lnTo>
                      <a:pt x="8" y="16"/>
                    </a:lnTo>
                    <a:lnTo>
                      <a:pt x="10" y="12"/>
                    </a:lnTo>
                    <a:lnTo>
                      <a:pt x="13" y="12"/>
                    </a:lnTo>
                    <a:lnTo>
                      <a:pt x="13"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35" name="Freeform 195"/>
              <p:cNvSpPr/>
              <p:nvPr/>
            </p:nvSpPr>
            <p:spPr bwMode="auto">
              <a:xfrm>
                <a:off x="4532" y="2927"/>
                <a:ext cx="17" cy="17"/>
              </a:xfrm>
              <a:custGeom>
                <a:avLst/>
                <a:gdLst>
                  <a:gd name="T0" fmla="*/ 16 w 17"/>
                  <a:gd name="T1" fmla="*/ 8 h 17"/>
                  <a:gd name="T2" fmla="*/ 16 w 17"/>
                  <a:gd name="T3" fmla="*/ 8 h 17"/>
                  <a:gd name="T4" fmla="*/ 16 w 17"/>
                  <a:gd name="T5" fmla="*/ 4 h 17"/>
                  <a:gd name="T6" fmla="*/ 12 w 17"/>
                  <a:gd name="T7" fmla="*/ 4 h 17"/>
                  <a:gd name="T8" fmla="*/ 9 w 17"/>
                  <a:gd name="T9" fmla="*/ 0 h 17"/>
                  <a:gd name="T10" fmla="*/ 6 w 17"/>
                  <a:gd name="T11" fmla="*/ 0 h 17"/>
                  <a:gd name="T12" fmla="*/ 3 w 17"/>
                  <a:gd name="T13" fmla="*/ 4 h 17"/>
                  <a:gd name="T14" fmla="*/ 0 w 17"/>
                  <a:gd name="T15" fmla="*/ 4 h 17"/>
                  <a:gd name="T16" fmla="*/ 0 w 17"/>
                  <a:gd name="T17" fmla="*/ 8 h 17"/>
                  <a:gd name="T18" fmla="*/ 0 w 17"/>
                  <a:gd name="T19" fmla="*/ 12 h 17"/>
                  <a:gd name="T20" fmla="*/ 0 w 17"/>
                  <a:gd name="T21" fmla="*/ 12 h 17"/>
                  <a:gd name="T22" fmla="*/ 3 w 17"/>
                  <a:gd name="T23" fmla="*/ 16 h 17"/>
                  <a:gd name="T24" fmla="*/ 6 w 17"/>
                  <a:gd name="T25" fmla="*/ 16 h 17"/>
                  <a:gd name="T26" fmla="*/ 9 w 17"/>
                  <a:gd name="T27" fmla="*/ 16 h 17"/>
                  <a:gd name="T28" fmla="*/ 12 w 17"/>
                  <a:gd name="T29" fmla="*/ 16 h 17"/>
                  <a:gd name="T30" fmla="*/ 16 w 17"/>
                  <a:gd name="T31" fmla="*/ 16 h 17"/>
                  <a:gd name="T32" fmla="*/ 16 w 17"/>
                  <a:gd name="T33" fmla="*/ 12 h 17"/>
                  <a:gd name="T34" fmla="*/ 16 w 17"/>
                  <a:gd name="T35"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 h="17">
                    <a:moveTo>
                      <a:pt x="16" y="8"/>
                    </a:moveTo>
                    <a:lnTo>
                      <a:pt x="16" y="8"/>
                    </a:lnTo>
                    <a:lnTo>
                      <a:pt x="16" y="4"/>
                    </a:lnTo>
                    <a:lnTo>
                      <a:pt x="12" y="4"/>
                    </a:lnTo>
                    <a:lnTo>
                      <a:pt x="9" y="0"/>
                    </a:lnTo>
                    <a:lnTo>
                      <a:pt x="6" y="0"/>
                    </a:lnTo>
                    <a:lnTo>
                      <a:pt x="3" y="4"/>
                    </a:lnTo>
                    <a:lnTo>
                      <a:pt x="0" y="4"/>
                    </a:lnTo>
                    <a:lnTo>
                      <a:pt x="0" y="8"/>
                    </a:lnTo>
                    <a:lnTo>
                      <a:pt x="0" y="12"/>
                    </a:lnTo>
                    <a:lnTo>
                      <a:pt x="0" y="12"/>
                    </a:lnTo>
                    <a:lnTo>
                      <a:pt x="3" y="16"/>
                    </a:lnTo>
                    <a:lnTo>
                      <a:pt x="6" y="16"/>
                    </a:lnTo>
                    <a:lnTo>
                      <a:pt x="9" y="16"/>
                    </a:lnTo>
                    <a:lnTo>
                      <a:pt x="12" y="16"/>
                    </a:lnTo>
                    <a:lnTo>
                      <a:pt x="16" y="16"/>
                    </a:lnTo>
                    <a:lnTo>
                      <a:pt x="16" y="12"/>
                    </a:lnTo>
                    <a:lnTo>
                      <a:pt x="16" y="8"/>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36" name="Freeform 196"/>
              <p:cNvSpPr/>
              <p:nvPr/>
            </p:nvSpPr>
            <p:spPr bwMode="auto">
              <a:xfrm>
                <a:off x="4535" y="2987"/>
                <a:ext cx="17" cy="122"/>
              </a:xfrm>
              <a:custGeom>
                <a:avLst/>
                <a:gdLst>
                  <a:gd name="T0" fmla="*/ 0 w 17"/>
                  <a:gd name="T1" fmla="*/ 0 h 122"/>
                  <a:gd name="T2" fmla="*/ 0 w 17"/>
                  <a:gd name="T3" fmla="*/ 42 h 122"/>
                  <a:gd name="T4" fmla="*/ 12 w 17"/>
                  <a:gd name="T5" fmla="*/ 42 h 122"/>
                  <a:gd name="T6" fmla="*/ 0 w 17"/>
                  <a:gd name="T7" fmla="*/ 47 h 122"/>
                  <a:gd name="T8" fmla="*/ 0 w 17"/>
                  <a:gd name="T9" fmla="*/ 84 h 122"/>
                  <a:gd name="T10" fmla="*/ 12 w 17"/>
                  <a:gd name="T11" fmla="*/ 84 h 122"/>
                  <a:gd name="T12" fmla="*/ 0 w 17"/>
                  <a:gd name="T13" fmla="*/ 89 h 122"/>
                  <a:gd name="T14" fmla="*/ 0 w 17"/>
                  <a:gd name="T15" fmla="*/ 121 h 122"/>
                  <a:gd name="T16" fmla="*/ 16 w 17"/>
                  <a:gd name="T17" fmla="*/ 121 h 122"/>
                  <a:gd name="T18" fmla="*/ 16 w 17"/>
                  <a:gd name="T19" fmla="*/ 0 h 122"/>
                  <a:gd name="T20" fmla="*/ 0 w 17"/>
                  <a:gd name="T21"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122">
                    <a:moveTo>
                      <a:pt x="0" y="0"/>
                    </a:moveTo>
                    <a:lnTo>
                      <a:pt x="0" y="42"/>
                    </a:lnTo>
                    <a:lnTo>
                      <a:pt x="12" y="42"/>
                    </a:lnTo>
                    <a:lnTo>
                      <a:pt x="0" y="47"/>
                    </a:lnTo>
                    <a:lnTo>
                      <a:pt x="0" y="84"/>
                    </a:lnTo>
                    <a:lnTo>
                      <a:pt x="12" y="84"/>
                    </a:lnTo>
                    <a:lnTo>
                      <a:pt x="0" y="89"/>
                    </a:lnTo>
                    <a:lnTo>
                      <a:pt x="0" y="121"/>
                    </a:lnTo>
                    <a:lnTo>
                      <a:pt x="16" y="121"/>
                    </a:lnTo>
                    <a:lnTo>
                      <a:pt x="16" y="0"/>
                    </a:lnTo>
                    <a:lnTo>
                      <a:pt x="0" y="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37" name="Freeform 197"/>
              <p:cNvSpPr/>
              <p:nvPr/>
            </p:nvSpPr>
            <p:spPr bwMode="auto">
              <a:xfrm>
                <a:off x="4561" y="3296"/>
                <a:ext cx="96" cy="45"/>
              </a:xfrm>
              <a:custGeom>
                <a:avLst/>
                <a:gdLst>
                  <a:gd name="T0" fmla="*/ 0 w 96"/>
                  <a:gd name="T1" fmla="*/ 44 h 45"/>
                  <a:gd name="T2" fmla="*/ 95 w 96"/>
                  <a:gd name="T3" fmla="*/ 35 h 45"/>
                  <a:gd name="T4" fmla="*/ 0 w 96"/>
                  <a:gd name="T5" fmla="*/ 0 h 45"/>
                  <a:gd name="T6" fmla="*/ 0 w 96"/>
                  <a:gd name="T7" fmla="*/ 44 h 45"/>
                </a:gdLst>
                <a:ahLst/>
                <a:cxnLst>
                  <a:cxn ang="0">
                    <a:pos x="T0" y="T1"/>
                  </a:cxn>
                  <a:cxn ang="0">
                    <a:pos x="T2" y="T3"/>
                  </a:cxn>
                  <a:cxn ang="0">
                    <a:pos x="T4" y="T5"/>
                  </a:cxn>
                  <a:cxn ang="0">
                    <a:pos x="T6" y="T7"/>
                  </a:cxn>
                </a:cxnLst>
                <a:rect l="0" t="0" r="r" b="b"/>
                <a:pathLst>
                  <a:path w="96" h="45">
                    <a:moveTo>
                      <a:pt x="0" y="44"/>
                    </a:moveTo>
                    <a:lnTo>
                      <a:pt x="95" y="35"/>
                    </a:lnTo>
                    <a:lnTo>
                      <a:pt x="0" y="0"/>
                    </a:lnTo>
                    <a:lnTo>
                      <a:pt x="0" y="44"/>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6038" name="Line 198"/>
            <p:cNvSpPr>
              <a:spLocks noChangeShapeType="1"/>
            </p:cNvSpPr>
            <p:nvPr/>
          </p:nvSpPr>
          <p:spPr bwMode="auto">
            <a:xfrm flipH="1" flipV="1">
              <a:off x="445" y="2389"/>
              <a:ext cx="1043" cy="192"/>
            </a:xfrm>
            <a:prstGeom prst="line">
              <a:avLst/>
            </a:prstGeom>
            <a:noFill/>
            <a:ln w="38100">
              <a:solidFill>
                <a:schemeClr val="hlink"/>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6039" name="Line 199"/>
            <p:cNvSpPr>
              <a:spLocks noChangeShapeType="1"/>
            </p:cNvSpPr>
            <p:nvPr/>
          </p:nvSpPr>
          <p:spPr bwMode="auto">
            <a:xfrm>
              <a:off x="781" y="1607"/>
              <a:ext cx="659" cy="62"/>
            </a:xfrm>
            <a:prstGeom prst="line">
              <a:avLst/>
            </a:prstGeom>
            <a:noFill/>
            <a:ln w="38100">
              <a:solidFill>
                <a:schemeClr val="folHlink"/>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6040" name="Line 200"/>
            <p:cNvSpPr>
              <a:spLocks noChangeShapeType="1"/>
            </p:cNvSpPr>
            <p:nvPr/>
          </p:nvSpPr>
          <p:spPr bwMode="auto">
            <a:xfrm>
              <a:off x="373" y="2059"/>
              <a:ext cx="0" cy="24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41" name="Text Box 201"/>
            <p:cNvSpPr txBox="1">
              <a:spLocks noChangeArrowheads="1"/>
            </p:cNvSpPr>
            <p:nvPr/>
          </p:nvSpPr>
          <p:spPr bwMode="auto">
            <a:xfrm>
              <a:off x="4572" y="1679"/>
              <a:ext cx="939" cy="23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US" b="1">
                  <a:solidFill>
                    <a:schemeClr val="accent1"/>
                  </a:solidFill>
                  <a:effectLst>
                    <a:outerShdw blurRad="38100" dist="38100" dir="2700000" algn="tl">
                      <a:srgbClr val="000000"/>
                    </a:outerShdw>
                  </a:effectLst>
                  <a:latin typeface="Arial" panose="020B0604020202020204" pitchFamily="34" charset="0"/>
                </a:rPr>
                <a:t>远程网络</a:t>
              </a:r>
              <a:endParaRPr lang="zh-CN" altLang="en-US"/>
            </a:p>
          </p:txBody>
        </p:sp>
        <p:grpSp>
          <p:nvGrpSpPr>
            <p:cNvPr id="36042" name="Group 202"/>
            <p:cNvGrpSpPr/>
            <p:nvPr/>
          </p:nvGrpSpPr>
          <p:grpSpPr bwMode="auto">
            <a:xfrm>
              <a:off x="1453" y="2377"/>
              <a:ext cx="435" cy="473"/>
              <a:chOff x="4222" y="2888"/>
              <a:chExt cx="435" cy="473"/>
            </a:xfrm>
          </p:grpSpPr>
          <p:sp>
            <p:nvSpPr>
              <p:cNvPr id="36043" name="Freeform 203"/>
              <p:cNvSpPr/>
              <p:nvPr/>
            </p:nvSpPr>
            <p:spPr bwMode="auto">
              <a:xfrm>
                <a:off x="4373" y="2903"/>
                <a:ext cx="189" cy="458"/>
              </a:xfrm>
              <a:custGeom>
                <a:avLst/>
                <a:gdLst>
                  <a:gd name="T0" fmla="*/ 188 w 189"/>
                  <a:gd name="T1" fmla="*/ 0 h 458"/>
                  <a:gd name="T2" fmla="*/ 0 w 189"/>
                  <a:gd name="T3" fmla="*/ 5 h 458"/>
                  <a:gd name="T4" fmla="*/ 0 w 189"/>
                  <a:gd name="T5" fmla="*/ 457 h 458"/>
                  <a:gd name="T6" fmla="*/ 188 w 189"/>
                  <a:gd name="T7" fmla="*/ 437 h 458"/>
                  <a:gd name="T8" fmla="*/ 188 w 189"/>
                  <a:gd name="T9" fmla="*/ 0 h 458"/>
                </a:gdLst>
                <a:ahLst/>
                <a:cxnLst>
                  <a:cxn ang="0">
                    <a:pos x="T0" y="T1"/>
                  </a:cxn>
                  <a:cxn ang="0">
                    <a:pos x="T2" y="T3"/>
                  </a:cxn>
                  <a:cxn ang="0">
                    <a:pos x="T4" y="T5"/>
                  </a:cxn>
                  <a:cxn ang="0">
                    <a:pos x="T6" y="T7"/>
                  </a:cxn>
                  <a:cxn ang="0">
                    <a:pos x="T8" y="T9"/>
                  </a:cxn>
                </a:cxnLst>
                <a:rect l="0" t="0" r="r" b="b"/>
                <a:pathLst>
                  <a:path w="189" h="458">
                    <a:moveTo>
                      <a:pt x="188" y="0"/>
                    </a:moveTo>
                    <a:lnTo>
                      <a:pt x="0" y="5"/>
                    </a:lnTo>
                    <a:lnTo>
                      <a:pt x="0" y="457"/>
                    </a:lnTo>
                    <a:lnTo>
                      <a:pt x="188" y="437"/>
                    </a:lnTo>
                    <a:lnTo>
                      <a:pt x="188" y="0"/>
                    </a:lnTo>
                  </a:path>
                </a:pathLst>
              </a:custGeom>
              <a:solidFill>
                <a:srgbClr val="B5B5B5"/>
              </a:solidFill>
              <a:ln w="12700" cap="rnd" cmpd="sng">
                <a:solidFill>
                  <a:srgbClr val="B5B5B5"/>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44" name="Freeform 204"/>
              <p:cNvSpPr/>
              <p:nvPr/>
            </p:nvSpPr>
            <p:spPr bwMode="auto">
              <a:xfrm>
                <a:off x="4384" y="3144"/>
                <a:ext cx="168" cy="195"/>
              </a:xfrm>
              <a:custGeom>
                <a:avLst/>
                <a:gdLst>
                  <a:gd name="T0" fmla="*/ 0 w 168"/>
                  <a:gd name="T1" fmla="*/ 11 h 195"/>
                  <a:gd name="T2" fmla="*/ 167 w 168"/>
                  <a:gd name="T3" fmla="*/ 0 h 195"/>
                  <a:gd name="T4" fmla="*/ 167 w 168"/>
                  <a:gd name="T5" fmla="*/ 177 h 195"/>
                  <a:gd name="T6" fmla="*/ 0 w 168"/>
                  <a:gd name="T7" fmla="*/ 194 h 195"/>
                  <a:gd name="T8" fmla="*/ 0 w 168"/>
                  <a:gd name="T9" fmla="*/ 11 h 195"/>
                </a:gdLst>
                <a:ahLst/>
                <a:cxnLst>
                  <a:cxn ang="0">
                    <a:pos x="T0" y="T1"/>
                  </a:cxn>
                  <a:cxn ang="0">
                    <a:pos x="T2" y="T3"/>
                  </a:cxn>
                  <a:cxn ang="0">
                    <a:pos x="T4" y="T5"/>
                  </a:cxn>
                  <a:cxn ang="0">
                    <a:pos x="T6" y="T7"/>
                  </a:cxn>
                  <a:cxn ang="0">
                    <a:pos x="T8" y="T9"/>
                  </a:cxn>
                </a:cxnLst>
                <a:rect l="0" t="0" r="r" b="b"/>
                <a:pathLst>
                  <a:path w="168" h="195">
                    <a:moveTo>
                      <a:pt x="0" y="11"/>
                    </a:moveTo>
                    <a:lnTo>
                      <a:pt x="167" y="0"/>
                    </a:lnTo>
                    <a:lnTo>
                      <a:pt x="167" y="177"/>
                    </a:lnTo>
                    <a:lnTo>
                      <a:pt x="0" y="194"/>
                    </a:lnTo>
                    <a:lnTo>
                      <a:pt x="0" y="11"/>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45" name="Freeform 205"/>
              <p:cNvSpPr/>
              <p:nvPr/>
            </p:nvSpPr>
            <p:spPr bwMode="auto">
              <a:xfrm>
                <a:off x="4384" y="2987"/>
                <a:ext cx="160" cy="131"/>
              </a:xfrm>
              <a:custGeom>
                <a:avLst/>
                <a:gdLst>
                  <a:gd name="T0" fmla="*/ 0 w 160"/>
                  <a:gd name="T1" fmla="*/ 6 h 131"/>
                  <a:gd name="T2" fmla="*/ 159 w 160"/>
                  <a:gd name="T3" fmla="*/ 0 h 131"/>
                  <a:gd name="T4" fmla="*/ 159 w 160"/>
                  <a:gd name="T5" fmla="*/ 121 h 131"/>
                  <a:gd name="T6" fmla="*/ 0 w 160"/>
                  <a:gd name="T7" fmla="*/ 130 h 131"/>
                  <a:gd name="T8" fmla="*/ 0 w 160"/>
                  <a:gd name="T9" fmla="*/ 6 h 131"/>
                </a:gdLst>
                <a:ahLst/>
                <a:cxnLst>
                  <a:cxn ang="0">
                    <a:pos x="T0" y="T1"/>
                  </a:cxn>
                  <a:cxn ang="0">
                    <a:pos x="T2" y="T3"/>
                  </a:cxn>
                  <a:cxn ang="0">
                    <a:pos x="T4" y="T5"/>
                  </a:cxn>
                  <a:cxn ang="0">
                    <a:pos x="T6" y="T7"/>
                  </a:cxn>
                  <a:cxn ang="0">
                    <a:pos x="T8" y="T9"/>
                  </a:cxn>
                </a:cxnLst>
                <a:rect l="0" t="0" r="r" b="b"/>
                <a:pathLst>
                  <a:path w="160" h="131">
                    <a:moveTo>
                      <a:pt x="0" y="6"/>
                    </a:moveTo>
                    <a:lnTo>
                      <a:pt x="159" y="0"/>
                    </a:lnTo>
                    <a:lnTo>
                      <a:pt x="159" y="121"/>
                    </a:lnTo>
                    <a:lnTo>
                      <a:pt x="0" y="130"/>
                    </a:lnTo>
                    <a:lnTo>
                      <a:pt x="0" y="6"/>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46" name="Freeform 206"/>
              <p:cNvSpPr/>
              <p:nvPr/>
            </p:nvSpPr>
            <p:spPr bwMode="auto">
              <a:xfrm>
                <a:off x="4222" y="2889"/>
                <a:ext cx="340" cy="19"/>
              </a:xfrm>
              <a:custGeom>
                <a:avLst/>
                <a:gdLst>
                  <a:gd name="T0" fmla="*/ 0 w 340"/>
                  <a:gd name="T1" fmla="*/ 1 h 19"/>
                  <a:gd name="T2" fmla="*/ 151 w 340"/>
                  <a:gd name="T3" fmla="*/ 18 h 19"/>
                  <a:gd name="T4" fmla="*/ 339 w 340"/>
                  <a:gd name="T5" fmla="*/ 14 h 19"/>
                  <a:gd name="T6" fmla="*/ 181 w 340"/>
                  <a:gd name="T7" fmla="*/ 0 h 19"/>
                  <a:gd name="T8" fmla="*/ 0 w 340"/>
                  <a:gd name="T9" fmla="*/ 1 h 19"/>
                </a:gdLst>
                <a:ahLst/>
                <a:cxnLst>
                  <a:cxn ang="0">
                    <a:pos x="T0" y="T1"/>
                  </a:cxn>
                  <a:cxn ang="0">
                    <a:pos x="T2" y="T3"/>
                  </a:cxn>
                  <a:cxn ang="0">
                    <a:pos x="T4" y="T5"/>
                  </a:cxn>
                  <a:cxn ang="0">
                    <a:pos x="T6" y="T7"/>
                  </a:cxn>
                  <a:cxn ang="0">
                    <a:pos x="T8" y="T9"/>
                  </a:cxn>
                </a:cxnLst>
                <a:rect l="0" t="0" r="r" b="b"/>
                <a:pathLst>
                  <a:path w="340" h="19">
                    <a:moveTo>
                      <a:pt x="0" y="1"/>
                    </a:moveTo>
                    <a:lnTo>
                      <a:pt x="151" y="18"/>
                    </a:lnTo>
                    <a:lnTo>
                      <a:pt x="339" y="14"/>
                    </a:lnTo>
                    <a:lnTo>
                      <a:pt x="181" y="0"/>
                    </a:lnTo>
                    <a:lnTo>
                      <a:pt x="0" y="1"/>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47" name="Freeform 207"/>
              <p:cNvSpPr/>
              <p:nvPr/>
            </p:nvSpPr>
            <p:spPr bwMode="auto">
              <a:xfrm>
                <a:off x="4222" y="2889"/>
                <a:ext cx="152" cy="472"/>
              </a:xfrm>
              <a:custGeom>
                <a:avLst/>
                <a:gdLst>
                  <a:gd name="T0" fmla="*/ 151 w 152"/>
                  <a:gd name="T1" fmla="*/ 471 h 472"/>
                  <a:gd name="T2" fmla="*/ 0 w 152"/>
                  <a:gd name="T3" fmla="*/ 358 h 472"/>
                  <a:gd name="T4" fmla="*/ 0 w 152"/>
                  <a:gd name="T5" fmla="*/ 0 h 472"/>
                  <a:gd name="T6" fmla="*/ 151 w 152"/>
                  <a:gd name="T7" fmla="*/ 18 h 472"/>
                  <a:gd name="T8" fmla="*/ 151 w 152"/>
                  <a:gd name="T9" fmla="*/ 471 h 472"/>
                </a:gdLst>
                <a:ahLst/>
                <a:cxnLst>
                  <a:cxn ang="0">
                    <a:pos x="T0" y="T1"/>
                  </a:cxn>
                  <a:cxn ang="0">
                    <a:pos x="T2" y="T3"/>
                  </a:cxn>
                  <a:cxn ang="0">
                    <a:pos x="T4" y="T5"/>
                  </a:cxn>
                  <a:cxn ang="0">
                    <a:pos x="T6" y="T7"/>
                  </a:cxn>
                  <a:cxn ang="0">
                    <a:pos x="T8" y="T9"/>
                  </a:cxn>
                </a:cxnLst>
                <a:rect l="0" t="0" r="r" b="b"/>
                <a:pathLst>
                  <a:path w="152" h="472">
                    <a:moveTo>
                      <a:pt x="151" y="471"/>
                    </a:moveTo>
                    <a:lnTo>
                      <a:pt x="0" y="358"/>
                    </a:lnTo>
                    <a:lnTo>
                      <a:pt x="0" y="0"/>
                    </a:lnTo>
                    <a:lnTo>
                      <a:pt x="151" y="18"/>
                    </a:lnTo>
                    <a:lnTo>
                      <a:pt x="151" y="471"/>
                    </a:lnTo>
                  </a:path>
                </a:pathLst>
              </a:custGeom>
              <a:solidFill>
                <a:srgbClr val="B5B5B5"/>
              </a:solidFill>
              <a:ln w="12700" cap="rnd" cmpd="sng">
                <a:solidFill>
                  <a:srgbClr val="B5B5B5"/>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48" name="Freeform 208"/>
              <p:cNvSpPr/>
              <p:nvPr/>
            </p:nvSpPr>
            <p:spPr bwMode="auto">
              <a:xfrm>
                <a:off x="4356" y="2905"/>
                <a:ext cx="18" cy="456"/>
              </a:xfrm>
              <a:custGeom>
                <a:avLst/>
                <a:gdLst>
                  <a:gd name="T0" fmla="*/ 17 w 18"/>
                  <a:gd name="T1" fmla="*/ 2 h 456"/>
                  <a:gd name="T2" fmla="*/ 0 w 18"/>
                  <a:gd name="T3" fmla="*/ 0 h 456"/>
                  <a:gd name="T4" fmla="*/ 0 w 18"/>
                  <a:gd name="T5" fmla="*/ 443 h 456"/>
                  <a:gd name="T6" fmla="*/ 17 w 18"/>
                  <a:gd name="T7" fmla="*/ 455 h 456"/>
                  <a:gd name="T8" fmla="*/ 17 w 18"/>
                  <a:gd name="T9" fmla="*/ 2 h 456"/>
                </a:gdLst>
                <a:ahLst/>
                <a:cxnLst>
                  <a:cxn ang="0">
                    <a:pos x="T0" y="T1"/>
                  </a:cxn>
                  <a:cxn ang="0">
                    <a:pos x="T2" y="T3"/>
                  </a:cxn>
                  <a:cxn ang="0">
                    <a:pos x="T4" y="T5"/>
                  </a:cxn>
                  <a:cxn ang="0">
                    <a:pos x="T6" y="T7"/>
                  </a:cxn>
                  <a:cxn ang="0">
                    <a:pos x="T8" y="T9"/>
                  </a:cxn>
                </a:cxnLst>
                <a:rect l="0" t="0" r="r" b="b"/>
                <a:pathLst>
                  <a:path w="18" h="456">
                    <a:moveTo>
                      <a:pt x="17" y="2"/>
                    </a:moveTo>
                    <a:lnTo>
                      <a:pt x="0" y="0"/>
                    </a:lnTo>
                    <a:lnTo>
                      <a:pt x="0" y="443"/>
                    </a:lnTo>
                    <a:lnTo>
                      <a:pt x="17" y="455"/>
                    </a:lnTo>
                    <a:lnTo>
                      <a:pt x="17" y="2"/>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49" name="Freeform 209"/>
              <p:cNvSpPr/>
              <p:nvPr/>
            </p:nvSpPr>
            <p:spPr bwMode="auto">
              <a:xfrm>
                <a:off x="4384" y="2986"/>
                <a:ext cx="168" cy="137"/>
              </a:xfrm>
              <a:custGeom>
                <a:avLst/>
                <a:gdLst>
                  <a:gd name="T0" fmla="*/ 167 w 168"/>
                  <a:gd name="T1" fmla="*/ 0 h 137"/>
                  <a:gd name="T2" fmla="*/ 167 w 168"/>
                  <a:gd name="T3" fmla="*/ 125 h 137"/>
                  <a:gd name="T4" fmla="*/ 0 w 168"/>
                  <a:gd name="T5" fmla="*/ 136 h 137"/>
                  <a:gd name="T6" fmla="*/ 0 w 168"/>
                  <a:gd name="T7" fmla="*/ 130 h 137"/>
                  <a:gd name="T8" fmla="*/ 159 w 168"/>
                  <a:gd name="T9" fmla="*/ 122 h 137"/>
                  <a:gd name="T10" fmla="*/ 159 w 168"/>
                  <a:gd name="T11" fmla="*/ 1 h 137"/>
                  <a:gd name="T12" fmla="*/ 167 w 168"/>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68" h="137">
                    <a:moveTo>
                      <a:pt x="167" y="0"/>
                    </a:moveTo>
                    <a:lnTo>
                      <a:pt x="167" y="125"/>
                    </a:lnTo>
                    <a:lnTo>
                      <a:pt x="0" y="136"/>
                    </a:lnTo>
                    <a:lnTo>
                      <a:pt x="0" y="130"/>
                    </a:lnTo>
                    <a:lnTo>
                      <a:pt x="159" y="122"/>
                    </a:lnTo>
                    <a:lnTo>
                      <a:pt x="159" y="1"/>
                    </a:lnTo>
                    <a:lnTo>
                      <a:pt x="167" y="0"/>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50" name="Freeform 210"/>
              <p:cNvSpPr/>
              <p:nvPr/>
            </p:nvSpPr>
            <p:spPr bwMode="auto">
              <a:xfrm>
                <a:off x="4384" y="2961"/>
                <a:ext cx="168" cy="27"/>
              </a:xfrm>
              <a:custGeom>
                <a:avLst/>
                <a:gdLst>
                  <a:gd name="T0" fmla="*/ 0 w 168"/>
                  <a:gd name="T1" fmla="*/ 15 h 27"/>
                  <a:gd name="T2" fmla="*/ 0 w 168"/>
                  <a:gd name="T3" fmla="*/ 19 h 27"/>
                  <a:gd name="T4" fmla="*/ 39 w 168"/>
                  <a:gd name="T5" fmla="*/ 18 h 27"/>
                  <a:gd name="T6" fmla="*/ 39 w 168"/>
                  <a:gd name="T7" fmla="*/ 26 h 27"/>
                  <a:gd name="T8" fmla="*/ 128 w 168"/>
                  <a:gd name="T9" fmla="*/ 23 h 27"/>
                  <a:gd name="T10" fmla="*/ 128 w 168"/>
                  <a:gd name="T11" fmla="*/ 16 h 27"/>
                  <a:gd name="T12" fmla="*/ 167 w 168"/>
                  <a:gd name="T13" fmla="*/ 14 h 27"/>
                  <a:gd name="T14" fmla="*/ 167 w 168"/>
                  <a:gd name="T15" fmla="*/ 8 h 27"/>
                  <a:gd name="T16" fmla="*/ 128 w 168"/>
                  <a:gd name="T17" fmla="*/ 10 h 27"/>
                  <a:gd name="T18" fmla="*/ 128 w 168"/>
                  <a:gd name="T19" fmla="*/ 0 h 27"/>
                  <a:gd name="T20" fmla="*/ 111 w 168"/>
                  <a:gd name="T21" fmla="*/ 1 h 27"/>
                  <a:gd name="T22" fmla="*/ 32 w 168"/>
                  <a:gd name="T23" fmla="*/ 13 h 27"/>
                  <a:gd name="T24" fmla="*/ 0 w 168"/>
                  <a:gd name="T2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27">
                    <a:moveTo>
                      <a:pt x="0" y="15"/>
                    </a:moveTo>
                    <a:lnTo>
                      <a:pt x="0" y="19"/>
                    </a:lnTo>
                    <a:lnTo>
                      <a:pt x="39" y="18"/>
                    </a:lnTo>
                    <a:lnTo>
                      <a:pt x="39" y="26"/>
                    </a:lnTo>
                    <a:lnTo>
                      <a:pt x="128" y="23"/>
                    </a:lnTo>
                    <a:lnTo>
                      <a:pt x="128" y="16"/>
                    </a:lnTo>
                    <a:lnTo>
                      <a:pt x="167" y="14"/>
                    </a:lnTo>
                    <a:lnTo>
                      <a:pt x="167" y="8"/>
                    </a:lnTo>
                    <a:lnTo>
                      <a:pt x="128" y="10"/>
                    </a:lnTo>
                    <a:lnTo>
                      <a:pt x="128" y="0"/>
                    </a:lnTo>
                    <a:lnTo>
                      <a:pt x="111" y="1"/>
                    </a:lnTo>
                    <a:lnTo>
                      <a:pt x="32" y="13"/>
                    </a:lnTo>
                    <a:lnTo>
                      <a:pt x="0" y="15"/>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51" name="Freeform 211"/>
              <p:cNvSpPr/>
              <p:nvPr/>
            </p:nvSpPr>
            <p:spPr bwMode="auto">
              <a:xfrm>
                <a:off x="4384" y="2920"/>
                <a:ext cx="168" cy="23"/>
              </a:xfrm>
              <a:custGeom>
                <a:avLst/>
                <a:gdLst>
                  <a:gd name="T0" fmla="*/ 167 w 168"/>
                  <a:gd name="T1" fmla="*/ 0 h 23"/>
                  <a:gd name="T2" fmla="*/ 167 w 168"/>
                  <a:gd name="T3" fmla="*/ 17 h 23"/>
                  <a:gd name="T4" fmla="*/ 0 w 168"/>
                  <a:gd name="T5" fmla="*/ 22 h 23"/>
                  <a:gd name="T6" fmla="*/ 0 w 168"/>
                  <a:gd name="T7" fmla="*/ 19 h 23"/>
                  <a:gd name="T8" fmla="*/ 158 w 168"/>
                  <a:gd name="T9" fmla="*/ 1 h 23"/>
                  <a:gd name="T10" fmla="*/ 167 w 168"/>
                  <a:gd name="T11" fmla="*/ 0 h 23"/>
                </a:gdLst>
                <a:ahLst/>
                <a:cxnLst>
                  <a:cxn ang="0">
                    <a:pos x="T0" y="T1"/>
                  </a:cxn>
                  <a:cxn ang="0">
                    <a:pos x="T2" y="T3"/>
                  </a:cxn>
                  <a:cxn ang="0">
                    <a:pos x="T4" y="T5"/>
                  </a:cxn>
                  <a:cxn ang="0">
                    <a:pos x="T6" y="T7"/>
                  </a:cxn>
                  <a:cxn ang="0">
                    <a:pos x="T8" y="T9"/>
                  </a:cxn>
                  <a:cxn ang="0">
                    <a:pos x="T10" y="T11"/>
                  </a:cxn>
                </a:cxnLst>
                <a:rect l="0" t="0" r="r" b="b"/>
                <a:pathLst>
                  <a:path w="168" h="23">
                    <a:moveTo>
                      <a:pt x="167" y="0"/>
                    </a:moveTo>
                    <a:lnTo>
                      <a:pt x="167" y="17"/>
                    </a:lnTo>
                    <a:lnTo>
                      <a:pt x="0" y="22"/>
                    </a:lnTo>
                    <a:lnTo>
                      <a:pt x="0" y="19"/>
                    </a:lnTo>
                    <a:lnTo>
                      <a:pt x="158" y="1"/>
                    </a:lnTo>
                    <a:lnTo>
                      <a:pt x="167" y="0"/>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52" name="Freeform 212"/>
              <p:cNvSpPr/>
              <p:nvPr/>
            </p:nvSpPr>
            <p:spPr bwMode="auto">
              <a:xfrm>
                <a:off x="4222" y="2888"/>
                <a:ext cx="340" cy="20"/>
              </a:xfrm>
              <a:custGeom>
                <a:avLst/>
                <a:gdLst>
                  <a:gd name="T0" fmla="*/ 0 w 340"/>
                  <a:gd name="T1" fmla="*/ 2 h 20"/>
                  <a:gd name="T2" fmla="*/ 151 w 340"/>
                  <a:gd name="T3" fmla="*/ 19 h 20"/>
                  <a:gd name="T4" fmla="*/ 339 w 340"/>
                  <a:gd name="T5" fmla="*/ 14 h 20"/>
                  <a:gd name="T6" fmla="*/ 181 w 340"/>
                  <a:gd name="T7" fmla="*/ 0 h 20"/>
                  <a:gd name="T8" fmla="*/ 0 w 340"/>
                  <a:gd name="T9" fmla="*/ 2 h 20"/>
                </a:gdLst>
                <a:ahLst/>
                <a:cxnLst>
                  <a:cxn ang="0">
                    <a:pos x="T0" y="T1"/>
                  </a:cxn>
                  <a:cxn ang="0">
                    <a:pos x="T2" y="T3"/>
                  </a:cxn>
                  <a:cxn ang="0">
                    <a:pos x="T4" y="T5"/>
                  </a:cxn>
                  <a:cxn ang="0">
                    <a:pos x="T6" y="T7"/>
                  </a:cxn>
                  <a:cxn ang="0">
                    <a:pos x="T8" y="T9"/>
                  </a:cxn>
                </a:cxnLst>
                <a:rect l="0" t="0" r="r" b="b"/>
                <a:pathLst>
                  <a:path w="340" h="20">
                    <a:moveTo>
                      <a:pt x="0" y="2"/>
                    </a:moveTo>
                    <a:lnTo>
                      <a:pt x="151" y="19"/>
                    </a:lnTo>
                    <a:lnTo>
                      <a:pt x="339" y="14"/>
                    </a:lnTo>
                    <a:lnTo>
                      <a:pt x="181" y="0"/>
                    </a:lnTo>
                    <a:lnTo>
                      <a:pt x="0" y="2"/>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53" name="Freeform 213"/>
              <p:cNvSpPr/>
              <p:nvPr/>
            </p:nvSpPr>
            <p:spPr bwMode="auto">
              <a:xfrm>
                <a:off x="4372" y="2903"/>
                <a:ext cx="190" cy="458"/>
              </a:xfrm>
              <a:custGeom>
                <a:avLst/>
                <a:gdLst>
                  <a:gd name="T0" fmla="*/ 0 w 190"/>
                  <a:gd name="T1" fmla="*/ 5 h 458"/>
                  <a:gd name="T2" fmla="*/ 0 w 190"/>
                  <a:gd name="T3" fmla="*/ 457 h 458"/>
                  <a:gd name="T4" fmla="*/ 189 w 190"/>
                  <a:gd name="T5" fmla="*/ 437 h 458"/>
                  <a:gd name="T6" fmla="*/ 189 w 190"/>
                  <a:gd name="T7" fmla="*/ 0 h 458"/>
                  <a:gd name="T8" fmla="*/ 0 w 190"/>
                  <a:gd name="T9" fmla="*/ 5 h 458"/>
                </a:gdLst>
                <a:ahLst/>
                <a:cxnLst>
                  <a:cxn ang="0">
                    <a:pos x="T0" y="T1"/>
                  </a:cxn>
                  <a:cxn ang="0">
                    <a:pos x="T2" y="T3"/>
                  </a:cxn>
                  <a:cxn ang="0">
                    <a:pos x="T4" y="T5"/>
                  </a:cxn>
                  <a:cxn ang="0">
                    <a:pos x="T6" y="T7"/>
                  </a:cxn>
                  <a:cxn ang="0">
                    <a:pos x="T8" y="T9"/>
                  </a:cxn>
                </a:cxnLst>
                <a:rect l="0" t="0" r="r" b="b"/>
                <a:pathLst>
                  <a:path w="190" h="458">
                    <a:moveTo>
                      <a:pt x="0" y="5"/>
                    </a:moveTo>
                    <a:lnTo>
                      <a:pt x="0" y="457"/>
                    </a:lnTo>
                    <a:lnTo>
                      <a:pt x="189" y="437"/>
                    </a:lnTo>
                    <a:lnTo>
                      <a:pt x="189" y="0"/>
                    </a:lnTo>
                    <a:lnTo>
                      <a:pt x="0" y="5"/>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54" name="Freeform 214"/>
              <p:cNvSpPr/>
              <p:nvPr/>
            </p:nvSpPr>
            <p:spPr bwMode="auto">
              <a:xfrm>
                <a:off x="4222" y="2889"/>
                <a:ext cx="151" cy="472"/>
              </a:xfrm>
              <a:custGeom>
                <a:avLst/>
                <a:gdLst>
                  <a:gd name="T0" fmla="*/ 0 w 151"/>
                  <a:gd name="T1" fmla="*/ 0 h 472"/>
                  <a:gd name="T2" fmla="*/ 0 w 151"/>
                  <a:gd name="T3" fmla="*/ 358 h 472"/>
                  <a:gd name="T4" fmla="*/ 150 w 151"/>
                  <a:gd name="T5" fmla="*/ 471 h 472"/>
                  <a:gd name="T6" fmla="*/ 150 w 151"/>
                  <a:gd name="T7" fmla="*/ 18 h 472"/>
                  <a:gd name="T8" fmla="*/ 0 w 151"/>
                  <a:gd name="T9" fmla="*/ 0 h 472"/>
                </a:gdLst>
                <a:ahLst/>
                <a:cxnLst>
                  <a:cxn ang="0">
                    <a:pos x="T0" y="T1"/>
                  </a:cxn>
                  <a:cxn ang="0">
                    <a:pos x="T2" y="T3"/>
                  </a:cxn>
                  <a:cxn ang="0">
                    <a:pos x="T4" y="T5"/>
                  </a:cxn>
                  <a:cxn ang="0">
                    <a:pos x="T6" y="T7"/>
                  </a:cxn>
                  <a:cxn ang="0">
                    <a:pos x="T8" y="T9"/>
                  </a:cxn>
                </a:cxnLst>
                <a:rect l="0" t="0" r="r" b="b"/>
                <a:pathLst>
                  <a:path w="151" h="472">
                    <a:moveTo>
                      <a:pt x="0" y="0"/>
                    </a:moveTo>
                    <a:lnTo>
                      <a:pt x="0" y="358"/>
                    </a:lnTo>
                    <a:lnTo>
                      <a:pt x="150" y="471"/>
                    </a:lnTo>
                    <a:lnTo>
                      <a:pt x="150" y="18"/>
                    </a:lnTo>
                    <a:lnTo>
                      <a:pt x="0" y="0"/>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55" name="Line 215"/>
              <p:cNvSpPr>
                <a:spLocks noChangeShapeType="1"/>
              </p:cNvSpPr>
              <p:nvPr/>
            </p:nvSpPr>
            <p:spPr bwMode="auto">
              <a:xfrm>
                <a:off x="4356" y="2906"/>
                <a:ext cx="0" cy="44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56" name="Freeform 216"/>
              <p:cNvSpPr/>
              <p:nvPr/>
            </p:nvSpPr>
            <p:spPr bwMode="auto">
              <a:xfrm>
                <a:off x="4356" y="2912"/>
                <a:ext cx="206" cy="17"/>
              </a:xfrm>
              <a:custGeom>
                <a:avLst/>
                <a:gdLst>
                  <a:gd name="T0" fmla="*/ 0 w 206"/>
                  <a:gd name="T1" fmla="*/ 9 h 17"/>
                  <a:gd name="T2" fmla="*/ 16 w 206"/>
                  <a:gd name="T3" fmla="*/ 16 h 17"/>
                  <a:gd name="T4" fmla="*/ 205 w 206"/>
                  <a:gd name="T5" fmla="*/ 0 h 17"/>
                </a:gdLst>
                <a:ahLst/>
                <a:cxnLst>
                  <a:cxn ang="0">
                    <a:pos x="T0" y="T1"/>
                  </a:cxn>
                  <a:cxn ang="0">
                    <a:pos x="T2" y="T3"/>
                  </a:cxn>
                  <a:cxn ang="0">
                    <a:pos x="T4" y="T5"/>
                  </a:cxn>
                </a:cxnLst>
                <a:rect l="0" t="0" r="r" b="b"/>
                <a:pathLst>
                  <a:path w="206" h="17">
                    <a:moveTo>
                      <a:pt x="0" y="9"/>
                    </a:moveTo>
                    <a:lnTo>
                      <a:pt x="16" y="16"/>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57" name="Freeform 217"/>
              <p:cNvSpPr/>
              <p:nvPr/>
            </p:nvSpPr>
            <p:spPr bwMode="auto">
              <a:xfrm>
                <a:off x="4356" y="2945"/>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58" name="Freeform 218"/>
              <p:cNvSpPr/>
              <p:nvPr/>
            </p:nvSpPr>
            <p:spPr bwMode="auto">
              <a:xfrm>
                <a:off x="4384" y="2920"/>
                <a:ext cx="168" cy="23"/>
              </a:xfrm>
              <a:custGeom>
                <a:avLst/>
                <a:gdLst>
                  <a:gd name="T0" fmla="*/ 0 w 168"/>
                  <a:gd name="T1" fmla="*/ 5 h 23"/>
                  <a:gd name="T2" fmla="*/ 0 w 168"/>
                  <a:gd name="T3" fmla="*/ 22 h 23"/>
                  <a:gd name="T4" fmla="*/ 167 w 168"/>
                  <a:gd name="T5" fmla="*/ 17 h 23"/>
                  <a:gd name="T6" fmla="*/ 167 w 168"/>
                  <a:gd name="T7" fmla="*/ 0 h 23"/>
                  <a:gd name="T8" fmla="*/ 0 w 168"/>
                  <a:gd name="T9" fmla="*/ 5 h 23"/>
                </a:gdLst>
                <a:ahLst/>
                <a:cxnLst>
                  <a:cxn ang="0">
                    <a:pos x="T0" y="T1"/>
                  </a:cxn>
                  <a:cxn ang="0">
                    <a:pos x="T2" y="T3"/>
                  </a:cxn>
                  <a:cxn ang="0">
                    <a:pos x="T4" y="T5"/>
                  </a:cxn>
                  <a:cxn ang="0">
                    <a:pos x="T6" y="T7"/>
                  </a:cxn>
                  <a:cxn ang="0">
                    <a:pos x="T8" y="T9"/>
                  </a:cxn>
                </a:cxnLst>
                <a:rect l="0" t="0" r="r" b="b"/>
                <a:pathLst>
                  <a:path w="168" h="23">
                    <a:moveTo>
                      <a:pt x="0" y="5"/>
                    </a:moveTo>
                    <a:lnTo>
                      <a:pt x="0" y="22"/>
                    </a:lnTo>
                    <a:lnTo>
                      <a:pt x="167" y="17"/>
                    </a:lnTo>
                    <a:lnTo>
                      <a:pt x="167" y="0"/>
                    </a:lnTo>
                    <a:lnTo>
                      <a:pt x="0" y="5"/>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59" name="Freeform 219"/>
              <p:cNvSpPr/>
              <p:nvPr/>
            </p:nvSpPr>
            <p:spPr bwMode="auto">
              <a:xfrm>
                <a:off x="4356" y="2955"/>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60" name="Freeform 220"/>
              <p:cNvSpPr/>
              <p:nvPr/>
            </p:nvSpPr>
            <p:spPr bwMode="auto">
              <a:xfrm>
                <a:off x="4356" y="2986"/>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61" name="Freeform 221"/>
              <p:cNvSpPr/>
              <p:nvPr/>
            </p:nvSpPr>
            <p:spPr bwMode="auto">
              <a:xfrm>
                <a:off x="4356" y="3111"/>
                <a:ext cx="206" cy="17"/>
              </a:xfrm>
              <a:custGeom>
                <a:avLst/>
                <a:gdLst>
                  <a:gd name="T0" fmla="*/ 205 w 206"/>
                  <a:gd name="T1" fmla="*/ 0 h 17"/>
                  <a:gd name="T2" fmla="*/ 16 w 206"/>
                  <a:gd name="T3" fmla="*/ 16 h 17"/>
                  <a:gd name="T4" fmla="*/ 0 w 206"/>
                  <a:gd name="T5" fmla="*/ 7 h 17"/>
                </a:gdLst>
                <a:ahLst/>
                <a:cxnLst>
                  <a:cxn ang="0">
                    <a:pos x="T0" y="T1"/>
                  </a:cxn>
                  <a:cxn ang="0">
                    <a:pos x="T2" y="T3"/>
                  </a:cxn>
                  <a:cxn ang="0">
                    <a:pos x="T4" y="T5"/>
                  </a:cxn>
                </a:cxnLst>
                <a:rect l="0" t="0" r="r" b="b"/>
                <a:pathLst>
                  <a:path w="206" h="17">
                    <a:moveTo>
                      <a:pt x="205" y="0"/>
                    </a:moveTo>
                    <a:lnTo>
                      <a:pt x="16" y="16"/>
                    </a:lnTo>
                    <a:lnTo>
                      <a:pt x="0" y="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62" name="Line 222"/>
              <p:cNvSpPr>
                <a:spLocks noChangeShapeType="1"/>
              </p:cNvSpPr>
              <p:nvPr/>
            </p:nvSpPr>
            <p:spPr bwMode="auto">
              <a:xfrm>
                <a:off x="4384" y="2993"/>
                <a:ext cx="0" cy="12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63" name="Line 223"/>
              <p:cNvSpPr>
                <a:spLocks noChangeShapeType="1"/>
              </p:cNvSpPr>
              <p:nvPr/>
            </p:nvSpPr>
            <p:spPr bwMode="auto">
              <a:xfrm>
                <a:off x="4551" y="2987"/>
                <a:ext cx="0" cy="12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64" name="Freeform 224"/>
              <p:cNvSpPr/>
              <p:nvPr/>
            </p:nvSpPr>
            <p:spPr bwMode="auto">
              <a:xfrm>
                <a:off x="4384" y="2987"/>
                <a:ext cx="160" cy="130"/>
              </a:xfrm>
              <a:custGeom>
                <a:avLst/>
                <a:gdLst>
                  <a:gd name="T0" fmla="*/ 159 w 160"/>
                  <a:gd name="T1" fmla="*/ 0 h 130"/>
                  <a:gd name="T2" fmla="*/ 159 w 160"/>
                  <a:gd name="T3" fmla="*/ 121 h 130"/>
                  <a:gd name="T4" fmla="*/ 0 w 160"/>
                  <a:gd name="T5" fmla="*/ 129 h 130"/>
                </a:gdLst>
                <a:ahLst/>
                <a:cxnLst>
                  <a:cxn ang="0">
                    <a:pos x="T0" y="T1"/>
                  </a:cxn>
                  <a:cxn ang="0">
                    <a:pos x="T2" y="T3"/>
                  </a:cxn>
                  <a:cxn ang="0">
                    <a:pos x="T4" y="T5"/>
                  </a:cxn>
                </a:cxnLst>
                <a:rect l="0" t="0" r="r" b="b"/>
                <a:pathLst>
                  <a:path w="160" h="130">
                    <a:moveTo>
                      <a:pt x="159" y="0"/>
                    </a:moveTo>
                    <a:lnTo>
                      <a:pt x="159" y="121"/>
                    </a:lnTo>
                    <a:lnTo>
                      <a:pt x="0" y="12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65" name="Line 225"/>
              <p:cNvSpPr>
                <a:spLocks noChangeShapeType="1"/>
              </p:cNvSpPr>
              <p:nvPr/>
            </p:nvSpPr>
            <p:spPr bwMode="auto">
              <a:xfrm>
                <a:off x="4543" y="3108"/>
                <a:ext cx="8" cy="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66" name="Line 226"/>
              <p:cNvSpPr>
                <a:spLocks noChangeShapeType="1"/>
              </p:cNvSpPr>
              <p:nvPr/>
            </p:nvSpPr>
            <p:spPr bwMode="auto">
              <a:xfrm flipH="1">
                <a:off x="4384" y="3028"/>
                <a:ext cx="159" cy="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67" name="Line 227"/>
              <p:cNvSpPr>
                <a:spLocks noChangeShapeType="1"/>
              </p:cNvSpPr>
              <p:nvPr/>
            </p:nvSpPr>
            <p:spPr bwMode="auto">
              <a:xfrm flipH="1">
                <a:off x="4384" y="3070"/>
                <a:ext cx="159" cy="9"/>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68" name="Freeform 228"/>
              <p:cNvSpPr/>
              <p:nvPr/>
            </p:nvSpPr>
            <p:spPr bwMode="auto">
              <a:xfrm>
                <a:off x="4356" y="3144"/>
                <a:ext cx="206" cy="17"/>
              </a:xfrm>
              <a:custGeom>
                <a:avLst/>
                <a:gdLst>
                  <a:gd name="T0" fmla="*/ 0 w 206"/>
                  <a:gd name="T1" fmla="*/ 3 h 17"/>
                  <a:gd name="T2" fmla="*/ 16 w 206"/>
                  <a:gd name="T3" fmla="*/ 16 h 17"/>
                  <a:gd name="T4" fmla="*/ 205 w 206"/>
                  <a:gd name="T5" fmla="*/ 0 h 17"/>
                </a:gdLst>
                <a:ahLst/>
                <a:cxnLst>
                  <a:cxn ang="0">
                    <a:pos x="T0" y="T1"/>
                  </a:cxn>
                  <a:cxn ang="0">
                    <a:pos x="T2" y="T3"/>
                  </a:cxn>
                  <a:cxn ang="0">
                    <a:pos x="T4" y="T5"/>
                  </a:cxn>
                </a:cxnLst>
                <a:rect l="0" t="0" r="r" b="b"/>
                <a:pathLst>
                  <a:path w="206" h="17">
                    <a:moveTo>
                      <a:pt x="0" y="3"/>
                    </a:moveTo>
                    <a:lnTo>
                      <a:pt x="16" y="16"/>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69" name="Freeform 229"/>
              <p:cNvSpPr/>
              <p:nvPr/>
            </p:nvSpPr>
            <p:spPr bwMode="auto">
              <a:xfrm>
                <a:off x="4356" y="3320"/>
                <a:ext cx="206" cy="21"/>
              </a:xfrm>
              <a:custGeom>
                <a:avLst/>
                <a:gdLst>
                  <a:gd name="T0" fmla="*/ 0 w 206"/>
                  <a:gd name="T1" fmla="*/ 7 h 21"/>
                  <a:gd name="T2" fmla="*/ 16 w 206"/>
                  <a:gd name="T3" fmla="*/ 20 h 21"/>
                  <a:gd name="T4" fmla="*/ 205 w 206"/>
                  <a:gd name="T5" fmla="*/ 0 h 21"/>
                </a:gdLst>
                <a:ahLst/>
                <a:cxnLst>
                  <a:cxn ang="0">
                    <a:pos x="T0" y="T1"/>
                  </a:cxn>
                  <a:cxn ang="0">
                    <a:pos x="T2" y="T3"/>
                  </a:cxn>
                  <a:cxn ang="0">
                    <a:pos x="T4" y="T5"/>
                  </a:cxn>
                </a:cxnLst>
                <a:rect l="0" t="0" r="r" b="b"/>
                <a:pathLst>
                  <a:path w="206" h="21">
                    <a:moveTo>
                      <a:pt x="0" y="7"/>
                    </a:moveTo>
                    <a:lnTo>
                      <a:pt x="16" y="20"/>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70" name="Line 230"/>
              <p:cNvSpPr>
                <a:spLocks noChangeShapeType="1"/>
              </p:cNvSpPr>
              <p:nvPr/>
            </p:nvSpPr>
            <p:spPr bwMode="auto">
              <a:xfrm>
                <a:off x="4384" y="3154"/>
                <a:ext cx="0" cy="18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71" name="Line 231"/>
              <p:cNvSpPr>
                <a:spLocks noChangeShapeType="1"/>
              </p:cNvSpPr>
              <p:nvPr/>
            </p:nvSpPr>
            <p:spPr bwMode="auto">
              <a:xfrm>
                <a:off x="4551" y="3144"/>
                <a:ext cx="0" cy="17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72" name="Freeform 232"/>
              <p:cNvSpPr/>
              <p:nvPr/>
            </p:nvSpPr>
            <p:spPr bwMode="auto">
              <a:xfrm>
                <a:off x="4384" y="3308"/>
                <a:ext cx="168" cy="21"/>
              </a:xfrm>
              <a:custGeom>
                <a:avLst/>
                <a:gdLst>
                  <a:gd name="T0" fmla="*/ 0 w 168"/>
                  <a:gd name="T1" fmla="*/ 20 h 21"/>
                  <a:gd name="T2" fmla="*/ 167 w 168"/>
                  <a:gd name="T3" fmla="*/ 4 h 21"/>
                  <a:gd name="T4" fmla="*/ 167 w 168"/>
                  <a:gd name="T5" fmla="*/ 0 h 21"/>
                  <a:gd name="T6" fmla="*/ 0 w 168"/>
                  <a:gd name="T7" fmla="*/ 17 h 21"/>
                  <a:gd name="T8" fmla="*/ 0 w 168"/>
                  <a:gd name="T9" fmla="*/ 20 h 21"/>
                </a:gdLst>
                <a:ahLst/>
                <a:cxnLst>
                  <a:cxn ang="0">
                    <a:pos x="T0" y="T1"/>
                  </a:cxn>
                  <a:cxn ang="0">
                    <a:pos x="T2" y="T3"/>
                  </a:cxn>
                  <a:cxn ang="0">
                    <a:pos x="T4" y="T5"/>
                  </a:cxn>
                  <a:cxn ang="0">
                    <a:pos x="T6" y="T7"/>
                  </a:cxn>
                  <a:cxn ang="0">
                    <a:pos x="T8" y="T9"/>
                  </a:cxn>
                </a:cxnLst>
                <a:rect l="0" t="0" r="r" b="b"/>
                <a:pathLst>
                  <a:path w="168" h="21">
                    <a:moveTo>
                      <a:pt x="0" y="20"/>
                    </a:moveTo>
                    <a:lnTo>
                      <a:pt x="167" y="4"/>
                    </a:lnTo>
                    <a:lnTo>
                      <a:pt x="167" y="0"/>
                    </a:lnTo>
                    <a:lnTo>
                      <a:pt x="0" y="17"/>
                    </a:lnTo>
                    <a:lnTo>
                      <a:pt x="0" y="2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73" name="Freeform 233"/>
              <p:cNvSpPr/>
              <p:nvPr/>
            </p:nvSpPr>
            <p:spPr bwMode="auto">
              <a:xfrm>
                <a:off x="4384" y="3300"/>
                <a:ext cx="168" cy="21"/>
              </a:xfrm>
              <a:custGeom>
                <a:avLst/>
                <a:gdLst>
                  <a:gd name="T0" fmla="*/ 0 w 168"/>
                  <a:gd name="T1" fmla="*/ 20 h 21"/>
                  <a:gd name="T2" fmla="*/ 167 w 168"/>
                  <a:gd name="T3" fmla="*/ 3 h 21"/>
                  <a:gd name="T4" fmla="*/ 167 w 168"/>
                  <a:gd name="T5" fmla="*/ 0 h 21"/>
                  <a:gd name="T6" fmla="*/ 0 w 168"/>
                  <a:gd name="T7" fmla="*/ 16 h 21"/>
                  <a:gd name="T8" fmla="*/ 0 w 168"/>
                  <a:gd name="T9" fmla="*/ 20 h 21"/>
                </a:gdLst>
                <a:ahLst/>
                <a:cxnLst>
                  <a:cxn ang="0">
                    <a:pos x="T0" y="T1"/>
                  </a:cxn>
                  <a:cxn ang="0">
                    <a:pos x="T2" y="T3"/>
                  </a:cxn>
                  <a:cxn ang="0">
                    <a:pos x="T4" y="T5"/>
                  </a:cxn>
                  <a:cxn ang="0">
                    <a:pos x="T6" y="T7"/>
                  </a:cxn>
                  <a:cxn ang="0">
                    <a:pos x="T8" y="T9"/>
                  </a:cxn>
                </a:cxnLst>
                <a:rect l="0" t="0" r="r" b="b"/>
                <a:pathLst>
                  <a:path w="168" h="21">
                    <a:moveTo>
                      <a:pt x="0" y="20"/>
                    </a:moveTo>
                    <a:lnTo>
                      <a:pt x="167" y="3"/>
                    </a:lnTo>
                    <a:lnTo>
                      <a:pt x="167" y="0"/>
                    </a:lnTo>
                    <a:lnTo>
                      <a:pt x="0" y="16"/>
                    </a:lnTo>
                    <a:lnTo>
                      <a:pt x="0" y="2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74" name="Freeform 234"/>
              <p:cNvSpPr/>
              <p:nvPr/>
            </p:nvSpPr>
            <p:spPr bwMode="auto">
              <a:xfrm>
                <a:off x="4384" y="3293"/>
                <a:ext cx="168" cy="20"/>
              </a:xfrm>
              <a:custGeom>
                <a:avLst/>
                <a:gdLst>
                  <a:gd name="T0" fmla="*/ 167 w 168"/>
                  <a:gd name="T1" fmla="*/ 3 h 20"/>
                  <a:gd name="T2" fmla="*/ 0 w 168"/>
                  <a:gd name="T3" fmla="*/ 19 h 20"/>
                  <a:gd name="T4" fmla="*/ 0 w 168"/>
                  <a:gd name="T5" fmla="*/ 15 h 20"/>
                  <a:gd name="T6" fmla="*/ 167 w 168"/>
                  <a:gd name="T7" fmla="*/ 0 h 20"/>
                  <a:gd name="T8" fmla="*/ 167 w 168"/>
                  <a:gd name="T9" fmla="*/ 3 h 20"/>
                </a:gdLst>
                <a:ahLst/>
                <a:cxnLst>
                  <a:cxn ang="0">
                    <a:pos x="T0" y="T1"/>
                  </a:cxn>
                  <a:cxn ang="0">
                    <a:pos x="T2" y="T3"/>
                  </a:cxn>
                  <a:cxn ang="0">
                    <a:pos x="T4" y="T5"/>
                  </a:cxn>
                  <a:cxn ang="0">
                    <a:pos x="T6" y="T7"/>
                  </a:cxn>
                  <a:cxn ang="0">
                    <a:pos x="T8" y="T9"/>
                  </a:cxn>
                </a:cxnLst>
                <a:rect l="0" t="0" r="r" b="b"/>
                <a:pathLst>
                  <a:path w="168" h="20">
                    <a:moveTo>
                      <a:pt x="167" y="3"/>
                    </a:moveTo>
                    <a:lnTo>
                      <a:pt x="0" y="19"/>
                    </a:lnTo>
                    <a:lnTo>
                      <a:pt x="0" y="15"/>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75" name="Freeform 235"/>
              <p:cNvSpPr/>
              <p:nvPr/>
            </p:nvSpPr>
            <p:spPr bwMode="auto">
              <a:xfrm>
                <a:off x="4384" y="3285"/>
                <a:ext cx="168" cy="18"/>
              </a:xfrm>
              <a:custGeom>
                <a:avLst/>
                <a:gdLst>
                  <a:gd name="T0" fmla="*/ 167 w 168"/>
                  <a:gd name="T1" fmla="*/ 3 h 18"/>
                  <a:gd name="T2" fmla="*/ 0 w 168"/>
                  <a:gd name="T3" fmla="*/ 17 h 18"/>
                  <a:gd name="T4" fmla="*/ 0 w 168"/>
                  <a:gd name="T5" fmla="*/ 14 h 18"/>
                  <a:gd name="T6" fmla="*/ 167 w 168"/>
                  <a:gd name="T7" fmla="*/ 0 h 18"/>
                  <a:gd name="T8" fmla="*/ 167 w 168"/>
                  <a:gd name="T9" fmla="*/ 3 h 18"/>
                </a:gdLst>
                <a:ahLst/>
                <a:cxnLst>
                  <a:cxn ang="0">
                    <a:pos x="T0" y="T1"/>
                  </a:cxn>
                  <a:cxn ang="0">
                    <a:pos x="T2" y="T3"/>
                  </a:cxn>
                  <a:cxn ang="0">
                    <a:pos x="T4" y="T5"/>
                  </a:cxn>
                  <a:cxn ang="0">
                    <a:pos x="T6" y="T7"/>
                  </a:cxn>
                  <a:cxn ang="0">
                    <a:pos x="T8" y="T9"/>
                  </a:cxn>
                </a:cxnLst>
                <a:rect l="0" t="0" r="r" b="b"/>
                <a:pathLst>
                  <a:path w="168" h="18">
                    <a:moveTo>
                      <a:pt x="167" y="3"/>
                    </a:moveTo>
                    <a:lnTo>
                      <a:pt x="0" y="17"/>
                    </a:lnTo>
                    <a:lnTo>
                      <a:pt x="0" y="14"/>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76" name="Freeform 236"/>
              <p:cNvSpPr/>
              <p:nvPr/>
            </p:nvSpPr>
            <p:spPr bwMode="auto">
              <a:xfrm>
                <a:off x="4384" y="3276"/>
                <a:ext cx="168" cy="19"/>
              </a:xfrm>
              <a:custGeom>
                <a:avLst/>
                <a:gdLst>
                  <a:gd name="T0" fmla="*/ 167 w 168"/>
                  <a:gd name="T1" fmla="*/ 3 h 19"/>
                  <a:gd name="T2" fmla="*/ 0 w 168"/>
                  <a:gd name="T3" fmla="*/ 18 h 19"/>
                  <a:gd name="T4" fmla="*/ 0 w 168"/>
                  <a:gd name="T5" fmla="*/ 14 h 19"/>
                  <a:gd name="T6" fmla="*/ 167 w 168"/>
                  <a:gd name="T7" fmla="*/ 0 h 19"/>
                  <a:gd name="T8" fmla="*/ 167 w 168"/>
                  <a:gd name="T9" fmla="*/ 3 h 19"/>
                </a:gdLst>
                <a:ahLst/>
                <a:cxnLst>
                  <a:cxn ang="0">
                    <a:pos x="T0" y="T1"/>
                  </a:cxn>
                  <a:cxn ang="0">
                    <a:pos x="T2" y="T3"/>
                  </a:cxn>
                  <a:cxn ang="0">
                    <a:pos x="T4" y="T5"/>
                  </a:cxn>
                  <a:cxn ang="0">
                    <a:pos x="T6" y="T7"/>
                  </a:cxn>
                  <a:cxn ang="0">
                    <a:pos x="T8" y="T9"/>
                  </a:cxn>
                </a:cxnLst>
                <a:rect l="0" t="0" r="r" b="b"/>
                <a:pathLst>
                  <a:path w="168" h="19">
                    <a:moveTo>
                      <a:pt x="167" y="3"/>
                    </a:moveTo>
                    <a:lnTo>
                      <a:pt x="0" y="18"/>
                    </a:lnTo>
                    <a:lnTo>
                      <a:pt x="0" y="14"/>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77" name="Freeform 237"/>
              <p:cNvSpPr/>
              <p:nvPr/>
            </p:nvSpPr>
            <p:spPr bwMode="auto">
              <a:xfrm>
                <a:off x="4384" y="2921"/>
                <a:ext cx="160" cy="21"/>
              </a:xfrm>
              <a:custGeom>
                <a:avLst/>
                <a:gdLst>
                  <a:gd name="T0" fmla="*/ 159 w 160"/>
                  <a:gd name="T1" fmla="*/ 0 h 21"/>
                  <a:gd name="T2" fmla="*/ 159 w 160"/>
                  <a:gd name="T3" fmla="*/ 15 h 21"/>
                  <a:gd name="T4" fmla="*/ 0 w 160"/>
                  <a:gd name="T5" fmla="*/ 20 h 21"/>
                  <a:gd name="T6" fmla="*/ 1 w 160"/>
                  <a:gd name="T7" fmla="*/ 5 h 21"/>
                  <a:gd name="T8" fmla="*/ 159 w 160"/>
                  <a:gd name="T9" fmla="*/ 0 h 21"/>
                </a:gdLst>
                <a:ahLst/>
                <a:cxnLst>
                  <a:cxn ang="0">
                    <a:pos x="T0" y="T1"/>
                  </a:cxn>
                  <a:cxn ang="0">
                    <a:pos x="T2" y="T3"/>
                  </a:cxn>
                  <a:cxn ang="0">
                    <a:pos x="T4" y="T5"/>
                  </a:cxn>
                  <a:cxn ang="0">
                    <a:pos x="T6" y="T7"/>
                  </a:cxn>
                  <a:cxn ang="0">
                    <a:pos x="T8" y="T9"/>
                  </a:cxn>
                </a:cxnLst>
                <a:rect l="0" t="0" r="r" b="b"/>
                <a:pathLst>
                  <a:path w="160" h="21">
                    <a:moveTo>
                      <a:pt x="159" y="0"/>
                    </a:moveTo>
                    <a:lnTo>
                      <a:pt x="159" y="15"/>
                    </a:lnTo>
                    <a:lnTo>
                      <a:pt x="0" y="20"/>
                    </a:lnTo>
                    <a:lnTo>
                      <a:pt x="1" y="5"/>
                    </a:lnTo>
                    <a:lnTo>
                      <a:pt x="159" y="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78" name="Line 238"/>
              <p:cNvSpPr>
                <a:spLocks noChangeShapeType="1"/>
              </p:cNvSpPr>
              <p:nvPr/>
            </p:nvSpPr>
            <p:spPr bwMode="auto">
              <a:xfrm>
                <a:off x="4543" y="2936"/>
                <a:ext cx="8" cy="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79" name="Freeform 239"/>
              <p:cNvSpPr/>
              <p:nvPr/>
            </p:nvSpPr>
            <p:spPr bwMode="auto">
              <a:xfrm>
                <a:off x="4423" y="2961"/>
                <a:ext cx="90" cy="27"/>
              </a:xfrm>
              <a:custGeom>
                <a:avLst/>
                <a:gdLst>
                  <a:gd name="T0" fmla="*/ 0 w 90"/>
                  <a:gd name="T1" fmla="*/ 26 h 27"/>
                  <a:gd name="T2" fmla="*/ 0 w 90"/>
                  <a:gd name="T3" fmla="*/ 3 h 27"/>
                  <a:gd name="T4" fmla="*/ 89 w 90"/>
                  <a:gd name="T5" fmla="*/ 0 h 27"/>
                  <a:gd name="T6" fmla="*/ 89 w 90"/>
                  <a:gd name="T7" fmla="*/ 23 h 27"/>
                  <a:gd name="T8" fmla="*/ 0 w 90"/>
                  <a:gd name="T9" fmla="*/ 26 h 27"/>
                </a:gdLst>
                <a:ahLst/>
                <a:cxnLst>
                  <a:cxn ang="0">
                    <a:pos x="T0" y="T1"/>
                  </a:cxn>
                  <a:cxn ang="0">
                    <a:pos x="T2" y="T3"/>
                  </a:cxn>
                  <a:cxn ang="0">
                    <a:pos x="T4" y="T5"/>
                  </a:cxn>
                  <a:cxn ang="0">
                    <a:pos x="T6" y="T7"/>
                  </a:cxn>
                  <a:cxn ang="0">
                    <a:pos x="T8" y="T9"/>
                  </a:cxn>
                </a:cxnLst>
                <a:rect l="0" t="0" r="r" b="b"/>
                <a:pathLst>
                  <a:path w="90" h="27">
                    <a:moveTo>
                      <a:pt x="0" y="26"/>
                    </a:moveTo>
                    <a:lnTo>
                      <a:pt x="0" y="3"/>
                    </a:lnTo>
                    <a:lnTo>
                      <a:pt x="89" y="0"/>
                    </a:lnTo>
                    <a:lnTo>
                      <a:pt x="89" y="23"/>
                    </a:lnTo>
                    <a:lnTo>
                      <a:pt x="0" y="26"/>
                    </a:lnTo>
                  </a:path>
                </a:pathLst>
              </a:custGeom>
              <a:noFill/>
              <a:ln w="12700" cap="rnd" cmpd="sng">
                <a:solidFill>
                  <a:srgbClr val="51515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80" name="Freeform 240"/>
              <p:cNvSpPr/>
              <p:nvPr/>
            </p:nvSpPr>
            <p:spPr bwMode="auto">
              <a:xfrm>
                <a:off x="4384" y="2961"/>
                <a:ext cx="168" cy="24"/>
              </a:xfrm>
              <a:custGeom>
                <a:avLst/>
                <a:gdLst>
                  <a:gd name="T0" fmla="*/ 113 w 168"/>
                  <a:gd name="T1" fmla="*/ 8 h 24"/>
                  <a:gd name="T2" fmla="*/ 167 w 168"/>
                  <a:gd name="T3" fmla="*/ 6 h 24"/>
                  <a:gd name="T4" fmla="*/ 167 w 168"/>
                  <a:gd name="T5" fmla="*/ 14 h 24"/>
                  <a:gd name="T6" fmla="*/ 159 w 168"/>
                  <a:gd name="T7" fmla="*/ 13 h 24"/>
                  <a:gd name="T8" fmla="*/ 113 w 168"/>
                  <a:gd name="T9" fmla="*/ 14 h 24"/>
                  <a:gd name="T10" fmla="*/ 113 w 168"/>
                  <a:gd name="T11" fmla="*/ 20 h 24"/>
                  <a:gd name="T12" fmla="*/ 39 w 168"/>
                  <a:gd name="T13" fmla="*/ 23 h 24"/>
                  <a:gd name="T14" fmla="*/ 39 w 168"/>
                  <a:gd name="T15" fmla="*/ 18 h 24"/>
                  <a:gd name="T16" fmla="*/ 32 w 168"/>
                  <a:gd name="T17" fmla="*/ 17 h 24"/>
                  <a:gd name="T18" fmla="*/ 0 w 168"/>
                  <a:gd name="T19" fmla="*/ 18 h 24"/>
                  <a:gd name="T20" fmla="*/ 0 w 168"/>
                  <a:gd name="T21" fmla="*/ 12 h 24"/>
                  <a:gd name="T22" fmla="*/ 39 w 168"/>
                  <a:gd name="T23" fmla="*/ 10 h 24"/>
                  <a:gd name="T24" fmla="*/ 39 w 168"/>
                  <a:gd name="T25" fmla="*/ 3 h 24"/>
                  <a:gd name="T26" fmla="*/ 128 w 168"/>
                  <a:gd name="T27" fmla="*/ 0 h 24"/>
                  <a:gd name="T28" fmla="*/ 113 w 168"/>
                  <a:gd name="T2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8" h="24">
                    <a:moveTo>
                      <a:pt x="113" y="8"/>
                    </a:moveTo>
                    <a:lnTo>
                      <a:pt x="167" y="6"/>
                    </a:lnTo>
                    <a:lnTo>
                      <a:pt x="167" y="14"/>
                    </a:lnTo>
                    <a:lnTo>
                      <a:pt x="159" y="13"/>
                    </a:lnTo>
                    <a:lnTo>
                      <a:pt x="113" y="14"/>
                    </a:lnTo>
                    <a:lnTo>
                      <a:pt x="113" y="20"/>
                    </a:lnTo>
                    <a:lnTo>
                      <a:pt x="39" y="23"/>
                    </a:lnTo>
                    <a:lnTo>
                      <a:pt x="39" y="18"/>
                    </a:lnTo>
                    <a:lnTo>
                      <a:pt x="32" y="17"/>
                    </a:lnTo>
                    <a:lnTo>
                      <a:pt x="0" y="18"/>
                    </a:lnTo>
                    <a:lnTo>
                      <a:pt x="0" y="12"/>
                    </a:lnTo>
                    <a:lnTo>
                      <a:pt x="39" y="10"/>
                    </a:lnTo>
                    <a:lnTo>
                      <a:pt x="39" y="3"/>
                    </a:lnTo>
                    <a:lnTo>
                      <a:pt x="128" y="0"/>
                    </a:lnTo>
                    <a:lnTo>
                      <a:pt x="113" y="8"/>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81" name="Freeform 241"/>
              <p:cNvSpPr/>
              <p:nvPr/>
            </p:nvSpPr>
            <p:spPr bwMode="auto">
              <a:xfrm>
                <a:off x="4384" y="2972"/>
                <a:ext cx="129" cy="17"/>
              </a:xfrm>
              <a:custGeom>
                <a:avLst/>
                <a:gdLst>
                  <a:gd name="T0" fmla="*/ 0 w 129"/>
                  <a:gd name="T1" fmla="*/ 0 h 17"/>
                  <a:gd name="T2" fmla="*/ 0 w 129"/>
                  <a:gd name="T3" fmla="*/ 8 h 17"/>
                  <a:gd name="T4" fmla="*/ 38 w 129"/>
                  <a:gd name="T5" fmla="*/ 7 h 17"/>
                  <a:gd name="T6" fmla="*/ 38 w 129"/>
                  <a:gd name="T7" fmla="*/ 16 h 17"/>
                  <a:gd name="T8" fmla="*/ 128 w 129"/>
                  <a:gd name="T9" fmla="*/ 12 h 17"/>
                  <a:gd name="T10" fmla="*/ 128 w 129"/>
                  <a:gd name="T11" fmla="*/ 4 h 17"/>
                  <a:gd name="T12" fmla="*/ 112 w 129"/>
                  <a:gd name="T13" fmla="*/ 2 h 17"/>
                </a:gdLst>
                <a:ahLst/>
                <a:cxnLst>
                  <a:cxn ang="0">
                    <a:pos x="T0" y="T1"/>
                  </a:cxn>
                  <a:cxn ang="0">
                    <a:pos x="T2" y="T3"/>
                  </a:cxn>
                  <a:cxn ang="0">
                    <a:pos x="T4" y="T5"/>
                  </a:cxn>
                  <a:cxn ang="0">
                    <a:pos x="T6" y="T7"/>
                  </a:cxn>
                  <a:cxn ang="0">
                    <a:pos x="T8" y="T9"/>
                  </a:cxn>
                  <a:cxn ang="0">
                    <a:pos x="T10" y="T11"/>
                  </a:cxn>
                  <a:cxn ang="0">
                    <a:pos x="T12" y="T13"/>
                  </a:cxn>
                </a:cxnLst>
                <a:rect l="0" t="0" r="r" b="b"/>
                <a:pathLst>
                  <a:path w="129" h="17">
                    <a:moveTo>
                      <a:pt x="0" y="0"/>
                    </a:moveTo>
                    <a:lnTo>
                      <a:pt x="0" y="8"/>
                    </a:lnTo>
                    <a:lnTo>
                      <a:pt x="38" y="7"/>
                    </a:lnTo>
                    <a:lnTo>
                      <a:pt x="38" y="16"/>
                    </a:lnTo>
                    <a:lnTo>
                      <a:pt x="128" y="12"/>
                    </a:lnTo>
                    <a:lnTo>
                      <a:pt x="128" y="4"/>
                    </a:lnTo>
                    <a:lnTo>
                      <a:pt x="112" y="2"/>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82" name="Line 242"/>
              <p:cNvSpPr>
                <a:spLocks noChangeShapeType="1"/>
              </p:cNvSpPr>
              <p:nvPr/>
            </p:nvSpPr>
            <p:spPr bwMode="auto">
              <a:xfrm flipH="1">
                <a:off x="4512" y="2974"/>
                <a:ext cx="39" cy="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83" name="Line 243"/>
              <p:cNvSpPr>
                <a:spLocks noChangeShapeType="1"/>
              </p:cNvSpPr>
              <p:nvPr/>
            </p:nvSpPr>
            <p:spPr bwMode="auto">
              <a:xfrm>
                <a:off x="4512" y="2961"/>
                <a:ext cx="0" cy="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84" name="Freeform 244"/>
              <p:cNvSpPr/>
              <p:nvPr/>
            </p:nvSpPr>
            <p:spPr bwMode="auto">
              <a:xfrm>
                <a:off x="4392" y="2931"/>
                <a:ext cx="17" cy="17"/>
              </a:xfrm>
              <a:custGeom>
                <a:avLst/>
                <a:gdLst>
                  <a:gd name="T0" fmla="*/ 16 w 17"/>
                  <a:gd name="T1" fmla="*/ 6 h 17"/>
                  <a:gd name="T2" fmla="*/ 13 w 17"/>
                  <a:gd name="T3" fmla="*/ 6 h 17"/>
                  <a:gd name="T4" fmla="*/ 13 w 17"/>
                  <a:gd name="T5" fmla="*/ 3 h 17"/>
                  <a:gd name="T6" fmla="*/ 10 w 17"/>
                  <a:gd name="T7" fmla="*/ 3 h 17"/>
                  <a:gd name="T8" fmla="*/ 8 w 17"/>
                  <a:gd name="T9" fmla="*/ 0 h 17"/>
                  <a:gd name="T10" fmla="*/ 5 w 17"/>
                  <a:gd name="T11" fmla="*/ 0 h 17"/>
                  <a:gd name="T12" fmla="*/ 5 w 17"/>
                  <a:gd name="T13" fmla="*/ 3 h 17"/>
                  <a:gd name="T14" fmla="*/ 2 w 17"/>
                  <a:gd name="T15" fmla="*/ 6 h 17"/>
                  <a:gd name="T16" fmla="*/ 2 w 17"/>
                  <a:gd name="T17" fmla="*/ 6 h 17"/>
                  <a:gd name="T18" fmla="*/ 0 w 17"/>
                  <a:gd name="T19" fmla="*/ 9 h 17"/>
                  <a:gd name="T20" fmla="*/ 2 w 17"/>
                  <a:gd name="T21" fmla="*/ 12 h 17"/>
                  <a:gd name="T22" fmla="*/ 5 w 17"/>
                  <a:gd name="T23" fmla="*/ 12 h 17"/>
                  <a:gd name="T24" fmla="*/ 5 w 17"/>
                  <a:gd name="T25" fmla="*/ 16 h 17"/>
                  <a:gd name="T26" fmla="*/ 8 w 17"/>
                  <a:gd name="T27" fmla="*/ 16 h 17"/>
                  <a:gd name="T28" fmla="*/ 10 w 17"/>
                  <a:gd name="T29" fmla="*/ 16 h 17"/>
                  <a:gd name="T30" fmla="*/ 13 w 17"/>
                  <a:gd name="T31" fmla="*/ 12 h 17"/>
                  <a:gd name="T32" fmla="*/ 13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3" y="6"/>
                    </a:lnTo>
                    <a:lnTo>
                      <a:pt x="13" y="3"/>
                    </a:lnTo>
                    <a:lnTo>
                      <a:pt x="10" y="3"/>
                    </a:lnTo>
                    <a:lnTo>
                      <a:pt x="8" y="0"/>
                    </a:lnTo>
                    <a:lnTo>
                      <a:pt x="5" y="0"/>
                    </a:lnTo>
                    <a:lnTo>
                      <a:pt x="5" y="3"/>
                    </a:lnTo>
                    <a:lnTo>
                      <a:pt x="2" y="6"/>
                    </a:lnTo>
                    <a:lnTo>
                      <a:pt x="2" y="6"/>
                    </a:lnTo>
                    <a:lnTo>
                      <a:pt x="0" y="9"/>
                    </a:lnTo>
                    <a:lnTo>
                      <a:pt x="2" y="12"/>
                    </a:lnTo>
                    <a:lnTo>
                      <a:pt x="5" y="12"/>
                    </a:lnTo>
                    <a:lnTo>
                      <a:pt x="5" y="16"/>
                    </a:lnTo>
                    <a:lnTo>
                      <a:pt x="8" y="16"/>
                    </a:lnTo>
                    <a:lnTo>
                      <a:pt x="10" y="16"/>
                    </a:lnTo>
                    <a:lnTo>
                      <a:pt x="13" y="12"/>
                    </a:lnTo>
                    <a:lnTo>
                      <a:pt x="13"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85" name="Freeform 245"/>
              <p:cNvSpPr/>
              <p:nvPr/>
            </p:nvSpPr>
            <p:spPr bwMode="auto">
              <a:xfrm>
                <a:off x="4415" y="2930"/>
                <a:ext cx="17" cy="17"/>
              </a:xfrm>
              <a:custGeom>
                <a:avLst/>
                <a:gdLst>
                  <a:gd name="T0" fmla="*/ 16 w 17"/>
                  <a:gd name="T1" fmla="*/ 6 h 17"/>
                  <a:gd name="T2" fmla="*/ 16 w 17"/>
                  <a:gd name="T3" fmla="*/ 6 h 17"/>
                  <a:gd name="T4" fmla="*/ 13 w 17"/>
                  <a:gd name="T5" fmla="*/ 3 h 17"/>
                  <a:gd name="T6" fmla="*/ 10 w 17"/>
                  <a:gd name="T7" fmla="*/ 0 h 17"/>
                  <a:gd name="T8" fmla="*/ 8 w 17"/>
                  <a:gd name="T9" fmla="*/ 0 h 17"/>
                  <a:gd name="T10" fmla="*/ 5 w 17"/>
                  <a:gd name="T11" fmla="*/ 0 h 17"/>
                  <a:gd name="T12" fmla="*/ 2 w 17"/>
                  <a:gd name="T13" fmla="*/ 3 h 17"/>
                  <a:gd name="T14" fmla="*/ 2 w 17"/>
                  <a:gd name="T15" fmla="*/ 3 h 17"/>
                  <a:gd name="T16" fmla="*/ 0 w 17"/>
                  <a:gd name="T17" fmla="*/ 6 h 17"/>
                  <a:gd name="T18" fmla="*/ 0 w 17"/>
                  <a:gd name="T19" fmla="*/ 9 h 17"/>
                  <a:gd name="T20" fmla="*/ 2 w 17"/>
                  <a:gd name="T21" fmla="*/ 9 h 17"/>
                  <a:gd name="T22" fmla="*/ 2 w 17"/>
                  <a:gd name="T23" fmla="*/ 12 h 17"/>
                  <a:gd name="T24" fmla="*/ 5 w 17"/>
                  <a:gd name="T25" fmla="*/ 16 h 17"/>
                  <a:gd name="T26" fmla="*/ 8 w 17"/>
                  <a:gd name="T27" fmla="*/ 16 h 17"/>
                  <a:gd name="T28" fmla="*/ 10 w 17"/>
                  <a:gd name="T29" fmla="*/ 16 h 17"/>
                  <a:gd name="T30" fmla="*/ 13 w 17"/>
                  <a:gd name="T31" fmla="*/ 12 h 17"/>
                  <a:gd name="T32" fmla="*/ 16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6" y="6"/>
                    </a:lnTo>
                    <a:lnTo>
                      <a:pt x="13" y="3"/>
                    </a:lnTo>
                    <a:lnTo>
                      <a:pt x="10" y="0"/>
                    </a:lnTo>
                    <a:lnTo>
                      <a:pt x="8" y="0"/>
                    </a:lnTo>
                    <a:lnTo>
                      <a:pt x="5" y="0"/>
                    </a:lnTo>
                    <a:lnTo>
                      <a:pt x="2" y="3"/>
                    </a:lnTo>
                    <a:lnTo>
                      <a:pt x="2" y="3"/>
                    </a:lnTo>
                    <a:lnTo>
                      <a:pt x="0" y="6"/>
                    </a:lnTo>
                    <a:lnTo>
                      <a:pt x="0" y="9"/>
                    </a:lnTo>
                    <a:lnTo>
                      <a:pt x="2" y="9"/>
                    </a:lnTo>
                    <a:lnTo>
                      <a:pt x="2" y="12"/>
                    </a:lnTo>
                    <a:lnTo>
                      <a:pt x="5" y="16"/>
                    </a:lnTo>
                    <a:lnTo>
                      <a:pt x="8" y="16"/>
                    </a:lnTo>
                    <a:lnTo>
                      <a:pt x="10" y="16"/>
                    </a:lnTo>
                    <a:lnTo>
                      <a:pt x="13" y="12"/>
                    </a:lnTo>
                    <a:lnTo>
                      <a:pt x="16"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86" name="Freeform 246"/>
              <p:cNvSpPr/>
              <p:nvPr/>
            </p:nvSpPr>
            <p:spPr bwMode="auto">
              <a:xfrm>
                <a:off x="4438" y="2930"/>
                <a:ext cx="17" cy="17"/>
              </a:xfrm>
              <a:custGeom>
                <a:avLst/>
                <a:gdLst>
                  <a:gd name="T0" fmla="*/ 16 w 17"/>
                  <a:gd name="T1" fmla="*/ 10 h 17"/>
                  <a:gd name="T2" fmla="*/ 16 w 17"/>
                  <a:gd name="T3" fmla="*/ 5 h 17"/>
                  <a:gd name="T4" fmla="*/ 13 w 17"/>
                  <a:gd name="T5" fmla="*/ 0 h 17"/>
                  <a:gd name="T6" fmla="*/ 10 w 17"/>
                  <a:gd name="T7" fmla="*/ 0 h 17"/>
                  <a:gd name="T8" fmla="*/ 8 w 17"/>
                  <a:gd name="T9" fmla="*/ 0 h 17"/>
                  <a:gd name="T10" fmla="*/ 8 w 17"/>
                  <a:gd name="T11" fmla="*/ 0 h 17"/>
                  <a:gd name="T12" fmla="*/ 5 w 17"/>
                  <a:gd name="T13" fmla="*/ 0 h 17"/>
                  <a:gd name="T14" fmla="*/ 2 w 17"/>
                  <a:gd name="T15" fmla="*/ 5 h 17"/>
                  <a:gd name="T16" fmla="*/ 2 w 17"/>
                  <a:gd name="T17" fmla="*/ 5 h 17"/>
                  <a:gd name="T18" fmla="*/ 0 w 17"/>
                  <a:gd name="T19" fmla="*/ 10 h 17"/>
                  <a:gd name="T20" fmla="*/ 2 w 17"/>
                  <a:gd name="T21" fmla="*/ 10 h 17"/>
                  <a:gd name="T22" fmla="*/ 5 w 17"/>
                  <a:gd name="T23" fmla="*/ 16 h 17"/>
                  <a:gd name="T24" fmla="*/ 8 w 17"/>
                  <a:gd name="T25" fmla="*/ 16 h 17"/>
                  <a:gd name="T26" fmla="*/ 8 w 17"/>
                  <a:gd name="T27" fmla="*/ 16 h 17"/>
                  <a:gd name="T28" fmla="*/ 10 w 17"/>
                  <a:gd name="T29" fmla="*/ 16 h 17"/>
                  <a:gd name="T30" fmla="*/ 13 w 17"/>
                  <a:gd name="T31" fmla="*/ 16 h 17"/>
                  <a:gd name="T32" fmla="*/ 16 w 17"/>
                  <a:gd name="T33" fmla="*/ 10 h 17"/>
                  <a:gd name="T34" fmla="*/ 16 w 17"/>
                  <a:gd name="T35" fmla="*/ 10 h 17"/>
                  <a:gd name="T36" fmla="*/ 16 w 17"/>
                  <a:gd name="T3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10"/>
                    </a:moveTo>
                    <a:lnTo>
                      <a:pt x="16" y="5"/>
                    </a:lnTo>
                    <a:lnTo>
                      <a:pt x="13" y="0"/>
                    </a:lnTo>
                    <a:lnTo>
                      <a:pt x="10" y="0"/>
                    </a:lnTo>
                    <a:lnTo>
                      <a:pt x="8" y="0"/>
                    </a:lnTo>
                    <a:lnTo>
                      <a:pt x="8" y="0"/>
                    </a:lnTo>
                    <a:lnTo>
                      <a:pt x="5" y="0"/>
                    </a:lnTo>
                    <a:lnTo>
                      <a:pt x="2" y="5"/>
                    </a:lnTo>
                    <a:lnTo>
                      <a:pt x="2" y="5"/>
                    </a:lnTo>
                    <a:lnTo>
                      <a:pt x="0" y="10"/>
                    </a:lnTo>
                    <a:lnTo>
                      <a:pt x="2" y="10"/>
                    </a:lnTo>
                    <a:lnTo>
                      <a:pt x="5" y="16"/>
                    </a:lnTo>
                    <a:lnTo>
                      <a:pt x="8" y="16"/>
                    </a:lnTo>
                    <a:lnTo>
                      <a:pt x="8" y="16"/>
                    </a:lnTo>
                    <a:lnTo>
                      <a:pt x="10" y="16"/>
                    </a:lnTo>
                    <a:lnTo>
                      <a:pt x="13" y="16"/>
                    </a:lnTo>
                    <a:lnTo>
                      <a:pt x="16" y="10"/>
                    </a:lnTo>
                    <a:lnTo>
                      <a:pt x="16" y="10"/>
                    </a:lnTo>
                    <a:lnTo>
                      <a:pt x="16" y="10"/>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87" name="Freeform 247"/>
              <p:cNvSpPr/>
              <p:nvPr/>
            </p:nvSpPr>
            <p:spPr bwMode="auto">
              <a:xfrm>
                <a:off x="4462" y="2930"/>
                <a:ext cx="17" cy="17"/>
              </a:xfrm>
              <a:custGeom>
                <a:avLst/>
                <a:gdLst>
                  <a:gd name="T0" fmla="*/ 16 w 17"/>
                  <a:gd name="T1" fmla="*/ 5 h 17"/>
                  <a:gd name="T2" fmla="*/ 16 w 17"/>
                  <a:gd name="T3" fmla="*/ 5 h 17"/>
                  <a:gd name="T4" fmla="*/ 13 w 17"/>
                  <a:gd name="T5" fmla="*/ 0 h 17"/>
                  <a:gd name="T6" fmla="*/ 10 w 17"/>
                  <a:gd name="T7" fmla="*/ 0 h 17"/>
                  <a:gd name="T8" fmla="*/ 8 w 17"/>
                  <a:gd name="T9" fmla="*/ 0 h 17"/>
                  <a:gd name="T10" fmla="*/ 8 w 17"/>
                  <a:gd name="T11" fmla="*/ 0 h 17"/>
                  <a:gd name="T12" fmla="*/ 2 w 17"/>
                  <a:gd name="T13" fmla="*/ 0 h 17"/>
                  <a:gd name="T14" fmla="*/ 0 w 17"/>
                  <a:gd name="T15" fmla="*/ 5 h 17"/>
                  <a:gd name="T16" fmla="*/ 0 w 17"/>
                  <a:gd name="T17" fmla="*/ 5 h 17"/>
                  <a:gd name="T18" fmla="*/ 0 w 17"/>
                  <a:gd name="T19" fmla="*/ 10 h 17"/>
                  <a:gd name="T20" fmla="*/ 2 w 17"/>
                  <a:gd name="T21" fmla="*/ 10 h 17"/>
                  <a:gd name="T22" fmla="*/ 2 w 17"/>
                  <a:gd name="T23" fmla="*/ 16 h 17"/>
                  <a:gd name="T24" fmla="*/ 5 w 17"/>
                  <a:gd name="T25" fmla="*/ 16 h 17"/>
                  <a:gd name="T26" fmla="*/ 8 w 17"/>
                  <a:gd name="T27" fmla="*/ 16 h 17"/>
                  <a:gd name="T28" fmla="*/ 10 w 17"/>
                  <a:gd name="T29" fmla="*/ 16 h 17"/>
                  <a:gd name="T30" fmla="*/ 13 w 17"/>
                  <a:gd name="T31" fmla="*/ 16 h 17"/>
                  <a:gd name="T32" fmla="*/ 16 w 17"/>
                  <a:gd name="T33" fmla="*/ 10 h 17"/>
                  <a:gd name="T34" fmla="*/ 16 w 17"/>
                  <a:gd name="T35" fmla="*/ 10 h 17"/>
                  <a:gd name="T36" fmla="*/ 16 w 17"/>
                  <a:gd name="T37" fmla="*/ 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5"/>
                    </a:moveTo>
                    <a:lnTo>
                      <a:pt x="16" y="5"/>
                    </a:lnTo>
                    <a:lnTo>
                      <a:pt x="13" y="0"/>
                    </a:lnTo>
                    <a:lnTo>
                      <a:pt x="10" y="0"/>
                    </a:lnTo>
                    <a:lnTo>
                      <a:pt x="8" y="0"/>
                    </a:lnTo>
                    <a:lnTo>
                      <a:pt x="8" y="0"/>
                    </a:lnTo>
                    <a:lnTo>
                      <a:pt x="2" y="0"/>
                    </a:lnTo>
                    <a:lnTo>
                      <a:pt x="0" y="5"/>
                    </a:lnTo>
                    <a:lnTo>
                      <a:pt x="0" y="5"/>
                    </a:lnTo>
                    <a:lnTo>
                      <a:pt x="0" y="10"/>
                    </a:lnTo>
                    <a:lnTo>
                      <a:pt x="2" y="10"/>
                    </a:lnTo>
                    <a:lnTo>
                      <a:pt x="2" y="16"/>
                    </a:lnTo>
                    <a:lnTo>
                      <a:pt x="5" y="16"/>
                    </a:lnTo>
                    <a:lnTo>
                      <a:pt x="8" y="16"/>
                    </a:lnTo>
                    <a:lnTo>
                      <a:pt x="10" y="16"/>
                    </a:lnTo>
                    <a:lnTo>
                      <a:pt x="13" y="16"/>
                    </a:lnTo>
                    <a:lnTo>
                      <a:pt x="16" y="10"/>
                    </a:lnTo>
                    <a:lnTo>
                      <a:pt x="16" y="10"/>
                    </a:lnTo>
                    <a:lnTo>
                      <a:pt x="16" y="5"/>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88" name="Freeform 248"/>
              <p:cNvSpPr/>
              <p:nvPr/>
            </p:nvSpPr>
            <p:spPr bwMode="auto">
              <a:xfrm>
                <a:off x="4486" y="2929"/>
                <a:ext cx="17" cy="17"/>
              </a:xfrm>
              <a:custGeom>
                <a:avLst/>
                <a:gdLst>
                  <a:gd name="T0" fmla="*/ 16 w 17"/>
                  <a:gd name="T1" fmla="*/ 8 h 17"/>
                  <a:gd name="T2" fmla="*/ 12 w 17"/>
                  <a:gd name="T3" fmla="*/ 4 h 17"/>
                  <a:gd name="T4" fmla="*/ 12 w 17"/>
                  <a:gd name="T5" fmla="*/ 4 h 17"/>
                  <a:gd name="T6" fmla="*/ 12 w 17"/>
                  <a:gd name="T7" fmla="*/ 0 h 17"/>
                  <a:gd name="T8" fmla="*/ 6 w 17"/>
                  <a:gd name="T9" fmla="*/ 0 h 17"/>
                  <a:gd name="T10" fmla="*/ 3 w 17"/>
                  <a:gd name="T11" fmla="*/ 0 h 17"/>
                  <a:gd name="T12" fmla="*/ 3 w 17"/>
                  <a:gd name="T13" fmla="*/ 0 h 17"/>
                  <a:gd name="T14" fmla="*/ 0 w 17"/>
                  <a:gd name="T15" fmla="*/ 4 h 17"/>
                  <a:gd name="T16" fmla="*/ 0 w 17"/>
                  <a:gd name="T17" fmla="*/ 8 h 17"/>
                  <a:gd name="T18" fmla="*/ 0 w 17"/>
                  <a:gd name="T19" fmla="*/ 8 h 17"/>
                  <a:gd name="T20" fmla="*/ 0 w 17"/>
                  <a:gd name="T21" fmla="*/ 12 h 17"/>
                  <a:gd name="T22" fmla="*/ 3 w 17"/>
                  <a:gd name="T23" fmla="*/ 16 h 17"/>
                  <a:gd name="T24" fmla="*/ 3 w 17"/>
                  <a:gd name="T25" fmla="*/ 16 h 17"/>
                  <a:gd name="T26" fmla="*/ 6 w 17"/>
                  <a:gd name="T27" fmla="*/ 16 h 17"/>
                  <a:gd name="T28" fmla="*/ 9 w 17"/>
                  <a:gd name="T29" fmla="*/ 16 h 17"/>
                  <a:gd name="T30" fmla="*/ 12 w 17"/>
                  <a:gd name="T31" fmla="*/ 16 h 17"/>
                  <a:gd name="T32" fmla="*/ 12 w 17"/>
                  <a:gd name="T33" fmla="*/ 12 h 17"/>
                  <a:gd name="T34" fmla="*/ 16 w 17"/>
                  <a:gd name="T35" fmla="*/ 8 h 17"/>
                  <a:gd name="T36" fmla="*/ 16 w 17"/>
                  <a:gd name="T3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8"/>
                    </a:moveTo>
                    <a:lnTo>
                      <a:pt x="12" y="4"/>
                    </a:lnTo>
                    <a:lnTo>
                      <a:pt x="12" y="4"/>
                    </a:lnTo>
                    <a:lnTo>
                      <a:pt x="12" y="0"/>
                    </a:lnTo>
                    <a:lnTo>
                      <a:pt x="6" y="0"/>
                    </a:lnTo>
                    <a:lnTo>
                      <a:pt x="3" y="0"/>
                    </a:lnTo>
                    <a:lnTo>
                      <a:pt x="3" y="0"/>
                    </a:lnTo>
                    <a:lnTo>
                      <a:pt x="0" y="4"/>
                    </a:lnTo>
                    <a:lnTo>
                      <a:pt x="0" y="8"/>
                    </a:lnTo>
                    <a:lnTo>
                      <a:pt x="0" y="8"/>
                    </a:lnTo>
                    <a:lnTo>
                      <a:pt x="0" y="12"/>
                    </a:lnTo>
                    <a:lnTo>
                      <a:pt x="3" y="16"/>
                    </a:lnTo>
                    <a:lnTo>
                      <a:pt x="3" y="16"/>
                    </a:lnTo>
                    <a:lnTo>
                      <a:pt x="6" y="16"/>
                    </a:lnTo>
                    <a:lnTo>
                      <a:pt x="9" y="16"/>
                    </a:lnTo>
                    <a:lnTo>
                      <a:pt x="12" y="16"/>
                    </a:lnTo>
                    <a:lnTo>
                      <a:pt x="12" y="12"/>
                    </a:lnTo>
                    <a:lnTo>
                      <a:pt x="16" y="8"/>
                    </a:lnTo>
                    <a:lnTo>
                      <a:pt x="16" y="8"/>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89" name="Freeform 249"/>
              <p:cNvSpPr/>
              <p:nvPr/>
            </p:nvSpPr>
            <p:spPr bwMode="auto">
              <a:xfrm>
                <a:off x="4508" y="2927"/>
                <a:ext cx="17" cy="17"/>
              </a:xfrm>
              <a:custGeom>
                <a:avLst/>
                <a:gdLst>
                  <a:gd name="T0" fmla="*/ 16 w 17"/>
                  <a:gd name="T1" fmla="*/ 6 h 17"/>
                  <a:gd name="T2" fmla="*/ 13 w 17"/>
                  <a:gd name="T3" fmla="*/ 6 h 17"/>
                  <a:gd name="T4" fmla="*/ 13 w 17"/>
                  <a:gd name="T5" fmla="*/ 3 h 17"/>
                  <a:gd name="T6" fmla="*/ 10 w 17"/>
                  <a:gd name="T7" fmla="*/ 3 h 17"/>
                  <a:gd name="T8" fmla="*/ 8 w 17"/>
                  <a:gd name="T9" fmla="*/ 0 h 17"/>
                  <a:gd name="T10" fmla="*/ 8 w 17"/>
                  <a:gd name="T11" fmla="*/ 0 h 17"/>
                  <a:gd name="T12" fmla="*/ 5 w 17"/>
                  <a:gd name="T13" fmla="*/ 3 h 17"/>
                  <a:gd name="T14" fmla="*/ 0 w 17"/>
                  <a:gd name="T15" fmla="*/ 3 h 17"/>
                  <a:gd name="T16" fmla="*/ 0 w 17"/>
                  <a:gd name="T17" fmla="*/ 6 h 17"/>
                  <a:gd name="T18" fmla="*/ 0 w 17"/>
                  <a:gd name="T19" fmla="*/ 9 h 17"/>
                  <a:gd name="T20" fmla="*/ 0 w 17"/>
                  <a:gd name="T21" fmla="*/ 9 h 17"/>
                  <a:gd name="T22" fmla="*/ 5 w 17"/>
                  <a:gd name="T23" fmla="*/ 12 h 17"/>
                  <a:gd name="T24" fmla="*/ 8 w 17"/>
                  <a:gd name="T25" fmla="*/ 16 h 17"/>
                  <a:gd name="T26" fmla="*/ 8 w 17"/>
                  <a:gd name="T27" fmla="*/ 16 h 17"/>
                  <a:gd name="T28" fmla="*/ 10 w 17"/>
                  <a:gd name="T29" fmla="*/ 12 h 17"/>
                  <a:gd name="T30" fmla="*/ 13 w 17"/>
                  <a:gd name="T31" fmla="*/ 12 h 17"/>
                  <a:gd name="T32" fmla="*/ 13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3" y="6"/>
                    </a:lnTo>
                    <a:lnTo>
                      <a:pt x="13" y="3"/>
                    </a:lnTo>
                    <a:lnTo>
                      <a:pt x="10" y="3"/>
                    </a:lnTo>
                    <a:lnTo>
                      <a:pt x="8" y="0"/>
                    </a:lnTo>
                    <a:lnTo>
                      <a:pt x="8" y="0"/>
                    </a:lnTo>
                    <a:lnTo>
                      <a:pt x="5" y="3"/>
                    </a:lnTo>
                    <a:lnTo>
                      <a:pt x="0" y="3"/>
                    </a:lnTo>
                    <a:lnTo>
                      <a:pt x="0" y="6"/>
                    </a:lnTo>
                    <a:lnTo>
                      <a:pt x="0" y="9"/>
                    </a:lnTo>
                    <a:lnTo>
                      <a:pt x="0" y="9"/>
                    </a:lnTo>
                    <a:lnTo>
                      <a:pt x="5" y="12"/>
                    </a:lnTo>
                    <a:lnTo>
                      <a:pt x="8" y="16"/>
                    </a:lnTo>
                    <a:lnTo>
                      <a:pt x="8" y="16"/>
                    </a:lnTo>
                    <a:lnTo>
                      <a:pt x="10" y="12"/>
                    </a:lnTo>
                    <a:lnTo>
                      <a:pt x="13" y="12"/>
                    </a:lnTo>
                    <a:lnTo>
                      <a:pt x="13"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90" name="Freeform 250"/>
              <p:cNvSpPr/>
              <p:nvPr/>
            </p:nvSpPr>
            <p:spPr bwMode="auto">
              <a:xfrm>
                <a:off x="4532" y="2927"/>
                <a:ext cx="17" cy="17"/>
              </a:xfrm>
              <a:custGeom>
                <a:avLst/>
                <a:gdLst>
                  <a:gd name="T0" fmla="*/ 16 w 17"/>
                  <a:gd name="T1" fmla="*/ 8 h 17"/>
                  <a:gd name="T2" fmla="*/ 16 w 17"/>
                  <a:gd name="T3" fmla="*/ 8 h 17"/>
                  <a:gd name="T4" fmla="*/ 16 w 17"/>
                  <a:gd name="T5" fmla="*/ 4 h 17"/>
                  <a:gd name="T6" fmla="*/ 12 w 17"/>
                  <a:gd name="T7" fmla="*/ 4 h 17"/>
                  <a:gd name="T8" fmla="*/ 9 w 17"/>
                  <a:gd name="T9" fmla="*/ 0 h 17"/>
                  <a:gd name="T10" fmla="*/ 6 w 17"/>
                  <a:gd name="T11" fmla="*/ 0 h 17"/>
                  <a:gd name="T12" fmla="*/ 3 w 17"/>
                  <a:gd name="T13" fmla="*/ 4 h 17"/>
                  <a:gd name="T14" fmla="*/ 0 w 17"/>
                  <a:gd name="T15" fmla="*/ 4 h 17"/>
                  <a:gd name="T16" fmla="*/ 0 w 17"/>
                  <a:gd name="T17" fmla="*/ 8 h 17"/>
                  <a:gd name="T18" fmla="*/ 0 w 17"/>
                  <a:gd name="T19" fmla="*/ 12 h 17"/>
                  <a:gd name="T20" fmla="*/ 0 w 17"/>
                  <a:gd name="T21" fmla="*/ 12 h 17"/>
                  <a:gd name="T22" fmla="*/ 3 w 17"/>
                  <a:gd name="T23" fmla="*/ 16 h 17"/>
                  <a:gd name="T24" fmla="*/ 6 w 17"/>
                  <a:gd name="T25" fmla="*/ 16 h 17"/>
                  <a:gd name="T26" fmla="*/ 9 w 17"/>
                  <a:gd name="T27" fmla="*/ 16 h 17"/>
                  <a:gd name="T28" fmla="*/ 12 w 17"/>
                  <a:gd name="T29" fmla="*/ 16 h 17"/>
                  <a:gd name="T30" fmla="*/ 16 w 17"/>
                  <a:gd name="T31" fmla="*/ 16 h 17"/>
                  <a:gd name="T32" fmla="*/ 16 w 17"/>
                  <a:gd name="T33" fmla="*/ 12 h 17"/>
                  <a:gd name="T34" fmla="*/ 16 w 17"/>
                  <a:gd name="T35"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 h="17">
                    <a:moveTo>
                      <a:pt x="16" y="8"/>
                    </a:moveTo>
                    <a:lnTo>
                      <a:pt x="16" y="8"/>
                    </a:lnTo>
                    <a:lnTo>
                      <a:pt x="16" y="4"/>
                    </a:lnTo>
                    <a:lnTo>
                      <a:pt x="12" y="4"/>
                    </a:lnTo>
                    <a:lnTo>
                      <a:pt x="9" y="0"/>
                    </a:lnTo>
                    <a:lnTo>
                      <a:pt x="6" y="0"/>
                    </a:lnTo>
                    <a:lnTo>
                      <a:pt x="3" y="4"/>
                    </a:lnTo>
                    <a:lnTo>
                      <a:pt x="0" y="4"/>
                    </a:lnTo>
                    <a:lnTo>
                      <a:pt x="0" y="8"/>
                    </a:lnTo>
                    <a:lnTo>
                      <a:pt x="0" y="12"/>
                    </a:lnTo>
                    <a:lnTo>
                      <a:pt x="0" y="12"/>
                    </a:lnTo>
                    <a:lnTo>
                      <a:pt x="3" y="16"/>
                    </a:lnTo>
                    <a:lnTo>
                      <a:pt x="6" y="16"/>
                    </a:lnTo>
                    <a:lnTo>
                      <a:pt x="9" y="16"/>
                    </a:lnTo>
                    <a:lnTo>
                      <a:pt x="12" y="16"/>
                    </a:lnTo>
                    <a:lnTo>
                      <a:pt x="16" y="16"/>
                    </a:lnTo>
                    <a:lnTo>
                      <a:pt x="16" y="12"/>
                    </a:lnTo>
                    <a:lnTo>
                      <a:pt x="16" y="8"/>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91" name="Freeform 251"/>
              <p:cNvSpPr/>
              <p:nvPr/>
            </p:nvSpPr>
            <p:spPr bwMode="auto">
              <a:xfrm>
                <a:off x="4535" y="2987"/>
                <a:ext cx="17" cy="122"/>
              </a:xfrm>
              <a:custGeom>
                <a:avLst/>
                <a:gdLst>
                  <a:gd name="T0" fmla="*/ 0 w 17"/>
                  <a:gd name="T1" fmla="*/ 0 h 122"/>
                  <a:gd name="T2" fmla="*/ 0 w 17"/>
                  <a:gd name="T3" fmla="*/ 42 h 122"/>
                  <a:gd name="T4" fmla="*/ 12 w 17"/>
                  <a:gd name="T5" fmla="*/ 42 h 122"/>
                  <a:gd name="T6" fmla="*/ 0 w 17"/>
                  <a:gd name="T7" fmla="*/ 47 h 122"/>
                  <a:gd name="T8" fmla="*/ 0 w 17"/>
                  <a:gd name="T9" fmla="*/ 84 h 122"/>
                  <a:gd name="T10" fmla="*/ 12 w 17"/>
                  <a:gd name="T11" fmla="*/ 84 h 122"/>
                  <a:gd name="T12" fmla="*/ 0 w 17"/>
                  <a:gd name="T13" fmla="*/ 89 h 122"/>
                  <a:gd name="T14" fmla="*/ 0 w 17"/>
                  <a:gd name="T15" fmla="*/ 121 h 122"/>
                  <a:gd name="T16" fmla="*/ 16 w 17"/>
                  <a:gd name="T17" fmla="*/ 121 h 122"/>
                  <a:gd name="T18" fmla="*/ 16 w 17"/>
                  <a:gd name="T19" fmla="*/ 0 h 122"/>
                  <a:gd name="T20" fmla="*/ 0 w 17"/>
                  <a:gd name="T21"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122">
                    <a:moveTo>
                      <a:pt x="0" y="0"/>
                    </a:moveTo>
                    <a:lnTo>
                      <a:pt x="0" y="42"/>
                    </a:lnTo>
                    <a:lnTo>
                      <a:pt x="12" y="42"/>
                    </a:lnTo>
                    <a:lnTo>
                      <a:pt x="0" y="47"/>
                    </a:lnTo>
                    <a:lnTo>
                      <a:pt x="0" y="84"/>
                    </a:lnTo>
                    <a:lnTo>
                      <a:pt x="12" y="84"/>
                    </a:lnTo>
                    <a:lnTo>
                      <a:pt x="0" y="89"/>
                    </a:lnTo>
                    <a:lnTo>
                      <a:pt x="0" y="121"/>
                    </a:lnTo>
                    <a:lnTo>
                      <a:pt x="16" y="121"/>
                    </a:lnTo>
                    <a:lnTo>
                      <a:pt x="16" y="0"/>
                    </a:lnTo>
                    <a:lnTo>
                      <a:pt x="0" y="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92" name="Freeform 252"/>
              <p:cNvSpPr/>
              <p:nvPr/>
            </p:nvSpPr>
            <p:spPr bwMode="auto">
              <a:xfrm>
                <a:off x="4561" y="3296"/>
                <a:ext cx="96" cy="45"/>
              </a:xfrm>
              <a:custGeom>
                <a:avLst/>
                <a:gdLst>
                  <a:gd name="T0" fmla="*/ 0 w 96"/>
                  <a:gd name="T1" fmla="*/ 44 h 45"/>
                  <a:gd name="T2" fmla="*/ 95 w 96"/>
                  <a:gd name="T3" fmla="*/ 35 h 45"/>
                  <a:gd name="T4" fmla="*/ 0 w 96"/>
                  <a:gd name="T5" fmla="*/ 0 h 45"/>
                  <a:gd name="T6" fmla="*/ 0 w 96"/>
                  <a:gd name="T7" fmla="*/ 44 h 45"/>
                </a:gdLst>
                <a:ahLst/>
                <a:cxnLst>
                  <a:cxn ang="0">
                    <a:pos x="T0" y="T1"/>
                  </a:cxn>
                  <a:cxn ang="0">
                    <a:pos x="T2" y="T3"/>
                  </a:cxn>
                  <a:cxn ang="0">
                    <a:pos x="T4" y="T5"/>
                  </a:cxn>
                  <a:cxn ang="0">
                    <a:pos x="T6" y="T7"/>
                  </a:cxn>
                </a:cxnLst>
                <a:rect l="0" t="0" r="r" b="b"/>
                <a:pathLst>
                  <a:path w="96" h="45">
                    <a:moveTo>
                      <a:pt x="0" y="44"/>
                    </a:moveTo>
                    <a:lnTo>
                      <a:pt x="95" y="35"/>
                    </a:lnTo>
                    <a:lnTo>
                      <a:pt x="0" y="0"/>
                    </a:lnTo>
                    <a:lnTo>
                      <a:pt x="0" y="44"/>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093" name="Group 253"/>
            <p:cNvGrpSpPr/>
            <p:nvPr/>
          </p:nvGrpSpPr>
          <p:grpSpPr bwMode="auto">
            <a:xfrm>
              <a:off x="2304" y="1765"/>
              <a:ext cx="435" cy="473"/>
              <a:chOff x="4222" y="2888"/>
              <a:chExt cx="435" cy="473"/>
            </a:xfrm>
          </p:grpSpPr>
          <p:sp>
            <p:nvSpPr>
              <p:cNvPr id="36094" name="Freeform 254"/>
              <p:cNvSpPr/>
              <p:nvPr/>
            </p:nvSpPr>
            <p:spPr bwMode="auto">
              <a:xfrm>
                <a:off x="4373" y="2903"/>
                <a:ext cx="189" cy="458"/>
              </a:xfrm>
              <a:custGeom>
                <a:avLst/>
                <a:gdLst>
                  <a:gd name="T0" fmla="*/ 188 w 189"/>
                  <a:gd name="T1" fmla="*/ 0 h 458"/>
                  <a:gd name="T2" fmla="*/ 0 w 189"/>
                  <a:gd name="T3" fmla="*/ 5 h 458"/>
                  <a:gd name="T4" fmla="*/ 0 w 189"/>
                  <a:gd name="T5" fmla="*/ 457 h 458"/>
                  <a:gd name="T6" fmla="*/ 188 w 189"/>
                  <a:gd name="T7" fmla="*/ 437 h 458"/>
                  <a:gd name="T8" fmla="*/ 188 w 189"/>
                  <a:gd name="T9" fmla="*/ 0 h 458"/>
                </a:gdLst>
                <a:ahLst/>
                <a:cxnLst>
                  <a:cxn ang="0">
                    <a:pos x="T0" y="T1"/>
                  </a:cxn>
                  <a:cxn ang="0">
                    <a:pos x="T2" y="T3"/>
                  </a:cxn>
                  <a:cxn ang="0">
                    <a:pos x="T4" y="T5"/>
                  </a:cxn>
                  <a:cxn ang="0">
                    <a:pos x="T6" y="T7"/>
                  </a:cxn>
                  <a:cxn ang="0">
                    <a:pos x="T8" y="T9"/>
                  </a:cxn>
                </a:cxnLst>
                <a:rect l="0" t="0" r="r" b="b"/>
                <a:pathLst>
                  <a:path w="189" h="458">
                    <a:moveTo>
                      <a:pt x="188" y="0"/>
                    </a:moveTo>
                    <a:lnTo>
                      <a:pt x="0" y="5"/>
                    </a:lnTo>
                    <a:lnTo>
                      <a:pt x="0" y="457"/>
                    </a:lnTo>
                    <a:lnTo>
                      <a:pt x="188" y="437"/>
                    </a:lnTo>
                    <a:lnTo>
                      <a:pt x="188" y="0"/>
                    </a:lnTo>
                  </a:path>
                </a:pathLst>
              </a:custGeom>
              <a:solidFill>
                <a:srgbClr val="B5B5B5"/>
              </a:solidFill>
              <a:ln w="12700" cap="rnd" cmpd="sng">
                <a:solidFill>
                  <a:srgbClr val="B5B5B5"/>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95" name="Freeform 255"/>
              <p:cNvSpPr/>
              <p:nvPr/>
            </p:nvSpPr>
            <p:spPr bwMode="auto">
              <a:xfrm>
                <a:off x="4384" y="3144"/>
                <a:ext cx="168" cy="195"/>
              </a:xfrm>
              <a:custGeom>
                <a:avLst/>
                <a:gdLst>
                  <a:gd name="T0" fmla="*/ 0 w 168"/>
                  <a:gd name="T1" fmla="*/ 11 h 195"/>
                  <a:gd name="T2" fmla="*/ 167 w 168"/>
                  <a:gd name="T3" fmla="*/ 0 h 195"/>
                  <a:gd name="T4" fmla="*/ 167 w 168"/>
                  <a:gd name="T5" fmla="*/ 177 h 195"/>
                  <a:gd name="T6" fmla="*/ 0 w 168"/>
                  <a:gd name="T7" fmla="*/ 194 h 195"/>
                  <a:gd name="T8" fmla="*/ 0 w 168"/>
                  <a:gd name="T9" fmla="*/ 11 h 195"/>
                </a:gdLst>
                <a:ahLst/>
                <a:cxnLst>
                  <a:cxn ang="0">
                    <a:pos x="T0" y="T1"/>
                  </a:cxn>
                  <a:cxn ang="0">
                    <a:pos x="T2" y="T3"/>
                  </a:cxn>
                  <a:cxn ang="0">
                    <a:pos x="T4" y="T5"/>
                  </a:cxn>
                  <a:cxn ang="0">
                    <a:pos x="T6" y="T7"/>
                  </a:cxn>
                  <a:cxn ang="0">
                    <a:pos x="T8" y="T9"/>
                  </a:cxn>
                </a:cxnLst>
                <a:rect l="0" t="0" r="r" b="b"/>
                <a:pathLst>
                  <a:path w="168" h="195">
                    <a:moveTo>
                      <a:pt x="0" y="11"/>
                    </a:moveTo>
                    <a:lnTo>
                      <a:pt x="167" y="0"/>
                    </a:lnTo>
                    <a:lnTo>
                      <a:pt x="167" y="177"/>
                    </a:lnTo>
                    <a:lnTo>
                      <a:pt x="0" y="194"/>
                    </a:lnTo>
                    <a:lnTo>
                      <a:pt x="0" y="11"/>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96" name="Freeform 256"/>
              <p:cNvSpPr/>
              <p:nvPr/>
            </p:nvSpPr>
            <p:spPr bwMode="auto">
              <a:xfrm>
                <a:off x="4384" y="2987"/>
                <a:ext cx="160" cy="131"/>
              </a:xfrm>
              <a:custGeom>
                <a:avLst/>
                <a:gdLst>
                  <a:gd name="T0" fmla="*/ 0 w 160"/>
                  <a:gd name="T1" fmla="*/ 6 h 131"/>
                  <a:gd name="T2" fmla="*/ 159 w 160"/>
                  <a:gd name="T3" fmla="*/ 0 h 131"/>
                  <a:gd name="T4" fmla="*/ 159 w 160"/>
                  <a:gd name="T5" fmla="*/ 121 h 131"/>
                  <a:gd name="T6" fmla="*/ 0 w 160"/>
                  <a:gd name="T7" fmla="*/ 130 h 131"/>
                  <a:gd name="T8" fmla="*/ 0 w 160"/>
                  <a:gd name="T9" fmla="*/ 6 h 131"/>
                </a:gdLst>
                <a:ahLst/>
                <a:cxnLst>
                  <a:cxn ang="0">
                    <a:pos x="T0" y="T1"/>
                  </a:cxn>
                  <a:cxn ang="0">
                    <a:pos x="T2" y="T3"/>
                  </a:cxn>
                  <a:cxn ang="0">
                    <a:pos x="T4" y="T5"/>
                  </a:cxn>
                  <a:cxn ang="0">
                    <a:pos x="T6" y="T7"/>
                  </a:cxn>
                  <a:cxn ang="0">
                    <a:pos x="T8" y="T9"/>
                  </a:cxn>
                </a:cxnLst>
                <a:rect l="0" t="0" r="r" b="b"/>
                <a:pathLst>
                  <a:path w="160" h="131">
                    <a:moveTo>
                      <a:pt x="0" y="6"/>
                    </a:moveTo>
                    <a:lnTo>
                      <a:pt x="159" y="0"/>
                    </a:lnTo>
                    <a:lnTo>
                      <a:pt x="159" y="121"/>
                    </a:lnTo>
                    <a:lnTo>
                      <a:pt x="0" y="130"/>
                    </a:lnTo>
                    <a:lnTo>
                      <a:pt x="0" y="6"/>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97" name="Freeform 257"/>
              <p:cNvSpPr/>
              <p:nvPr/>
            </p:nvSpPr>
            <p:spPr bwMode="auto">
              <a:xfrm>
                <a:off x="4222" y="2889"/>
                <a:ext cx="340" cy="19"/>
              </a:xfrm>
              <a:custGeom>
                <a:avLst/>
                <a:gdLst>
                  <a:gd name="T0" fmla="*/ 0 w 340"/>
                  <a:gd name="T1" fmla="*/ 1 h 19"/>
                  <a:gd name="T2" fmla="*/ 151 w 340"/>
                  <a:gd name="T3" fmla="*/ 18 h 19"/>
                  <a:gd name="T4" fmla="*/ 339 w 340"/>
                  <a:gd name="T5" fmla="*/ 14 h 19"/>
                  <a:gd name="T6" fmla="*/ 181 w 340"/>
                  <a:gd name="T7" fmla="*/ 0 h 19"/>
                  <a:gd name="T8" fmla="*/ 0 w 340"/>
                  <a:gd name="T9" fmla="*/ 1 h 19"/>
                </a:gdLst>
                <a:ahLst/>
                <a:cxnLst>
                  <a:cxn ang="0">
                    <a:pos x="T0" y="T1"/>
                  </a:cxn>
                  <a:cxn ang="0">
                    <a:pos x="T2" y="T3"/>
                  </a:cxn>
                  <a:cxn ang="0">
                    <a:pos x="T4" y="T5"/>
                  </a:cxn>
                  <a:cxn ang="0">
                    <a:pos x="T6" y="T7"/>
                  </a:cxn>
                  <a:cxn ang="0">
                    <a:pos x="T8" y="T9"/>
                  </a:cxn>
                </a:cxnLst>
                <a:rect l="0" t="0" r="r" b="b"/>
                <a:pathLst>
                  <a:path w="340" h="19">
                    <a:moveTo>
                      <a:pt x="0" y="1"/>
                    </a:moveTo>
                    <a:lnTo>
                      <a:pt x="151" y="18"/>
                    </a:lnTo>
                    <a:lnTo>
                      <a:pt x="339" y="14"/>
                    </a:lnTo>
                    <a:lnTo>
                      <a:pt x="181" y="0"/>
                    </a:lnTo>
                    <a:lnTo>
                      <a:pt x="0" y="1"/>
                    </a:lnTo>
                  </a:path>
                </a:pathLst>
              </a:custGeom>
              <a:solidFill>
                <a:srgbClr val="515151"/>
              </a:solidFill>
              <a:ln w="12700" cap="rnd" cmpd="sng">
                <a:solidFill>
                  <a:srgbClr val="51515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98" name="Freeform 258"/>
              <p:cNvSpPr/>
              <p:nvPr/>
            </p:nvSpPr>
            <p:spPr bwMode="auto">
              <a:xfrm>
                <a:off x="4222" y="2889"/>
                <a:ext cx="152" cy="472"/>
              </a:xfrm>
              <a:custGeom>
                <a:avLst/>
                <a:gdLst>
                  <a:gd name="T0" fmla="*/ 151 w 152"/>
                  <a:gd name="T1" fmla="*/ 471 h 472"/>
                  <a:gd name="T2" fmla="*/ 0 w 152"/>
                  <a:gd name="T3" fmla="*/ 358 h 472"/>
                  <a:gd name="T4" fmla="*/ 0 w 152"/>
                  <a:gd name="T5" fmla="*/ 0 h 472"/>
                  <a:gd name="T6" fmla="*/ 151 w 152"/>
                  <a:gd name="T7" fmla="*/ 18 h 472"/>
                  <a:gd name="T8" fmla="*/ 151 w 152"/>
                  <a:gd name="T9" fmla="*/ 471 h 472"/>
                </a:gdLst>
                <a:ahLst/>
                <a:cxnLst>
                  <a:cxn ang="0">
                    <a:pos x="T0" y="T1"/>
                  </a:cxn>
                  <a:cxn ang="0">
                    <a:pos x="T2" y="T3"/>
                  </a:cxn>
                  <a:cxn ang="0">
                    <a:pos x="T4" y="T5"/>
                  </a:cxn>
                  <a:cxn ang="0">
                    <a:pos x="T6" y="T7"/>
                  </a:cxn>
                  <a:cxn ang="0">
                    <a:pos x="T8" y="T9"/>
                  </a:cxn>
                </a:cxnLst>
                <a:rect l="0" t="0" r="r" b="b"/>
                <a:pathLst>
                  <a:path w="152" h="472">
                    <a:moveTo>
                      <a:pt x="151" y="471"/>
                    </a:moveTo>
                    <a:lnTo>
                      <a:pt x="0" y="358"/>
                    </a:lnTo>
                    <a:lnTo>
                      <a:pt x="0" y="0"/>
                    </a:lnTo>
                    <a:lnTo>
                      <a:pt x="151" y="18"/>
                    </a:lnTo>
                    <a:lnTo>
                      <a:pt x="151" y="471"/>
                    </a:lnTo>
                  </a:path>
                </a:pathLst>
              </a:custGeom>
              <a:solidFill>
                <a:srgbClr val="B5B5B5"/>
              </a:solidFill>
              <a:ln w="12700" cap="rnd" cmpd="sng">
                <a:solidFill>
                  <a:srgbClr val="B5B5B5"/>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99" name="Freeform 259"/>
              <p:cNvSpPr/>
              <p:nvPr/>
            </p:nvSpPr>
            <p:spPr bwMode="auto">
              <a:xfrm>
                <a:off x="4356" y="2905"/>
                <a:ext cx="18" cy="456"/>
              </a:xfrm>
              <a:custGeom>
                <a:avLst/>
                <a:gdLst>
                  <a:gd name="T0" fmla="*/ 17 w 18"/>
                  <a:gd name="T1" fmla="*/ 2 h 456"/>
                  <a:gd name="T2" fmla="*/ 0 w 18"/>
                  <a:gd name="T3" fmla="*/ 0 h 456"/>
                  <a:gd name="T4" fmla="*/ 0 w 18"/>
                  <a:gd name="T5" fmla="*/ 443 h 456"/>
                  <a:gd name="T6" fmla="*/ 17 w 18"/>
                  <a:gd name="T7" fmla="*/ 455 h 456"/>
                  <a:gd name="T8" fmla="*/ 17 w 18"/>
                  <a:gd name="T9" fmla="*/ 2 h 456"/>
                </a:gdLst>
                <a:ahLst/>
                <a:cxnLst>
                  <a:cxn ang="0">
                    <a:pos x="T0" y="T1"/>
                  </a:cxn>
                  <a:cxn ang="0">
                    <a:pos x="T2" y="T3"/>
                  </a:cxn>
                  <a:cxn ang="0">
                    <a:pos x="T4" y="T5"/>
                  </a:cxn>
                  <a:cxn ang="0">
                    <a:pos x="T6" y="T7"/>
                  </a:cxn>
                  <a:cxn ang="0">
                    <a:pos x="T8" y="T9"/>
                  </a:cxn>
                </a:cxnLst>
                <a:rect l="0" t="0" r="r" b="b"/>
                <a:pathLst>
                  <a:path w="18" h="456">
                    <a:moveTo>
                      <a:pt x="17" y="2"/>
                    </a:moveTo>
                    <a:lnTo>
                      <a:pt x="0" y="0"/>
                    </a:lnTo>
                    <a:lnTo>
                      <a:pt x="0" y="443"/>
                    </a:lnTo>
                    <a:lnTo>
                      <a:pt x="17" y="455"/>
                    </a:lnTo>
                    <a:lnTo>
                      <a:pt x="17" y="2"/>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00" name="Freeform 260"/>
              <p:cNvSpPr/>
              <p:nvPr/>
            </p:nvSpPr>
            <p:spPr bwMode="auto">
              <a:xfrm>
                <a:off x="4384" y="2986"/>
                <a:ext cx="168" cy="137"/>
              </a:xfrm>
              <a:custGeom>
                <a:avLst/>
                <a:gdLst>
                  <a:gd name="T0" fmla="*/ 167 w 168"/>
                  <a:gd name="T1" fmla="*/ 0 h 137"/>
                  <a:gd name="T2" fmla="*/ 167 w 168"/>
                  <a:gd name="T3" fmla="*/ 125 h 137"/>
                  <a:gd name="T4" fmla="*/ 0 w 168"/>
                  <a:gd name="T5" fmla="*/ 136 h 137"/>
                  <a:gd name="T6" fmla="*/ 0 w 168"/>
                  <a:gd name="T7" fmla="*/ 130 h 137"/>
                  <a:gd name="T8" fmla="*/ 159 w 168"/>
                  <a:gd name="T9" fmla="*/ 122 h 137"/>
                  <a:gd name="T10" fmla="*/ 159 w 168"/>
                  <a:gd name="T11" fmla="*/ 1 h 137"/>
                  <a:gd name="T12" fmla="*/ 167 w 168"/>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68" h="137">
                    <a:moveTo>
                      <a:pt x="167" y="0"/>
                    </a:moveTo>
                    <a:lnTo>
                      <a:pt x="167" y="125"/>
                    </a:lnTo>
                    <a:lnTo>
                      <a:pt x="0" y="136"/>
                    </a:lnTo>
                    <a:lnTo>
                      <a:pt x="0" y="130"/>
                    </a:lnTo>
                    <a:lnTo>
                      <a:pt x="159" y="122"/>
                    </a:lnTo>
                    <a:lnTo>
                      <a:pt x="159" y="1"/>
                    </a:lnTo>
                    <a:lnTo>
                      <a:pt x="167" y="0"/>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01" name="Freeform 261"/>
              <p:cNvSpPr/>
              <p:nvPr/>
            </p:nvSpPr>
            <p:spPr bwMode="auto">
              <a:xfrm>
                <a:off x="4384" y="2961"/>
                <a:ext cx="168" cy="27"/>
              </a:xfrm>
              <a:custGeom>
                <a:avLst/>
                <a:gdLst>
                  <a:gd name="T0" fmla="*/ 0 w 168"/>
                  <a:gd name="T1" fmla="*/ 15 h 27"/>
                  <a:gd name="T2" fmla="*/ 0 w 168"/>
                  <a:gd name="T3" fmla="*/ 19 h 27"/>
                  <a:gd name="T4" fmla="*/ 39 w 168"/>
                  <a:gd name="T5" fmla="*/ 18 h 27"/>
                  <a:gd name="T6" fmla="*/ 39 w 168"/>
                  <a:gd name="T7" fmla="*/ 26 h 27"/>
                  <a:gd name="T8" fmla="*/ 128 w 168"/>
                  <a:gd name="T9" fmla="*/ 23 h 27"/>
                  <a:gd name="T10" fmla="*/ 128 w 168"/>
                  <a:gd name="T11" fmla="*/ 16 h 27"/>
                  <a:gd name="T12" fmla="*/ 167 w 168"/>
                  <a:gd name="T13" fmla="*/ 14 h 27"/>
                  <a:gd name="T14" fmla="*/ 167 w 168"/>
                  <a:gd name="T15" fmla="*/ 8 h 27"/>
                  <a:gd name="T16" fmla="*/ 128 w 168"/>
                  <a:gd name="T17" fmla="*/ 10 h 27"/>
                  <a:gd name="T18" fmla="*/ 128 w 168"/>
                  <a:gd name="T19" fmla="*/ 0 h 27"/>
                  <a:gd name="T20" fmla="*/ 111 w 168"/>
                  <a:gd name="T21" fmla="*/ 1 h 27"/>
                  <a:gd name="T22" fmla="*/ 32 w 168"/>
                  <a:gd name="T23" fmla="*/ 13 h 27"/>
                  <a:gd name="T24" fmla="*/ 0 w 168"/>
                  <a:gd name="T2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27">
                    <a:moveTo>
                      <a:pt x="0" y="15"/>
                    </a:moveTo>
                    <a:lnTo>
                      <a:pt x="0" y="19"/>
                    </a:lnTo>
                    <a:lnTo>
                      <a:pt x="39" y="18"/>
                    </a:lnTo>
                    <a:lnTo>
                      <a:pt x="39" y="26"/>
                    </a:lnTo>
                    <a:lnTo>
                      <a:pt x="128" y="23"/>
                    </a:lnTo>
                    <a:lnTo>
                      <a:pt x="128" y="16"/>
                    </a:lnTo>
                    <a:lnTo>
                      <a:pt x="167" y="14"/>
                    </a:lnTo>
                    <a:lnTo>
                      <a:pt x="167" y="8"/>
                    </a:lnTo>
                    <a:lnTo>
                      <a:pt x="128" y="10"/>
                    </a:lnTo>
                    <a:lnTo>
                      <a:pt x="128" y="0"/>
                    </a:lnTo>
                    <a:lnTo>
                      <a:pt x="111" y="1"/>
                    </a:lnTo>
                    <a:lnTo>
                      <a:pt x="32" y="13"/>
                    </a:lnTo>
                    <a:lnTo>
                      <a:pt x="0" y="15"/>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02" name="Freeform 262"/>
              <p:cNvSpPr/>
              <p:nvPr/>
            </p:nvSpPr>
            <p:spPr bwMode="auto">
              <a:xfrm>
                <a:off x="4384" y="2920"/>
                <a:ext cx="168" cy="23"/>
              </a:xfrm>
              <a:custGeom>
                <a:avLst/>
                <a:gdLst>
                  <a:gd name="T0" fmla="*/ 167 w 168"/>
                  <a:gd name="T1" fmla="*/ 0 h 23"/>
                  <a:gd name="T2" fmla="*/ 167 w 168"/>
                  <a:gd name="T3" fmla="*/ 17 h 23"/>
                  <a:gd name="T4" fmla="*/ 0 w 168"/>
                  <a:gd name="T5" fmla="*/ 22 h 23"/>
                  <a:gd name="T6" fmla="*/ 0 w 168"/>
                  <a:gd name="T7" fmla="*/ 19 h 23"/>
                  <a:gd name="T8" fmla="*/ 158 w 168"/>
                  <a:gd name="T9" fmla="*/ 1 h 23"/>
                  <a:gd name="T10" fmla="*/ 167 w 168"/>
                  <a:gd name="T11" fmla="*/ 0 h 23"/>
                </a:gdLst>
                <a:ahLst/>
                <a:cxnLst>
                  <a:cxn ang="0">
                    <a:pos x="T0" y="T1"/>
                  </a:cxn>
                  <a:cxn ang="0">
                    <a:pos x="T2" y="T3"/>
                  </a:cxn>
                  <a:cxn ang="0">
                    <a:pos x="T4" y="T5"/>
                  </a:cxn>
                  <a:cxn ang="0">
                    <a:pos x="T6" y="T7"/>
                  </a:cxn>
                  <a:cxn ang="0">
                    <a:pos x="T8" y="T9"/>
                  </a:cxn>
                  <a:cxn ang="0">
                    <a:pos x="T10" y="T11"/>
                  </a:cxn>
                </a:cxnLst>
                <a:rect l="0" t="0" r="r" b="b"/>
                <a:pathLst>
                  <a:path w="168" h="23">
                    <a:moveTo>
                      <a:pt x="167" y="0"/>
                    </a:moveTo>
                    <a:lnTo>
                      <a:pt x="167" y="17"/>
                    </a:lnTo>
                    <a:lnTo>
                      <a:pt x="0" y="22"/>
                    </a:lnTo>
                    <a:lnTo>
                      <a:pt x="0" y="19"/>
                    </a:lnTo>
                    <a:lnTo>
                      <a:pt x="158" y="1"/>
                    </a:lnTo>
                    <a:lnTo>
                      <a:pt x="167" y="0"/>
                    </a:lnTo>
                  </a:path>
                </a:pathLst>
              </a:custGeom>
              <a:solidFill>
                <a:srgbClr val="FFFFFF"/>
              </a:solidFill>
              <a:ln w="12700" cap="rnd" cmpd="sng">
                <a:solidFill>
                  <a:srgbClr val="FFFFFF"/>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03" name="Freeform 263"/>
              <p:cNvSpPr/>
              <p:nvPr/>
            </p:nvSpPr>
            <p:spPr bwMode="auto">
              <a:xfrm>
                <a:off x="4222" y="2888"/>
                <a:ext cx="340" cy="20"/>
              </a:xfrm>
              <a:custGeom>
                <a:avLst/>
                <a:gdLst>
                  <a:gd name="T0" fmla="*/ 0 w 340"/>
                  <a:gd name="T1" fmla="*/ 2 h 20"/>
                  <a:gd name="T2" fmla="*/ 151 w 340"/>
                  <a:gd name="T3" fmla="*/ 19 h 20"/>
                  <a:gd name="T4" fmla="*/ 339 w 340"/>
                  <a:gd name="T5" fmla="*/ 14 h 20"/>
                  <a:gd name="T6" fmla="*/ 181 w 340"/>
                  <a:gd name="T7" fmla="*/ 0 h 20"/>
                  <a:gd name="T8" fmla="*/ 0 w 340"/>
                  <a:gd name="T9" fmla="*/ 2 h 20"/>
                </a:gdLst>
                <a:ahLst/>
                <a:cxnLst>
                  <a:cxn ang="0">
                    <a:pos x="T0" y="T1"/>
                  </a:cxn>
                  <a:cxn ang="0">
                    <a:pos x="T2" y="T3"/>
                  </a:cxn>
                  <a:cxn ang="0">
                    <a:pos x="T4" y="T5"/>
                  </a:cxn>
                  <a:cxn ang="0">
                    <a:pos x="T6" y="T7"/>
                  </a:cxn>
                  <a:cxn ang="0">
                    <a:pos x="T8" y="T9"/>
                  </a:cxn>
                </a:cxnLst>
                <a:rect l="0" t="0" r="r" b="b"/>
                <a:pathLst>
                  <a:path w="340" h="20">
                    <a:moveTo>
                      <a:pt x="0" y="2"/>
                    </a:moveTo>
                    <a:lnTo>
                      <a:pt x="151" y="19"/>
                    </a:lnTo>
                    <a:lnTo>
                      <a:pt x="339" y="14"/>
                    </a:lnTo>
                    <a:lnTo>
                      <a:pt x="181" y="0"/>
                    </a:lnTo>
                    <a:lnTo>
                      <a:pt x="0" y="2"/>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04" name="Freeform 264"/>
              <p:cNvSpPr/>
              <p:nvPr/>
            </p:nvSpPr>
            <p:spPr bwMode="auto">
              <a:xfrm>
                <a:off x="4372" y="2903"/>
                <a:ext cx="190" cy="458"/>
              </a:xfrm>
              <a:custGeom>
                <a:avLst/>
                <a:gdLst>
                  <a:gd name="T0" fmla="*/ 0 w 190"/>
                  <a:gd name="T1" fmla="*/ 5 h 458"/>
                  <a:gd name="T2" fmla="*/ 0 w 190"/>
                  <a:gd name="T3" fmla="*/ 457 h 458"/>
                  <a:gd name="T4" fmla="*/ 189 w 190"/>
                  <a:gd name="T5" fmla="*/ 437 h 458"/>
                  <a:gd name="T6" fmla="*/ 189 w 190"/>
                  <a:gd name="T7" fmla="*/ 0 h 458"/>
                  <a:gd name="T8" fmla="*/ 0 w 190"/>
                  <a:gd name="T9" fmla="*/ 5 h 458"/>
                </a:gdLst>
                <a:ahLst/>
                <a:cxnLst>
                  <a:cxn ang="0">
                    <a:pos x="T0" y="T1"/>
                  </a:cxn>
                  <a:cxn ang="0">
                    <a:pos x="T2" y="T3"/>
                  </a:cxn>
                  <a:cxn ang="0">
                    <a:pos x="T4" y="T5"/>
                  </a:cxn>
                  <a:cxn ang="0">
                    <a:pos x="T6" y="T7"/>
                  </a:cxn>
                  <a:cxn ang="0">
                    <a:pos x="T8" y="T9"/>
                  </a:cxn>
                </a:cxnLst>
                <a:rect l="0" t="0" r="r" b="b"/>
                <a:pathLst>
                  <a:path w="190" h="458">
                    <a:moveTo>
                      <a:pt x="0" y="5"/>
                    </a:moveTo>
                    <a:lnTo>
                      <a:pt x="0" y="457"/>
                    </a:lnTo>
                    <a:lnTo>
                      <a:pt x="189" y="437"/>
                    </a:lnTo>
                    <a:lnTo>
                      <a:pt x="189" y="0"/>
                    </a:lnTo>
                    <a:lnTo>
                      <a:pt x="0" y="5"/>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05" name="Freeform 265"/>
              <p:cNvSpPr/>
              <p:nvPr/>
            </p:nvSpPr>
            <p:spPr bwMode="auto">
              <a:xfrm>
                <a:off x="4222" y="2889"/>
                <a:ext cx="151" cy="472"/>
              </a:xfrm>
              <a:custGeom>
                <a:avLst/>
                <a:gdLst>
                  <a:gd name="T0" fmla="*/ 0 w 151"/>
                  <a:gd name="T1" fmla="*/ 0 h 472"/>
                  <a:gd name="T2" fmla="*/ 0 w 151"/>
                  <a:gd name="T3" fmla="*/ 358 h 472"/>
                  <a:gd name="T4" fmla="*/ 150 w 151"/>
                  <a:gd name="T5" fmla="*/ 471 h 472"/>
                  <a:gd name="T6" fmla="*/ 150 w 151"/>
                  <a:gd name="T7" fmla="*/ 18 h 472"/>
                  <a:gd name="T8" fmla="*/ 0 w 151"/>
                  <a:gd name="T9" fmla="*/ 0 h 472"/>
                </a:gdLst>
                <a:ahLst/>
                <a:cxnLst>
                  <a:cxn ang="0">
                    <a:pos x="T0" y="T1"/>
                  </a:cxn>
                  <a:cxn ang="0">
                    <a:pos x="T2" y="T3"/>
                  </a:cxn>
                  <a:cxn ang="0">
                    <a:pos x="T4" y="T5"/>
                  </a:cxn>
                  <a:cxn ang="0">
                    <a:pos x="T6" y="T7"/>
                  </a:cxn>
                  <a:cxn ang="0">
                    <a:pos x="T8" y="T9"/>
                  </a:cxn>
                </a:cxnLst>
                <a:rect l="0" t="0" r="r" b="b"/>
                <a:pathLst>
                  <a:path w="151" h="472">
                    <a:moveTo>
                      <a:pt x="0" y="0"/>
                    </a:moveTo>
                    <a:lnTo>
                      <a:pt x="0" y="358"/>
                    </a:lnTo>
                    <a:lnTo>
                      <a:pt x="150" y="471"/>
                    </a:lnTo>
                    <a:lnTo>
                      <a:pt x="150" y="18"/>
                    </a:lnTo>
                    <a:lnTo>
                      <a:pt x="0" y="0"/>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06" name="Line 266"/>
              <p:cNvSpPr>
                <a:spLocks noChangeShapeType="1"/>
              </p:cNvSpPr>
              <p:nvPr/>
            </p:nvSpPr>
            <p:spPr bwMode="auto">
              <a:xfrm>
                <a:off x="4356" y="2906"/>
                <a:ext cx="0" cy="44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07" name="Freeform 267"/>
              <p:cNvSpPr/>
              <p:nvPr/>
            </p:nvSpPr>
            <p:spPr bwMode="auto">
              <a:xfrm>
                <a:off x="4356" y="2912"/>
                <a:ext cx="206" cy="17"/>
              </a:xfrm>
              <a:custGeom>
                <a:avLst/>
                <a:gdLst>
                  <a:gd name="T0" fmla="*/ 0 w 206"/>
                  <a:gd name="T1" fmla="*/ 9 h 17"/>
                  <a:gd name="T2" fmla="*/ 16 w 206"/>
                  <a:gd name="T3" fmla="*/ 16 h 17"/>
                  <a:gd name="T4" fmla="*/ 205 w 206"/>
                  <a:gd name="T5" fmla="*/ 0 h 17"/>
                </a:gdLst>
                <a:ahLst/>
                <a:cxnLst>
                  <a:cxn ang="0">
                    <a:pos x="T0" y="T1"/>
                  </a:cxn>
                  <a:cxn ang="0">
                    <a:pos x="T2" y="T3"/>
                  </a:cxn>
                  <a:cxn ang="0">
                    <a:pos x="T4" y="T5"/>
                  </a:cxn>
                </a:cxnLst>
                <a:rect l="0" t="0" r="r" b="b"/>
                <a:pathLst>
                  <a:path w="206" h="17">
                    <a:moveTo>
                      <a:pt x="0" y="9"/>
                    </a:moveTo>
                    <a:lnTo>
                      <a:pt x="16" y="16"/>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08" name="Freeform 268"/>
              <p:cNvSpPr/>
              <p:nvPr/>
            </p:nvSpPr>
            <p:spPr bwMode="auto">
              <a:xfrm>
                <a:off x="4356" y="2945"/>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09" name="Freeform 269"/>
              <p:cNvSpPr/>
              <p:nvPr/>
            </p:nvSpPr>
            <p:spPr bwMode="auto">
              <a:xfrm>
                <a:off x="4384" y="2920"/>
                <a:ext cx="168" cy="23"/>
              </a:xfrm>
              <a:custGeom>
                <a:avLst/>
                <a:gdLst>
                  <a:gd name="T0" fmla="*/ 0 w 168"/>
                  <a:gd name="T1" fmla="*/ 5 h 23"/>
                  <a:gd name="T2" fmla="*/ 0 w 168"/>
                  <a:gd name="T3" fmla="*/ 22 h 23"/>
                  <a:gd name="T4" fmla="*/ 167 w 168"/>
                  <a:gd name="T5" fmla="*/ 17 h 23"/>
                  <a:gd name="T6" fmla="*/ 167 w 168"/>
                  <a:gd name="T7" fmla="*/ 0 h 23"/>
                  <a:gd name="T8" fmla="*/ 0 w 168"/>
                  <a:gd name="T9" fmla="*/ 5 h 23"/>
                </a:gdLst>
                <a:ahLst/>
                <a:cxnLst>
                  <a:cxn ang="0">
                    <a:pos x="T0" y="T1"/>
                  </a:cxn>
                  <a:cxn ang="0">
                    <a:pos x="T2" y="T3"/>
                  </a:cxn>
                  <a:cxn ang="0">
                    <a:pos x="T4" y="T5"/>
                  </a:cxn>
                  <a:cxn ang="0">
                    <a:pos x="T6" y="T7"/>
                  </a:cxn>
                  <a:cxn ang="0">
                    <a:pos x="T8" y="T9"/>
                  </a:cxn>
                </a:cxnLst>
                <a:rect l="0" t="0" r="r" b="b"/>
                <a:pathLst>
                  <a:path w="168" h="23">
                    <a:moveTo>
                      <a:pt x="0" y="5"/>
                    </a:moveTo>
                    <a:lnTo>
                      <a:pt x="0" y="22"/>
                    </a:lnTo>
                    <a:lnTo>
                      <a:pt x="167" y="17"/>
                    </a:lnTo>
                    <a:lnTo>
                      <a:pt x="167" y="0"/>
                    </a:lnTo>
                    <a:lnTo>
                      <a:pt x="0" y="5"/>
                    </a:lnTo>
                  </a:path>
                </a:pathLst>
              </a:custGeom>
              <a:noFill/>
              <a:ln w="12700"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10" name="Freeform 270"/>
              <p:cNvSpPr/>
              <p:nvPr/>
            </p:nvSpPr>
            <p:spPr bwMode="auto">
              <a:xfrm>
                <a:off x="4356" y="2955"/>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11" name="Freeform 271"/>
              <p:cNvSpPr/>
              <p:nvPr/>
            </p:nvSpPr>
            <p:spPr bwMode="auto">
              <a:xfrm>
                <a:off x="4356" y="2986"/>
                <a:ext cx="206" cy="17"/>
              </a:xfrm>
              <a:custGeom>
                <a:avLst/>
                <a:gdLst>
                  <a:gd name="T0" fmla="*/ 205 w 206"/>
                  <a:gd name="T1" fmla="*/ 0 h 17"/>
                  <a:gd name="T2" fmla="*/ 16 w 206"/>
                  <a:gd name="T3" fmla="*/ 16 h 17"/>
                  <a:gd name="T4" fmla="*/ 0 w 206"/>
                  <a:gd name="T5" fmla="*/ 8 h 17"/>
                </a:gdLst>
                <a:ahLst/>
                <a:cxnLst>
                  <a:cxn ang="0">
                    <a:pos x="T0" y="T1"/>
                  </a:cxn>
                  <a:cxn ang="0">
                    <a:pos x="T2" y="T3"/>
                  </a:cxn>
                  <a:cxn ang="0">
                    <a:pos x="T4" y="T5"/>
                  </a:cxn>
                </a:cxnLst>
                <a:rect l="0" t="0" r="r" b="b"/>
                <a:pathLst>
                  <a:path w="206" h="17">
                    <a:moveTo>
                      <a:pt x="205" y="0"/>
                    </a:moveTo>
                    <a:lnTo>
                      <a:pt x="16" y="16"/>
                    </a:lnTo>
                    <a:lnTo>
                      <a:pt x="0" y="8"/>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12" name="Freeform 272"/>
              <p:cNvSpPr/>
              <p:nvPr/>
            </p:nvSpPr>
            <p:spPr bwMode="auto">
              <a:xfrm>
                <a:off x="4356" y="3111"/>
                <a:ext cx="206" cy="17"/>
              </a:xfrm>
              <a:custGeom>
                <a:avLst/>
                <a:gdLst>
                  <a:gd name="T0" fmla="*/ 205 w 206"/>
                  <a:gd name="T1" fmla="*/ 0 h 17"/>
                  <a:gd name="T2" fmla="*/ 16 w 206"/>
                  <a:gd name="T3" fmla="*/ 16 h 17"/>
                  <a:gd name="T4" fmla="*/ 0 w 206"/>
                  <a:gd name="T5" fmla="*/ 7 h 17"/>
                </a:gdLst>
                <a:ahLst/>
                <a:cxnLst>
                  <a:cxn ang="0">
                    <a:pos x="T0" y="T1"/>
                  </a:cxn>
                  <a:cxn ang="0">
                    <a:pos x="T2" y="T3"/>
                  </a:cxn>
                  <a:cxn ang="0">
                    <a:pos x="T4" y="T5"/>
                  </a:cxn>
                </a:cxnLst>
                <a:rect l="0" t="0" r="r" b="b"/>
                <a:pathLst>
                  <a:path w="206" h="17">
                    <a:moveTo>
                      <a:pt x="205" y="0"/>
                    </a:moveTo>
                    <a:lnTo>
                      <a:pt x="16" y="16"/>
                    </a:lnTo>
                    <a:lnTo>
                      <a:pt x="0" y="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13" name="Line 273"/>
              <p:cNvSpPr>
                <a:spLocks noChangeShapeType="1"/>
              </p:cNvSpPr>
              <p:nvPr/>
            </p:nvSpPr>
            <p:spPr bwMode="auto">
              <a:xfrm>
                <a:off x="4384" y="2993"/>
                <a:ext cx="0" cy="12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14" name="Line 274"/>
              <p:cNvSpPr>
                <a:spLocks noChangeShapeType="1"/>
              </p:cNvSpPr>
              <p:nvPr/>
            </p:nvSpPr>
            <p:spPr bwMode="auto">
              <a:xfrm>
                <a:off x="4551" y="2987"/>
                <a:ext cx="0" cy="12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15" name="Freeform 275"/>
              <p:cNvSpPr/>
              <p:nvPr/>
            </p:nvSpPr>
            <p:spPr bwMode="auto">
              <a:xfrm>
                <a:off x="4384" y="2987"/>
                <a:ext cx="160" cy="130"/>
              </a:xfrm>
              <a:custGeom>
                <a:avLst/>
                <a:gdLst>
                  <a:gd name="T0" fmla="*/ 159 w 160"/>
                  <a:gd name="T1" fmla="*/ 0 h 130"/>
                  <a:gd name="T2" fmla="*/ 159 w 160"/>
                  <a:gd name="T3" fmla="*/ 121 h 130"/>
                  <a:gd name="T4" fmla="*/ 0 w 160"/>
                  <a:gd name="T5" fmla="*/ 129 h 130"/>
                </a:gdLst>
                <a:ahLst/>
                <a:cxnLst>
                  <a:cxn ang="0">
                    <a:pos x="T0" y="T1"/>
                  </a:cxn>
                  <a:cxn ang="0">
                    <a:pos x="T2" y="T3"/>
                  </a:cxn>
                  <a:cxn ang="0">
                    <a:pos x="T4" y="T5"/>
                  </a:cxn>
                </a:cxnLst>
                <a:rect l="0" t="0" r="r" b="b"/>
                <a:pathLst>
                  <a:path w="160" h="130">
                    <a:moveTo>
                      <a:pt x="159" y="0"/>
                    </a:moveTo>
                    <a:lnTo>
                      <a:pt x="159" y="121"/>
                    </a:lnTo>
                    <a:lnTo>
                      <a:pt x="0" y="129"/>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16" name="Line 276"/>
              <p:cNvSpPr>
                <a:spLocks noChangeShapeType="1"/>
              </p:cNvSpPr>
              <p:nvPr/>
            </p:nvSpPr>
            <p:spPr bwMode="auto">
              <a:xfrm>
                <a:off x="4543" y="3108"/>
                <a:ext cx="8" cy="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17" name="Line 277"/>
              <p:cNvSpPr>
                <a:spLocks noChangeShapeType="1"/>
              </p:cNvSpPr>
              <p:nvPr/>
            </p:nvSpPr>
            <p:spPr bwMode="auto">
              <a:xfrm flipH="1">
                <a:off x="4384" y="3028"/>
                <a:ext cx="159" cy="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18" name="Line 278"/>
              <p:cNvSpPr>
                <a:spLocks noChangeShapeType="1"/>
              </p:cNvSpPr>
              <p:nvPr/>
            </p:nvSpPr>
            <p:spPr bwMode="auto">
              <a:xfrm flipH="1">
                <a:off x="4384" y="3070"/>
                <a:ext cx="159" cy="9"/>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19" name="Freeform 279"/>
              <p:cNvSpPr/>
              <p:nvPr/>
            </p:nvSpPr>
            <p:spPr bwMode="auto">
              <a:xfrm>
                <a:off x="4356" y="3144"/>
                <a:ext cx="206" cy="17"/>
              </a:xfrm>
              <a:custGeom>
                <a:avLst/>
                <a:gdLst>
                  <a:gd name="T0" fmla="*/ 0 w 206"/>
                  <a:gd name="T1" fmla="*/ 3 h 17"/>
                  <a:gd name="T2" fmla="*/ 16 w 206"/>
                  <a:gd name="T3" fmla="*/ 16 h 17"/>
                  <a:gd name="T4" fmla="*/ 205 w 206"/>
                  <a:gd name="T5" fmla="*/ 0 h 17"/>
                </a:gdLst>
                <a:ahLst/>
                <a:cxnLst>
                  <a:cxn ang="0">
                    <a:pos x="T0" y="T1"/>
                  </a:cxn>
                  <a:cxn ang="0">
                    <a:pos x="T2" y="T3"/>
                  </a:cxn>
                  <a:cxn ang="0">
                    <a:pos x="T4" y="T5"/>
                  </a:cxn>
                </a:cxnLst>
                <a:rect l="0" t="0" r="r" b="b"/>
                <a:pathLst>
                  <a:path w="206" h="17">
                    <a:moveTo>
                      <a:pt x="0" y="3"/>
                    </a:moveTo>
                    <a:lnTo>
                      <a:pt x="16" y="16"/>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20" name="Freeform 280"/>
              <p:cNvSpPr/>
              <p:nvPr/>
            </p:nvSpPr>
            <p:spPr bwMode="auto">
              <a:xfrm>
                <a:off x="4356" y="3320"/>
                <a:ext cx="206" cy="21"/>
              </a:xfrm>
              <a:custGeom>
                <a:avLst/>
                <a:gdLst>
                  <a:gd name="T0" fmla="*/ 0 w 206"/>
                  <a:gd name="T1" fmla="*/ 7 h 21"/>
                  <a:gd name="T2" fmla="*/ 16 w 206"/>
                  <a:gd name="T3" fmla="*/ 20 h 21"/>
                  <a:gd name="T4" fmla="*/ 205 w 206"/>
                  <a:gd name="T5" fmla="*/ 0 h 21"/>
                </a:gdLst>
                <a:ahLst/>
                <a:cxnLst>
                  <a:cxn ang="0">
                    <a:pos x="T0" y="T1"/>
                  </a:cxn>
                  <a:cxn ang="0">
                    <a:pos x="T2" y="T3"/>
                  </a:cxn>
                  <a:cxn ang="0">
                    <a:pos x="T4" y="T5"/>
                  </a:cxn>
                </a:cxnLst>
                <a:rect l="0" t="0" r="r" b="b"/>
                <a:pathLst>
                  <a:path w="206" h="21">
                    <a:moveTo>
                      <a:pt x="0" y="7"/>
                    </a:moveTo>
                    <a:lnTo>
                      <a:pt x="16" y="20"/>
                    </a:lnTo>
                    <a:lnTo>
                      <a:pt x="20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21" name="Line 281"/>
              <p:cNvSpPr>
                <a:spLocks noChangeShapeType="1"/>
              </p:cNvSpPr>
              <p:nvPr/>
            </p:nvSpPr>
            <p:spPr bwMode="auto">
              <a:xfrm>
                <a:off x="4384" y="3154"/>
                <a:ext cx="0" cy="18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22" name="Line 282"/>
              <p:cNvSpPr>
                <a:spLocks noChangeShapeType="1"/>
              </p:cNvSpPr>
              <p:nvPr/>
            </p:nvSpPr>
            <p:spPr bwMode="auto">
              <a:xfrm>
                <a:off x="4551" y="3144"/>
                <a:ext cx="0" cy="17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23" name="Freeform 283"/>
              <p:cNvSpPr/>
              <p:nvPr/>
            </p:nvSpPr>
            <p:spPr bwMode="auto">
              <a:xfrm>
                <a:off x="4384" y="3308"/>
                <a:ext cx="168" cy="21"/>
              </a:xfrm>
              <a:custGeom>
                <a:avLst/>
                <a:gdLst>
                  <a:gd name="T0" fmla="*/ 0 w 168"/>
                  <a:gd name="T1" fmla="*/ 20 h 21"/>
                  <a:gd name="T2" fmla="*/ 167 w 168"/>
                  <a:gd name="T3" fmla="*/ 4 h 21"/>
                  <a:gd name="T4" fmla="*/ 167 w 168"/>
                  <a:gd name="T5" fmla="*/ 0 h 21"/>
                  <a:gd name="T6" fmla="*/ 0 w 168"/>
                  <a:gd name="T7" fmla="*/ 17 h 21"/>
                  <a:gd name="T8" fmla="*/ 0 w 168"/>
                  <a:gd name="T9" fmla="*/ 20 h 21"/>
                </a:gdLst>
                <a:ahLst/>
                <a:cxnLst>
                  <a:cxn ang="0">
                    <a:pos x="T0" y="T1"/>
                  </a:cxn>
                  <a:cxn ang="0">
                    <a:pos x="T2" y="T3"/>
                  </a:cxn>
                  <a:cxn ang="0">
                    <a:pos x="T4" y="T5"/>
                  </a:cxn>
                  <a:cxn ang="0">
                    <a:pos x="T6" y="T7"/>
                  </a:cxn>
                  <a:cxn ang="0">
                    <a:pos x="T8" y="T9"/>
                  </a:cxn>
                </a:cxnLst>
                <a:rect l="0" t="0" r="r" b="b"/>
                <a:pathLst>
                  <a:path w="168" h="21">
                    <a:moveTo>
                      <a:pt x="0" y="20"/>
                    </a:moveTo>
                    <a:lnTo>
                      <a:pt x="167" y="4"/>
                    </a:lnTo>
                    <a:lnTo>
                      <a:pt x="167" y="0"/>
                    </a:lnTo>
                    <a:lnTo>
                      <a:pt x="0" y="17"/>
                    </a:lnTo>
                    <a:lnTo>
                      <a:pt x="0" y="2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24" name="Freeform 284"/>
              <p:cNvSpPr/>
              <p:nvPr/>
            </p:nvSpPr>
            <p:spPr bwMode="auto">
              <a:xfrm>
                <a:off x="4384" y="3300"/>
                <a:ext cx="168" cy="21"/>
              </a:xfrm>
              <a:custGeom>
                <a:avLst/>
                <a:gdLst>
                  <a:gd name="T0" fmla="*/ 0 w 168"/>
                  <a:gd name="T1" fmla="*/ 20 h 21"/>
                  <a:gd name="T2" fmla="*/ 167 w 168"/>
                  <a:gd name="T3" fmla="*/ 3 h 21"/>
                  <a:gd name="T4" fmla="*/ 167 w 168"/>
                  <a:gd name="T5" fmla="*/ 0 h 21"/>
                  <a:gd name="T6" fmla="*/ 0 w 168"/>
                  <a:gd name="T7" fmla="*/ 16 h 21"/>
                  <a:gd name="T8" fmla="*/ 0 w 168"/>
                  <a:gd name="T9" fmla="*/ 20 h 21"/>
                </a:gdLst>
                <a:ahLst/>
                <a:cxnLst>
                  <a:cxn ang="0">
                    <a:pos x="T0" y="T1"/>
                  </a:cxn>
                  <a:cxn ang="0">
                    <a:pos x="T2" y="T3"/>
                  </a:cxn>
                  <a:cxn ang="0">
                    <a:pos x="T4" y="T5"/>
                  </a:cxn>
                  <a:cxn ang="0">
                    <a:pos x="T6" y="T7"/>
                  </a:cxn>
                  <a:cxn ang="0">
                    <a:pos x="T8" y="T9"/>
                  </a:cxn>
                </a:cxnLst>
                <a:rect l="0" t="0" r="r" b="b"/>
                <a:pathLst>
                  <a:path w="168" h="21">
                    <a:moveTo>
                      <a:pt x="0" y="20"/>
                    </a:moveTo>
                    <a:lnTo>
                      <a:pt x="167" y="3"/>
                    </a:lnTo>
                    <a:lnTo>
                      <a:pt x="167" y="0"/>
                    </a:lnTo>
                    <a:lnTo>
                      <a:pt x="0" y="16"/>
                    </a:lnTo>
                    <a:lnTo>
                      <a:pt x="0" y="2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25" name="Freeform 285"/>
              <p:cNvSpPr/>
              <p:nvPr/>
            </p:nvSpPr>
            <p:spPr bwMode="auto">
              <a:xfrm>
                <a:off x="4384" y="3293"/>
                <a:ext cx="168" cy="20"/>
              </a:xfrm>
              <a:custGeom>
                <a:avLst/>
                <a:gdLst>
                  <a:gd name="T0" fmla="*/ 167 w 168"/>
                  <a:gd name="T1" fmla="*/ 3 h 20"/>
                  <a:gd name="T2" fmla="*/ 0 w 168"/>
                  <a:gd name="T3" fmla="*/ 19 h 20"/>
                  <a:gd name="T4" fmla="*/ 0 w 168"/>
                  <a:gd name="T5" fmla="*/ 15 h 20"/>
                  <a:gd name="T6" fmla="*/ 167 w 168"/>
                  <a:gd name="T7" fmla="*/ 0 h 20"/>
                  <a:gd name="T8" fmla="*/ 167 w 168"/>
                  <a:gd name="T9" fmla="*/ 3 h 20"/>
                </a:gdLst>
                <a:ahLst/>
                <a:cxnLst>
                  <a:cxn ang="0">
                    <a:pos x="T0" y="T1"/>
                  </a:cxn>
                  <a:cxn ang="0">
                    <a:pos x="T2" y="T3"/>
                  </a:cxn>
                  <a:cxn ang="0">
                    <a:pos x="T4" y="T5"/>
                  </a:cxn>
                  <a:cxn ang="0">
                    <a:pos x="T6" y="T7"/>
                  </a:cxn>
                  <a:cxn ang="0">
                    <a:pos x="T8" y="T9"/>
                  </a:cxn>
                </a:cxnLst>
                <a:rect l="0" t="0" r="r" b="b"/>
                <a:pathLst>
                  <a:path w="168" h="20">
                    <a:moveTo>
                      <a:pt x="167" y="3"/>
                    </a:moveTo>
                    <a:lnTo>
                      <a:pt x="0" y="19"/>
                    </a:lnTo>
                    <a:lnTo>
                      <a:pt x="0" y="15"/>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26" name="Freeform 286"/>
              <p:cNvSpPr/>
              <p:nvPr/>
            </p:nvSpPr>
            <p:spPr bwMode="auto">
              <a:xfrm>
                <a:off x="4384" y="3285"/>
                <a:ext cx="168" cy="18"/>
              </a:xfrm>
              <a:custGeom>
                <a:avLst/>
                <a:gdLst>
                  <a:gd name="T0" fmla="*/ 167 w 168"/>
                  <a:gd name="T1" fmla="*/ 3 h 18"/>
                  <a:gd name="T2" fmla="*/ 0 w 168"/>
                  <a:gd name="T3" fmla="*/ 17 h 18"/>
                  <a:gd name="T4" fmla="*/ 0 w 168"/>
                  <a:gd name="T5" fmla="*/ 14 h 18"/>
                  <a:gd name="T6" fmla="*/ 167 w 168"/>
                  <a:gd name="T7" fmla="*/ 0 h 18"/>
                  <a:gd name="T8" fmla="*/ 167 w 168"/>
                  <a:gd name="T9" fmla="*/ 3 h 18"/>
                </a:gdLst>
                <a:ahLst/>
                <a:cxnLst>
                  <a:cxn ang="0">
                    <a:pos x="T0" y="T1"/>
                  </a:cxn>
                  <a:cxn ang="0">
                    <a:pos x="T2" y="T3"/>
                  </a:cxn>
                  <a:cxn ang="0">
                    <a:pos x="T4" y="T5"/>
                  </a:cxn>
                  <a:cxn ang="0">
                    <a:pos x="T6" y="T7"/>
                  </a:cxn>
                  <a:cxn ang="0">
                    <a:pos x="T8" y="T9"/>
                  </a:cxn>
                </a:cxnLst>
                <a:rect l="0" t="0" r="r" b="b"/>
                <a:pathLst>
                  <a:path w="168" h="18">
                    <a:moveTo>
                      <a:pt x="167" y="3"/>
                    </a:moveTo>
                    <a:lnTo>
                      <a:pt x="0" y="17"/>
                    </a:lnTo>
                    <a:lnTo>
                      <a:pt x="0" y="14"/>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27" name="Freeform 287"/>
              <p:cNvSpPr/>
              <p:nvPr/>
            </p:nvSpPr>
            <p:spPr bwMode="auto">
              <a:xfrm>
                <a:off x="4384" y="3276"/>
                <a:ext cx="168" cy="19"/>
              </a:xfrm>
              <a:custGeom>
                <a:avLst/>
                <a:gdLst>
                  <a:gd name="T0" fmla="*/ 167 w 168"/>
                  <a:gd name="T1" fmla="*/ 3 h 19"/>
                  <a:gd name="T2" fmla="*/ 0 w 168"/>
                  <a:gd name="T3" fmla="*/ 18 h 19"/>
                  <a:gd name="T4" fmla="*/ 0 w 168"/>
                  <a:gd name="T5" fmla="*/ 14 h 19"/>
                  <a:gd name="T6" fmla="*/ 167 w 168"/>
                  <a:gd name="T7" fmla="*/ 0 h 19"/>
                  <a:gd name="T8" fmla="*/ 167 w 168"/>
                  <a:gd name="T9" fmla="*/ 3 h 19"/>
                </a:gdLst>
                <a:ahLst/>
                <a:cxnLst>
                  <a:cxn ang="0">
                    <a:pos x="T0" y="T1"/>
                  </a:cxn>
                  <a:cxn ang="0">
                    <a:pos x="T2" y="T3"/>
                  </a:cxn>
                  <a:cxn ang="0">
                    <a:pos x="T4" y="T5"/>
                  </a:cxn>
                  <a:cxn ang="0">
                    <a:pos x="T6" y="T7"/>
                  </a:cxn>
                  <a:cxn ang="0">
                    <a:pos x="T8" y="T9"/>
                  </a:cxn>
                </a:cxnLst>
                <a:rect l="0" t="0" r="r" b="b"/>
                <a:pathLst>
                  <a:path w="168" h="19">
                    <a:moveTo>
                      <a:pt x="167" y="3"/>
                    </a:moveTo>
                    <a:lnTo>
                      <a:pt x="0" y="18"/>
                    </a:lnTo>
                    <a:lnTo>
                      <a:pt x="0" y="14"/>
                    </a:lnTo>
                    <a:lnTo>
                      <a:pt x="167" y="0"/>
                    </a:lnTo>
                    <a:lnTo>
                      <a:pt x="167" y="3"/>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28" name="Freeform 288"/>
              <p:cNvSpPr/>
              <p:nvPr/>
            </p:nvSpPr>
            <p:spPr bwMode="auto">
              <a:xfrm>
                <a:off x="4384" y="2921"/>
                <a:ext cx="160" cy="21"/>
              </a:xfrm>
              <a:custGeom>
                <a:avLst/>
                <a:gdLst>
                  <a:gd name="T0" fmla="*/ 159 w 160"/>
                  <a:gd name="T1" fmla="*/ 0 h 21"/>
                  <a:gd name="T2" fmla="*/ 159 w 160"/>
                  <a:gd name="T3" fmla="*/ 15 h 21"/>
                  <a:gd name="T4" fmla="*/ 0 w 160"/>
                  <a:gd name="T5" fmla="*/ 20 h 21"/>
                  <a:gd name="T6" fmla="*/ 1 w 160"/>
                  <a:gd name="T7" fmla="*/ 5 h 21"/>
                  <a:gd name="T8" fmla="*/ 159 w 160"/>
                  <a:gd name="T9" fmla="*/ 0 h 21"/>
                </a:gdLst>
                <a:ahLst/>
                <a:cxnLst>
                  <a:cxn ang="0">
                    <a:pos x="T0" y="T1"/>
                  </a:cxn>
                  <a:cxn ang="0">
                    <a:pos x="T2" y="T3"/>
                  </a:cxn>
                  <a:cxn ang="0">
                    <a:pos x="T4" y="T5"/>
                  </a:cxn>
                  <a:cxn ang="0">
                    <a:pos x="T6" y="T7"/>
                  </a:cxn>
                  <a:cxn ang="0">
                    <a:pos x="T8" y="T9"/>
                  </a:cxn>
                </a:cxnLst>
                <a:rect l="0" t="0" r="r" b="b"/>
                <a:pathLst>
                  <a:path w="160" h="21">
                    <a:moveTo>
                      <a:pt x="159" y="0"/>
                    </a:moveTo>
                    <a:lnTo>
                      <a:pt x="159" y="15"/>
                    </a:lnTo>
                    <a:lnTo>
                      <a:pt x="0" y="20"/>
                    </a:lnTo>
                    <a:lnTo>
                      <a:pt x="1" y="5"/>
                    </a:lnTo>
                    <a:lnTo>
                      <a:pt x="159" y="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29" name="Line 289"/>
              <p:cNvSpPr>
                <a:spLocks noChangeShapeType="1"/>
              </p:cNvSpPr>
              <p:nvPr/>
            </p:nvSpPr>
            <p:spPr bwMode="auto">
              <a:xfrm>
                <a:off x="4543" y="2936"/>
                <a:ext cx="8" cy="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30" name="Freeform 290"/>
              <p:cNvSpPr/>
              <p:nvPr/>
            </p:nvSpPr>
            <p:spPr bwMode="auto">
              <a:xfrm>
                <a:off x="4423" y="2961"/>
                <a:ext cx="90" cy="27"/>
              </a:xfrm>
              <a:custGeom>
                <a:avLst/>
                <a:gdLst>
                  <a:gd name="T0" fmla="*/ 0 w 90"/>
                  <a:gd name="T1" fmla="*/ 26 h 27"/>
                  <a:gd name="T2" fmla="*/ 0 w 90"/>
                  <a:gd name="T3" fmla="*/ 3 h 27"/>
                  <a:gd name="T4" fmla="*/ 89 w 90"/>
                  <a:gd name="T5" fmla="*/ 0 h 27"/>
                  <a:gd name="T6" fmla="*/ 89 w 90"/>
                  <a:gd name="T7" fmla="*/ 23 h 27"/>
                  <a:gd name="T8" fmla="*/ 0 w 90"/>
                  <a:gd name="T9" fmla="*/ 26 h 27"/>
                </a:gdLst>
                <a:ahLst/>
                <a:cxnLst>
                  <a:cxn ang="0">
                    <a:pos x="T0" y="T1"/>
                  </a:cxn>
                  <a:cxn ang="0">
                    <a:pos x="T2" y="T3"/>
                  </a:cxn>
                  <a:cxn ang="0">
                    <a:pos x="T4" y="T5"/>
                  </a:cxn>
                  <a:cxn ang="0">
                    <a:pos x="T6" y="T7"/>
                  </a:cxn>
                  <a:cxn ang="0">
                    <a:pos x="T8" y="T9"/>
                  </a:cxn>
                </a:cxnLst>
                <a:rect l="0" t="0" r="r" b="b"/>
                <a:pathLst>
                  <a:path w="90" h="27">
                    <a:moveTo>
                      <a:pt x="0" y="26"/>
                    </a:moveTo>
                    <a:lnTo>
                      <a:pt x="0" y="3"/>
                    </a:lnTo>
                    <a:lnTo>
                      <a:pt x="89" y="0"/>
                    </a:lnTo>
                    <a:lnTo>
                      <a:pt x="89" y="23"/>
                    </a:lnTo>
                    <a:lnTo>
                      <a:pt x="0" y="26"/>
                    </a:lnTo>
                  </a:path>
                </a:pathLst>
              </a:custGeom>
              <a:noFill/>
              <a:ln w="12700" cap="rnd" cmpd="sng">
                <a:solidFill>
                  <a:srgbClr val="51515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31" name="Freeform 291"/>
              <p:cNvSpPr/>
              <p:nvPr/>
            </p:nvSpPr>
            <p:spPr bwMode="auto">
              <a:xfrm>
                <a:off x="4384" y="2961"/>
                <a:ext cx="168" cy="24"/>
              </a:xfrm>
              <a:custGeom>
                <a:avLst/>
                <a:gdLst>
                  <a:gd name="T0" fmla="*/ 113 w 168"/>
                  <a:gd name="T1" fmla="*/ 8 h 24"/>
                  <a:gd name="T2" fmla="*/ 167 w 168"/>
                  <a:gd name="T3" fmla="*/ 6 h 24"/>
                  <a:gd name="T4" fmla="*/ 167 w 168"/>
                  <a:gd name="T5" fmla="*/ 14 h 24"/>
                  <a:gd name="T6" fmla="*/ 159 w 168"/>
                  <a:gd name="T7" fmla="*/ 13 h 24"/>
                  <a:gd name="T8" fmla="*/ 113 w 168"/>
                  <a:gd name="T9" fmla="*/ 14 h 24"/>
                  <a:gd name="T10" fmla="*/ 113 w 168"/>
                  <a:gd name="T11" fmla="*/ 20 h 24"/>
                  <a:gd name="T12" fmla="*/ 39 w 168"/>
                  <a:gd name="T13" fmla="*/ 23 h 24"/>
                  <a:gd name="T14" fmla="*/ 39 w 168"/>
                  <a:gd name="T15" fmla="*/ 18 h 24"/>
                  <a:gd name="T16" fmla="*/ 32 w 168"/>
                  <a:gd name="T17" fmla="*/ 17 h 24"/>
                  <a:gd name="T18" fmla="*/ 0 w 168"/>
                  <a:gd name="T19" fmla="*/ 18 h 24"/>
                  <a:gd name="T20" fmla="*/ 0 w 168"/>
                  <a:gd name="T21" fmla="*/ 12 h 24"/>
                  <a:gd name="T22" fmla="*/ 39 w 168"/>
                  <a:gd name="T23" fmla="*/ 10 h 24"/>
                  <a:gd name="T24" fmla="*/ 39 w 168"/>
                  <a:gd name="T25" fmla="*/ 3 h 24"/>
                  <a:gd name="T26" fmla="*/ 128 w 168"/>
                  <a:gd name="T27" fmla="*/ 0 h 24"/>
                  <a:gd name="T28" fmla="*/ 113 w 168"/>
                  <a:gd name="T2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8" h="24">
                    <a:moveTo>
                      <a:pt x="113" y="8"/>
                    </a:moveTo>
                    <a:lnTo>
                      <a:pt x="167" y="6"/>
                    </a:lnTo>
                    <a:lnTo>
                      <a:pt x="167" y="14"/>
                    </a:lnTo>
                    <a:lnTo>
                      <a:pt x="159" y="13"/>
                    </a:lnTo>
                    <a:lnTo>
                      <a:pt x="113" y="14"/>
                    </a:lnTo>
                    <a:lnTo>
                      <a:pt x="113" y="20"/>
                    </a:lnTo>
                    <a:lnTo>
                      <a:pt x="39" y="23"/>
                    </a:lnTo>
                    <a:lnTo>
                      <a:pt x="39" y="18"/>
                    </a:lnTo>
                    <a:lnTo>
                      <a:pt x="32" y="17"/>
                    </a:lnTo>
                    <a:lnTo>
                      <a:pt x="0" y="18"/>
                    </a:lnTo>
                    <a:lnTo>
                      <a:pt x="0" y="12"/>
                    </a:lnTo>
                    <a:lnTo>
                      <a:pt x="39" y="10"/>
                    </a:lnTo>
                    <a:lnTo>
                      <a:pt x="39" y="3"/>
                    </a:lnTo>
                    <a:lnTo>
                      <a:pt x="128" y="0"/>
                    </a:lnTo>
                    <a:lnTo>
                      <a:pt x="113" y="8"/>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32" name="Freeform 292"/>
              <p:cNvSpPr/>
              <p:nvPr/>
            </p:nvSpPr>
            <p:spPr bwMode="auto">
              <a:xfrm>
                <a:off x="4384" y="2972"/>
                <a:ext cx="129" cy="17"/>
              </a:xfrm>
              <a:custGeom>
                <a:avLst/>
                <a:gdLst>
                  <a:gd name="T0" fmla="*/ 0 w 129"/>
                  <a:gd name="T1" fmla="*/ 0 h 17"/>
                  <a:gd name="T2" fmla="*/ 0 w 129"/>
                  <a:gd name="T3" fmla="*/ 8 h 17"/>
                  <a:gd name="T4" fmla="*/ 38 w 129"/>
                  <a:gd name="T5" fmla="*/ 7 h 17"/>
                  <a:gd name="T6" fmla="*/ 38 w 129"/>
                  <a:gd name="T7" fmla="*/ 16 h 17"/>
                  <a:gd name="T8" fmla="*/ 128 w 129"/>
                  <a:gd name="T9" fmla="*/ 12 h 17"/>
                  <a:gd name="T10" fmla="*/ 128 w 129"/>
                  <a:gd name="T11" fmla="*/ 4 h 17"/>
                  <a:gd name="T12" fmla="*/ 112 w 129"/>
                  <a:gd name="T13" fmla="*/ 2 h 17"/>
                </a:gdLst>
                <a:ahLst/>
                <a:cxnLst>
                  <a:cxn ang="0">
                    <a:pos x="T0" y="T1"/>
                  </a:cxn>
                  <a:cxn ang="0">
                    <a:pos x="T2" y="T3"/>
                  </a:cxn>
                  <a:cxn ang="0">
                    <a:pos x="T4" y="T5"/>
                  </a:cxn>
                  <a:cxn ang="0">
                    <a:pos x="T6" y="T7"/>
                  </a:cxn>
                  <a:cxn ang="0">
                    <a:pos x="T8" y="T9"/>
                  </a:cxn>
                  <a:cxn ang="0">
                    <a:pos x="T10" y="T11"/>
                  </a:cxn>
                  <a:cxn ang="0">
                    <a:pos x="T12" y="T13"/>
                  </a:cxn>
                </a:cxnLst>
                <a:rect l="0" t="0" r="r" b="b"/>
                <a:pathLst>
                  <a:path w="129" h="17">
                    <a:moveTo>
                      <a:pt x="0" y="0"/>
                    </a:moveTo>
                    <a:lnTo>
                      <a:pt x="0" y="8"/>
                    </a:lnTo>
                    <a:lnTo>
                      <a:pt x="38" y="7"/>
                    </a:lnTo>
                    <a:lnTo>
                      <a:pt x="38" y="16"/>
                    </a:lnTo>
                    <a:lnTo>
                      <a:pt x="128" y="12"/>
                    </a:lnTo>
                    <a:lnTo>
                      <a:pt x="128" y="4"/>
                    </a:lnTo>
                    <a:lnTo>
                      <a:pt x="112" y="2"/>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33" name="Line 293"/>
              <p:cNvSpPr>
                <a:spLocks noChangeShapeType="1"/>
              </p:cNvSpPr>
              <p:nvPr/>
            </p:nvSpPr>
            <p:spPr bwMode="auto">
              <a:xfrm flipH="1">
                <a:off x="4512" y="2974"/>
                <a:ext cx="39" cy="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34" name="Line 294"/>
              <p:cNvSpPr>
                <a:spLocks noChangeShapeType="1"/>
              </p:cNvSpPr>
              <p:nvPr/>
            </p:nvSpPr>
            <p:spPr bwMode="auto">
              <a:xfrm>
                <a:off x="4512" y="2961"/>
                <a:ext cx="0" cy="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35" name="Freeform 295"/>
              <p:cNvSpPr/>
              <p:nvPr/>
            </p:nvSpPr>
            <p:spPr bwMode="auto">
              <a:xfrm>
                <a:off x="4392" y="2931"/>
                <a:ext cx="17" cy="17"/>
              </a:xfrm>
              <a:custGeom>
                <a:avLst/>
                <a:gdLst>
                  <a:gd name="T0" fmla="*/ 16 w 17"/>
                  <a:gd name="T1" fmla="*/ 6 h 17"/>
                  <a:gd name="T2" fmla="*/ 13 w 17"/>
                  <a:gd name="T3" fmla="*/ 6 h 17"/>
                  <a:gd name="T4" fmla="*/ 13 w 17"/>
                  <a:gd name="T5" fmla="*/ 3 h 17"/>
                  <a:gd name="T6" fmla="*/ 10 w 17"/>
                  <a:gd name="T7" fmla="*/ 3 h 17"/>
                  <a:gd name="T8" fmla="*/ 8 w 17"/>
                  <a:gd name="T9" fmla="*/ 0 h 17"/>
                  <a:gd name="T10" fmla="*/ 5 w 17"/>
                  <a:gd name="T11" fmla="*/ 0 h 17"/>
                  <a:gd name="T12" fmla="*/ 5 w 17"/>
                  <a:gd name="T13" fmla="*/ 3 h 17"/>
                  <a:gd name="T14" fmla="*/ 2 w 17"/>
                  <a:gd name="T15" fmla="*/ 6 h 17"/>
                  <a:gd name="T16" fmla="*/ 2 w 17"/>
                  <a:gd name="T17" fmla="*/ 6 h 17"/>
                  <a:gd name="T18" fmla="*/ 0 w 17"/>
                  <a:gd name="T19" fmla="*/ 9 h 17"/>
                  <a:gd name="T20" fmla="*/ 2 w 17"/>
                  <a:gd name="T21" fmla="*/ 12 h 17"/>
                  <a:gd name="T22" fmla="*/ 5 w 17"/>
                  <a:gd name="T23" fmla="*/ 12 h 17"/>
                  <a:gd name="T24" fmla="*/ 5 w 17"/>
                  <a:gd name="T25" fmla="*/ 16 h 17"/>
                  <a:gd name="T26" fmla="*/ 8 w 17"/>
                  <a:gd name="T27" fmla="*/ 16 h 17"/>
                  <a:gd name="T28" fmla="*/ 10 w 17"/>
                  <a:gd name="T29" fmla="*/ 16 h 17"/>
                  <a:gd name="T30" fmla="*/ 13 w 17"/>
                  <a:gd name="T31" fmla="*/ 12 h 17"/>
                  <a:gd name="T32" fmla="*/ 13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3" y="6"/>
                    </a:lnTo>
                    <a:lnTo>
                      <a:pt x="13" y="3"/>
                    </a:lnTo>
                    <a:lnTo>
                      <a:pt x="10" y="3"/>
                    </a:lnTo>
                    <a:lnTo>
                      <a:pt x="8" y="0"/>
                    </a:lnTo>
                    <a:lnTo>
                      <a:pt x="5" y="0"/>
                    </a:lnTo>
                    <a:lnTo>
                      <a:pt x="5" y="3"/>
                    </a:lnTo>
                    <a:lnTo>
                      <a:pt x="2" y="6"/>
                    </a:lnTo>
                    <a:lnTo>
                      <a:pt x="2" y="6"/>
                    </a:lnTo>
                    <a:lnTo>
                      <a:pt x="0" y="9"/>
                    </a:lnTo>
                    <a:lnTo>
                      <a:pt x="2" y="12"/>
                    </a:lnTo>
                    <a:lnTo>
                      <a:pt x="5" y="12"/>
                    </a:lnTo>
                    <a:lnTo>
                      <a:pt x="5" y="16"/>
                    </a:lnTo>
                    <a:lnTo>
                      <a:pt x="8" y="16"/>
                    </a:lnTo>
                    <a:lnTo>
                      <a:pt x="10" y="16"/>
                    </a:lnTo>
                    <a:lnTo>
                      <a:pt x="13" y="12"/>
                    </a:lnTo>
                    <a:lnTo>
                      <a:pt x="13"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36" name="Freeform 296"/>
              <p:cNvSpPr/>
              <p:nvPr/>
            </p:nvSpPr>
            <p:spPr bwMode="auto">
              <a:xfrm>
                <a:off x="4415" y="2930"/>
                <a:ext cx="17" cy="17"/>
              </a:xfrm>
              <a:custGeom>
                <a:avLst/>
                <a:gdLst>
                  <a:gd name="T0" fmla="*/ 16 w 17"/>
                  <a:gd name="T1" fmla="*/ 6 h 17"/>
                  <a:gd name="T2" fmla="*/ 16 w 17"/>
                  <a:gd name="T3" fmla="*/ 6 h 17"/>
                  <a:gd name="T4" fmla="*/ 13 w 17"/>
                  <a:gd name="T5" fmla="*/ 3 h 17"/>
                  <a:gd name="T6" fmla="*/ 10 w 17"/>
                  <a:gd name="T7" fmla="*/ 0 h 17"/>
                  <a:gd name="T8" fmla="*/ 8 w 17"/>
                  <a:gd name="T9" fmla="*/ 0 h 17"/>
                  <a:gd name="T10" fmla="*/ 5 w 17"/>
                  <a:gd name="T11" fmla="*/ 0 h 17"/>
                  <a:gd name="T12" fmla="*/ 2 w 17"/>
                  <a:gd name="T13" fmla="*/ 3 h 17"/>
                  <a:gd name="T14" fmla="*/ 2 w 17"/>
                  <a:gd name="T15" fmla="*/ 3 h 17"/>
                  <a:gd name="T16" fmla="*/ 0 w 17"/>
                  <a:gd name="T17" fmla="*/ 6 h 17"/>
                  <a:gd name="T18" fmla="*/ 0 w 17"/>
                  <a:gd name="T19" fmla="*/ 9 h 17"/>
                  <a:gd name="T20" fmla="*/ 2 w 17"/>
                  <a:gd name="T21" fmla="*/ 9 h 17"/>
                  <a:gd name="T22" fmla="*/ 2 w 17"/>
                  <a:gd name="T23" fmla="*/ 12 h 17"/>
                  <a:gd name="T24" fmla="*/ 5 w 17"/>
                  <a:gd name="T25" fmla="*/ 16 h 17"/>
                  <a:gd name="T26" fmla="*/ 8 w 17"/>
                  <a:gd name="T27" fmla="*/ 16 h 17"/>
                  <a:gd name="T28" fmla="*/ 10 w 17"/>
                  <a:gd name="T29" fmla="*/ 16 h 17"/>
                  <a:gd name="T30" fmla="*/ 13 w 17"/>
                  <a:gd name="T31" fmla="*/ 12 h 17"/>
                  <a:gd name="T32" fmla="*/ 16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6" y="6"/>
                    </a:lnTo>
                    <a:lnTo>
                      <a:pt x="13" y="3"/>
                    </a:lnTo>
                    <a:lnTo>
                      <a:pt x="10" y="0"/>
                    </a:lnTo>
                    <a:lnTo>
                      <a:pt x="8" y="0"/>
                    </a:lnTo>
                    <a:lnTo>
                      <a:pt x="5" y="0"/>
                    </a:lnTo>
                    <a:lnTo>
                      <a:pt x="2" y="3"/>
                    </a:lnTo>
                    <a:lnTo>
                      <a:pt x="2" y="3"/>
                    </a:lnTo>
                    <a:lnTo>
                      <a:pt x="0" y="6"/>
                    </a:lnTo>
                    <a:lnTo>
                      <a:pt x="0" y="9"/>
                    </a:lnTo>
                    <a:lnTo>
                      <a:pt x="2" y="9"/>
                    </a:lnTo>
                    <a:lnTo>
                      <a:pt x="2" y="12"/>
                    </a:lnTo>
                    <a:lnTo>
                      <a:pt x="5" y="16"/>
                    </a:lnTo>
                    <a:lnTo>
                      <a:pt x="8" y="16"/>
                    </a:lnTo>
                    <a:lnTo>
                      <a:pt x="10" y="16"/>
                    </a:lnTo>
                    <a:lnTo>
                      <a:pt x="13" y="12"/>
                    </a:lnTo>
                    <a:lnTo>
                      <a:pt x="16"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37" name="Freeform 297"/>
              <p:cNvSpPr/>
              <p:nvPr/>
            </p:nvSpPr>
            <p:spPr bwMode="auto">
              <a:xfrm>
                <a:off x="4438" y="2930"/>
                <a:ext cx="17" cy="17"/>
              </a:xfrm>
              <a:custGeom>
                <a:avLst/>
                <a:gdLst>
                  <a:gd name="T0" fmla="*/ 16 w 17"/>
                  <a:gd name="T1" fmla="*/ 10 h 17"/>
                  <a:gd name="T2" fmla="*/ 16 w 17"/>
                  <a:gd name="T3" fmla="*/ 5 h 17"/>
                  <a:gd name="T4" fmla="*/ 13 w 17"/>
                  <a:gd name="T5" fmla="*/ 0 h 17"/>
                  <a:gd name="T6" fmla="*/ 10 w 17"/>
                  <a:gd name="T7" fmla="*/ 0 h 17"/>
                  <a:gd name="T8" fmla="*/ 8 w 17"/>
                  <a:gd name="T9" fmla="*/ 0 h 17"/>
                  <a:gd name="T10" fmla="*/ 8 w 17"/>
                  <a:gd name="T11" fmla="*/ 0 h 17"/>
                  <a:gd name="T12" fmla="*/ 5 w 17"/>
                  <a:gd name="T13" fmla="*/ 0 h 17"/>
                  <a:gd name="T14" fmla="*/ 2 w 17"/>
                  <a:gd name="T15" fmla="*/ 5 h 17"/>
                  <a:gd name="T16" fmla="*/ 2 w 17"/>
                  <a:gd name="T17" fmla="*/ 5 h 17"/>
                  <a:gd name="T18" fmla="*/ 0 w 17"/>
                  <a:gd name="T19" fmla="*/ 10 h 17"/>
                  <a:gd name="T20" fmla="*/ 2 w 17"/>
                  <a:gd name="T21" fmla="*/ 10 h 17"/>
                  <a:gd name="T22" fmla="*/ 5 w 17"/>
                  <a:gd name="T23" fmla="*/ 16 h 17"/>
                  <a:gd name="T24" fmla="*/ 8 w 17"/>
                  <a:gd name="T25" fmla="*/ 16 h 17"/>
                  <a:gd name="T26" fmla="*/ 8 w 17"/>
                  <a:gd name="T27" fmla="*/ 16 h 17"/>
                  <a:gd name="T28" fmla="*/ 10 w 17"/>
                  <a:gd name="T29" fmla="*/ 16 h 17"/>
                  <a:gd name="T30" fmla="*/ 13 w 17"/>
                  <a:gd name="T31" fmla="*/ 16 h 17"/>
                  <a:gd name="T32" fmla="*/ 16 w 17"/>
                  <a:gd name="T33" fmla="*/ 10 h 17"/>
                  <a:gd name="T34" fmla="*/ 16 w 17"/>
                  <a:gd name="T35" fmla="*/ 10 h 17"/>
                  <a:gd name="T36" fmla="*/ 16 w 17"/>
                  <a:gd name="T3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10"/>
                    </a:moveTo>
                    <a:lnTo>
                      <a:pt x="16" y="5"/>
                    </a:lnTo>
                    <a:lnTo>
                      <a:pt x="13" y="0"/>
                    </a:lnTo>
                    <a:lnTo>
                      <a:pt x="10" y="0"/>
                    </a:lnTo>
                    <a:lnTo>
                      <a:pt x="8" y="0"/>
                    </a:lnTo>
                    <a:lnTo>
                      <a:pt x="8" y="0"/>
                    </a:lnTo>
                    <a:lnTo>
                      <a:pt x="5" y="0"/>
                    </a:lnTo>
                    <a:lnTo>
                      <a:pt x="2" y="5"/>
                    </a:lnTo>
                    <a:lnTo>
                      <a:pt x="2" y="5"/>
                    </a:lnTo>
                    <a:lnTo>
                      <a:pt x="0" y="10"/>
                    </a:lnTo>
                    <a:lnTo>
                      <a:pt x="2" y="10"/>
                    </a:lnTo>
                    <a:lnTo>
                      <a:pt x="5" y="16"/>
                    </a:lnTo>
                    <a:lnTo>
                      <a:pt x="8" y="16"/>
                    </a:lnTo>
                    <a:lnTo>
                      <a:pt x="8" y="16"/>
                    </a:lnTo>
                    <a:lnTo>
                      <a:pt x="10" y="16"/>
                    </a:lnTo>
                    <a:lnTo>
                      <a:pt x="13" y="16"/>
                    </a:lnTo>
                    <a:lnTo>
                      <a:pt x="16" y="10"/>
                    </a:lnTo>
                    <a:lnTo>
                      <a:pt x="16" y="10"/>
                    </a:lnTo>
                    <a:lnTo>
                      <a:pt x="16" y="10"/>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38" name="Freeform 298"/>
              <p:cNvSpPr/>
              <p:nvPr/>
            </p:nvSpPr>
            <p:spPr bwMode="auto">
              <a:xfrm>
                <a:off x="4462" y="2930"/>
                <a:ext cx="17" cy="17"/>
              </a:xfrm>
              <a:custGeom>
                <a:avLst/>
                <a:gdLst>
                  <a:gd name="T0" fmla="*/ 16 w 17"/>
                  <a:gd name="T1" fmla="*/ 5 h 17"/>
                  <a:gd name="T2" fmla="*/ 16 w 17"/>
                  <a:gd name="T3" fmla="*/ 5 h 17"/>
                  <a:gd name="T4" fmla="*/ 13 w 17"/>
                  <a:gd name="T5" fmla="*/ 0 h 17"/>
                  <a:gd name="T6" fmla="*/ 10 w 17"/>
                  <a:gd name="T7" fmla="*/ 0 h 17"/>
                  <a:gd name="T8" fmla="*/ 8 w 17"/>
                  <a:gd name="T9" fmla="*/ 0 h 17"/>
                  <a:gd name="T10" fmla="*/ 8 w 17"/>
                  <a:gd name="T11" fmla="*/ 0 h 17"/>
                  <a:gd name="T12" fmla="*/ 2 w 17"/>
                  <a:gd name="T13" fmla="*/ 0 h 17"/>
                  <a:gd name="T14" fmla="*/ 0 w 17"/>
                  <a:gd name="T15" fmla="*/ 5 h 17"/>
                  <a:gd name="T16" fmla="*/ 0 w 17"/>
                  <a:gd name="T17" fmla="*/ 5 h 17"/>
                  <a:gd name="T18" fmla="*/ 0 w 17"/>
                  <a:gd name="T19" fmla="*/ 10 h 17"/>
                  <a:gd name="T20" fmla="*/ 2 w 17"/>
                  <a:gd name="T21" fmla="*/ 10 h 17"/>
                  <a:gd name="T22" fmla="*/ 2 w 17"/>
                  <a:gd name="T23" fmla="*/ 16 h 17"/>
                  <a:gd name="T24" fmla="*/ 5 w 17"/>
                  <a:gd name="T25" fmla="*/ 16 h 17"/>
                  <a:gd name="T26" fmla="*/ 8 w 17"/>
                  <a:gd name="T27" fmla="*/ 16 h 17"/>
                  <a:gd name="T28" fmla="*/ 10 w 17"/>
                  <a:gd name="T29" fmla="*/ 16 h 17"/>
                  <a:gd name="T30" fmla="*/ 13 w 17"/>
                  <a:gd name="T31" fmla="*/ 16 h 17"/>
                  <a:gd name="T32" fmla="*/ 16 w 17"/>
                  <a:gd name="T33" fmla="*/ 10 h 17"/>
                  <a:gd name="T34" fmla="*/ 16 w 17"/>
                  <a:gd name="T35" fmla="*/ 10 h 17"/>
                  <a:gd name="T36" fmla="*/ 16 w 17"/>
                  <a:gd name="T37" fmla="*/ 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5"/>
                    </a:moveTo>
                    <a:lnTo>
                      <a:pt x="16" y="5"/>
                    </a:lnTo>
                    <a:lnTo>
                      <a:pt x="13" y="0"/>
                    </a:lnTo>
                    <a:lnTo>
                      <a:pt x="10" y="0"/>
                    </a:lnTo>
                    <a:lnTo>
                      <a:pt x="8" y="0"/>
                    </a:lnTo>
                    <a:lnTo>
                      <a:pt x="8" y="0"/>
                    </a:lnTo>
                    <a:lnTo>
                      <a:pt x="2" y="0"/>
                    </a:lnTo>
                    <a:lnTo>
                      <a:pt x="0" y="5"/>
                    </a:lnTo>
                    <a:lnTo>
                      <a:pt x="0" y="5"/>
                    </a:lnTo>
                    <a:lnTo>
                      <a:pt x="0" y="10"/>
                    </a:lnTo>
                    <a:lnTo>
                      <a:pt x="2" y="10"/>
                    </a:lnTo>
                    <a:lnTo>
                      <a:pt x="2" y="16"/>
                    </a:lnTo>
                    <a:lnTo>
                      <a:pt x="5" y="16"/>
                    </a:lnTo>
                    <a:lnTo>
                      <a:pt x="8" y="16"/>
                    </a:lnTo>
                    <a:lnTo>
                      <a:pt x="10" y="16"/>
                    </a:lnTo>
                    <a:lnTo>
                      <a:pt x="13" y="16"/>
                    </a:lnTo>
                    <a:lnTo>
                      <a:pt x="16" y="10"/>
                    </a:lnTo>
                    <a:lnTo>
                      <a:pt x="16" y="10"/>
                    </a:lnTo>
                    <a:lnTo>
                      <a:pt x="16" y="5"/>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39" name="Freeform 299"/>
              <p:cNvSpPr/>
              <p:nvPr/>
            </p:nvSpPr>
            <p:spPr bwMode="auto">
              <a:xfrm>
                <a:off x="4486" y="2929"/>
                <a:ext cx="17" cy="17"/>
              </a:xfrm>
              <a:custGeom>
                <a:avLst/>
                <a:gdLst>
                  <a:gd name="T0" fmla="*/ 16 w 17"/>
                  <a:gd name="T1" fmla="*/ 8 h 17"/>
                  <a:gd name="T2" fmla="*/ 12 w 17"/>
                  <a:gd name="T3" fmla="*/ 4 h 17"/>
                  <a:gd name="T4" fmla="*/ 12 w 17"/>
                  <a:gd name="T5" fmla="*/ 4 h 17"/>
                  <a:gd name="T6" fmla="*/ 12 w 17"/>
                  <a:gd name="T7" fmla="*/ 0 h 17"/>
                  <a:gd name="T8" fmla="*/ 6 w 17"/>
                  <a:gd name="T9" fmla="*/ 0 h 17"/>
                  <a:gd name="T10" fmla="*/ 3 w 17"/>
                  <a:gd name="T11" fmla="*/ 0 h 17"/>
                  <a:gd name="T12" fmla="*/ 3 w 17"/>
                  <a:gd name="T13" fmla="*/ 0 h 17"/>
                  <a:gd name="T14" fmla="*/ 0 w 17"/>
                  <a:gd name="T15" fmla="*/ 4 h 17"/>
                  <a:gd name="T16" fmla="*/ 0 w 17"/>
                  <a:gd name="T17" fmla="*/ 8 h 17"/>
                  <a:gd name="T18" fmla="*/ 0 w 17"/>
                  <a:gd name="T19" fmla="*/ 8 h 17"/>
                  <a:gd name="T20" fmla="*/ 0 w 17"/>
                  <a:gd name="T21" fmla="*/ 12 h 17"/>
                  <a:gd name="T22" fmla="*/ 3 w 17"/>
                  <a:gd name="T23" fmla="*/ 16 h 17"/>
                  <a:gd name="T24" fmla="*/ 3 w 17"/>
                  <a:gd name="T25" fmla="*/ 16 h 17"/>
                  <a:gd name="T26" fmla="*/ 6 w 17"/>
                  <a:gd name="T27" fmla="*/ 16 h 17"/>
                  <a:gd name="T28" fmla="*/ 9 w 17"/>
                  <a:gd name="T29" fmla="*/ 16 h 17"/>
                  <a:gd name="T30" fmla="*/ 12 w 17"/>
                  <a:gd name="T31" fmla="*/ 16 h 17"/>
                  <a:gd name="T32" fmla="*/ 12 w 17"/>
                  <a:gd name="T33" fmla="*/ 12 h 17"/>
                  <a:gd name="T34" fmla="*/ 16 w 17"/>
                  <a:gd name="T35" fmla="*/ 8 h 17"/>
                  <a:gd name="T36" fmla="*/ 16 w 17"/>
                  <a:gd name="T3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8"/>
                    </a:moveTo>
                    <a:lnTo>
                      <a:pt x="12" y="4"/>
                    </a:lnTo>
                    <a:lnTo>
                      <a:pt x="12" y="4"/>
                    </a:lnTo>
                    <a:lnTo>
                      <a:pt x="12" y="0"/>
                    </a:lnTo>
                    <a:lnTo>
                      <a:pt x="6" y="0"/>
                    </a:lnTo>
                    <a:lnTo>
                      <a:pt x="3" y="0"/>
                    </a:lnTo>
                    <a:lnTo>
                      <a:pt x="3" y="0"/>
                    </a:lnTo>
                    <a:lnTo>
                      <a:pt x="0" y="4"/>
                    </a:lnTo>
                    <a:lnTo>
                      <a:pt x="0" y="8"/>
                    </a:lnTo>
                    <a:lnTo>
                      <a:pt x="0" y="8"/>
                    </a:lnTo>
                    <a:lnTo>
                      <a:pt x="0" y="12"/>
                    </a:lnTo>
                    <a:lnTo>
                      <a:pt x="3" y="16"/>
                    </a:lnTo>
                    <a:lnTo>
                      <a:pt x="3" y="16"/>
                    </a:lnTo>
                    <a:lnTo>
                      <a:pt x="6" y="16"/>
                    </a:lnTo>
                    <a:lnTo>
                      <a:pt x="9" y="16"/>
                    </a:lnTo>
                    <a:lnTo>
                      <a:pt x="12" y="16"/>
                    </a:lnTo>
                    <a:lnTo>
                      <a:pt x="12" y="12"/>
                    </a:lnTo>
                    <a:lnTo>
                      <a:pt x="16" y="8"/>
                    </a:lnTo>
                    <a:lnTo>
                      <a:pt x="16" y="8"/>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40" name="Freeform 300"/>
              <p:cNvSpPr/>
              <p:nvPr/>
            </p:nvSpPr>
            <p:spPr bwMode="auto">
              <a:xfrm>
                <a:off x="4508" y="2927"/>
                <a:ext cx="17" cy="17"/>
              </a:xfrm>
              <a:custGeom>
                <a:avLst/>
                <a:gdLst>
                  <a:gd name="T0" fmla="*/ 16 w 17"/>
                  <a:gd name="T1" fmla="*/ 6 h 17"/>
                  <a:gd name="T2" fmla="*/ 13 w 17"/>
                  <a:gd name="T3" fmla="*/ 6 h 17"/>
                  <a:gd name="T4" fmla="*/ 13 w 17"/>
                  <a:gd name="T5" fmla="*/ 3 h 17"/>
                  <a:gd name="T6" fmla="*/ 10 w 17"/>
                  <a:gd name="T7" fmla="*/ 3 h 17"/>
                  <a:gd name="T8" fmla="*/ 8 w 17"/>
                  <a:gd name="T9" fmla="*/ 0 h 17"/>
                  <a:gd name="T10" fmla="*/ 8 w 17"/>
                  <a:gd name="T11" fmla="*/ 0 h 17"/>
                  <a:gd name="T12" fmla="*/ 5 w 17"/>
                  <a:gd name="T13" fmla="*/ 3 h 17"/>
                  <a:gd name="T14" fmla="*/ 0 w 17"/>
                  <a:gd name="T15" fmla="*/ 3 h 17"/>
                  <a:gd name="T16" fmla="*/ 0 w 17"/>
                  <a:gd name="T17" fmla="*/ 6 h 17"/>
                  <a:gd name="T18" fmla="*/ 0 w 17"/>
                  <a:gd name="T19" fmla="*/ 9 h 17"/>
                  <a:gd name="T20" fmla="*/ 0 w 17"/>
                  <a:gd name="T21" fmla="*/ 9 h 17"/>
                  <a:gd name="T22" fmla="*/ 5 w 17"/>
                  <a:gd name="T23" fmla="*/ 12 h 17"/>
                  <a:gd name="T24" fmla="*/ 8 w 17"/>
                  <a:gd name="T25" fmla="*/ 16 h 17"/>
                  <a:gd name="T26" fmla="*/ 8 w 17"/>
                  <a:gd name="T27" fmla="*/ 16 h 17"/>
                  <a:gd name="T28" fmla="*/ 10 w 17"/>
                  <a:gd name="T29" fmla="*/ 12 h 17"/>
                  <a:gd name="T30" fmla="*/ 13 w 17"/>
                  <a:gd name="T31" fmla="*/ 12 h 17"/>
                  <a:gd name="T32" fmla="*/ 13 w 17"/>
                  <a:gd name="T33" fmla="*/ 9 h 17"/>
                  <a:gd name="T34" fmla="*/ 16 w 17"/>
                  <a:gd name="T35" fmla="*/ 9 h 17"/>
                  <a:gd name="T36" fmla="*/ 16 w 17"/>
                  <a:gd name="T37"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17">
                    <a:moveTo>
                      <a:pt x="16" y="6"/>
                    </a:moveTo>
                    <a:lnTo>
                      <a:pt x="13" y="6"/>
                    </a:lnTo>
                    <a:lnTo>
                      <a:pt x="13" y="3"/>
                    </a:lnTo>
                    <a:lnTo>
                      <a:pt x="10" y="3"/>
                    </a:lnTo>
                    <a:lnTo>
                      <a:pt x="8" y="0"/>
                    </a:lnTo>
                    <a:lnTo>
                      <a:pt x="8" y="0"/>
                    </a:lnTo>
                    <a:lnTo>
                      <a:pt x="5" y="3"/>
                    </a:lnTo>
                    <a:lnTo>
                      <a:pt x="0" y="3"/>
                    </a:lnTo>
                    <a:lnTo>
                      <a:pt x="0" y="6"/>
                    </a:lnTo>
                    <a:lnTo>
                      <a:pt x="0" y="9"/>
                    </a:lnTo>
                    <a:lnTo>
                      <a:pt x="0" y="9"/>
                    </a:lnTo>
                    <a:lnTo>
                      <a:pt x="5" y="12"/>
                    </a:lnTo>
                    <a:lnTo>
                      <a:pt x="8" y="16"/>
                    </a:lnTo>
                    <a:lnTo>
                      <a:pt x="8" y="16"/>
                    </a:lnTo>
                    <a:lnTo>
                      <a:pt x="10" y="12"/>
                    </a:lnTo>
                    <a:lnTo>
                      <a:pt x="13" y="12"/>
                    </a:lnTo>
                    <a:lnTo>
                      <a:pt x="13" y="9"/>
                    </a:lnTo>
                    <a:lnTo>
                      <a:pt x="16" y="9"/>
                    </a:lnTo>
                    <a:lnTo>
                      <a:pt x="16" y="6"/>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41" name="Freeform 301"/>
              <p:cNvSpPr/>
              <p:nvPr/>
            </p:nvSpPr>
            <p:spPr bwMode="auto">
              <a:xfrm>
                <a:off x="4532" y="2927"/>
                <a:ext cx="17" cy="17"/>
              </a:xfrm>
              <a:custGeom>
                <a:avLst/>
                <a:gdLst>
                  <a:gd name="T0" fmla="*/ 16 w 17"/>
                  <a:gd name="T1" fmla="*/ 8 h 17"/>
                  <a:gd name="T2" fmla="*/ 16 w 17"/>
                  <a:gd name="T3" fmla="*/ 8 h 17"/>
                  <a:gd name="T4" fmla="*/ 16 w 17"/>
                  <a:gd name="T5" fmla="*/ 4 h 17"/>
                  <a:gd name="T6" fmla="*/ 12 w 17"/>
                  <a:gd name="T7" fmla="*/ 4 h 17"/>
                  <a:gd name="T8" fmla="*/ 9 w 17"/>
                  <a:gd name="T9" fmla="*/ 0 h 17"/>
                  <a:gd name="T10" fmla="*/ 6 w 17"/>
                  <a:gd name="T11" fmla="*/ 0 h 17"/>
                  <a:gd name="T12" fmla="*/ 3 w 17"/>
                  <a:gd name="T13" fmla="*/ 4 h 17"/>
                  <a:gd name="T14" fmla="*/ 0 w 17"/>
                  <a:gd name="T15" fmla="*/ 4 h 17"/>
                  <a:gd name="T16" fmla="*/ 0 w 17"/>
                  <a:gd name="T17" fmla="*/ 8 h 17"/>
                  <a:gd name="T18" fmla="*/ 0 w 17"/>
                  <a:gd name="T19" fmla="*/ 12 h 17"/>
                  <a:gd name="T20" fmla="*/ 0 w 17"/>
                  <a:gd name="T21" fmla="*/ 12 h 17"/>
                  <a:gd name="T22" fmla="*/ 3 w 17"/>
                  <a:gd name="T23" fmla="*/ 16 h 17"/>
                  <a:gd name="T24" fmla="*/ 6 w 17"/>
                  <a:gd name="T25" fmla="*/ 16 h 17"/>
                  <a:gd name="T26" fmla="*/ 9 w 17"/>
                  <a:gd name="T27" fmla="*/ 16 h 17"/>
                  <a:gd name="T28" fmla="*/ 12 w 17"/>
                  <a:gd name="T29" fmla="*/ 16 h 17"/>
                  <a:gd name="T30" fmla="*/ 16 w 17"/>
                  <a:gd name="T31" fmla="*/ 16 h 17"/>
                  <a:gd name="T32" fmla="*/ 16 w 17"/>
                  <a:gd name="T33" fmla="*/ 12 h 17"/>
                  <a:gd name="T34" fmla="*/ 16 w 17"/>
                  <a:gd name="T35"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 h="17">
                    <a:moveTo>
                      <a:pt x="16" y="8"/>
                    </a:moveTo>
                    <a:lnTo>
                      <a:pt x="16" y="8"/>
                    </a:lnTo>
                    <a:lnTo>
                      <a:pt x="16" y="4"/>
                    </a:lnTo>
                    <a:lnTo>
                      <a:pt x="12" y="4"/>
                    </a:lnTo>
                    <a:lnTo>
                      <a:pt x="9" y="0"/>
                    </a:lnTo>
                    <a:lnTo>
                      <a:pt x="6" y="0"/>
                    </a:lnTo>
                    <a:lnTo>
                      <a:pt x="3" y="4"/>
                    </a:lnTo>
                    <a:lnTo>
                      <a:pt x="0" y="4"/>
                    </a:lnTo>
                    <a:lnTo>
                      <a:pt x="0" y="8"/>
                    </a:lnTo>
                    <a:lnTo>
                      <a:pt x="0" y="12"/>
                    </a:lnTo>
                    <a:lnTo>
                      <a:pt x="0" y="12"/>
                    </a:lnTo>
                    <a:lnTo>
                      <a:pt x="3" y="16"/>
                    </a:lnTo>
                    <a:lnTo>
                      <a:pt x="6" y="16"/>
                    </a:lnTo>
                    <a:lnTo>
                      <a:pt x="9" y="16"/>
                    </a:lnTo>
                    <a:lnTo>
                      <a:pt x="12" y="16"/>
                    </a:lnTo>
                    <a:lnTo>
                      <a:pt x="16" y="16"/>
                    </a:lnTo>
                    <a:lnTo>
                      <a:pt x="16" y="12"/>
                    </a:lnTo>
                    <a:lnTo>
                      <a:pt x="16" y="8"/>
                    </a:lnTo>
                  </a:path>
                </a:pathLst>
              </a:custGeom>
              <a:solidFill>
                <a:srgbClr val="FF0000"/>
              </a:solidFill>
              <a:ln w="12700" cap="rnd" cmpd="sng">
                <a:solidFill>
                  <a:srgbClr val="FF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42" name="Freeform 302"/>
              <p:cNvSpPr/>
              <p:nvPr/>
            </p:nvSpPr>
            <p:spPr bwMode="auto">
              <a:xfrm>
                <a:off x="4535" y="2987"/>
                <a:ext cx="17" cy="122"/>
              </a:xfrm>
              <a:custGeom>
                <a:avLst/>
                <a:gdLst>
                  <a:gd name="T0" fmla="*/ 0 w 17"/>
                  <a:gd name="T1" fmla="*/ 0 h 122"/>
                  <a:gd name="T2" fmla="*/ 0 w 17"/>
                  <a:gd name="T3" fmla="*/ 42 h 122"/>
                  <a:gd name="T4" fmla="*/ 12 w 17"/>
                  <a:gd name="T5" fmla="*/ 42 h 122"/>
                  <a:gd name="T6" fmla="*/ 0 w 17"/>
                  <a:gd name="T7" fmla="*/ 47 h 122"/>
                  <a:gd name="T8" fmla="*/ 0 w 17"/>
                  <a:gd name="T9" fmla="*/ 84 h 122"/>
                  <a:gd name="T10" fmla="*/ 12 w 17"/>
                  <a:gd name="T11" fmla="*/ 84 h 122"/>
                  <a:gd name="T12" fmla="*/ 0 w 17"/>
                  <a:gd name="T13" fmla="*/ 89 h 122"/>
                  <a:gd name="T14" fmla="*/ 0 w 17"/>
                  <a:gd name="T15" fmla="*/ 121 h 122"/>
                  <a:gd name="T16" fmla="*/ 16 w 17"/>
                  <a:gd name="T17" fmla="*/ 121 h 122"/>
                  <a:gd name="T18" fmla="*/ 16 w 17"/>
                  <a:gd name="T19" fmla="*/ 0 h 122"/>
                  <a:gd name="T20" fmla="*/ 0 w 17"/>
                  <a:gd name="T21"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122">
                    <a:moveTo>
                      <a:pt x="0" y="0"/>
                    </a:moveTo>
                    <a:lnTo>
                      <a:pt x="0" y="42"/>
                    </a:lnTo>
                    <a:lnTo>
                      <a:pt x="12" y="42"/>
                    </a:lnTo>
                    <a:lnTo>
                      <a:pt x="0" y="47"/>
                    </a:lnTo>
                    <a:lnTo>
                      <a:pt x="0" y="84"/>
                    </a:lnTo>
                    <a:lnTo>
                      <a:pt x="12" y="84"/>
                    </a:lnTo>
                    <a:lnTo>
                      <a:pt x="0" y="89"/>
                    </a:lnTo>
                    <a:lnTo>
                      <a:pt x="0" y="121"/>
                    </a:lnTo>
                    <a:lnTo>
                      <a:pt x="16" y="121"/>
                    </a:lnTo>
                    <a:lnTo>
                      <a:pt x="16" y="0"/>
                    </a:lnTo>
                    <a:lnTo>
                      <a:pt x="0" y="0"/>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43" name="Freeform 303"/>
              <p:cNvSpPr/>
              <p:nvPr/>
            </p:nvSpPr>
            <p:spPr bwMode="auto">
              <a:xfrm>
                <a:off x="4561" y="3296"/>
                <a:ext cx="96" cy="45"/>
              </a:xfrm>
              <a:custGeom>
                <a:avLst/>
                <a:gdLst>
                  <a:gd name="T0" fmla="*/ 0 w 96"/>
                  <a:gd name="T1" fmla="*/ 44 h 45"/>
                  <a:gd name="T2" fmla="*/ 95 w 96"/>
                  <a:gd name="T3" fmla="*/ 35 h 45"/>
                  <a:gd name="T4" fmla="*/ 0 w 96"/>
                  <a:gd name="T5" fmla="*/ 0 h 45"/>
                  <a:gd name="T6" fmla="*/ 0 w 96"/>
                  <a:gd name="T7" fmla="*/ 44 h 45"/>
                </a:gdLst>
                <a:ahLst/>
                <a:cxnLst>
                  <a:cxn ang="0">
                    <a:pos x="T0" y="T1"/>
                  </a:cxn>
                  <a:cxn ang="0">
                    <a:pos x="T2" y="T3"/>
                  </a:cxn>
                  <a:cxn ang="0">
                    <a:pos x="T4" y="T5"/>
                  </a:cxn>
                  <a:cxn ang="0">
                    <a:pos x="T6" y="T7"/>
                  </a:cxn>
                </a:cxnLst>
                <a:rect l="0" t="0" r="r" b="b"/>
                <a:pathLst>
                  <a:path w="96" h="45">
                    <a:moveTo>
                      <a:pt x="0" y="44"/>
                    </a:moveTo>
                    <a:lnTo>
                      <a:pt x="95" y="35"/>
                    </a:lnTo>
                    <a:lnTo>
                      <a:pt x="0" y="0"/>
                    </a:lnTo>
                    <a:lnTo>
                      <a:pt x="0" y="44"/>
                    </a:lnTo>
                  </a:path>
                </a:pathLst>
              </a:custGeom>
              <a:solidFill>
                <a:srgbClr val="000000"/>
              </a:solidFill>
              <a:ln w="12700" cap="rnd" cmpd="sng">
                <a:solidFill>
                  <a:srgbClr val="000000"/>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6144" name="Text Box 304"/>
            <p:cNvSpPr txBox="1">
              <a:spLocks noChangeArrowheads="1"/>
            </p:cNvSpPr>
            <p:nvPr/>
          </p:nvSpPr>
          <p:spPr bwMode="auto">
            <a:xfrm>
              <a:off x="2208" y="2197"/>
              <a:ext cx="864"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85000"/>
                </a:lnSpc>
                <a:spcBef>
                  <a:spcPct val="25000"/>
                </a:spcBef>
              </a:pPr>
              <a:r>
                <a:rPr lang="zh-CN" altLang="en-US" b="1">
                  <a:solidFill>
                    <a:schemeClr val="accent1"/>
                  </a:solidFill>
                  <a:effectLst>
                    <a:outerShdw blurRad="38100" dist="38100" dir="2700000" algn="tl">
                      <a:srgbClr val="000000"/>
                    </a:outerShdw>
                  </a:effectLst>
                  <a:latin typeface="Arial" panose="020B0604020202020204" pitchFamily="34" charset="0"/>
                </a:rPr>
                <a:t>防火墙</a:t>
              </a:r>
              <a:endParaRPr lang="zh-CN" altLang="en-US" b="1">
                <a:solidFill>
                  <a:schemeClr val="accent1"/>
                </a:solidFill>
                <a:effectLst>
                  <a:outerShdw blurRad="38100" dist="38100" dir="2700000" algn="tl">
                    <a:srgbClr val="000000"/>
                  </a:outerShdw>
                </a:effectLst>
                <a:latin typeface="Arial" panose="020B0604020202020204" pitchFamily="34" charset="0"/>
              </a:endParaRPr>
            </a:p>
          </p:txBody>
        </p:sp>
        <p:sp>
          <p:nvSpPr>
            <p:cNvPr id="36145" name="Line 305"/>
            <p:cNvSpPr>
              <a:spLocks noChangeShapeType="1"/>
            </p:cNvSpPr>
            <p:nvPr/>
          </p:nvSpPr>
          <p:spPr bwMode="auto">
            <a:xfrm flipH="1">
              <a:off x="1776" y="2160"/>
              <a:ext cx="517" cy="469"/>
            </a:xfrm>
            <a:prstGeom prst="line">
              <a:avLst/>
            </a:prstGeom>
            <a:noFill/>
            <a:ln w="38100">
              <a:solidFill>
                <a:schemeClr val="hlink"/>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6146" name="Line 306"/>
            <p:cNvSpPr>
              <a:spLocks noChangeShapeType="1"/>
            </p:cNvSpPr>
            <p:nvPr/>
          </p:nvSpPr>
          <p:spPr bwMode="auto">
            <a:xfrm>
              <a:off x="1344" y="1717"/>
              <a:ext cx="0" cy="81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47" name="Line 307"/>
            <p:cNvSpPr>
              <a:spLocks noChangeShapeType="1"/>
            </p:cNvSpPr>
            <p:nvPr/>
          </p:nvSpPr>
          <p:spPr bwMode="auto">
            <a:xfrm rot="-5400000">
              <a:off x="2184" y="1933"/>
              <a:ext cx="0" cy="24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48" name="Line 308"/>
            <p:cNvSpPr>
              <a:spLocks noChangeShapeType="1"/>
            </p:cNvSpPr>
            <p:nvPr/>
          </p:nvSpPr>
          <p:spPr bwMode="auto">
            <a:xfrm>
              <a:off x="1824" y="1717"/>
              <a:ext cx="480" cy="240"/>
            </a:xfrm>
            <a:prstGeom prst="line">
              <a:avLst/>
            </a:prstGeom>
            <a:noFill/>
            <a:ln w="38100">
              <a:solidFill>
                <a:schemeClr val="folHlink"/>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6149" name="Text Box 309"/>
            <p:cNvSpPr txBox="1">
              <a:spLocks noChangeArrowheads="1"/>
            </p:cNvSpPr>
            <p:nvPr/>
          </p:nvSpPr>
          <p:spPr bwMode="auto">
            <a:xfrm>
              <a:off x="968" y="1093"/>
              <a:ext cx="1332"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85000"/>
                </a:lnSpc>
                <a:spcBef>
                  <a:spcPct val="25000"/>
                </a:spcBef>
              </a:pPr>
              <a:r>
                <a:rPr lang="en-US" altLang="zh-CN" b="1">
                  <a:solidFill>
                    <a:schemeClr val="accent1"/>
                  </a:solidFill>
                  <a:effectLst>
                    <a:outerShdw blurRad="38100" dist="38100" dir="2700000" algn="tl">
                      <a:srgbClr val="000000"/>
                    </a:outerShdw>
                  </a:effectLst>
                  <a:latin typeface="Arial" panose="020B0604020202020204" pitchFamily="34" charset="0"/>
                </a:rPr>
                <a:t>Web</a:t>
              </a:r>
              <a:r>
                <a:rPr lang="zh-CN" altLang="en-US" b="1">
                  <a:solidFill>
                    <a:schemeClr val="accent1"/>
                  </a:solidFill>
                  <a:effectLst>
                    <a:outerShdw blurRad="38100" dist="38100" dir="2700000" algn="tl">
                      <a:srgbClr val="000000"/>
                    </a:outerShdw>
                  </a:effectLst>
                  <a:latin typeface="Arial" panose="020B0604020202020204" pitchFamily="34" charset="0"/>
                </a:rPr>
                <a:t>服务器</a:t>
              </a:r>
              <a:endParaRPr lang="zh-CN" altLang="en-US" b="1">
                <a:solidFill>
                  <a:schemeClr val="accent1"/>
                </a:solidFill>
                <a:effectLst>
                  <a:outerShdw blurRad="38100" dist="38100" dir="2700000" algn="tl">
                    <a:srgbClr val="000000"/>
                  </a:outerShdw>
                </a:effectLst>
                <a:latin typeface="Arial" panose="020B0604020202020204" pitchFamily="34" charset="0"/>
              </a:endParaRPr>
            </a:p>
          </p:txBody>
        </p:sp>
      </p:gr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6" name="Group 2"/>
          <p:cNvGrpSpPr/>
          <p:nvPr/>
        </p:nvGrpSpPr>
        <p:grpSpPr bwMode="auto">
          <a:xfrm>
            <a:off x="1847850" y="1268414"/>
            <a:ext cx="7956550" cy="5221287"/>
            <a:chOff x="439" y="922"/>
            <a:chExt cx="5012" cy="3289"/>
          </a:xfrm>
        </p:grpSpPr>
        <p:sp>
          <p:nvSpPr>
            <p:cNvPr id="36867" name="Oval 3"/>
            <p:cNvSpPr>
              <a:spLocks noChangeArrowheads="1"/>
            </p:cNvSpPr>
            <p:nvPr/>
          </p:nvSpPr>
          <p:spPr bwMode="auto">
            <a:xfrm>
              <a:off x="3385" y="1410"/>
              <a:ext cx="2066" cy="700"/>
            </a:xfrm>
            <a:prstGeom prst="ellipse">
              <a:avLst/>
            </a:prstGeom>
            <a:gradFill rotWithShape="0">
              <a:gsLst>
                <a:gs pos="0">
                  <a:srgbClr val="FFFFFF"/>
                </a:gs>
                <a:gs pos="100000">
                  <a:srgbClr val="FFCC00"/>
                </a:gs>
              </a:gsLst>
              <a:path path="shape">
                <a:fillToRect l="50000" t="50000" r="50000" b="50000"/>
              </a:path>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 name="Line 4"/>
            <p:cNvSpPr>
              <a:spLocks noChangeShapeType="1"/>
            </p:cNvSpPr>
            <p:nvPr/>
          </p:nvSpPr>
          <p:spPr bwMode="auto">
            <a:xfrm flipV="1">
              <a:off x="3204" y="1781"/>
              <a:ext cx="1129" cy="776"/>
            </a:xfrm>
            <a:prstGeom prst="line">
              <a:avLst/>
            </a:prstGeom>
            <a:noFill/>
            <a:ln w="57150">
              <a:solidFill>
                <a:srgbClr val="0099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6869" name="Group 5"/>
            <p:cNvGrpSpPr/>
            <p:nvPr/>
          </p:nvGrpSpPr>
          <p:grpSpPr bwMode="auto">
            <a:xfrm>
              <a:off x="2631" y="2159"/>
              <a:ext cx="637" cy="1007"/>
              <a:chOff x="2604" y="768"/>
              <a:chExt cx="630" cy="996"/>
            </a:xfrm>
          </p:grpSpPr>
          <p:grpSp>
            <p:nvGrpSpPr>
              <p:cNvPr id="36870" name="Group 6"/>
              <p:cNvGrpSpPr/>
              <p:nvPr/>
            </p:nvGrpSpPr>
            <p:grpSpPr bwMode="auto">
              <a:xfrm>
                <a:off x="2814" y="1574"/>
                <a:ext cx="45" cy="64"/>
                <a:chOff x="3312" y="1728"/>
                <a:chExt cx="208" cy="240"/>
              </a:xfrm>
            </p:grpSpPr>
            <p:sp>
              <p:nvSpPr>
                <p:cNvPr id="36871" name="Oval 7"/>
                <p:cNvSpPr>
                  <a:spLocks noChangeArrowheads="1"/>
                </p:cNvSpPr>
                <p:nvPr/>
              </p:nvSpPr>
              <p:spPr bwMode="auto">
                <a:xfrm>
                  <a:off x="3312" y="1728"/>
                  <a:ext cx="208" cy="240"/>
                </a:xfrm>
                <a:prstGeom prst="ellipse">
                  <a:avLst/>
                </a:pr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2" name="AutoShape 8"/>
                <p:cNvSpPr>
                  <a:spLocks noChangeArrowheads="1"/>
                </p:cNvSpPr>
                <p:nvPr/>
              </p:nvSpPr>
              <p:spPr bwMode="auto">
                <a:xfrm flipH="1">
                  <a:off x="3408" y="1728"/>
                  <a:ext cx="112" cy="240"/>
                </a:xfrm>
                <a:prstGeom prst="moon">
                  <a:avLst>
                    <a:gd name="adj" fmla="val 66667"/>
                  </a:avLst>
                </a:prstGeom>
                <a:solidFill>
                  <a:srgbClr val="A5002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873" name="Group 9"/>
              <p:cNvGrpSpPr/>
              <p:nvPr/>
            </p:nvGrpSpPr>
            <p:grpSpPr bwMode="auto">
              <a:xfrm>
                <a:off x="2874" y="1410"/>
                <a:ext cx="360" cy="225"/>
                <a:chOff x="2736" y="2448"/>
                <a:chExt cx="384" cy="336"/>
              </a:xfrm>
            </p:grpSpPr>
            <p:sp>
              <p:nvSpPr>
                <p:cNvPr id="36874" name="Freeform 10"/>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5" name="Freeform 11"/>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6" name="Freeform 12"/>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877" name="Group 13"/>
              <p:cNvGrpSpPr/>
              <p:nvPr/>
            </p:nvGrpSpPr>
            <p:grpSpPr bwMode="auto">
              <a:xfrm>
                <a:off x="2604" y="1539"/>
                <a:ext cx="360" cy="225"/>
                <a:chOff x="2736" y="2448"/>
                <a:chExt cx="384" cy="336"/>
              </a:xfrm>
            </p:grpSpPr>
            <p:sp>
              <p:nvSpPr>
                <p:cNvPr id="36878" name="Freeform 14"/>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9" name="Freeform 15"/>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0" name="Freeform 16"/>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881" name="Group 17"/>
              <p:cNvGrpSpPr/>
              <p:nvPr/>
            </p:nvGrpSpPr>
            <p:grpSpPr bwMode="auto">
              <a:xfrm>
                <a:off x="2874" y="1282"/>
                <a:ext cx="360" cy="225"/>
                <a:chOff x="2736" y="2448"/>
                <a:chExt cx="384" cy="336"/>
              </a:xfrm>
            </p:grpSpPr>
            <p:sp>
              <p:nvSpPr>
                <p:cNvPr id="36882" name="Freeform 18"/>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3" name="Freeform 19"/>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4" name="Freeform 20"/>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885" name="Group 21"/>
              <p:cNvGrpSpPr/>
              <p:nvPr/>
            </p:nvGrpSpPr>
            <p:grpSpPr bwMode="auto">
              <a:xfrm>
                <a:off x="2604" y="1410"/>
                <a:ext cx="360" cy="225"/>
                <a:chOff x="2736" y="2448"/>
                <a:chExt cx="384" cy="336"/>
              </a:xfrm>
            </p:grpSpPr>
            <p:sp>
              <p:nvSpPr>
                <p:cNvPr id="36886" name="Freeform 22"/>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7" name="Freeform 23"/>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8" name="Freeform 24"/>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889" name="Group 25"/>
              <p:cNvGrpSpPr/>
              <p:nvPr/>
            </p:nvGrpSpPr>
            <p:grpSpPr bwMode="auto">
              <a:xfrm>
                <a:off x="2874" y="1153"/>
                <a:ext cx="360" cy="225"/>
                <a:chOff x="2736" y="2448"/>
                <a:chExt cx="384" cy="336"/>
              </a:xfrm>
            </p:grpSpPr>
            <p:sp>
              <p:nvSpPr>
                <p:cNvPr id="36890" name="Freeform 26"/>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1" name="Freeform 27"/>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2" name="Freeform 28"/>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893" name="Group 29"/>
              <p:cNvGrpSpPr/>
              <p:nvPr/>
            </p:nvGrpSpPr>
            <p:grpSpPr bwMode="auto">
              <a:xfrm>
                <a:off x="2604" y="1282"/>
                <a:ext cx="360" cy="225"/>
                <a:chOff x="2736" y="2448"/>
                <a:chExt cx="384" cy="336"/>
              </a:xfrm>
            </p:grpSpPr>
            <p:sp>
              <p:nvSpPr>
                <p:cNvPr id="36894" name="Freeform 30"/>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5" name="Freeform 31"/>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6" name="Freeform 32"/>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897" name="Group 33"/>
              <p:cNvGrpSpPr/>
              <p:nvPr/>
            </p:nvGrpSpPr>
            <p:grpSpPr bwMode="auto">
              <a:xfrm>
                <a:off x="2874" y="1025"/>
                <a:ext cx="360" cy="225"/>
                <a:chOff x="2736" y="2448"/>
                <a:chExt cx="384" cy="336"/>
              </a:xfrm>
            </p:grpSpPr>
            <p:sp>
              <p:nvSpPr>
                <p:cNvPr id="36898" name="Freeform 34"/>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9" name="Freeform 35"/>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0" name="Freeform 36"/>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901" name="Group 37"/>
              <p:cNvGrpSpPr/>
              <p:nvPr/>
            </p:nvGrpSpPr>
            <p:grpSpPr bwMode="auto">
              <a:xfrm>
                <a:off x="2604" y="1153"/>
                <a:ext cx="360" cy="225"/>
                <a:chOff x="2736" y="2448"/>
                <a:chExt cx="384" cy="336"/>
              </a:xfrm>
            </p:grpSpPr>
            <p:sp>
              <p:nvSpPr>
                <p:cNvPr id="36902" name="Freeform 38"/>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3" name="Freeform 39"/>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4" name="Freeform 40"/>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905" name="Group 41"/>
              <p:cNvGrpSpPr/>
              <p:nvPr/>
            </p:nvGrpSpPr>
            <p:grpSpPr bwMode="auto">
              <a:xfrm>
                <a:off x="2874" y="896"/>
                <a:ext cx="360" cy="225"/>
                <a:chOff x="2736" y="2448"/>
                <a:chExt cx="384" cy="336"/>
              </a:xfrm>
            </p:grpSpPr>
            <p:sp>
              <p:nvSpPr>
                <p:cNvPr id="36906" name="Freeform 42"/>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7" name="Freeform 43"/>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8" name="Freeform 44"/>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909" name="Group 45"/>
              <p:cNvGrpSpPr/>
              <p:nvPr/>
            </p:nvGrpSpPr>
            <p:grpSpPr bwMode="auto">
              <a:xfrm>
                <a:off x="2604" y="1025"/>
                <a:ext cx="360" cy="225"/>
                <a:chOff x="2736" y="2448"/>
                <a:chExt cx="384" cy="336"/>
              </a:xfrm>
            </p:grpSpPr>
            <p:sp>
              <p:nvSpPr>
                <p:cNvPr id="36910" name="Freeform 46"/>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1" name="Freeform 47"/>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2" name="Freeform 48"/>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913" name="Group 49"/>
              <p:cNvGrpSpPr/>
              <p:nvPr/>
            </p:nvGrpSpPr>
            <p:grpSpPr bwMode="auto">
              <a:xfrm>
                <a:off x="2874" y="768"/>
                <a:ext cx="360" cy="225"/>
                <a:chOff x="2736" y="2448"/>
                <a:chExt cx="384" cy="336"/>
              </a:xfrm>
            </p:grpSpPr>
            <p:sp>
              <p:nvSpPr>
                <p:cNvPr id="36914" name="Freeform 50"/>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5" name="Freeform 51"/>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6" name="Freeform 52"/>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917" name="Group 53"/>
              <p:cNvGrpSpPr/>
              <p:nvPr/>
            </p:nvGrpSpPr>
            <p:grpSpPr bwMode="auto">
              <a:xfrm>
                <a:off x="2604" y="896"/>
                <a:ext cx="360" cy="225"/>
                <a:chOff x="2736" y="2448"/>
                <a:chExt cx="384" cy="336"/>
              </a:xfrm>
            </p:grpSpPr>
            <p:sp>
              <p:nvSpPr>
                <p:cNvPr id="36918" name="Freeform 54"/>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9" name="Freeform 55"/>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0" name="Freeform 56"/>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36921" name="Text Box 57"/>
            <p:cNvSpPr txBox="1">
              <a:spLocks noChangeArrowheads="1"/>
            </p:cNvSpPr>
            <p:nvPr/>
          </p:nvSpPr>
          <p:spPr bwMode="auto">
            <a:xfrm>
              <a:off x="2484" y="3280"/>
              <a:ext cx="613"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000" b="1">
                  <a:solidFill>
                    <a:srgbClr val="CC0000"/>
                  </a:solidFill>
                  <a:latin typeface="Arial" panose="020B0604020202020204" pitchFamily="34" charset="0"/>
                </a:rPr>
                <a:t>防火墙</a:t>
              </a:r>
              <a:endParaRPr lang="zh-CN" altLang="en-US" sz="2000" b="1">
                <a:solidFill>
                  <a:srgbClr val="CC0000"/>
                </a:solidFill>
                <a:latin typeface="Arial" panose="020B0604020202020204" pitchFamily="34" charset="0"/>
              </a:endParaRPr>
            </a:p>
          </p:txBody>
        </p:sp>
        <p:sp>
          <p:nvSpPr>
            <p:cNvPr id="36922" name="Freeform 58"/>
            <p:cNvSpPr/>
            <p:nvPr/>
          </p:nvSpPr>
          <p:spPr bwMode="auto">
            <a:xfrm>
              <a:off x="2676" y="2922"/>
              <a:ext cx="2580" cy="636"/>
            </a:xfrm>
            <a:custGeom>
              <a:avLst/>
              <a:gdLst>
                <a:gd name="T0" fmla="*/ 0 w 2580"/>
                <a:gd name="T1" fmla="*/ 0 h 636"/>
                <a:gd name="T2" fmla="*/ 2580 w 2580"/>
                <a:gd name="T3" fmla="*/ 636 h 636"/>
              </a:gdLst>
              <a:ahLst/>
              <a:cxnLst>
                <a:cxn ang="0">
                  <a:pos x="T0" y="T1"/>
                </a:cxn>
                <a:cxn ang="0">
                  <a:pos x="T2" y="T3"/>
                </a:cxn>
              </a:cxnLst>
              <a:rect l="0" t="0" r="r" b="b"/>
              <a:pathLst>
                <a:path w="2580" h="636">
                  <a:moveTo>
                    <a:pt x="0" y="0"/>
                  </a:moveTo>
                  <a:lnTo>
                    <a:pt x="2580" y="636"/>
                  </a:lnTo>
                </a:path>
              </a:pathLst>
            </a:custGeom>
            <a:noFill/>
            <a:ln w="57150">
              <a:solidFill>
                <a:srgbClr val="009999"/>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3" name="Line 59"/>
            <p:cNvSpPr>
              <a:spLocks noChangeShapeType="1"/>
            </p:cNvSpPr>
            <p:nvPr/>
          </p:nvSpPr>
          <p:spPr bwMode="auto">
            <a:xfrm>
              <a:off x="996" y="2540"/>
              <a:ext cx="1824" cy="417"/>
            </a:xfrm>
            <a:prstGeom prst="line">
              <a:avLst/>
            </a:prstGeom>
            <a:noFill/>
            <a:ln w="57150">
              <a:solidFill>
                <a:srgbClr val="0099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6924" name="Line 60"/>
            <p:cNvSpPr>
              <a:spLocks noChangeShapeType="1"/>
            </p:cNvSpPr>
            <p:nvPr/>
          </p:nvSpPr>
          <p:spPr bwMode="auto">
            <a:xfrm flipV="1">
              <a:off x="4116" y="3402"/>
              <a:ext cx="352" cy="211"/>
            </a:xfrm>
            <a:prstGeom prst="line">
              <a:avLst/>
            </a:prstGeom>
            <a:noFill/>
            <a:ln w="57150">
              <a:solidFill>
                <a:srgbClr val="0099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5" name="Line 61"/>
            <p:cNvSpPr>
              <a:spLocks noChangeShapeType="1"/>
            </p:cNvSpPr>
            <p:nvPr/>
          </p:nvSpPr>
          <p:spPr bwMode="auto">
            <a:xfrm flipV="1">
              <a:off x="4932" y="3546"/>
              <a:ext cx="352" cy="211"/>
            </a:xfrm>
            <a:prstGeom prst="line">
              <a:avLst/>
            </a:prstGeom>
            <a:noFill/>
            <a:ln w="57150">
              <a:solidFill>
                <a:srgbClr val="0099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6926" name="Group 62"/>
            <p:cNvGrpSpPr/>
            <p:nvPr/>
          </p:nvGrpSpPr>
          <p:grpSpPr bwMode="auto">
            <a:xfrm>
              <a:off x="3442" y="3040"/>
              <a:ext cx="914" cy="812"/>
              <a:chOff x="564" y="2496"/>
              <a:chExt cx="1166" cy="1036"/>
            </a:xfrm>
          </p:grpSpPr>
          <p:grpSp>
            <p:nvGrpSpPr>
              <p:cNvPr id="36927" name="Group 63"/>
              <p:cNvGrpSpPr/>
              <p:nvPr/>
            </p:nvGrpSpPr>
            <p:grpSpPr bwMode="auto">
              <a:xfrm>
                <a:off x="564" y="3254"/>
                <a:ext cx="744" cy="278"/>
                <a:chOff x="2039" y="1896"/>
                <a:chExt cx="859" cy="357"/>
              </a:xfrm>
            </p:grpSpPr>
            <p:sp>
              <p:nvSpPr>
                <p:cNvPr id="36928" name="Freeform 64"/>
                <p:cNvSpPr/>
                <p:nvPr/>
              </p:nvSpPr>
              <p:spPr bwMode="auto">
                <a:xfrm>
                  <a:off x="2039" y="1911"/>
                  <a:ext cx="171" cy="342"/>
                </a:xfrm>
                <a:custGeom>
                  <a:avLst/>
                  <a:gdLst>
                    <a:gd name="T0" fmla="*/ 872 w 872"/>
                    <a:gd name="T1" fmla="*/ 178 h 366"/>
                    <a:gd name="T2" fmla="*/ 872 w 872"/>
                    <a:gd name="T3" fmla="*/ 246 h 366"/>
                    <a:gd name="T4" fmla="*/ 682 w 872"/>
                    <a:gd name="T5" fmla="*/ 366 h 366"/>
                    <a:gd name="T6" fmla="*/ 0 w 872"/>
                    <a:gd name="T7" fmla="*/ 170 h 366"/>
                    <a:gd name="T8" fmla="*/ 0 w 872"/>
                    <a:gd name="T9" fmla="*/ 142 h 366"/>
                    <a:gd name="T10" fmla="*/ 230 w 872"/>
                    <a:gd name="T11" fmla="*/ 0 h 366"/>
                    <a:gd name="T12" fmla="*/ 872 w 872"/>
                    <a:gd name="T13" fmla="*/ 178 h 366"/>
                  </a:gdLst>
                  <a:ahLst/>
                  <a:cxnLst>
                    <a:cxn ang="0">
                      <a:pos x="T0" y="T1"/>
                    </a:cxn>
                    <a:cxn ang="0">
                      <a:pos x="T2" y="T3"/>
                    </a:cxn>
                    <a:cxn ang="0">
                      <a:pos x="T4" y="T5"/>
                    </a:cxn>
                    <a:cxn ang="0">
                      <a:pos x="T6" y="T7"/>
                    </a:cxn>
                    <a:cxn ang="0">
                      <a:pos x="T8" y="T9"/>
                    </a:cxn>
                    <a:cxn ang="0">
                      <a:pos x="T10" y="T11"/>
                    </a:cxn>
                    <a:cxn ang="0">
                      <a:pos x="T12" y="T13"/>
                    </a:cxn>
                  </a:cxnLst>
                  <a:rect l="0" t="0" r="r" b="b"/>
                  <a:pathLst>
                    <a:path w="872" h="366">
                      <a:moveTo>
                        <a:pt x="872" y="178"/>
                      </a:moveTo>
                      <a:lnTo>
                        <a:pt x="872" y="246"/>
                      </a:lnTo>
                      <a:lnTo>
                        <a:pt x="682" y="366"/>
                      </a:lnTo>
                      <a:lnTo>
                        <a:pt x="0" y="170"/>
                      </a:lnTo>
                      <a:lnTo>
                        <a:pt x="0" y="142"/>
                      </a:lnTo>
                      <a:lnTo>
                        <a:pt x="230" y="0"/>
                      </a:lnTo>
                      <a:lnTo>
                        <a:pt x="872" y="178"/>
                      </a:lnTo>
                      <a:close/>
                    </a:path>
                  </a:pathLst>
                </a:custGeom>
                <a:gradFill rotWithShape="0">
                  <a:gsLst>
                    <a:gs pos="0">
                      <a:srgbClr val="B2B2B2"/>
                    </a:gs>
                    <a:gs pos="100000">
                      <a:srgbClr val="B2B2B2">
                        <a:gamma/>
                        <a:tint val="34118"/>
                        <a:invGamma/>
                      </a:srgbClr>
                    </a:gs>
                  </a:gsLst>
                  <a:path path="rect">
                    <a:fillToRect l="100000" t="100000"/>
                  </a:path>
                </a:grad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6929" name="Freeform 65"/>
                <p:cNvSpPr/>
                <p:nvPr/>
              </p:nvSpPr>
              <p:spPr bwMode="auto">
                <a:xfrm>
                  <a:off x="2054" y="1896"/>
                  <a:ext cx="171" cy="342"/>
                </a:xfrm>
                <a:custGeom>
                  <a:avLst/>
                  <a:gdLst>
                    <a:gd name="T0" fmla="*/ 848 w 848"/>
                    <a:gd name="T1" fmla="*/ 174 h 324"/>
                    <a:gd name="T2" fmla="*/ 216 w 848"/>
                    <a:gd name="T3" fmla="*/ 0 h 324"/>
                    <a:gd name="T4" fmla="*/ 0 w 848"/>
                    <a:gd name="T5" fmla="*/ 134 h 324"/>
                    <a:gd name="T6" fmla="*/ 666 w 848"/>
                    <a:gd name="T7" fmla="*/ 324 h 324"/>
                    <a:gd name="T8" fmla="*/ 848 w 848"/>
                    <a:gd name="T9" fmla="*/ 174 h 324"/>
                  </a:gdLst>
                  <a:ahLst/>
                  <a:cxnLst>
                    <a:cxn ang="0">
                      <a:pos x="T0" y="T1"/>
                    </a:cxn>
                    <a:cxn ang="0">
                      <a:pos x="T2" y="T3"/>
                    </a:cxn>
                    <a:cxn ang="0">
                      <a:pos x="T4" y="T5"/>
                    </a:cxn>
                    <a:cxn ang="0">
                      <a:pos x="T6" y="T7"/>
                    </a:cxn>
                    <a:cxn ang="0">
                      <a:pos x="T8" y="T9"/>
                    </a:cxn>
                  </a:cxnLst>
                  <a:rect l="0" t="0" r="r" b="b"/>
                  <a:pathLst>
                    <a:path w="848" h="324">
                      <a:moveTo>
                        <a:pt x="848" y="174"/>
                      </a:moveTo>
                      <a:lnTo>
                        <a:pt x="216" y="0"/>
                      </a:lnTo>
                      <a:lnTo>
                        <a:pt x="0" y="134"/>
                      </a:lnTo>
                      <a:lnTo>
                        <a:pt x="666" y="324"/>
                      </a:lnTo>
                      <a:lnTo>
                        <a:pt x="848" y="174"/>
                      </a:lnTo>
                      <a:close/>
                    </a:path>
                  </a:pathLst>
                </a:custGeom>
                <a:solidFill>
                  <a:schemeClr val="bg1"/>
                </a:solidFill>
                <a:ln>
                  <a:noFill/>
                </a:ln>
                <a:effectLst/>
                <a:extLst>
                  <a:ext uri="{91240B29-F687-4F45-9708-019B960494DF}">
                    <a14:hiddenLine xmlns:a14="http://schemas.microsoft.com/office/drawing/2010/main" w="317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6930" name="Freeform 66"/>
                <p:cNvSpPr/>
                <p:nvPr/>
              </p:nvSpPr>
              <p:spPr bwMode="auto">
                <a:xfrm>
                  <a:off x="2282" y="1910"/>
                  <a:ext cx="522" cy="151"/>
                </a:xfrm>
                <a:custGeom>
                  <a:avLst/>
                  <a:gdLst>
                    <a:gd name="T0" fmla="*/ 0 w 477"/>
                    <a:gd name="T1" fmla="*/ 12 h 138"/>
                    <a:gd name="T2" fmla="*/ 456 w 477"/>
                    <a:gd name="T3" fmla="*/ 138 h 138"/>
                    <a:gd name="T4" fmla="*/ 477 w 477"/>
                    <a:gd name="T5" fmla="*/ 125 h 138"/>
                    <a:gd name="T6" fmla="*/ 20 w 477"/>
                    <a:gd name="T7" fmla="*/ 0 h 138"/>
                  </a:gdLst>
                  <a:ahLst/>
                  <a:cxnLst>
                    <a:cxn ang="0">
                      <a:pos x="T0" y="T1"/>
                    </a:cxn>
                    <a:cxn ang="0">
                      <a:pos x="T2" y="T3"/>
                    </a:cxn>
                    <a:cxn ang="0">
                      <a:pos x="T4" y="T5"/>
                    </a:cxn>
                    <a:cxn ang="0">
                      <a:pos x="T6" y="T7"/>
                    </a:cxn>
                  </a:cxnLst>
                  <a:rect l="0" t="0" r="r" b="b"/>
                  <a:pathLst>
                    <a:path w="477" h="138">
                      <a:moveTo>
                        <a:pt x="0" y="12"/>
                      </a:moveTo>
                      <a:lnTo>
                        <a:pt x="456" y="138"/>
                      </a:lnTo>
                      <a:lnTo>
                        <a:pt x="477" y="125"/>
                      </a:lnTo>
                      <a:lnTo>
                        <a:pt x="2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31" name="Freeform 67"/>
                <p:cNvSpPr/>
                <p:nvPr/>
              </p:nvSpPr>
              <p:spPr bwMode="auto">
                <a:xfrm>
                  <a:off x="2132" y="1941"/>
                  <a:ext cx="543" cy="193"/>
                </a:xfrm>
                <a:custGeom>
                  <a:avLst/>
                  <a:gdLst>
                    <a:gd name="T0" fmla="*/ 0 w 496"/>
                    <a:gd name="T1" fmla="*/ 66 h 177"/>
                    <a:gd name="T2" fmla="*/ 21 w 496"/>
                    <a:gd name="T3" fmla="*/ 73 h 177"/>
                    <a:gd name="T4" fmla="*/ 45 w 496"/>
                    <a:gd name="T5" fmla="*/ 61 h 177"/>
                    <a:gd name="T6" fmla="*/ 60 w 496"/>
                    <a:gd name="T7" fmla="*/ 66 h 177"/>
                    <a:gd name="T8" fmla="*/ 45 w 496"/>
                    <a:gd name="T9" fmla="*/ 80 h 177"/>
                    <a:gd name="T10" fmla="*/ 344 w 496"/>
                    <a:gd name="T11" fmla="*/ 163 h 177"/>
                    <a:gd name="T12" fmla="*/ 360 w 496"/>
                    <a:gd name="T13" fmla="*/ 151 h 177"/>
                    <a:gd name="T14" fmla="*/ 386 w 496"/>
                    <a:gd name="T15" fmla="*/ 158 h 177"/>
                    <a:gd name="T16" fmla="*/ 370 w 496"/>
                    <a:gd name="T17" fmla="*/ 170 h 177"/>
                    <a:gd name="T18" fmla="*/ 396 w 496"/>
                    <a:gd name="T19" fmla="*/ 177 h 177"/>
                    <a:gd name="T20" fmla="*/ 496 w 496"/>
                    <a:gd name="T21" fmla="*/ 106 h 177"/>
                    <a:gd name="T22" fmla="*/ 111 w 496"/>
                    <a:gd name="T23" fmla="*/ 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6" h="177">
                      <a:moveTo>
                        <a:pt x="0" y="66"/>
                      </a:moveTo>
                      <a:lnTo>
                        <a:pt x="21" y="73"/>
                      </a:lnTo>
                      <a:lnTo>
                        <a:pt x="45" y="61"/>
                      </a:lnTo>
                      <a:lnTo>
                        <a:pt x="60" y="66"/>
                      </a:lnTo>
                      <a:lnTo>
                        <a:pt x="45" y="80"/>
                      </a:lnTo>
                      <a:lnTo>
                        <a:pt x="344" y="163"/>
                      </a:lnTo>
                      <a:lnTo>
                        <a:pt x="360" y="151"/>
                      </a:lnTo>
                      <a:lnTo>
                        <a:pt x="386" y="158"/>
                      </a:lnTo>
                      <a:lnTo>
                        <a:pt x="370" y="170"/>
                      </a:lnTo>
                      <a:lnTo>
                        <a:pt x="396" y="177"/>
                      </a:lnTo>
                      <a:lnTo>
                        <a:pt x="496" y="106"/>
                      </a:lnTo>
                      <a:lnTo>
                        <a:pt x="111"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32" name="Freeform 68"/>
                <p:cNvSpPr/>
                <p:nvPr/>
              </p:nvSpPr>
              <p:spPr bwMode="auto">
                <a:xfrm>
                  <a:off x="2657" y="2066"/>
                  <a:ext cx="118" cy="48"/>
                </a:xfrm>
                <a:custGeom>
                  <a:avLst/>
                  <a:gdLst>
                    <a:gd name="T0" fmla="*/ 40 w 108"/>
                    <a:gd name="T1" fmla="*/ 0 h 44"/>
                    <a:gd name="T2" fmla="*/ 107 w 108"/>
                    <a:gd name="T3" fmla="*/ 17 h 44"/>
                    <a:gd name="T4" fmla="*/ 69 w 108"/>
                    <a:gd name="T5" fmla="*/ 43 h 44"/>
                    <a:gd name="T6" fmla="*/ 0 w 108"/>
                    <a:gd name="T7" fmla="*/ 25 h 44"/>
                    <a:gd name="T8" fmla="*/ 40 w 108"/>
                    <a:gd name="T9" fmla="*/ 0 h 44"/>
                  </a:gdLst>
                  <a:ahLst/>
                  <a:cxnLst>
                    <a:cxn ang="0">
                      <a:pos x="T0" y="T1"/>
                    </a:cxn>
                    <a:cxn ang="0">
                      <a:pos x="T2" y="T3"/>
                    </a:cxn>
                    <a:cxn ang="0">
                      <a:pos x="T4" y="T5"/>
                    </a:cxn>
                    <a:cxn ang="0">
                      <a:pos x="T6" y="T7"/>
                    </a:cxn>
                    <a:cxn ang="0">
                      <a:pos x="T8" y="T9"/>
                    </a:cxn>
                  </a:cxnLst>
                  <a:rect l="0" t="0" r="r" b="b"/>
                  <a:pathLst>
                    <a:path w="108" h="44">
                      <a:moveTo>
                        <a:pt x="40" y="0"/>
                      </a:moveTo>
                      <a:lnTo>
                        <a:pt x="107" y="17"/>
                      </a:lnTo>
                      <a:lnTo>
                        <a:pt x="69" y="43"/>
                      </a:lnTo>
                      <a:lnTo>
                        <a:pt x="0" y="25"/>
                      </a:lnTo>
                      <a:lnTo>
                        <a:pt x="4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33" name="Freeform 69"/>
                <p:cNvSpPr/>
                <p:nvPr/>
              </p:nvSpPr>
              <p:spPr bwMode="auto">
                <a:xfrm>
                  <a:off x="2590" y="2118"/>
                  <a:ext cx="106" cy="46"/>
                </a:xfrm>
                <a:custGeom>
                  <a:avLst/>
                  <a:gdLst>
                    <a:gd name="T0" fmla="*/ 21 w 97"/>
                    <a:gd name="T1" fmla="*/ 7 h 42"/>
                    <a:gd name="T2" fmla="*/ 46 w 97"/>
                    <a:gd name="T3" fmla="*/ 11 h 42"/>
                    <a:gd name="T4" fmla="*/ 60 w 97"/>
                    <a:gd name="T5" fmla="*/ 0 h 42"/>
                    <a:gd name="T6" fmla="*/ 84 w 97"/>
                    <a:gd name="T7" fmla="*/ 8 h 42"/>
                    <a:gd name="T8" fmla="*/ 72 w 97"/>
                    <a:gd name="T9" fmla="*/ 19 h 42"/>
                    <a:gd name="T10" fmla="*/ 96 w 97"/>
                    <a:gd name="T11" fmla="*/ 25 h 42"/>
                    <a:gd name="T12" fmla="*/ 77 w 97"/>
                    <a:gd name="T13" fmla="*/ 41 h 42"/>
                    <a:gd name="T14" fmla="*/ 0 w 97"/>
                    <a:gd name="T15" fmla="*/ 21 h 42"/>
                    <a:gd name="T16" fmla="*/ 21 w 97"/>
                    <a:gd name="T17" fmla="*/ 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42">
                      <a:moveTo>
                        <a:pt x="21" y="7"/>
                      </a:moveTo>
                      <a:lnTo>
                        <a:pt x="46" y="11"/>
                      </a:lnTo>
                      <a:lnTo>
                        <a:pt x="60" y="0"/>
                      </a:lnTo>
                      <a:lnTo>
                        <a:pt x="84" y="8"/>
                      </a:lnTo>
                      <a:lnTo>
                        <a:pt x="72" y="19"/>
                      </a:lnTo>
                      <a:lnTo>
                        <a:pt x="96" y="25"/>
                      </a:lnTo>
                      <a:lnTo>
                        <a:pt x="77" y="41"/>
                      </a:lnTo>
                      <a:lnTo>
                        <a:pt x="0" y="21"/>
                      </a:lnTo>
                      <a:lnTo>
                        <a:pt x="21" y="7"/>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34" name="Freeform 70"/>
                <p:cNvSpPr/>
                <p:nvPr/>
              </p:nvSpPr>
              <p:spPr bwMode="auto">
                <a:xfrm>
                  <a:off x="2695" y="2087"/>
                  <a:ext cx="203" cy="107"/>
                </a:xfrm>
                <a:custGeom>
                  <a:avLst/>
                  <a:gdLst>
                    <a:gd name="T0" fmla="*/ 101 w 185"/>
                    <a:gd name="T1" fmla="*/ 0 h 97"/>
                    <a:gd name="T2" fmla="*/ 185 w 185"/>
                    <a:gd name="T3" fmla="*/ 22 h 97"/>
                    <a:gd name="T4" fmla="*/ 83 w 185"/>
                    <a:gd name="T5" fmla="*/ 97 h 97"/>
                    <a:gd name="T6" fmla="*/ 0 w 185"/>
                    <a:gd name="T7" fmla="*/ 74 h 97"/>
                    <a:gd name="T8" fmla="*/ 101 w 185"/>
                    <a:gd name="T9" fmla="*/ 0 h 97"/>
                  </a:gdLst>
                  <a:ahLst/>
                  <a:cxnLst>
                    <a:cxn ang="0">
                      <a:pos x="T0" y="T1"/>
                    </a:cxn>
                    <a:cxn ang="0">
                      <a:pos x="T2" y="T3"/>
                    </a:cxn>
                    <a:cxn ang="0">
                      <a:pos x="T4" y="T5"/>
                    </a:cxn>
                    <a:cxn ang="0">
                      <a:pos x="T6" y="T7"/>
                    </a:cxn>
                    <a:cxn ang="0">
                      <a:pos x="T8" y="T9"/>
                    </a:cxn>
                  </a:cxnLst>
                  <a:rect l="0" t="0" r="r" b="b"/>
                  <a:pathLst>
                    <a:path w="185" h="97">
                      <a:moveTo>
                        <a:pt x="101" y="0"/>
                      </a:moveTo>
                      <a:lnTo>
                        <a:pt x="185" y="22"/>
                      </a:lnTo>
                      <a:lnTo>
                        <a:pt x="83" y="97"/>
                      </a:lnTo>
                      <a:lnTo>
                        <a:pt x="0" y="74"/>
                      </a:lnTo>
                      <a:lnTo>
                        <a:pt x="101"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935" name="Group 71"/>
              <p:cNvGrpSpPr/>
              <p:nvPr/>
            </p:nvGrpSpPr>
            <p:grpSpPr bwMode="auto">
              <a:xfrm>
                <a:off x="816" y="2496"/>
                <a:ext cx="914" cy="940"/>
                <a:chOff x="4132" y="924"/>
                <a:chExt cx="1055" cy="1205"/>
              </a:xfrm>
            </p:grpSpPr>
            <p:grpSp>
              <p:nvGrpSpPr>
                <p:cNvPr id="36936" name="Group 72"/>
                <p:cNvGrpSpPr/>
                <p:nvPr/>
              </p:nvGrpSpPr>
              <p:grpSpPr bwMode="auto">
                <a:xfrm>
                  <a:off x="4132" y="1490"/>
                  <a:ext cx="1055" cy="639"/>
                  <a:chOff x="4132" y="1490"/>
                  <a:chExt cx="1055" cy="639"/>
                </a:xfrm>
              </p:grpSpPr>
              <p:sp>
                <p:nvSpPr>
                  <p:cNvPr id="36937" name="Freeform 73"/>
                  <p:cNvSpPr>
                    <a:spLocks noChangeAspect="1"/>
                  </p:cNvSpPr>
                  <p:nvPr/>
                </p:nvSpPr>
                <p:spPr bwMode="auto">
                  <a:xfrm>
                    <a:off x="4823" y="1647"/>
                    <a:ext cx="364" cy="422"/>
                  </a:xfrm>
                  <a:custGeom>
                    <a:avLst/>
                    <a:gdLst>
                      <a:gd name="T0" fmla="*/ 3 w 364"/>
                      <a:gd name="T1" fmla="*/ 212 h 422"/>
                      <a:gd name="T2" fmla="*/ 364 w 364"/>
                      <a:gd name="T3" fmla="*/ 0 h 422"/>
                      <a:gd name="T4" fmla="*/ 363 w 364"/>
                      <a:gd name="T5" fmla="*/ 191 h 422"/>
                      <a:gd name="T6" fmla="*/ 0 w 364"/>
                      <a:gd name="T7" fmla="*/ 422 h 422"/>
                    </a:gdLst>
                    <a:ahLst/>
                    <a:cxnLst>
                      <a:cxn ang="0">
                        <a:pos x="T0" y="T1"/>
                      </a:cxn>
                      <a:cxn ang="0">
                        <a:pos x="T2" y="T3"/>
                      </a:cxn>
                      <a:cxn ang="0">
                        <a:pos x="T4" y="T5"/>
                      </a:cxn>
                      <a:cxn ang="0">
                        <a:pos x="T6" y="T7"/>
                      </a:cxn>
                    </a:cxnLst>
                    <a:rect l="0" t="0" r="r" b="b"/>
                    <a:pathLst>
                      <a:path w="364" h="422">
                        <a:moveTo>
                          <a:pt x="3" y="212"/>
                        </a:moveTo>
                        <a:lnTo>
                          <a:pt x="364" y="0"/>
                        </a:lnTo>
                        <a:lnTo>
                          <a:pt x="363" y="191"/>
                        </a:lnTo>
                        <a:lnTo>
                          <a:pt x="0" y="422"/>
                        </a:lnTo>
                      </a:path>
                    </a:pathLst>
                  </a:custGeom>
                  <a:gradFill rotWithShape="0">
                    <a:gsLst>
                      <a:gs pos="0">
                        <a:srgbClr val="B2B2B2"/>
                      </a:gs>
                      <a:gs pos="100000">
                        <a:srgbClr val="B2B2B2">
                          <a:gamma/>
                          <a:tint val="34118"/>
                          <a:invGamma/>
                        </a:srgbClr>
                      </a:gs>
                    </a:gsLst>
                    <a:path path="rect">
                      <a:fillToRect l="100000" t="100000"/>
                    </a:path>
                  </a:gra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38" name="Freeform 74"/>
                  <p:cNvSpPr>
                    <a:spLocks noChangeAspect="1"/>
                  </p:cNvSpPr>
                  <p:nvPr/>
                </p:nvSpPr>
                <p:spPr bwMode="auto">
                  <a:xfrm>
                    <a:off x="4133" y="1490"/>
                    <a:ext cx="1054" cy="374"/>
                  </a:xfrm>
                  <a:custGeom>
                    <a:avLst/>
                    <a:gdLst>
                      <a:gd name="T0" fmla="*/ 691 w 1054"/>
                      <a:gd name="T1" fmla="*/ 374 h 374"/>
                      <a:gd name="T2" fmla="*/ 0 w 1054"/>
                      <a:gd name="T3" fmla="*/ 191 h 374"/>
                      <a:gd name="T4" fmla="*/ 363 w 1054"/>
                      <a:gd name="T5" fmla="*/ 0 h 374"/>
                      <a:gd name="T6" fmla="*/ 1054 w 1054"/>
                      <a:gd name="T7" fmla="*/ 157 h 374"/>
                      <a:gd name="T8" fmla="*/ 691 w 1054"/>
                      <a:gd name="T9" fmla="*/ 374 h 374"/>
                    </a:gdLst>
                    <a:ahLst/>
                    <a:cxnLst>
                      <a:cxn ang="0">
                        <a:pos x="T0" y="T1"/>
                      </a:cxn>
                      <a:cxn ang="0">
                        <a:pos x="T2" y="T3"/>
                      </a:cxn>
                      <a:cxn ang="0">
                        <a:pos x="T4" y="T5"/>
                      </a:cxn>
                      <a:cxn ang="0">
                        <a:pos x="T6" y="T7"/>
                      </a:cxn>
                      <a:cxn ang="0">
                        <a:pos x="T8" y="T9"/>
                      </a:cxn>
                    </a:cxnLst>
                    <a:rect l="0" t="0" r="r" b="b"/>
                    <a:pathLst>
                      <a:path w="1054" h="374">
                        <a:moveTo>
                          <a:pt x="691" y="374"/>
                        </a:moveTo>
                        <a:lnTo>
                          <a:pt x="0" y="191"/>
                        </a:lnTo>
                        <a:lnTo>
                          <a:pt x="363" y="0"/>
                        </a:lnTo>
                        <a:lnTo>
                          <a:pt x="1054" y="157"/>
                        </a:lnTo>
                        <a:lnTo>
                          <a:pt x="691" y="374"/>
                        </a:lnTo>
                      </a:path>
                    </a:pathLst>
                  </a:custGeom>
                  <a:gradFill rotWithShape="0">
                    <a:gsLst>
                      <a:gs pos="0">
                        <a:srgbClr val="B2B2B2"/>
                      </a:gs>
                      <a:gs pos="100000">
                        <a:srgbClr val="B2B2B2">
                          <a:gamma/>
                          <a:tint val="34118"/>
                          <a:invGamma/>
                        </a:srgbClr>
                      </a:gs>
                    </a:gsLst>
                    <a:path path="rect">
                      <a:fillToRect l="100000" t="100000"/>
                    </a:path>
                  </a:gra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39" name="Freeform 75"/>
                  <p:cNvSpPr>
                    <a:spLocks noChangeAspect="1"/>
                  </p:cNvSpPr>
                  <p:nvPr/>
                </p:nvSpPr>
                <p:spPr bwMode="auto">
                  <a:xfrm>
                    <a:off x="4132" y="1679"/>
                    <a:ext cx="691" cy="390"/>
                  </a:xfrm>
                  <a:custGeom>
                    <a:avLst/>
                    <a:gdLst>
                      <a:gd name="T0" fmla="*/ 0 w 690"/>
                      <a:gd name="T1" fmla="*/ 5 h 390"/>
                      <a:gd name="T2" fmla="*/ 0 w 690"/>
                      <a:gd name="T3" fmla="*/ 192 h 390"/>
                      <a:gd name="T4" fmla="*/ 690 w 690"/>
                      <a:gd name="T5" fmla="*/ 390 h 390"/>
                      <a:gd name="T6" fmla="*/ 690 w 690"/>
                      <a:gd name="T7" fmla="*/ 185 h 390"/>
                      <a:gd name="T8" fmla="*/ 4 w 690"/>
                      <a:gd name="T9" fmla="*/ 0 h 390"/>
                    </a:gdLst>
                    <a:ahLst/>
                    <a:cxnLst>
                      <a:cxn ang="0">
                        <a:pos x="T0" y="T1"/>
                      </a:cxn>
                      <a:cxn ang="0">
                        <a:pos x="T2" y="T3"/>
                      </a:cxn>
                      <a:cxn ang="0">
                        <a:pos x="T4" y="T5"/>
                      </a:cxn>
                      <a:cxn ang="0">
                        <a:pos x="T6" y="T7"/>
                      </a:cxn>
                      <a:cxn ang="0">
                        <a:pos x="T8" y="T9"/>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40" name="Freeform 76"/>
                  <p:cNvSpPr>
                    <a:spLocks noChangeAspect="1"/>
                  </p:cNvSpPr>
                  <p:nvPr/>
                </p:nvSpPr>
                <p:spPr bwMode="auto">
                  <a:xfrm>
                    <a:off x="4494" y="1817"/>
                    <a:ext cx="271" cy="189"/>
                  </a:xfrm>
                  <a:custGeom>
                    <a:avLst/>
                    <a:gdLst>
                      <a:gd name="T0" fmla="*/ 0 w 271"/>
                      <a:gd name="T1" fmla="*/ 0 h 189"/>
                      <a:gd name="T2" fmla="*/ 271 w 271"/>
                      <a:gd name="T3" fmla="*/ 73 h 189"/>
                      <a:gd name="T4" fmla="*/ 271 w 271"/>
                      <a:gd name="T5" fmla="*/ 189 h 189"/>
                      <a:gd name="T6" fmla="*/ 0 w 271"/>
                      <a:gd name="T7" fmla="*/ 115 h 189"/>
                      <a:gd name="T8" fmla="*/ 0 w 271"/>
                      <a:gd name="T9" fmla="*/ 0 h 189"/>
                    </a:gdLst>
                    <a:ahLst/>
                    <a:cxnLst>
                      <a:cxn ang="0">
                        <a:pos x="T0" y="T1"/>
                      </a:cxn>
                      <a:cxn ang="0">
                        <a:pos x="T2" y="T3"/>
                      </a:cxn>
                      <a:cxn ang="0">
                        <a:pos x="T4" y="T5"/>
                      </a:cxn>
                      <a:cxn ang="0">
                        <a:pos x="T6" y="T7"/>
                      </a:cxn>
                      <a:cxn ang="0">
                        <a:pos x="T8" y="T9"/>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a:noFill/>
                  </a:ln>
                  <a:effectLst/>
                  <a:extLst>
                    <a:ext uri="{91240B29-F687-4F45-9708-019B960494DF}">
                      <a14:hiddenLine xmlns:a14="http://schemas.microsoft.com/office/drawing/2010/main" w="6350">
                        <a:solidFill>
                          <a:srgbClr val="A9A9A9"/>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41" name="Freeform 77"/>
                  <p:cNvSpPr>
                    <a:spLocks noChangeAspect="1" noChangeArrowheads="1"/>
                  </p:cNvSpPr>
                  <p:nvPr/>
                </p:nvSpPr>
                <p:spPr bwMode="auto">
                  <a:xfrm>
                    <a:off x="4500" y="1887"/>
                    <a:ext cx="261" cy="69"/>
                  </a:xfrm>
                  <a:custGeom>
                    <a:avLst/>
                    <a:gdLst>
                      <a:gd name="T0" fmla="*/ 0 w 261"/>
                      <a:gd name="T1" fmla="*/ 0 h 69"/>
                      <a:gd name="T2" fmla="*/ 261 w 261"/>
                      <a:gd name="T3" fmla="*/ 69 h 69"/>
                    </a:gdLst>
                    <a:ahLst/>
                    <a:cxnLst>
                      <a:cxn ang="0">
                        <a:pos x="T0" y="T1"/>
                      </a:cxn>
                      <a:cxn ang="0">
                        <a:pos x="T2" y="T3"/>
                      </a:cxn>
                    </a:cxnLst>
                    <a:rect l="0" t="0" r="r" b="b"/>
                    <a:pathLst>
                      <a:path w="261" h="69">
                        <a:moveTo>
                          <a:pt x="0" y="0"/>
                        </a:moveTo>
                        <a:lnTo>
                          <a:pt x="261" y="69"/>
                        </a:lnTo>
                      </a:path>
                    </a:pathLst>
                  </a:custGeom>
                  <a:noFill/>
                  <a:ln w="6350">
                    <a:solidFill>
                      <a:srgbClr val="777777"/>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42" name="Freeform 78"/>
                  <p:cNvSpPr/>
                  <p:nvPr/>
                </p:nvSpPr>
                <p:spPr bwMode="auto">
                  <a:xfrm>
                    <a:off x="4493" y="1702"/>
                    <a:ext cx="171" cy="343"/>
                  </a:xfrm>
                  <a:custGeom>
                    <a:avLst/>
                    <a:gdLst>
                      <a:gd name="T0" fmla="*/ 0 w 270"/>
                      <a:gd name="T1" fmla="*/ 116 h 116"/>
                      <a:gd name="T2" fmla="*/ 1 w 270"/>
                      <a:gd name="T3" fmla="*/ 0 h 116"/>
                      <a:gd name="T4" fmla="*/ 270 w 270"/>
                      <a:gd name="T5" fmla="*/ 75 h 116"/>
                    </a:gdLst>
                    <a:ahLst/>
                    <a:cxnLst>
                      <a:cxn ang="0">
                        <a:pos x="T0" y="T1"/>
                      </a:cxn>
                      <a:cxn ang="0">
                        <a:pos x="T2" y="T3"/>
                      </a:cxn>
                      <a:cxn ang="0">
                        <a:pos x="T4" y="T5"/>
                      </a:cxn>
                    </a:cxnLst>
                    <a:rect l="0" t="0" r="r" b="b"/>
                    <a:pathLst>
                      <a:path w="270" h="116">
                        <a:moveTo>
                          <a:pt x="0" y="116"/>
                        </a:moveTo>
                        <a:lnTo>
                          <a:pt x="1" y="0"/>
                        </a:lnTo>
                        <a:lnTo>
                          <a:pt x="270" y="75"/>
                        </a:lnTo>
                      </a:path>
                    </a:pathLst>
                  </a:custGeom>
                  <a:noFill/>
                  <a:ln w="6350" cap="flat" cmpd="sng">
                    <a:solidFill>
                      <a:srgbClr val="777777"/>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6943" name="Line 79"/>
                  <p:cNvSpPr>
                    <a:spLocks noChangeShapeType="1"/>
                  </p:cNvSpPr>
                  <p:nvPr/>
                </p:nvSpPr>
                <p:spPr bwMode="auto">
                  <a:xfrm>
                    <a:off x="4518" y="1854"/>
                    <a:ext cx="211" cy="54"/>
                  </a:xfrm>
                  <a:prstGeom prst="line">
                    <a:avLst/>
                  </a:prstGeom>
                  <a:noFill/>
                  <a:ln w="6350">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6944" name="Line 80"/>
                  <p:cNvSpPr>
                    <a:spLocks noChangeShapeType="1"/>
                  </p:cNvSpPr>
                  <p:nvPr/>
                </p:nvSpPr>
                <p:spPr bwMode="auto">
                  <a:xfrm>
                    <a:off x="4697" y="1962"/>
                    <a:ext cx="41" cy="9"/>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6945" name="Freeform 81"/>
                  <p:cNvSpPr/>
                  <p:nvPr/>
                </p:nvSpPr>
                <p:spPr bwMode="auto">
                  <a:xfrm>
                    <a:off x="4584" y="1715"/>
                    <a:ext cx="64" cy="343"/>
                  </a:xfrm>
                  <a:custGeom>
                    <a:avLst/>
                    <a:gdLst>
                      <a:gd name="T0" fmla="*/ 0 w 64"/>
                      <a:gd name="T1" fmla="*/ 0 h 35"/>
                      <a:gd name="T2" fmla="*/ 1 w 64"/>
                      <a:gd name="T3" fmla="*/ 18 h 35"/>
                      <a:gd name="T4" fmla="*/ 64 w 64"/>
                      <a:gd name="T5" fmla="*/ 35 h 35"/>
                      <a:gd name="T6" fmla="*/ 64 w 64"/>
                      <a:gd name="T7" fmla="*/ 19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1" y="18"/>
                        </a:lnTo>
                        <a:lnTo>
                          <a:pt x="64" y="35"/>
                        </a:lnTo>
                        <a:lnTo>
                          <a:pt x="64" y="19"/>
                        </a:lnTo>
                        <a:lnTo>
                          <a:pt x="0" y="0"/>
                        </a:lnTo>
                        <a:close/>
                      </a:path>
                    </a:pathLst>
                  </a:custGeom>
                  <a:solidFill>
                    <a:srgbClr val="777777"/>
                  </a:solidFill>
                  <a:ln>
                    <a:noFill/>
                  </a:ln>
                  <a:effectLst/>
                  <a:extLst>
                    <a:ext uri="{91240B29-F687-4F45-9708-019B960494DF}">
                      <a14:hiddenLine xmlns:a14="http://schemas.microsoft.com/office/drawing/2010/main" w="19050">
                        <a:solidFill>
                          <a:schemeClr val="tx2"/>
                        </a:solidFill>
                        <a:prstDash val="solid"/>
                        <a:round/>
                        <a:headEnd type="none" w="med" len="med"/>
                        <a:tailEnd type="none" w="med" len="me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tIns="27432" bIns="27432" anchor="ctr">
                    <a:spAutoFit/>
                  </a:bodyPr>
                  <a:lstStyle/>
                  <a:p>
                    <a:endParaRPr lang="zh-CN" altLang="en-US"/>
                  </a:p>
                </p:txBody>
              </p:sp>
              <p:sp>
                <p:nvSpPr>
                  <p:cNvPr id="36946" name="Line 82"/>
                  <p:cNvSpPr>
                    <a:spLocks noChangeShapeType="1"/>
                  </p:cNvSpPr>
                  <p:nvPr/>
                </p:nvSpPr>
                <p:spPr bwMode="auto">
                  <a:xfrm>
                    <a:off x="4151" y="1751"/>
                    <a:ext cx="279" cy="78"/>
                  </a:xfrm>
                  <a:prstGeom prst="line">
                    <a:avLst/>
                  </a:prstGeom>
                  <a:noFill/>
                  <a:ln w="6350">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tIns="27432" bIns="27432" anchor="ctr">
                    <a:spAutoFit/>
                  </a:bodyPr>
                  <a:lstStyle/>
                  <a:p>
                    <a:endParaRPr lang="zh-CN" altLang="en-US"/>
                  </a:p>
                </p:txBody>
              </p:sp>
              <p:sp>
                <p:nvSpPr>
                  <p:cNvPr id="36947" name="Line 83"/>
                  <p:cNvSpPr>
                    <a:spLocks noChangeShapeType="1"/>
                  </p:cNvSpPr>
                  <p:nvPr/>
                </p:nvSpPr>
                <p:spPr bwMode="auto">
                  <a:xfrm>
                    <a:off x="4151" y="1783"/>
                    <a:ext cx="279" cy="78"/>
                  </a:xfrm>
                  <a:prstGeom prst="line">
                    <a:avLst/>
                  </a:prstGeom>
                  <a:noFill/>
                  <a:ln w="6350">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tIns="27432" bIns="27432" anchor="ctr">
                    <a:spAutoFit/>
                  </a:bodyPr>
                  <a:lstStyle/>
                  <a:p>
                    <a:endParaRPr lang="zh-CN" altLang="en-US"/>
                  </a:p>
                </p:txBody>
              </p:sp>
              <p:sp>
                <p:nvSpPr>
                  <p:cNvPr id="36948" name="Line 84"/>
                  <p:cNvSpPr>
                    <a:spLocks noChangeShapeType="1"/>
                  </p:cNvSpPr>
                  <p:nvPr/>
                </p:nvSpPr>
                <p:spPr bwMode="auto">
                  <a:xfrm>
                    <a:off x="4151" y="1813"/>
                    <a:ext cx="279" cy="78"/>
                  </a:xfrm>
                  <a:prstGeom prst="line">
                    <a:avLst/>
                  </a:prstGeom>
                  <a:noFill/>
                  <a:ln w="6350">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tIns="27432" bIns="27432" anchor="ctr">
                    <a:spAutoFit/>
                  </a:bodyPr>
                  <a:lstStyle/>
                  <a:p>
                    <a:endParaRPr lang="zh-CN" altLang="en-US"/>
                  </a:p>
                </p:txBody>
              </p:sp>
              <p:sp>
                <p:nvSpPr>
                  <p:cNvPr id="36949" name="Freeform 85"/>
                  <p:cNvSpPr/>
                  <p:nvPr/>
                </p:nvSpPr>
                <p:spPr bwMode="auto">
                  <a:xfrm>
                    <a:off x="4496" y="1786"/>
                    <a:ext cx="171" cy="343"/>
                  </a:xfrm>
                  <a:custGeom>
                    <a:avLst/>
                    <a:gdLst>
                      <a:gd name="T0" fmla="*/ 0 w 275"/>
                      <a:gd name="T1" fmla="*/ 40 h 117"/>
                      <a:gd name="T2" fmla="*/ 275 w 275"/>
                      <a:gd name="T3" fmla="*/ 117 h 117"/>
                      <a:gd name="T4" fmla="*/ 275 w 275"/>
                      <a:gd name="T5" fmla="*/ 0 h 117"/>
                    </a:gdLst>
                    <a:ahLst/>
                    <a:cxnLst>
                      <a:cxn ang="0">
                        <a:pos x="T0" y="T1"/>
                      </a:cxn>
                      <a:cxn ang="0">
                        <a:pos x="T2" y="T3"/>
                      </a:cxn>
                      <a:cxn ang="0">
                        <a:pos x="T4" y="T5"/>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grpSp>
            <p:grpSp>
              <p:nvGrpSpPr>
                <p:cNvPr id="36950" name="Group 86"/>
                <p:cNvGrpSpPr/>
                <p:nvPr/>
              </p:nvGrpSpPr>
              <p:grpSpPr bwMode="auto">
                <a:xfrm>
                  <a:off x="4248" y="924"/>
                  <a:ext cx="908" cy="854"/>
                  <a:chOff x="4248" y="924"/>
                  <a:chExt cx="908" cy="854"/>
                </a:xfrm>
              </p:grpSpPr>
              <p:sp>
                <p:nvSpPr>
                  <p:cNvPr id="36951" name="Freeform 87"/>
                  <p:cNvSpPr/>
                  <p:nvPr/>
                </p:nvSpPr>
                <p:spPr bwMode="auto">
                  <a:xfrm>
                    <a:off x="4317" y="1480"/>
                    <a:ext cx="707" cy="298"/>
                  </a:xfrm>
                  <a:custGeom>
                    <a:avLst/>
                    <a:gdLst>
                      <a:gd name="T0" fmla="*/ 0 w 707"/>
                      <a:gd name="T1" fmla="*/ 163 h 298"/>
                      <a:gd name="T2" fmla="*/ 303 w 707"/>
                      <a:gd name="T3" fmla="*/ 0 h 298"/>
                      <a:gd name="T4" fmla="*/ 707 w 707"/>
                      <a:gd name="T5" fmla="*/ 116 h 298"/>
                      <a:gd name="T6" fmla="*/ 707 w 707"/>
                      <a:gd name="T7" fmla="*/ 138 h 298"/>
                      <a:gd name="T8" fmla="*/ 417 w 707"/>
                      <a:gd name="T9" fmla="*/ 298 h 298"/>
                      <a:gd name="T10" fmla="*/ 0 w 707"/>
                      <a:gd name="T11" fmla="*/ 188 h 298"/>
                      <a:gd name="T12" fmla="*/ 0 w 707"/>
                      <a:gd name="T13" fmla="*/ 163 h 298"/>
                    </a:gdLst>
                    <a:ahLst/>
                    <a:cxnLst>
                      <a:cxn ang="0">
                        <a:pos x="T0" y="T1"/>
                      </a:cxn>
                      <a:cxn ang="0">
                        <a:pos x="T2" y="T3"/>
                      </a:cxn>
                      <a:cxn ang="0">
                        <a:pos x="T4" y="T5"/>
                      </a:cxn>
                      <a:cxn ang="0">
                        <a:pos x="T6" y="T7"/>
                      </a:cxn>
                      <a:cxn ang="0">
                        <a:pos x="T8" y="T9"/>
                      </a:cxn>
                      <a:cxn ang="0">
                        <a:pos x="T10" y="T11"/>
                      </a:cxn>
                      <a:cxn ang="0">
                        <a:pos x="T12" y="T13"/>
                      </a:cxn>
                    </a:cxnLst>
                    <a:rect l="0" t="0" r="r" b="b"/>
                    <a:pathLst>
                      <a:path w="707" h="298">
                        <a:moveTo>
                          <a:pt x="0" y="163"/>
                        </a:moveTo>
                        <a:lnTo>
                          <a:pt x="303" y="0"/>
                        </a:lnTo>
                        <a:lnTo>
                          <a:pt x="707" y="116"/>
                        </a:lnTo>
                        <a:lnTo>
                          <a:pt x="707" y="138"/>
                        </a:lnTo>
                        <a:lnTo>
                          <a:pt x="417" y="298"/>
                        </a:lnTo>
                        <a:lnTo>
                          <a:pt x="0" y="188"/>
                        </a:lnTo>
                        <a:lnTo>
                          <a:pt x="0" y="163"/>
                        </a:lnTo>
                        <a:close/>
                      </a:path>
                    </a:pathLst>
                  </a:custGeom>
                  <a:solidFill>
                    <a:srgbClr val="DDDDDD"/>
                  </a:solidFill>
                  <a:ln w="635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52" name="Freeform 88"/>
                  <p:cNvSpPr/>
                  <p:nvPr/>
                </p:nvSpPr>
                <p:spPr bwMode="auto">
                  <a:xfrm>
                    <a:off x="4325" y="1486"/>
                    <a:ext cx="685" cy="264"/>
                  </a:xfrm>
                  <a:custGeom>
                    <a:avLst/>
                    <a:gdLst>
                      <a:gd name="T0" fmla="*/ 0 w 685"/>
                      <a:gd name="T1" fmla="*/ 158 h 264"/>
                      <a:gd name="T2" fmla="*/ 409 w 685"/>
                      <a:gd name="T3" fmla="*/ 264 h 264"/>
                      <a:gd name="T4" fmla="*/ 685 w 685"/>
                      <a:gd name="T5" fmla="*/ 110 h 264"/>
                      <a:gd name="T6" fmla="*/ 297 w 685"/>
                      <a:gd name="T7" fmla="*/ 0 h 264"/>
                      <a:gd name="T8" fmla="*/ 0 w 685"/>
                      <a:gd name="T9" fmla="*/ 158 h 264"/>
                    </a:gdLst>
                    <a:ahLst/>
                    <a:cxnLst>
                      <a:cxn ang="0">
                        <a:pos x="T0" y="T1"/>
                      </a:cxn>
                      <a:cxn ang="0">
                        <a:pos x="T2" y="T3"/>
                      </a:cxn>
                      <a:cxn ang="0">
                        <a:pos x="T4" y="T5"/>
                      </a:cxn>
                      <a:cxn ang="0">
                        <a:pos x="T6" y="T7"/>
                      </a:cxn>
                      <a:cxn ang="0">
                        <a:pos x="T8" y="T9"/>
                      </a:cxn>
                    </a:cxnLst>
                    <a:rect l="0" t="0" r="r" b="b"/>
                    <a:pathLst>
                      <a:path w="685" h="264">
                        <a:moveTo>
                          <a:pt x="0" y="158"/>
                        </a:moveTo>
                        <a:lnTo>
                          <a:pt x="409" y="264"/>
                        </a:lnTo>
                        <a:lnTo>
                          <a:pt x="685" y="110"/>
                        </a:lnTo>
                        <a:lnTo>
                          <a:pt x="297" y="0"/>
                        </a:lnTo>
                        <a:lnTo>
                          <a:pt x="0" y="158"/>
                        </a:lnTo>
                        <a:close/>
                      </a:path>
                    </a:pathLst>
                  </a:custGeom>
                  <a:solidFill>
                    <a:srgbClr val="B2B2B2"/>
                  </a:solidFill>
                  <a:ln>
                    <a:noFill/>
                  </a:ln>
                  <a:effectLst/>
                  <a:extLst>
                    <a:ext uri="{91240B29-F687-4F45-9708-019B960494DF}">
                      <a14:hiddenLine xmlns:a14="http://schemas.microsoft.com/office/drawing/2010/main" w="6350">
                        <a:solidFill>
                          <a:schemeClr val="folHlink"/>
                        </a:solidFill>
                        <a:prstDash val="solid"/>
                        <a:round/>
                        <a:headEnd type="none" w="med" len="med"/>
                        <a:tailEnd type="none" w="med" len="med"/>
                      </a14:hiddenLine>
                    </a:ext>
                    <a:ext uri="{AF507438-7753-43E0-B8FC-AC1667EBCBE1}">
                      <a14:hiddenEffects xmlns:a14="http://schemas.microsoft.com/office/drawing/2010/main">
                        <a:effectLst>
                          <a:outerShdw dist="12700" dir="5400000" algn="ctr" rotWithShape="0">
                            <a:schemeClr val="bg1"/>
                          </a:outerShdw>
                        </a:effectLst>
                      </a14:hiddenEffects>
                    </a:ext>
                  </a:extLst>
                </p:spPr>
                <p:txBody>
                  <a:bodyPr/>
                  <a:lstStyle/>
                  <a:p>
                    <a:endParaRPr lang="zh-CN" altLang="en-US"/>
                  </a:p>
                </p:txBody>
              </p:sp>
              <p:sp>
                <p:nvSpPr>
                  <p:cNvPr id="36953" name="Oval 89"/>
                  <p:cNvSpPr>
                    <a:spLocks noChangeArrowheads="1"/>
                  </p:cNvSpPr>
                  <p:nvPr/>
                </p:nvSpPr>
                <p:spPr bwMode="auto">
                  <a:xfrm>
                    <a:off x="4496" y="1551"/>
                    <a:ext cx="356" cy="143"/>
                  </a:xfrm>
                  <a:prstGeom prst="ellipse">
                    <a:avLst/>
                  </a:prstGeom>
                  <a:solidFill>
                    <a:srgbClr val="B2B2B2"/>
                  </a:solidFill>
                  <a:ln w="6350"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54" name="Freeform 90"/>
                  <p:cNvSpPr/>
                  <p:nvPr/>
                </p:nvSpPr>
                <p:spPr bwMode="auto">
                  <a:xfrm>
                    <a:off x="4302" y="1557"/>
                    <a:ext cx="574" cy="160"/>
                  </a:xfrm>
                  <a:custGeom>
                    <a:avLst/>
                    <a:gdLst>
                      <a:gd name="T0" fmla="*/ 0 w 646"/>
                      <a:gd name="T1" fmla="*/ 0 h 180"/>
                      <a:gd name="T2" fmla="*/ 20 w 646"/>
                      <a:gd name="T3" fmla="*/ 36 h 180"/>
                      <a:gd name="T4" fmla="*/ 574 w 646"/>
                      <a:gd name="T5" fmla="*/ 180 h 180"/>
                      <a:gd name="T6" fmla="*/ 646 w 646"/>
                      <a:gd name="T7" fmla="*/ 158 h 180"/>
                    </a:gdLst>
                    <a:ahLst/>
                    <a:cxnLst>
                      <a:cxn ang="0">
                        <a:pos x="T0" y="T1"/>
                      </a:cxn>
                      <a:cxn ang="0">
                        <a:pos x="T2" y="T3"/>
                      </a:cxn>
                      <a:cxn ang="0">
                        <a:pos x="T4" y="T5"/>
                      </a:cxn>
                      <a:cxn ang="0">
                        <a:pos x="T6" y="T7"/>
                      </a:cxn>
                    </a:cxnLst>
                    <a:rect l="0" t="0" r="r" b="b"/>
                    <a:pathLst>
                      <a:path w="646" h="180">
                        <a:moveTo>
                          <a:pt x="0" y="0"/>
                        </a:moveTo>
                        <a:lnTo>
                          <a:pt x="20" y="36"/>
                        </a:lnTo>
                        <a:lnTo>
                          <a:pt x="574" y="180"/>
                        </a:lnTo>
                        <a:lnTo>
                          <a:pt x="646" y="158"/>
                        </a:lnTo>
                      </a:path>
                    </a:pathLst>
                  </a:custGeom>
                  <a:solidFill>
                    <a:srgbClr val="B2B2B2"/>
                  </a:soli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55" name="Freeform 91"/>
                  <p:cNvSpPr>
                    <a:spLocks noChangeAspect="1"/>
                  </p:cNvSpPr>
                  <p:nvPr/>
                </p:nvSpPr>
                <p:spPr bwMode="auto">
                  <a:xfrm>
                    <a:off x="4439" y="924"/>
                    <a:ext cx="717" cy="662"/>
                  </a:xfrm>
                  <a:custGeom>
                    <a:avLst/>
                    <a:gdLst>
                      <a:gd name="T0" fmla="*/ 620 w 808"/>
                      <a:gd name="T1" fmla="*/ 746 h 746"/>
                      <a:gd name="T2" fmla="*/ 808 w 808"/>
                      <a:gd name="T3" fmla="*/ 525 h 746"/>
                      <a:gd name="T4" fmla="*/ 808 w 808"/>
                      <a:gd name="T5" fmla="*/ 106 h 746"/>
                      <a:gd name="T6" fmla="*/ 336 w 808"/>
                      <a:gd name="T7" fmla="*/ 0 h 746"/>
                      <a:gd name="T8" fmla="*/ 0 w 808"/>
                      <a:gd name="T9" fmla="*/ 48 h 746"/>
                    </a:gdLst>
                    <a:ahLst/>
                    <a:cxnLst>
                      <a:cxn ang="0">
                        <a:pos x="T0" y="T1"/>
                      </a:cxn>
                      <a:cxn ang="0">
                        <a:pos x="T2" y="T3"/>
                      </a:cxn>
                      <a:cxn ang="0">
                        <a:pos x="T4" y="T5"/>
                      </a:cxn>
                      <a:cxn ang="0">
                        <a:pos x="T6" y="T7"/>
                      </a:cxn>
                      <a:cxn ang="0">
                        <a:pos x="T8" y="T9"/>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56" name="Freeform 92"/>
                  <p:cNvSpPr>
                    <a:spLocks noChangeAspect="1"/>
                  </p:cNvSpPr>
                  <p:nvPr/>
                </p:nvSpPr>
                <p:spPr bwMode="auto">
                  <a:xfrm>
                    <a:off x="4886" y="1070"/>
                    <a:ext cx="144" cy="644"/>
                  </a:xfrm>
                  <a:custGeom>
                    <a:avLst/>
                    <a:gdLst>
                      <a:gd name="T0" fmla="*/ 0 w 144"/>
                      <a:gd name="T1" fmla="*/ 644 h 644"/>
                      <a:gd name="T2" fmla="*/ 0 w 144"/>
                      <a:gd name="T3" fmla="*/ 79 h 644"/>
                      <a:gd name="T4" fmla="*/ 144 w 144"/>
                      <a:gd name="T5" fmla="*/ 0 h 644"/>
                      <a:gd name="T6" fmla="*/ 144 w 144"/>
                      <a:gd name="T7" fmla="*/ 554 h 644"/>
                      <a:gd name="T8" fmla="*/ 0 w 144"/>
                      <a:gd name="T9" fmla="*/ 644 h 644"/>
                    </a:gdLst>
                    <a:ahLst/>
                    <a:cxnLst>
                      <a:cxn ang="0">
                        <a:pos x="T0" y="T1"/>
                      </a:cxn>
                      <a:cxn ang="0">
                        <a:pos x="T2" y="T3"/>
                      </a:cxn>
                      <a:cxn ang="0">
                        <a:pos x="T4" y="T5"/>
                      </a:cxn>
                      <a:cxn ang="0">
                        <a:pos x="T6" y="T7"/>
                      </a:cxn>
                      <a:cxn ang="0">
                        <a:pos x="T8" y="T9"/>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57" name="Freeform 93"/>
                  <p:cNvSpPr>
                    <a:spLocks noChangeAspect="1"/>
                  </p:cNvSpPr>
                  <p:nvPr/>
                </p:nvSpPr>
                <p:spPr bwMode="auto">
                  <a:xfrm>
                    <a:off x="4248" y="931"/>
                    <a:ext cx="782" cy="219"/>
                  </a:xfrm>
                  <a:custGeom>
                    <a:avLst/>
                    <a:gdLst>
                      <a:gd name="T0" fmla="*/ 638 w 782"/>
                      <a:gd name="T1" fmla="*/ 219 h 219"/>
                      <a:gd name="T2" fmla="*/ 0 w 782"/>
                      <a:gd name="T3" fmla="*/ 67 h 219"/>
                      <a:gd name="T4" fmla="*/ 160 w 782"/>
                      <a:gd name="T5" fmla="*/ 0 h 219"/>
                      <a:gd name="T6" fmla="*/ 782 w 782"/>
                      <a:gd name="T7" fmla="*/ 139 h 219"/>
                      <a:gd name="T8" fmla="*/ 638 w 782"/>
                      <a:gd name="T9" fmla="*/ 219 h 219"/>
                    </a:gdLst>
                    <a:ahLst/>
                    <a:cxnLst>
                      <a:cxn ang="0">
                        <a:pos x="T0" y="T1"/>
                      </a:cxn>
                      <a:cxn ang="0">
                        <a:pos x="T2" y="T3"/>
                      </a:cxn>
                      <a:cxn ang="0">
                        <a:pos x="T4" y="T5"/>
                      </a:cxn>
                      <a:cxn ang="0">
                        <a:pos x="T6" y="T7"/>
                      </a:cxn>
                      <a:cxn ang="0">
                        <a:pos x="T8" y="T9"/>
                      </a:cxn>
                    </a:cxnLst>
                    <a:rect l="0" t="0" r="r" b="b"/>
                    <a:pathLst>
                      <a:path w="782" h="219">
                        <a:moveTo>
                          <a:pt x="638" y="219"/>
                        </a:moveTo>
                        <a:lnTo>
                          <a:pt x="0" y="67"/>
                        </a:lnTo>
                        <a:lnTo>
                          <a:pt x="160" y="0"/>
                        </a:lnTo>
                        <a:lnTo>
                          <a:pt x="782" y="139"/>
                        </a:lnTo>
                        <a:lnTo>
                          <a:pt x="638" y="219"/>
                        </a:lnTo>
                      </a:path>
                    </a:pathLst>
                  </a:custGeom>
                  <a:solidFill>
                    <a:schemeClr val="bg1"/>
                  </a:soli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58" name="Freeform 94"/>
                  <p:cNvSpPr>
                    <a:spLocks noChangeAspect="1"/>
                  </p:cNvSpPr>
                  <p:nvPr/>
                </p:nvSpPr>
                <p:spPr bwMode="auto">
                  <a:xfrm>
                    <a:off x="4248" y="997"/>
                    <a:ext cx="639" cy="720"/>
                  </a:xfrm>
                  <a:custGeom>
                    <a:avLst/>
                    <a:gdLst>
                      <a:gd name="T0" fmla="*/ 671 w 672"/>
                      <a:gd name="T1" fmla="*/ 753 h 754"/>
                      <a:gd name="T2" fmla="*/ 671 w 672"/>
                      <a:gd name="T3" fmla="*/ 160 h 754"/>
                      <a:gd name="T4" fmla="*/ 0 w 672"/>
                      <a:gd name="T5" fmla="*/ 0 h 754"/>
                      <a:gd name="T6" fmla="*/ 0 w 672"/>
                      <a:gd name="T7" fmla="*/ 578 h 754"/>
                      <a:gd name="T8" fmla="*/ 671 w 672"/>
                      <a:gd name="T9" fmla="*/ 753 h 754"/>
                    </a:gdLst>
                    <a:ahLst/>
                    <a:cxnLst>
                      <a:cxn ang="0">
                        <a:pos x="T0" y="T1"/>
                      </a:cxn>
                      <a:cxn ang="0">
                        <a:pos x="T2" y="T3"/>
                      </a:cxn>
                      <a:cxn ang="0">
                        <a:pos x="T4" y="T5"/>
                      </a:cxn>
                      <a:cxn ang="0">
                        <a:pos x="T6" y="T7"/>
                      </a:cxn>
                      <a:cxn ang="0">
                        <a:pos x="T8" y="T9"/>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59" name="Freeform 95"/>
                  <p:cNvSpPr>
                    <a:spLocks noChangeAspect="1"/>
                  </p:cNvSpPr>
                  <p:nvPr/>
                </p:nvSpPr>
                <p:spPr bwMode="auto">
                  <a:xfrm>
                    <a:off x="4298" y="1060"/>
                    <a:ext cx="540" cy="591"/>
                  </a:xfrm>
                  <a:custGeom>
                    <a:avLst/>
                    <a:gdLst>
                      <a:gd name="T0" fmla="*/ 490 w 491"/>
                      <a:gd name="T1" fmla="*/ 548 h 549"/>
                      <a:gd name="T2" fmla="*/ 490 w 491"/>
                      <a:gd name="T3" fmla="*/ 117 h 549"/>
                      <a:gd name="T4" fmla="*/ 0 w 491"/>
                      <a:gd name="T5" fmla="*/ 0 h 549"/>
                      <a:gd name="T6" fmla="*/ 0 w 491"/>
                      <a:gd name="T7" fmla="*/ 424 h 549"/>
                      <a:gd name="T8" fmla="*/ 490 w 491"/>
                      <a:gd name="T9" fmla="*/ 548 h 549"/>
                    </a:gdLst>
                    <a:ahLst/>
                    <a:cxnLst>
                      <a:cxn ang="0">
                        <a:pos x="T0" y="T1"/>
                      </a:cxn>
                      <a:cxn ang="0">
                        <a:pos x="T2" y="T3"/>
                      </a:cxn>
                      <a:cxn ang="0">
                        <a:pos x="T4" y="T5"/>
                      </a:cxn>
                      <a:cxn ang="0">
                        <a:pos x="T6" y="T7"/>
                      </a:cxn>
                      <a:cxn ang="0">
                        <a:pos x="T8" y="T9"/>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60" name="Freeform 96"/>
                  <p:cNvSpPr/>
                  <p:nvPr/>
                </p:nvSpPr>
                <p:spPr bwMode="auto">
                  <a:xfrm>
                    <a:off x="4331" y="1100"/>
                    <a:ext cx="473" cy="509"/>
                  </a:xfrm>
                  <a:custGeom>
                    <a:avLst/>
                    <a:gdLst>
                      <a:gd name="T0" fmla="*/ 0 w 542"/>
                      <a:gd name="T1" fmla="*/ 0 h 592"/>
                      <a:gd name="T2" fmla="*/ 0 w 542"/>
                      <a:gd name="T3" fmla="*/ 454 h 592"/>
                      <a:gd name="T4" fmla="*/ 542 w 542"/>
                      <a:gd name="T5" fmla="*/ 592 h 592"/>
                      <a:gd name="T6" fmla="*/ 542 w 542"/>
                      <a:gd name="T7" fmla="*/ 130 h 592"/>
                      <a:gd name="T8" fmla="*/ 0 w 542"/>
                      <a:gd name="T9" fmla="*/ 0 h 592"/>
                    </a:gdLst>
                    <a:ahLst/>
                    <a:cxnLst>
                      <a:cxn ang="0">
                        <a:pos x="T0" y="T1"/>
                      </a:cxn>
                      <a:cxn ang="0">
                        <a:pos x="T2" y="T3"/>
                      </a:cxn>
                      <a:cxn ang="0">
                        <a:pos x="T4" y="T5"/>
                      </a:cxn>
                      <a:cxn ang="0">
                        <a:pos x="T6" y="T7"/>
                      </a:cxn>
                      <a:cxn ang="0">
                        <a:pos x="T8" y="T9"/>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zh-CN" altLang="en-US"/>
                  </a:p>
                </p:txBody>
              </p:sp>
              <p:sp>
                <p:nvSpPr>
                  <p:cNvPr id="36961" name="Line 97"/>
                  <p:cNvSpPr>
                    <a:spLocks noChangeShapeType="1"/>
                  </p:cNvSpPr>
                  <p:nvPr/>
                </p:nvSpPr>
                <p:spPr bwMode="auto">
                  <a:xfrm>
                    <a:off x="4372" y="1141"/>
                    <a:ext cx="0" cy="78"/>
                  </a:xfrm>
                  <a:prstGeom prst="line">
                    <a:avLst/>
                  </a:prstGeom>
                  <a:noFill/>
                  <a:ln w="254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6962" name="Group 98"/>
            <p:cNvGrpSpPr/>
            <p:nvPr/>
          </p:nvGrpSpPr>
          <p:grpSpPr bwMode="auto">
            <a:xfrm>
              <a:off x="4162" y="3209"/>
              <a:ext cx="914" cy="812"/>
              <a:chOff x="564" y="2496"/>
              <a:chExt cx="1166" cy="1036"/>
            </a:xfrm>
          </p:grpSpPr>
          <p:grpSp>
            <p:nvGrpSpPr>
              <p:cNvPr id="36963" name="Group 99"/>
              <p:cNvGrpSpPr/>
              <p:nvPr/>
            </p:nvGrpSpPr>
            <p:grpSpPr bwMode="auto">
              <a:xfrm>
                <a:off x="564" y="3254"/>
                <a:ext cx="744" cy="278"/>
                <a:chOff x="2039" y="1896"/>
                <a:chExt cx="859" cy="357"/>
              </a:xfrm>
            </p:grpSpPr>
            <p:sp>
              <p:nvSpPr>
                <p:cNvPr id="36964" name="Freeform 100"/>
                <p:cNvSpPr/>
                <p:nvPr/>
              </p:nvSpPr>
              <p:spPr bwMode="auto">
                <a:xfrm>
                  <a:off x="2039" y="1911"/>
                  <a:ext cx="171" cy="342"/>
                </a:xfrm>
                <a:custGeom>
                  <a:avLst/>
                  <a:gdLst>
                    <a:gd name="T0" fmla="*/ 872 w 872"/>
                    <a:gd name="T1" fmla="*/ 178 h 366"/>
                    <a:gd name="T2" fmla="*/ 872 w 872"/>
                    <a:gd name="T3" fmla="*/ 246 h 366"/>
                    <a:gd name="T4" fmla="*/ 682 w 872"/>
                    <a:gd name="T5" fmla="*/ 366 h 366"/>
                    <a:gd name="T6" fmla="*/ 0 w 872"/>
                    <a:gd name="T7" fmla="*/ 170 h 366"/>
                    <a:gd name="T8" fmla="*/ 0 w 872"/>
                    <a:gd name="T9" fmla="*/ 142 h 366"/>
                    <a:gd name="T10" fmla="*/ 230 w 872"/>
                    <a:gd name="T11" fmla="*/ 0 h 366"/>
                    <a:gd name="T12" fmla="*/ 872 w 872"/>
                    <a:gd name="T13" fmla="*/ 178 h 366"/>
                  </a:gdLst>
                  <a:ahLst/>
                  <a:cxnLst>
                    <a:cxn ang="0">
                      <a:pos x="T0" y="T1"/>
                    </a:cxn>
                    <a:cxn ang="0">
                      <a:pos x="T2" y="T3"/>
                    </a:cxn>
                    <a:cxn ang="0">
                      <a:pos x="T4" y="T5"/>
                    </a:cxn>
                    <a:cxn ang="0">
                      <a:pos x="T6" y="T7"/>
                    </a:cxn>
                    <a:cxn ang="0">
                      <a:pos x="T8" y="T9"/>
                    </a:cxn>
                    <a:cxn ang="0">
                      <a:pos x="T10" y="T11"/>
                    </a:cxn>
                    <a:cxn ang="0">
                      <a:pos x="T12" y="T13"/>
                    </a:cxn>
                  </a:cxnLst>
                  <a:rect l="0" t="0" r="r" b="b"/>
                  <a:pathLst>
                    <a:path w="872" h="366">
                      <a:moveTo>
                        <a:pt x="872" y="178"/>
                      </a:moveTo>
                      <a:lnTo>
                        <a:pt x="872" y="246"/>
                      </a:lnTo>
                      <a:lnTo>
                        <a:pt x="682" y="366"/>
                      </a:lnTo>
                      <a:lnTo>
                        <a:pt x="0" y="170"/>
                      </a:lnTo>
                      <a:lnTo>
                        <a:pt x="0" y="142"/>
                      </a:lnTo>
                      <a:lnTo>
                        <a:pt x="230" y="0"/>
                      </a:lnTo>
                      <a:lnTo>
                        <a:pt x="872" y="178"/>
                      </a:lnTo>
                      <a:close/>
                    </a:path>
                  </a:pathLst>
                </a:custGeom>
                <a:gradFill rotWithShape="0">
                  <a:gsLst>
                    <a:gs pos="0">
                      <a:srgbClr val="B2B2B2"/>
                    </a:gs>
                    <a:gs pos="100000">
                      <a:srgbClr val="B2B2B2">
                        <a:gamma/>
                        <a:tint val="34118"/>
                        <a:invGamma/>
                      </a:srgbClr>
                    </a:gs>
                  </a:gsLst>
                  <a:path path="rect">
                    <a:fillToRect l="100000" t="100000"/>
                  </a:path>
                </a:grad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6965" name="Freeform 101"/>
                <p:cNvSpPr/>
                <p:nvPr/>
              </p:nvSpPr>
              <p:spPr bwMode="auto">
                <a:xfrm>
                  <a:off x="2054" y="1896"/>
                  <a:ext cx="171" cy="342"/>
                </a:xfrm>
                <a:custGeom>
                  <a:avLst/>
                  <a:gdLst>
                    <a:gd name="T0" fmla="*/ 848 w 848"/>
                    <a:gd name="T1" fmla="*/ 174 h 324"/>
                    <a:gd name="T2" fmla="*/ 216 w 848"/>
                    <a:gd name="T3" fmla="*/ 0 h 324"/>
                    <a:gd name="T4" fmla="*/ 0 w 848"/>
                    <a:gd name="T5" fmla="*/ 134 h 324"/>
                    <a:gd name="T6" fmla="*/ 666 w 848"/>
                    <a:gd name="T7" fmla="*/ 324 h 324"/>
                    <a:gd name="T8" fmla="*/ 848 w 848"/>
                    <a:gd name="T9" fmla="*/ 174 h 324"/>
                  </a:gdLst>
                  <a:ahLst/>
                  <a:cxnLst>
                    <a:cxn ang="0">
                      <a:pos x="T0" y="T1"/>
                    </a:cxn>
                    <a:cxn ang="0">
                      <a:pos x="T2" y="T3"/>
                    </a:cxn>
                    <a:cxn ang="0">
                      <a:pos x="T4" y="T5"/>
                    </a:cxn>
                    <a:cxn ang="0">
                      <a:pos x="T6" y="T7"/>
                    </a:cxn>
                    <a:cxn ang="0">
                      <a:pos x="T8" y="T9"/>
                    </a:cxn>
                  </a:cxnLst>
                  <a:rect l="0" t="0" r="r" b="b"/>
                  <a:pathLst>
                    <a:path w="848" h="324">
                      <a:moveTo>
                        <a:pt x="848" y="174"/>
                      </a:moveTo>
                      <a:lnTo>
                        <a:pt x="216" y="0"/>
                      </a:lnTo>
                      <a:lnTo>
                        <a:pt x="0" y="134"/>
                      </a:lnTo>
                      <a:lnTo>
                        <a:pt x="666" y="324"/>
                      </a:lnTo>
                      <a:lnTo>
                        <a:pt x="848" y="174"/>
                      </a:lnTo>
                      <a:close/>
                    </a:path>
                  </a:pathLst>
                </a:custGeom>
                <a:solidFill>
                  <a:schemeClr val="bg1"/>
                </a:solidFill>
                <a:ln>
                  <a:noFill/>
                </a:ln>
                <a:effectLst/>
                <a:extLst>
                  <a:ext uri="{91240B29-F687-4F45-9708-019B960494DF}">
                    <a14:hiddenLine xmlns:a14="http://schemas.microsoft.com/office/drawing/2010/main" w="317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6966" name="Freeform 102"/>
                <p:cNvSpPr/>
                <p:nvPr/>
              </p:nvSpPr>
              <p:spPr bwMode="auto">
                <a:xfrm>
                  <a:off x="2282" y="1910"/>
                  <a:ext cx="522" cy="151"/>
                </a:xfrm>
                <a:custGeom>
                  <a:avLst/>
                  <a:gdLst>
                    <a:gd name="T0" fmla="*/ 0 w 477"/>
                    <a:gd name="T1" fmla="*/ 12 h 138"/>
                    <a:gd name="T2" fmla="*/ 456 w 477"/>
                    <a:gd name="T3" fmla="*/ 138 h 138"/>
                    <a:gd name="T4" fmla="*/ 477 w 477"/>
                    <a:gd name="T5" fmla="*/ 125 h 138"/>
                    <a:gd name="T6" fmla="*/ 20 w 477"/>
                    <a:gd name="T7" fmla="*/ 0 h 138"/>
                  </a:gdLst>
                  <a:ahLst/>
                  <a:cxnLst>
                    <a:cxn ang="0">
                      <a:pos x="T0" y="T1"/>
                    </a:cxn>
                    <a:cxn ang="0">
                      <a:pos x="T2" y="T3"/>
                    </a:cxn>
                    <a:cxn ang="0">
                      <a:pos x="T4" y="T5"/>
                    </a:cxn>
                    <a:cxn ang="0">
                      <a:pos x="T6" y="T7"/>
                    </a:cxn>
                  </a:cxnLst>
                  <a:rect l="0" t="0" r="r" b="b"/>
                  <a:pathLst>
                    <a:path w="477" h="138">
                      <a:moveTo>
                        <a:pt x="0" y="12"/>
                      </a:moveTo>
                      <a:lnTo>
                        <a:pt x="456" y="138"/>
                      </a:lnTo>
                      <a:lnTo>
                        <a:pt x="477" y="125"/>
                      </a:lnTo>
                      <a:lnTo>
                        <a:pt x="2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67" name="Freeform 103"/>
                <p:cNvSpPr/>
                <p:nvPr/>
              </p:nvSpPr>
              <p:spPr bwMode="auto">
                <a:xfrm>
                  <a:off x="2132" y="1941"/>
                  <a:ext cx="543" cy="193"/>
                </a:xfrm>
                <a:custGeom>
                  <a:avLst/>
                  <a:gdLst>
                    <a:gd name="T0" fmla="*/ 0 w 496"/>
                    <a:gd name="T1" fmla="*/ 66 h 177"/>
                    <a:gd name="T2" fmla="*/ 21 w 496"/>
                    <a:gd name="T3" fmla="*/ 73 h 177"/>
                    <a:gd name="T4" fmla="*/ 45 w 496"/>
                    <a:gd name="T5" fmla="*/ 61 h 177"/>
                    <a:gd name="T6" fmla="*/ 60 w 496"/>
                    <a:gd name="T7" fmla="*/ 66 h 177"/>
                    <a:gd name="T8" fmla="*/ 45 w 496"/>
                    <a:gd name="T9" fmla="*/ 80 h 177"/>
                    <a:gd name="T10" fmla="*/ 344 w 496"/>
                    <a:gd name="T11" fmla="*/ 163 h 177"/>
                    <a:gd name="T12" fmla="*/ 360 w 496"/>
                    <a:gd name="T13" fmla="*/ 151 h 177"/>
                    <a:gd name="T14" fmla="*/ 386 w 496"/>
                    <a:gd name="T15" fmla="*/ 158 h 177"/>
                    <a:gd name="T16" fmla="*/ 370 w 496"/>
                    <a:gd name="T17" fmla="*/ 170 h 177"/>
                    <a:gd name="T18" fmla="*/ 396 w 496"/>
                    <a:gd name="T19" fmla="*/ 177 h 177"/>
                    <a:gd name="T20" fmla="*/ 496 w 496"/>
                    <a:gd name="T21" fmla="*/ 106 h 177"/>
                    <a:gd name="T22" fmla="*/ 111 w 496"/>
                    <a:gd name="T23" fmla="*/ 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6" h="177">
                      <a:moveTo>
                        <a:pt x="0" y="66"/>
                      </a:moveTo>
                      <a:lnTo>
                        <a:pt x="21" y="73"/>
                      </a:lnTo>
                      <a:lnTo>
                        <a:pt x="45" y="61"/>
                      </a:lnTo>
                      <a:lnTo>
                        <a:pt x="60" y="66"/>
                      </a:lnTo>
                      <a:lnTo>
                        <a:pt x="45" y="80"/>
                      </a:lnTo>
                      <a:lnTo>
                        <a:pt x="344" y="163"/>
                      </a:lnTo>
                      <a:lnTo>
                        <a:pt x="360" y="151"/>
                      </a:lnTo>
                      <a:lnTo>
                        <a:pt x="386" y="158"/>
                      </a:lnTo>
                      <a:lnTo>
                        <a:pt x="370" y="170"/>
                      </a:lnTo>
                      <a:lnTo>
                        <a:pt x="396" y="177"/>
                      </a:lnTo>
                      <a:lnTo>
                        <a:pt x="496" y="106"/>
                      </a:lnTo>
                      <a:lnTo>
                        <a:pt x="111"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68" name="Freeform 104"/>
                <p:cNvSpPr/>
                <p:nvPr/>
              </p:nvSpPr>
              <p:spPr bwMode="auto">
                <a:xfrm>
                  <a:off x="2657" y="2066"/>
                  <a:ext cx="118" cy="48"/>
                </a:xfrm>
                <a:custGeom>
                  <a:avLst/>
                  <a:gdLst>
                    <a:gd name="T0" fmla="*/ 40 w 108"/>
                    <a:gd name="T1" fmla="*/ 0 h 44"/>
                    <a:gd name="T2" fmla="*/ 107 w 108"/>
                    <a:gd name="T3" fmla="*/ 17 h 44"/>
                    <a:gd name="T4" fmla="*/ 69 w 108"/>
                    <a:gd name="T5" fmla="*/ 43 h 44"/>
                    <a:gd name="T6" fmla="*/ 0 w 108"/>
                    <a:gd name="T7" fmla="*/ 25 h 44"/>
                    <a:gd name="T8" fmla="*/ 40 w 108"/>
                    <a:gd name="T9" fmla="*/ 0 h 44"/>
                  </a:gdLst>
                  <a:ahLst/>
                  <a:cxnLst>
                    <a:cxn ang="0">
                      <a:pos x="T0" y="T1"/>
                    </a:cxn>
                    <a:cxn ang="0">
                      <a:pos x="T2" y="T3"/>
                    </a:cxn>
                    <a:cxn ang="0">
                      <a:pos x="T4" y="T5"/>
                    </a:cxn>
                    <a:cxn ang="0">
                      <a:pos x="T6" y="T7"/>
                    </a:cxn>
                    <a:cxn ang="0">
                      <a:pos x="T8" y="T9"/>
                    </a:cxn>
                  </a:cxnLst>
                  <a:rect l="0" t="0" r="r" b="b"/>
                  <a:pathLst>
                    <a:path w="108" h="44">
                      <a:moveTo>
                        <a:pt x="40" y="0"/>
                      </a:moveTo>
                      <a:lnTo>
                        <a:pt x="107" y="17"/>
                      </a:lnTo>
                      <a:lnTo>
                        <a:pt x="69" y="43"/>
                      </a:lnTo>
                      <a:lnTo>
                        <a:pt x="0" y="25"/>
                      </a:lnTo>
                      <a:lnTo>
                        <a:pt x="4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69" name="Freeform 105"/>
                <p:cNvSpPr/>
                <p:nvPr/>
              </p:nvSpPr>
              <p:spPr bwMode="auto">
                <a:xfrm>
                  <a:off x="2590" y="2118"/>
                  <a:ext cx="106" cy="46"/>
                </a:xfrm>
                <a:custGeom>
                  <a:avLst/>
                  <a:gdLst>
                    <a:gd name="T0" fmla="*/ 21 w 97"/>
                    <a:gd name="T1" fmla="*/ 7 h 42"/>
                    <a:gd name="T2" fmla="*/ 46 w 97"/>
                    <a:gd name="T3" fmla="*/ 11 h 42"/>
                    <a:gd name="T4" fmla="*/ 60 w 97"/>
                    <a:gd name="T5" fmla="*/ 0 h 42"/>
                    <a:gd name="T6" fmla="*/ 84 w 97"/>
                    <a:gd name="T7" fmla="*/ 8 h 42"/>
                    <a:gd name="T8" fmla="*/ 72 w 97"/>
                    <a:gd name="T9" fmla="*/ 19 h 42"/>
                    <a:gd name="T10" fmla="*/ 96 w 97"/>
                    <a:gd name="T11" fmla="*/ 25 h 42"/>
                    <a:gd name="T12" fmla="*/ 77 w 97"/>
                    <a:gd name="T13" fmla="*/ 41 h 42"/>
                    <a:gd name="T14" fmla="*/ 0 w 97"/>
                    <a:gd name="T15" fmla="*/ 21 h 42"/>
                    <a:gd name="T16" fmla="*/ 21 w 97"/>
                    <a:gd name="T17" fmla="*/ 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42">
                      <a:moveTo>
                        <a:pt x="21" y="7"/>
                      </a:moveTo>
                      <a:lnTo>
                        <a:pt x="46" y="11"/>
                      </a:lnTo>
                      <a:lnTo>
                        <a:pt x="60" y="0"/>
                      </a:lnTo>
                      <a:lnTo>
                        <a:pt x="84" y="8"/>
                      </a:lnTo>
                      <a:lnTo>
                        <a:pt x="72" y="19"/>
                      </a:lnTo>
                      <a:lnTo>
                        <a:pt x="96" y="25"/>
                      </a:lnTo>
                      <a:lnTo>
                        <a:pt x="77" y="41"/>
                      </a:lnTo>
                      <a:lnTo>
                        <a:pt x="0" y="21"/>
                      </a:lnTo>
                      <a:lnTo>
                        <a:pt x="21" y="7"/>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70" name="Freeform 106"/>
                <p:cNvSpPr/>
                <p:nvPr/>
              </p:nvSpPr>
              <p:spPr bwMode="auto">
                <a:xfrm>
                  <a:off x="2695" y="2087"/>
                  <a:ext cx="203" cy="107"/>
                </a:xfrm>
                <a:custGeom>
                  <a:avLst/>
                  <a:gdLst>
                    <a:gd name="T0" fmla="*/ 101 w 185"/>
                    <a:gd name="T1" fmla="*/ 0 h 97"/>
                    <a:gd name="T2" fmla="*/ 185 w 185"/>
                    <a:gd name="T3" fmla="*/ 22 h 97"/>
                    <a:gd name="T4" fmla="*/ 83 w 185"/>
                    <a:gd name="T5" fmla="*/ 97 h 97"/>
                    <a:gd name="T6" fmla="*/ 0 w 185"/>
                    <a:gd name="T7" fmla="*/ 74 h 97"/>
                    <a:gd name="T8" fmla="*/ 101 w 185"/>
                    <a:gd name="T9" fmla="*/ 0 h 97"/>
                  </a:gdLst>
                  <a:ahLst/>
                  <a:cxnLst>
                    <a:cxn ang="0">
                      <a:pos x="T0" y="T1"/>
                    </a:cxn>
                    <a:cxn ang="0">
                      <a:pos x="T2" y="T3"/>
                    </a:cxn>
                    <a:cxn ang="0">
                      <a:pos x="T4" y="T5"/>
                    </a:cxn>
                    <a:cxn ang="0">
                      <a:pos x="T6" y="T7"/>
                    </a:cxn>
                    <a:cxn ang="0">
                      <a:pos x="T8" y="T9"/>
                    </a:cxn>
                  </a:cxnLst>
                  <a:rect l="0" t="0" r="r" b="b"/>
                  <a:pathLst>
                    <a:path w="185" h="97">
                      <a:moveTo>
                        <a:pt x="101" y="0"/>
                      </a:moveTo>
                      <a:lnTo>
                        <a:pt x="185" y="22"/>
                      </a:lnTo>
                      <a:lnTo>
                        <a:pt x="83" y="97"/>
                      </a:lnTo>
                      <a:lnTo>
                        <a:pt x="0" y="74"/>
                      </a:lnTo>
                      <a:lnTo>
                        <a:pt x="101"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971" name="Group 107"/>
              <p:cNvGrpSpPr/>
              <p:nvPr/>
            </p:nvGrpSpPr>
            <p:grpSpPr bwMode="auto">
              <a:xfrm>
                <a:off x="816" y="2496"/>
                <a:ext cx="914" cy="940"/>
                <a:chOff x="4132" y="924"/>
                <a:chExt cx="1055" cy="1205"/>
              </a:xfrm>
            </p:grpSpPr>
            <p:grpSp>
              <p:nvGrpSpPr>
                <p:cNvPr id="36972" name="Group 108"/>
                <p:cNvGrpSpPr/>
                <p:nvPr/>
              </p:nvGrpSpPr>
              <p:grpSpPr bwMode="auto">
                <a:xfrm>
                  <a:off x="4132" y="1490"/>
                  <a:ext cx="1055" cy="639"/>
                  <a:chOff x="4132" y="1490"/>
                  <a:chExt cx="1055" cy="639"/>
                </a:xfrm>
              </p:grpSpPr>
              <p:sp>
                <p:nvSpPr>
                  <p:cNvPr id="36973" name="Freeform 109"/>
                  <p:cNvSpPr>
                    <a:spLocks noChangeAspect="1"/>
                  </p:cNvSpPr>
                  <p:nvPr/>
                </p:nvSpPr>
                <p:spPr bwMode="auto">
                  <a:xfrm>
                    <a:off x="4823" y="1647"/>
                    <a:ext cx="364" cy="422"/>
                  </a:xfrm>
                  <a:custGeom>
                    <a:avLst/>
                    <a:gdLst>
                      <a:gd name="T0" fmla="*/ 3 w 364"/>
                      <a:gd name="T1" fmla="*/ 212 h 422"/>
                      <a:gd name="T2" fmla="*/ 364 w 364"/>
                      <a:gd name="T3" fmla="*/ 0 h 422"/>
                      <a:gd name="T4" fmla="*/ 363 w 364"/>
                      <a:gd name="T5" fmla="*/ 191 h 422"/>
                      <a:gd name="T6" fmla="*/ 0 w 364"/>
                      <a:gd name="T7" fmla="*/ 422 h 422"/>
                    </a:gdLst>
                    <a:ahLst/>
                    <a:cxnLst>
                      <a:cxn ang="0">
                        <a:pos x="T0" y="T1"/>
                      </a:cxn>
                      <a:cxn ang="0">
                        <a:pos x="T2" y="T3"/>
                      </a:cxn>
                      <a:cxn ang="0">
                        <a:pos x="T4" y="T5"/>
                      </a:cxn>
                      <a:cxn ang="0">
                        <a:pos x="T6" y="T7"/>
                      </a:cxn>
                    </a:cxnLst>
                    <a:rect l="0" t="0" r="r" b="b"/>
                    <a:pathLst>
                      <a:path w="364" h="422">
                        <a:moveTo>
                          <a:pt x="3" y="212"/>
                        </a:moveTo>
                        <a:lnTo>
                          <a:pt x="364" y="0"/>
                        </a:lnTo>
                        <a:lnTo>
                          <a:pt x="363" y="191"/>
                        </a:lnTo>
                        <a:lnTo>
                          <a:pt x="0" y="422"/>
                        </a:lnTo>
                      </a:path>
                    </a:pathLst>
                  </a:custGeom>
                  <a:gradFill rotWithShape="0">
                    <a:gsLst>
                      <a:gs pos="0">
                        <a:srgbClr val="B2B2B2"/>
                      </a:gs>
                      <a:gs pos="100000">
                        <a:srgbClr val="B2B2B2">
                          <a:gamma/>
                          <a:tint val="34118"/>
                          <a:invGamma/>
                        </a:srgbClr>
                      </a:gs>
                    </a:gsLst>
                    <a:path path="rect">
                      <a:fillToRect l="100000" t="100000"/>
                    </a:path>
                  </a:gra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74" name="Freeform 110"/>
                  <p:cNvSpPr>
                    <a:spLocks noChangeAspect="1"/>
                  </p:cNvSpPr>
                  <p:nvPr/>
                </p:nvSpPr>
                <p:spPr bwMode="auto">
                  <a:xfrm>
                    <a:off x="4133" y="1490"/>
                    <a:ext cx="1054" cy="374"/>
                  </a:xfrm>
                  <a:custGeom>
                    <a:avLst/>
                    <a:gdLst>
                      <a:gd name="T0" fmla="*/ 691 w 1054"/>
                      <a:gd name="T1" fmla="*/ 374 h 374"/>
                      <a:gd name="T2" fmla="*/ 0 w 1054"/>
                      <a:gd name="T3" fmla="*/ 191 h 374"/>
                      <a:gd name="T4" fmla="*/ 363 w 1054"/>
                      <a:gd name="T5" fmla="*/ 0 h 374"/>
                      <a:gd name="T6" fmla="*/ 1054 w 1054"/>
                      <a:gd name="T7" fmla="*/ 157 h 374"/>
                      <a:gd name="T8" fmla="*/ 691 w 1054"/>
                      <a:gd name="T9" fmla="*/ 374 h 374"/>
                    </a:gdLst>
                    <a:ahLst/>
                    <a:cxnLst>
                      <a:cxn ang="0">
                        <a:pos x="T0" y="T1"/>
                      </a:cxn>
                      <a:cxn ang="0">
                        <a:pos x="T2" y="T3"/>
                      </a:cxn>
                      <a:cxn ang="0">
                        <a:pos x="T4" y="T5"/>
                      </a:cxn>
                      <a:cxn ang="0">
                        <a:pos x="T6" y="T7"/>
                      </a:cxn>
                      <a:cxn ang="0">
                        <a:pos x="T8" y="T9"/>
                      </a:cxn>
                    </a:cxnLst>
                    <a:rect l="0" t="0" r="r" b="b"/>
                    <a:pathLst>
                      <a:path w="1054" h="374">
                        <a:moveTo>
                          <a:pt x="691" y="374"/>
                        </a:moveTo>
                        <a:lnTo>
                          <a:pt x="0" y="191"/>
                        </a:lnTo>
                        <a:lnTo>
                          <a:pt x="363" y="0"/>
                        </a:lnTo>
                        <a:lnTo>
                          <a:pt x="1054" y="157"/>
                        </a:lnTo>
                        <a:lnTo>
                          <a:pt x="691" y="374"/>
                        </a:lnTo>
                      </a:path>
                    </a:pathLst>
                  </a:custGeom>
                  <a:gradFill rotWithShape="0">
                    <a:gsLst>
                      <a:gs pos="0">
                        <a:srgbClr val="B2B2B2"/>
                      </a:gs>
                      <a:gs pos="100000">
                        <a:srgbClr val="B2B2B2">
                          <a:gamma/>
                          <a:tint val="34118"/>
                          <a:invGamma/>
                        </a:srgbClr>
                      </a:gs>
                    </a:gsLst>
                    <a:path path="rect">
                      <a:fillToRect l="100000" t="100000"/>
                    </a:path>
                  </a:gra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75" name="Freeform 111"/>
                  <p:cNvSpPr>
                    <a:spLocks noChangeAspect="1"/>
                  </p:cNvSpPr>
                  <p:nvPr/>
                </p:nvSpPr>
                <p:spPr bwMode="auto">
                  <a:xfrm>
                    <a:off x="4132" y="1679"/>
                    <a:ext cx="691" cy="390"/>
                  </a:xfrm>
                  <a:custGeom>
                    <a:avLst/>
                    <a:gdLst>
                      <a:gd name="T0" fmla="*/ 0 w 690"/>
                      <a:gd name="T1" fmla="*/ 5 h 390"/>
                      <a:gd name="T2" fmla="*/ 0 w 690"/>
                      <a:gd name="T3" fmla="*/ 192 h 390"/>
                      <a:gd name="T4" fmla="*/ 690 w 690"/>
                      <a:gd name="T5" fmla="*/ 390 h 390"/>
                      <a:gd name="T6" fmla="*/ 690 w 690"/>
                      <a:gd name="T7" fmla="*/ 185 h 390"/>
                      <a:gd name="T8" fmla="*/ 4 w 690"/>
                      <a:gd name="T9" fmla="*/ 0 h 390"/>
                    </a:gdLst>
                    <a:ahLst/>
                    <a:cxnLst>
                      <a:cxn ang="0">
                        <a:pos x="T0" y="T1"/>
                      </a:cxn>
                      <a:cxn ang="0">
                        <a:pos x="T2" y="T3"/>
                      </a:cxn>
                      <a:cxn ang="0">
                        <a:pos x="T4" y="T5"/>
                      </a:cxn>
                      <a:cxn ang="0">
                        <a:pos x="T6" y="T7"/>
                      </a:cxn>
                      <a:cxn ang="0">
                        <a:pos x="T8" y="T9"/>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76" name="Freeform 112"/>
                  <p:cNvSpPr>
                    <a:spLocks noChangeAspect="1"/>
                  </p:cNvSpPr>
                  <p:nvPr/>
                </p:nvSpPr>
                <p:spPr bwMode="auto">
                  <a:xfrm>
                    <a:off x="4494" y="1817"/>
                    <a:ext cx="271" cy="189"/>
                  </a:xfrm>
                  <a:custGeom>
                    <a:avLst/>
                    <a:gdLst>
                      <a:gd name="T0" fmla="*/ 0 w 271"/>
                      <a:gd name="T1" fmla="*/ 0 h 189"/>
                      <a:gd name="T2" fmla="*/ 271 w 271"/>
                      <a:gd name="T3" fmla="*/ 73 h 189"/>
                      <a:gd name="T4" fmla="*/ 271 w 271"/>
                      <a:gd name="T5" fmla="*/ 189 h 189"/>
                      <a:gd name="T6" fmla="*/ 0 w 271"/>
                      <a:gd name="T7" fmla="*/ 115 h 189"/>
                      <a:gd name="T8" fmla="*/ 0 w 271"/>
                      <a:gd name="T9" fmla="*/ 0 h 189"/>
                    </a:gdLst>
                    <a:ahLst/>
                    <a:cxnLst>
                      <a:cxn ang="0">
                        <a:pos x="T0" y="T1"/>
                      </a:cxn>
                      <a:cxn ang="0">
                        <a:pos x="T2" y="T3"/>
                      </a:cxn>
                      <a:cxn ang="0">
                        <a:pos x="T4" y="T5"/>
                      </a:cxn>
                      <a:cxn ang="0">
                        <a:pos x="T6" y="T7"/>
                      </a:cxn>
                      <a:cxn ang="0">
                        <a:pos x="T8" y="T9"/>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a:noFill/>
                  </a:ln>
                  <a:effectLst/>
                  <a:extLst>
                    <a:ext uri="{91240B29-F687-4F45-9708-019B960494DF}">
                      <a14:hiddenLine xmlns:a14="http://schemas.microsoft.com/office/drawing/2010/main" w="6350">
                        <a:solidFill>
                          <a:srgbClr val="A9A9A9"/>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77" name="Freeform 113"/>
                  <p:cNvSpPr>
                    <a:spLocks noChangeAspect="1" noChangeArrowheads="1"/>
                  </p:cNvSpPr>
                  <p:nvPr/>
                </p:nvSpPr>
                <p:spPr bwMode="auto">
                  <a:xfrm>
                    <a:off x="4500" y="1887"/>
                    <a:ext cx="261" cy="69"/>
                  </a:xfrm>
                  <a:custGeom>
                    <a:avLst/>
                    <a:gdLst>
                      <a:gd name="T0" fmla="*/ 0 w 261"/>
                      <a:gd name="T1" fmla="*/ 0 h 69"/>
                      <a:gd name="T2" fmla="*/ 261 w 261"/>
                      <a:gd name="T3" fmla="*/ 69 h 69"/>
                    </a:gdLst>
                    <a:ahLst/>
                    <a:cxnLst>
                      <a:cxn ang="0">
                        <a:pos x="T0" y="T1"/>
                      </a:cxn>
                      <a:cxn ang="0">
                        <a:pos x="T2" y="T3"/>
                      </a:cxn>
                    </a:cxnLst>
                    <a:rect l="0" t="0" r="r" b="b"/>
                    <a:pathLst>
                      <a:path w="261" h="69">
                        <a:moveTo>
                          <a:pt x="0" y="0"/>
                        </a:moveTo>
                        <a:lnTo>
                          <a:pt x="261" y="69"/>
                        </a:lnTo>
                      </a:path>
                    </a:pathLst>
                  </a:custGeom>
                  <a:noFill/>
                  <a:ln w="6350">
                    <a:solidFill>
                      <a:srgbClr val="777777"/>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78" name="Freeform 114"/>
                  <p:cNvSpPr/>
                  <p:nvPr/>
                </p:nvSpPr>
                <p:spPr bwMode="auto">
                  <a:xfrm>
                    <a:off x="4493" y="1702"/>
                    <a:ext cx="171" cy="343"/>
                  </a:xfrm>
                  <a:custGeom>
                    <a:avLst/>
                    <a:gdLst>
                      <a:gd name="T0" fmla="*/ 0 w 270"/>
                      <a:gd name="T1" fmla="*/ 116 h 116"/>
                      <a:gd name="T2" fmla="*/ 1 w 270"/>
                      <a:gd name="T3" fmla="*/ 0 h 116"/>
                      <a:gd name="T4" fmla="*/ 270 w 270"/>
                      <a:gd name="T5" fmla="*/ 75 h 116"/>
                    </a:gdLst>
                    <a:ahLst/>
                    <a:cxnLst>
                      <a:cxn ang="0">
                        <a:pos x="T0" y="T1"/>
                      </a:cxn>
                      <a:cxn ang="0">
                        <a:pos x="T2" y="T3"/>
                      </a:cxn>
                      <a:cxn ang="0">
                        <a:pos x="T4" y="T5"/>
                      </a:cxn>
                    </a:cxnLst>
                    <a:rect l="0" t="0" r="r" b="b"/>
                    <a:pathLst>
                      <a:path w="270" h="116">
                        <a:moveTo>
                          <a:pt x="0" y="116"/>
                        </a:moveTo>
                        <a:lnTo>
                          <a:pt x="1" y="0"/>
                        </a:lnTo>
                        <a:lnTo>
                          <a:pt x="270" y="75"/>
                        </a:lnTo>
                      </a:path>
                    </a:pathLst>
                  </a:custGeom>
                  <a:noFill/>
                  <a:ln w="6350" cap="flat" cmpd="sng">
                    <a:solidFill>
                      <a:srgbClr val="777777"/>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6979" name="Line 115"/>
                  <p:cNvSpPr>
                    <a:spLocks noChangeShapeType="1"/>
                  </p:cNvSpPr>
                  <p:nvPr/>
                </p:nvSpPr>
                <p:spPr bwMode="auto">
                  <a:xfrm>
                    <a:off x="4518" y="1854"/>
                    <a:ext cx="211" cy="54"/>
                  </a:xfrm>
                  <a:prstGeom prst="line">
                    <a:avLst/>
                  </a:prstGeom>
                  <a:noFill/>
                  <a:ln w="6350">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6980" name="Line 116"/>
                  <p:cNvSpPr>
                    <a:spLocks noChangeShapeType="1"/>
                  </p:cNvSpPr>
                  <p:nvPr/>
                </p:nvSpPr>
                <p:spPr bwMode="auto">
                  <a:xfrm>
                    <a:off x="4697" y="1962"/>
                    <a:ext cx="41" cy="9"/>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6981" name="Freeform 117"/>
                  <p:cNvSpPr/>
                  <p:nvPr/>
                </p:nvSpPr>
                <p:spPr bwMode="auto">
                  <a:xfrm>
                    <a:off x="4584" y="1715"/>
                    <a:ext cx="64" cy="343"/>
                  </a:xfrm>
                  <a:custGeom>
                    <a:avLst/>
                    <a:gdLst>
                      <a:gd name="T0" fmla="*/ 0 w 64"/>
                      <a:gd name="T1" fmla="*/ 0 h 35"/>
                      <a:gd name="T2" fmla="*/ 1 w 64"/>
                      <a:gd name="T3" fmla="*/ 18 h 35"/>
                      <a:gd name="T4" fmla="*/ 64 w 64"/>
                      <a:gd name="T5" fmla="*/ 35 h 35"/>
                      <a:gd name="T6" fmla="*/ 64 w 64"/>
                      <a:gd name="T7" fmla="*/ 19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1" y="18"/>
                        </a:lnTo>
                        <a:lnTo>
                          <a:pt x="64" y="35"/>
                        </a:lnTo>
                        <a:lnTo>
                          <a:pt x="64" y="19"/>
                        </a:lnTo>
                        <a:lnTo>
                          <a:pt x="0" y="0"/>
                        </a:lnTo>
                        <a:close/>
                      </a:path>
                    </a:pathLst>
                  </a:custGeom>
                  <a:solidFill>
                    <a:srgbClr val="777777"/>
                  </a:solidFill>
                  <a:ln>
                    <a:noFill/>
                  </a:ln>
                  <a:effectLst/>
                  <a:extLst>
                    <a:ext uri="{91240B29-F687-4F45-9708-019B960494DF}">
                      <a14:hiddenLine xmlns:a14="http://schemas.microsoft.com/office/drawing/2010/main" w="19050">
                        <a:solidFill>
                          <a:schemeClr val="tx2"/>
                        </a:solidFill>
                        <a:prstDash val="solid"/>
                        <a:round/>
                        <a:headEnd type="none" w="med" len="med"/>
                        <a:tailEnd type="none" w="med" len="me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tIns="27432" bIns="27432" anchor="ctr">
                    <a:spAutoFit/>
                  </a:bodyPr>
                  <a:lstStyle/>
                  <a:p>
                    <a:endParaRPr lang="zh-CN" altLang="en-US"/>
                  </a:p>
                </p:txBody>
              </p:sp>
              <p:sp>
                <p:nvSpPr>
                  <p:cNvPr id="36982" name="Line 118"/>
                  <p:cNvSpPr>
                    <a:spLocks noChangeShapeType="1"/>
                  </p:cNvSpPr>
                  <p:nvPr/>
                </p:nvSpPr>
                <p:spPr bwMode="auto">
                  <a:xfrm>
                    <a:off x="4151" y="1751"/>
                    <a:ext cx="279" cy="78"/>
                  </a:xfrm>
                  <a:prstGeom prst="line">
                    <a:avLst/>
                  </a:prstGeom>
                  <a:noFill/>
                  <a:ln w="6350">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tIns="27432" bIns="27432" anchor="ctr">
                    <a:spAutoFit/>
                  </a:bodyPr>
                  <a:lstStyle/>
                  <a:p>
                    <a:endParaRPr lang="zh-CN" altLang="en-US"/>
                  </a:p>
                </p:txBody>
              </p:sp>
              <p:sp>
                <p:nvSpPr>
                  <p:cNvPr id="36983" name="Line 119"/>
                  <p:cNvSpPr>
                    <a:spLocks noChangeShapeType="1"/>
                  </p:cNvSpPr>
                  <p:nvPr/>
                </p:nvSpPr>
                <p:spPr bwMode="auto">
                  <a:xfrm>
                    <a:off x="4151" y="1783"/>
                    <a:ext cx="279" cy="78"/>
                  </a:xfrm>
                  <a:prstGeom prst="line">
                    <a:avLst/>
                  </a:prstGeom>
                  <a:noFill/>
                  <a:ln w="6350">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tIns="27432" bIns="27432" anchor="ctr">
                    <a:spAutoFit/>
                  </a:bodyPr>
                  <a:lstStyle/>
                  <a:p>
                    <a:endParaRPr lang="zh-CN" altLang="en-US"/>
                  </a:p>
                </p:txBody>
              </p:sp>
              <p:sp>
                <p:nvSpPr>
                  <p:cNvPr id="36984" name="Line 120"/>
                  <p:cNvSpPr>
                    <a:spLocks noChangeShapeType="1"/>
                  </p:cNvSpPr>
                  <p:nvPr/>
                </p:nvSpPr>
                <p:spPr bwMode="auto">
                  <a:xfrm>
                    <a:off x="4151" y="1813"/>
                    <a:ext cx="279" cy="78"/>
                  </a:xfrm>
                  <a:prstGeom prst="line">
                    <a:avLst/>
                  </a:prstGeom>
                  <a:noFill/>
                  <a:ln w="6350">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tIns="27432" bIns="27432" anchor="ctr">
                    <a:spAutoFit/>
                  </a:bodyPr>
                  <a:lstStyle/>
                  <a:p>
                    <a:endParaRPr lang="zh-CN" altLang="en-US"/>
                  </a:p>
                </p:txBody>
              </p:sp>
              <p:sp>
                <p:nvSpPr>
                  <p:cNvPr id="36985" name="Freeform 121"/>
                  <p:cNvSpPr/>
                  <p:nvPr/>
                </p:nvSpPr>
                <p:spPr bwMode="auto">
                  <a:xfrm>
                    <a:off x="4496" y="1786"/>
                    <a:ext cx="171" cy="343"/>
                  </a:xfrm>
                  <a:custGeom>
                    <a:avLst/>
                    <a:gdLst>
                      <a:gd name="T0" fmla="*/ 0 w 275"/>
                      <a:gd name="T1" fmla="*/ 40 h 117"/>
                      <a:gd name="T2" fmla="*/ 275 w 275"/>
                      <a:gd name="T3" fmla="*/ 117 h 117"/>
                      <a:gd name="T4" fmla="*/ 275 w 275"/>
                      <a:gd name="T5" fmla="*/ 0 h 117"/>
                    </a:gdLst>
                    <a:ahLst/>
                    <a:cxnLst>
                      <a:cxn ang="0">
                        <a:pos x="T0" y="T1"/>
                      </a:cxn>
                      <a:cxn ang="0">
                        <a:pos x="T2" y="T3"/>
                      </a:cxn>
                      <a:cxn ang="0">
                        <a:pos x="T4" y="T5"/>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grpSp>
            <p:grpSp>
              <p:nvGrpSpPr>
                <p:cNvPr id="36986" name="Group 122"/>
                <p:cNvGrpSpPr/>
                <p:nvPr/>
              </p:nvGrpSpPr>
              <p:grpSpPr bwMode="auto">
                <a:xfrm>
                  <a:off x="4248" y="924"/>
                  <a:ext cx="908" cy="854"/>
                  <a:chOff x="4248" y="924"/>
                  <a:chExt cx="908" cy="854"/>
                </a:xfrm>
              </p:grpSpPr>
              <p:sp>
                <p:nvSpPr>
                  <p:cNvPr id="36987" name="Freeform 123"/>
                  <p:cNvSpPr/>
                  <p:nvPr/>
                </p:nvSpPr>
                <p:spPr bwMode="auto">
                  <a:xfrm>
                    <a:off x="4317" y="1480"/>
                    <a:ext cx="707" cy="298"/>
                  </a:xfrm>
                  <a:custGeom>
                    <a:avLst/>
                    <a:gdLst>
                      <a:gd name="T0" fmla="*/ 0 w 707"/>
                      <a:gd name="T1" fmla="*/ 163 h 298"/>
                      <a:gd name="T2" fmla="*/ 303 w 707"/>
                      <a:gd name="T3" fmla="*/ 0 h 298"/>
                      <a:gd name="T4" fmla="*/ 707 w 707"/>
                      <a:gd name="T5" fmla="*/ 116 h 298"/>
                      <a:gd name="T6" fmla="*/ 707 w 707"/>
                      <a:gd name="T7" fmla="*/ 138 h 298"/>
                      <a:gd name="T8" fmla="*/ 417 w 707"/>
                      <a:gd name="T9" fmla="*/ 298 h 298"/>
                      <a:gd name="T10" fmla="*/ 0 w 707"/>
                      <a:gd name="T11" fmla="*/ 188 h 298"/>
                      <a:gd name="T12" fmla="*/ 0 w 707"/>
                      <a:gd name="T13" fmla="*/ 163 h 298"/>
                    </a:gdLst>
                    <a:ahLst/>
                    <a:cxnLst>
                      <a:cxn ang="0">
                        <a:pos x="T0" y="T1"/>
                      </a:cxn>
                      <a:cxn ang="0">
                        <a:pos x="T2" y="T3"/>
                      </a:cxn>
                      <a:cxn ang="0">
                        <a:pos x="T4" y="T5"/>
                      </a:cxn>
                      <a:cxn ang="0">
                        <a:pos x="T6" y="T7"/>
                      </a:cxn>
                      <a:cxn ang="0">
                        <a:pos x="T8" y="T9"/>
                      </a:cxn>
                      <a:cxn ang="0">
                        <a:pos x="T10" y="T11"/>
                      </a:cxn>
                      <a:cxn ang="0">
                        <a:pos x="T12" y="T13"/>
                      </a:cxn>
                    </a:cxnLst>
                    <a:rect l="0" t="0" r="r" b="b"/>
                    <a:pathLst>
                      <a:path w="707" h="298">
                        <a:moveTo>
                          <a:pt x="0" y="163"/>
                        </a:moveTo>
                        <a:lnTo>
                          <a:pt x="303" y="0"/>
                        </a:lnTo>
                        <a:lnTo>
                          <a:pt x="707" y="116"/>
                        </a:lnTo>
                        <a:lnTo>
                          <a:pt x="707" y="138"/>
                        </a:lnTo>
                        <a:lnTo>
                          <a:pt x="417" y="298"/>
                        </a:lnTo>
                        <a:lnTo>
                          <a:pt x="0" y="188"/>
                        </a:lnTo>
                        <a:lnTo>
                          <a:pt x="0" y="163"/>
                        </a:lnTo>
                        <a:close/>
                      </a:path>
                    </a:pathLst>
                  </a:custGeom>
                  <a:solidFill>
                    <a:srgbClr val="DDDDDD"/>
                  </a:solidFill>
                  <a:ln w="635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88" name="Freeform 124"/>
                  <p:cNvSpPr/>
                  <p:nvPr/>
                </p:nvSpPr>
                <p:spPr bwMode="auto">
                  <a:xfrm>
                    <a:off x="4325" y="1486"/>
                    <a:ext cx="685" cy="264"/>
                  </a:xfrm>
                  <a:custGeom>
                    <a:avLst/>
                    <a:gdLst>
                      <a:gd name="T0" fmla="*/ 0 w 685"/>
                      <a:gd name="T1" fmla="*/ 158 h 264"/>
                      <a:gd name="T2" fmla="*/ 409 w 685"/>
                      <a:gd name="T3" fmla="*/ 264 h 264"/>
                      <a:gd name="T4" fmla="*/ 685 w 685"/>
                      <a:gd name="T5" fmla="*/ 110 h 264"/>
                      <a:gd name="T6" fmla="*/ 297 w 685"/>
                      <a:gd name="T7" fmla="*/ 0 h 264"/>
                      <a:gd name="T8" fmla="*/ 0 w 685"/>
                      <a:gd name="T9" fmla="*/ 158 h 264"/>
                    </a:gdLst>
                    <a:ahLst/>
                    <a:cxnLst>
                      <a:cxn ang="0">
                        <a:pos x="T0" y="T1"/>
                      </a:cxn>
                      <a:cxn ang="0">
                        <a:pos x="T2" y="T3"/>
                      </a:cxn>
                      <a:cxn ang="0">
                        <a:pos x="T4" y="T5"/>
                      </a:cxn>
                      <a:cxn ang="0">
                        <a:pos x="T6" y="T7"/>
                      </a:cxn>
                      <a:cxn ang="0">
                        <a:pos x="T8" y="T9"/>
                      </a:cxn>
                    </a:cxnLst>
                    <a:rect l="0" t="0" r="r" b="b"/>
                    <a:pathLst>
                      <a:path w="685" h="264">
                        <a:moveTo>
                          <a:pt x="0" y="158"/>
                        </a:moveTo>
                        <a:lnTo>
                          <a:pt x="409" y="264"/>
                        </a:lnTo>
                        <a:lnTo>
                          <a:pt x="685" y="110"/>
                        </a:lnTo>
                        <a:lnTo>
                          <a:pt x="297" y="0"/>
                        </a:lnTo>
                        <a:lnTo>
                          <a:pt x="0" y="158"/>
                        </a:lnTo>
                        <a:close/>
                      </a:path>
                    </a:pathLst>
                  </a:custGeom>
                  <a:solidFill>
                    <a:srgbClr val="B2B2B2"/>
                  </a:solidFill>
                  <a:ln>
                    <a:noFill/>
                  </a:ln>
                  <a:effectLst/>
                  <a:extLst>
                    <a:ext uri="{91240B29-F687-4F45-9708-019B960494DF}">
                      <a14:hiddenLine xmlns:a14="http://schemas.microsoft.com/office/drawing/2010/main" w="6350">
                        <a:solidFill>
                          <a:schemeClr val="folHlink"/>
                        </a:solidFill>
                        <a:prstDash val="solid"/>
                        <a:round/>
                        <a:headEnd type="none" w="med" len="med"/>
                        <a:tailEnd type="none" w="med" len="med"/>
                      </a14:hiddenLine>
                    </a:ext>
                    <a:ext uri="{AF507438-7753-43E0-B8FC-AC1667EBCBE1}">
                      <a14:hiddenEffects xmlns:a14="http://schemas.microsoft.com/office/drawing/2010/main">
                        <a:effectLst>
                          <a:outerShdw dist="12700" dir="5400000" algn="ctr" rotWithShape="0">
                            <a:schemeClr val="bg1"/>
                          </a:outerShdw>
                        </a:effectLst>
                      </a14:hiddenEffects>
                    </a:ext>
                  </a:extLst>
                </p:spPr>
                <p:txBody>
                  <a:bodyPr/>
                  <a:lstStyle/>
                  <a:p>
                    <a:endParaRPr lang="zh-CN" altLang="en-US"/>
                  </a:p>
                </p:txBody>
              </p:sp>
              <p:sp>
                <p:nvSpPr>
                  <p:cNvPr id="36989" name="Oval 125"/>
                  <p:cNvSpPr>
                    <a:spLocks noChangeArrowheads="1"/>
                  </p:cNvSpPr>
                  <p:nvPr/>
                </p:nvSpPr>
                <p:spPr bwMode="auto">
                  <a:xfrm>
                    <a:off x="4496" y="1551"/>
                    <a:ext cx="356" cy="143"/>
                  </a:xfrm>
                  <a:prstGeom prst="ellipse">
                    <a:avLst/>
                  </a:prstGeom>
                  <a:solidFill>
                    <a:srgbClr val="B2B2B2"/>
                  </a:solidFill>
                  <a:ln w="6350"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90" name="Freeform 126"/>
                  <p:cNvSpPr/>
                  <p:nvPr/>
                </p:nvSpPr>
                <p:spPr bwMode="auto">
                  <a:xfrm>
                    <a:off x="4302" y="1557"/>
                    <a:ext cx="574" cy="160"/>
                  </a:xfrm>
                  <a:custGeom>
                    <a:avLst/>
                    <a:gdLst>
                      <a:gd name="T0" fmla="*/ 0 w 646"/>
                      <a:gd name="T1" fmla="*/ 0 h 180"/>
                      <a:gd name="T2" fmla="*/ 20 w 646"/>
                      <a:gd name="T3" fmla="*/ 36 h 180"/>
                      <a:gd name="T4" fmla="*/ 574 w 646"/>
                      <a:gd name="T5" fmla="*/ 180 h 180"/>
                      <a:gd name="T6" fmla="*/ 646 w 646"/>
                      <a:gd name="T7" fmla="*/ 158 h 180"/>
                    </a:gdLst>
                    <a:ahLst/>
                    <a:cxnLst>
                      <a:cxn ang="0">
                        <a:pos x="T0" y="T1"/>
                      </a:cxn>
                      <a:cxn ang="0">
                        <a:pos x="T2" y="T3"/>
                      </a:cxn>
                      <a:cxn ang="0">
                        <a:pos x="T4" y="T5"/>
                      </a:cxn>
                      <a:cxn ang="0">
                        <a:pos x="T6" y="T7"/>
                      </a:cxn>
                    </a:cxnLst>
                    <a:rect l="0" t="0" r="r" b="b"/>
                    <a:pathLst>
                      <a:path w="646" h="180">
                        <a:moveTo>
                          <a:pt x="0" y="0"/>
                        </a:moveTo>
                        <a:lnTo>
                          <a:pt x="20" y="36"/>
                        </a:lnTo>
                        <a:lnTo>
                          <a:pt x="574" y="180"/>
                        </a:lnTo>
                        <a:lnTo>
                          <a:pt x="646" y="158"/>
                        </a:lnTo>
                      </a:path>
                    </a:pathLst>
                  </a:custGeom>
                  <a:solidFill>
                    <a:srgbClr val="B2B2B2"/>
                  </a:soli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91" name="Freeform 127"/>
                  <p:cNvSpPr>
                    <a:spLocks noChangeAspect="1"/>
                  </p:cNvSpPr>
                  <p:nvPr/>
                </p:nvSpPr>
                <p:spPr bwMode="auto">
                  <a:xfrm>
                    <a:off x="4439" y="924"/>
                    <a:ext cx="717" cy="662"/>
                  </a:xfrm>
                  <a:custGeom>
                    <a:avLst/>
                    <a:gdLst>
                      <a:gd name="T0" fmla="*/ 620 w 808"/>
                      <a:gd name="T1" fmla="*/ 746 h 746"/>
                      <a:gd name="T2" fmla="*/ 808 w 808"/>
                      <a:gd name="T3" fmla="*/ 525 h 746"/>
                      <a:gd name="T4" fmla="*/ 808 w 808"/>
                      <a:gd name="T5" fmla="*/ 106 h 746"/>
                      <a:gd name="T6" fmla="*/ 336 w 808"/>
                      <a:gd name="T7" fmla="*/ 0 h 746"/>
                      <a:gd name="T8" fmla="*/ 0 w 808"/>
                      <a:gd name="T9" fmla="*/ 48 h 746"/>
                    </a:gdLst>
                    <a:ahLst/>
                    <a:cxnLst>
                      <a:cxn ang="0">
                        <a:pos x="T0" y="T1"/>
                      </a:cxn>
                      <a:cxn ang="0">
                        <a:pos x="T2" y="T3"/>
                      </a:cxn>
                      <a:cxn ang="0">
                        <a:pos x="T4" y="T5"/>
                      </a:cxn>
                      <a:cxn ang="0">
                        <a:pos x="T6" y="T7"/>
                      </a:cxn>
                      <a:cxn ang="0">
                        <a:pos x="T8" y="T9"/>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92" name="Freeform 128"/>
                  <p:cNvSpPr>
                    <a:spLocks noChangeAspect="1"/>
                  </p:cNvSpPr>
                  <p:nvPr/>
                </p:nvSpPr>
                <p:spPr bwMode="auto">
                  <a:xfrm>
                    <a:off x="4886" y="1070"/>
                    <a:ext cx="144" cy="644"/>
                  </a:xfrm>
                  <a:custGeom>
                    <a:avLst/>
                    <a:gdLst>
                      <a:gd name="T0" fmla="*/ 0 w 144"/>
                      <a:gd name="T1" fmla="*/ 644 h 644"/>
                      <a:gd name="T2" fmla="*/ 0 w 144"/>
                      <a:gd name="T3" fmla="*/ 79 h 644"/>
                      <a:gd name="T4" fmla="*/ 144 w 144"/>
                      <a:gd name="T5" fmla="*/ 0 h 644"/>
                      <a:gd name="T6" fmla="*/ 144 w 144"/>
                      <a:gd name="T7" fmla="*/ 554 h 644"/>
                      <a:gd name="T8" fmla="*/ 0 w 144"/>
                      <a:gd name="T9" fmla="*/ 644 h 644"/>
                    </a:gdLst>
                    <a:ahLst/>
                    <a:cxnLst>
                      <a:cxn ang="0">
                        <a:pos x="T0" y="T1"/>
                      </a:cxn>
                      <a:cxn ang="0">
                        <a:pos x="T2" y="T3"/>
                      </a:cxn>
                      <a:cxn ang="0">
                        <a:pos x="T4" y="T5"/>
                      </a:cxn>
                      <a:cxn ang="0">
                        <a:pos x="T6" y="T7"/>
                      </a:cxn>
                      <a:cxn ang="0">
                        <a:pos x="T8" y="T9"/>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93" name="Freeform 129"/>
                  <p:cNvSpPr>
                    <a:spLocks noChangeAspect="1"/>
                  </p:cNvSpPr>
                  <p:nvPr/>
                </p:nvSpPr>
                <p:spPr bwMode="auto">
                  <a:xfrm>
                    <a:off x="4248" y="931"/>
                    <a:ext cx="782" cy="219"/>
                  </a:xfrm>
                  <a:custGeom>
                    <a:avLst/>
                    <a:gdLst>
                      <a:gd name="T0" fmla="*/ 638 w 782"/>
                      <a:gd name="T1" fmla="*/ 219 h 219"/>
                      <a:gd name="T2" fmla="*/ 0 w 782"/>
                      <a:gd name="T3" fmla="*/ 67 h 219"/>
                      <a:gd name="T4" fmla="*/ 160 w 782"/>
                      <a:gd name="T5" fmla="*/ 0 h 219"/>
                      <a:gd name="T6" fmla="*/ 782 w 782"/>
                      <a:gd name="T7" fmla="*/ 139 h 219"/>
                      <a:gd name="T8" fmla="*/ 638 w 782"/>
                      <a:gd name="T9" fmla="*/ 219 h 219"/>
                    </a:gdLst>
                    <a:ahLst/>
                    <a:cxnLst>
                      <a:cxn ang="0">
                        <a:pos x="T0" y="T1"/>
                      </a:cxn>
                      <a:cxn ang="0">
                        <a:pos x="T2" y="T3"/>
                      </a:cxn>
                      <a:cxn ang="0">
                        <a:pos x="T4" y="T5"/>
                      </a:cxn>
                      <a:cxn ang="0">
                        <a:pos x="T6" y="T7"/>
                      </a:cxn>
                      <a:cxn ang="0">
                        <a:pos x="T8" y="T9"/>
                      </a:cxn>
                    </a:cxnLst>
                    <a:rect l="0" t="0" r="r" b="b"/>
                    <a:pathLst>
                      <a:path w="782" h="219">
                        <a:moveTo>
                          <a:pt x="638" y="219"/>
                        </a:moveTo>
                        <a:lnTo>
                          <a:pt x="0" y="67"/>
                        </a:lnTo>
                        <a:lnTo>
                          <a:pt x="160" y="0"/>
                        </a:lnTo>
                        <a:lnTo>
                          <a:pt x="782" y="139"/>
                        </a:lnTo>
                        <a:lnTo>
                          <a:pt x="638" y="219"/>
                        </a:lnTo>
                      </a:path>
                    </a:pathLst>
                  </a:custGeom>
                  <a:solidFill>
                    <a:schemeClr val="bg1"/>
                  </a:soli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94" name="Freeform 130"/>
                  <p:cNvSpPr>
                    <a:spLocks noChangeAspect="1"/>
                  </p:cNvSpPr>
                  <p:nvPr/>
                </p:nvSpPr>
                <p:spPr bwMode="auto">
                  <a:xfrm>
                    <a:off x="4248" y="997"/>
                    <a:ext cx="639" cy="720"/>
                  </a:xfrm>
                  <a:custGeom>
                    <a:avLst/>
                    <a:gdLst>
                      <a:gd name="T0" fmla="*/ 671 w 672"/>
                      <a:gd name="T1" fmla="*/ 753 h 754"/>
                      <a:gd name="T2" fmla="*/ 671 w 672"/>
                      <a:gd name="T3" fmla="*/ 160 h 754"/>
                      <a:gd name="T4" fmla="*/ 0 w 672"/>
                      <a:gd name="T5" fmla="*/ 0 h 754"/>
                      <a:gd name="T6" fmla="*/ 0 w 672"/>
                      <a:gd name="T7" fmla="*/ 578 h 754"/>
                      <a:gd name="T8" fmla="*/ 671 w 672"/>
                      <a:gd name="T9" fmla="*/ 753 h 754"/>
                    </a:gdLst>
                    <a:ahLst/>
                    <a:cxnLst>
                      <a:cxn ang="0">
                        <a:pos x="T0" y="T1"/>
                      </a:cxn>
                      <a:cxn ang="0">
                        <a:pos x="T2" y="T3"/>
                      </a:cxn>
                      <a:cxn ang="0">
                        <a:pos x="T4" y="T5"/>
                      </a:cxn>
                      <a:cxn ang="0">
                        <a:pos x="T6" y="T7"/>
                      </a:cxn>
                      <a:cxn ang="0">
                        <a:pos x="T8" y="T9"/>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63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95" name="Freeform 131"/>
                  <p:cNvSpPr>
                    <a:spLocks noChangeAspect="1"/>
                  </p:cNvSpPr>
                  <p:nvPr/>
                </p:nvSpPr>
                <p:spPr bwMode="auto">
                  <a:xfrm>
                    <a:off x="4298" y="1060"/>
                    <a:ext cx="540" cy="591"/>
                  </a:xfrm>
                  <a:custGeom>
                    <a:avLst/>
                    <a:gdLst>
                      <a:gd name="T0" fmla="*/ 490 w 491"/>
                      <a:gd name="T1" fmla="*/ 548 h 549"/>
                      <a:gd name="T2" fmla="*/ 490 w 491"/>
                      <a:gd name="T3" fmla="*/ 117 h 549"/>
                      <a:gd name="T4" fmla="*/ 0 w 491"/>
                      <a:gd name="T5" fmla="*/ 0 h 549"/>
                      <a:gd name="T6" fmla="*/ 0 w 491"/>
                      <a:gd name="T7" fmla="*/ 424 h 549"/>
                      <a:gd name="T8" fmla="*/ 490 w 491"/>
                      <a:gd name="T9" fmla="*/ 548 h 549"/>
                    </a:gdLst>
                    <a:ahLst/>
                    <a:cxnLst>
                      <a:cxn ang="0">
                        <a:pos x="T0" y="T1"/>
                      </a:cxn>
                      <a:cxn ang="0">
                        <a:pos x="T2" y="T3"/>
                      </a:cxn>
                      <a:cxn ang="0">
                        <a:pos x="T4" y="T5"/>
                      </a:cxn>
                      <a:cxn ang="0">
                        <a:pos x="T6" y="T7"/>
                      </a:cxn>
                      <a:cxn ang="0">
                        <a:pos x="T8" y="T9"/>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96" name="Freeform 132"/>
                  <p:cNvSpPr/>
                  <p:nvPr/>
                </p:nvSpPr>
                <p:spPr bwMode="auto">
                  <a:xfrm>
                    <a:off x="4331" y="1100"/>
                    <a:ext cx="473" cy="509"/>
                  </a:xfrm>
                  <a:custGeom>
                    <a:avLst/>
                    <a:gdLst>
                      <a:gd name="T0" fmla="*/ 0 w 542"/>
                      <a:gd name="T1" fmla="*/ 0 h 592"/>
                      <a:gd name="T2" fmla="*/ 0 w 542"/>
                      <a:gd name="T3" fmla="*/ 454 h 592"/>
                      <a:gd name="T4" fmla="*/ 542 w 542"/>
                      <a:gd name="T5" fmla="*/ 592 h 592"/>
                      <a:gd name="T6" fmla="*/ 542 w 542"/>
                      <a:gd name="T7" fmla="*/ 130 h 592"/>
                      <a:gd name="T8" fmla="*/ 0 w 542"/>
                      <a:gd name="T9" fmla="*/ 0 h 592"/>
                    </a:gdLst>
                    <a:ahLst/>
                    <a:cxnLst>
                      <a:cxn ang="0">
                        <a:pos x="T0" y="T1"/>
                      </a:cxn>
                      <a:cxn ang="0">
                        <a:pos x="T2" y="T3"/>
                      </a:cxn>
                      <a:cxn ang="0">
                        <a:pos x="T4" y="T5"/>
                      </a:cxn>
                      <a:cxn ang="0">
                        <a:pos x="T6" y="T7"/>
                      </a:cxn>
                      <a:cxn ang="0">
                        <a:pos x="T8" y="T9"/>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zh-CN" altLang="en-US"/>
                  </a:p>
                </p:txBody>
              </p:sp>
              <p:sp>
                <p:nvSpPr>
                  <p:cNvPr id="36997" name="Line 133"/>
                  <p:cNvSpPr>
                    <a:spLocks noChangeShapeType="1"/>
                  </p:cNvSpPr>
                  <p:nvPr/>
                </p:nvSpPr>
                <p:spPr bwMode="auto">
                  <a:xfrm>
                    <a:off x="4372" y="1141"/>
                    <a:ext cx="0" cy="78"/>
                  </a:xfrm>
                  <a:prstGeom prst="line">
                    <a:avLst/>
                  </a:prstGeom>
                  <a:noFill/>
                  <a:ln w="254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36998" name="Line 134"/>
            <p:cNvSpPr>
              <a:spLocks noChangeShapeType="1"/>
            </p:cNvSpPr>
            <p:nvPr/>
          </p:nvSpPr>
          <p:spPr bwMode="auto">
            <a:xfrm>
              <a:off x="3790" y="1642"/>
              <a:ext cx="960" cy="240"/>
            </a:xfrm>
            <a:prstGeom prst="line">
              <a:avLst/>
            </a:prstGeom>
            <a:noFill/>
            <a:ln w="57150">
              <a:solidFill>
                <a:srgbClr val="0099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6999" name="Group 135"/>
            <p:cNvGrpSpPr/>
            <p:nvPr/>
          </p:nvGrpSpPr>
          <p:grpSpPr bwMode="auto">
            <a:xfrm>
              <a:off x="4558" y="1162"/>
              <a:ext cx="549" cy="887"/>
              <a:chOff x="752" y="760"/>
              <a:chExt cx="626" cy="1012"/>
            </a:xfrm>
          </p:grpSpPr>
          <p:sp>
            <p:nvSpPr>
              <p:cNvPr id="37000" name="Freeform 136"/>
              <p:cNvSpPr/>
              <p:nvPr/>
            </p:nvSpPr>
            <p:spPr bwMode="auto">
              <a:xfrm>
                <a:off x="754" y="760"/>
                <a:ext cx="623" cy="217"/>
              </a:xfrm>
              <a:custGeom>
                <a:avLst/>
                <a:gdLst>
                  <a:gd name="T0" fmla="*/ 0 w 1291"/>
                  <a:gd name="T1" fmla="*/ 307 h 449"/>
                  <a:gd name="T2" fmla="*/ 577 w 1291"/>
                  <a:gd name="T3" fmla="*/ 448 h 449"/>
                  <a:gd name="T4" fmla="*/ 1290 w 1291"/>
                  <a:gd name="T5" fmla="*/ 127 h 449"/>
                  <a:gd name="T6" fmla="*/ 727 w 1291"/>
                  <a:gd name="T7" fmla="*/ 0 h 449"/>
                  <a:gd name="T8" fmla="*/ 0 w 1291"/>
                  <a:gd name="T9" fmla="*/ 307 h 449"/>
                </a:gdLst>
                <a:ahLst/>
                <a:cxnLst>
                  <a:cxn ang="0">
                    <a:pos x="T0" y="T1"/>
                  </a:cxn>
                  <a:cxn ang="0">
                    <a:pos x="T2" y="T3"/>
                  </a:cxn>
                  <a:cxn ang="0">
                    <a:pos x="T4" y="T5"/>
                  </a:cxn>
                  <a:cxn ang="0">
                    <a:pos x="T6" y="T7"/>
                  </a:cxn>
                  <a:cxn ang="0">
                    <a:pos x="T8" y="T9"/>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01" name="Freeform 137"/>
              <p:cNvSpPr/>
              <p:nvPr/>
            </p:nvSpPr>
            <p:spPr bwMode="auto">
              <a:xfrm>
                <a:off x="764" y="1513"/>
                <a:ext cx="604" cy="259"/>
              </a:xfrm>
              <a:custGeom>
                <a:avLst/>
                <a:gdLst>
                  <a:gd name="T0" fmla="*/ 0 w 1252"/>
                  <a:gd name="T1" fmla="*/ 292 h 536"/>
                  <a:gd name="T2" fmla="*/ 0 w 1252"/>
                  <a:gd name="T3" fmla="*/ 370 h 536"/>
                  <a:gd name="T4" fmla="*/ 567 w 1252"/>
                  <a:gd name="T5" fmla="*/ 535 h 536"/>
                  <a:gd name="T6" fmla="*/ 1251 w 1252"/>
                  <a:gd name="T7" fmla="*/ 92 h 536"/>
                  <a:gd name="T8" fmla="*/ 1251 w 1252"/>
                  <a:gd name="T9" fmla="*/ 0 h 536"/>
                </a:gdLst>
                <a:ahLst/>
                <a:cxnLst>
                  <a:cxn ang="0">
                    <a:pos x="T0" y="T1"/>
                  </a:cxn>
                  <a:cxn ang="0">
                    <a:pos x="T2" y="T3"/>
                  </a:cxn>
                  <a:cxn ang="0">
                    <a:pos x="T4" y="T5"/>
                  </a:cxn>
                  <a:cxn ang="0">
                    <a:pos x="T6" y="T7"/>
                  </a:cxn>
                  <a:cxn ang="0">
                    <a:pos x="T8" y="T9"/>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02" name="Freeform 138"/>
              <p:cNvSpPr/>
              <p:nvPr/>
            </p:nvSpPr>
            <p:spPr bwMode="auto">
              <a:xfrm>
                <a:off x="1026" y="820"/>
                <a:ext cx="352" cy="927"/>
              </a:xfrm>
              <a:custGeom>
                <a:avLst/>
                <a:gdLst>
                  <a:gd name="T0" fmla="*/ 0 w 729"/>
                  <a:gd name="T1" fmla="*/ 328 h 1916"/>
                  <a:gd name="T2" fmla="*/ 4 w 729"/>
                  <a:gd name="T3" fmla="*/ 1915 h 1916"/>
                  <a:gd name="T4" fmla="*/ 728 w 729"/>
                  <a:gd name="T5" fmla="*/ 1456 h 1916"/>
                  <a:gd name="T6" fmla="*/ 728 w 729"/>
                  <a:gd name="T7" fmla="*/ 0 h 1916"/>
                  <a:gd name="T8" fmla="*/ 0 w 729"/>
                  <a:gd name="T9" fmla="*/ 328 h 1916"/>
                </a:gdLst>
                <a:ahLst/>
                <a:cxnLst>
                  <a:cxn ang="0">
                    <a:pos x="T0" y="T1"/>
                  </a:cxn>
                  <a:cxn ang="0">
                    <a:pos x="T2" y="T3"/>
                  </a:cxn>
                  <a:cxn ang="0">
                    <a:pos x="T4" y="T5"/>
                  </a:cxn>
                  <a:cxn ang="0">
                    <a:pos x="T6" y="T7"/>
                  </a:cxn>
                  <a:cxn ang="0">
                    <a:pos x="T8" y="T9"/>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03" name="Freeform 139"/>
              <p:cNvSpPr/>
              <p:nvPr/>
            </p:nvSpPr>
            <p:spPr bwMode="auto">
              <a:xfrm>
                <a:off x="752" y="908"/>
                <a:ext cx="278" cy="834"/>
              </a:xfrm>
              <a:custGeom>
                <a:avLst/>
                <a:gdLst>
                  <a:gd name="T0" fmla="*/ 576 w 577"/>
                  <a:gd name="T1" fmla="*/ 140 h 1728"/>
                  <a:gd name="T2" fmla="*/ 576 w 577"/>
                  <a:gd name="T3" fmla="*/ 1727 h 1728"/>
                  <a:gd name="T4" fmla="*/ 0 w 577"/>
                  <a:gd name="T5" fmla="*/ 1568 h 1728"/>
                  <a:gd name="T6" fmla="*/ 0 w 577"/>
                  <a:gd name="T7" fmla="*/ 0 h 1728"/>
                  <a:gd name="T8" fmla="*/ 576 w 577"/>
                  <a:gd name="T9" fmla="*/ 140 h 1728"/>
                </a:gdLst>
                <a:ahLst/>
                <a:cxnLst>
                  <a:cxn ang="0">
                    <a:pos x="T0" y="T1"/>
                  </a:cxn>
                  <a:cxn ang="0">
                    <a:pos x="T2" y="T3"/>
                  </a:cxn>
                  <a:cxn ang="0">
                    <a:pos x="T4" y="T5"/>
                  </a:cxn>
                  <a:cxn ang="0">
                    <a:pos x="T6" y="T7"/>
                  </a:cxn>
                  <a:cxn ang="0">
                    <a:pos x="T8" y="T9"/>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04" name="Line 140"/>
              <p:cNvSpPr>
                <a:spLocks noChangeShapeType="1"/>
              </p:cNvSpPr>
              <p:nvPr/>
            </p:nvSpPr>
            <p:spPr bwMode="auto">
              <a:xfrm>
                <a:off x="791" y="1610"/>
                <a:ext cx="192" cy="51"/>
              </a:xfrm>
              <a:prstGeom prst="line">
                <a:avLst/>
              </a:prstGeom>
              <a:noFill/>
              <a:ln w="6350">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05" name="Oval 141"/>
              <p:cNvSpPr>
                <a:spLocks noChangeArrowheads="1"/>
              </p:cNvSpPr>
              <p:nvPr/>
            </p:nvSpPr>
            <p:spPr bwMode="auto">
              <a:xfrm>
                <a:off x="784" y="949"/>
                <a:ext cx="31" cy="17"/>
              </a:xfrm>
              <a:prstGeom prst="ellipse">
                <a:avLst/>
              </a:prstGeom>
              <a:solidFill>
                <a:schemeClr val="accent2"/>
              </a:solidFill>
              <a:ln>
                <a:noFill/>
              </a:ln>
              <a:effectLst/>
              <a:extLst>
                <a:ext uri="{91240B29-F687-4F45-9708-019B960494DF}">
                  <a14:hiddenLine xmlns:a14="http://schemas.microsoft.com/office/drawing/2010/main" w="1270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06" name="Line 142"/>
              <p:cNvSpPr>
                <a:spLocks noChangeShapeType="1"/>
              </p:cNvSpPr>
              <p:nvPr/>
            </p:nvSpPr>
            <p:spPr bwMode="auto">
              <a:xfrm>
                <a:off x="791" y="1572"/>
                <a:ext cx="192" cy="51"/>
              </a:xfrm>
              <a:prstGeom prst="line">
                <a:avLst/>
              </a:prstGeom>
              <a:noFill/>
              <a:ln w="6350">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07" name="Line 143"/>
              <p:cNvSpPr>
                <a:spLocks noChangeShapeType="1"/>
              </p:cNvSpPr>
              <p:nvPr/>
            </p:nvSpPr>
            <p:spPr bwMode="auto">
              <a:xfrm>
                <a:off x="791" y="1534"/>
                <a:ext cx="192" cy="52"/>
              </a:xfrm>
              <a:prstGeom prst="line">
                <a:avLst/>
              </a:prstGeom>
              <a:noFill/>
              <a:ln w="6350">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08" name="Line 144"/>
              <p:cNvSpPr>
                <a:spLocks noChangeShapeType="1"/>
              </p:cNvSpPr>
              <p:nvPr/>
            </p:nvSpPr>
            <p:spPr bwMode="auto">
              <a:xfrm>
                <a:off x="791" y="1497"/>
                <a:ext cx="192" cy="51"/>
              </a:xfrm>
              <a:prstGeom prst="line">
                <a:avLst/>
              </a:prstGeom>
              <a:noFill/>
              <a:ln w="6350">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09" name="Line 145"/>
              <p:cNvSpPr>
                <a:spLocks noChangeShapeType="1"/>
              </p:cNvSpPr>
              <p:nvPr/>
            </p:nvSpPr>
            <p:spPr bwMode="auto">
              <a:xfrm>
                <a:off x="791" y="1458"/>
                <a:ext cx="192" cy="51"/>
              </a:xfrm>
              <a:prstGeom prst="line">
                <a:avLst/>
              </a:prstGeom>
              <a:noFill/>
              <a:ln w="6350">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A9A9A9"/>
                      </a:outerShdw>
                    </a:effectLst>
                  </a14:hiddenEffects>
                </a:ext>
              </a:extLst>
            </p:spPr>
            <p:txBody>
              <a:bodyPr wrap="none" anchor="ctr"/>
              <a:lstStyle/>
              <a:p>
                <a:endParaRPr lang="zh-CN" altLang="en-US"/>
              </a:p>
            </p:txBody>
          </p:sp>
          <p:sp>
            <p:nvSpPr>
              <p:cNvPr id="37010" name="Freeform 146"/>
              <p:cNvSpPr/>
              <p:nvPr/>
            </p:nvSpPr>
            <p:spPr bwMode="auto">
              <a:xfrm>
                <a:off x="794" y="1094"/>
                <a:ext cx="190" cy="355"/>
              </a:xfrm>
              <a:custGeom>
                <a:avLst/>
                <a:gdLst>
                  <a:gd name="T0" fmla="*/ 0 w 397"/>
                  <a:gd name="T1" fmla="*/ 628 h 733"/>
                  <a:gd name="T2" fmla="*/ 396 w 397"/>
                  <a:gd name="T3" fmla="*/ 732 h 733"/>
                  <a:gd name="T4" fmla="*/ 396 w 397"/>
                  <a:gd name="T5" fmla="*/ 0 h 733"/>
                </a:gdLst>
                <a:ahLst/>
                <a:cxnLst>
                  <a:cxn ang="0">
                    <a:pos x="T0" y="T1"/>
                  </a:cxn>
                  <a:cxn ang="0">
                    <a:pos x="T2" y="T3"/>
                  </a:cxn>
                  <a:cxn ang="0">
                    <a:pos x="T4" y="T5"/>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11" name="Freeform 147"/>
              <p:cNvSpPr/>
              <p:nvPr/>
            </p:nvSpPr>
            <p:spPr bwMode="auto">
              <a:xfrm>
                <a:off x="774" y="1024"/>
                <a:ext cx="218" cy="618"/>
              </a:xfrm>
              <a:custGeom>
                <a:avLst/>
                <a:gdLst>
                  <a:gd name="T0" fmla="*/ 452 w 453"/>
                  <a:gd name="T1" fmla="*/ 105 h 1278"/>
                  <a:gd name="T2" fmla="*/ 0 w 453"/>
                  <a:gd name="T3" fmla="*/ 0 h 1278"/>
                  <a:gd name="T4" fmla="*/ 0 w 453"/>
                  <a:gd name="T5" fmla="*/ 1277 h 1278"/>
                </a:gdLst>
                <a:ahLst/>
                <a:cxnLst>
                  <a:cxn ang="0">
                    <a:pos x="T0" y="T1"/>
                  </a:cxn>
                  <a:cxn ang="0">
                    <a:pos x="T2" y="T3"/>
                  </a:cxn>
                  <a:cxn ang="0">
                    <a:pos x="T4" y="T5"/>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12" name="Freeform 148"/>
              <p:cNvSpPr/>
              <p:nvPr/>
            </p:nvSpPr>
            <p:spPr bwMode="auto">
              <a:xfrm>
                <a:off x="788" y="1047"/>
                <a:ext cx="194" cy="352"/>
              </a:xfrm>
              <a:custGeom>
                <a:avLst/>
                <a:gdLst>
                  <a:gd name="T0" fmla="*/ 401 w 402"/>
                  <a:gd name="T1" fmla="*/ 96 h 726"/>
                  <a:gd name="T2" fmla="*/ 0 w 402"/>
                  <a:gd name="T3" fmla="*/ 0 h 726"/>
                  <a:gd name="T4" fmla="*/ 0 w 402"/>
                  <a:gd name="T5" fmla="*/ 725 h 726"/>
                </a:gdLst>
                <a:ahLst/>
                <a:cxnLst>
                  <a:cxn ang="0">
                    <a:pos x="T0" y="T1"/>
                  </a:cxn>
                  <a:cxn ang="0">
                    <a:pos x="T2" y="T3"/>
                  </a:cxn>
                  <a:cxn ang="0">
                    <a:pos x="T4" y="T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a:extLst>
                <a:ext uri="{909E8E84-426E-40DD-AFC4-6F175D3DCCD1}">
                  <a14:hiddenFill xmlns:a14="http://schemas.microsoft.com/office/drawing/2010/main">
                    <a:gradFill rotWithShape="0">
                      <a:gsLst>
                        <a:gs pos="0">
                          <a:srgbClr val="A9A9A9"/>
                        </a:gs>
                        <a:gs pos="100000">
                          <a:srgbClr val="A9A9A9">
                            <a:gamma/>
                            <a:tint val="53725"/>
                            <a:invGamma/>
                          </a:srgbClr>
                        </a:gs>
                      </a:gsLst>
                      <a:path path="rect">
                        <a:fillToRect r="100000" b="10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13" name="Line 149"/>
              <p:cNvSpPr>
                <a:spLocks noChangeShapeType="1"/>
              </p:cNvSpPr>
              <p:nvPr/>
            </p:nvSpPr>
            <p:spPr bwMode="auto">
              <a:xfrm>
                <a:off x="789" y="1128"/>
                <a:ext cx="187" cy="43"/>
              </a:xfrm>
              <a:prstGeom prst="line">
                <a:avLst/>
              </a:prstGeom>
              <a:noFill/>
              <a:ln w="3175">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14" name="Line 150"/>
              <p:cNvSpPr>
                <a:spLocks noChangeShapeType="1"/>
              </p:cNvSpPr>
              <p:nvPr/>
            </p:nvSpPr>
            <p:spPr bwMode="auto">
              <a:xfrm>
                <a:off x="789" y="1203"/>
                <a:ext cx="189" cy="43"/>
              </a:xfrm>
              <a:prstGeom prst="line">
                <a:avLst/>
              </a:prstGeom>
              <a:noFill/>
              <a:ln w="3175">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15" name="Line 151"/>
              <p:cNvSpPr>
                <a:spLocks noChangeShapeType="1"/>
              </p:cNvSpPr>
              <p:nvPr/>
            </p:nvSpPr>
            <p:spPr bwMode="auto">
              <a:xfrm>
                <a:off x="789" y="1296"/>
                <a:ext cx="180" cy="43"/>
              </a:xfrm>
              <a:prstGeom prst="line">
                <a:avLst/>
              </a:prstGeom>
              <a:noFill/>
              <a:ln w="3175">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16" name="Freeform 152"/>
              <p:cNvSpPr/>
              <p:nvPr/>
            </p:nvSpPr>
            <p:spPr bwMode="auto">
              <a:xfrm>
                <a:off x="845" y="1091"/>
                <a:ext cx="74" cy="40"/>
              </a:xfrm>
              <a:custGeom>
                <a:avLst/>
                <a:gdLst>
                  <a:gd name="T0" fmla="*/ 0 w 152"/>
                  <a:gd name="T1" fmla="*/ 0 h 82"/>
                  <a:gd name="T2" fmla="*/ 0 w 152"/>
                  <a:gd name="T3" fmla="*/ 48 h 82"/>
                  <a:gd name="T4" fmla="*/ 151 w 152"/>
                  <a:gd name="T5" fmla="*/ 81 h 82"/>
                  <a:gd name="T6" fmla="*/ 151 w 152"/>
                  <a:gd name="T7" fmla="*/ 33 h 82"/>
                  <a:gd name="T8" fmla="*/ 0 w 152"/>
                  <a:gd name="T9" fmla="*/ 0 h 82"/>
                </a:gdLst>
                <a:ahLst/>
                <a:cxnLst>
                  <a:cxn ang="0">
                    <a:pos x="T0" y="T1"/>
                  </a:cxn>
                  <a:cxn ang="0">
                    <a:pos x="T2" y="T3"/>
                  </a:cxn>
                  <a:cxn ang="0">
                    <a:pos x="T4" y="T5"/>
                  </a:cxn>
                  <a:cxn ang="0">
                    <a:pos x="T6" y="T7"/>
                  </a:cxn>
                  <a:cxn ang="0">
                    <a:pos x="T8" y="T9"/>
                  </a:cxn>
                </a:cxnLst>
                <a:rect l="0" t="0" r="r" b="b"/>
                <a:pathLst>
                  <a:path w="152" h="82">
                    <a:moveTo>
                      <a:pt x="0" y="0"/>
                    </a:moveTo>
                    <a:lnTo>
                      <a:pt x="0" y="48"/>
                    </a:lnTo>
                    <a:lnTo>
                      <a:pt x="151" y="81"/>
                    </a:lnTo>
                    <a:lnTo>
                      <a:pt x="151" y="33"/>
                    </a:lnTo>
                    <a:lnTo>
                      <a:pt x="0" y="0"/>
                    </a:lnTo>
                  </a:path>
                </a:pathLst>
              </a:custGeom>
              <a:solidFill>
                <a:srgbClr val="A9A9A9"/>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17" name="Line 153"/>
              <p:cNvSpPr>
                <a:spLocks noChangeShapeType="1"/>
              </p:cNvSpPr>
              <p:nvPr/>
            </p:nvSpPr>
            <p:spPr bwMode="auto">
              <a:xfrm>
                <a:off x="816" y="1097"/>
                <a:ext cx="138" cy="30"/>
              </a:xfrm>
              <a:prstGeom prst="line">
                <a:avLst/>
              </a:prstGeom>
              <a:noFill/>
              <a:ln w="6350">
                <a:solidFill>
                  <a:srgbClr val="91919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18" name="Freeform 154"/>
              <p:cNvSpPr/>
              <p:nvPr/>
            </p:nvSpPr>
            <p:spPr bwMode="auto">
              <a:xfrm>
                <a:off x="802" y="1234"/>
                <a:ext cx="167" cy="75"/>
              </a:xfrm>
              <a:custGeom>
                <a:avLst/>
                <a:gdLst>
                  <a:gd name="T0" fmla="*/ 0 w 351"/>
                  <a:gd name="T1" fmla="*/ 85 h 183"/>
                  <a:gd name="T2" fmla="*/ 0 w 351"/>
                  <a:gd name="T3" fmla="*/ 0 h 183"/>
                  <a:gd name="T4" fmla="*/ 350 w 351"/>
                  <a:gd name="T5" fmla="*/ 93 h 183"/>
                  <a:gd name="T6" fmla="*/ 350 w 351"/>
                  <a:gd name="T7" fmla="*/ 182 h 183"/>
                  <a:gd name="T8" fmla="*/ 0 w 351"/>
                  <a:gd name="T9" fmla="*/ 85 h 183"/>
                </a:gdLst>
                <a:ahLst/>
                <a:cxnLst>
                  <a:cxn ang="0">
                    <a:pos x="T0" y="T1"/>
                  </a:cxn>
                  <a:cxn ang="0">
                    <a:pos x="T2" y="T3"/>
                  </a:cxn>
                  <a:cxn ang="0">
                    <a:pos x="T4" y="T5"/>
                  </a:cxn>
                  <a:cxn ang="0">
                    <a:pos x="T6" y="T7"/>
                  </a:cxn>
                  <a:cxn ang="0">
                    <a:pos x="T8" y="T9"/>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19" name="Freeform 155"/>
              <p:cNvSpPr/>
              <p:nvPr/>
            </p:nvSpPr>
            <p:spPr bwMode="auto">
              <a:xfrm>
                <a:off x="802" y="1327"/>
                <a:ext cx="167" cy="83"/>
              </a:xfrm>
              <a:custGeom>
                <a:avLst/>
                <a:gdLst>
                  <a:gd name="T0" fmla="*/ 0 w 351"/>
                  <a:gd name="T1" fmla="*/ 85 h 182"/>
                  <a:gd name="T2" fmla="*/ 0 w 351"/>
                  <a:gd name="T3" fmla="*/ 0 h 182"/>
                  <a:gd name="T4" fmla="*/ 350 w 351"/>
                  <a:gd name="T5" fmla="*/ 93 h 182"/>
                  <a:gd name="T6" fmla="*/ 350 w 351"/>
                  <a:gd name="T7" fmla="*/ 181 h 182"/>
                  <a:gd name="T8" fmla="*/ 0 w 351"/>
                  <a:gd name="T9" fmla="*/ 85 h 182"/>
                </a:gdLst>
                <a:ahLst/>
                <a:cxnLst>
                  <a:cxn ang="0">
                    <a:pos x="T0" y="T1"/>
                  </a:cxn>
                  <a:cxn ang="0">
                    <a:pos x="T2" y="T3"/>
                  </a:cxn>
                  <a:cxn ang="0">
                    <a:pos x="T4" y="T5"/>
                  </a:cxn>
                  <a:cxn ang="0">
                    <a:pos x="T6" y="T7"/>
                  </a:cxn>
                  <a:cxn ang="0">
                    <a:pos x="T8" y="T9"/>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20" name="Freeform 156"/>
              <p:cNvSpPr/>
              <p:nvPr/>
            </p:nvSpPr>
            <p:spPr bwMode="auto">
              <a:xfrm>
                <a:off x="799" y="1150"/>
                <a:ext cx="170" cy="77"/>
              </a:xfrm>
              <a:custGeom>
                <a:avLst/>
                <a:gdLst>
                  <a:gd name="T0" fmla="*/ 0 w 351"/>
                  <a:gd name="T1" fmla="*/ 85 h 182"/>
                  <a:gd name="T2" fmla="*/ 0 w 351"/>
                  <a:gd name="T3" fmla="*/ 0 h 182"/>
                  <a:gd name="T4" fmla="*/ 350 w 351"/>
                  <a:gd name="T5" fmla="*/ 93 h 182"/>
                  <a:gd name="T6" fmla="*/ 350 w 351"/>
                  <a:gd name="T7" fmla="*/ 181 h 182"/>
                  <a:gd name="T8" fmla="*/ 0 w 351"/>
                  <a:gd name="T9" fmla="*/ 85 h 182"/>
                </a:gdLst>
                <a:ahLst/>
                <a:cxnLst>
                  <a:cxn ang="0">
                    <a:pos x="T0" y="T1"/>
                  </a:cxn>
                  <a:cxn ang="0">
                    <a:pos x="T2" y="T3"/>
                  </a:cxn>
                  <a:cxn ang="0">
                    <a:pos x="T4" y="T5"/>
                  </a:cxn>
                  <a:cxn ang="0">
                    <a:pos x="T6" y="T7"/>
                  </a:cxn>
                  <a:cxn ang="0">
                    <a:pos x="T8" y="T9"/>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21" name="Line 157"/>
              <p:cNvSpPr>
                <a:spLocks noChangeShapeType="1"/>
              </p:cNvSpPr>
              <p:nvPr/>
            </p:nvSpPr>
            <p:spPr bwMode="auto">
              <a:xfrm flipH="1" flipV="1">
                <a:off x="921" y="1197"/>
                <a:ext cx="33" cy="8"/>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7022" name="Line 158"/>
              <p:cNvSpPr>
                <a:spLocks noChangeShapeType="1"/>
              </p:cNvSpPr>
              <p:nvPr/>
            </p:nvSpPr>
            <p:spPr bwMode="auto">
              <a:xfrm flipH="1" flipV="1">
                <a:off x="921" y="1279"/>
                <a:ext cx="33" cy="7"/>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7023" name="Line 159"/>
              <p:cNvSpPr>
                <a:spLocks noChangeShapeType="1"/>
              </p:cNvSpPr>
              <p:nvPr/>
            </p:nvSpPr>
            <p:spPr bwMode="auto">
              <a:xfrm flipH="1" flipV="1">
                <a:off x="921" y="1378"/>
                <a:ext cx="33" cy="8"/>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grpSp>
        <p:grpSp>
          <p:nvGrpSpPr>
            <p:cNvPr id="37024" name="Group 160"/>
            <p:cNvGrpSpPr/>
            <p:nvPr/>
          </p:nvGrpSpPr>
          <p:grpSpPr bwMode="auto">
            <a:xfrm>
              <a:off x="3694" y="922"/>
              <a:ext cx="549" cy="887"/>
              <a:chOff x="752" y="760"/>
              <a:chExt cx="626" cy="1012"/>
            </a:xfrm>
          </p:grpSpPr>
          <p:sp>
            <p:nvSpPr>
              <p:cNvPr id="37025" name="Freeform 161"/>
              <p:cNvSpPr/>
              <p:nvPr/>
            </p:nvSpPr>
            <p:spPr bwMode="auto">
              <a:xfrm>
                <a:off x="754" y="760"/>
                <a:ext cx="623" cy="217"/>
              </a:xfrm>
              <a:custGeom>
                <a:avLst/>
                <a:gdLst>
                  <a:gd name="T0" fmla="*/ 0 w 1291"/>
                  <a:gd name="T1" fmla="*/ 307 h 449"/>
                  <a:gd name="T2" fmla="*/ 577 w 1291"/>
                  <a:gd name="T3" fmla="*/ 448 h 449"/>
                  <a:gd name="T4" fmla="*/ 1290 w 1291"/>
                  <a:gd name="T5" fmla="*/ 127 h 449"/>
                  <a:gd name="T6" fmla="*/ 727 w 1291"/>
                  <a:gd name="T7" fmla="*/ 0 h 449"/>
                  <a:gd name="T8" fmla="*/ 0 w 1291"/>
                  <a:gd name="T9" fmla="*/ 307 h 449"/>
                </a:gdLst>
                <a:ahLst/>
                <a:cxnLst>
                  <a:cxn ang="0">
                    <a:pos x="T0" y="T1"/>
                  </a:cxn>
                  <a:cxn ang="0">
                    <a:pos x="T2" y="T3"/>
                  </a:cxn>
                  <a:cxn ang="0">
                    <a:pos x="T4" y="T5"/>
                  </a:cxn>
                  <a:cxn ang="0">
                    <a:pos x="T6" y="T7"/>
                  </a:cxn>
                  <a:cxn ang="0">
                    <a:pos x="T8" y="T9"/>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26" name="Freeform 162"/>
              <p:cNvSpPr/>
              <p:nvPr/>
            </p:nvSpPr>
            <p:spPr bwMode="auto">
              <a:xfrm>
                <a:off x="764" y="1513"/>
                <a:ext cx="604" cy="259"/>
              </a:xfrm>
              <a:custGeom>
                <a:avLst/>
                <a:gdLst>
                  <a:gd name="T0" fmla="*/ 0 w 1252"/>
                  <a:gd name="T1" fmla="*/ 292 h 536"/>
                  <a:gd name="T2" fmla="*/ 0 w 1252"/>
                  <a:gd name="T3" fmla="*/ 370 h 536"/>
                  <a:gd name="T4" fmla="*/ 567 w 1252"/>
                  <a:gd name="T5" fmla="*/ 535 h 536"/>
                  <a:gd name="T6" fmla="*/ 1251 w 1252"/>
                  <a:gd name="T7" fmla="*/ 92 h 536"/>
                  <a:gd name="T8" fmla="*/ 1251 w 1252"/>
                  <a:gd name="T9" fmla="*/ 0 h 536"/>
                </a:gdLst>
                <a:ahLst/>
                <a:cxnLst>
                  <a:cxn ang="0">
                    <a:pos x="T0" y="T1"/>
                  </a:cxn>
                  <a:cxn ang="0">
                    <a:pos x="T2" y="T3"/>
                  </a:cxn>
                  <a:cxn ang="0">
                    <a:pos x="T4" y="T5"/>
                  </a:cxn>
                  <a:cxn ang="0">
                    <a:pos x="T6" y="T7"/>
                  </a:cxn>
                  <a:cxn ang="0">
                    <a:pos x="T8" y="T9"/>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27" name="Freeform 163"/>
              <p:cNvSpPr/>
              <p:nvPr/>
            </p:nvSpPr>
            <p:spPr bwMode="auto">
              <a:xfrm>
                <a:off x="1026" y="820"/>
                <a:ext cx="352" cy="927"/>
              </a:xfrm>
              <a:custGeom>
                <a:avLst/>
                <a:gdLst>
                  <a:gd name="T0" fmla="*/ 0 w 729"/>
                  <a:gd name="T1" fmla="*/ 328 h 1916"/>
                  <a:gd name="T2" fmla="*/ 4 w 729"/>
                  <a:gd name="T3" fmla="*/ 1915 h 1916"/>
                  <a:gd name="T4" fmla="*/ 728 w 729"/>
                  <a:gd name="T5" fmla="*/ 1456 h 1916"/>
                  <a:gd name="T6" fmla="*/ 728 w 729"/>
                  <a:gd name="T7" fmla="*/ 0 h 1916"/>
                  <a:gd name="T8" fmla="*/ 0 w 729"/>
                  <a:gd name="T9" fmla="*/ 328 h 1916"/>
                </a:gdLst>
                <a:ahLst/>
                <a:cxnLst>
                  <a:cxn ang="0">
                    <a:pos x="T0" y="T1"/>
                  </a:cxn>
                  <a:cxn ang="0">
                    <a:pos x="T2" y="T3"/>
                  </a:cxn>
                  <a:cxn ang="0">
                    <a:pos x="T4" y="T5"/>
                  </a:cxn>
                  <a:cxn ang="0">
                    <a:pos x="T6" y="T7"/>
                  </a:cxn>
                  <a:cxn ang="0">
                    <a:pos x="T8" y="T9"/>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28" name="Freeform 164"/>
              <p:cNvSpPr/>
              <p:nvPr/>
            </p:nvSpPr>
            <p:spPr bwMode="auto">
              <a:xfrm>
                <a:off x="752" y="908"/>
                <a:ext cx="278" cy="834"/>
              </a:xfrm>
              <a:custGeom>
                <a:avLst/>
                <a:gdLst>
                  <a:gd name="T0" fmla="*/ 576 w 577"/>
                  <a:gd name="T1" fmla="*/ 140 h 1728"/>
                  <a:gd name="T2" fmla="*/ 576 w 577"/>
                  <a:gd name="T3" fmla="*/ 1727 h 1728"/>
                  <a:gd name="T4" fmla="*/ 0 w 577"/>
                  <a:gd name="T5" fmla="*/ 1568 h 1728"/>
                  <a:gd name="T6" fmla="*/ 0 w 577"/>
                  <a:gd name="T7" fmla="*/ 0 h 1728"/>
                  <a:gd name="T8" fmla="*/ 576 w 577"/>
                  <a:gd name="T9" fmla="*/ 140 h 1728"/>
                </a:gdLst>
                <a:ahLst/>
                <a:cxnLst>
                  <a:cxn ang="0">
                    <a:pos x="T0" y="T1"/>
                  </a:cxn>
                  <a:cxn ang="0">
                    <a:pos x="T2" y="T3"/>
                  </a:cxn>
                  <a:cxn ang="0">
                    <a:pos x="T4" y="T5"/>
                  </a:cxn>
                  <a:cxn ang="0">
                    <a:pos x="T6" y="T7"/>
                  </a:cxn>
                  <a:cxn ang="0">
                    <a:pos x="T8" y="T9"/>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29" name="Line 165"/>
              <p:cNvSpPr>
                <a:spLocks noChangeShapeType="1"/>
              </p:cNvSpPr>
              <p:nvPr/>
            </p:nvSpPr>
            <p:spPr bwMode="auto">
              <a:xfrm>
                <a:off x="791" y="1610"/>
                <a:ext cx="192" cy="51"/>
              </a:xfrm>
              <a:prstGeom prst="line">
                <a:avLst/>
              </a:prstGeom>
              <a:noFill/>
              <a:ln w="6350">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30" name="Oval 166"/>
              <p:cNvSpPr>
                <a:spLocks noChangeArrowheads="1"/>
              </p:cNvSpPr>
              <p:nvPr/>
            </p:nvSpPr>
            <p:spPr bwMode="auto">
              <a:xfrm>
                <a:off x="784" y="949"/>
                <a:ext cx="31" cy="17"/>
              </a:xfrm>
              <a:prstGeom prst="ellipse">
                <a:avLst/>
              </a:prstGeom>
              <a:solidFill>
                <a:schemeClr val="accent2"/>
              </a:solidFill>
              <a:ln>
                <a:noFill/>
              </a:ln>
              <a:effectLst/>
              <a:extLst>
                <a:ext uri="{91240B29-F687-4F45-9708-019B960494DF}">
                  <a14:hiddenLine xmlns:a14="http://schemas.microsoft.com/office/drawing/2010/main" w="1270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31" name="Line 167"/>
              <p:cNvSpPr>
                <a:spLocks noChangeShapeType="1"/>
              </p:cNvSpPr>
              <p:nvPr/>
            </p:nvSpPr>
            <p:spPr bwMode="auto">
              <a:xfrm>
                <a:off x="791" y="1572"/>
                <a:ext cx="192" cy="51"/>
              </a:xfrm>
              <a:prstGeom prst="line">
                <a:avLst/>
              </a:prstGeom>
              <a:noFill/>
              <a:ln w="6350">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32" name="Line 168"/>
              <p:cNvSpPr>
                <a:spLocks noChangeShapeType="1"/>
              </p:cNvSpPr>
              <p:nvPr/>
            </p:nvSpPr>
            <p:spPr bwMode="auto">
              <a:xfrm>
                <a:off x="791" y="1534"/>
                <a:ext cx="192" cy="52"/>
              </a:xfrm>
              <a:prstGeom prst="line">
                <a:avLst/>
              </a:prstGeom>
              <a:noFill/>
              <a:ln w="6350">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33" name="Line 169"/>
              <p:cNvSpPr>
                <a:spLocks noChangeShapeType="1"/>
              </p:cNvSpPr>
              <p:nvPr/>
            </p:nvSpPr>
            <p:spPr bwMode="auto">
              <a:xfrm>
                <a:off x="791" y="1497"/>
                <a:ext cx="192" cy="51"/>
              </a:xfrm>
              <a:prstGeom prst="line">
                <a:avLst/>
              </a:prstGeom>
              <a:noFill/>
              <a:ln w="6350">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34" name="Line 170"/>
              <p:cNvSpPr>
                <a:spLocks noChangeShapeType="1"/>
              </p:cNvSpPr>
              <p:nvPr/>
            </p:nvSpPr>
            <p:spPr bwMode="auto">
              <a:xfrm>
                <a:off x="791" y="1458"/>
                <a:ext cx="192" cy="51"/>
              </a:xfrm>
              <a:prstGeom prst="line">
                <a:avLst/>
              </a:prstGeom>
              <a:noFill/>
              <a:ln w="6350">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A9A9A9"/>
                      </a:outerShdw>
                    </a:effectLst>
                  </a14:hiddenEffects>
                </a:ext>
              </a:extLst>
            </p:spPr>
            <p:txBody>
              <a:bodyPr wrap="none" anchor="ctr"/>
              <a:lstStyle/>
              <a:p>
                <a:endParaRPr lang="zh-CN" altLang="en-US"/>
              </a:p>
            </p:txBody>
          </p:sp>
          <p:sp>
            <p:nvSpPr>
              <p:cNvPr id="37035" name="Freeform 171"/>
              <p:cNvSpPr/>
              <p:nvPr/>
            </p:nvSpPr>
            <p:spPr bwMode="auto">
              <a:xfrm>
                <a:off x="794" y="1094"/>
                <a:ext cx="190" cy="355"/>
              </a:xfrm>
              <a:custGeom>
                <a:avLst/>
                <a:gdLst>
                  <a:gd name="T0" fmla="*/ 0 w 397"/>
                  <a:gd name="T1" fmla="*/ 628 h 733"/>
                  <a:gd name="T2" fmla="*/ 396 w 397"/>
                  <a:gd name="T3" fmla="*/ 732 h 733"/>
                  <a:gd name="T4" fmla="*/ 396 w 397"/>
                  <a:gd name="T5" fmla="*/ 0 h 733"/>
                </a:gdLst>
                <a:ahLst/>
                <a:cxnLst>
                  <a:cxn ang="0">
                    <a:pos x="T0" y="T1"/>
                  </a:cxn>
                  <a:cxn ang="0">
                    <a:pos x="T2" y="T3"/>
                  </a:cxn>
                  <a:cxn ang="0">
                    <a:pos x="T4" y="T5"/>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36" name="Freeform 172"/>
              <p:cNvSpPr/>
              <p:nvPr/>
            </p:nvSpPr>
            <p:spPr bwMode="auto">
              <a:xfrm>
                <a:off x="774" y="1024"/>
                <a:ext cx="218" cy="618"/>
              </a:xfrm>
              <a:custGeom>
                <a:avLst/>
                <a:gdLst>
                  <a:gd name="T0" fmla="*/ 452 w 453"/>
                  <a:gd name="T1" fmla="*/ 105 h 1278"/>
                  <a:gd name="T2" fmla="*/ 0 w 453"/>
                  <a:gd name="T3" fmla="*/ 0 h 1278"/>
                  <a:gd name="T4" fmla="*/ 0 w 453"/>
                  <a:gd name="T5" fmla="*/ 1277 h 1278"/>
                </a:gdLst>
                <a:ahLst/>
                <a:cxnLst>
                  <a:cxn ang="0">
                    <a:pos x="T0" y="T1"/>
                  </a:cxn>
                  <a:cxn ang="0">
                    <a:pos x="T2" y="T3"/>
                  </a:cxn>
                  <a:cxn ang="0">
                    <a:pos x="T4" y="T5"/>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37" name="Freeform 173"/>
              <p:cNvSpPr/>
              <p:nvPr/>
            </p:nvSpPr>
            <p:spPr bwMode="auto">
              <a:xfrm>
                <a:off x="788" y="1047"/>
                <a:ext cx="194" cy="352"/>
              </a:xfrm>
              <a:custGeom>
                <a:avLst/>
                <a:gdLst>
                  <a:gd name="T0" fmla="*/ 401 w 402"/>
                  <a:gd name="T1" fmla="*/ 96 h 726"/>
                  <a:gd name="T2" fmla="*/ 0 w 402"/>
                  <a:gd name="T3" fmla="*/ 0 h 726"/>
                  <a:gd name="T4" fmla="*/ 0 w 402"/>
                  <a:gd name="T5" fmla="*/ 725 h 726"/>
                </a:gdLst>
                <a:ahLst/>
                <a:cxnLst>
                  <a:cxn ang="0">
                    <a:pos x="T0" y="T1"/>
                  </a:cxn>
                  <a:cxn ang="0">
                    <a:pos x="T2" y="T3"/>
                  </a:cxn>
                  <a:cxn ang="0">
                    <a:pos x="T4" y="T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a:extLst>
                <a:ext uri="{909E8E84-426E-40DD-AFC4-6F175D3DCCD1}">
                  <a14:hiddenFill xmlns:a14="http://schemas.microsoft.com/office/drawing/2010/main">
                    <a:gradFill rotWithShape="0">
                      <a:gsLst>
                        <a:gs pos="0">
                          <a:srgbClr val="A9A9A9"/>
                        </a:gs>
                        <a:gs pos="100000">
                          <a:srgbClr val="A9A9A9">
                            <a:gamma/>
                            <a:tint val="53725"/>
                            <a:invGamma/>
                          </a:srgbClr>
                        </a:gs>
                      </a:gsLst>
                      <a:path path="rect">
                        <a:fillToRect r="100000" b="10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38" name="Line 174"/>
              <p:cNvSpPr>
                <a:spLocks noChangeShapeType="1"/>
              </p:cNvSpPr>
              <p:nvPr/>
            </p:nvSpPr>
            <p:spPr bwMode="auto">
              <a:xfrm>
                <a:off x="789" y="1128"/>
                <a:ext cx="187" cy="43"/>
              </a:xfrm>
              <a:prstGeom prst="line">
                <a:avLst/>
              </a:prstGeom>
              <a:noFill/>
              <a:ln w="3175">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39" name="Line 175"/>
              <p:cNvSpPr>
                <a:spLocks noChangeShapeType="1"/>
              </p:cNvSpPr>
              <p:nvPr/>
            </p:nvSpPr>
            <p:spPr bwMode="auto">
              <a:xfrm>
                <a:off x="789" y="1203"/>
                <a:ext cx="189" cy="43"/>
              </a:xfrm>
              <a:prstGeom prst="line">
                <a:avLst/>
              </a:prstGeom>
              <a:noFill/>
              <a:ln w="3175">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40" name="Line 176"/>
              <p:cNvSpPr>
                <a:spLocks noChangeShapeType="1"/>
              </p:cNvSpPr>
              <p:nvPr/>
            </p:nvSpPr>
            <p:spPr bwMode="auto">
              <a:xfrm>
                <a:off x="789" y="1296"/>
                <a:ext cx="180" cy="43"/>
              </a:xfrm>
              <a:prstGeom prst="line">
                <a:avLst/>
              </a:prstGeom>
              <a:noFill/>
              <a:ln w="3175">
                <a:solidFill>
                  <a:srgbClr val="67676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41" name="Freeform 177"/>
              <p:cNvSpPr/>
              <p:nvPr/>
            </p:nvSpPr>
            <p:spPr bwMode="auto">
              <a:xfrm>
                <a:off x="845" y="1091"/>
                <a:ext cx="74" cy="40"/>
              </a:xfrm>
              <a:custGeom>
                <a:avLst/>
                <a:gdLst>
                  <a:gd name="T0" fmla="*/ 0 w 152"/>
                  <a:gd name="T1" fmla="*/ 0 h 82"/>
                  <a:gd name="T2" fmla="*/ 0 w 152"/>
                  <a:gd name="T3" fmla="*/ 48 h 82"/>
                  <a:gd name="T4" fmla="*/ 151 w 152"/>
                  <a:gd name="T5" fmla="*/ 81 h 82"/>
                  <a:gd name="T6" fmla="*/ 151 w 152"/>
                  <a:gd name="T7" fmla="*/ 33 h 82"/>
                  <a:gd name="T8" fmla="*/ 0 w 152"/>
                  <a:gd name="T9" fmla="*/ 0 h 82"/>
                </a:gdLst>
                <a:ahLst/>
                <a:cxnLst>
                  <a:cxn ang="0">
                    <a:pos x="T0" y="T1"/>
                  </a:cxn>
                  <a:cxn ang="0">
                    <a:pos x="T2" y="T3"/>
                  </a:cxn>
                  <a:cxn ang="0">
                    <a:pos x="T4" y="T5"/>
                  </a:cxn>
                  <a:cxn ang="0">
                    <a:pos x="T6" y="T7"/>
                  </a:cxn>
                  <a:cxn ang="0">
                    <a:pos x="T8" y="T9"/>
                  </a:cxn>
                </a:cxnLst>
                <a:rect l="0" t="0" r="r" b="b"/>
                <a:pathLst>
                  <a:path w="152" h="82">
                    <a:moveTo>
                      <a:pt x="0" y="0"/>
                    </a:moveTo>
                    <a:lnTo>
                      <a:pt x="0" y="48"/>
                    </a:lnTo>
                    <a:lnTo>
                      <a:pt x="151" y="81"/>
                    </a:lnTo>
                    <a:lnTo>
                      <a:pt x="151" y="33"/>
                    </a:lnTo>
                    <a:lnTo>
                      <a:pt x="0" y="0"/>
                    </a:lnTo>
                  </a:path>
                </a:pathLst>
              </a:custGeom>
              <a:solidFill>
                <a:srgbClr val="A9A9A9"/>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42" name="Line 178"/>
              <p:cNvSpPr>
                <a:spLocks noChangeShapeType="1"/>
              </p:cNvSpPr>
              <p:nvPr/>
            </p:nvSpPr>
            <p:spPr bwMode="auto">
              <a:xfrm>
                <a:off x="816" y="1097"/>
                <a:ext cx="138" cy="30"/>
              </a:xfrm>
              <a:prstGeom prst="line">
                <a:avLst/>
              </a:prstGeom>
              <a:noFill/>
              <a:ln w="6350">
                <a:solidFill>
                  <a:srgbClr val="91919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43" name="Freeform 179"/>
              <p:cNvSpPr/>
              <p:nvPr/>
            </p:nvSpPr>
            <p:spPr bwMode="auto">
              <a:xfrm>
                <a:off x="802" y="1234"/>
                <a:ext cx="167" cy="75"/>
              </a:xfrm>
              <a:custGeom>
                <a:avLst/>
                <a:gdLst>
                  <a:gd name="T0" fmla="*/ 0 w 351"/>
                  <a:gd name="T1" fmla="*/ 85 h 183"/>
                  <a:gd name="T2" fmla="*/ 0 w 351"/>
                  <a:gd name="T3" fmla="*/ 0 h 183"/>
                  <a:gd name="T4" fmla="*/ 350 w 351"/>
                  <a:gd name="T5" fmla="*/ 93 h 183"/>
                  <a:gd name="T6" fmla="*/ 350 w 351"/>
                  <a:gd name="T7" fmla="*/ 182 h 183"/>
                  <a:gd name="T8" fmla="*/ 0 w 351"/>
                  <a:gd name="T9" fmla="*/ 85 h 183"/>
                </a:gdLst>
                <a:ahLst/>
                <a:cxnLst>
                  <a:cxn ang="0">
                    <a:pos x="T0" y="T1"/>
                  </a:cxn>
                  <a:cxn ang="0">
                    <a:pos x="T2" y="T3"/>
                  </a:cxn>
                  <a:cxn ang="0">
                    <a:pos x="T4" y="T5"/>
                  </a:cxn>
                  <a:cxn ang="0">
                    <a:pos x="T6" y="T7"/>
                  </a:cxn>
                  <a:cxn ang="0">
                    <a:pos x="T8" y="T9"/>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44" name="Freeform 180"/>
              <p:cNvSpPr/>
              <p:nvPr/>
            </p:nvSpPr>
            <p:spPr bwMode="auto">
              <a:xfrm>
                <a:off x="802" y="1327"/>
                <a:ext cx="167" cy="83"/>
              </a:xfrm>
              <a:custGeom>
                <a:avLst/>
                <a:gdLst>
                  <a:gd name="T0" fmla="*/ 0 w 351"/>
                  <a:gd name="T1" fmla="*/ 85 h 182"/>
                  <a:gd name="T2" fmla="*/ 0 w 351"/>
                  <a:gd name="T3" fmla="*/ 0 h 182"/>
                  <a:gd name="T4" fmla="*/ 350 w 351"/>
                  <a:gd name="T5" fmla="*/ 93 h 182"/>
                  <a:gd name="T6" fmla="*/ 350 w 351"/>
                  <a:gd name="T7" fmla="*/ 181 h 182"/>
                  <a:gd name="T8" fmla="*/ 0 w 351"/>
                  <a:gd name="T9" fmla="*/ 85 h 182"/>
                </a:gdLst>
                <a:ahLst/>
                <a:cxnLst>
                  <a:cxn ang="0">
                    <a:pos x="T0" y="T1"/>
                  </a:cxn>
                  <a:cxn ang="0">
                    <a:pos x="T2" y="T3"/>
                  </a:cxn>
                  <a:cxn ang="0">
                    <a:pos x="T4" y="T5"/>
                  </a:cxn>
                  <a:cxn ang="0">
                    <a:pos x="T6" y="T7"/>
                  </a:cxn>
                  <a:cxn ang="0">
                    <a:pos x="T8" y="T9"/>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45" name="Freeform 181"/>
              <p:cNvSpPr/>
              <p:nvPr/>
            </p:nvSpPr>
            <p:spPr bwMode="auto">
              <a:xfrm>
                <a:off x="799" y="1150"/>
                <a:ext cx="170" cy="77"/>
              </a:xfrm>
              <a:custGeom>
                <a:avLst/>
                <a:gdLst>
                  <a:gd name="T0" fmla="*/ 0 w 351"/>
                  <a:gd name="T1" fmla="*/ 85 h 182"/>
                  <a:gd name="T2" fmla="*/ 0 w 351"/>
                  <a:gd name="T3" fmla="*/ 0 h 182"/>
                  <a:gd name="T4" fmla="*/ 350 w 351"/>
                  <a:gd name="T5" fmla="*/ 93 h 182"/>
                  <a:gd name="T6" fmla="*/ 350 w 351"/>
                  <a:gd name="T7" fmla="*/ 181 h 182"/>
                  <a:gd name="T8" fmla="*/ 0 w 351"/>
                  <a:gd name="T9" fmla="*/ 85 h 182"/>
                </a:gdLst>
                <a:ahLst/>
                <a:cxnLst>
                  <a:cxn ang="0">
                    <a:pos x="T0" y="T1"/>
                  </a:cxn>
                  <a:cxn ang="0">
                    <a:pos x="T2" y="T3"/>
                  </a:cxn>
                  <a:cxn ang="0">
                    <a:pos x="T4" y="T5"/>
                  </a:cxn>
                  <a:cxn ang="0">
                    <a:pos x="T6" y="T7"/>
                  </a:cxn>
                  <a:cxn ang="0">
                    <a:pos x="T8" y="T9"/>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46" name="Line 182"/>
              <p:cNvSpPr>
                <a:spLocks noChangeShapeType="1"/>
              </p:cNvSpPr>
              <p:nvPr/>
            </p:nvSpPr>
            <p:spPr bwMode="auto">
              <a:xfrm flipH="1" flipV="1">
                <a:off x="921" y="1197"/>
                <a:ext cx="33" cy="8"/>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7047" name="Line 183"/>
              <p:cNvSpPr>
                <a:spLocks noChangeShapeType="1"/>
              </p:cNvSpPr>
              <p:nvPr/>
            </p:nvSpPr>
            <p:spPr bwMode="auto">
              <a:xfrm flipH="1" flipV="1">
                <a:off x="921" y="1279"/>
                <a:ext cx="33" cy="7"/>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sp>
            <p:nvSpPr>
              <p:cNvPr id="37048" name="Line 184"/>
              <p:cNvSpPr>
                <a:spLocks noChangeShapeType="1"/>
              </p:cNvSpPr>
              <p:nvPr/>
            </p:nvSpPr>
            <p:spPr bwMode="auto">
              <a:xfrm flipH="1" flipV="1">
                <a:off x="921" y="1378"/>
                <a:ext cx="33" cy="8"/>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zh-CN" altLang="en-US"/>
              </a:p>
            </p:txBody>
          </p:sp>
        </p:grpSp>
        <p:grpSp>
          <p:nvGrpSpPr>
            <p:cNvPr id="37049" name="Group 185"/>
            <p:cNvGrpSpPr/>
            <p:nvPr/>
          </p:nvGrpSpPr>
          <p:grpSpPr bwMode="auto">
            <a:xfrm>
              <a:off x="2085" y="2419"/>
              <a:ext cx="637" cy="1007"/>
              <a:chOff x="2064" y="1025"/>
              <a:chExt cx="630" cy="996"/>
            </a:xfrm>
          </p:grpSpPr>
          <p:grpSp>
            <p:nvGrpSpPr>
              <p:cNvPr id="37050" name="Group 186"/>
              <p:cNvGrpSpPr/>
              <p:nvPr/>
            </p:nvGrpSpPr>
            <p:grpSpPr bwMode="auto">
              <a:xfrm>
                <a:off x="2334" y="1667"/>
                <a:ext cx="360" cy="225"/>
                <a:chOff x="2736" y="2448"/>
                <a:chExt cx="384" cy="336"/>
              </a:xfrm>
            </p:grpSpPr>
            <p:sp>
              <p:nvSpPr>
                <p:cNvPr id="37051" name="Freeform 187"/>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52" name="Freeform 188"/>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53" name="Freeform 189"/>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054" name="Group 190"/>
              <p:cNvGrpSpPr/>
              <p:nvPr/>
            </p:nvGrpSpPr>
            <p:grpSpPr bwMode="auto">
              <a:xfrm>
                <a:off x="2064" y="1796"/>
                <a:ext cx="360" cy="225"/>
                <a:chOff x="2736" y="2448"/>
                <a:chExt cx="384" cy="336"/>
              </a:xfrm>
            </p:grpSpPr>
            <p:sp>
              <p:nvSpPr>
                <p:cNvPr id="37055" name="Freeform 191"/>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56" name="Freeform 192"/>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57" name="Freeform 193"/>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058" name="Group 194"/>
              <p:cNvGrpSpPr/>
              <p:nvPr/>
            </p:nvGrpSpPr>
            <p:grpSpPr bwMode="auto">
              <a:xfrm>
                <a:off x="2334" y="1539"/>
                <a:ext cx="360" cy="225"/>
                <a:chOff x="2736" y="2448"/>
                <a:chExt cx="384" cy="336"/>
              </a:xfrm>
            </p:grpSpPr>
            <p:sp>
              <p:nvSpPr>
                <p:cNvPr id="37059" name="Freeform 195"/>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60" name="Freeform 196"/>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61" name="Freeform 197"/>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062" name="Group 198"/>
              <p:cNvGrpSpPr/>
              <p:nvPr/>
            </p:nvGrpSpPr>
            <p:grpSpPr bwMode="auto">
              <a:xfrm>
                <a:off x="2064" y="1667"/>
                <a:ext cx="360" cy="225"/>
                <a:chOff x="2736" y="2448"/>
                <a:chExt cx="384" cy="336"/>
              </a:xfrm>
            </p:grpSpPr>
            <p:sp>
              <p:nvSpPr>
                <p:cNvPr id="37063" name="Freeform 199"/>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64" name="Freeform 200"/>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65" name="Freeform 201"/>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066" name="Group 202"/>
              <p:cNvGrpSpPr/>
              <p:nvPr/>
            </p:nvGrpSpPr>
            <p:grpSpPr bwMode="auto">
              <a:xfrm>
                <a:off x="2334" y="1410"/>
                <a:ext cx="360" cy="225"/>
                <a:chOff x="2736" y="2448"/>
                <a:chExt cx="384" cy="336"/>
              </a:xfrm>
            </p:grpSpPr>
            <p:sp>
              <p:nvSpPr>
                <p:cNvPr id="37067" name="Freeform 203"/>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68" name="Freeform 204"/>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69" name="Freeform 205"/>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070" name="Group 206"/>
              <p:cNvGrpSpPr/>
              <p:nvPr/>
            </p:nvGrpSpPr>
            <p:grpSpPr bwMode="auto">
              <a:xfrm>
                <a:off x="2064" y="1539"/>
                <a:ext cx="360" cy="225"/>
                <a:chOff x="2736" y="2448"/>
                <a:chExt cx="384" cy="336"/>
              </a:xfrm>
            </p:grpSpPr>
            <p:sp>
              <p:nvSpPr>
                <p:cNvPr id="37071" name="Freeform 207"/>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72" name="Freeform 208"/>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73" name="Freeform 209"/>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074" name="Group 210"/>
              <p:cNvGrpSpPr/>
              <p:nvPr/>
            </p:nvGrpSpPr>
            <p:grpSpPr bwMode="auto">
              <a:xfrm>
                <a:off x="2334" y="1282"/>
                <a:ext cx="360" cy="225"/>
                <a:chOff x="2736" y="2448"/>
                <a:chExt cx="384" cy="336"/>
              </a:xfrm>
            </p:grpSpPr>
            <p:sp>
              <p:nvSpPr>
                <p:cNvPr id="37075" name="Freeform 211"/>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76" name="Freeform 212"/>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77" name="Freeform 213"/>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078" name="Group 214"/>
              <p:cNvGrpSpPr/>
              <p:nvPr/>
            </p:nvGrpSpPr>
            <p:grpSpPr bwMode="auto">
              <a:xfrm>
                <a:off x="2064" y="1410"/>
                <a:ext cx="360" cy="225"/>
                <a:chOff x="2736" y="2448"/>
                <a:chExt cx="384" cy="336"/>
              </a:xfrm>
            </p:grpSpPr>
            <p:sp>
              <p:nvSpPr>
                <p:cNvPr id="37079" name="Freeform 215"/>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80" name="Freeform 216"/>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81" name="Freeform 217"/>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082" name="Group 218"/>
              <p:cNvGrpSpPr/>
              <p:nvPr/>
            </p:nvGrpSpPr>
            <p:grpSpPr bwMode="auto">
              <a:xfrm>
                <a:off x="2334" y="1153"/>
                <a:ext cx="360" cy="225"/>
                <a:chOff x="2736" y="2448"/>
                <a:chExt cx="384" cy="336"/>
              </a:xfrm>
            </p:grpSpPr>
            <p:sp>
              <p:nvSpPr>
                <p:cNvPr id="37083" name="Freeform 219"/>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84" name="Freeform 220"/>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85" name="Freeform 221"/>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086" name="Group 222"/>
              <p:cNvGrpSpPr/>
              <p:nvPr/>
            </p:nvGrpSpPr>
            <p:grpSpPr bwMode="auto">
              <a:xfrm>
                <a:off x="2064" y="1282"/>
                <a:ext cx="360" cy="225"/>
                <a:chOff x="2736" y="2448"/>
                <a:chExt cx="384" cy="336"/>
              </a:xfrm>
            </p:grpSpPr>
            <p:sp>
              <p:nvSpPr>
                <p:cNvPr id="37087" name="Freeform 223"/>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88" name="Freeform 224"/>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89" name="Freeform 225"/>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090" name="Group 226"/>
              <p:cNvGrpSpPr/>
              <p:nvPr/>
            </p:nvGrpSpPr>
            <p:grpSpPr bwMode="auto">
              <a:xfrm>
                <a:off x="2334" y="1025"/>
                <a:ext cx="360" cy="225"/>
                <a:chOff x="2736" y="2448"/>
                <a:chExt cx="384" cy="336"/>
              </a:xfrm>
            </p:grpSpPr>
            <p:sp>
              <p:nvSpPr>
                <p:cNvPr id="37091" name="Freeform 227"/>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92" name="Freeform 228"/>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93" name="Freeform 229"/>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094" name="Group 230"/>
              <p:cNvGrpSpPr/>
              <p:nvPr/>
            </p:nvGrpSpPr>
            <p:grpSpPr bwMode="auto">
              <a:xfrm>
                <a:off x="2064" y="1153"/>
                <a:ext cx="360" cy="225"/>
                <a:chOff x="2736" y="2448"/>
                <a:chExt cx="384" cy="336"/>
              </a:xfrm>
            </p:grpSpPr>
            <p:sp>
              <p:nvSpPr>
                <p:cNvPr id="37095" name="Freeform 231"/>
                <p:cNvSpPr/>
                <p:nvPr/>
              </p:nvSpPr>
              <p:spPr bwMode="auto">
                <a:xfrm>
                  <a:off x="2880" y="2496"/>
                  <a:ext cx="240" cy="288"/>
                </a:xfrm>
                <a:custGeom>
                  <a:avLst/>
                  <a:gdLst>
                    <a:gd name="T0" fmla="*/ 0 w 240"/>
                    <a:gd name="T1" fmla="*/ 144 h 288"/>
                    <a:gd name="T2" fmla="*/ 0 w 240"/>
                    <a:gd name="T3" fmla="*/ 288 h 288"/>
                    <a:gd name="T4" fmla="*/ 240 w 240"/>
                    <a:gd name="T5" fmla="*/ 144 h 288"/>
                    <a:gd name="T6" fmla="*/ 240 w 240"/>
                    <a:gd name="T7" fmla="*/ 0 h 288"/>
                    <a:gd name="T8" fmla="*/ 0 w 240"/>
                    <a:gd name="T9" fmla="*/ 144 h 288"/>
                  </a:gdLst>
                  <a:ahLst/>
                  <a:cxnLst>
                    <a:cxn ang="0">
                      <a:pos x="T0" y="T1"/>
                    </a:cxn>
                    <a:cxn ang="0">
                      <a:pos x="T2" y="T3"/>
                    </a:cxn>
                    <a:cxn ang="0">
                      <a:pos x="T4" y="T5"/>
                    </a:cxn>
                    <a:cxn ang="0">
                      <a:pos x="T6" y="T7"/>
                    </a:cxn>
                    <a:cxn ang="0">
                      <a:pos x="T8" y="T9"/>
                    </a:cxn>
                  </a:cxnLst>
                  <a:rect l="0" t="0" r="r" b="b"/>
                  <a:pathLst>
                    <a:path w="240" h="288">
                      <a:moveTo>
                        <a:pt x="0" y="144"/>
                      </a:moveTo>
                      <a:lnTo>
                        <a:pt x="0" y="288"/>
                      </a:lnTo>
                      <a:lnTo>
                        <a:pt x="240" y="144"/>
                      </a:lnTo>
                      <a:lnTo>
                        <a:pt x="240" y="0"/>
                      </a:lnTo>
                      <a:lnTo>
                        <a:pt x="0" y="144"/>
                      </a:lnTo>
                      <a:close/>
                    </a:path>
                  </a:pathLst>
                </a:custGeom>
                <a:solidFill>
                  <a:srgbClr val="A5002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96" name="Freeform 232"/>
                <p:cNvSpPr/>
                <p:nvPr/>
              </p:nvSpPr>
              <p:spPr bwMode="auto">
                <a:xfrm>
                  <a:off x="2736" y="2592"/>
                  <a:ext cx="144" cy="192"/>
                </a:xfrm>
                <a:custGeom>
                  <a:avLst/>
                  <a:gdLst>
                    <a:gd name="T0" fmla="*/ 144 w 144"/>
                    <a:gd name="T1" fmla="*/ 48 h 192"/>
                    <a:gd name="T2" fmla="*/ 144 w 144"/>
                    <a:gd name="T3" fmla="*/ 192 h 192"/>
                    <a:gd name="T4" fmla="*/ 0 w 144"/>
                    <a:gd name="T5" fmla="*/ 144 h 192"/>
                    <a:gd name="T6" fmla="*/ 0 w 144"/>
                    <a:gd name="T7" fmla="*/ 0 h 192"/>
                    <a:gd name="T8" fmla="*/ 144 w 144"/>
                    <a:gd name="T9" fmla="*/ 48 h 192"/>
                  </a:gdLst>
                  <a:ahLst/>
                  <a:cxnLst>
                    <a:cxn ang="0">
                      <a:pos x="T0" y="T1"/>
                    </a:cxn>
                    <a:cxn ang="0">
                      <a:pos x="T2" y="T3"/>
                    </a:cxn>
                    <a:cxn ang="0">
                      <a:pos x="T4" y="T5"/>
                    </a:cxn>
                    <a:cxn ang="0">
                      <a:pos x="T6" y="T7"/>
                    </a:cxn>
                    <a:cxn ang="0">
                      <a:pos x="T8" y="T9"/>
                    </a:cxn>
                  </a:cxnLst>
                  <a:rect l="0" t="0" r="r" b="b"/>
                  <a:pathLst>
                    <a:path w="144" h="192">
                      <a:moveTo>
                        <a:pt x="144" y="48"/>
                      </a:moveTo>
                      <a:lnTo>
                        <a:pt x="144" y="192"/>
                      </a:lnTo>
                      <a:lnTo>
                        <a:pt x="0" y="144"/>
                      </a:lnTo>
                      <a:lnTo>
                        <a:pt x="0" y="0"/>
                      </a:lnTo>
                      <a:lnTo>
                        <a:pt x="144" y="48"/>
                      </a:lnTo>
                      <a:close/>
                    </a:path>
                  </a:pathLst>
                </a:custGeom>
                <a:solidFill>
                  <a:srgbClr val="FF7C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097" name="Freeform 233"/>
                <p:cNvSpPr/>
                <p:nvPr/>
              </p:nvSpPr>
              <p:spPr bwMode="auto">
                <a:xfrm>
                  <a:off x="2736" y="2448"/>
                  <a:ext cx="384" cy="192"/>
                </a:xfrm>
                <a:custGeom>
                  <a:avLst/>
                  <a:gdLst>
                    <a:gd name="T0" fmla="*/ 0 w 384"/>
                    <a:gd name="T1" fmla="*/ 144 h 192"/>
                    <a:gd name="T2" fmla="*/ 240 w 384"/>
                    <a:gd name="T3" fmla="*/ 0 h 192"/>
                    <a:gd name="T4" fmla="*/ 384 w 384"/>
                    <a:gd name="T5" fmla="*/ 48 h 192"/>
                    <a:gd name="T6" fmla="*/ 144 w 384"/>
                    <a:gd name="T7" fmla="*/ 192 h 192"/>
                    <a:gd name="T8" fmla="*/ 0 w 384"/>
                    <a:gd name="T9" fmla="*/ 144 h 192"/>
                  </a:gdLst>
                  <a:ahLst/>
                  <a:cxnLst>
                    <a:cxn ang="0">
                      <a:pos x="T0" y="T1"/>
                    </a:cxn>
                    <a:cxn ang="0">
                      <a:pos x="T2" y="T3"/>
                    </a:cxn>
                    <a:cxn ang="0">
                      <a:pos x="T4" y="T5"/>
                    </a:cxn>
                    <a:cxn ang="0">
                      <a:pos x="T6" y="T7"/>
                    </a:cxn>
                    <a:cxn ang="0">
                      <a:pos x="T8" y="T9"/>
                    </a:cxn>
                  </a:cxnLst>
                  <a:rect l="0" t="0" r="r" b="b"/>
                  <a:pathLst>
                    <a:path w="384" h="192">
                      <a:moveTo>
                        <a:pt x="0" y="144"/>
                      </a:moveTo>
                      <a:lnTo>
                        <a:pt x="240" y="0"/>
                      </a:lnTo>
                      <a:lnTo>
                        <a:pt x="384" y="48"/>
                      </a:lnTo>
                      <a:lnTo>
                        <a:pt x="144" y="192"/>
                      </a:lnTo>
                      <a:lnTo>
                        <a:pt x="0" y="144"/>
                      </a:lnTo>
                      <a:close/>
                    </a:path>
                  </a:pathLst>
                </a:custGeom>
                <a:solidFill>
                  <a:srgbClr val="FF505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pic>
          <p:nvPicPr>
            <p:cNvPr id="37098" name="Picture 234" descr="Internet"/>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22" y="2014"/>
              <a:ext cx="613" cy="614"/>
            </a:xfrm>
            <a:prstGeom prst="rect">
              <a:avLst/>
            </a:prstGeom>
            <a:noFill/>
            <a:extLst>
              <a:ext uri="{909E8E84-426E-40DD-AFC4-6F175D3DCCD1}">
                <a14:hiddenFill xmlns:a14="http://schemas.microsoft.com/office/drawing/2010/main">
                  <a:solidFill>
                    <a:srgbClr val="FFFFFF"/>
                  </a:solidFill>
                </a14:hiddenFill>
              </a:ext>
            </a:extLst>
          </p:spPr>
        </p:pic>
        <p:sp>
          <p:nvSpPr>
            <p:cNvPr id="37099" name="Rectangle 235"/>
            <p:cNvSpPr>
              <a:spLocks noChangeAspect="1" noChangeArrowheads="1"/>
            </p:cNvSpPr>
            <p:nvPr/>
          </p:nvSpPr>
          <p:spPr bwMode="auto">
            <a:xfrm flipH="1">
              <a:off x="439" y="2562"/>
              <a:ext cx="632" cy="196"/>
            </a:xfrm>
            <a:prstGeom prst="rect">
              <a:avLst/>
            </a:prstGeom>
            <a:solidFill>
              <a:schemeClr val="bg1"/>
            </a:solidFill>
            <a:ln w="12700">
              <a:solidFill>
                <a:schemeClr val="tx2"/>
              </a:solidFill>
              <a:miter lim="800000"/>
            </a:ln>
            <a:effectLst>
              <a:outerShdw dist="53882" dir="2700000" algn="ctr" rotWithShape="0">
                <a:schemeClr val="bg2"/>
              </a:outerShdw>
            </a:effectLst>
          </p:spPr>
          <p:txBody>
            <a:bodyPr wrap="none" lIns="85725" tIns="27432" rIns="85725" bIns="27432">
              <a:spAutoFit/>
            </a:bodyPr>
            <a:lstStyle>
              <a:lvl1pPr defTabSz="806450">
                <a:defRPr kumimoji="1" sz="2400">
                  <a:solidFill>
                    <a:schemeClr val="tx1"/>
                  </a:solidFill>
                  <a:latin typeface="Times New Roman" panose="02020603050405020304" pitchFamily="18" charset="0"/>
                  <a:ea typeface="宋体" panose="02010600030101010101" pitchFamily="2" charset="-122"/>
                </a:defRPr>
              </a:lvl1pPr>
              <a:lvl2pPr marL="428625" defTabSz="806450">
                <a:defRPr kumimoji="1" sz="2400">
                  <a:solidFill>
                    <a:schemeClr val="tx1"/>
                  </a:solidFill>
                  <a:latin typeface="Times New Roman" panose="02020603050405020304" pitchFamily="18" charset="0"/>
                  <a:ea typeface="宋体" panose="02010600030101010101" pitchFamily="2" charset="-122"/>
                </a:defRPr>
              </a:lvl2pPr>
              <a:lvl3pPr marL="860425" defTabSz="806450">
                <a:defRPr kumimoji="1" sz="2400">
                  <a:solidFill>
                    <a:schemeClr val="tx1"/>
                  </a:solidFill>
                  <a:latin typeface="Times New Roman" panose="02020603050405020304" pitchFamily="18" charset="0"/>
                  <a:ea typeface="宋体" panose="02010600030101010101" pitchFamily="2" charset="-122"/>
                </a:defRPr>
              </a:lvl3pPr>
              <a:lvl4pPr marL="1289050" defTabSz="806450">
                <a:defRPr kumimoji="1" sz="2400">
                  <a:solidFill>
                    <a:schemeClr val="tx1"/>
                  </a:solidFill>
                  <a:latin typeface="Times New Roman" panose="02020603050405020304" pitchFamily="18" charset="0"/>
                  <a:ea typeface="宋体" panose="02010600030101010101" pitchFamily="2" charset="-122"/>
                </a:defRPr>
              </a:lvl4pPr>
              <a:lvl5pPr marL="1720850" defTabSz="806450">
                <a:defRPr kumimoji="1" sz="2400">
                  <a:solidFill>
                    <a:schemeClr val="tx1"/>
                  </a:solidFill>
                  <a:latin typeface="Times New Roman" panose="02020603050405020304" pitchFamily="18" charset="0"/>
                  <a:ea typeface="宋体" panose="02010600030101010101" pitchFamily="2" charset="-122"/>
                </a:defRPr>
              </a:lvl5pPr>
              <a:lvl6pPr marL="2178050" defTabSz="806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635250" defTabSz="806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092450" defTabSz="806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549650" defTabSz="806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1600" b="1">
                  <a:latin typeface="Arial" panose="020B0604020202020204" pitchFamily="34" charset="0"/>
                </a:rPr>
                <a:t>外部网络</a:t>
              </a:r>
              <a:endParaRPr kumimoji="0" lang="zh-CN" altLang="en-US" sz="1600" b="1">
                <a:latin typeface="Arial" panose="020B0604020202020204" pitchFamily="34" charset="0"/>
              </a:endParaRPr>
            </a:p>
          </p:txBody>
        </p:sp>
        <p:sp>
          <p:nvSpPr>
            <p:cNvPr id="37100" name="Rectangle 236"/>
            <p:cNvSpPr>
              <a:spLocks noChangeAspect="1" noChangeArrowheads="1"/>
            </p:cNvSpPr>
            <p:nvPr/>
          </p:nvSpPr>
          <p:spPr bwMode="auto">
            <a:xfrm flipH="1">
              <a:off x="4188" y="2075"/>
              <a:ext cx="393" cy="196"/>
            </a:xfrm>
            <a:prstGeom prst="rect">
              <a:avLst/>
            </a:prstGeom>
            <a:solidFill>
              <a:schemeClr val="bg1"/>
            </a:solidFill>
            <a:ln w="12700">
              <a:solidFill>
                <a:schemeClr val="tx2"/>
              </a:solidFill>
              <a:miter lim="800000"/>
            </a:ln>
            <a:effectLst>
              <a:outerShdw dist="53882" dir="2700000" algn="ctr" rotWithShape="0">
                <a:schemeClr val="bg2"/>
              </a:outerShdw>
            </a:effectLst>
          </p:spPr>
          <p:txBody>
            <a:bodyPr wrap="none" lIns="85725" tIns="27432" rIns="85725" bIns="27432">
              <a:spAutoFit/>
            </a:bodyPr>
            <a:lstStyle>
              <a:lvl1pPr defTabSz="806450">
                <a:defRPr kumimoji="1" sz="2400">
                  <a:solidFill>
                    <a:schemeClr val="tx1"/>
                  </a:solidFill>
                  <a:latin typeface="Times New Roman" panose="02020603050405020304" pitchFamily="18" charset="0"/>
                  <a:ea typeface="宋体" panose="02010600030101010101" pitchFamily="2" charset="-122"/>
                </a:defRPr>
              </a:lvl1pPr>
              <a:lvl2pPr marL="428625" defTabSz="806450">
                <a:defRPr kumimoji="1" sz="2400">
                  <a:solidFill>
                    <a:schemeClr val="tx1"/>
                  </a:solidFill>
                  <a:latin typeface="Times New Roman" panose="02020603050405020304" pitchFamily="18" charset="0"/>
                  <a:ea typeface="宋体" panose="02010600030101010101" pitchFamily="2" charset="-122"/>
                </a:defRPr>
              </a:lvl2pPr>
              <a:lvl3pPr marL="860425" defTabSz="806450">
                <a:defRPr kumimoji="1" sz="2400">
                  <a:solidFill>
                    <a:schemeClr val="tx1"/>
                  </a:solidFill>
                  <a:latin typeface="Times New Roman" panose="02020603050405020304" pitchFamily="18" charset="0"/>
                  <a:ea typeface="宋体" panose="02010600030101010101" pitchFamily="2" charset="-122"/>
                </a:defRPr>
              </a:lvl3pPr>
              <a:lvl4pPr marL="1289050" defTabSz="806450">
                <a:defRPr kumimoji="1" sz="2400">
                  <a:solidFill>
                    <a:schemeClr val="tx1"/>
                  </a:solidFill>
                  <a:latin typeface="Times New Roman" panose="02020603050405020304" pitchFamily="18" charset="0"/>
                  <a:ea typeface="宋体" panose="02010600030101010101" pitchFamily="2" charset="-122"/>
                </a:defRPr>
              </a:lvl4pPr>
              <a:lvl5pPr marL="1720850" defTabSz="806450">
                <a:defRPr kumimoji="1" sz="2400">
                  <a:solidFill>
                    <a:schemeClr val="tx1"/>
                  </a:solidFill>
                  <a:latin typeface="Times New Roman" panose="02020603050405020304" pitchFamily="18" charset="0"/>
                  <a:ea typeface="宋体" panose="02010600030101010101" pitchFamily="2" charset="-122"/>
                </a:defRPr>
              </a:lvl5pPr>
              <a:lvl6pPr marL="2178050" defTabSz="806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635250" defTabSz="806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092450" defTabSz="806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549650" defTabSz="806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en-US" altLang="zh-CN" sz="1600" b="1">
                  <a:latin typeface="Arial" panose="020B0604020202020204" pitchFamily="34" charset="0"/>
                </a:rPr>
                <a:t>DMZ</a:t>
              </a:r>
              <a:endParaRPr kumimoji="0" lang="en-US" altLang="zh-CN" sz="1600" b="1">
                <a:latin typeface="Arial" panose="020B0604020202020204" pitchFamily="34" charset="0"/>
              </a:endParaRPr>
            </a:p>
          </p:txBody>
        </p:sp>
        <p:sp>
          <p:nvSpPr>
            <p:cNvPr id="37101" name="Rectangle 237"/>
            <p:cNvSpPr>
              <a:spLocks noChangeAspect="1" noChangeArrowheads="1"/>
            </p:cNvSpPr>
            <p:nvPr/>
          </p:nvSpPr>
          <p:spPr bwMode="auto">
            <a:xfrm flipH="1">
              <a:off x="3336" y="4015"/>
              <a:ext cx="632" cy="196"/>
            </a:xfrm>
            <a:prstGeom prst="rect">
              <a:avLst/>
            </a:prstGeom>
            <a:solidFill>
              <a:schemeClr val="bg1"/>
            </a:solidFill>
            <a:ln w="12700">
              <a:solidFill>
                <a:schemeClr val="tx2"/>
              </a:solidFill>
              <a:miter lim="800000"/>
            </a:ln>
            <a:effectLst>
              <a:outerShdw dist="53882" dir="2700000" algn="ctr" rotWithShape="0">
                <a:schemeClr val="bg2"/>
              </a:outerShdw>
            </a:effectLst>
          </p:spPr>
          <p:txBody>
            <a:bodyPr wrap="none" lIns="85725" tIns="27432" rIns="85725" bIns="27432">
              <a:spAutoFit/>
            </a:bodyPr>
            <a:lstStyle>
              <a:lvl1pPr defTabSz="806450">
                <a:defRPr kumimoji="1" sz="2400">
                  <a:solidFill>
                    <a:schemeClr val="tx1"/>
                  </a:solidFill>
                  <a:latin typeface="Times New Roman" panose="02020603050405020304" pitchFamily="18" charset="0"/>
                  <a:ea typeface="宋体" panose="02010600030101010101" pitchFamily="2" charset="-122"/>
                </a:defRPr>
              </a:lvl1pPr>
              <a:lvl2pPr marL="428625" defTabSz="806450">
                <a:defRPr kumimoji="1" sz="2400">
                  <a:solidFill>
                    <a:schemeClr val="tx1"/>
                  </a:solidFill>
                  <a:latin typeface="Times New Roman" panose="02020603050405020304" pitchFamily="18" charset="0"/>
                  <a:ea typeface="宋体" panose="02010600030101010101" pitchFamily="2" charset="-122"/>
                </a:defRPr>
              </a:lvl2pPr>
              <a:lvl3pPr marL="860425" defTabSz="806450">
                <a:defRPr kumimoji="1" sz="2400">
                  <a:solidFill>
                    <a:schemeClr val="tx1"/>
                  </a:solidFill>
                  <a:latin typeface="Times New Roman" panose="02020603050405020304" pitchFamily="18" charset="0"/>
                  <a:ea typeface="宋体" panose="02010600030101010101" pitchFamily="2" charset="-122"/>
                </a:defRPr>
              </a:lvl3pPr>
              <a:lvl4pPr marL="1289050" defTabSz="806450">
                <a:defRPr kumimoji="1" sz="2400">
                  <a:solidFill>
                    <a:schemeClr val="tx1"/>
                  </a:solidFill>
                  <a:latin typeface="Times New Roman" panose="02020603050405020304" pitchFamily="18" charset="0"/>
                  <a:ea typeface="宋体" panose="02010600030101010101" pitchFamily="2" charset="-122"/>
                </a:defRPr>
              </a:lvl4pPr>
              <a:lvl5pPr marL="1720850" defTabSz="806450">
                <a:defRPr kumimoji="1" sz="2400">
                  <a:solidFill>
                    <a:schemeClr val="tx1"/>
                  </a:solidFill>
                  <a:latin typeface="Times New Roman" panose="02020603050405020304" pitchFamily="18" charset="0"/>
                  <a:ea typeface="宋体" panose="02010600030101010101" pitchFamily="2" charset="-122"/>
                </a:defRPr>
              </a:lvl5pPr>
              <a:lvl6pPr marL="2178050" defTabSz="806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635250" defTabSz="806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092450" defTabSz="806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549650" defTabSz="806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zh-CN" altLang="en-US" sz="1600" b="1">
                  <a:latin typeface="Arial" panose="020B0604020202020204" pitchFamily="34" charset="0"/>
                </a:rPr>
                <a:t>内部网络</a:t>
              </a:r>
              <a:endParaRPr kumimoji="0" lang="zh-CN" altLang="en-US" sz="1600" b="1">
                <a:latin typeface="Arial" panose="020B0604020202020204" pitchFamily="34" charset="0"/>
              </a:endParaRPr>
            </a:p>
          </p:txBody>
        </p:sp>
      </p:gr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zh-CN" altLang="en-US" b="1">
                <a:solidFill>
                  <a:schemeClr val="hlink"/>
                </a:solidFill>
                <a:latin typeface="Times New Roman" panose="02020603050405020304" pitchFamily="18" charset="0"/>
                <a:cs typeface="Times New Roman" panose="02020603050405020304" pitchFamily="18" charset="0"/>
              </a:rPr>
              <a:t>2  </a:t>
            </a:r>
            <a:r>
              <a:rPr lang="zh-CN" altLang="en-US" b="1">
                <a:solidFill>
                  <a:schemeClr val="hlink"/>
                </a:solidFill>
                <a:latin typeface="宋体" panose="02010600030101010101" pitchFamily="2" charset="-122"/>
              </a:rPr>
              <a:t>使用防火墙所带来的问题</a:t>
            </a:r>
            <a:r>
              <a:rPr lang="zh-CN" altLang="en-US"/>
              <a:t> </a:t>
            </a:r>
            <a:endParaRPr lang="zh-CN" altLang="en-US"/>
          </a:p>
        </p:txBody>
      </p:sp>
      <p:sp>
        <p:nvSpPr>
          <p:cNvPr id="37891" name="Rectangle 3"/>
          <p:cNvSpPr>
            <a:spLocks noGrp="1" noChangeArrowheads="1"/>
          </p:cNvSpPr>
          <p:nvPr>
            <p:ph type="body" idx="1"/>
          </p:nvPr>
        </p:nvSpPr>
        <p:spPr/>
        <p:txBody>
          <a:bodyPr/>
          <a:lstStyle/>
          <a:p>
            <a:r>
              <a:rPr lang="zh-CN" altLang="en-US">
                <a:latin typeface="宋体" panose="02010600030101010101" pitchFamily="2" charset="-122"/>
              </a:rPr>
              <a:t>（</a:t>
            </a:r>
            <a:r>
              <a:rPr lang="zh-CN" altLang="en-US">
                <a:cs typeface="Times New Roman" panose="02020603050405020304" pitchFamily="18" charset="0"/>
              </a:rPr>
              <a:t>1</a:t>
            </a:r>
            <a:r>
              <a:rPr lang="zh-CN" altLang="en-US">
                <a:latin typeface="宋体" panose="02010600030101010101" pitchFamily="2" charset="-122"/>
              </a:rPr>
              <a:t>）使用防火墙为网络带来安全性的代价是削弱了网络的功能。</a:t>
            </a:r>
            <a:r>
              <a:rPr lang="zh-CN" altLang="en-US"/>
              <a:t> </a:t>
            </a:r>
            <a:endParaRPr lang="zh-CN" altLang="en-US"/>
          </a:p>
          <a:p>
            <a:r>
              <a:rPr lang="zh-CN" altLang="en-US">
                <a:latin typeface="宋体" panose="02010600030101010101" pitchFamily="2" charset="-122"/>
              </a:rPr>
              <a:t>（</a:t>
            </a:r>
            <a:r>
              <a:rPr lang="zh-CN" altLang="en-US">
                <a:cs typeface="Times New Roman" panose="02020603050405020304" pitchFamily="18" charset="0"/>
              </a:rPr>
              <a:t>2</a:t>
            </a:r>
            <a:r>
              <a:rPr lang="zh-CN" altLang="en-US">
                <a:latin typeface="宋体" panose="02010600030101010101" pitchFamily="2" charset="-122"/>
              </a:rPr>
              <a:t>）使用防火墙可能会成为网络的瓶颈。</a:t>
            </a:r>
            <a:r>
              <a:rPr lang="zh-CN" altLang="en-US"/>
              <a:t> </a:t>
            </a:r>
            <a:endParaRPr lang="zh-CN" altLang="en-US"/>
          </a:p>
          <a:p>
            <a:r>
              <a:rPr lang="zh-CN" altLang="en-US">
                <a:latin typeface="宋体" panose="02010600030101010101" pitchFamily="2" charset="-122"/>
              </a:rPr>
              <a:t>（</a:t>
            </a:r>
            <a:r>
              <a:rPr lang="zh-CN" altLang="en-US">
                <a:cs typeface="Times New Roman" panose="02020603050405020304" pitchFamily="18" charset="0"/>
              </a:rPr>
              <a:t>3</a:t>
            </a:r>
            <a:r>
              <a:rPr lang="zh-CN" altLang="en-US">
                <a:latin typeface="宋体" panose="02010600030101010101" pitchFamily="2" charset="-122"/>
              </a:rPr>
              <a:t>）使用应用代理防火墙时必须不断地设法获得新出现服务的应用代理。</a:t>
            </a:r>
            <a:r>
              <a:rPr lang="zh-CN" altLang="en-US"/>
              <a:t> </a:t>
            </a:r>
            <a:endParaRPr lang="zh-CN" altLang="en-US"/>
          </a:p>
          <a:p>
            <a:r>
              <a:rPr lang="zh-CN" altLang="en-US">
                <a:latin typeface="宋体" panose="02010600030101010101" pitchFamily="2" charset="-122"/>
              </a:rPr>
              <a:t>（</a:t>
            </a:r>
            <a:r>
              <a:rPr lang="zh-CN" altLang="en-US">
                <a:cs typeface="Times New Roman" panose="02020603050405020304" pitchFamily="18" charset="0"/>
              </a:rPr>
              <a:t>4</a:t>
            </a:r>
            <a:r>
              <a:rPr lang="zh-CN" altLang="en-US">
                <a:latin typeface="宋体" panose="02010600030101010101" pitchFamily="2" charset="-122"/>
              </a:rPr>
              <a:t>）对某些以提供服务为目的的组织，如</a:t>
            </a:r>
            <a:r>
              <a:rPr lang="en-US" altLang="zh-CN">
                <a:cs typeface="Times New Roman" panose="02020603050405020304" pitchFamily="18" charset="0"/>
              </a:rPr>
              <a:t>I</a:t>
            </a:r>
            <a:r>
              <a:rPr lang="en-US" altLang="zh-CN" b="1">
                <a:cs typeface="Times New Roman" panose="02020603050405020304" pitchFamily="18" charset="0"/>
              </a:rPr>
              <a:t>SP</a:t>
            </a:r>
            <a:r>
              <a:rPr lang="en-US" altLang="zh-CN" b="1">
                <a:latin typeface="宋体" panose="02010600030101010101" pitchFamily="2" charset="-122"/>
              </a:rPr>
              <a:t>（</a:t>
            </a:r>
            <a:r>
              <a:rPr lang="en-US" altLang="zh-CN" b="1">
                <a:cs typeface="Times New Roman" panose="02020603050405020304" pitchFamily="18" charset="0"/>
              </a:rPr>
              <a:t>Internet Service Provider</a:t>
            </a:r>
            <a:r>
              <a:rPr lang="en-US" altLang="zh-CN" b="1">
                <a:latin typeface="宋体" panose="02010600030101010101" pitchFamily="2" charset="-122"/>
              </a:rPr>
              <a:t>），</a:t>
            </a:r>
            <a:r>
              <a:rPr lang="zh-CN" altLang="en-US">
                <a:latin typeface="宋体" panose="02010600030101010101" pitchFamily="2" charset="-122"/>
              </a:rPr>
              <a:t>如果采用如此严格的防火墙安全策略，就会失去用户。</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zh-CN" altLang="en-US" b="1" dirty="0">
                <a:solidFill>
                  <a:schemeClr val="hlink"/>
                </a:solidFill>
                <a:latin typeface="宋体" panose="02010600030101010101" pitchFamily="2" charset="-122"/>
              </a:rPr>
              <a:t>二、</a:t>
            </a:r>
            <a:r>
              <a:rPr lang="zh-CN" altLang="en-US" b="1" dirty="0">
                <a:solidFill>
                  <a:schemeClr val="hlink"/>
                </a:solidFill>
                <a:latin typeface="Times New Roman" panose="02020603050405020304" pitchFamily="18" charset="0"/>
                <a:cs typeface="Times New Roman" panose="02020603050405020304" pitchFamily="18" charset="0"/>
              </a:rPr>
              <a:t> </a:t>
            </a:r>
            <a:r>
              <a:rPr lang="zh-CN" altLang="en-US" b="1" dirty="0">
                <a:solidFill>
                  <a:schemeClr val="hlink"/>
                </a:solidFill>
                <a:latin typeface="宋体" panose="02010600030101010101" pitchFamily="2" charset="-122"/>
              </a:rPr>
              <a:t>防火墙的接入与安全策略</a:t>
            </a:r>
            <a:endParaRPr lang="zh-CN" altLang="en-US" b="1" dirty="0">
              <a:solidFill>
                <a:schemeClr val="hlink"/>
              </a:solidFill>
              <a:latin typeface="宋体" panose="02010600030101010101" pitchFamily="2" charset="-122"/>
            </a:endParaRPr>
          </a:p>
        </p:txBody>
      </p:sp>
      <p:sp>
        <p:nvSpPr>
          <p:cNvPr id="38915" name="Rectangle 3"/>
          <p:cNvSpPr>
            <a:spLocks noGrp="1" noChangeArrowheads="1"/>
          </p:cNvSpPr>
          <p:nvPr>
            <p:ph type="body" idx="1"/>
          </p:nvPr>
        </p:nvSpPr>
        <p:spPr>
          <a:xfrm>
            <a:off x="914400" y="1514272"/>
            <a:ext cx="10363200" cy="4114800"/>
          </a:xfrm>
        </p:spPr>
        <p:txBody>
          <a:bodyPr/>
          <a:lstStyle/>
          <a:p>
            <a:pPr>
              <a:lnSpc>
                <a:spcPct val="150000"/>
              </a:lnSpc>
            </a:pPr>
            <a:r>
              <a:rPr lang="zh-CN" altLang="en-US" dirty="0" smtClean="0">
                <a:latin typeface="宋体" panose="02010600030101010101" pitchFamily="2" charset="-122"/>
              </a:rPr>
              <a:t>    防火墙</a:t>
            </a:r>
            <a:r>
              <a:rPr lang="zh-CN" altLang="en-US" dirty="0">
                <a:latin typeface="宋体" panose="02010600030101010101" pitchFamily="2" charset="-122"/>
              </a:rPr>
              <a:t>是用来加强网络之间访问控制的硬件或软件系统，它可以随用户网络的安全标准的要求不同而不同。有防火墙防护的网络称为可信网络，其他的网络都被称为不可信任的网络。防火墙所起的安全作用是</a:t>
            </a:r>
            <a:r>
              <a:rPr lang="zh-CN" altLang="en-US" dirty="0">
                <a:highlight>
                  <a:srgbClr val="FFFF00"/>
                </a:highlight>
                <a:latin typeface="宋体" panose="02010600030101010101" pitchFamily="2" charset="-122"/>
              </a:rPr>
              <a:t>双向</a:t>
            </a:r>
            <a:r>
              <a:rPr lang="zh-CN" altLang="en-US" dirty="0">
                <a:latin typeface="宋体" panose="02010600030101010101" pitchFamily="2" charset="-122"/>
              </a:rPr>
              <a:t>的，一方面用来防止来自非信任网络的非受权访问；另一方面能够限制网络内部对互联网络的访问。</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819400" y="4782589"/>
            <a:ext cx="7837516" cy="1143000"/>
          </a:xfrm>
        </p:spPr>
        <p:txBody>
          <a:bodyPr/>
          <a:lstStyle/>
          <a:p>
            <a:r>
              <a:rPr lang="zh-CN" altLang="en-US" sz="3200" dirty="0">
                <a:latin typeface="宋体" panose="02010600030101010101" pitchFamily="2" charset="-122"/>
              </a:rPr>
              <a:t>图</a:t>
            </a:r>
            <a:r>
              <a:rPr lang="zh-CN" altLang="en-US" sz="3200" dirty="0">
                <a:latin typeface="Times New Roman" panose="02020603050405020304" pitchFamily="18" charset="0"/>
                <a:cs typeface="Times New Roman" panose="02020603050405020304" pitchFamily="18" charset="0"/>
              </a:rPr>
              <a:t>5</a:t>
            </a:r>
            <a:r>
              <a:rPr lang="zh-CN" altLang="en-US" sz="3200" dirty="0" smtClean="0">
                <a:latin typeface="Times New Roman" panose="02020603050405020304" pitchFamily="18" charset="0"/>
                <a:cs typeface="Times New Roman" panose="02020603050405020304" pitchFamily="18" charset="0"/>
              </a:rPr>
              <a:t>-5  </a:t>
            </a:r>
            <a:r>
              <a:rPr lang="zh-CN" altLang="en-US" sz="3200" dirty="0">
                <a:latin typeface="宋体" panose="02010600030101010101" pitchFamily="2" charset="-122"/>
              </a:rPr>
              <a:t>防火墙接入的基本方法示意图</a:t>
            </a:r>
            <a:endParaRPr lang="zh-CN" altLang="en-US" sz="3200" dirty="0">
              <a:latin typeface="宋体" panose="02010600030101010101" pitchFamily="2" charset="-122"/>
            </a:endParaRPr>
          </a:p>
        </p:txBody>
      </p:sp>
      <p:sp>
        <p:nvSpPr>
          <p:cNvPr id="39939" name="Rectangle 3"/>
          <p:cNvSpPr>
            <a:spLocks noChangeArrowheads="1"/>
          </p:cNvSpPr>
          <p:nvPr/>
        </p:nvSpPr>
        <p:spPr bwMode="auto">
          <a:xfrm>
            <a:off x="4129088" y="2247900"/>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39940" name="Object 4"/>
          <p:cNvGraphicFramePr>
            <a:graphicFrameLocks noChangeAspect="1"/>
          </p:cNvGraphicFramePr>
          <p:nvPr/>
        </p:nvGraphicFramePr>
        <p:xfrm>
          <a:off x="2819400" y="1447800"/>
          <a:ext cx="6477000" cy="2916238"/>
        </p:xfrm>
        <a:graphic>
          <a:graphicData uri="http://schemas.openxmlformats.org/presentationml/2006/ole">
            <mc:AlternateContent xmlns:mc="http://schemas.openxmlformats.org/markup-compatibility/2006">
              <mc:Choice xmlns:v="urn:schemas-microsoft-com:vml" Requires="v">
                <p:oleObj spid="_x0000_s5199" name="" r:id="rId1" imgW="4099560" imgH="3093720" progId="Visio.Drawing.6">
                  <p:embed/>
                </p:oleObj>
              </mc:Choice>
              <mc:Fallback>
                <p:oleObj name="" r:id="rId1" imgW="4099560" imgH="3093720" progId="Visio.Drawing.6">
                  <p:embed/>
                  <p:pic>
                    <p:nvPicPr>
                      <p:cNvPr id="0" name="图片 519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447800"/>
                        <a:ext cx="6477000" cy="2916238"/>
                      </a:xfrm>
                      <a:prstGeom prst="rect">
                        <a:avLst/>
                      </a:prstGeom>
                      <a:solidFill>
                        <a:srgbClr val="FFFF99"/>
                      </a:solidFill>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a:t> </a:t>
            </a:r>
            <a:endParaRPr lang="zh-CN" altLang="en-US"/>
          </a:p>
        </p:txBody>
      </p:sp>
      <p:sp>
        <p:nvSpPr>
          <p:cNvPr id="40963" name="Rectangle 3"/>
          <p:cNvSpPr>
            <a:spLocks noGrp="1" noChangeArrowheads="1"/>
          </p:cNvSpPr>
          <p:nvPr>
            <p:ph type="body" idx="1"/>
          </p:nvPr>
        </p:nvSpPr>
        <p:spPr/>
        <p:txBody>
          <a:bodyPr/>
          <a:lstStyle/>
          <a:p>
            <a:pPr algn="just">
              <a:lnSpc>
                <a:spcPct val="90000"/>
              </a:lnSpc>
            </a:pPr>
            <a:r>
              <a:rPr lang="zh-CN" altLang="en-US">
                <a:latin typeface="宋体" panose="02010600030101010101" pitchFamily="2" charset="-122"/>
              </a:rPr>
              <a:t>网络管理员可以根据以下两个观点为防火墙设置访问控制策略：</a:t>
            </a:r>
            <a:endParaRPr lang="zh-CN" altLang="en-US">
              <a:cs typeface="Times New Roman" panose="02020603050405020304" pitchFamily="18" charset="0"/>
            </a:endParaRPr>
          </a:p>
          <a:p>
            <a:pPr algn="just">
              <a:lnSpc>
                <a:spcPct val="90000"/>
              </a:lnSpc>
            </a:pPr>
            <a:r>
              <a:rPr lang="zh-CN" altLang="en-US">
                <a:latin typeface="宋体" panose="02010600030101010101" pitchFamily="2" charset="-122"/>
              </a:rPr>
              <a:t>（</a:t>
            </a:r>
            <a:r>
              <a:rPr lang="zh-CN" altLang="en-US">
                <a:cs typeface="Times New Roman" panose="02020603050405020304" pitchFamily="18" charset="0"/>
              </a:rPr>
              <a:t>1</a:t>
            </a:r>
            <a:r>
              <a:rPr lang="zh-CN" altLang="en-US">
                <a:latin typeface="宋体" panose="02010600030101010101" pitchFamily="2" charset="-122"/>
              </a:rPr>
              <a:t>）除了允许</a:t>
            </a:r>
            <a:r>
              <a:rPr lang="zh-CN" altLang="en-US">
                <a:highlight>
                  <a:srgbClr val="FFFF00"/>
                </a:highlight>
                <a:latin typeface="宋体" panose="02010600030101010101" pitchFamily="2" charset="-122"/>
              </a:rPr>
              <a:t>明确的合法流量</a:t>
            </a:r>
            <a:r>
              <a:rPr lang="zh-CN" altLang="en-US">
                <a:latin typeface="宋体" panose="02010600030101010101" pitchFamily="2" charset="-122"/>
              </a:rPr>
              <a:t>外，禁止其他所有流量。</a:t>
            </a:r>
            <a:endParaRPr lang="zh-CN" altLang="en-US">
              <a:cs typeface="Times New Roman" panose="02020603050405020304" pitchFamily="18" charset="0"/>
            </a:endParaRPr>
          </a:p>
          <a:p>
            <a:pPr algn="just">
              <a:lnSpc>
                <a:spcPct val="90000"/>
              </a:lnSpc>
            </a:pPr>
            <a:r>
              <a:rPr lang="zh-CN" altLang="en-US">
                <a:latin typeface="宋体" panose="02010600030101010101" pitchFamily="2" charset="-122"/>
              </a:rPr>
              <a:t>在这种情况下，任何可能遇到的威胁企图必须从技术上定义（许可性策略）。</a:t>
            </a:r>
            <a:r>
              <a:rPr lang="zh-CN" altLang="en-US">
                <a:solidFill>
                  <a:srgbClr val="FF0000"/>
                </a:solidFill>
                <a:latin typeface="宋体" panose="02010600030101010101" pitchFamily="2" charset="-122"/>
              </a:rPr>
              <a:t>（允许谁进）</a:t>
            </a:r>
            <a:endParaRPr lang="zh-CN" altLang="en-US">
              <a:cs typeface="Times New Roman" panose="02020603050405020304" pitchFamily="18" charset="0"/>
            </a:endParaRPr>
          </a:p>
          <a:p>
            <a:pPr algn="just">
              <a:lnSpc>
                <a:spcPct val="90000"/>
              </a:lnSpc>
            </a:pPr>
            <a:r>
              <a:rPr lang="zh-CN" altLang="en-US">
                <a:latin typeface="宋体" panose="02010600030101010101" pitchFamily="2" charset="-122"/>
              </a:rPr>
              <a:t>（</a:t>
            </a:r>
            <a:r>
              <a:rPr lang="zh-CN" altLang="en-US">
                <a:cs typeface="Times New Roman" panose="02020603050405020304" pitchFamily="18" charset="0"/>
              </a:rPr>
              <a:t>2</a:t>
            </a:r>
            <a:r>
              <a:rPr lang="zh-CN" altLang="en-US">
                <a:latin typeface="宋体" panose="02010600030101010101" pitchFamily="2" charset="-122"/>
              </a:rPr>
              <a:t>）除了</a:t>
            </a:r>
            <a:r>
              <a:rPr lang="zh-CN" altLang="en-US">
                <a:highlight>
                  <a:srgbClr val="FFFF00"/>
                </a:highlight>
                <a:latin typeface="宋体" panose="02010600030101010101" pitchFamily="2" charset="-122"/>
              </a:rPr>
              <a:t>明确的非法流量</a:t>
            </a:r>
            <a:r>
              <a:rPr lang="zh-CN" altLang="en-US">
                <a:latin typeface="宋体" panose="02010600030101010101" pitchFamily="2" charset="-122"/>
              </a:rPr>
              <a:t>禁止外，允许其他所有流量。</a:t>
            </a:r>
            <a:endParaRPr lang="zh-CN" altLang="en-US">
              <a:latin typeface="宋体" panose="02010600030101010101" pitchFamily="2" charset="-122"/>
            </a:endParaRPr>
          </a:p>
          <a:p>
            <a:pPr algn="just">
              <a:lnSpc>
                <a:spcPct val="90000"/>
              </a:lnSpc>
            </a:pPr>
            <a:r>
              <a:rPr lang="zh-CN" altLang="en-US">
                <a:solidFill>
                  <a:srgbClr val="FF0000"/>
                </a:solidFill>
                <a:latin typeface="宋体" panose="02010600030101010101" pitchFamily="2" charset="-122"/>
                <a:sym typeface="+mn-ea"/>
              </a:rPr>
              <a:t>（不允许谁进）</a:t>
            </a:r>
            <a:endParaRPr lang="zh-CN" altLang="en-US">
              <a:solidFill>
                <a:srgbClr val="FF0000"/>
              </a:solidFill>
              <a:latin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zh-CN" altLang="en-US" b="1">
                <a:solidFill>
                  <a:schemeClr val="hlink"/>
                </a:solidFill>
                <a:latin typeface="宋体" panose="02010600030101010101" pitchFamily="2" charset="-122"/>
              </a:rPr>
              <a:t>三、</a:t>
            </a:r>
            <a:r>
              <a:rPr lang="zh-CN" altLang="en-US" b="1">
                <a:solidFill>
                  <a:schemeClr val="hlink"/>
                </a:solidFill>
                <a:latin typeface="Times New Roman" panose="02020603050405020304" pitchFamily="18" charset="0"/>
                <a:cs typeface="Times New Roman" panose="02020603050405020304" pitchFamily="18" charset="0"/>
              </a:rPr>
              <a:t> </a:t>
            </a:r>
            <a:r>
              <a:rPr lang="zh-CN" altLang="en-US" b="1">
                <a:solidFill>
                  <a:schemeClr val="hlink"/>
                </a:solidFill>
                <a:latin typeface="宋体" panose="02010600030101010101" pitchFamily="2" charset="-122"/>
              </a:rPr>
              <a:t>防火墙的安全技术</a:t>
            </a:r>
            <a:endParaRPr lang="zh-CN" altLang="en-US">
              <a:solidFill>
                <a:schemeClr val="hlink"/>
              </a:solidFill>
              <a:latin typeface="Times New Roman" panose="02020603050405020304" pitchFamily="18" charset="0"/>
              <a:cs typeface="Times New Roman" panose="02020603050405020304" pitchFamily="18" charset="0"/>
            </a:endParaRPr>
          </a:p>
        </p:txBody>
      </p:sp>
      <p:sp>
        <p:nvSpPr>
          <p:cNvPr id="41987" name="Rectangle 3"/>
          <p:cNvSpPr>
            <a:spLocks noGrp="1" noChangeArrowheads="1"/>
          </p:cNvSpPr>
          <p:nvPr>
            <p:ph type="body" idx="1"/>
          </p:nvPr>
        </p:nvSpPr>
        <p:spPr>
          <a:xfrm>
            <a:off x="914400" y="1752600"/>
            <a:ext cx="10363200" cy="4114800"/>
          </a:xfrm>
        </p:spPr>
        <p:txBody>
          <a:bodyPr/>
          <a:lstStyle/>
          <a:p>
            <a:pPr>
              <a:lnSpc>
                <a:spcPct val="150000"/>
              </a:lnSpc>
            </a:pPr>
            <a:r>
              <a:rPr lang="zh-CN" altLang="en-US" dirty="0" smtClean="0">
                <a:latin typeface="宋体" panose="02010600030101010101" pitchFamily="2" charset="-122"/>
              </a:rPr>
              <a:t>    防火墙</a:t>
            </a:r>
            <a:r>
              <a:rPr lang="zh-CN" altLang="en-US" dirty="0">
                <a:latin typeface="宋体" panose="02010600030101010101" pitchFamily="2" charset="-122"/>
              </a:rPr>
              <a:t>系统中除了包含实现</a:t>
            </a:r>
            <a:r>
              <a:rPr lang="zh-CN" altLang="en-US" dirty="0"/>
              <a:t>“</a:t>
            </a:r>
            <a:r>
              <a:rPr lang="zh-CN" altLang="en-US" dirty="0">
                <a:latin typeface="宋体" panose="02010600030101010101" pitchFamily="2" charset="-122"/>
              </a:rPr>
              <a:t>防火</a:t>
            </a:r>
            <a:r>
              <a:rPr lang="zh-CN" altLang="en-US" dirty="0"/>
              <a:t>”</a:t>
            </a:r>
            <a:r>
              <a:rPr lang="zh-CN" altLang="en-US" dirty="0">
                <a:latin typeface="宋体" panose="02010600030101010101" pitchFamily="2" charset="-122"/>
              </a:rPr>
              <a:t>功能的各种技术（如包过滤技术，服务代理技术）外，还包含许多附加功能的技术，如审计与报警、网络地址转换（</a:t>
            </a:r>
            <a:r>
              <a:rPr lang="en-US" altLang="zh-CN" dirty="0">
                <a:cs typeface="Times New Roman" panose="02020603050405020304" pitchFamily="18" charset="0"/>
              </a:rPr>
              <a:t>NAT</a:t>
            </a:r>
            <a:r>
              <a:rPr lang="en-US" altLang="zh-CN" dirty="0">
                <a:latin typeface="宋体" panose="02010600030101010101" pitchFamily="2" charset="-122"/>
              </a:rPr>
              <a:t>）、</a:t>
            </a:r>
            <a:r>
              <a:rPr lang="zh-CN" altLang="en-US" dirty="0">
                <a:latin typeface="宋体" panose="02010600030101010101" pitchFamily="2" charset="-122"/>
              </a:rPr>
              <a:t>虚拟专</a:t>
            </a:r>
            <a:r>
              <a:rPr lang="zh-CN" altLang="en-US" dirty="0">
                <a:latin typeface="宋体" panose="02010600030101010101" pitchFamily="2" charset="-122"/>
              </a:rPr>
              <a:t>用网（</a:t>
            </a:r>
            <a:r>
              <a:rPr lang="en-US" altLang="zh-CN" dirty="0">
                <a:cs typeface="Times New Roman" panose="02020603050405020304" pitchFamily="18" charset="0"/>
              </a:rPr>
              <a:t>VPN</a:t>
            </a:r>
            <a:r>
              <a:rPr lang="en-US" altLang="zh-CN" dirty="0">
                <a:latin typeface="宋体" panose="02010600030101010101" pitchFamily="2" charset="-122"/>
              </a:rPr>
              <a:t>）、</a:t>
            </a:r>
            <a:r>
              <a:rPr lang="en-US" altLang="zh-CN" dirty="0">
                <a:cs typeface="Times New Roman" panose="02020603050405020304" pitchFamily="18" charset="0"/>
              </a:rPr>
              <a:t>Internet</a:t>
            </a:r>
            <a:r>
              <a:rPr lang="zh-CN" altLang="en-US" dirty="0">
                <a:latin typeface="宋体" panose="02010600030101010101" pitchFamily="2" charset="-122"/>
              </a:rPr>
              <a:t>网关技术、安全服务器网络（</a:t>
            </a:r>
            <a:r>
              <a:rPr lang="en-US" altLang="zh-CN" dirty="0">
                <a:cs typeface="Times New Roman" panose="02020603050405020304" pitchFamily="18" charset="0"/>
              </a:rPr>
              <a:t>SSN</a:t>
            </a:r>
            <a:r>
              <a:rPr lang="en-US" altLang="zh-CN" dirty="0">
                <a:latin typeface="宋体" panose="02010600030101010101" pitchFamily="2" charset="-122"/>
              </a:rPr>
              <a:t>）、</a:t>
            </a:r>
            <a:r>
              <a:rPr lang="zh-CN" altLang="en-US" dirty="0">
                <a:latin typeface="宋体" panose="02010600030101010101" pitchFamily="2" charset="-122"/>
              </a:rPr>
              <a:t>用户鉴别与加密等技术，这些附加技术有的是用于增强防火墙本身的隔离作用（如</a:t>
            </a:r>
            <a:r>
              <a:rPr lang="en-US" altLang="zh-CN" dirty="0">
                <a:cs typeface="Times New Roman" panose="02020603050405020304" pitchFamily="18" charset="0"/>
              </a:rPr>
              <a:t>NAT</a:t>
            </a:r>
            <a:r>
              <a:rPr lang="zh-CN" altLang="en-US" dirty="0">
                <a:latin typeface="宋体" panose="02010600030101010101" pitchFamily="2" charset="-122"/>
              </a:rPr>
              <a:t>功能），有的则是为了增强防火墙系统自身的安全（审计与报警，用户身份识别）。</a:t>
            </a:r>
            <a:r>
              <a:rPr lang="zh-CN" altLang="en-US" dirty="0"/>
              <a:t> </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body" idx="1"/>
          </p:nvPr>
        </p:nvSpPr>
        <p:spPr>
          <a:xfrm>
            <a:off x="1108953" y="1498060"/>
            <a:ext cx="10363200" cy="4114800"/>
          </a:xfrm>
        </p:spPr>
        <p:txBody>
          <a:bodyPr/>
          <a:lstStyle/>
          <a:p>
            <a:pPr algn="just"/>
            <a:r>
              <a:rPr lang="zh-CN" altLang="en-US" sz="3600" b="1" dirty="0">
                <a:solidFill>
                  <a:schemeClr val="hlink"/>
                </a:solidFill>
                <a:latin typeface="Times New Roman" panose="02020603050405020304" pitchFamily="18" charset="0"/>
                <a:ea typeface="+mj-ea"/>
                <a:cs typeface="Times New Roman" panose="02020603050405020304" pitchFamily="18" charset="0"/>
              </a:rPr>
              <a:t>1  认证(</a:t>
            </a:r>
            <a:r>
              <a:rPr lang="en-US" altLang="zh-CN" sz="3600" b="1" dirty="0">
                <a:solidFill>
                  <a:schemeClr val="hlink"/>
                </a:solidFill>
                <a:latin typeface="Times New Roman" panose="02020603050405020304" pitchFamily="18" charset="0"/>
                <a:ea typeface="+mj-ea"/>
                <a:cs typeface="Times New Roman" panose="02020603050405020304" pitchFamily="18" charset="0"/>
              </a:rPr>
              <a:t>authentication)</a:t>
            </a:r>
            <a:r>
              <a:rPr lang="zh-CN" altLang="en-US" sz="3600" b="1" dirty="0">
                <a:solidFill>
                  <a:schemeClr val="hlink"/>
                </a:solidFill>
                <a:latin typeface="Times New Roman" panose="02020603050405020304" pitchFamily="18" charset="0"/>
                <a:ea typeface="+mj-ea"/>
                <a:cs typeface="Times New Roman" panose="02020603050405020304" pitchFamily="18" charset="0"/>
              </a:rPr>
              <a:t>技术</a:t>
            </a:r>
            <a:endParaRPr lang="en-US" altLang="zh-CN" sz="3600" b="1" dirty="0">
              <a:solidFill>
                <a:schemeClr val="hlink"/>
              </a:solidFill>
              <a:latin typeface="Times New Roman" panose="02020603050405020304" pitchFamily="18" charset="0"/>
              <a:ea typeface="+mj-ea"/>
              <a:cs typeface="Times New Roman" panose="02020603050405020304" pitchFamily="18" charset="0"/>
            </a:endParaRPr>
          </a:p>
          <a:p>
            <a:pPr algn="just">
              <a:lnSpc>
                <a:spcPct val="90000"/>
              </a:lnSpc>
            </a:pPr>
            <a:r>
              <a:rPr lang="zh-CN" altLang="en-US" dirty="0" smtClean="0">
                <a:latin typeface="宋体" panose="02010600030101010101" pitchFamily="2" charset="-122"/>
              </a:rPr>
              <a:t>    在</a:t>
            </a:r>
            <a:r>
              <a:rPr lang="zh-CN" altLang="en-US" dirty="0">
                <a:latin typeface="宋体" panose="02010600030101010101" pitchFamily="2" charset="-122"/>
              </a:rPr>
              <a:t>初始化对话活动时需要认证，并需要在对话的全过程中进行认证，以保证一个合法的事务不会被一个入侵者</a:t>
            </a:r>
            <a:r>
              <a:rPr lang="zh-CN" altLang="en-US" dirty="0"/>
              <a:t>“</a:t>
            </a:r>
            <a:r>
              <a:rPr lang="zh-CN" altLang="en-US" dirty="0">
                <a:latin typeface="宋体" panose="02010600030101010101" pitchFamily="2" charset="-122"/>
              </a:rPr>
              <a:t>劫持</a:t>
            </a:r>
            <a:r>
              <a:rPr lang="zh-CN" altLang="en-US" dirty="0"/>
              <a:t>”</a:t>
            </a:r>
            <a:r>
              <a:rPr lang="zh-CN" altLang="en-US" dirty="0">
                <a:latin typeface="宋体" panose="02010600030101010101" pitchFamily="2" charset="-122"/>
              </a:rPr>
              <a:t>。</a:t>
            </a:r>
            <a:r>
              <a:rPr lang="zh-CN" altLang="en-US" dirty="0"/>
              <a:t> </a:t>
            </a:r>
            <a:endParaRPr lang="en-US" altLang="zh-CN" dirty="0" smtClean="0"/>
          </a:p>
          <a:p>
            <a:pPr algn="just">
              <a:lnSpc>
                <a:spcPct val="90000"/>
              </a:lnSpc>
            </a:pPr>
            <a:endParaRPr lang="zh-CN" altLang="en-US" dirty="0"/>
          </a:p>
          <a:p>
            <a:pPr>
              <a:spcBef>
                <a:spcPct val="0"/>
              </a:spcBef>
            </a:pPr>
            <a:r>
              <a:rPr lang="zh-CN" altLang="en-US" sz="3600" b="1" dirty="0">
                <a:solidFill>
                  <a:schemeClr val="hlink"/>
                </a:solidFill>
                <a:latin typeface="Times New Roman" panose="02020603050405020304" pitchFamily="18" charset="0"/>
                <a:ea typeface="+mj-ea"/>
                <a:cs typeface="Times New Roman" panose="02020603050405020304" pitchFamily="18" charset="0"/>
              </a:rPr>
              <a:t>2  包过滤技术  </a:t>
            </a:r>
            <a:endParaRPr lang="zh-CN" altLang="en-US" sz="3600" b="1" dirty="0">
              <a:solidFill>
                <a:schemeClr val="hlink"/>
              </a:solidFill>
              <a:latin typeface="Times New Roman" panose="02020603050405020304" pitchFamily="18" charset="0"/>
              <a:ea typeface="+mj-ea"/>
              <a:cs typeface="Times New Roman" panose="02020603050405020304" pitchFamily="18" charset="0"/>
            </a:endParaRPr>
          </a:p>
          <a:p>
            <a:pPr algn="just">
              <a:lnSpc>
                <a:spcPct val="90000"/>
              </a:lnSpc>
            </a:pPr>
            <a:r>
              <a:rPr lang="zh-CN" altLang="en-US" dirty="0" smtClean="0">
                <a:latin typeface="宋体" panose="02010600030101010101" pitchFamily="2" charset="-122"/>
              </a:rPr>
              <a:t>    一</a:t>
            </a:r>
            <a:r>
              <a:rPr lang="zh-CN" altLang="en-US" dirty="0">
                <a:latin typeface="宋体" panose="02010600030101010101" pitchFamily="2" charset="-122"/>
              </a:rPr>
              <a:t>个包过滤防火墙能够有效、廉价地阻止流过防火墙边界的连接。包过滤防火墙的安全性体现在根据过滤规则对</a:t>
            </a:r>
            <a:r>
              <a:rPr lang="en-US" altLang="zh-CN" dirty="0">
                <a:cs typeface="Times New Roman" panose="02020603050405020304" pitchFamily="18" charset="0"/>
              </a:rPr>
              <a:t>TCP</a:t>
            </a:r>
            <a:r>
              <a:rPr lang="en-US" altLang="zh-CN" dirty="0">
                <a:latin typeface="宋体" panose="02010600030101010101" pitchFamily="2" charset="-122"/>
              </a:rPr>
              <a:t>、</a:t>
            </a:r>
            <a:r>
              <a:rPr lang="en-US" altLang="zh-CN" dirty="0">
                <a:cs typeface="Times New Roman" panose="02020603050405020304" pitchFamily="18" charset="0"/>
              </a:rPr>
              <a:t>UDP</a:t>
            </a:r>
            <a:r>
              <a:rPr lang="zh-CN" altLang="en-US" dirty="0">
                <a:latin typeface="宋体" panose="02010600030101010101" pitchFamily="2" charset="-122"/>
              </a:rPr>
              <a:t>数据包进行检测。包过滤防火墙检查通过它的每一个包。过滤规则定义了什么包可以通过防火墙，什么包必须丢弃或返回给发送者。</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914400" y="609600"/>
            <a:ext cx="10363200" cy="622041"/>
          </a:xfrm>
        </p:spPr>
        <p:txBody>
          <a:bodyPr/>
          <a:lstStyle/>
          <a:p>
            <a:r>
              <a:rPr lang="zh-CN" altLang="en-US" b="1" dirty="0">
                <a:solidFill>
                  <a:schemeClr val="hlink"/>
                </a:solidFill>
                <a:latin typeface="Times New Roman" panose="02020603050405020304" pitchFamily="18" charset="0"/>
                <a:cs typeface="Times New Roman" panose="02020603050405020304" pitchFamily="18" charset="0"/>
              </a:rPr>
              <a:t>3  </a:t>
            </a:r>
            <a:r>
              <a:rPr lang="zh-CN" altLang="en-US" b="1" dirty="0">
                <a:solidFill>
                  <a:schemeClr val="hlink"/>
                </a:solidFill>
                <a:latin typeface="宋体" panose="02010600030101010101" pitchFamily="2" charset="-122"/>
              </a:rPr>
              <a:t>代理技术</a:t>
            </a:r>
            <a:endParaRPr lang="zh-CN" altLang="en-US" b="1" dirty="0">
              <a:solidFill>
                <a:schemeClr val="hlink"/>
              </a:solidFill>
              <a:latin typeface="宋体" panose="02010600030101010101" pitchFamily="2" charset="-122"/>
            </a:endParaRPr>
          </a:p>
        </p:txBody>
      </p:sp>
      <p:sp>
        <p:nvSpPr>
          <p:cNvPr id="44035" name="Rectangle 3"/>
          <p:cNvSpPr>
            <a:spLocks noGrp="1" noChangeArrowheads="1"/>
          </p:cNvSpPr>
          <p:nvPr>
            <p:ph type="body" idx="1"/>
          </p:nvPr>
        </p:nvSpPr>
        <p:spPr>
          <a:xfrm>
            <a:off x="914400" y="1477347"/>
            <a:ext cx="10363200" cy="4114800"/>
          </a:xfrm>
        </p:spPr>
        <p:txBody>
          <a:bodyPr/>
          <a:lstStyle/>
          <a:p>
            <a:pPr>
              <a:lnSpc>
                <a:spcPct val="150000"/>
              </a:lnSpc>
            </a:pPr>
            <a:r>
              <a:rPr lang="zh-CN" altLang="en-US" dirty="0" smtClean="0">
                <a:latin typeface="宋体" panose="02010600030101010101" pitchFamily="2" charset="-122"/>
              </a:rPr>
              <a:t>    也</a:t>
            </a:r>
            <a:r>
              <a:rPr lang="zh-CN" altLang="en-US" dirty="0">
                <a:latin typeface="宋体" panose="02010600030101010101" pitchFamily="2" charset="-122"/>
              </a:rPr>
              <a:t>称为应用过滤</a:t>
            </a:r>
            <a:r>
              <a:rPr lang="zh-CN" altLang="en-US" i="1" dirty="0">
                <a:cs typeface="Times New Roman" panose="02020603050405020304" pitchFamily="18" charset="0"/>
              </a:rPr>
              <a:t>(</a:t>
            </a:r>
            <a:r>
              <a:rPr lang="en-US" altLang="zh-CN" i="1" dirty="0">
                <a:cs typeface="Times New Roman" panose="02020603050405020304" pitchFamily="18" charset="0"/>
              </a:rPr>
              <a:t>application filtering)</a:t>
            </a:r>
            <a:r>
              <a:rPr lang="en-US" altLang="zh-CN" i="1" dirty="0">
                <a:latin typeface="宋体" panose="02010600030101010101" pitchFamily="2" charset="-122"/>
              </a:rPr>
              <a:t>，</a:t>
            </a:r>
            <a:r>
              <a:rPr lang="zh-CN" altLang="en-US" dirty="0">
                <a:latin typeface="宋体" panose="02010600030101010101" pitchFamily="2" charset="-122"/>
              </a:rPr>
              <a:t>根据所请求的应用对服务请求进行过滤，并且是由防火墙之内的代理程序而不是在被保护的内部网上的主程序来执行被请求的服务。代理应用程序被限制为只能执行符合安全策略的服务功能，并且能阻止来自外部访问到内部网络资源的请求。</a:t>
            </a:r>
            <a:r>
              <a:rPr lang="zh-CN" altLang="en-US" dirty="0"/>
              <a:t> </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914400" y="609600"/>
            <a:ext cx="10363200" cy="715347"/>
          </a:xfrm>
        </p:spPr>
        <p:txBody>
          <a:bodyPr/>
          <a:lstStyle/>
          <a:p>
            <a:r>
              <a:rPr lang="zh-CN" altLang="en-US" b="1" dirty="0">
                <a:solidFill>
                  <a:schemeClr val="hlink"/>
                </a:solidFill>
                <a:latin typeface="Times New Roman" panose="02020603050405020304" pitchFamily="18" charset="0"/>
                <a:cs typeface="Times New Roman" panose="02020603050405020304" pitchFamily="18" charset="0"/>
              </a:rPr>
              <a:t>4  </a:t>
            </a:r>
            <a:r>
              <a:rPr lang="zh-CN" altLang="en-US" b="1" dirty="0">
                <a:solidFill>
                  <a:schemeClr val="hlink"/>
                </a:solidFill>
                <a:latin typeface="宋体" panose="02010600030101010101" pitchFamily="2" charset="-122"/>
              </a:rPr>
              <a:t>状态包过滤技术</a:t>
            </a:r>
            <a:r>
              <a:rPr lang="zh-CN" altLang="en-US" dirty="0"/>
              <a:t> </a:t>
            </a:r>
            <a:endParaRPr lang="zh-CN" altLang="en-US" dirty="0"/>
          </a:p>
        </p:txBody>
      </p:sp>
      <p:sp>
        <p:nvSpPr>
          <p:cNvPr id="45059" name="Rectangle 3"/>
          <p:cNvSpPr>
            <a:spLocks noGrp="1" noChangeArrowheads="1"/>
          </p:cNvSpPr>
          <p:nvPr>
            <p:ph type="body" idx="1"/>
          </p:nvPr>
        </p:nvSpPr>
        <p:spPr>
          <a:xfrm>
            <a:off x="914400" y="1551991"/>
            <a:ext cx="10363200" cy="4114800"/>
          </a:xfrm>
        </p:spPr>
        <p:txBody>
          <a:bodyPr/>
          <a:lstStyle/>
          <a:p>
            <a:pPr algn="just">
              <a:lnSpc>
                <a:spcPct val="150000"/>
              </a:lnSpc>
            </a:pPr>
            <a:r>
              <a:rPr lang="zh-CN" altLang="en-US" dirty="0">
                <a:latin typeface="宋体" panose="02010600030101010101" pitchFamily="2" charset="-122"/>
              </a:rPr>
              <a:t>（</a:t>
            </a:r>
            <a:r>
              <a:rPr lang="zh-CN" altLang="en-US" dirty="0">
                <a:cs typeface="Times New Roman" panose="02020603050405020304" pitchFamily="18" charset="0"/>
              </a:rPr>
              <a:t>1</a:t>
            </a:r>
            <a:r>
              <a:rPr lang="zh-CN" altLang="en-US" dirty="0">
                <a:latin typeface="宋体" panose="02010600030101010101" pitchFamily="2" charset="-122"/>
              </a:rPr>
              <a:t>）在链路层、网络层和会话层检查通信信息，以了解流量的路径和想要得到的活动类型。要检查会话的全部过程，以证实状态的连续性。</a:t>
            </a:r>
            <a:endParaRPr lang="zh-CN" altLang="en-US" dirty="0">
              <a:cs typeface="Times New Roman" panose="02020603050405020304" pitchFamily="18" charset="0"/>
            </a:endParaRPr>
          </a:p>
          <a:p>
            <a:pPr>
              <a:lnSpc>
                <a:spcPct val="150000"/>
              </a:lnSpc>
            </a:pPr>
            <a:r>
              <a:rPr lang="zh-CN" altLang="en-US" dirty="0">
                <a:latin typeface="宋体" panose="02010600030101010101" pitchFamily="2" charset="-122"/>
              </a:rPr>
              <a:t>（</a:t>
            </a:r>
            <a:r>
              <a:rPr lang="zh-CN" altLang="en-US" dirty="0">
                <a:cs typeface="Times New Roman" panose="02020603050405020304" pitchFamily="18" charset="0"/>
              </a:rPr>
              <a:t>2</a:t>
            </a:r>
            <a:r>
              <a:rPr lang="zh-CN" altLang="en-US" dirty="0">
                <a:latin typeface="宋体" panose="02010600030101010101" pitchFamily="2" charset="-122"/>
              </a:rPr>
              <a:t>）需要检查应用层和表示层的状态，以证实确认行为的连续性、使用的是被授权服务和加密活动。</a:t>
            </a:r>
            <a:endParaRPr lang="zh-CN" altLang="en-US" dirty="0">
              <a:latin typeface="宋体" panose="02010600030101010101" pitchFamily="2" charset="-122"/>
            </a:endParaRPr>
          </a:p>
          <a:p>
            <a:pPr>
              <a:lnSpc>
                <a:spcPct val="150000"/>
              </a:lnSpc>
            </a:pPr>
            <a:r>
              <a:rPr lang="zh-CN" altLang="en-US" dirty="0" smtClean="0">
                <a:latin typeface="宋体" panose="02010600030101010101" pitchFamily="2" charset="-122"/>
              </a:rPr>
              <a:t>    由于</a:t>
            </a:r>
            <a:r>
              <a:rPr lang="zh-CN" altLang="en-US" dirty="0">
                <a:latin typeface="宋体" panose="02010600030101010101" pitchFamily="2" charset="-122"/>
              </a:rPr>
              <a:t>所有的包过滤路由器决策过滤时没有任何状态信息，因而它无法支持大量的安全策略。</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914400" y="609600"/>
            <a:ext cx="10363200" cy="622041"/>
          </a:xfrm>
        </p:spPr>
        <p:txBody>
          <a:bodyPr/>
          <a:lstStyle/>
          <a:p>
            <a:r>
              <a:rPr lang="zh-CN" altLang="en-US" b="1" dirty="0">
                <a:solidFill>
                  <a:schemeClr val="hlink"/>
                </a:solidFill>
                <a:latin typeface="Times New Roman" panose="02020603050405020304" pitchFamily="18" charset="0"/>
                <a:cs typeface="Times New Roman" panose="02020603050405020304" pitchFamily="18" charset="0"/>
              </a:rPr>
              <a:t>5   </a:t>
            </a:r>
            <a:r>
              <a:rPr lang="zh-CN" altLang="en-US" b="1" dirty="0">
                <a:solidFill>
                  <a:schemeClr val="hlink"/>
                </a:solidFill>
                <a:latin typeface="宋体" panose="02010600030101010101" pitchFamily="2" charset="-122"/>
              </a:rPr>
              <a:t>多级过滤技术</a:t>
            </a:r>
            <a:endParaRPr lang="zh-CN" altLang="en-US" b="1" dirty="0">
              <a:solidFill>
                <a:schemeClr val="hlink"/>
              </a:solidFill>
              <a:latin typeface="宋体" panose="02010600030101010101" pitchFamily="2" charset="-122"/>
            </a:endParaRPr>
          </a:p>
        </p:txBody>
      </p:sp>
      <p:sp>
        <p:nvSpPr>
          <p:cNvPr id="46083" name="Rectangle 3"/>
          <p:cNvSpPr>
            <a:spLocks noGrp="1" noChangeArrowheads="1"/>
          </p:cNvSpPr>
          <p:nvPr>
            <p:ph type="body" idx="1"/>
          </p:nvPr>
        </p:nvSpPr>
        <p:spPr>
          <a:xfrm>
            <a:off x="914400" y="1589315"/>
            <a:ext cx="10363200" cy="4114800"/>
          </a:xfrm>
        </p:spPr>
        <p:txBody>
          <a:bodyPr/>
          <a:lstStyle/>
          <a:p>
            <a:pPr>
              <a:lnSpc>
                <a:spcPct val="150000"/>
              </a:lnSpc>
            </a:pPr>
            <a:r>
              <a:rPr lang="zh-CN" altLang="en-US" dirty="0" smtClean="0">
                <a:latin typeface="宋体" panose="02010600030101010101" pitchFamily="2" charset="-122"/>
              </a:rPr>
              <a:t>    防火墙</a:t>
            </a:r>
            <a:r>
              <a:rPr lang="zh-CN" altLang="en-US" dirty="0">
                <a:latin typeface="宋体" panose="02010600030101010101" pitchFamily="2" charset="-122"/>
              </a:rPr>
              <a:t>采用了</a:t>
            </a:r>
            <a:r>
              <a:rPr lang="zh-CN" altLang="en-US" dirty="0">
                <a:highlight>
                  <a:srgbClr val="FFFF00"/>
                </a:highlight>
                <a:latin typeface="宋体" panose="02010600030101010101" pitchFamily="2" charset="-122"/>
              </a:rPr>
              <a:t>分组过滤、应用代理与电路网关</a:t>
            </a:r>
            <a:r>
              <a:rPr lang="zh-CN" altLang="en-US" dirty="0">
                <a:latin typeface="宋体" panose="02010600030101010101" pitchFamily="2" charset="-122"/>
              </a:rPr>
              <a:t>等</a:t>
            </a:r>
            <a:r>
              <a:rPr lang="zh-CN" altLang="en-US" dirty="0">
                <a:solidFill>
                  <a:srgbClr val="FF0000"/>
                </a:solidFill>
                <a:latin typeface="宋体" panose="02010600030101010101" pitchFamily="2" charset="-122"/>
              </a:rPr>
              <a:t>三级</a:t>
            </a:r>
            <a:r>
              <a:rPr lang="zh-CN" altLang="en-US" dirty="0">
                <a:latin typeface="宋体" panose="02010600030101010101" pitchFamily="2" charset="-122"/>
              </a:rPr>
              <a:t>过滤措施。其中</a:t>
            </a:r>
            <a:r>
              <a:rPr lang="zh-CN" altLang="en-US" dirty="0">
                <a:highlight>
                  <a:srgbClr val="00FF00"/>
                </a:highlight>
                <a:latin typeface="宋体" panose="02010600030101010101" pitchFamily="2" charset="-122"/>
              </a:rPr>
              <a:t>分组一级过滤</a:t>
            </a:r>
            <a:r>
              <a:rPr lang="zh-CN" altLang="en-US" dirty="0">
                <a:latin typeface="宋体" panose="02010600030101010101" pitchFamily="2" charset="-122"/>
              </a:rPr>
              <a:t>功能可以过滤掉所有的非法源路由分组和</a:t>
            </a:r>
            <a:r>
              <a:rPr lang="en-US" altLang="zh-CN" dirty="0">
                <a:cs typeface="Times New Roman" panose="02020603050405020304" pitchFamily="18" charset="0"/>
              </a:rPr>
              <a:t>IP</a:t>
            </a:r>
            <a:r>
              <a:rPr lang="zh-CN" altLang="en-US" dirty="0">
                <a:latin typeface="宋体" panose="02010600030101010101" pitchFamily="2" charset="-122"/>
              </a:rPr>
              <a:t>源地址；通过</a:t>
            </a:r>
            <a:r>
              <a:rPr lang="zh-CN" altLang="en-US" dirty="0">
                <a:highlight>
                  <a:srgbClr val="00FF00"/>
                </a:highlight>
                <a:latin typeface="宋体" panose="02010600030101010101" pitchFamily="2" charset="-122"/>
              </a:rPr>
              <a:t>应用服务代理</a:t>
            </a:r>
            <a:r>
              <a:rPr lang="zh-CN" altLang="en-US" dirty="0">
                <a:latin typeface="宋体" panose="02010600030101010101" pitchFamily="2" charset="-122"/>
              </a:rPr>
              <a:t>功能，可以利用</a:t>
            </a:r>
            <a:r>
              <a:rPr lang="en-US" altLang="zh-CN" dirty="0">
                <a:cs typeface="Times New Roman" panose="02020603050405020304" pitchFamily="18" charset="0"/>
              </a:rPr>
              <a:t>FTP</a:t>
            </a:r>
            <a:r>
              <a:rPr lang="en-US" altLang="zh-CN" dirty="0">
                <a:latin typeface="宋体" panose="02010600030101010101" pitchFamily="2" charset="-122"/>
              </a:rPr>
              <a:t>、</a:t>
            </a:r>
            <a:r>
              <a:rPr lang="en-US" altLang="zh-CN" dirty="0">
                <a:cs typeface="Times New Roman" panose="02020603050405020304" pitchFamily="18" charset="0"/>
              </a:rPr>
              <a:t>SMTP</a:t>
            </a:r>
            <a:r>
              <a:rPr lang="en-US" altLang="zh-CN" dirty="0">
                <a:latin typeface="宋体" panose="02010600030101010101" pitchFamily="2" charset="-122"/>
              </a:rPr>
              <a:t>、</a:t>
            </a:r>
            <a:r>
              <a:rPr lang="en-US" altLang="zh-CN" dirty="0">
                <a:cs typeface="Times New Roman" panose="02020603050405020304" pitchFamily="18" charset="0"/>
              </a:rPr>
              <a:t>WWW</a:t>
            </a:r>
            <a:r>
              <a:rPr lang="en-US" altLang="zh-CN" dirty="0">
                <a:latin typeface="宋体" panose="02010600030101010101" pitchFamily="2" charset="-122"/>
              </a:rPr>
              <a:t>、</a:t>
            </a:r>
            <a:r>
              <a:rPr lang="en-US" altLang="zh-CN" dirty="0">
                <a:cs typeface="Times New Roman" panose="02020603050405020304" pitchFamily="18" charset="0"/>
              </a:rPr>
              <a:t>TELNET</a:t>
            </a:r>
            <a:r>
              <a:rPr lang="zh-CN" altLang="en-US" dirty="0">
                <a:latin typeface="宋体" panose="02010600030101010101" pitchFamily="2" charset="-122"/>
              </a:rPr>
              <a:t>等各种服务代理，监控</a:t>
            </a:r>
            <a:r>
              <a:rPr lang="en-US" altLang="zh-CN" dirty="0">
                <a:cs typeface="Times New Roman" panose="02020603050405020304" pitchFamily="18" charset="0"/>
              </a:rPr>
              <a:t>Internet</a:t>
            </a:r>
            <a:r>
              <a:rPr lang="zh-CN" altLang="en-US" dirty="0">
                <a:latin typeface="宋体" panose="02010600030101010101" pitchFamily="2" charset="-122"/>
              </a:rPr>
              <a:t>提供的常用服务；在</a:t>
            </a:r>
            <a:r>
              <a:rPr lang="zh-CN" altLang="en-US" dirty="0">
                <a:highlight>
                  <a:srgbClr val="00FF00"/>
                </a:highlight>
                <a:latin typeface="宋体" panose="02010600030101010101" pitchFamily="2" charset="-122"/>
              </a:rPr>
              <a:t>电路网关一级</a:t>
            </a:r>
            <a:r>
              <a:rPr lang="zh-CN" altLang="en-US" dirty="0">
                <a:latin typeface="宋体" panose="02010600030101010101" pitchFamily="2" charset="-122"/>
              </a:rPr>
              <a:t>，实现内部主机与外部站点的透明连接，并对服务进行严格的控制。</a:t>
            </a:r>
            <a:r>
              <a:rPr lang="zh-CN" altLang="en-US" dirty="0"/>
              <a:t> </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914400" y="609600"/>
            <a:ext cx="10363200" cy="696686"/>
          </a:xfrm>
        </p:spPr>
        <p:txBody>
          <a:bodyPr/>
          <a:lstStyle/>
          <a:p>
            <a:r>
              <a:rPr lang="zh-CN" altLang="en-US" b="1" dirty="0">
                <a:solidFill>
                  <a:schemeClr val="hlink"/>
                </a:solidFill>
                <a:latin typeface="Times New Roman" panose="02020603050405020304" pitchFamily="18" charset="0"/>
                <a:cs typeface="Times New Roman" panose="02020603050405020304" pitchFamily="18" charset="0"/>
              </a:rPr>
              <a:t>6  </a:t>
            </a:r>
            <a:r>
              <a:rPr lang="zh-CN" altLang="en-US" b="1" dirty="0">
                <a:solidFill>
                  <a:schemeClr val="hlink"/>
                </a:solidFill>
                <a:latin typeface="宋体" panose="02010600030101010101" pitchFamily="2" charset="-122"/>
              </a:rPr>
              <a:t>网络地址转换（</a:t>
            </a:r>
            <a:r>
              <a:rPr lang="en-US" altLang="zh-CN" b="1" dirty="0">
                <a:solidFill>
                  <a:schemeClr val="hlink"/>
                </a:solidFill>
                <a:latin typeface="Times New Roman" panose="02020603050405020304" pitchFamily="18" charset="0"/>
                <a:cs typeface="Times New Roman" panose="02020603050405020304" pitchFamily="18" charset="0"/>
              </a:rPr>
              <a:t>NAT</a:t>
            </a:r>
            <a:r>
              <a:rPr lang="en-US" altLang="zh-CN" b="1" dirty="0">
                <a:solidFill>
                  <a:schemeClr val="hlink"/>
                </a:solidFill>
                <a:latin typeface="宋体" panose="02010600030101010101" pitchFamily="2" charset="-122"/>
              </a:rPr>
              <a:t>）</a:t>
            </a:r>
            <a:endParaRPr lang="zh-CN" altLang="en-US" b="1" dirty="0">
              <a:solidFill>
                <a:schemeClr val="hlink"/>
              </a:solidFill>
              <a:latin typeface="宋体" panose="02010600030101010101" pitchFamily="2" charset="-122"/>
            </a:endParaRPr>
          </a:p>
        </p:txBody>
      </p:sp>
      <p:sp>
        <p:nvSpPr>
          <p:cNvPr id="47107" name="Rectangle 3"/>
          <p:cNvSpPr>
            <a:spLocks noGrp="1" noChangeArrowheads="1"/>
          </p:cNvSpPr>
          <p:nvPr>
            <p:ph type="body" idx="1"/>
          </p:nvPr>
        </p:nvSpPr>
        <p:spPr>
          <a:xfrm>
            <a:off x="914400" y="1458686"/>
            <a:ext cx="10363200" cy="4114800"/>
          </a:xfrm>
        </p:spPr>
        <p:txBody>
          <a:bodyPr/>
          <a:lstStyle/>
          <a:p>
            <a:pPr>
              <a:lnSpc>
                <a:spcPct val="150000"/>
              </a:lnSpc>
            </a:pPr>
            <a:r>
              <a:rPr lang="zh-CN" altLang="en-US" dirty="0" smtClean="0">
                <a:latin typeface="宋体" panose="02010600030101010101" pitchFamily="2" charset="-122"/>
              </a:rPr>
              <a:t>    本</a:t>
            </a:r>
            <a:r>
              <a:rPr lang="zh-CN" altLang="en-US" dirty="0">
                <a:latin typeface="宋体" panose="02010600030101010101" pitchFamily="2" charset="-122"/>
              </a:rPr>
              <a:t>功能可以在</a:t>
            </a:r>
            <a:r>
              <a:rPr lang="zh-CN" altLang="en-US" dirty="0">
                <a:highlight>
                  <a:srgbClr val="00FF00"/>
                </a:highlight>
                <a:latin typeface="宋体" panose="02010600030101010101" pitchFamily="2" charset="-122"/>
              </a:rPr>
              <a:t>外部网的</a:t>
            </a:r>
            <a:r>
              <a:rPr lang="en-US" altLang="zh-CN" dirty="0">
                <a:highlight>
                  <a:srgbClr val="00FF00"/>
                </a:highlight>
                <a:cs typeface="Times New Roman" panose="02020603050405020304" pitchFamily="18" charset="0"/>
              </a:rPr>
              <a:t>IP</a:t>
            </a:r>
            <a:r>
              <a:rPr lang="zh-CN" altLang="en-US" dirty="0">
                <a:highlight>
                  <a:srgbClr val="00FF00"/>
                </a:highlight>
                <a:latin typeface="宋体" panose="02010600030101010101" pitchFamily="2" charset="-122"/>
              </a:rPr>
              <a:t>地址</a:t>
            </a:r>
            <a:r>
              <a:rPr lang="zh-CN" altLang="en-US" dirty="0">
                <a:latin typeface="宋体" panose="02010600030101010101" pitchFamily="2" charset="-122"/>
              </a:rPr>
              <a:t>与</a:t>
            </a:r>
            <a:r>
              <a:rPr lang="zh-CN" altLang="en-US" dirty="0">
                <a:highlight>
                  <a:srgbClr val="FFFF00"/>
                </a:highlight>
                <a:latin typeface="宋体" panose="02010600030101010101" pitchFamily="2" charset="-122"/>
              </a:rPr>
              <a:t>内部网</a:t>
            </a:r>
            <a:r>
              <a:rPr lang="en-US" altLang="zh-CN" dirty="0">
                <a:highlight>
                  <a:srgbClr val="FFFF00"/>
                </a:highlight>
                <a:cs typeface="Times New Roman" panose="02020603050405020304" pitchFamily="18" charset="0"/>
              </a:rPr>
              <a:t>IP</a:t>
            </a:r>
            <a:r>
              <a:rPr lang="zh-CN" altLang="en-US" dirty="0">
                <a:highlight>
                  <a:srgbClr val="FFFF00"/>
                </a:highlight>
                <a:latin typeface="宋体" panose="02010600030101010101" pitchFamily="2" charset="-122"/>
              </a:rPr>
              <a:t>地址之间</a:t>
            </a:r>
            <a:r>
              <a:rPr lang="zh-CN" altLang="en-US" dirty="0">
                <a:latin typeface="宋体" panose="02010600030101010101" pitchFamily="2" charset="-122"/>
              </a:rPr>
              <a:t>建立一对多的双向映射关系，这一功能的作用有两个：</a:t>
            </a:r>
            <a:r>
              <a:rPr lang="zh-CN" altLang="en-US" dirty="0">
                <a:highlight>
                  <a:srgbClr val="00FFFF"/>
                </a:highlight>
                <a:latin typeface="宋体" panose="02010600030101010101" pitchFamily="2" charset="-122"/>
              </a:rPr>
              <a:t>一是</a:t>
            </a:r>
            <a:r>
              <a:rPr lang="zh-CN" altLang="en-US" dirty="0">
                <a:latin typeface="宋体" panose="02010600030101010101" pitchFamily="2" charset="-122"/>
              </a:rPr>
              <a:t>可以对外部隐瞒内部网的结构和各站点的</a:t>
            </a:r>
            <a:r>
              <a:rPr lang="en-US" altLang="zh-CN" dirty="0">
                <a:cs typeface="Times New Roman" panose="02020603050405020304" pitchFamily="18" charset="0"/>
              </a:rPr>
              <a:t>IP</a:t>
            </a:r>
            <a:r>
              <a:rPr lang="zh-CN" altLang="en-US" dirty="0">
                <a:latin typeface="宋体" panose="02010600030101010101" pitchFamily="2" charset="-122"/>
              </a:rPr>
              <a:t>地址，增加了外部入侵者的攻击难度；</a:t>
            </a:r>
            <a:r>
              <a:rPr lang="zh-CN" altLang="en-US" dirty="0">
                <a:highlight>
                  <a:srgbClr val="00FFFF"/>
                </a:highlight>
                <a:latin typeface="宋体" panose="02010600030101010101" pitchFamily="2" charset="-122"/>
              </a:rPr>
              <a:t>二是</a:t>
            </a:r>
            <a:r>
              <a:rPr lang="zh-CN" altLang="en-US" dirty="0">
                <a:latin typeface="宋体" panose="02010600030101010101" pitchFamily="2" charset="-122"/>
              </a:rPr>
              <a:t>可以减少一个组织对大量</a:t>
            </a:r>
            <a:r>
              <a:rPr lang="en-US" altLang="zh-CN" dirty="0">
                <a:cs typeface="Times New Roman" panose="02020603050405020304" pitchFamily="18" charset="0"/>
              </a:rPr>
              <a:t>Internet</a:t>
            </a:r>
            <a:r>
              <a:rPr lang="zh-CN" altLang="en-US" dirty="0">
                <a:latin typeface="宋体" panose="02010600030101010101" pitchFamily="2" charset="-122"/>
              </a:rPr>
              <a:t>实</a:t>
            </a:r>
            <a:r>
              <a:rPr lang="en-US" altLang="zh-CN" dirty="0">
                <a:cs typeface="Times New Roman" panose="02020603050405020304" pitchFamily="18" charset="0"/>
              </a:rPr>
              <a:t>IP</a:t>
            </a:r>
            <a:r>
              <a:rPr lang="zh-CN" altLang="en-US" dirty="0">
                <a:latin typeface="宋体" panose="02010600030101010101" pitchFamily="2" charset="-122"/>
              </a:rPr>
              <a:t>地址的需求，使用</a:t>
            </a:r>
            <a:r>
              <a:rPr lang="en-US" altLang="zh-CN" dirty="0">
                <a:cs typeface="Times New Roman" panose="02020603050405020304" pitchFamily="18" charset="0"/>
              </a:rPr>
              <a:t>NAT</a:t>
            </a:r>
            <a:r>
              <a:rPr lang="zh-CN" altLang="en-US" dirty="0">
                <a:latin typeface="宋体" panose="02010600030101010101" pitchFamily="2" charset="-122"/>
              </a:rPr>
              <a:t>功能后，只需少量的外部实地址，就可以满足内部网对大量</a:t>
            </a:r>
            <a:r>
              <a:rPr lang="en-US" altLang="zh-CN" dirty="0">
                <a:cs typeface="Times New Roman" panose="02020603050405020304" pitchFamily="18" charset="0"/>
              </a:rPr>
              <a:t>IP</a:t>
            </a:r>
            <a:r>
              <a:rPr lang="zh-CN" altLang="en-US" dirty="0">
                <a:latin typeface="宋体" panose="02010600030101010101" pitchFamily="2" charset="-122"/>
              </a:rPr>
              <a:t>地址的需求。</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914400" y="609600"/>
            <a:ext cx="10363200" cy="659363"/>
          </a:xfrm>
        </p:spPr>
        <p:txBody>
          <a:bodyPr/>
          <a:lstStyle/>
          <a:p>
            <a:r>
              <a:rPr lang="zh-CN" altLang="en-US" b="1" dirty="0" smtClean="0">
                <a:solidFill>
                  <a:schemeClr val="hlink"/>
                </a:solidFill>
                <a:latin typeface="宋体" panose="02010600030101010101" pitchFamily="2" charset="-122"/>
              </a:rPr>
              <a:t>7 支持</a:t>
            </a:r>
            <a:r>
              <a:rPr lang="en-US" altLang="zh-CN" b="1" dirty="0">
                <a:solidFill>
                  <a:schemeClr val="hlink"/>
                </a:solidFill>
                <a:latin typeface="Times New Roman" panose="02020603050405020304" pitchFamily="18" charset="0"/>
                <a:cs typeface="Times New Roman" panose="02020603050405020304" pitchFamily="18" charset="0"/>
              </a:rPr>
              <a:t>DMZ</a:t>
            </a:r>
            <a:r>
              <a:rPr lang="zh-CN" altLang="en-US" b="1" dirty="0" smtClean="0">
                <a:solidFill>
                  <a:schemeClr val="hlink"/>
                </a:solidFill>
                <a:latin typeface="宋体" panose="02010600030101010101" pitchFamily="2" charset="-122"/>
              </a:rPr>
              <a:t>网络</a:t>
            </a:r>
            <a:endParaRPr lang="zh-CN" altLang="en-US" dirty="0"/>
          </a:p>
        </p:txBody>
      </p:sp>
      <p:sp>
        <p:nvSpPr>
          <p:cNvPr id="48131" name="Rectangle 3"/>
          <p:cNvSpPr>
            <a:spLocks noGrp="1" noChangeArrowheads="1"/>
          </p:cNvSpPr>
          <p:nvPr>
            <p:ph type="body" idx="1"/>
          </p:nvPr>
        </p:nvSpPr>
        <p:spPr>
          <a:xfrm>
            <a:off x="914400" y="1421363"/>
            <a:ext cx="10363200" cy="4114800"/>
          </a:xfrm>
        </p:spPr>
        <p:txBody>
          <a:bodyPr/>
          <a:lstStyle/>
          <a:p>
            <a:pPr>
              <a:lnSpc>
                <a:spcPct val="150000"/>
              </a:lnSpc>
            </a:pPr>
            <a:r>
              <a:rPr lang="zh-CN" altLang="en-US" dirty="0" smtClean="0">
                <a:latin typeface="宋体" panose="02010600030101010101" pitchFamily="2" charset="-122"/>
              </a:rPr>
              <a:t>    对</a:t>
            </a:r>
            <a:r>
              <a:rPr lang="en-US" altLang="zh-CN" dirty="0">
                <a:cs typeface="Times New Roman" panose="02020603050405020304" pitchFamily="18" charset="0"/>
              </a:rPr>
              <a:t>DMZ</a:t>
            </a:r>
            <a:r>
              <a:rPr lang="zh-CN" altLang="en-US" dirty="0">
                <a:latin typeface="宋体" panose="02010600030101010101" pitchFamily="2" charset="-122"/>
              </a:rPr>
              <a:t>上的主机既可以单独管理，也可以在防火墙内设置成从内部网络站点通过</a:t>
            </a:r>
            <a:r>
              <a:rPr lang="en-US" altLang="zh-CN" dirty="0">
                <a:cs typeface="Times New Roman" panose="02020603050405020304" pitchFamily="18" charset="0"/>
              </a:rPr>
              <a:t>FTP</a:t>
            </a:r>
            <a:r>
              <a:rPr lang="zh-CN" altLang="en-US" dirty="0">
                <a:latin typeface="宋体" panose="02010600030101010101" pitchFamily="2" charset="-122"/>
              </a:rPr>
              <a:t>或</a:t>
            </a:r>
            <a:r>
              <a:rPr lang="en-US" altLang="zh-CN" dirty="0">
                <a:cs typeface="Times New Roman" panose="02020603050405020304" pitchFamily="18" charset="0"/>
              </a:rPr>
              <a:t>TELNET</a:t>
            </a:r>
            <a:r>
              <a:rPr lang="zh-CN" altLang="en-US" dirty="0">
                <a:latin typeface="宋体" panose="02010600030101010101" pitchFamily="2" charset="-122"/>
              </a:rPr>
              <a:t>进行管理。</a:t>
            </a:r>
            <a:r>
              <a:rPr lang="en-US" altLang="zh-CN" dirty="0">
                <a:cs typeface="Times New Roman" panose="02020603050405020304" pitchFamily="18" charset="0"/>
              </a:rPr>
              <a:t>DMZ</a:t>
            </a:r>
            <a:r>
              <a:rPr lang="zh-CN" altLang="en-US" dirty="0">
                <a:latin typeface="宋体" panose="02010600030101010101" pitchFamily="2" charset="-122"/>
              </a:rPr>
              <a:t>与外部网之间有防火墙（或路由器内的包过滤功能）保护，与内部网之间也有防火墙保护。即使</a:t>
            </a:r>
            <a:r>
              <a:rPr lang="en-US" altLang="zh-CN" dirty="0">
                <a:cs typeface="Times New Roman" panose="02020603050405020304" pitchFamily="18" charset="0"/>
              </a:rPr>
              <a:t>DMZ</a:t>
            </a:r>
            <a:r>
              <a:rPr lang="zh-CN" altLang="en-US" dirty="0">
                <a:latin typeface="宋体" panose="02010600030101010101" pitchFamily="2" charset="-122"/>
              </a:rPr>
              <a:t>被攻破，内部网仍能得到防火墙的保护。</a:t>
            </a:r>
            <a:r>
              <a:rPr lang="zh-CN" altLang="en-US" dirty="0"/>
              <a:t> </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914400" y="609600"/>
            <a:ext cx="10363200" cy="696686"/>
          </a:xfrm>
        </p:spPr>
        <p:txBody>
          <a:bodyPr/>
          <a:lstStyle/>
          <a:p>
            <a:r>
              <a:rPr lang="zh-CN" altLang="en-US" b="1" dirty="0">
                <a:solidFill>
                  <a:schemeClr val="hlink"/>
                </a:solidFill>
                <a:latin typeface="Times New Roman" panose="02020603050405020304" pitchFamily="18" charset="0"/>
                <a:cs typeface="Times New Roman" panose="02020603050405020304" pitchFamily="18" charset="0"/>
              </a:rPr>
              <a:t>8    </a:t>
            </a:r>
            <a:r>
              <a:rPr lang="zh-CN" altLang="en-US" b="1" dirty="0">
                <a:solidFill>
                  <a:schemeClr val="hlink"/>
                </a:solidFill>
                <a:latin typeface="宋体" panose="02010600030101010101" pitchFamily="2" charset="-122"/>
              </a:rPr>
              <a:t>用户鉴别与加密</a:t>
            </a:r>
            <a:endParaRPr lang="zh-CN" altLang="en-US" b="1" dirty="0">
              <a:solidFill>
                <a:schemeClr val="hlink"/>
              </a:solidFill>
              <a:latin typeface="宋体" panose="02010600030101010101" pitchFamily="2" charset="-122"/>
            </a:endParaRPr>
          </a:p>
        </p:txBody>
      </p:sp>
      <p:sp>
        <p:nvSpPr>
          <p:cNvPr id="49155" name="Rectangle 3"/>
          <p:cNvSpPr>
            <a:spLocks noGrp="1" noChangeArrowheads="1"/>
          </p:cNvSpPr>
          <p:nvPr>
            <p:ph type="body" idx="1"/>
          </p:nvPr>
        </p:nvSpPr>
        <p:spPr>
          <a:xfrm>
            <a:off x="914400" y="1589314"/>
            <a:ext cx="10363200" cy="4114800"/>
          </a:xfrm>
        </p:spPr>
        <p:txBody>
          <a:bodyPr/>
          <a:lstStyle/>
          <a:p>
            <a:pPr>
              <a:lnSpc>
                <a:spcPct val="150000"/>
              </a:lnSpc>
            </a:pPr>
            <a:r>
              <a:rPr lang="zh-CN" altLang="en-US" dirty="0" smtClean="0">
                <a:latin typeface="宋体" panose="02010600030101010101" pitchFamily="2" charset="-122"/>
              </a:rPr>
              <a:t>    防火墙</a:t>
            </a:r>
            <a:r>
              <a:rPr lang="zh-CN" altLang="en-US" dirty="0">
                <a:latin typeface="宋体" panose="02010600030101010101" pitchFamily="2" charset="-122"/>
              </a:rPr>
              <a:t>也需要专门的管理员进行管理与配置。为了降低</a:t>
            </a:r>
            <a:r>
              <a:rPr lang="en-US" altLang="zh-CN" dirty="0">
                <a:cs typeface="Times New Roman" panose="02020603050405020304" pitchFamily="18" charset="0"/>
              </a:rPr>
              <a:t>FTP</a:t>
            </a:r>
            <a:r>
              <a:rPr lang="zh-CN" altLang="en-US" dirty="0">
                <a:latin typeface="宋体" panose="02010600030101010101" pitchFamily="2" charset="-122"/>
              </a:rPr>
              <a:t>和</a:t>
            </a:r>
            <a:r>
              <a:rPr lang="en-US" altLang="zh-CN" dirty="0">
                <a:cs typeface="Times New Roman" panose="02020603050405020304" pitchFamily="18" charset="0"/>
              </a:rPr>
              <a:t>TELNET</a:t>
            </a:r>
            <a:r>
              <a:rPr lang="zh-CN" altLang="en-US" dirty="0">
                <a:latin typeface="宋体" panose="02010600030101010101" pitchFamily="2" charset="-122"/>
              </a:rPr>
              <a:t>等服务和远程管理操作中的风险，防火墙一般都应该采用一次性口令机制作为对用户身份的鉴别的手段，管理者与防火墙系统之间传递的管理信息也是被加密的，以防止被窃听。</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914400" y="609600"/>
            <a:ext cx="10363200" cy="640702"/>
          </a:xfrm>
        </p:spPr>
        <p:txBody>
          <a:bodyPr/>
          <a:lstStyle/>
          <a:p>
            <a:r>
              <a:rPr lang="en-US" altLang="zh-CN" b="1" dirty="0" smtClean="0">
                <a:solidFill>
                  <a:schemeClr val="hlink"/>
                </a:solidFill>
                <a:latin typeface="Times New Roman" panose="02020603050405020304" pitchFamily="18" charset="0"/>
                <a:cs typeface="Times New Roman" panose="02020603050405020304" pitchFamily="18" charset="0"/>
              </a:rPr>
              <a:t>9 </a:t>
            </a:r>
            <a:r>
              <a:rPr lang="zh-CN" altLang="en-US" b="1" dirty="0" smtClean="0">
                <a:solidFill>
                  <a:schemeClr val="hlink"/>
                </a:solidFill>
                <a:latin typeface="Times New Roman" panose="02020603050405020304" pitchFamily="18" charset="0"/>
                <a:cs typeface="Times New Roman" panose="02020603050405020304" pitchFamily="18" charset="0"/>
              </a:rPr>
              <a:t> </a:t>
            </a:r>
            <a:r>
              <a:rPr lang="zh-CN" altLang="en-US" b="1" dirty="0">
                <a:solidFill>
                  <a:schemeClr val="hlink"/>
                </a:solidFill>
                <a:latin typeface="宋体" panose="02010600030101010101" pitchFamily="2" charset="-122"/>
              </a:rPr>
              <a:t>审计与报警</a:t>
            </a:r>
            <a:endParaRPr lang="zh-CN" altLang="en-US" b="1" dirty="0">
              <a:solidFill>
                <a:schemeClr val="hlink"/>
              </a:solidFill>
              <a:latin typeface="宋体" panose="02010600030101010101" pitchFamily="2" charset="-122"/>
            </a:endParaRPr>
          </a:p>
        </p:txBody>
      </p:sp>
      <p:sp>
        <p:nvSpPr>
          <p:cNvPr id="50179" name="Rectangle 3"/>
          <p:cNvSpPr>
            <a:spLocks noGrp="1" noChangeArrowheads="1"/>
          </p:cNvSpPr>
          <p:nvPr>
            <p:ph type="body" idx="1"/>
          </p:nvPr>
        </p:nvSpPr>
        <p:spPr>
          <a:xfrm>
            <a:off x="914400" y="1384041"/>
            <a:ext cx="10363200" cy="4114800"/>
          </a:xfrm>
        </p:spPr>
        <p:txBody>
          <a:bodyPr/>
          <a:lstStyle/>
          <a:p>
            <a:pPr>
              <a:lnSpc>
                <a:spcPct val="150000"/>
              </a:lnSpc>
            </a:pPr>
            <a:r>
              <a:rPr lang="zh-CN" altLang="en-US" dirty="0" smtClean="0">
                <a:latin typeface="宋体" panose="02010600030101010101" pitchFamily="2" charset="-122"/>
              </a:rPr>
              <a:t>    审计</a:t>
            </a:r>
            <a:r>
              <a:rPr lang="zh-CN" altLang="en-US" dirty="0">
                <a:latin typeface="宋体" panose="02010600030101010101" pitchFamily="2" charset="-122"/>
              </a:rPr>
              <a:t>与报警机制主要作用有两方面，一是对入侵者起到威慑作用，由于怕被防火墙记录入侵踪迹，使入侵者</a:t>
            </a:r>
            <a:r>
              <a:rPr lang="zh-CN" altLang="en-US" dirty="0">
                <a:latin typeface="宋体" panose="02010600030101010101" pitchFamily="2" charset="-122"/>
              </a:rPr>
              <a:t>感到害怕；二是审计记录为管理人员提供了入侵分析资料，以判别防火墙的安全策略的设计与系统配置上是否有安全漏洞，以便改进。</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type="body" idx="1"/>
          </p:nvPr>
        </p:nvSpPr>
        <p:spPr>
          <a:xfrm>
            <a:off x="914400" y="1645298"/>
            <a:ext cx="10363200" cy="4114800"/>
          </a:xfrm>
        </p:spPr>
        <p:txBody>
          <a:bodyPr/>
          <a:lstStyle/>
          <a:p>
            <a:pPr>
              <a:lnSpc>
                <a:spcPct val="150000"/>
              </a:lnSpc>
            </a:pPr>
            <a:r>
              <a:rPr lang="zh-CN" altLang="en-US" dirty="0" smtClean="0">
                <a:latin typeface="宋体" panose="02010600030101010101" pitchFamily="2" charset="-122"/>
              </a:rPr>
              <a:t>    按</a:t>
            </a:r>
            <a:r>
              <a:rPr lang="zh-CN" altLang="en-US" dirty="0">
                <a:latin typeface="宋体" panose="02010600030101010101" pitchFamily="2" charset="-122"/>
              </a:rPr>
              <a:t>防火墙工作在网络中的层次为依据，则防火墙分为两大类，即</a:t>
            </a:r>
            <a:r>
              <a:rPr lang="zh-CN" altLang="en-US" b="1" dirty="0">
                <a:highlight>
                  <a:srgbClr val="FFFF00"/>
                </a:highlight>
                <a:latin typeface="宋体" panose="02010600030101010101" pitchFamily="2" charset="-122"/>
              </a:rPr>
              <a:t>网络层防火墙</a:t>
            </a:r>
            <a:r>
              <a:rPr lang="zh-CN" altLang="en-US" dirty="0">
                <a:latin typeface="宋体" panose="02010600030101010101" pitchFamily="2" charset="-122"/>
              </a:rPr>
              <a:t>和</a:t>
            </a:r>
            <a:r>
              <a:rPr lang="zh-CN" altLang="en-US" b="1" dirty="0">
                <a:highlight>
                  <a:srgbClr val="FFFF00"/>
                </a:highlight>
                <a:latin typeface="宋体" panose="02010600030101010101" pitchFamily="2" charset="-122"/>
              </a:rPr>
              <a:t>应用层防火墙</a:t>
            </a:r>
            <a:r>
              <a:rPr lang="zh-CN" altLang="en-US" dirty="0">
                <a:latin typeface="宋体" panose="02010600030101010101" pitchFamily="2" charset="-122"/>
              </a:rPr>
              <a:t>。</a:t>
            </a:r>
            <a:endParaRPr lang="zh-CN" altLang="en-US" dirty="0">
              <a:latin typeface="宋体" panose="02010600030101010101" pitchFamily="2" charset="-122"/>
            </a:endParaRPr>
          </a:p>
          <a:p>
            <a:pPr>
              <a:lnSpc>
                <a:spcPct val="150000"/>
              </a:lnSpc>
            </a:pPr>
            <a:r>
              <a:rPr lang="zh-CN" altLang="en-US" dirty="0">
                <a:latin typeface="宋体" panose="02010600030101010101" pitchFamily="2" charset="-122"/>
              </a:rPr>
              <a:t> </a:t>
            </a:r>
            <a:r>
              <a:rPr lang="en-US" altLang="zh-CN" dirty="0">
                <a:latin typeface="宋体" panose="02010600030101010101" pitchFamily="2" charset="-122"/>
              </a:rPr>
              <a:t>   </a:t>
            </a:r>
            <a:r>
              <a:rPr lang="zh-CN" altLang="en-US" dirty="0">
                <a:latin typeface="宋体" panose="02010600030101010101" pitchFamily="2" charset="-122"/>
              </a:rPr>
              <a:t>网络层防火墙主要类型有</a:t>
            </a:r>
            <a:r>
              <a:rPr lang="zh-CN" altLang="en-US" u="sng" dirty="0">
                <a:highlight>
                  <a:srgbClr val="00FF00"/>
                </a:highlight>
                <a:latin typeface="宋体" panose="02010600030101010101" pitchFamily="2" charset="-122"/>
              </a:rPr>
              <a:t>过滤</a:t>
            </a:r>
            <a:r>
              <a:rPr lang="zh-CN" altLang="en-US" dirty="0">
                <a:highlight>
                  <a:srgbClr val="00FF00"/>
                </a:highlight>
                <a:latin typeface="宋体" panose="02010600030101010101" pitchFamily="2" charset="-122"/>
              </a:rPr>
              <a:t>路由器</a:t>
            </a:r>
            <a:r>
              <a:rPr lang="zh-CN" altLang="en-US" dirty="0">
                <a:latin typeface="宋体" panose="02010600030101010101" pitchFamily="2" charset="-122"/>
              </a:rPr>
              <a:t>、</a:t>
            </a:r>
            <a:r>
              <a:rPr lang="zh-CN" altLang="en-US" u="sng" dirty="0">
                <a:highlight>
                  <a:srgbClr val="00FF00"/>
                </a:highlight>
                <a:latin typeface="宋体" panose="02010600030101010101" pitchFamily="2" charset="-122"/>
              </a:rPr>
              <a:t>过滤</a:t>
            </a:r>
            <a:r>
              <a:rPr lang="zh-CN" altLang="en-US" dirty="0">
                <a:highlight>
                  <a:srgbClr val="00FF00"/>
                </a:highlight>
                <a:latin typeface="宋体" panose="02010600030101010101" pitchFamily="2" charset="-122"/>
              </a:rPr>
              <a:t>主机防火墙</a:t>
            </a:r>
            <a:r>
              <a:rPr lang="zh-CN" altLang="en-US" dirty="0">
                <a:latin typeface="宋体" panose="02010600030101010101" pitchFamily="2" charset="-122"/>
              </a:rPr>
              <a:t>、</a:t>
            </a:r>
            <a:r>
              <a:rPr lang="zh-CN" altLang="en-US" u="sng" dirty="0">
                <a:highlight>
                  <a:srgbClr val="00FF00"/>
                </a:highlight>
                <a:latin typeface="宋体" panose="02010600030101010101" pitchFamily="2" charset="-122"/>
              </a:rPr>
              <a:t>过滤</a:t>
            </a:r>
            <a:r>
              <a:rPr lang="zh-CN" altLang="en-US" dirty="0">
                <a:highlight>
                  <a:srgbClr val="00FF00"/>
                </a:highlight>
                <a:latin typeface="宋体" panose="02010600030101010101" pitchFamily="2" charset="-122"/>
              </a:rPr>
              <a:t>子网防火墙</a:t>
            </a:r>
            <a:r>
              <a:rPr lang="zh-CN" altLang="en-US" dirty="0">
                <a:latin typeface="宋体" panose="02010600030101010101" pitchFamily="2" charset="-122"/>
              </a:rPr>
              <a:t>；</a:t>
            </a:r>
            <a:endParaRPr lang="zh-CN" altLang="en-US" dirty="0">
              <a:latin typeface="宋体" panose="02010600030101010101" pitchFamily="2" charset="-122"/>
            </a:endParaRPr>
          </a:p>
          <a:p>
            <a:pPr>
              <a:lnSpc>
                <a:spcPct val="150000"/>
              </a:lnSpc>
            </a:pPr>
            <a:r>
              <a:rPr lang="zh-CN" altLang="en-US" dirty="0">
                <a:latin typeface="宋体" panose="02010600030101010101" pitchFamily="2" charset="-122"/>
              </a:rPr>
              <a:t> </a:t>
            </a:r>
            <a:r>
              <a:rPr lang="en-US" altLang="zh-CN" dirty="0">
                <a:latin typeface="宋体" panose="02010600030101010101" pitchFamily="2" charset="-122"/>
              </a:rPr>
              <a:t>   </a:t>
            </a:r>
            <a:r>
              <a:rPr lang="zh-CN" altLang="en-US" dirty="0">
                <a:latin typeface="宋体" panose="02010600030101010101" pitchFamily="2" charset="-122"/>
              </a:rPr>
              <a:t>应用层防火墙主要类型有</a:t>
            </a:r>
            <a:r>
              <a:rPr lang="zh-CN" altLang="en-US" dirty="0">
                <a:highlight>
                  <a:srgbClr val="00FFFF"/>
                </a:highlight>
                <a:latin typeface="宋体" panose="02010600030101010101" pitchFamily="2" charset="-122"/>
              </a:rPr>
              <a:t>代理服务器主机防火墙</a:t>
            </a:r>
            <a:r>
              <a:rPr lang="zh-CN" altLang="en-US" dirty="0">
                <a:latin typeface="宋体" panose="02010600030101010101" pitchFamily="2" charset="-122"/>
              </a:rPr>
              <a:t>、</a:t>
            </a:r>
            <a:r>
              <a:rPr lang="zh-CN" altLang="en-US" dirty="0">
                <a:highlight>
                  <a:srgbClr val="00FFFF"/>
                </a:highlight>
                <a:latin typeface="宋体" panose="02010600030101010101" pitchFamily="2" charset="-122"/>
              </a:rPr>
              <a:t>双宿</a:t>
            </a:r>
            <a:r>
              <a:rPr lang="zh-CN" altLang="en-US" u="sng" dirty="0">
                <a:highlight>
                  <a:srgbClr val="00FFFF"/>
                </a:highlight>
                <a:latin typeface="宋体" panose="02010600030101010101" pitchFamily="2" charset="-122"/>
              </a:rPr>
              <a:t>网关</a:t>
            </a:r>
            <a:r>
              <a:rPr lang="zh-CN" altLang="en-US" dirty="0">
                <a:highlight>
                  <a:srgbClr val="00FFFF"/>
                </a:highlight>
                <a:latin typeface="宋体" panose="02010600030101010101" pitchFamily="2" charset="-122"/>
              </a:rPr>
              <a:t>防火墙</a:t>
            </a:r>
            <a:r>
              <a:rPr lang="zh-CN" altLang="en-US" dirty="0">
                <a:latin typeface="宋体" panose="02010600030101010101" pitchFamily="2" charset="-122"/>
              </a:rPr>
              <a:t>和</a:t>
            </a:r>
            <a:r>
              <a:rPr lang="zh-CN" altLang="en-US" dirty="0">
                <a:highlight>
                  <a:srgbClr val="00FFFF"/>
                </a:highlight>
                <a:latin typeface="宋体" panose="02010600030101010101" pitchFamily="2" charset="-122"/>
              </a:rPr>
              <a:t>电路</a:t>
            </a:r>
            <a:r>
              <a:rPr lang="zh-CN" altLang="en-US" u="sng" dirty="0">
                <a:highlight>
                  <a:srgbClr val="00FFFF"/>
                </a:highlight>
                <a:latin typeface="宋体" panose="02010600030101010101" pitchFamily="2" charset="-122"/>
              </a:rPr>
              <a:t>网关</a:t>
            </a:r>
            <a:r>
              <a:rPr lang="zh-CN" altLang="en-US" dirty="0">
                <a:highlight>
                  <a:srgbClr val="00FFFF"/>
                </a:highlight>
                <a:latin typeface="宋体" panose="02010600030101010101" pitchFamily="2" charset="-122"/>
              </a:rPr>
              <a:t>防火墙</a:t>
            </a:r>
            <a:r>
              <a:rPr lang="zh-CN" altLang="en-US" dirty="0">
                <a:latin typeface="宋体" panose="02010600030101010101" pitchFamily="2" charset="-122"/>
              </a:rPr>
              <a:t>。</a:t>
            </a:r>
            <a:r>
              <a:rPr lang="zh-CN" altLang="en-US" dirty="0"/>
              <a:t> </a:t>
            </a:r>
            <a:endParaRPr lang="zh-CN" altLang="en-US" dirty="0"/>
          </a:p>
        </p:txBody>
      </p:sp>
      <p:grpSp>
        <p:nvGrpSpPr>
          <p:cNvPr id="4" name="组合 3"/>
          <p:cNvGrpSpPr/>
          <p:nvPr/>
        </p:nvGrpSpPr>
        <p:grpSpPr>
          <a:xfrm>
            <a:off x="3477360" y="191600"/>
            <a:ext cx="5237279" cy="1109044"/>
            <a:chOff x="3279913" y="488294"/>
            <a:chExt cx="5237279" cy="1109044"/>
          </a:xfrm>
        </p:grpSpPr>
        <p:grpSp>
          <p:nvGrpSpPr>
            <p:cNvPr id="5" name="组合 4"/>
            <p:cNvGrpSpPr/>
            <p:nvPr/>
          </p:nvGrpSpPr>
          <p:grpSpPr>
            <a:xfrm>
              <a:off x="3279913" y="909457"/>
              <a:ext cx="5237279" cy="687881"/>
              <a:chOff x="3279913" y="909457"/>
              <a:chExt cx="5237279" cy="687881"/>
            </a:xfrm>
          </p:grpSpPr>
          <p:sp>
            <p:nvSpPr>
              <p:cNvPr id="159" name="矩形: 圆角 9"/>
              <p:cNvSpPr/>
              <p:nvPr/>
            </p:nvSpPr>
            <p:spPr>
              <a:xfrm>
                <a:off x="3279913" y="909457"/>
                <a:ext cx="5237279"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3562194"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 </a:t>
                </a: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防火墙类型与原理</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b="1">
                <a:solidFill>
                  <a:schemeClr val="hlink"/>
                </a:solidFill>
                <a:latin typeface="宋体" panose="02010600030101010101" pitchFamily="2" charset="-122"/>
              </a:rPr>
              <a:t>一、</a:t>
            </a:r>
            <a:r>
              <a:rPr lang="zh-CN" altLang="en-US" b="1">
                <a:solidFill>
                  <a:schemeClr val="hlink"/>
                </a:solidFill>
                <a:latin typeface="Times New Roman" panose="02020603050405020304" pitchFamily="18" charset="0"/>
                <a:cs typeface="Times New Roman" panose="02020603050405020304" pitchFamily="18" charset="0"/>
              </a:rPr>
              <a:t> </a:t>
            </a:r>
            <a:r>
              <a:rPr lang="zh-CN" altLang="en-US" b="1">
                <a:solidFill>
                  <a:schemeClr val="hlink"/>
                </a:solidFill>
                <a:latin typeface="宋体" panose="02010600030101010101" pitchFamily="2" charset="-122"/>
              </a:rPr>
              <a:t>网络层防火墙</a:t>
            </a:r>
            <a:r>
              <a:rPr lang="zh-CN" altLang="en-US"/>
              <a:t> </a:t>
            </a:r>
            <a:endParaRPr lang="zh-CN" altLang="en-US"/>
          </a:p>
        </p:txBody>
      </p:sp>
      <p:sp>
        <p:nvSpPr>
          <p:cNvPr id="53251" name="Rectangle 3"/>
          <p:cNvSpPr>
            <a:spLocks noGrp="1" noChangeArrowheads="1"/>
          </p:cNvSpPr>
          <p:nvPr>
            <p:ph type="body" idx="1"/>
          </p:nvPr>
        </p:nvSpPr>
        <p:spPr/>
        <p:txBody>
          <a:bodyPr/>
          <a:lstStyle/>
          <a:p>
            <a:pPr>
              <a:lnSpc>
                <a:spcPct val="150000"/>
              </a:lnSpc>
            </a:pPr>
            <a:r>
              <a:rPr lang="zh-CN" altLang="en-US" dirty="0" smtClean="0">
                <a:latin typeface="宋体" panose="02010600030101010101" pitchFamily="2" charset="-122"/>
              </a:rPr>
              <a:t>    网络层</a:t>
            </a:r>
            <a:r>
              <a:rPr lang="zh-CN" altLang="en-US" dirty="0">
                <a:latin typeface="宋体" panose="02010600030101010101" pitchFamily="2" charset="-122"/>
              </a:rPr>
              <a:t>防火墙工作在</a:t>
            </a:r>
            <a:r>
              <a:rPr lang="en-US" altLang="zh-CN" dirty="0">
                <a:cs typeface="Times New Roman" panose="02020603050405020304" pitchFamily="18" charset="0"/>
              </a:rPr>
              <a:t>IP</a:t>
            </a:r>
            <a:r>
              <a:rPr lang="zh-CN" altLang="en-US" dirty="0">
                <a:latin typeface="宋体" panose="02010600030101010101" pitchFamily="2" charset="-122"/>
              </a:rPr>
              <a:t>包一级，对</a:t>
            </a:r>
            <a:r>
              <a:rPr lang="en-US" altLang="zh-CN" dirty="0">
                <a:cs typeface="Times New Roman" panose="02020603050405020304" pitchFamily="18" charset="0"/>
              </a:rPr>
              <a:t>IP</a:t>
            </a:r>
            <a:r>
              <a:rPr lang="zh-CN" altLang="en-US" dirty="0">
                <a:latin typeface="宋体" panose="02010600030101010101" pitchFamily="2" charset="-122"/>
              </a:rPr>
              <a:t>包进行处理而达到流量控制的目的。网络层防火墙至少有一个到非信任网络的</a:t>
            </a:r>
            <a:r>
              <a:rPr lang="en-US" altLang="zh-CN" dirty="0">
                <a:cs typeface="Times New Roman" panose="02020603050405020304" pitchFamily="18" charset="0"/>
              </a:rPr>
              <a:t>IP</a:t>
            </a:r>
            <a:r>
              <a:rPr lang="zh-CN" altLang="en-US" dirty="0">
                <a:latin typeface="宋体" panose="02010600030101010101" pitchFamily="2" charset="-122"/>
              </a:rPr>
              <a:t>接口和一个到可信网络的</a:t>
            </a:r>
            <a:r>
              <a:rPr lang="en-US" altLang="zh-CN" dirty="0">
                <a:cs typeface="Times New Roman" panose="02020603050405020304" pitchFamily="18" charset="0"/>
              </a:rPr>
              <a:t>IP</a:t>
            </a:r>
            <a:r>
              <a:rPr lang="zh-CN" altLang="en-US" dirty="0">
                <a:latin typeface="宋体" panose="02010600030101010101" pitchFamily="2" charset="-122"/>
              </a:rPr>
              <a:t>接口。它利用自身设置的访问控制策略对进网和出网的</a:t>
            </a:r>
            <a:r>
              <a:rPr lang="en-US" altLang="zh-CN" dirty="0">
                <a:cs typeface="Times New Roman" panose="02020603050405020304" pitchFamily="18" charset="0"/>
              </a:rPr>
              <a:t>IP</a:t>
            </a:r>
            <a:r>
              <a:rPr lang="zh-CN" altLang="en-US" dirty="0">
                <a:latin typeface="宋体" panose="02010600030101010101" pitchFamily="2" charset="-122"/>
              </a:rPr>
              <a:t>数据包进行分析，从而达到流量过滤的目的。</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914400" y="609600"/>
            <a:ext cx="10363200" cy="734008"/>
          </a:xfrm>
        </p:spPr>
        <p:txBody>
          <a:bodyPr/>
          <a:lstStyle/>
          <a:p>
            <a:r>
              <a:rPr lang="zh-CN" altLang="en-US" sz="3200" dirty="0">
                <a:latin typeface="宋体" panose="02010600030101010101" pitchFamily="2" charset="-122"/>
              </a:rPr>
              <a:t>下面是网络层防火墙的一个简单包过滤策略示例</a:t>
            </a:r>
            <a:r>
              <a:rPr lang="zh-CN" altLang="en-US" dirty="0">
                <a:latin typeface="宋体" panose="02010600030101010101" pitchFamily="2" charset="-122"/>
              </a:rPr>
              <a:t>：</a:t>
            </a:r>
            <a:endParaRPr lang="zh-CN" altLang="en-US" dirty="0">
              <a:latin typeface="宋体" panose="02010600030101010101" pitchFamily="2" charset="-122"/>
            </a:endParaRPr>
          </a:p>
        </p:txBody>
      </p:sp>
      <p:sp>
        <p:nvSpPr>
          <p:cNvPr id="54275" name="Rectangle 3"/>
          <p:cNvSpPr>
            <a:spLocks noGrp="1" noChangeArrowheads="1"/>
          </p:cNvSpPr>
          <p:nvPr>
            <p:ph type="body" idx="1"/>
          </p:nvPr>
        </p:nvSpPr>
        <p:spPr>
          <a:xfrm>
            <a:off x="914400" y="1572638"/>
            <a:ext cx="10363200" cy="4114800"/>
          </a:xfrm>
        </p:spPr>
        <p:txBody>
          <a:bodyPr/>
          <a:lstStyle/>
          <a:p>
            <a:pPr algn="just">
              <a:lnSpc>
                <a:spcPct val="110000"/>
              </a:lnSpc>
            </a:pPr>
            <a:r>
              <a:rPr lang="zh-CN" altLang="en-US" dirty="0">
                <a:cs typeface="Times New Roman" panose="02020603050405020304" pitchFamily="18" charset="0"/>
              </a:rPr>
              <a:t>(1) </a:t>
            </a:r>
            <a:r>
              <a:rPr lang="zh-CN" altLang="en-US" dirty="0">
                <a:latin typeface="宋体" panose="02010600030101010101" pitchFamily="2" charset="-122"/>
              </a:rPr>
              <a:t>禁止可信网络内部地址从</a:t>
            </a:r>
            <a:r>
              <a:rPr lang="zh-CN" altLang="en-US" dirty="0">
                <a:cs typeface="Times New Roman" panose="02020603050405020304" pitchFamily="18" charset="0"/>
              </a:rPr>
              <a:t>121.23.67.100</a:t>
            </a:r>
            <a:r>
              <a:rPr lang="zh-CN" altLang="en-US" dirty="0">
                <a:latin typeface="宋体" panose="02010600030101010101" pitchFamily="2" charset="-122"/>
              </a:rPr>
              <a:t>到</a:t>
            </a:r>
            <a:r>
              <a:rPr lang="zh-CN" altLang="en-US" dirty="0">
                <a:cs typeface="Times New Roman" panose="02020603050405020304" pitchFamily="18" charset="0"/>
              </a:rPr>
              <a:t>121.23.67.200</a:t>
            </a:r>
            <a:r>
              <a:rPr lang="zh-CN" altLang="en-US" dirty="0">
                <a:latin typeface="宋体" panose="02010600030101010101" pitchFamily="2" charset="-122"/>
              </a:rPr>
              <a:t>的主机访问</a:t>
            </a:r>
            <a:r>
              <a:rPr lang="en-US" altLang="zh-CN" dirty="0">
                <a:cs typeface="Times New Roman" panose="02020603050405020304" pitchFamily="18" charset="0"/>
              </a:rPr>
              <a:t>Internet</a:t>
            </a:r>
            <a:r>
              <a:rPr lang="en-US" altLang="zh-CN" dirty="0">
                <a:latin typeface="宋体" panose="02010600030101010101" pitchFamily="2" charset="-122"/>
              </a:rPr>
              <a:t>；</a:t>
            </a:r>
            <a:endParaRPr lang="en-US" altLang="zh-CN" dirty="0">
              <a:cs typeface="Times New Roman" panose="02020603050405020304" pitchFamily="18" charset="0"/>
            </a:endParaRPr>
          </a:p>
          <a:p>
            <a:pPr algn="just">
              <a:lnSpc>
                <a:spcPct val="110000"/>
              </a:lnSpc>
            </a:pPr>
            <a:r>
              <a:rPr lang="en-US" altLang="zh-CN" dirty="0">
                <a:cs typeface="Times New Roman" panose="02020603050405020304" pitchFamily="18" charset="0"/>
              </a:rPr>
              <a:t>(2) </a:t>
            </a:r>
            <a:r>
              <a:rPr lang="zh-CN" altLang="en-US" dirty="0">
                <a:latin typeface="宋体" panose="02010600030101010101" pitchFamily="2" charset="-122"/>
              </a:rPr>
              <a:t>允许地址从</a:t>
            </a:r>
            <a:r>
              <a:rPr lang="zh-CN" altLang="en-US" dirty="0">
                <a:cs typeface="Times New Roman" panose="02020603050405020304" pitchFamily="18" charset="0"/>
              </a:rPr>
              <a:t>121.23.67.50~121.23.67.99</a:t>
            </a:r>
            <a:r>
              <a:rPr lang="zh-CN" altLang="en-US" dirty="0">
                <a:latin typeface="宋体" panose="02010600030101010101" pitchFamily="2" charset="-122"/>
              </a:rPr>
              <a:t>的主机访问</a:t>
            </a:r>
            <a:r>
              <a:rPr lang="en-US" altLang="zh-CN" dirty="0">
                <a:cs typeface="Times New Roman" panose="02020603050405020304" pitchFamily="18" charset="0"/>
              </a:rPr>
              <a:t>Internet</a:t>
            </a:r>
            <a:r>
              <a:rPr lang="en-US" altLang="zh-CN" dirty="0">
                <a:latin typeface="宋体" panose="02010600030101010101" pitchFamily="2" charset="-122"/>
              </a:rPr>
              <a:t>；</a:t>
            </a:r>
            <a:endParaRPr lang="en-US" altLang="zh-CN" dirty="0">
              <a:cs typeface="Times New Roman" panose="02020603050405020304" pitchFamily="18" charset="0"/>
            </a:endParaRPr>
          </a:p>
          <a:p>
            <a:pPr algn="just">
              <a:lnSpc>
                <a:spcPct val="110000"/>
              </a:lnSpc>
            </a:pPr>
            <a:r>
              <a:rPr lang="en-US" altLang="zh-CN" dirty="0">
                <a:cs typeface="Times New Roman" panose="02020603050405020304" pitchFamily="18" charset="0"/>
              </a:rPr>
              <a:t>(3) </a:t>
            </a:r>
            <a:r>
              <a:rPr lang="zh-CN" altLang="en-US" dirty="0">
                <a:latin typeface="宋体" panose="02010600030101010101" pitchFamily="2" charset="-122"/>
              </a:rPr>
              <a:t>防火墙利用上述两点访问控制策略，对发来和发出的</a:t>
            </a:r>
            <a:r>
              <a:rPr lang="en-US" altLang="zh-CN" dirty="0">
                <a:cs typeface="Times New Roman" panose="02020603050405020304" pitchFamily="18" charset="0"/>
              </a:rPr>
              <a:t>IP</a:t>
            </a:r>
            <a:r>
              <a:rPr lang="zh-CN" altLang="en-US" dirty="0">
                <a:latin typeface="宋体" panose="02010600030101010101" pitchFamily="2" charset="-122"/>
              </a:rPr>
              <a:t>数据包进行检测，符合规定的</a:t>
            </a:r>
            <a:r>
              <a:rPr lang="en-US" altLang="zh-CN" dirty="0">
                <a:cs typeface="Times New Roman" panose="02020603050405020304" pitchFamily="18" charset="0"/>
              </a:rPr>
              <a:t>IP</a:t>
            </a:r>
            <a:r>
              <a:rPr lang="zh-CN" altLang="en-US" dirty="0">
                <a:latin typeface="宋体" panose="02010600030101010101" pitchFamily="2" charset="-122"/>
              </a:rPr>
              <a:t>包被允许发送到</a:t>
            </a:r>
            <a:r>
              <a:rPr lang="en-US" altLang="zh-CN" dirty="0">
                <a:cs typeface="Times New Roman" panose="02020603050405020304" pitchFamily="18" charset="0"/>
              </a:rPr>
              <a:t>Internet</a:t>
            </a:r>
            <a:r>
              <a:rPr lang="zh-CN" altLang="en-US" dirty="0">
                <a:latin typeface="宋体" panose="02010600030101010101" pitchFamily="2" charset="-122"/>
              </a:rPr>
              <a:t>上去；而不符合规定的</a:t>
            </a:r>
            <a:r>
              <a:rPr lang="en-US" altLang="zh-CN" dirty="0">
                <a:cs typeface="Times New Roman" panose="02020603050405020304" pitchFamily="18" charset="0"/>
              </a:rPr>
              <a:t>IP</a:t>
            </a:r>
            <a:r>
              <a:rPr lang="zh-CN" altLang="en-US" dirty="0">
                <a:latin typeface="宋体" panose="02010600030101010101" pitchFamily="2" charset="-122"/>
              </a:rPr>
              <a:t>包被丢弃；</a:t>
            </a:r>
            <a:endParaRPr lang="zh-CN" altLang="en-US" dirty="0">
              <a:cs typeface="Times New Roman" panose="02020603050405020304" pitchFamily="18" charset="0"/>
            </a:endParaRPr>
          </a:p>
          <a:p>
            <a:pPr>
              <a:lnSpc>
                <a:spcPct val="110000"/>
              </a:lnSpc>
            </a:pPr>
            <a:r>
              <a:rPr lang="zh-CN" altLang="en-US" dirty="0">
                <a:cs typeface="Times New Roman" panose="02020603050405020304" pitchFamily="18" charset="0"/>
              </a:rPr>
              <a:t>(4) </a:t>
            </a:r>
            <a:r>
              <a:rPr lang="zh-CN" altLang="en-US" dirty="0">
                <a:latin typeface="宋体" panose="02010600030101010101" pitchFamily="2" charset="-122"/>
              </a:rPr>
              <a:t>向被丢弃包的</a:t>
            </a:r>
            <a:r>
              <a:rPr lang="en-US" altLang="zh-CN" dirty="0">
                <a:cs typeface="Times New Roman" panose="02020603050405020304" pitchFamily="18" charset="0"/>
              </a:rPr>
              <a:t>IP</a:t>
            </a:r>
            <a:r>
              <a:rPr lang="zh-CN" altLang="en-US" dirty="0">
                <a:latin typeface="宋体" panose="02010600030101010101" pitchFamily="2" charset="-122"/>
              </a:rPr>
              <a:t>源地址处回发状态信息，并且在日志文件中记录企图进行非授权的登录。</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ChangeArrowheads="1"/>
          </p:cNvSpPr>
          <p:nvPr/>
        </p:nvSpPr>
        <p:spPr bwMode="auto">
          <a:xfrm>
            <a:off x="1170305" y="967105"/>
            <a:ext cx="891349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r>
              <a:rPr lang="zh-CN" altLang="en-US" sz="4200" b="1">
                <a:solidFill>
                  <a:schemeClr val="tx1"/>
                </a:solidFill>
                <a:highlight>
                  <a:srgbClr val="FFFF00"/>
                </a:highlight>
                <a:latin typeface="黑体" panose="02010609060101010101" pitchFamily="49" charset="-122"/>
                <a:ea typeface="黑体" panose="02010609060101010101" pitchFamily="49" charset="-122"/>
              </a:rPr>
              <a:t>网络层防火墙一</a:t>
            </a:r>
            <a:r>
              <a:rPr lang="zh-CN" altLang="en-US" sz="4200" b="1">
                <a:latin typeface="黑体" panose="02010609060101010101" pitchFamily="49" charset="-122"/>
                <a:ea typeface="黑体" panose="02010609060101010101" pitchFamily="49" charset="-122"/>
              </a:rPr>
              <a:t>：堡垒主机防火墙</a:t>
            </a:r>
            <a:endParaRPr lang="zh-CN" altLang="en-US" sz="4200" b="1">
              <a:latin typeface="黑体" panose="02010609060101010101" pitchFamily="49" charset="-122"/>
              <a:ea typeface="黑体" panose="02010609060101010101" pitchFamily="49" charset="-122"/>
            </a:endParaRPr>
          </a:p>
        </p:txBody>
      </p:sp>
      <p:sp>
        <p:nvSpPr>
          <p:cNvPr id="56323" name="Rectangle 3"/>
          <p:cNvSpPr>
            <a:spLocks noChangeArrowheads="1"/>
          </p:cNvSpPr>
          <p:nvPr/>
        </p:nvSpPr>
        <p:spPr bwMode="auto">
          <a:xfrm>
            <a:off x="1524001" y="21394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6324" name="Object 4"/>
          <p:cNvGraphicFramePr>
            <a:graphicFrameLocks noChangeAspect="1"/>
          </p:cNvGraphicFramePr>
          <p:nvPr/>
        </p:nvGraphicFramePr>
        <p:xfrm>
          <a:off x="2279650" y="2420939"/>
          <a:ext cx="7920038" cy="3927475"/>
        </p:xfrm>
        <a:graphic>
          <a:graphicData uri="http://schemas.openxmlformats.org/presentationml/2006/ole">
            <mc:AlternateContent xmlns:mc="http://schemas.openxmlformats.org/markup-compatibility/2006">
              <mc:Choice xmlns:v="urn:schemas-microsoft-com:vml" Requires="v">
                <p:oleObj spid="_x0000_s6223" name="VISIO" r:id="rId1" imgW="5053330" imgH="2837815" progId="Visio.Drawing.6">
                  <p:embed/>
                </p:oleObj>
              </mc:Choice>
              <mc:Fallback>
                <p:oleObj name="VISIO" r:id="rId1" imgW="5053330" imgH="2837815" progId="Visio.Drawing.6">
                  <p:embed/>
                  <p:pic>
                    <p:nvPicPr>
                      <p:cNvPr id="0" name="图片 62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2420939"/>
                        <a:ext cx="7920038" cy="3927475"/>
                      </a:xfrm>
                      <a:prstGeom prst="rect">
                        <a:avLst/>
                      </a:prstGeom>
                      <a:solidFill>
                        <a:srgbClr val="FFCC99"/>
                      </a:solidFill>
                    </p:spPr>
                  </p:pic>
                </p:oleObj>
              </mc:Fallback>
            </mc:AlternateContent>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1524000" y="967105"/>
            <a:ext cx="914336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r>
              <a:rPr lang="zh-CN" altLang="en-US" sz="4200" b="1">
                <a:solidFill>
                  <a:schemeClr val="tx1"/>
                </a:solidFill>
                <a:highlight>
                  <a:srgbClr val="FFFF00"/>
                </a:highlight>
                <a:latin typeface="黑体" panose="02010609060101010101" pitchFamily="49" charset="-122"/>
                <a:ea typeface="黑体" panose="02010609060101010101" pitchFamily="49" charset="-122"/>
                <a:sym typeface="+mn-ea"/>
              </a:rPr>
              <a:t>网络层防火墙二</a:t>
            </a:r>
            <a:r>
              <a:rPr lang="zh-CN" altLang="en-US" sz="4200" b="1">
                <a:latin typeface="黑体" panose="02010609060101010101" pitchFamily="49" charset="-122"/>
                <a:ea typeface="黑体" panose="02010609060101010101" pitchFamily="49" charset="-122"/>
                <a:sym typeface="+mn-ea"/>
              </a:rPr>
              <a:t>：</a:t>
            </a:r>
            <a:r>
              <a:rPr lang="zh-CN" altLang="en-US" sz="4200" b="1">
                <a:latin typeface="黑体" panose="02010609060101010101" pitchFamily="49" charset="-122"/>
                <a:ea typeface="黑体" panose="02010609060101010101" pitchFamily="49" charset="-122"/>
              </a:rPr>
              <a:t>过滤主机防火墙</a:t>
            </a:r>
            <a:endParaRPr lang="zh-CN" altLang="en-US" sz="4200" b="1">
              <a:latin typeface="黑体" panose="02010609060101010101" pitchFamily="49" charset="-122"/>
              <a:ea typeface="黑体" panose="02010609060101010101" pitchFamily="49" charset="-122"/>
            </a:endParaRPr>
          </a:p>
        </p:txBody>
      </p:sp>
      <p:sp>
        <p:nvSpPr>
          <p:cNvPr id="59395" name="Rectangle 3"/>
          <p:cNvSpPr>
            <a:spLocks noChangeArrowheads="1"/>
          </p:cNvSpPr>
          <p:nvPr/>
        </p:nvSpPr>
        <p:spPr bwMode="auto">
          <a:xfrm>
            <a:off x="1524001" y="22346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9396" name="Object 4"/>
          <p:cNvGraphicFramePr>
            <a:graphicFrameLocks noChangeAspect="1"/>
          </p:cNvGraphicFramePr>
          <p:nvPr/>
        </p:nvGraphicFramePr>
        <p:xfrm>
          <a:off x="1524000" y="2419350"/>
          <a:ext cx="9144000" cy="4013200"/>
        </p:xfrm>
        <a:graphic>
          <a:graphicData uri="http://schemas.openxmlformats.org/presentationml/2006/ole">
            <mc:AlternateContent xmlns:mc="http://schemas.openxmlformats.org/markup-compatibility/2006">
              <mc:Choice xmlns:v="urn:schemas-microsoft-com:vml" Requires="v">
                <p:oleObj spid="_x0000_s7247" name="VISIO" r:id="rId1" imgW="6205855" imgH="2761615" progId="Visio.Drawing.6">
                  <p:embed/>
                </p:oleObj>
              </mc:Choice>
              <mc:Fallback>
                <p:oleObj name="VISIO" r:id="rId1" imgW="6205855" imgH="2761615" progId="Visio.Drawing.6">
                  <p:embed/>
                  <p:pic>
                    <p:nvPicPr>
                      <p:cNvPr id="0" name="图片 72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419350"/>
                        <a:ext cx="9144000" cy="4013200"/>
                      </a:xfrm>
                      <a:prstGeom prst="rect">
                        <a:avLst/>
                      </a:prstGeom>
                      <a:solidFill>
                        <a:srgbClr val="FF99CC"/>
                      </a:solidFill>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1524000" y="967105"/>
            <a:ext cx="914336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r>
              <a:rPr lang="zh-CN" altLang="en-US" sz="4200" b="1">
                <a:solidFill>
                  <a:schemeClr val="tx1"/>
                </a:solidFill>
                <a:highlight>
                  <a:srgbClr val="FFFF00"/>
                </a:highlight>
                <a:latin typeface="黑体" panose="02010609060101010101" pitchFamily="49" charset="-122"/>
                <a:ea typeface="黑体" panose="02010609060101010101" pitchFamily="49" charset="-122"/>
                <a:sym typeface="+mn-ea"/>
              </a:rPr>
              <a:t>网络层防火墙三</a:t>
            </a:r>
            <a:r>
              <a:rPr lang="zh-CN" altLang="en-US" sz="4200" b="1">
                <a:latin typeface="黑体" panose="02010609060101010101" pitchFamily="49" charset="-122"/>
                <a:ea typeface="黑体" panose="02010609060101010101" pitchFamily="49" charset="-122"/>
                <a:sym typeface="+mn-ea"/>
              </a:rPr>
              <a:t>：</a:t>
            </a:r>
            <a:r>
              <a:rPr lang="zh-CN" altLang="en-US" sz="4200" b="1">
                <a:latin typeface="黑体" panose="02010609060101010101" pitchFamily="49" charset="-122"/>
                <a:ea typeface="黑体" panose="02010609060101010101" pitchFamily="49" charset="-122"/>
              </a:rPr>
              <a:t>过滤子网防火墙</a:t>
            </a:r>
            <a:endParaRPr lang="zh-CN" altLang="en-US" sz="4200" b="1">
              <a:latin typeface="黑体" panose="02010609060101010101" pitchFamily="49" charset="-122"/>
              <a:ea typeface="黑体" panose="02010609060101010101" pitchFamily="49" charset="-122"/>
            </a:endParaRPr>
          </a:p>
        </p:txBody>
      </p:sp>
      <p:sp>
        <p:nvSpPr>
          <p:cNvPr id="62467" name="Rectangle 3"/>
          <p:cNvSpPr>
            <a:spLocks noChangeArrowheads="1"/>
          </p:cNvSpPr>
          <p:nvPr/>
        </p:nvSpPr>
        <p:spPr bwMode="auto">
          <a:xfrm>
            <a:off x="1524001" y="21584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62468" name="Object 4"/>
          <p:cNvGraphicFramePr>
            <a:graphicFrameLocks noChangeAspect="1"/>
          </p:cNvGraphicFramePr>
          <p:nvPr/>
        </p:nvGraphicFramePr>
        <p:xfrm>
          <a:off x="1524000" y="2343151"/>
          <a:ext cx="9144000" cy="3756025"/>
        </p:xfrm>
        <a:graphic>
          <a:graphicData uri="http://schemas.openxmlformats.org/presentationml/2006/ole">
            <mc:AlternateContent xmlns:mc="http://schemas.openxmlformats.org/markup-compatibility/2006">
              <mc:Choice xmlns:v="urn:schemas-microsoft-com:vml" Requires="v">
                <p:oleObj spid="_x0000_s8271" name="VISIO" r:id="rId1" imgW="7226935" imgH="2792095" progId="Visio.Drawing.6">
                  <p:embed/>
                </p:oleObj>
              </mc:Choice>
              <mc:Fallback>
                <p:oleObj name="VISIO" r:id="rId1" imgW="7226935" imgH="2792095" progId="Visio.Drawing.6">
                  <p:embed/>
                  <p:pic>
                    <p:nvPicPr>
                      <p:cNvPr id="0" name="图片 82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43151"/>
                        <a:ext cx="9144000" cy="3756025"/>
                      </a:xfrm>
                      <a:prstGeom prst="rect">
                        <a:avLst/>
                      </a:prstGeom>
                      <a:solidFill>
                        <a:srgbClr val="FF99CC"/>
                      </a:solidFill>
                    </p:spPr>
                  </p:pic>
                </p:oleObj>
              </mc:Fallback>
            </mc:AlternateContent>
          </a:graphicData>
        </a:graphic>
      </p:graphicFrame>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914400" y="609600"/>
            <a:ext cx="10363200" cy="752669"/>
          </a:xfrm>
        </p:spPr>
        <p:txBody>
          <a:bodyPr/>
          <a:lstStyle/>
          <a:p>
            <a:r>
              <a:rPr lang="zh-CN" altLang="en-US" b="1" dirty="0">
                <a:solidFill>
                  <a:schemeClr val="hlink"/>
                </a:solidFill>
                <a:latin typeface="宋体" panose="02010600030101010101" pitchFamily="2" charset="-122"/>
              </a:rPr>
              <a:t>二、</a:t>
            </a:r>
            <a:r>
              <a:rPr lang="zh-CN" altLang="en-US" b="1" dirty="0">
                <a:solidFill>
                  <a:schemeClr val="hlink"/>
                </a:solidFill>
                <a:latin typeface="Times New Roman" panose="02020603050405020304" pitchFamily="18" charset="0"/>
                <a:cs typeface="Times New Roman" panose="02020603050405020304" pitchFamily="18" charset="0"/>
              </a:rPr>
              <a:t> </a:t>
            </a:r>
            <a:r>
              <a:rPr lang="zh-CN" altLang="en-US" b="1" dirty="0">
                <a:solidFill>
                  <a:schemeClr val="hlink"/>
                </a:solidFill>
                <a:latin typeface="宋体" panose="02010600030101010101" pitchFamily="2" charset="-122"/>
              </a:rPr>
              <a:t>应用层防火墙</a:t>
            </a:r>
            <a:endParaRPr lang="zh-CN" altLang="en-US" b="1" dirty="0">
              <a:solidFill>
                <a:schemeClr val="hlink"/>
              </a:solidFill>
              <a:latin typeface="宋体" panose="02010600030101010101" pitchFamily="2" charset="-122"/>
            </a:endParaRPr>
          </a:p>
        </p:txBody>
      </p:sp>
      <p:sp>
        <p:nvSpPr>
          <p:cNvPr id="64515" name="Rectangle 3"/>
          <p:cNvSpPr>
            <a:spLocks noGrp="1" noChangeArrowheads="1"/>
          </p:cNvSpPr>
          <p:nvPr>
            <p:ph type="body" idx="1"/>
          </p:nvPr>
        </p:nvSpPr>
        <p:spPr/>
        <p:txBody>
          <a:bodyPr/>
          <a:lstStyle/>
          <a:p>
            <a:pPr algn="just">
              <a:lnSpc>
                <a:spcPct val="140000"/>
              </a:lnSpc>
            </a:pPr>
            <a:r>
              <a:rPr lang="zh-CN" altLang="en-US" dirty="0" smtClean="0">
                <a:latin typeface="宋体" panose="02010600030101010101" pitchFamily="2" charset="-122"/>
              </a:rPr>
              <a:t>    应用层</a:t>
            </a:r>
            <a:r>
              <a:rPr lang="zh-CN" altLang="en-US" dirty="0">
                <a:latin typeface="宋体" panose="02010600030101010101" pitchFamily="2" charset="-122"/>
              </a:rPr>
              <a:t>防火墙就是在外部网络和可信网络之间运行</a:t>
            </a:r>
            <a:r>
              <a:rPr lang="zh-CN" altLang="en-US" b="1" dirty="0">
                <a:latin typeface="宋体" panose="02010600030101010101" pitchFamily="2" charset="-122"/>
              </a:rPr>
              <a:t>代理服务器</a:t>
            </a:r>
            <a:r>
              <a:rPr lang="zh-CN" altLang="en-US" dirty="0">
                <a:latin typeface="宋体" panose="02010600030101010101" pitchFamily="2" charset="-122"/>
              </a:rPr>
              <a:t>的主机。从用户一方来看，代理服务器是一个应用服务进程，该服务进程通过模拟目标资源，而为网络资源的请求进行服务。</a:t>
            </a:r>
            <a:r>
              <a:rPr lang="zh-CN" altLang="en-US" dirty="0"/>
              <a:t> </a:t>
            </a:r>
            <a:endParaRPr lang="zh-CN" altLang="en-US" dirty="0"/>
          </a:p>
          <a:p>
            <a:pPr>
              <a:lnSpc>
                <a:spcPct val="140000"/>
              </a:lnSpc>
            </a:pPr>
            <a:r>
              <a:rPr lang="zh-CN" altLang="en-US" dirty="0" smtClean="0">
                <a:latin typeface="宋体" panose="02010600030101010101" pitchFamily="2" charset="-122"/>
              </a:rPr>
              <a:t>    应用层</a:t>
            </a:r>
            <a:r>
              <a:rPr lang="zh-CN" altLang="en-US" dirty="0">
                <a:latin typeface="宋体" panose="02010600030101010101" pitchFamily="2" charset="-122"/>
              </a:rPr>
              <a:t>防火墙不允许网络之间的流量直接通过，而且对网络流量要进行精确地登录和审核。因为代理应用服务进程是运行在网络防火墙上的软件部分，所以在防火墙主机上进行事件的登录和管理访问控制策略都较为容易。</a:t>
            </a:r>
            <a:r>
              <a:rPr lang="zh-CN" altLang="en-US" dirty="0"/>
              <a:t> </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1141095" y="967105"/>
            <a:ext cx="987171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r>
              <a:rPr lang="zh-CN" altLang="en-US" sz="4200" b="1" dirty="0">
                <a:solidFill>
                  <a:schemeClr val="hlink"/>
                </a:solidFill>
                <a:highlight>
                  <a:srgbClr val="00FF00"/>
                </a:highlight>
                <a:latin typeface="宋体" panose="02010600030101010101" pitchFamily="2" charset="-122"/>
                <a:sym typeface="+mn-ea"/>
              </a:rPr>
              <a:t>应用层防火墙</a:t>
            </a:r>
            <a:r>
              <a:rPr lang="en-US" altLang="zh-CN" sz="4200" b="1" dirty="0">
                <a:solidFill>
                  <a:schemeClr val="hlink"/>
                </a:solidFill>
                <a:highlight>
                  <a:srgbClr val="00FF00"/>
                </a:highlight>
                <a:latin typeface="宋体" panose="02010600030101010101" pitchFamily="2" charset="-122"/>
                <a:sym typeface="+mn-ea"/>
              </a:rPr>
              <a:t>1</a:t>
            </a:r>
            <a:r>
              <a:rPr lang="zh-CN" altLang="en-US" sz="4200" b="1" dirty="0">
                <a:solidFill>
                  <a:schemeClr val="hlink"/>
                </a:solidFill>
                <a:highlight>
                  <a:srgbClr val="00FF00"/>
                </a:highlight>
                <a:latin typeface="宋体" panose="02010600030101010101" pitchFamily="2" charset="-122"/>
                <a:sym typeface="+mn-ea"/>
              </a:rPr>
              <a:t>：</a:t>
            </a:r>
            <a:r>
              <a:rPr lang="zh-CN" altLang="en-US" sz="4200" b="1">
                <a:latin typeface="黑体" panose="02010609060101010101" pitchFamily="49" charset="-122"/>
                <a:ea typeface="黑体" panose="02010609060101010101" pitchFamily="49" charset="-122"/>
              </a:rPr>
              <a:t>代理服务器主机防火墙</a:t>
            </a:r>
            <a:endParaRPr lang="zh-CN" altLang="en-US" sz="4200" b="1">
              <a:latin typeface="黑体" panose="02010609060101010101" pitchFamily="49" charset="-122"/>
              <a:ea typeface="黑体" panose="02010609060101010101" pitchFamily="49" charset="-122"/>
            </a:endParaRPr>
          </a:p>
        </p:txBody>
      </p:sp>
      <p:sp>
        <p:nvSpPr>
          <p:cNvPr id="66563" name="Rectangle 3"/>
          <p:cNvSpPr>
            <a:spLocks noChangeArrowheads="1"/>
          </p:cNvSpPr>
          <p:nvPr/>
        </p:nvSpPr>
        <p:spPr bwMode="auto">
          <a:xfrm>
            <a:off x="1524001" y="24870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66564" name="Object 4"/>
          <p:cNvGraphicFramePr>
            <a:graphicFrameLocks noChangeAspect="1"/>
          </p:cNvGraphicFramePr>
          <p:nvPr/>
        </p:nvGraphicFramePr>
        <p:xfrm>
          <a:off x="1524000" y="2671764"/>
          <a:ext cx="9144000" cy="3297237"/>
        </p:xfrm>
        <a:graphic>
          <a:graphicData uri="http://schemas.openxmlformats.org/presentationml/2006/ole">
            <mc:AlternateContent xmlns:mc="http://schemas.openxmlformats.org/markup-compatibility/2006">
              <mc:Choice xmlns:v="urn:schemas-microsoft-com:vml" Requires="v">
                <p:oleObj spid="_x0000_s9295" name="VISIO" r:id="rId1" imgW="5797550" imgH="2033270" progId="Visio.Drawing.6">
                  <p:embed/>
                </p:oleObj>
              </mc:Choice>
              <mc:Fallback>
                <p:oleObj name="VISIO" r:id="rId1" imgW="5797550" imgH="2033270" progId="Visio.Drawing.6">
                  <p:embed/>
                  <p:pic>
                    <p:nvPicPr>
                      <p:cNvPr id="0" name="图片 929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671764"/>
                        <a:ext cx="9144000" cy="3297237"/>
                      </a:xfrm>
                      <a:prstGeom prst="rect">
                        <a:avLst/>
                      </a:prstGeom>
                      <a:solidFill>
                        <a:srgbClr val="FF99CC"/>
                      </a:solidFill>
                    </p:spPr>
                  </p:pic>
                </p:oleObj>
              </mc:Fallback>
            </mc:AlternateContent>
          </a:graphicData>
        </a:graphic>
      </p:graphicFrame>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zh-CN" altLang="en-US" b="1" dirty="0">
                <a:solidFill>
                  <a:schemeClr val="hlink"/>
                </a:solidFill>
                <a:highlight>
                  <a:srgbClr val="00FF00"/>
                </a:highlight>
                <a:latin typeface="宋体" panose="02010600030101010101" pitchFamily="2" charset="-122"/>
                <a:sym typeface="+mn-ea"/>
              </a:rPr>
              <a:t>应用层防火墙</a:t>
            </a:r>
            <a:r>
              <a:rPr lang="en-US" altLang="zh-CN" b="1" dirty="0">
                <a:solidFill>
                  <a:schemeClr val="hlink"/>
                </a:solidFill>
                <a:highlight>
                  <a:srgbClr val="00FF00"/>
                </a:highlight>
                <a:latin typeface="宋体" panose="02010600030101010101" pitchFamily="2" charset="-122"/>
                <a:sym typeface="+mn-ea"/>
              </a:rPr>
              <a:t>2</a:t>
            </a:r>
            <a:r>
              <a:rPr lang="zh-CN" altLang="en-US" b="1" dirty="0">
                <a:solidFill>
                  <a:schemeClr val="hlink"/>
                </a:solidFill>
                <a:highlight>
                  <a:srgbClr val="00FF00"/>
                </a:highlight>
                <a:latin typeface="宋体" panose="02010600030101010101" pitchFamily="2" charset="-122"/>
                <a:sym typeface="+mn-ea"/>
              </a:rPr>
              <a:t>：</a:t>
            </a:r>
            <a:r>
              <a:rPr lang="zh-CN" altLang="en-US" b="1">
                <a:solidFill>
                  <a:schemeClr val="hlink"/>
                </a:solidFill>
                <a:latin typeface="Times New Roman" panose="02020603050405020304" pitchFamily="18" charset="0"/>
              </a:rPr>
              <a:t>双宿网关防火墙</a:t>
            </a:r>
            <a:r>
              <a:rPr lang="zh-CN" altLang="en-US"/>
              <a:t> </a:t>
            </a:r>
            <a:endParaRPr lang="zh-CN" altLang="en-US"/>
          </a:p>
        </p:txBody>
      </p:sp>
      <p:sp>
        <p:nvSpPr>
          <p:cNvPr id="67587" name="Rectangle 3"/>
          <p:cNvSpPr>
            <a:spLocks noGrp="1" noChangeArrowheads="1"/>
          </p:cNvSpPr>
          <p:nvPr>
            <p:ph type="body" idx="1"/>
          </p:nvPr>
        </p:nvSpPr>
        <p:spPr/>
        <p:txBody>
          <a:bodyPr/>
          <a:lstStyle/>
          <a:p>
            <a:pPr>
              <a:lnSpc>
                <a:spcPct val="150000"/>
              </a:lnSpc>
            </a:pPr>
            <a:r>
              <a:rPr lang="zh-CN" altLang="en-US" dirty="0" smtClean="0">
                <a:latin typeface="宋体" panose="02010600030101010101" pitchFamily="2" charset="-122"/>
              </a:rPr>
              <a:t>    另</a:t>
            </a:r>
            <a:r>
              <a:rPr lang="zh-CN" altLang="en-US" dirty="0">
                <a:latin typeface="宋体" panose="02010600030101010101" pitchFamily="2" charset="-122"/>
              </a:rPr>
              <a:t>一种类型的应用级防火墙（</a:t>
            </a:r>
            <a:r>
              <a:rPr lang="en-US" altLang="zh-CN" dirty="0">
                <a:cs typeface="Times New Roman" panose="02020603050405020304" pitchFamily="18" charset="0"/>
              </a:rPr>
              <a:t>Dual-Homed Gateway</a:t>
            </a:r>
            <a:r>
              <a:rPr lang="en-US" altLang="zh-CN" dirty="0">
                <a:latin typeface="宋体" panose="02010600030101010101" pitchFamily="2" charset="-122"/>
              </a:rPr>
              <a:t>）</a:t>
            </a:r>
            <a:r>
              <a:rPr lang="zh-CN" altLang="en-US" dirty="0">
                <a:latin typeface="宋体" panose="02010600030101010101" pitchFamily="2" charset="-122"/>
              </a:rPr>
              <a:t>是双宿网关防火墙。双宿网关由一个具有两个网络接口板的主计算机构成。主计算机系统是网络数据的存储仓库，并且具有网络应用程序。它应该有足够的磁盘存储空间，并且应该是网络备份策略的一部分。</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type="body" idx="1"/>
          </p:nvPr>
        </p:nvSpPr>
        <p:spPr>
          <a:xfrm>
            <a:off x="1236008" y="1157028"/>
            <a:ext cx="9639515" cy="4163008"/>
          </a:xfrm>
        </p:spPr>
        <p:txBody>
          <a:bodyPr/>
          <a:lstStyle/>
          <a:p>
            <a:pPr>
              <a:lnSpc>
                <a:spcPct val="140000"/>
              </a:lnSpc>
            </a:pPr>
            <a:r>
              <a:rPr lang="zh-CN" altLang="en-US" dirty="0">
                <a:latin typeface="宋体" panose="02010600030101010101" pitchFamily="2" charset="-122"/>
              </a:rPr>
              <a:t>双宿网关防火墙不允许任何</a:t>
            </a:r>
            <a:r>
              <a:rPr lang="en-US" altLang="zh-CN" dirty="0">
                <a:cs typeface="Times New Roman" panose="02020603050405020304" pitchFamily="18" charset="0"/>
              </a:rPr>
              <a:t>TCP/IP</a:t>
            </a:r>
            <a:r>
              <a:rPr lang="zh-CN" altLang="en-US" dirty="0">
                <a:latin typeface="宋体" panose="02010600030101010101" pitchFamily="2" charset="-122"/>
              </a:rPr>
              <a:t>流量通过，这有效地阻止了外部非信任网络和可信网络之间的</a:t>
            </a:r>
            <a:r>
              <a:rPr lang="en-US" altLang="zh-CN" dirty="0">
                <a:cs typeface="Times New Roman" panose="02020603050405020304" pitchFamily="18" charset="0"/>
              </a:rPr>
              <a:t>IP</a:t>
            </a:r>
            <a:r>
              <a:rPr lang="zh-CN" altLang="en-US" dirty="0">
                <a:latin typeface="宋体" panose="02010600030101010101" pitchFamily="2" charset="-122"/>
              </a:rPr>
              <a:t>数据包的随意通过。在网络</a:t>
            </a:r>
            <a:r>
              <a:rPr lang="en-US" altLang="zh-CN" dirty="0">
                <a:cs typeface="Times New Roman" panose="02020603050405020304" pitchFamily="18" charset="0"/>
              </a:rPr>
              <a:t>A</a:t>
            </a:r>
            <a:r>
              <a:rPr lang="zh-CN" altLang="en-US" dirty="0">
                <a:latin typeface="宋体" panose="02010600030101010101" pitchFamily="2" charset="-122"/>
              </a:rPr>
              <a:t>上的计算机</a:t>
            </a:r>
            <a:r>
              <a:rPr lang="en-US" altLang="zh-CN" dirty="0">
                <a:cs typeface="Times New Roman" panose="02020603050405020304" pitchFamily="18" charset="0"/>
              </a:rPr>
              <a:t>A</a:t>
            </a:r>
            <a:r>
              <a:rPr lang="zh-CN" altLang="en-US" dirty="0">
                <a:latin typeface="宋体" panose="02010600030101010101" pitchFamily="2" charset="-122"/>
              </a:rPr>
              <a:t>能够访问双宿网关主机上的应用程序</a:t>
            </a:r>
            <a:r>
              <a:rPr lang="en-US" altLang="zh-CN" dirty="0">
                <a:cs typeface="Times New Roman" panose="02020603050405020304" pitchFamily="18" charset="0"/>
              </a:rPr>
              <a:t>A</a:t>
            </a:r>
            <a:r>
              <a:rPr lang="en-US" altLang="zh-CN" dirty="0">
                <a:latin typeface="宋体" panose="02010600030101010101" pitchFamily="2" charset="-122"/>
              </a:rPr>
              <a:t>；</a:t>
            </a:r>
            <a:r>
              <a:rPr lang="zh-CN" altLang="en-US" dirty="0">
                <a:latin typeface="宋体" panose="02010600030101010101" pitchFamily="2" charset="-122"/>
              </a:rPr>
              <a:t>网络</a:t>
            </a:r>
            <a:r>
              <a:rPr lang="en-US" altLang="zh-CN" dirty="0">
                <a:cs typeface="Times New Roman" panose="02020603050405020304" pitchFamily="18" charset="0"/>
              </a:rPr>
              <a:t>B</a:t>
            </a:r>
            <a:r>
              <a:rPr lang="zh-CN" altLang="en-US" dirty="0">
                <a:latin typeface="宋体" panose="02010600030101010101" pitchFamily="2" charset="-122"/>
              </a:rPr>
              <a:t>上的计算机</a:t>
            </a:r>
            <a:r>
              <a:rPr lang="en-US" altLang="zh-CN" dirty="0">
                <a:cs typeface="Times New Roman" panose="02020603050405020304" pitchFamily="18" charset="0"/>
              </a:rPr>
              <a:t>B</a:t>
            </a:r>
            <a:r>
              <a:rPr lang="zh-CN" altLang="en-US" dirty="0">
                <a:latin typeface="宋体" panose="02010600030101010101" pitchFamily="2" charset="-122"/>
              </a:rPr>
              <a:t>能够访问双宿网关主机上的应用程序</a:t>
            </a:r>
            <a:r>
              <a:rPr lang="en-US" altLang="zh-CN" dirty="0">
                <a:cs typeface="Times New Roman" panose="02020603050405020304" pitchFamily="18" charset="0"/>
              </a:rPr>
              <a:t>B</a:t>
            </a:r>
            <a:r>
              <a:rPr lang="en-US" altLang="zh-CN" dirty="0">
                <a:latin typeface="宋体" panose="02010600030101010101" pitchFamily="2" charset="-122"/>
              </a:rPr>
              <a:t>。</a:t>
            </a:r>
            <a:r>
              <a:rPr lang="zh-CN" altLang="en-US" dirty="0">
                <a:latin typeface="宋体" panose="02010600030101010101" pitchFamily="2" charset="-122"/>
              </a:rPr>
              <a:t>应用程序</a:t>
            </a:r>
            <a:r>
              <a:rPr lang="en-US" altLang="zh-CN" dirty="0">
                <a:cs typeface="Times New Roman" panose="02020603050405020304" pitchFamily="18" charset="0"/>
              </a:rPr>
              <a:t>A</a:t>
            </a:r>
            <a:r>
              <a:rPr lang="zh-CN" altLang="en-US" dirty="0">
                <a:latin typeface="宋体" panose="02010600030101010101" pitchFamily="2" charset="-122"/>
              </a:rPr>
              <a:t>和应用程序</a:t>
            </a:r>
            <a:r>
              <a:rPr lang="en-US" altLang="zh-CN" dirty="0">
                <a:cs typeface="Times New Roman" panose="02020603050405020304" pitchFamily="18" charset="0"/>
              </a:rPr>
              <a:t>B</a:t>
            </a:r>
            <a:r>
              <a:rPr lang="zh-CN" altLang="en-US" dirty="0">
                <a:latin typeface="宋体" panose="02010600030101010101" pitchFamily="2" charset="-122"/>
              </a:rPr>
              <a:t>都能够访问存储在双宿网关主机上的数据，但是，不允许任何网络流量在这两个网络之间通过。</a:t>
            </a:r>
            <a:endParaRPr lang="zh-CN" altLang="en-US" dirty="0">
              <a:latin typeface="宋体" panose="02010600030101010101" pitchFamily="2" charset="-122"/>
            </a:endParaRPr>
          </a:p>
          <a:p>
            <a:pPr>
              <a:lnSpc>
                <a:spcPct val="140000"/>
              </a:lnSpc>
            </a:pPr>
            <a:r>
              <a:rPr lang="zh-CN" altLang="en-US" dirty="0">
                <a:latin typeface="宋体" panose="02010600030101010101" pitchFamily="2" charset="-122"/>
              </a:rPr>
              <a:t>有几种类型的双宿网关防火墙</a:t>
            </a:r>
            <a:r>
              <a:rPr lang="zh-CN" altLang="en-US" dirty="0"/>
              <a:t>  </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zh-CN" altLang="en-US" b="1">
                <a:solidFill>
                  <a:schemeClr val="hlink"/>
                </a:solidFill>
                <a:latin typeface="Times New Roman" panose="02020603050405020304" pitchFamily="18" charset="0"/>
                <a:cs typeface="Times New Roman" panose="02020603050405020304" pitchFamily="18" charset="0"/>
              </a:rPr>
              <a:t>(1) </a:t>
            </a:r>
            <a:r>
              <a:rPr lang="zh-CN" altLang="en-US" b="1">
                <a:solidFill>
                  <a:schemeClr val="hlink"/>
                </a:solidFill>
                <a:latin typeface="宋体" panose="02010600030101010101" pitchFamily="2" charset="-122"/>
              </a:rPr>
              <a:t>具有应用转发器的双宿网关防火墙</a:t>
            </a:r>
            <a:endParaRPr lang="zh-CN" altLang="en-US" b="1">
              <a:solidFill>
                <a:schemeClr val="hlink"/>
              </a:solidFill>
              <a:latin typeface="宋体" panose="02010600030101010101" pitchFamily="2" charset="-122"/>
            </a:endParaRPr>
          </a:p>
        </p:txBody>
      </p:sp>
      <p:sp>
        <p:nvSpPr>
          <p:cNvPr id="69635" name="Rectangle 3"/>
          <p:cNvSpPr>
            <a:spLocks noGrp="1" noChangeArrowheads="1"/>
          </p:cNvSpPr>
          <p:nvPr>
            <p:ph type="body" idx="1"/>
          </p:nvPr>
        </p:nvSpPr>
        <p:spPr/>
        <p:txBody>
          <a:bodyPr/>
          <a:lstStyle/>
          <a:p>
            <a:pPr>
              <a:lnSpc>
                <a:spcPct val="150000"/>
              </a:lnSpc>
            </a:pPr>
            <a:r>
              <a:rPr lang="zh-CN" altLang="en-US" dirty="0" smtClean="0">
                <a:latin typeface="宋体" panose="02010600030101010101" pitchFamily="2" charset="-122"/>
              </a:rPr>
              <a:t>   在</a:t>
            </a:r>
            <a:r>
              <a:rPr lang="zh-CN" altLang="en-US" dirty="0">
                <a:latin typeface="宋体" panose="02010600030101010101" pitchFamily="2" charset="-122"/>
              </a:rPr>
              <a:t>一个双宿网关上添加</a:t>
            </a:r>
            <a:r>
              <a:rPr lang="zh-CN" altLang="en-US" b="1" dirty="0">
                <a:latin typeface="宋体" panose="02010600030101010101" pitchFamily="2" charset="-122"/>
              </a:rPr>
              <a:t>应用转发器（</a:t>
            </a:r>
            <a:r>
              <a:rPr lang="en-US" altLang="zh-CN" b="1" dirty="0">
                <a:cs typeface="Times New Roman" panose="02020603050405020304" pitchFamily="18" charset="0"/>
              </a:rPr>
              <a:t>Application forwarder</a:t>
            </a:r>
            <a:r>
              <a:rPr lang="en-US" altLang="zh-CN" b="1" dirty="0">
                <a:latin typeface="宋体" panose="02010600030101010101" pitchFamily="2" charset="-122"/>
              </a:rPr>
              <a:t>）</a:t>
            </a:r>
            <a:r>
              <a:rPr lang="en-US" altLang="zh-CN" dirty="0">
                <a:latin typeface="宋体" panose="02010600030101010101" pitchFamily="2" charset="-122"/>
              </a:rPr>
              <a:t>，</a:t>
            </a:r>
            <a:r>
              <a:rPr lang="zh-CN" altLang="en-US" dirty="0">
                <a:latin typeface="宋体" panose="02010600030101010101" pitchFamily="2" charset="-122"/>
              </a:rPr>
              <a:t>用户就可以获得应用服务，这种设计非常像代理服务器主机。图</a:t>
            </a:r>
            <a:r>
              <a:rPr lang="zh-CN" altLang="en-US" dirty="0">
                <a:cs typeface="Times New Roman" panose="02020603050405020304" pitchFamily="18" charset="0"/>
              </a:rPr>
              <a:t>5-</a:t>
            </a:r>
            <a:r>
              <a:rPr lang="en-US" altLang="zh-CN" dirty="0">
                <a:cs typeface="Times New Roman" panose="02020603050405020304" pitchFamily="18" charset="0"/>
              </a:rPr>
              <a:t>1</a:t>
            </a:r>
            <a:r>
              <a:rPr lang="zh-CN" altLang="en-US" dirty="0">
                <a:cs typeface="Times New Roman" panose="02020603050405020304" pitchFamily="18" charset="0"/>
              </a:rPr>
              <a:t>0</a:t>
            </a:r>
            <a:r>
              <a:rPr lang="zh-CN" altLang="en-US" dirty="0">
                <a:latin typeface="宋体" panose="02010600030101010101" pitchFamily="2" charset="-122"/>
              </a:rPr>
              <a:t>是一个具有应用转发器的双宿网关防火墙的示意图。</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p:cNvSpPr>
          <p:nvPr/>
        </p:nvSpPr>
        <p:spPr bwMode="auto">
          <a:xfrm>
            <a:off x="2727650" y="5764764"/>
            <a:ext cx="81010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r>
              <a:rPr lang="zh-CN" altLang="en-US" sz="2400" b="1" dirty="0">
                <a:latin typeface="宋体" panose="02010600030101010101" pitchFamily="2" charset="-122"/>
              </a:rPr>
              <a:t>图</a:t>
            </a:r>
            <a:r>
              <a:rPr lang="zh-CN" altLang="en-US" sz="2400" b="1" dirty="0">
                <a:latin typeface="Times New Roman" panose="02020603050405020304" pitchFamily="18" charset="0"/>
                <a:cs typeface="Times New Roman" panose="02020603050405020304" pitchFamily="18" charset="0"/>
              </a:rPr>
              <a:t>5</a:t>
            </a:r>
            <a:r>
              <a:rPr lang="zh-CN" altLang="en-US"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0  </a:t>
            </a:r>
            <a:r>
              <a:rPr lang="zh-CN" altLang="en-US" sz="2400" b="1" dirty="0">
                <a:latin typeface="宋体" panose="02010600030101010101" pitchFamily="2" charset="-122"/>
              </a:rPr>
              <a:t>具有应用转发器的双宿网关防火墙</a:t>
            </a:r>
            <a:r>
              <a:rPr lang="zh-CN" altLang="en-US" sz="4200" b="1" dirty="0">
                <a:latin typeface="黑体" panose="02010609060101010101" pitchFamily="49" charset="-122"/>
                <a:ea typeface="黑体" panose="02010609060101010101" pitchFamily="49" charset="-122"/>
              </a:rPr>
              <a:t> </a:t>
            </a:r>
            <a:endParaRPr lang="zh-CN" altLang="en-US" sz="4200" b="1" dirty="0">
              <a:latin typeface="黑体" panose="02010609060101010101" pitchFamily="49" charset="-122"/>
              <a:ea typeface="黑体" panose="02010609060101010101" pitchFamily="49" charset="-122"/>
            </a:endParaRPr>
          </a:p>
        </p:txBody>
      </p:sp>
      <p:sp>
        <p:nvSpPr>
          <p:cNvPr id="70659" name="Rectangle 3"/>
          <p:cNvSpPr>
            <a:spLocks noChangeArrowheads="1"/>
          </p:cNvSpPr>
          <p:nvPr/>
        </p:nvSpPr>
        <p:spPr bwMode="auto">
          <a:xfrm>
            <a:off x="1524001" y="2382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70660" name="Object 4"/>
          <p:cNvGraphicFramePr>
            <a:graphicFrameLocks noChangeAspect="1"/>
          </p:cNvGraphicFramePr>
          <p:nvPr/>
        </p:nvGraphicFramePr>
        <p:xfrm>
          <a:off x="1828800" y="1905000"/>
          <a:ext cx="8686800" cy="4006850"/>
        </p:xfrm>
        <a:graphic>
          <a:graphicData uri="http://schemas.openxmlformats.org/presentationml/2006/ole">
            <mc:AlternateContent xmlns:mc="http://schemas.openxmlformats.org/markup-compatibility/2006">
              <mc:Choice xmlns:v="urn:schemas-microsoft-com:vml" Requires="v">
                <p:oleObj spid="_x0000_s10319" name="VISIO" r:id="rId1" imgW="5361305" imgH="2404745" progId="Visio.Drawing.6">
                  <p:embed/>
                </p:oleObj>
              </mc:Choice>
              <mc:Fallback>
                <p:oleObj name="VISIO" r:id="rId1" imgW="5361305" imgH="2404745" progId="Visio.Drawing.6">
                  <p:embed/>
                  <p:pic>
                    <p:nvPicPr>
                      <p:cNvPr id="0" name="图片 103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905000"/>
                        <a:ext cx="8686800" cy="4006850"/>
                      </a:xfrm>
                      <a:prstGeom prst="rect">
                        <a:avLst/>
                      </a:prstGeom>
                      <a:solidFill>
                        <a:srgbClr val="FF99CC"/>
                      </a:solidFill>
                    </p:spPr>
                  </p:pic>
                </p:oleObj>
              </mc:Fallback>
            </mc:AlternateContent>
          </a:graphicData>
        </a:graphic>
      </p:graphicFrame>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zh-CN" altLang="en-US" sz="3200" b="1">
                <a:solidFill>
                  <a:schemeClr val="hlink"/>
                </a:solidFill>
                <a:latin typeface="Times New Roman" panose="02020603050405020304" pitchFamily="18" charset="0"/>
                <a:cs typeface="Times New Roman" panose="02020603050405020304" pitchFamily="18" charset="0"/>
              </a:rPr>
              <a:t>(2) </a:t>
            </a:r>
            <a:r>
              <a:rPr lang="zh-CN" altLang="en-US" sz="3200" b="1">
                <a:solidFill>
                  <a:schemeClr val="hlink"/>
                </a:solidFill>
                <a:latin typeface="宋体" panose="02010600030101010101" pitchFamily="2" charset="-122"/>
              </a:rPr>
              <a:t>具有邮件或新闻转发器的双宿网关防火墙</a:t>
            </a:r>
            <a:r>
              <a:rPr lang="zh-CN" altLang="en-US"/>
              <a:t> </a:t>
            </a:r>
            <a:endParaRPr lang="zh-CN" altLang="en-US"/>
          </a:p>
        </p:txBody>
      </p:sp>
      <p:sp>
        <p:nvSpPr>
          <p:cNvPr id="71683" name="Rectangle 3"/>
          <p:cNvSpPr>
            <a:spLocks noGrp="1" noChangeArrowheads="1"/>
          </p:cNvSpPr>
          <p:nvPr>
            <p:ph type="body" idx="1"/>
          </p:nvPr>
        </p:nvSpPr>
        <p:spPr/>
        <p:txBody>
          <a:bodyPr/>
          <a:lstStyle/>
          <a:p>
            <a:pPr>
              <a:lnSpc>
                <a:spcPct val="150000"/>
              </a:lnSpc>
            </a:pPr>
            <a:r>
              <a:rPr lang="zh-CN" altLang="en-US" dirty="0" smtClean="0">
                <a:latin typeface="宋体" panose="02010600030101010101" pitchFamily="2" charset="-122"/>
              </a:rPr>
              <a:t>    具有</a:t>
            </a:r>
            <a:r>
              <a:rPr lang="zh-CN" altLang="en-US" dirty="0">
                <a:latin typeface="宋体" panose="02010600030101010101" pitchFamily="2" charset="-122"/>
              </a:rPr>
              <a:t>邮件转发器的双宿网关，允许邮件从一个网络安全地转发到另一个网络。同理，具有新闻转发器的双宿网关也允许新闻（如</a:t>
            </a:r>
            <a:r>
              <a:rPr lang="en-US" altLang="zh-CN" dirty="0">
                <a:cs typeface="Times New Roman" panose="02020603050405020304" pitchFamily="18" charset="0"/>
              </a:rPr>
              <a:t>NNTP</a:t>
            </a:r>
            <a:r>
              <a:rPr lang="en-US" altLang="zh-CN" dirty="0">
                <a:latin typeface="宋体" panose="02010600030101010101" pitchFamily="2" charset="-122"/>
              </a:rPr>
              <a:t>）</a:t>
            </a:r>
            <a:r>
              <a:rPr lang="zh-CN" altLang="en-US" dirty="0">
                <a:latin typeface="宋体" panose="02010600030101010101" pitchFamily="2" charset="-122"/>
              </a:rPr>
              <a:t>从一个网络转发的另一个网络。图</a:t>
            </a:r>
            <a:r>
              <a:rPr lang="zh-CN" altLang="en-US" dirty="0">
                <a:cs typeface="Times New Roman" panose="02020603050405020304" pitchFamily="18" charset="0"/>
              </a:rPr>
              <a:t>5-</a:t>
            </a:r>
            <a:r>
              <a:rPr lang="en-US" altLang="zh-CN" dirty="0">
                <a:cs typeface="Times New Roman" panose="02020603050405020304" pitchFamily="18" charset="0"/>
              </a:rPr>
              <a:t>1</a:t>
            </a:r>
            <a:r>
              <a:rPr lang="zh-CN" altLang="en-US" dirty="0">
                <a:cs typeface="Times New Roman" panose="02020603050405020304" pitchFamily="18" charset="0"/>
              </a:rPr>
              <a:t>1</a:t>
            </a:r>
            <a:r>
              <a:rPr lang="zh-CN" altLang="en-US" dirty="0">
                <a:latin typeface="宋体" panose="02010600030101010101" pitchFamily="2" charset="-122"/>
              </a:rPr>
              <a:t>是一个具有邮件或新闻转发器的双宿网关防火墙示意图。</a:t>
            </a:r>
            <a:r>
              <a:rPr lang="zh-CN" altLang="en-US" dirty="0"/>
              <a:t> </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1387150" y="5602287"/>
            <a:ext cx="9529665"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r>
              <a:rPr lang="zh-CN" altLang="en-US" sz="2400" dirty="0">
                <a:latin typeface="宋体" panose="02010600030101010101" pitchFamily="2" charset="-122"/>
              </a:rPr>
              <a:t>图</a:t>
            </a:r>
            <a:r>
              <a:rPr lang="zh-CN" altLang="en-US" sz="2400" dirty="0">
                <a:latin typeface="Times New Roman" panose="02020603050405020304" pitchFamily="18" charset="0"/>
                <a:cs typeface="Times New Roman" panose="02020603050405020304" pitchFamily="18" charset="0"/>
              </a:rPr>
              <a:t>5</a:t>
            </a:r>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1</a:t>
            </a:r>
            <a:r>
              <a:rPr lang="zh-CN" altLang="en-US" sz="2400" dirty="0" smtClean="0">
                <a:latin typeface="Times New Roman" panose="02020603050405020304" pitchFamily="18" charset="0"/>
                <a:cs typeface="Times New Roman" panose="02020603050405020304" pitchFamily="18" charset="0"/>
              </a:rPr>
              <a:t>1</a:t>
            </a:r>
            <a:r>
              <a:rPr lang="zh-CN" altLang="en-US" sz="2400" dirty="0">
                <a:latin typeface="宋体" panose="02010600030101010101" pitchFamily="2" charset="-122"/>
              </a:rPr>
              <a:t>是一个具有邮件或新闻转发器</a:t>
            </a:r>
            <a:r>
              <a:rPr lang="zh-CN" altLang="en-US" sz="2400" dirty="0" smtClean="0">
                <a:latin typeface="宋体" panose="02010600030101010101" pitchFamily="2" charset="-122"/>
              </a:rPr>
              <a:t>的双</a:t>
            </a:r>
            <a:r>
              <a:rPr lang="zh-CN" altLang="en-US" sz="2400" dirty="0">
                <a:latin typeface="宋体" panose="02010600030101010101" pitchFamily="2" charset="-122"/>
              </a:rPr>
              <a:t>宿网关防火墙</a:t>
            </a:r>
            <a:endParaRPr lang="zh-CN" altLang="en-US" sz="2400" dirty="0">
              <a:latin typeface="宋体" panose="02010600030101010101" pitchFamily="2" charset="-122"/>
            </a:endParaRPr>
          </a:p>
        </p:txBody>
      </p:sp>
      <p:sp>
        <p:nvSpPr>
          <p:cNvPr id="72707" name="Rectangle 3"/>
          <p:cNvSpPr>
            <a:spLocks noChangeArrowheads="1"/>
          </p:cNvSpPr>
          <p:nvPr/>
        </p:nvSpPr>
        <p:spPr bwMode="auto">
          <a:xfrm>
            <a:off x="1524001" y="2382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2708" name="Rectangle 4"/>
          <p:cNvSpPr>
            <a:spLocks noChangeArrowheads="1"/>
          </p:cNvSpPr>
          <p:nvPr/>
        </p:nvSpPr>
        <p:spPr bwMode="auto">
          <a:xfrm>
            <a:off x="1524001" y="20965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72709" name="Object 5"/>
          <p:cNvGraphicFramePr>
            <a:graphicFrameLocks noChangeAspect="1"/>
          </p:cNvGraphicFramePr>
          <p:nvPr/>
        </p:nvGraphicFramePr>
        <p:xfrm>
          <a:off x="2477278" y="1094090"/>
          <a:ext cx="7019925" cy="4560888"/>
        </p:xfrm>
        <a:graphic>
          <a:graphicData uri="http://schemas.openxmlformats.org/presentationml/2006/ole">
            <mc:AlternateContent xmlns:mc="http://schemas.openxmlformats.org/markup-compatibility/2006">
              <mc:Choice xmlns:v="urn:schemas-microsoft-com:vml" Requires="v">
                <p:oleObj spid="_x0000_s11343" name="VISIO" r:id="rId1" imgW="5361305" imgH="3295015" progId="Visio.Drawing.6">
                  <p:embed/>
                </p:oleObj>
              </mc:Choice>
              <mc:Fallback>
                <p:oleObj name="VISIO" r:id="rId1" imgW="5361305" imgH="3295015" progId="Visio.Drawing.6">
                  <p:embed/>
                  <p:pic>
                    <p:nvPicPr>
                      <p:cNvPr id="0" name="图片 113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7278" y="1094090"/>
                        <a:ext cx="7019925" cy="4560888"/>
                      </a:xfrm>
                      <a:prstGeom prst="rect">
                        <a:avLst/>
                      </a:prstGeom>
                      <a:solidFill>
                        <a:srgbClr val="FF99CC"/>
                      </a:solidFill>
                    </p:spPr>
                  </p:pic>
                </p:oleObj>
              </mc:Fallback>
            </mc:AlternateContent>
          </a:graphicData>
        </a:graphic>
      </p:graphicFrame>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981200" y="609600"/>
            <a:ext cx="8229600" cy="1143000"/>
          </a:xfrm>
        </p:spPr>
        <p:txBody>
          <a:bodyPr/>
          <a:lstStyle/>
          <a:p>
            <a:r>
              <a:rPr lang="zh-CN" altLang="en-US" b="1" dirty="0">
                <a:solidFill>
                  <a:schemeClr val="hlink"/>
                </a:solidFill>
                <a:latin typeface="宋体" panose="02010600030101010101" pitchFamily="2" charset="-122"/>
              </a:rPr>
              <a:t>（</a:t>
            </a:r>
            <a:r>
              <a:rPr lang="zh-CN" altLang="en-US" b="1" dirty="0">
                <a:solidFill>
                  <a:schemeClr val="hlink"/>
                </a:solidFill>
                <a:latin typeface="Times New Roman" panose="02020603050405020304" pitchFamily="18" charset="0"/>
                <a:cs typeface="Times New Roman" panose="02020603050405020304" pitchFamily="18" charset="0"/>
              </a:rPr>
              <a:t>3</a:t>
            </a:r>
            <a:r>
              <a:rPr lang="zh-CN" altLang="en-US" b="1" dirty="0">
                <a:solidFill>
                  <a:schemeClr val="hlink"/>
                </a:solidFill>
                <a:latin typeface="宋体" panose="02010600030101010101" pitchFamily="2" charset="-122"/>
              </a:rPr>
              <a:t>）使用双宿网关防火墙的注意事项</a:t>
            </a:r>
            <a:endParaRPr lang="zh-CN" altLang="en-US" b="1" dirty="0">
              <a:solidFill>
                <a:schemeClr val="hlink"/>
              </a:solidFill>
              <a:latin typeface="宋体" panose="02010600030101010101" pitchFamily="2" charset="-122"/>
            </a:endParaRPr>
          </a:p>
        </p:txBody>
      </p:sp>
      <p:sp>
        <p:nvSpPr>
          <p:cNvPr id="73731" name="Rectangle 3"/>
          <p:cNvSpPr>
            <a:spLocks noGrp="1" noChangeArrowheads="1"/>
          </p:cNvSpPr>
          <p:nvPr>
            <p:ph type="body" idx="1"/>
          </p:nvPr>
        </p:nvSpPr>
        <p:spPr>
          <a:xfrm>
            <a:off x="1216090" y="1514272"/>
            <a:ext cx="9759820" cy="4114800"/>
          </a:xfrm>
        </p:spPr>
        <p:txBody>
          <a:bodyPr/>
          <a:lstStyle/>
          <a:p>
            <a:pPr>
              <a:lnSpc>
                <a:spcPct val="150000"/>
              </a:lnSpc>
            </a:pPr>
            <a:r>
              <a:rPr lang="zh-CN" altLang="en-US" dirty="0" smtClean="0">
                <a:latin typeface="宋体" panose="02010600030101010101" pitchFamily="2" charset="-122"/>
              </a:rPr>
              <a:t>    为了</a:t>
            </a:r>
            <a:r>
              <a:rPr lang="zh-CN" altLang="en-US" dirty="0">
                <a:latin typeface="宋体" panose="02010600030101010101" pitchFamily="2" charset="-122"/>
              </a:rPr>
              <a:t>使双宿网关有效地发挥防火墙的作用，</a:t>
            </a:r>
            <a:r>
              <a:rPr lang="zh-CN" altLang="en-US" b="1" dirty="0">
                <a:latin typeface="宋体" panose="02010600030101010101" pitchFamily="2" charset="-122"/>
              </a:rPr>
              <a:t>必须被禁止其主计算机上的网络接口板之间的路由功能！</a:t>
            </a:r>
            <a:r>
              <a:rPr lang="zh-CN" altLang="en-US" dirty="0">
                <a:latin typeface="宋体" panose="02010600030101010101" pitchFamily="2" charset="-122"/>
              </a:rPr>
              <a:t>这就迫使数据只能在应用级交换</a:t>
            </a:r>
            <a:r>
              <a:rPr lang="zh-CN" altLang="en-US" dirty="0" smtClean="0">
                <a:latin typeface="宋体" panose="02010600030101010101" pitchFamily="2" charset="-122"/>
              </a:rPr>
              <a:t>。这是这种防火墙保持安全性的基本原理。</a:t>
            </a:r>
            <a:r>
              <a:rPr lang="zh-CN" altLang="en-US" dirty="0" smtClean="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a:t> 降低双宿网关防火墙</a:t>
            </a:r>
            <a:r>
              <a:rPr lang="zh-CN" altLang="en-US"/>
              <a:t>安全性能的</a:t>
            </a:r>
            <a:r>
              <a:rPr lang="zh-CN" altLang="en-US"/>
              <a:t>一些因素：</a:t>
            </a:r>
            <a:endParaRPr lang="zh-CN" altLang="en-US"/>
          </a:p>
        </p:txBody>
      </p:sp>
      <p:sp>
        <p:nvSpPr>
          <p:cNvPr id="74755" name="Rectangle 3"/>
          <p:cNvSpPr>
            <a:spLocks noGrp="1" noChangeArrowheads="1"/>
          </p:cNvSpPr>
          <p:nvPr>
            <p:ph type="body" idx="1"/>
          </p:nvPr>
        </p:nvSpPr>
        <p:spPr/>
        <p:txBody>
          <a:bodyPr/>
          <a:lstStyle/>
          <a:p>
            <a:pPr fontAlgn="auto">
              <a:lnSpc>
                <a:spcPct val="100000"/>
              </a:lnSpc>
            </a:pPr>
            <a:r>
              <a:rPr lang="zh-CN" altLang="en-US">
                <a:cs typeface="Times New Roman" panose="02020603050405020304" pitchFamily="18" charset="0"/>
              </a:rPr>
              <a:t>1</a:t>
            </a:r>
            <a:r>
              <a:rPr lang="zh-CN" altLang="en-US">
                <a:latin typeface="宋体" panose="02010600030101010101" pitchFamily="2" charset="-122"/>
              </a:rPr>
              <a:t>）一是</a:t>
            </a:r>
            <a:r>
              <a:rPr lang="zh-CN" altLang="en-US">
                <a:highlight>
                  <a:srgbClr val="FFFF00"/>
                </a:highlight>
                <a:latin typeface="宋体" panose="02010600030101010101" pitchFamily="2" charset="-122"/>
              </a:rPr>
              <a:t>文件许可权限设置不正确</a:t>
            </a:r>
            <a:r>
              <a:rPr lang="zh-CN" altLang="en-US">
                <a:latin typeface="宋体" panose="02010600030101010101" pitchFamily="2" charset="-122"/>
              </a:rPr>
              <a:t>。如果文件许可权限设置得不正确，则可能允许非法用户对系统文件的访问，特别是访那些控制访问策略和路由配置信息的系统文件时，所造成的危害更大。其结果可能是入侵者对系统的访问控制策略进行修改，允许入侵者获得对整个系统的访问权。入侵者修改系统路由表，使得发送到系统的某些信息就被转发给入侵者。</a:t>
            </a:r>
            <a:r>
              <a:rPr lang="zh-CN" altLang="en-US"/>
              <a:t> </a:t>
            </a:r>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a:t> </a:t>
            </a:r>
            <a:endParaRPr lang="zh-CN" altLang="en-US"/>
          </a:p>
        </p:txBody>
      </p:sp>
      <p:sp>
        <p:nvSpPr>
          <p:cNvPr id="75779" name="Rectangle 3"/>
          <p:cNvSpPr>
            <a:spLocks noGrp="1" noChangeArrowheads="1"/>
          </p:cNvSpPr>
          <p:nvPr>
            <p:ph type="body" idx="1"/>
          </p:nvPr>
        </p:nvSpPr>
        <p:spPr>
          <a:xfrm>
            <a:off x="1981200" y="609600"/>
            <a:ext cx="8495030" cy="5486400"/>
          </a:xfrm>
        </p:spPr>
        <p:txBody>
          <a:bodyPr/>
          <a:lstStyle/>
          <a:p>
            <a:pPr fontAlgn="auto">
              <a:lnSpc>
                <a:spcPct val="100000"/>
              </a:lnSpc>
            </a:pPr>
            <a:r>
              <a:rPr lang="zh-CN" altLang="en-US">
                <a:cs typeface="Times New Roman" panose="02020603050405020304" pitchFamily="18" charset="0"/>
              </a:rPr>
              <a:t>2</a:t>
            </a:r>
            <a:r>
              <a:rPr lang="zh-CN" altLang="en-US">
                <a:latin typeface="宋体" panose="02010600030101010101" pitchFamily="2" charset="-122"/>
              </a:rPr>
              <a:t>）</a:t>
            </a:r>
            <a:r>
              <a:rPr lang="en-US" altLang="zh-CN">
                <a:cs typeface="Times New Roman" panose="02020603050405020304" pitchFamily="18" charset="0"/>
              </a:rPr>
              <a:t>UNIX</a:t>
            </a:r>
            <a:r>
              <a:rPr lang="zh-CN" altLang="en-US">
                <a:latin typeface="宋体" panose="02010600030101010101" pitchFamily="2" charset="-122"/>
              </a:rPr>
              <a:t>的</a:t>
            </a:r>
            <a:r>
              <a:rPr lang="en-US" altLang="zh-CN">
                <a:cs typeface="Times New Roman" panose="02020603050405020304" pitchFamily="18" charset="0"/>
              </a:rPr>
              <a:t>Shell</a:t>
            </a:r>
            <a:r>
              <a:rPr lang="zh-CN" altLang="en-US">
                <a:latin typeface="宋体" panose="02010600030101010101" pitchFamily="2" charset="-122"/>
              </a:rPr>
              <a:t>脚本（</a:t>
            </a:r>
            <a:r>
              <a:rPr lang="en-US" altLang="zh-CN">
                <a:cs typeface="Times New Roman" panose="02020603050405020304" pitchFamily="18" charset="0"/>
              </a:rPr>
              <a:t>unix shell script</a:t>
            </a:r>
            <a:r>
              <a:rPr lang="en-US" altLang="zh-CN">
                <a:latin typeface="宋体" panose="02010600030101010101" pitchFamily="2" charset="-122"/>
              </a:rPr>
              <a:t>）</a:t>
            </a:r>
            <a:r>
              <a:rPr lang="zh-CN" altLang="en-US">
                <a:latin typeface="宋体" panose="02010600030101010101" pitchFamily="2" charset="-122"/>
              </a:rPr>
              <a:t>能够使得受禁止的</a:t>
            </a:r>
            <a:r>
              <a:rPr lang="en-US" altLang="zh-CN">
                <a:cs typeface="Times New Roman" panose="02020603050405020304" pitchFamily="18" charset="0"/>
              </a:rPr>
              <a:t>IP</a:t>
            </a:r>
            <a:r>
              <a:rPr lang="zh-CN" altLang="en-US">
                <a:latin typeface="宋体" panose="02010600030101010101" pitchFamily="2" charset="-122"/>
              </a:rPr>
              <a:t>选路功能重新使能。</a:t>
            </a:r>
            <a:r>
              <a:rPr lang="en-US" altLang="zh-CN">
                <a:cs typeface="Times New Roman" panose="02020603050405020304" pitchFamily="18" charset="0"/>
              </a:rPr>
              <a:t>UNIX Shell</a:t>
            </a:r>
            <a:r>
              <a:rPr lang="zh-CN" altLang="en-US">
                <a:latin typeface="宋体" panose="02010600030101010101" pitchFamily="2" charset="-122"/>
              </a:rPr>
              <a:t>脚本能够发出命令，当以管理员身份运行时，能够使</a:t>
            </a:r>
            <a:r>
              <a:rPr lang="en-US" altLang="zh-CN">
                <a:cs typeface="Times New Roman" panose="02020603050405020304" pitchFamily="18" charset="0"/>
              </a:rPr>
              <a:t>IP</a:t>
            </a:r>
            <a:r>
              <a:rPr lang="zh-CN" altLang="en-US">
                <a:latin typeface="宋体" panose="02010600030101010101" pitchFamily="2" charset="-122"/>
              </a:rPr>
              <a:t>选路使能。这就允许非信任的网络流量能够穿越双宿网关防火墙。</a:t>
            </a:r>
            <a:r>
              <a:rPr lang="zh-CN" altLang="en-US"/>
              <a:t> </a:t>
            </a:r>
            <a:endParaRPr lang="zh-CN" altLang="en-US"/>
          </a:p>
          <a:p>
            <a:pPr fontAlgn="auto">
              <a:lnSpc>
                <a:spcPct val="100000"/>
              </a:lnSpc>
            </a:pPr>
            <a:r>
              <a:rPr lang="zh-CN" altLang="en-US">
                <a:cs typeface="Times New Roman" panose="02020603050405020304" pitchFamily="18" charset="0"/>
              </a:rPr>
              <a:t>3</a:t>
            </a:r>
            <a:r>
              <a:rPr lang="zh-CN" altLang="en-US">
                <a:latin typeface="宋体" panose="02010600030101010101" pitchFamily="2" charset="-122"/>
              </a:rPr>
              <a:t>）一个受到入侵用户的帐户可能被用来从非信任的网络上登录到双宿网关主机，所以</a:t>
            </a:r>
            <a:r>
              <a:rPr lang="zh-CN" altLang="en-US" b="1">
                <a:latin typeface="宋体" panose="02010600030101010101" pitchFamily="2" charset="-122"/>
              </a:rPr>
              <a:t>决不能允许用户直接登录到网关主机上</a:t>
            </a:r>
            <a:r>
              <a:rPr lang="zh-CN" altLang="en-US">
                <a:latin typeface="宋体" panose="02010600030101010101" pitchFamily="2" charset="-122"/>
              </a:rPr>
              <a:t>。这个设计漏洞能够很容易避免。</a:t>
            </a:r>
            <a:endParaRPr lang="zh-CN" altLang="en-US">
              <a:latin typeface="宋体" panose="02010600030101010101" pitchFamily="2" charset="-122"/>
            </a:endParaRPr>
          </a:p>
          <a:p>
            <a:pPr fontAlgn="auto">
              <a:lnSpc>
                <a:spcPct val="100000"/>
              </a:lnSpc>
            </a:pPr>
            <a:r>
              <a:rPr lang="zh-CN" altLang="en-US">
                <a:cs typeface="Times New Roman" panose="02020603050405020304" pitchFamily="18" charset="0"/>
              </a:rPr>
              <a:t>4</a:t>
            </a:r>
            <a:r>
              <a:rPr lang="zh-CN" altLang="en-US">
                <a:latin typeface="宋体" panose="02010600030101010101" pitchFamily="2" charset="-122"/>
              </a:rPr>
              <a:t>）在非信任网络上的用户可以通过对由应用程序所发布的、存放在双宿网关上的信息进行研究，从而可以了解可信系统的情况。</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zh-CN" altLang="en-US" b="1" dirty="0">
                <a:solidFill>
                  <a:schemeClr val="hlink"/>
                </a:solidFill>
                <a:highlight>
                  <a:srgbClr val="00FF00"/>
                </a:highlight>
                <a:latin typeface="宋体" panose="02010600030101010101" pitchFamily="2" charset="-122"/>
                <a:sym typeface="+mn-ea"/>
              </a:rPr>
              <a:t>应用层防火墙</a:t>
            </a:r>
            <a:r>
              <a:rPr lang="en-US" altLang="zh-CN" b="1" dirty="0">
                <a:solidFill>
                  <a:schemeClr val="hlink"/>
                </a:solidFill>
                <a:highlight>
                  <a:srgbClr val="00FF00"/>
                </a:highlight>
                <a:latin typeface="宋体" panose="02010600030101010101" pitchFamily="2" charset="-122"/>
                <a:sym typeface="+mn-ea"/>
              </a:rPr>
              <a:t>3</a:t>
            </a:r>
            <a:r>
              <a:rPr lang="zh-CN" altLang="en-US" b="1" dirty="0">
                <a:solidFill>
                  <a:schemeClr val="hlink"/>
                </a:solidFill>
                <a:highlight>
                  <a:srgbClr val="00FF00"/>
                </a:highlight>
                <a:latin typeface="宋体" panose="02010600030101010101" pitchFamily="2" charset="-122"/>
                <a:sym typeface="+mn-ea"/>
              </a:rPr>
              <a:t>：</a:t>
            </a:r>
            <a:r>
              <a:rPr lang="zh-CN" altLang="en-US" b="1">
                <a:latin typeface="Times New Roman" panose="02020603050405020304" pitchFamily="18" charset="0"/>
                <a:cs typeface="Times New Roman" panose="02020603050405020304" pitchFamily="18" charset="0"/>
              </a:rPr>
              <a:t>  </a:t>
            </a:r>
            <a:r>
              <a:rPr lang="zh-CN" altLang="en-US" b="1">
                <a:latin typeface="宋体" panose="02010600030101010101" pitchFamily="2" charset="-122"/>
              </a:rPr>
              <a:t>电路网关</a:t>
            </a:r>
            <a:endParaRPr lang="zh-CN" altLang="en-US" b="1">
              <a:latin typeface="宋体" panose="02010600030101010101" pitchFamily="2" charset="-122"/>
            </a:endParaRPr>
          </a:p>
        </p:txBody>
      </p:sp>
      <p:sp>
        <p:nvSpPr>
          <p:cNvPr id="76803" name="Rectangle 3"/>
          <p:cNvSpPr>
            <a:spLocks noGrp="1" noChangeArrowheads="1"/>
          </p:cNvSpPr>
          <p:nvPr>
            <p:ph type="body" idx="1"/>
          </p:nvPr>
        </p:nvSpPr>
        <p:spPr/>
        <p:txBody>
          <a:bodyPr/>
          <a:lstStyle/>
          <a:p>
            <a:pPr algn="just"/>
            <a:r>
              <a:rPr lang="en-US" altLang="zh-CN">
                <a:latin typeface="宋体" panose="02010600030101010101" pitchFamily="2" charset="-122"/>
              </a:rPr>
              <a:t>    </a:t>
            </a:r>
            <a:r>
              <a:rPr lang="zh-CN" altLang="en-US">
                <a:latin typeface="宋体" panose="02010600030101010101" pitchFamily="2" charset="-122"/>
              </a:rPr>
              <a:t>电路网关是一台运行网关应用程序的主计算机，这台计算机使用</a:t>
            </a:r>
            <a:r>
              <a:rPr lang="en-US" altLang="zh-CN">
                <a:cs typeface="Times New Roman" panose="02020603050405020304" pitchFamily="18" charset="0"/>
              </a:rPr>
              <a:t>TCP</a:t>
            </a:r>
            <a:r>
              <a:rPr lang="zh-CN" altLang="en-US">
                <a:latin typeface="宋体" panose="02010600030101010101" pitchFamily="2" charset="-122"/>
              </a:rPr>
              <a:t>端口实现网络资源和用户应用程序之间的通信。在电路网关中，数据包要提交给用户的应用层进行处理。图</a:t>
            </a:r>
            <a:r>
              <a:rPr lang="zh-CN" altLang="en-US">
                <a:cs typeface="Times New Roman" panose="02020603050405020304" pitchFamily="18" charset="0"/>
              </a:rPr>
              <a:t>5-</a:t>
            </a:r>
            <a:r>
              <a:rPr lang="en-US" altLang="zh-CN">
                <a:cs typeface="Times New Roman" panose="02020603050405020304" pitchFamily="18" charset="0"/>
              </a:rPr>
              <a:t>1</a:t>
            </a:r>
            <a:r>
              <a:rPr lang="zh-CN" altLang="en-US">
                <a:cs typeface="Times New Roman" panose="02020603050405020304" pitchFamily="18" charset="0"/>
              </a:rPr>
              <a:t>2</a:t>
            </a:r>
            <a:r>
              <a:rPr lang="zh-CN" altLang="en-US">
                <a:latin typeface="宋体" panose="02010600030101010101" pitchFamily="2" charset="-122"/>
              </a:rPr>
              <a:t>是一个电路网关的示意图。</a:t>
            </a:r>
            <a:endParaRPr lang="zh-CN" altLang="en-US">
              <a:latin typeface="宋体" panose="02010600030101010101" pitchFamily="2" charset="-122"/>
            </a:endParaRPr>
          </a:p>
          <a:p>
            <a:pPr algn="just"/>
            <a:r>
              <a:rPr lang="en-US" altLang="zh-CN">
                <a:latin typeface="宋体" panose="02010600030101010101" pitchFamily="2" charset="-122"/>
              </a:rPr>
              <a:t>    </a:t>
            </a:r>
            <a:r>
              <a:rPr lang="zh-CN" altLang="en-US">
                <a:latin typeface="宋体" panose="02010600030101010101" pitchFamily="2" charset="-122"/>
              </a:rPr>
              <a:t>电路网关通常只支持</a:t>
            </a:r>
            <a:r>
              <a:rPr lang="en-US" altLang="zh-CN">
                <a:cs typeface="Times New Roman" panose="02020603050405020304" pitchFamily="18" charset="0"/>
              </a:rPr>
              <a:t>TCP/IP</a:t>
            </a:r>
            <a:r>
              <a:rPr lang="zh-CN" altLang="en-US">
                <a:latin typeface="宋体" panose="02010600030101010101" pitchFamily="2" charset="-122"/>
              </a:rPr>
              <a:t>应用。因为电路网关在应用层工作，它也许不得不使用特殊的客户软件才能为应用到应用（</a:t>
            </a:r>
            <a:r>
              <a:rPr lang="en-US" altLang="zh-CN">
                <a:cs typeface="Times New Roman" panose="02020603050405020304" pitchFamily="18" charset="0"/>
              </a:rPr>
              <a:t>application-to-application</a:t>
            </a:r>
            <a:r>
              <a:rPr lang="en-US" altLang="zh-CN">
                <a:latin typeface="宋体" panose="02010600030101010101" pitchFamily="2" charset="-122"/>
              </a:rPr>
              <a:t>）</a:t>
            </a:r>
            <a:r>
              <a:rPr lang="zh-CN" altLang="en-US">
                <a:latin typeface="宋体" panose="02010600030101010101" pitchFamily="2" charset="-122"/>
              </a:rPr>
              <a:t>的通信服务。</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ChangeArrowheads="1"/>
          </p:cNvSpPr>
          <p:nvPr/>
        </p:nvSpPr>
        <p:spPr bwMode="auto">
          <a:xfrm>
            <a:off x="3057330" y="5741989"/>
            <a:ext cx="7162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r>
              <a:rPr lang="zh-CN" altLang="en-US" sz="2800" b="1" dirty="0" smtClean="0">
                <a:solidFill>
                  <a:schemeClr val="hlink"/>
                </a:solidFill>
                <a:latin typeface="Times New Roman" panose="02020603050405020304" pitchFamily="18" charset="0"/>
                <a:cs typeface="Times New Roman" panose="02020603050405020304" pitchFamily="18" charset="0"/>
              </a:rPr>
              <a:t>图5-</a:t>
            </a:r>
            <a:r>
              <a:rPr lang="en-US" altLang="zh-CN" sz="2800" b="1" dirty="0" smtClean="0">
                <a:solidFill>
                  <a:schemeClr val="hlink"/>
                </a:solidFill>
                <a:latin typeface="Times New Roman" panose="02020603050405020304" pitchFamily="18" charset="0"/>
                <a:cs typeface="Times New Roman" panose="02020603050405020304" pitchFamily="18" charset="0"/>
              </a:rPr>
              <a:t>1</a:t>
            </a:r>
            <a:r>
              <a:rPr lang="zh-CN" altLang="en-US" sz="2800" b="1" dirty="0" smtClean="0">
                <a:solidFill>
                  <a:schemeClr val="hlink"/>
                </a:solidFill>
                <a:latin typeface="Times New Roman" panose="02020603050405020304" pitchFamily="18" charset="0"/>
                <a:cs typeface="Times New Roman" panose="02020603050405020304" pitchFamily="18" charset="0"/>
              </a:rPr>
              <a:t>2  </a:t>
            </a:r>
            <a:r>
              <a:rPr lang="zh-CN" altLang="en-US" sz="2800" b="1" dirty="0">
                <a:solidFill>
                  <a:schemeClr val="hlink"/>
                </a:solidFill>
                <a:latin typeface="宋体" panose="02010600030101010101" pitchFamily="2" charset="-122"/>
              </a:rPr>
              <a:t>电路网关示意图</a:t>
            </a:r>
            <a:r>
              <a:rPr lang="zh-CN" altLang="en-US" sz="4200" b="1" dirty="0">
                <a:latin typeface="黑体" panose="02010609060101010101" pitchFamily="49" charset="-122"/>
                <a:ea typeface="黑体" panose="02010609060101010101" pitchFamily="49" charset="-122"/>
              </a:rPr>
              <a:t> </a:t>
            </a:r>
            <a:endParaRPr lang="zh-CN" altLang="en-US" sz="4200" b="1" dirty="0">
              <a:latin typeface="黑体" panose="02010609060101010101" pitchFamily="49" charset="-122"/>
              <a:ea typeface="黑体" panose="02010609060101010101" pitchFamily="49" charset="-122"/>
            </a:endParaRPr>
          </a:p>
        </p:txBody>
      </p:sp>
      <p:sp>
        <p:nvSpPr>
          <p:cNvPr id="77827" name="Rectangle 3"/>
          <p:cNvSpPr>
            <a:spLocks noChangeArrowheads="1"/>
          </p:cNvSpPr>
          <p:nvPr/>
        </p:nvSpPr>
        <p:spPr bwMode="auto">
          <a:xfrm>
            <a:off x="1524001" y="21394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7828" name="Rectangle 4"/>
          <p:cNvSpPr>
            <a:spLocks noChangeArrowheads="1"/>
          </p:cNvSpPr>
          <p:nvPr/>
        </p:nvSpPr>
        <p:spPr bwMode="auto">
          <a:xfrm>
            <a:off x="1524001" y="21394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77829" name="Object 5"/>
          <p:cNvGraphicFramePr>
            <a:graphicFrameLocks noChangeAspect="1"/>
          </p:cNvGraphicFramePr>
          <p:nvPr/>
        </p:nvGraphicFramePr>
        <p:xfrm>
          <a:off x="2782078" y="982664"/>
          <a:ext cx="7162800" cy="4759325"/>
        </p:xfrm>
        <a:graphic>
          <a:graphicData uri="http://schemas.openxmlformats.org/presentationml/2006/ole">
            <mc:AlternateContent xmlns:mc="http://schemas.openxmlformats.org/markup-compatibility/2006">
              <mc:Choice xmlns:v="urn:schemas-microsoft-com:vml" Requires="v">
                <p:oleObj spid="_x0000_s12367" name="图片" r:id="rId1" imgW="3325495" imgH="2209800" progId="Word.Picture.8">
                  <p:embed/>
                </p:oleObj>
              </mc:Choice>
              <mc:Fallback>
                <p:oleObj name="图片" r:id="rId1" imgW="3325495" imgH="2209800" progId="Word.Picture.8">
                  <p:embed/>
                  <p:pic>
                    <p:nvPicPr>
                      <p:cNvPr id="0" name="图片 123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078" y="982664"/>
                        <a:ext cx="7162800" cy="4759325"/>
                      </a:xfrm>
                      <a:prstGeom prst="rect">
                        <a:avLst/>
                      </a:prstGeom>
                      <a:solidFill>
                        <a:srgbClr val="FF99CC"/>
                      </a:solidFill>
                      <a:ln>
                        <a:noFill/>
                      </a:ln>
                      <a:extLst>
                        <a:ext uri="{91240B29-F687-4F45-9708-019B960494DF}">
                          <a14:hiddenLine xmlns:a14="http://schemas.microsoft.com/office/drawing/2010/main" w="9525">
                            <a:solidFill>
                              <a:srgbClr val="FF99CC"/>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914400" y="609600"/>
            <a:ext cx="10363200" cy="703580"/>
          </a:xfrm>
        </p:spPr>
        <p:txBody>
          <a:bodyPr/>
          <a:lstStyle/>
          <a:p>
            <a:r>
              <a:rPr lang="zh-CN" altLang="en-US">
                <a:solidFill>
                  <a:schemeClr val="hlink"/>
                </a:solidFill>
                <a:latin typeface="宋体" panose="02010600030101010101" pitchFamily="2" charset="-122"/>
              </a:rPr>
              <a:t>电路网关的缺陷</a:t>
            </a:r>
            <a:endParaRPr lang="zh-CN" altLang="en-US">
              <a:solidFill>
                <a:schemeClr val="hlink"/>
              </a:solidFill>
              <a:latin typeface="宋体" panose="02010600030101010101" pitchFamily="2" charset="-122"/>
            </a:endParaRPr>
          </a:p>
        </p:txBody>
      </p:sp>
      <p:sp>
        <p:nvSpPr>
          <p:cNvPr id="78851" name="Rectangle 3"/>
          <p:cNvSpPr>
            <a:spLocks noGrp="1" noChangeArrowheads="1"/>
          </p:cNvSpPr>
          <p:nvPr>
            <p:ph type="body" idx="1"/>
          </p:nvPr>
        </p:nvSpPr>
        <p:spPr>
          <a:xfrm>
            <a:off x="914400" y="1502410"/>
            <a:ext cx="10363200" cy="4114800"/>
          </a:xfrm>
        </p:spPr>
        <p:txBody>
          <a:bodyPr/>
          <a:lstStyle/>
          <a:p>
            <a:pPr algn="just">
              <a:lnSpc>
                <a:spcPct val="90000"/>
              </a:lnSpc>
            </a:pPr>
            <a:r>
              <a:rPr lang="zh-CN" altLang="en-US" dirty="0">
                <a:cs typeface="Times New Roman" panose="02020603050405020304" pitchFamily="18" charset="0"/>
              </a:rPr>
              <a:t>(1) </a:t>
            </a:r>
            <a:r>
              <a:rPr lang="zh-CN" altLang="en-US" dirty="0">
                <a:latin typeface="宋体" panose="02010600030101010101" pitchFamily="2" charset="-122"/>
              </a:rPr>
              <a:t>需要使用特殊的用户接口。</a:t>
            </a:r>
            <a:endParaRPr lang="zh-CN" altLang="en-US" dirty="0">
              <a:cs typeface="Times New Roman" panose="02020603050405020304" pitchFamily="18" charset="0"/>
            </a:endParaRPr>
          </a:p>
          <a:p>
            <a:pPr algn="just">
              <a:lnSpc>
                <a:spcPct val="90000"/>
              </a:lnSpc>
            </a:pPr>
            <a:r>
              <a:rPr lang="zh-CN" altLang="en-US" dirty="0">
                <a:cs typeface="Times New Roman" panose="02020603050405020304" pitchFamily="18" charset="0"/>
              </a:rPr>
              <a:t>(2) </a:t>
            </a:r>
            <a:r>
              <a:rPr lang="zh-CN" altLang="en-US" dirty="0">
                <a:latin typeface="宋体" panose="02010600030101010101" pitchFamily="2" charset="-122"/>
              </a:rPr>
              <a:t>安装应用程序非常费时间。</a:t>
            </a:r>
            <a:endParaRPr lang="zh-CN" altLang="en-US" dirty="0">
              <a:cs typeface="Times New Roman" panose="02020603050405020304" pitchFamily="18" charset="0"/>
            </a:endParaRPr>
          </a:p>
          <a:p>
            <a:pPr algn="just">
              <a:lnSpc>
                <a:spcPct val="90000"/>
              </a:lnSpc>
            </a:pPr>
            <a:r>
              <a:rPr lang="zh-CN" altLang="en-US" dirty="0">
                <a:cs typeface="Times New Roman" panose="02020603050405020304" pitchFamily="18" charset="0"/>
              </a:rPr>
              <a:t>(3) </a:t>
            </a:r>
            <a:r>
              <a:rPr lang="zh-CN" altLang="en-US" dirty="0">
                <a:latin typeface="宋体" panose="02010600030101010101" pitchFamily="2" charset="-122"/>
              </a:rPr>
              <a:t>在大型的、包含多种硬件设置的网络上使用电路网关比较困难，因为硬件和操作系统都存在差异。</a:t>
            </a:r>
            <a:endParaRPr lang="zh-CN" altLang="en-US" dirty="0">
              <a:cs typeface="Times New Roman" panose="02020603050405020304" pitchFamily="18" charset="0"/>
            </a:endParaRPr>
          </a:p>
          <a:p>
            <a:pPr>
              <a:lnSpc>
                <a:spcPct val="90000"/>
              </a:lnSpc>
            </a:pPr>
            <a:r>
              <a:rPr lang="en-US" altLang="zh-CN" dirty="0" smtClean="0">
                <a:latin typeface="宋体" panose="02010600030101010101" pitchFamily="2" charset="-122"/>
              </a:rPr>
              <a:t>(4) </a:t>
            </a:r>
            <a:r>
              <a:rPr lang="zh-CN" altLang="en-US" dirty="0" smtClean="0">
                <a:latin typeface="宋体" panose="02010600030101010101" pitchFamily="2" charset="-122"/>
              </a:rPr>
              <a:t>每</a:t>
            </a:r>
            <a:r>
              <a:rPr lang="zh-CN" altLang="en-US" dirty="0">
                <a:latin typeface="宋体" panose="02010600030101010101" pitchFamily="2" charset="-122"/>
              </a:rPr>
              <a:t>一个数据包要被电路网关处理两次，一来在网络上产生额外的流量；二来减低了应用服务的质量。</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4000" dirty="0" smtClean="0">
                <a:solidFill>
                  <a:srgbClr val="002060"/>
                </a:solidFill>
                <a:latin typeface="思源黑体 CN Heavy" panose="020B0A00000000000000" pitchFamily="34" charset="-122"/>
                <a:ea typeface="思源黑体 CN Heavy" panose="020B0A00000000000000" pitchFamily="34" charset="-122"/>
                <a:cs typeface="+mn-ea"/>
                <a:sym typeface="+mn-lt"/>
              </a:rPr>
              <a:t>虚拟</a:t>
            </a:r>
            <a:r>
              <a:rPr lang="zh-CN" altLang="en-US" sz="4000" dirty="0">
                <a:solidFill>
                  <a:srgbClr val="002060"/>
                </a:solidFill>
                <a:latin typeface="思源黑体 CN Heavy" panose="020B0A00000000000000" pitchFamily="34" charset="-122"/>
                <a:ea typeface="思源黑体 CN Heavy" panose="020B0A00000000000000" pitchFamily="34" charset="-122"/>
                <a:cs typeface="+mn-ea"/>
                <a:sym typeface="+mn-lt"/>
              </a:rPr>
              <a:t>专用网（</a:t>
            </a:r>
            <a:r>
              <a:rPr lang="en-US" altLang="zh-CN" sz="4000" dirty="0">
                <a:solidFill>
                  <a:srgbClr val="002060"/>
                </a:solidFill>
                <a:latin typeface="思源黑体 CN Heavy" panose="020B0A00000000000000" pitchFamily="34" charset="-122"/>
                <a:ea typeface="思源黑体 CN Heavy" panose="020B0A00000000000000" pitchFamily="34" charset="-122"/>
                <a:cs typeface="+mn-ea"/>
                <a:sym typeface="+mn-lt"/>
              </a:rPr>
              <a:t>VPN</a:t>
            </a:r>
            <a:r>
              <a:rPr lang="zh-CN" altLang="en-US" sz="4000" dirty="0">
                <a:solidFill>
                  <a:srgbClr val="002060"/>
                </a:solidFill>
                <a:latin typeface="思源黑体 CN Heavy" panose="020B0A00000000000000" pitchFamily="34" charset="-122"/>
                <a:ea typeface="思源黑体 CN Heavy" panose="020B0A00000000000000" pitchFamily="34" charset="-122"/>
                <a:cs typeface="+mn-ea"/>
                <a:sym typeface="+mn-lt"/>
              </a:rPr>
              <a:t>）</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zh-CN" dirty="0" smtClean="0">
                <a:latin typeface="Times New Roman" panose="02020603050405020304" pitchFamily="18" charset="0"/>
                <a:cs typeface="Times New Roman" panose="02020603050405020304" pitchFamily="18" charset="0"/>
              </a:rPr>
              <a:t>5</a:t>
            </a:r>
            <a:r>
              <a:rPr lang="zh-CN" altLang="en-US"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3</a:t>
            </a:r>
            <a:r>
              <a:rPr lang="zh-CN" altLang="en-US" dirty="0" smtClean="0">
                <a:latin typeface="Times New Roman" panose="02020603050405020304" pitchFamily="18" charset="0"/>
                <a:cs typeface="Times New Roman" panose="02020603050405020304" pitchFamily="18" charset="0"/>
              </a:rPr>
              <a:t> </a:t>
            </a:r>
            <a:r>
              <a:rPr lang="zh-CN" altLang="en-US" dirty="0">
                <a:latin typeface="宋体" panose="02010600030101010101" pitchFamily="2" charset="-122"/>
              </a:rPr>
              <a:t>虚拟专用网（</a:t>
            </a:r>
            <a:r>
              <a:rPr lang="en-US" altLang="zh-CN" dirty="0">
                <a:latin typeface="Times New Roman" panose="02020603050405020304" pitchFamily="18" charset="0"/>
                <a:cs typeface="Times New Roman" panose="02020603050405020304" pitchFamily="18" charset="0"/>
              </a:rPr>
              <a:t>VPN</a:t>
            </a:r>
            <a:r>
              <a:rPr lang="en-US" altLang="zh-CN" dirty="0">
                <a:latin typeface="宋体" panose="02010600030101010101" pitchFamily="2" charset="-122"/>
              </a:rPr>
              <a:t>）</a:t>
            </a:r>
            <a:r>
              <a:rPr lang="en-US" altLang="zh-CN" dirty="0"/>
              <a:t> </a:t>
            </a:r>
            <a:endParaRPr lang="zh-CN" altLang="en-US" dirty="0"/>
          </a:p>
        </p:txBody>
      </p:sp>
      <p:sp>
        <p:nvSpPr>
          <p:cNvPr id="102403" name="Rectangle 3"/>
          <p:cNvSpPr>
            <a:spLocks noGrp="1" noChangeArrowheads="1"/>
          </p:cNvSpPr>
          <p:nvPr>
            <p:ph type="body" idx="1"/>
          </p:nvPr>
        </p:nvSpPr>
        <p:spPr/>
        <p:txBody>
          <a:bodyPr/>
          <a:lstStyle/>
          <a:p>
            <a:r>
              <a:rPr lang="en-US" altLang="zh-CN">
                <a:latin typeface="宋体" panose="02010600030101010101" pitchFamily="2" charset="-122"/>
              </a:rPr>
              <a:t>    </a:t>
            </a:r>
            <a:r>
              <a:rPr lang="zh-CN" altLang="en-US">
                <a:latin typeface="宋体" panose="02010600030101010101" pitchFamily="2" charset="-122"/>
              </a:rPr>
              <a:t>虚拟专用网（</a:t>
            </a:r>
            <a:r>
              <a:rPr lang="en-US" altLang="zh-CN">
                <a:cs typeface="Times New Roman" panose="02020603050405020304" pitchFamily="18" charset="0"/>
              </a:rPr>
              <a:t>VPN</a:t>
            </a:r>
            <a:r>
              <a:rPr lang="en-US" altLang="zh-CN">
                <a:latin typeface="宋体" panose="02010600030101010101" pitchFamily="2" charset="-122"/>
              </a:rPr>
              <a:t>）</a:t>
            </a:r>
            <a:r>
              <a:rPr lang="zh-CN" altLang="en-US">
                <a:latin typeface="宋体" panose="02010600030101010101" pitchFamily="2" charset="-122"/>
              </a:rPr>
              <a:t>是架构于公共网络上的私有网络，是专用网的扩展。其通信两端之间是公用传输介质如</a:t>
            </a:r>
            <a:r>
              <a:rPr lang="en-US" altLang="zh-CN">
                <a:cs typeface="Times New Roman" panose="02020603050405020304" pitchFamily="18" charset="0"/>
              </a:rPr>
              <a:t>Internet</a:t>
            </a:r>
            <a:r>
              <a:rPr lang="en-US" altLang="zh-CN">
                <a:latin typeface="宋体" panose="02010600030101010101" pitchFamily="2" charset="-122"/>
              </a:rPr>
              <a:t>。</a:t>
            </a:r>
            <a:r>
              <a:rPr lang="en-US" altLang="zh-CN">
                <a:cs typeface="Times New Roman" panose="02020603050405020304" pitchFamily="18" charset="0"/>
              </a:rPr>
              <a:t>VPN</a:t>
            </a:r>
            <a:r>
              <a:rPr lang="zh-CN" altLang="en-US">
                <a:latin typeface="宋体" panose="02010600030101010101" pitchFamily="2" charset="-122"/>
              </a:rPr>
              <a:t>允许用户在两台计算机之间通过公共传输介质进行安全的通信，就好像是自己的端到端的专用网一样。</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3"/>
          <p:cNvSpPr>
            <a:spLocks noGrp="1" noChangeArrowheads="1"/>
          </p:cNvSpPr>
          <p:nvPr>
            <p:ph type="body" idx="1"/>
          </p:nvPr>
        </p:nvSpPr>
        <p:spPr/>
        <p:txBody>
          <a:bodyPr/>
          <a:lstStyle/>
          <a:p>
            <a:r>
              <a:rPr lang="zh-CN" altLang="en-US" dirty="0">
                <a:cs typeface="Times New Roman" panose="02020603050405020304" pitchFamily="18" charset="0"/>
              </a:rPr>
              <a:t>（</a:t>
            </a:r>
            <a:r>
              <a:rPr lang="en-US" altLang="zh-CN" dirty="0">
                <a:cs typeface="Times New Roman" panose="02020603050405020304" pitchFamily="18" charset="0"/>
              </a:rPr>
              <a:t>1</a:t>
            </a:r>
            <a:r>
              <a:rPr lang="zh-CN" altLang="en-US" dirty="0">
                <a:cs typeface="Times New Roman" panose="02020603050405020304" pitchFamily="18" charset="0"/>
              </a:rPr>
              <a:t>）</a:t>
            </a:r>
            <a:r>
              <a:rPr lang="en-US" altLang="zh-CN" dirty="0">
                <a:solidFill>
                  <a:srgbClr val="FF0000"/>
                </a:solidFill>
                <a:cs typeface="Times New Roman" panose="02020603050405020304" pitchFamily="18" charset="0"/>
              </a:rPr>
              <a:t>Intranet VPN</a:t>
            </a:r>
            <a:r>
              <a:rPr lang="en-US" altLang="zh-CN" dirty="0">
                <a:cs typeface="Times New Roman" panose="02020603050405020304" pitchFamily="18" charset="0"/>
              </a:rPr>
              <a:t>  </a:t>
            </a:r>
            <a:r>
              <a:rPr lang="zh-CN" altLang="en-US" dirty="0">
                <a:cs typeface="Times New Roman" panose="02020603050405020304" pitchFamily="18" charset="0"/>
              </a:rPr>
              <a:t>：</a:t>
            </a:r>
            <a:r>
              <a:rPr lang="zh-CN" altLang="en-US" dirty="0">
                <a:latin typeface="宋体" panose="02010600030101010101" pitchFamily="2" charset="-122"/>
              </a:rPr>
              <a:t>建立于企业的总部和它的分支机构之间。它们之间通过公网连接。</a:t>
            </a:r>
            <a:endParaRPr lang="zh-CN" altLang="en-US" dirty="0">
              <a:latin typeface="宋体" panose="02010600030101010101" pitchFamily="2" charset="-122"/>
            </a:endParaRPr>
          </a:p>
          <a:p>
            <a:r>
              <a:rPr lang="zh-CN" altLang="en-US" dirty="0"/>
              <a:t>（2）</a:t>
            </a:r>
            <a:r>
              <a:rPr lang="en-US" altLang="zh-CN" dirty="0">
                <a:solidFill>
                  <a:srgbClr val="FF0000"/>
                </a:solidFill>
                <a:cs typeface="Times New Roman" panose="02020603050405020304" pitchFamily="18" charset="0"/>
              </a:rPr>
              <a:t>Remote Access VPN</a:t>
            </a:r>
            <a:r>
              <a:rPr lang="zh-CN" altLang="en-US" dirty="0">
                <a:cs typeface="Times New Roman" panose="02020603050405020304" pitchFamily="18" charset="0"/>
              </a:rPr>
              <a:t>：</a:t>
            </a:r>
            <a:r>
              <a:rPr lang="zh-CN" altLang="en-US" dirty="0">
                <a:latin typeface="宋体" panose="02010600030101010101" pitchFamily="2" charset="-122"/>
              </a:rPr>
              <a:t>企业的员工或小的分支机构通过远程拨号的方式和企业的总部之间构建的虚拟专用网。</a:t>
            </a:r>
            <a:r>
              <a:rPr lang="zh-CN" altLang="en-US" dirty="0"/>
              <a:t> </a:t>
            </a:r>
            <a:endParaRPr lang="zh-CN" altLang="en-US" dirty="0"/>
          </a:p>
          <a:p>
            <a:pPr algn="just"/>
            <a:r>
              <a:rPr lang="zh-CN" altLang="en-US" dirty="0" smtClean="0">
                <a:cs typeface="Times New Roman" panose="02020603050405020304" pitchFamily="18" charset="0"/>
                <a:sym typeface="+mn-ea"/>
              </a:rPr>
              <a:t>（</a:t>
            </a:r>
            <a:r>
              <a:rPr lang="en-US" altLang="zh-CN" dirty="0" smtClean="0">
                <a:cs typeface="Times New Roman" panose="02020603050405020304" pitchFamily="18" charset="0"/>
                <a:sym typeface="+mn-ea"/>
              </a:rPr>
              <a:t>3</a:t>
            </a:r>
            <a:r>
              <a:rPr lang="zh-CN" altLang="en-US" dirty="0" smtClean="0">
                <a:cs typeface="Times New Roman" panose="02020603050405020304" pitchFamily="18" charset="0"/>
                <a:sym typeface="+mn-ea"/>
              </a:rPr>
              <a:t>）</a:t>
            </a:r>
            <a:r>
              <a:rPr lang="en-US" altLang="zh-CN" dirty="0" smtClean="0">
                <a:solidFill>
                  <a:srgbClr val="FF0000"/>
                </a:solidFill>
                <a:cs typeface="Times New Roman" panose="02020603050405020304" pitchFamily="18" charset="0"/>
                <a:sym typeface="+mn-ea"/>
              </a:rPr>
              <a:t>Extranet </a:t>
            </a:r>
            <a:r>
              <a:rPr lang="en-US" altLang="zh-CN" dirty="0" err="1">
                <a:solidFill>
                  <a:srgbClr val="FF0000"/>
                </a:solidFill>
                <a:cs typeface="Times New Roman" panose="02020603050405020304" pitchFamily="18" charset="0"/>
                <a:sym typeface="+mn-ea"/>
              </a:rPr>
              <a:t>VPN</a:t>
            </a:r>
            <a:r>
              <a:rPr lang="zh-CN" dirty="0" err="1">
                <a:sym typeface="+mn-ea"/>
              </a:rPr>
              <a:t>：</a:t>
            </a:r>
            <a:r>
              <a:rPr lang="zh-CN" altLang="en-US" dirty="0">
                <a:latin typeface="宋体" panose="02010600030101010101" pitchFamily="2" charset="-122"/>
                <a:sym typeface="+mn-ea"/>
              </a:rPr>
              <a:t>企业和它的客户、供应商或合作伙伴通过公网构建的虚拟专用网。</a:t>
            </a:r>
            <a:endParaRPr lang="zh-CN" altLang="en-US" dirty="0">
              <a:cs typeface="Times New Roman" panose="02020603050405020304" pitchFamily="18" charset="0"/>
            </a:endParaRPr>
          </a:p>
          <a:p>
            <a:r>
              <a:rPr lang="zh-CN" altLang="en-US" dirty="0" smtClean="0">
                <a:cs typeface="Times New Roman" panose="02020603050405020304" pitchFamily="18" charset="0"/>
                <a:sym typeface="+mn-ea"/>
              </a:rPr>
              <a:t>（</a:t>
            </a:r>
            <a:r>
              <a:rPr lang="en-US" altLang="zh-CN" dirty="0" smtClean="0">
                <a:cs typeface="Times New Roman" panose="02020603050405020304" pitchFamily="18" charset="0"/>
                <a:sym typeface="+mn-ea"/>
              </a:rPr>
              <a:t>4</a:t>
            </a:r>
            <a:r>
              <a:rPr lang="zh-CN" altLang="en-US" dirty="0" smtClean="0">
                <a:cs typeface="Times New Roman" panose="02020603050405020304" pitchFamily="18" charset="0"/>
                <a:sym typeface="+mn-ea"/>
              </a:rPr>
              <a:t>）</a:t>
            </a:r>
            <a:r>
              <a:rPr lang="en-US" altLang="zh-CN" dirty="0" smtClean="0">
                <a:solidFill>
                  <a:srgbClr val="FF0000"/>
                </a:solidFill>
                <a:cs typeface="Times New Roman" panose="02020603050405020304" pitchFamily="18" charset="0"/>
                <a:sym typeface="+mn-ea"/>
              </a:rPr>
              <a:t>Intracompany </a:t>
            </a:r>
            <a:r>
              <a:rPr lang="en-US" altLang="zh-CN" dirty="0">
                <a:solidFill>
                  <a:srgbClr val="FF0000"/>
                </a:solidFill>
                <a:cs typeface="Times New Roman" panose="02020603050405020304" pitchFamily="18" charset="0"/>
                <a:sym typeface="+mn-ea"/>
              </a:rPr>
              <a:t>VPN</a:t>
            </a:r>
            <a:r>
              <a:rPr lang="zh-CN" altLang="en-US" dirty="0">
                <a:sym typeface="+mn-ea"/>
              </a:rPr>
              <a:t>：</a:t>
            </a:r>
            <a:r>
              <a:rPr lang="zh-CN" altLang="en-US" dirty="0">
                <a:latin typeface="宋体" panose="02010600030101010101" pitchFamily="2" charset="-122"/>
                <a:sym typeface="+mn-ea"/>
              </a:rPr>
              <a:t>在一个公司内部的</a:t>
            </a:r>
            <a:r>
              <a:rPr lang="en-US" altLang="zh-CN" dirty="0">
                <a:cs typeface="Times New Roman" panose="02020603050405020304" pitchFamily="18" charset="0"/>
                <a:sym typeface="+mn-ea"/>
              </a:rPr>
              <a:t>LAN</a:t>
            </a:r>
            <a:r>
              <a:rPr lang="zh-CN" altLang="en-US" dirty="0">
                <a:latin typeface="宋体" panose="02010600030101010101" pitchFamily="2" charset="-122"/>
                <a:sym typeface="+mn-ea"/>
              </a:rPr>
              <a:t>之间或内部用户之间建立的虚拟专用网。</a:t>
            </a:r>
            <a:r>
              <a:rPr lang="zh-CN" altLang="en-US" dirty="0">
                <a:sym typeface="+mn-ea"/>
              </a:rPr>
              <a:t> </a:t>
            </a:r>
            <a:endParaRPr lang="zh-CN" altLang="en-US" dirty="0"/>
          </a:p>
          <a:p>
            <a:endParaRPr lang="zh-CN" altLang="en-US" dirty="0"/>
          </a:p>
        </p:txBody>
      </p:sp>
      <p:grpSp>
        <p:nvGrpSpPr>
          <p:cNvPr id="4" name="组合 3"/>
          <p:cNvGrpSpPr/>
          <p:nvPr/>
        </p:nvGrpSpPr>
        <p:grpSpPr>
          <a:xfrm>
            <a:off x="3730279" y="211055"/>
            <a:ext cx="4731441" cy="1109044"/>
            <a:chOff x="3279913" y="488294"/>
            <a:chExt cx="4731441" cy="1109044"/>
          </a:xfrm>
        </p:grpSpPr>
        <p:grpSp>
          <p:nvGrpSpPr>
            <p:cNvPr id="5" name="组合 4"/>
            <p:cNvGrpSpPr/>
            <p:nvPr/>
          </p:nvGrpSpPr>
          <p:grpSpPr>
            <a:xfrm>
              <a:off x="3279913" y="909457"/>
              <a:ext cx="4731441" cy="687881"/>
              <a:chOff x="3279913" y="909457"/>
              <a:chExt cx="4731441" cy="687881"/>
            </a:xfrm>
          </p:grpSpPr>
          <p:sp>
            <p:nvSpPr>
              <p:cNvPr id="159" name="矩形: 圆角 9"/>
              <p:cNvSpPr/>
              <p:nvPr/>
            </p:nvSpPr>
            <p:spPr>
              <a:xfrm>
                <a:off x="3279913" y="909457"/>
                <a:ext cx="4731441"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3097323" cy="535531"/>
              </a:xfrm>
              <a:prstGeom prst="rect">
                <a:avLst/>
              </a:prstGeom>
              <a:noFill/>
            </p:spPr>
            <p:txBody>
              <a:bodyPr wrap="none" rtlCol="0" anchor="t">
                <a:spAutoFit/>
              </a:bodyPr>
              <a:lstStyle/>
              <a:p>
                <a:pPr lvl="0" fontAlgn="base">
                  <a:lnSpc>
                    <a:spcPct val="90000"/>
                  </a:lnSpc>
                  <a:spcBef>
                    <a:spcPts val="1000"/>
                  </a:spcBef>
                  <a:spcAft>
                    <a:spcPct val="0"/>
                  </a:spcAft>
                  <a:defRPr/>
                </a:pPr>
                <a:r>
                  <a:rPr lang="en-US" altLang="zh-CN"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VPN</a:t>
                </a: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被分成四类</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noChangeArrowheads="1"/>
          </p:cNvSpPr>
          <p:nvPr>
            <p:ph type="body" idx="1"/>
          </p:nvPr>
        </p:nvSpPr>
        <p:spPr>
          <a:xfrm>
            <a:off x="1741170" y="1981200"/>
            <a:ext cx="8613775" cy="1535430"/>
          </a:xfrm>
        </p:spPr>
        <p:txBody>
          <a:bodyPr/>
          <a:lstStyle/>
          <a:p>
            <a:pPr>
              <a:lnSpc>
                <a:spcPct val="90000"/>
              </a:lnSpc>
            </a:pPr>
            <a:r>
              <a:rPr lang="en-US" altLang="zh-CN">
                <a:latin typeface="宋体" panose="02010600030101010101" pitchFamily="2" charset="-122"/>
              </a:rPr>
              <a:t>    </a:t>
            </a:r>
            <a:r>
              <a:rPr lang="zh-CN" altLang="en-US">
                <a:latin typeface="宋体" panose="02010600030101010101" pitchFamily="2" charset="-122"/>
              </a:rPr>
              <a:t>隧道是构建</a:t>
            </a:r>
            <a:r>
              <a:rPr lang="en-US" altLang="zh-CN">
                <a:cs typeface="Times New Roman" panose="02020603050405020304" pitchFamily="18" charset="0"/>
              </a:rPr>
              <a:t>VPN</a:t>
            </a:r>
            <a:r>
              <a:rPr lang="zh-CN" altLang="en-US">
                <a:latin typeface="宋体" panose="02010600030101010101" pitchFamily="2" charset="-122"/>
              </a:rPr>
              <a:t>的基础，它代替了传统的</a:t>
            </a:r>
            <a:r>
              <a:rPr lang="en-US" altLang="zh-CN">
                <a:cs typeface="Times New Roman" panose="02020603050405020304" pitchFamily="18" charset="0"/>
              </a:rPr>
              <a:t>WAN</a:t>
            </a:r>
            <a:r>
              <a:rPr lang="zh-CN" altLang="en-US">
                <a:latin typeface="宋体" panose="02010600030101010101" pitchFamily="2" charset="-122"/>
              </a:rPr>
              <a:t>互联的</a:t>
            </a:r>
            <a:r>
              <a:rPr lang="zh-CN" altLang="en-US"/>
              <a:t>“</a:t>
            </a:r>
            <a:r>
              <a:rPr lang="zh-CN" altLang="en-US">
                <a:latin typeface="宋体" panose="02010600030101010101" pitchFamily="2" charset="-122"/>
              </a:rPr>
              <a:t>专线</a:t>
            </a:r>
            <a:r>
              <a:rPr lang="zh-CN" altLang="en-US"/>
              <a:t>”</a:t>
            </a:r>
            <a:r>
              <a:rPr lang="zh-CN" altLang="en-US">
                <a:latin typeface="宋体" panose="02010600030101010101" pitchFamily="2" charset="-122"/>
              </a:rPr>
              <a:t>。</a:t>
            </a:r>
            <a:r>
              <a:rPr lang="zh-CN" altLang="en-US">
                <a:highlight>
                  <a:srgbClr val="00FF00"/>
                </a:highlight>
                <a:latin typeface="宋体" panose="02010600030101010101" pitchFamily="2" charset="-122"/>
              </a:rPr>
              <a:t>隧道的示意图</a:t>
            </a:r>
            <a:r>
              <a:rPr lang="zh-CN" altLang="en-US">
                <a:latin typeface="宋体" panose="02010600030101010101" pitchFamily="2" charset="-122"/>
              </a:rPr>
              <a:t>如</a:t>
            </a:r>
            <a:r>
              <a:rPr lang="zh-CN" altLang="en-US">
                <a:latin typeface="宋体" panose="02010600030101010101" pitchFamily="2" charset="-122"/>
              </a:rPr>
              <a:t>下图所示。</a:t>
            </a:r>
            <a:r>
              <a:rPr lang="zh-CN" altLang="en-US"/>
              <a:t> </a:t>
            </a:r>
            <a:endParaRPr lang="zh-CN" altLang="en-US"/>
          </a:p>
        </p:txBody>
      </p:sp>
      <p:pic>
        <p:nvPicPr>
          <p:cNvPr id="106500" name="Picture 4"/>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73613" y="3352800"/>
            <a:ext cx="2925762" cy="2616200"/>
          </a:xfrm>
          <a:prstGeom prst="rect">
            <a:avLst/>
          </a:prstGeom>
          <a:solidFill>
            <a:srgbClr val="FF99CC"/>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6501" name="Picture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3014" y="4170363"/>
            <a:ext cx="681037" cy="1033462"/>
          </a:xfrm>
          <a:prstGeom prst="rect">
            <a:avLst/>
          </a:prstGeom>
          <a:solidFill>
            <a:srgbClr val="FF99CC"/>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6502" name="Picture 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75" y="4219576"/>
            <a:ext cx="681038" cy="1031875"/>
          </a:xfrm>
          <a:prstGeom prst="rect">
            <a:avLst/>
          </a:prstGeom>
          <a:solidFill>
            <a:srgbClr val="FF99CC"/>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6503" name="Rectangle 7"/>
          <p:cNvSpPr>
            <a:spLocks noChangeArrowheads="1"/>
          </p:cNvSpPr>
          <p:nvPr/>
        </p:nvSpPr>
        <p:spPr bwMode="auto">
          <a:xfrm>
            <a:off x="4519613" y="4386263"/>
            <a:ext cx="3433762" cy="603250"/>
          </a:xfrm>
          <a:prstGeom prst="rect">
            <a:avLst/>
          </a:prstGeom>
          <a:solidFill>
            <a:srgbClr val="FF99CC"/>
          </a:solidFill>
          <a:ln w="9525">
            <a:solidFill>
              <a:srgbClr val="000000"/>
            </a:solidFill>
            <a:miter lim="800000"/>
          </a:ln>
        </p:spPr>
        <p:txBody>
          <a:bodyPr lIns="0" tIns="0" rIns="0" bIns="0"/>
          <a:lstStyle/>
          <a:p>
            <a:pPr algn="just" eaLnBrk="0" hangingPunct="0"/>
            <a:r>
              <a:rPr lang="zh-CN" altLang="en-US" sz="1000"/>
              <a:t> </a:t>
            </a:r>
            <a:endParaRPr lang="zh-CN" altLang="en-US" sz="1000" b="1"/>
          </a:p>
        </p:txBody>
      </p:sp>
      <p:sp>
        <p:nvSpPr>
          <p:cNvPr id="106504" name="Oval 8"/>
          <p:cNvSpPr>
            <a:spLocks noChangeArrowheads="1"/>
          </p:cNvSpPr>
          <p:nvPr/>
        </p:nvSpPr>
        <p:spPr bwMode="auto">
          <a:xfrm>
            <a:off x="4471988" y="4391025"/>
            <a:ext cx="131762" cy="592138"/>
          </a:xfrm>
          <a:prstGeom prst="ellipse">
            <a:avLst/>
          </a:prstGeom>
          <a:solidFill>
            <a:srgbClr val="FF99CC"/>
          </a:solidFill>
          <a:ln w="9525">
            <a:solidFill>
              <a:srgbClr val="000000"/>
            </a:solidFill>
            <a:round/>
          </a:ln>
        </p:spPr>
        <p:txBody>
          <a:bodyPr/>
          <a:lstStyle/>
          <a:p>
            <a:endParaRPr lang="zh-CN" altLang="en-US"/>
          </a:p>
        </p:txBody>
      </p:sp>
      <p:sp>
        <p:nvSpPr>
          <p:cNvPr id="106505" name="Oval 9"/>
          <p:cNvSpPr>
            <a:spLocks noChangeArrowheads="1"/>
          </p:cNvSpPr>
          <p:nvPr/>
        </p:nvSpPr>
        <p:spPr bwMode="auto">
          <a:xfrm>
            <a:off x="7894638" y="4400550"/>
            <a:ext cx="101600" cy="573088"/>
          </a:xfrm>
          <a:prstGeom prst="ellipse">
            <a:avLst/>
          </a:prstGeom>
          <a:solidFill>
            <a:srgbClr val="FF99CC"/>
          </a:solidFill>
          <a:ln w="9525">
            <a:solidFill>
              <a:srgbClr val="000000"/>
            </a:solidFill>
            <a:round/>
          </a:ln>
        </p:spPr>
        <p:txBody>
          <a:bodyPr/>
          <a:lstStyle/>
          <a:p>
            <a:endParaRPr lang="zh-CN" altLang="en-US"/>
          </a:p>
        </p:txBody>
      </p:sp>
      <p:sp>
        <p:nvSpPr>
          <p:cNvPr id="106506" name="Rectangle 10"/>
          <p:cNvSpPr>
            <a:spLocks noChangeArrowheads="1"/>
          </p:cNvSpPr>
          <p:nvPr/>
        </p:nvSpPr>
        <p:spPr bwMode="auto">
          <a:xfrm>
            <a:off x="7380289" y="4422775"/>
            <a:ext cx="573087" cy="528638"/>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07" name="Text Box 11"/>
          <p:cNvSpPr txBox="1">
            <a:spLocks noChangeArrowheads="1"/>
          </p:cNvSpPr>
          <p:nvPr/>
        </p:nvSpPr>
        <p:spPr bwMode="auto">
          <a:xfrm>
            <a:off x="5945188" y="3751264"/>
            <a:ext cx="1217612" cy="528637"/>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a:solidFill>
                  <a:schemeClr val="bg2"/>
                </a:solidFill>
              </a:rPr>
              <a:t>Internet</a:t>
            </a:r>
            <a:endParaRPr lang="en-US" altLang="zh-CN">
              <a:solidFill>
                <a:schemeClr val="bg2"/>
              </a:solidFill>
            </a:endParaRPr>
          </a:p>
        </p:txBody>
      </p:sp>
      <p:sp>
        <p:nvSpPr>
          <p:cNvPr id="106508" name="Rectangle 12"/>
          <p:cNvSpPr>
            <a:spLocks noChangeArrowheads="1"/>
          </p:cNvSpPr>
          <p:nvPr/>
        </p:nvSpPr>
        <p:spPr bwMode="auto">
          <a:xfrm>
            <a:off x="6199188" y="4465638"/>
            <a:ext cx="1268412" cy="495300"/>
          </a:xfrm>
          <a:prstGeom prst="rect">
            <a:avLst/>
          </a:prstGeom>
          <a:solidFill>
            <a:srgbClr val="FF99CC"/>
          </a:solidFill>
          <a:ln w="9525">
            <a:solidFill>
              <a:srgbClr val="000000"/>
            </a:solidFill>
            <a:miter lim="800000"/>
          </a:ln>
        </p:spPr>
        <p:txBody>
          <a:bodyPr lIns="0" tIns="0" rIns="0" bIns="0"/>
          <a:lstStyle/>
          <a:p>
            <a:pPr algn="ctr" eaLnBrk="0" hangingPunct="0"/>
            <a:r>
              <a:rPr lang="zh-CN" altLang="en-US">
                <a:solidFill>
                  <a:schemeClr val="bg2"/>
                </a:solidFill>
              </a:rPr>
              <a:t>加密数据</a:t>
            </a:r>
            <a:endParaRPr lang="zh-CN" altLang="en-US">
              <a:solidFill>
                <a:schemeClr val="bg2"/>
              </a:solidFill>
            </a:endParaRPr>
          </a:p>
        </p:txBody>
      </p:sp>
      <p:sp>
        <p:nvSpPr>
          <p:cNvPr id="106509" name="Rectangle 13"/>
          <p:cNvSpPr>
            <a:spLocks noChangeArrowheads="1"/>
          </p:cNvSpPr>
          <p:nvPr/>
        </p:nvSpPr>
        <p:spPr bwMode="auto">
          <a:xfrm>
            <a:off x="4953001" y="4465638"/>
            <a:ext cx="1262063" cy="495300"/>
          </a:xfrm>
          <a:prstGeom prst="rect">
            <a:avLst/>
          </a:prstGeom>
          <a:solidFill>
            <a:srgbClr val="FF99CC"/>
          </a:solidFill>
          <a:ln w="9525">
            <a:solidFill>
              <a:srgbClr val="000000"/>
            </a:solidFill>
            <a:miter lim="800000"/>
          </a:ln>
        </p:spPr>
        <p:txBody>
          <a:bodyPr lIns="0" tIns="0" rIns="0" bIns="0"/>
          <a:lstStyle/>
          <a:p>
            <a:pPr algn="ctr" eaLnBrk="0" hangingPunct="0"/>
            <a:r>
              <a:rPr lang="zh-CN" altLang="en-US">
                <a:solidFill>
                  <a:schemeClr val="bg2"/>
                </a:solidFill>
              </a:rPr>
              <a:t>隧道头</a:t>
            </a:r>
            <a:endParaRPr lang="zh-CN" altLang="en-US">
              <a:solidFill>
                <a:schemeClr val="bg2"/>
              </a:solidFill>
            </a:endParaRPr>
          </a:p>
        </p:txBody>
      </p:sp>
      <p:sp>
        <p:nvSpPr>
          <p:cNvPr id="106510" name="Rectangle 14"/>
          <p:cNvSpPr>
            <a:spLocks noChangeArrowheads="1"/>
          </p:cNvSpPr>
          <p:nvPr/>
        </p:nvSpPr>
        <p:spPr bwMode="auto">
          <a:xfrm>
            <a:off x="9070976" y="4395788"/>
            <a:ext cx="720725" cy="709612"/>
          </a:xfrm>
          <a:prstGeom prst="rect">
            <a:avLst/>
          </a:prstGeom>
          <a:solidFill>
            <a:srgbClr val="FF99CC"/>
          </a:solidFill>
          <a:ln w="9525">
            <a:solidFill>
              <a:srgbClr val="000000"/>
            </a:solidFill>
            <a:miter lim="800000"/>
          </a:ln>
        </p:spPr>
        <p:txBody>
          <a:bodyPr lIns="0" tIns="0" rIns="0" bIns="0"/>
          <a:lstStyle/>
          <a:p>
            <a:pPr algn="ctr" eaLnBrk="0" hangingPunct="0"/>
            <a:r>
              <a:rPr lang="zh-CN" altLang="en-US">
                <a:solidFill>
                  <a:schemeClr val="bg2"/>
                </a:solidFill>
              </a:rPr>
              <a:t>数据</a:t>
            </a:r>
            <a:endParaRPr lang="zh-CN" altLang="en-US">
              <a:solidFill>
                <a:schemeClr val="bg2"/>
              </a:solidFill>
            </a:endParaRPr>
          </a:p>
        </p:txBody>
      </p:sp>
      <p:sp>
        <p:nvSpPr>
          <p:cNvPr id="106511" name="Rectangle 15"/>
          <p:cNvSpPr>
            <a:spLocks noChangeArrowheads="1"/>
          </p:cNvSpPr>
          <p:nvPr/>
        </p:nvSpPr>
        <p:spPr bwMode="auto">
          <a:xfrm>
            <a:off x="2971801" y="4438650"/>
            <a:ext cx="720725" cy="495300"/>
          </a:xfrm>
          <a:prstGeom prst="rect">
            <a:avLst/>
          </a:prstGeom>
          <a:solidFill>
            <a:srgbClr val="FF99CC"/>
          </a:solidFill>
          <a:ln w="9525">
            <a:solidFill>
              <a:srgbClr val="000000"/>
            </a:solidFill>
            <a:miter lim="800000"/>
          </a:ln>
        </p:spPr>
        <p:txBody>
          <a:bodyPr lIns="0" tIns="0" rIns="0" bIns="0"/>
          <a:lstStyle/>
          <a:p>
            <a:pPr algn="ctr" eaLnBrk="0" hangingPunct="0"/>
            <a:r>
              <a:rPr lang="zh-CN" altLang="en-US">
                <a:solidFill>
                  <a:schemeClr val="bg2"/>
                </a:solidFill>
              </a:rPr>
              <a:t>数据</a:t>
            </a:r>
            <a:endParaRPr lang="zh-CN" altLang="en-US">
              <a:solidFill>
                <a:schemeClr val="bg2"/>
              </a:solidFill>
            </a:endParaRPr>
          </a:p>
        </p:txBody>
      </p:sp>
      <p:sp>
        <p:nvSpPr>
          <p:cNvPr id="106512" name="Line 16"/>
          <p:cNvSpPr>
            <a:spLocks noChangeShapeType="1"/>
          </p:cNvSpPr>
          <p:nvPr/>
        </p:nvSpPr>
        <p:spPr bwMode="auto">
          <a:xfrm>
            <a:off x="3657600" y="4876800"/>
            <a:ext cx="2514600" cy="0"/>
          </a:xfrm>
          <a:prstGeom prst="line">
            <a:avLst/>
          </a:prstGeom>
          <a:noFill/>
          <a:ln w="38100">
            <a:solidFill>
              <a:srgbClr val="1F4E7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13" name="Line 17"/>
          <p:cNvSpPr>
            <a:spLocks noChangeShapeType="1"/>
          </p:cNvSpPr>
          <p:nvPr/>
        </p:nvSpPr>
        <p:spPr bwMode="auto">
          <a:xfrm>
            <a:off x="6324600" y="4876800"/>
            <a:ext cx="2819400" cy="0"/>
          </a:xfrm>
          <a:prstGeom prst="line">
            <a:avLst/>
          </a:prstGeom>
          <a:noFill/>
          <a:ln w="38100">
            <a:solidFill>
              <a:srgbClr val="1F4E7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8" name="组合 17"/>
          <p:cNvGrpSpPr/>
          <p:nvPr/>
        </p:nvGrpSpPr>
        <p:grpSpPr>
          <a:xfrm>
            <a:off x="3141756" y="168895"/>
            <a:ext cx="3546288" cy="1109044"/>
            <a:chOff x="3279913" y="488294"/>
            <a:chExt cx="3546288" cy="1109044"/>
          </a:xfrm>
        </p:grpSpPr>
        <p:grpSp>
          <p:nvGrpSpPr>
            <p:cNvPr id="19" name="组合 18"/>
            <p:cNvGrpSpPr/>
            <p:nvPr/>
          </p:nvGrpSpPr>
          <p:grpSpPr>
            <a:xfrm>
              <a:off x="3279913" y="909457"/>
              <a:ext cx="3546288" cy="687881"/>
              <a:chOff x="3279913" y="909457"/>
              <a:chExt cx="3546288" cy="687881"/>
            </a:xfrm>
          </p:grpSpPr>
          <p:sp>
            <p:nvSpPr>
              <p:cNvPr id="173" name="矩形: 圆角 9"/>
              <p:cNvSpPr/>
              <p:nvPr/>
            </p:nvSpPr>
            <p:spPr>
              <a:xfrm>
                <a:off x="3279913" y="909457"/>
                <a:ext cx="3546288"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74" name="文本框 173"/>
              <p:cNvSpPr txBox="1"/>
              <p:nvPr/>
            </p:nvSpPr>
            <p:spPr>
              <a:xfrm>
                <a:off x="4648956" y="1032190"/>
                <a:ext cx="1826141"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隧道技术</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20"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3"/>
              </p:custDataLst>
            </p:nvPr>
          </p:nvGrpSpPr>
          <p:grpSpPr>
            <a:xfrm>
              <a:off x="3459237" y="488294"/>
              <a:ext cx="1104746" cy="1087791"/>
              <a:chOff x="3950910" y="1316832"/>
              <a:chExt cx="4290179" cy="4224337"/>
            </a:xfrm>
          </p:grpSpPr>
          <p:sp>
            <p:nvSpPr>
              <p:cNvPr id="21"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61"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3"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4"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5"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6"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7"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8"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9"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0"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1"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2"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650"/>
                                        <p:tgtEl>
                                          <p:spTgt spid="18"/>
                                        </p:tgtEl>
                                      </p:cBhvr>
                                    </p:animEffect>
                                    <p:anim calcmode="lin" valueType="num">
                                      <p:cBhvr>
                                        <p:cTn id="8" dur="650" fill="hold"/>
                                        <p:tgtEl>
                                          <p:spTgt spid="18"/>
                                        </p:tgtEl>
                                        <p:attrNameLst>
                                          <p:attrName>ppt_x</p:attrName>
                                        </p:attrNameLst>
                                      </p:cBhvr>
                                      <p:tavLst>
                                        <p:tav tm="0">
                                          <p:val>
                                            <p:strVal val="#ppt_x"/>
                                          </p:val>
                                        </p:tav>
                                        <p:tav tm="100000">
                                          <p:val>
                                            <p:strVal val="#ppt_x"/>
                                          </p:val>
                                        </p:tav>
                                      </p:tavLst>
                                    </p:anim>
                                    <p:anim calcmode="lin" valueType="num">
                                      <p:cBhvr>
                                        <p:cTn id="9" dur="65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zh-CN" altLang="en-US"/>
              <a:t> </a:t>
            </a:r>
            <a:endParaRPr lang="zh-CN" altLang="en-US"/>
          </a:p>
        </p:txBody>
      </p:sp>
      <p:sp>
        <p:nvSpPr>
          <p:cNvPr id="107523" name="Rectangle 3"/>
          <p:cNvSpPr>
            <a:spLocks noGrp="1" noChangeArrowheads="1"/>
          </p:cNvSpPr>
          <p:nvPr>
            <p:ph type="body" idx="1"/>
          </p:nvPr>
        </p:nvSpPr>
        <p:spPr/>
        <p:txBody>
          <a:bodyPr/>
          <a:lstStyle/>
          <a:p>
            <a:pPr algn="just"/>
            <a:r>
              <a:rPr lang="en-US" altLang="zh-CN">
                <a:latin typeface="宋体" panose="02010600030101010101" pitchFamily="2" charset="-122"/>
              </a:rPr>
              <a:t>    </a:t>
            </a:r>
            <a:r>
              <a:rPr lang="zh-CN" altLang="en-US">
                <a:latin typeface="宋体" panose="02010600030101010101" pitchFamily="2" charset="-122"/>
              </a:rPr>
              <a:t>图中隧道的两边可以是</a:t>
            </a:r>
            <a:r>
              <a:rPr lang="en-US" altLang="zh-CN">
                <a:cs typeface="Times New Roman" panose="02020603050405020304" pitchFamily="18" charset="0"/>
              </a:rPr>
              <a:t>Intranet</a:t>
            </a:r>
            <a:r>
              <a:rPr lang="en-US" altLang="zh-CN">
                <a:latin typeface="宋体" panose="02010600030101010101" pitchFamily="2" charset="-122"/>
              </a:rPr>
              <a:t>；</a:t>
            </a:r>
            <a:r>
              <a:rPr lang="zh-CN" altLang="en-US">
                <a:latin typeface="宋体" panose="02010600030101010101" pitchFamily="2" charset="-122"/>
              </a:rPr>
              <a:t>也可以一边是单个的主机，另一边是</a:t>
            </a:r>
            <a:r>
              <a:rPr lang="en-US" altLang="zh-CN">
                <a:cs typeface="Times New Roman" panose="02020603050405020304" pitchFamily="18" charset="0"/>
              </a:rPr>
              <a:t>Intranet</a:t>
            </a:r>
            <a:r>
              <a:rPr lang="en-US" altLang="zh-CN">
                <a:latin typeface="宋体" panose="02010600030101010101" pitchFamily="2" charset="-122"/>
              </a:rPr>
              <a:t>；</a:t>
            </a:r>
            <a:r>
              <a:rPr lang="zh-CN" altLang="en-US">
                <a:latin typeface="宋体" panose="02010600030101010101" pitchFamily="2" charset="-122"/>
              </a:rPr>
              <a:t>甚至两边都是单个的主机。从图中我们可以看出，隧道需要对进入其中的数据加以处理。这里有两个基本的过程：</a:t>
            </a:r>
            <a:r>
              <a:rPr lang="zh-CN" altLang="en-US">
                <a:highlight>
                  <a:srgbClr val="00FF00"/>
                </a:highlight>
                <a:latin typeface="宋体" panose="02010600030101010101" pitchFamily="2" charset="-122"/>
              </a:rPr>
              <a:t>加密</a:t>
            </a:r>
            <a:r>
              <a:rPr lang="zh-CN" altLang="en-US">
                <a:latin typeface="宋体" panose="02010600030101010101" pitchFamily="2" charset="-122"/>
              </a:rPr>
              <a:t>和</a:t>
            </a:r>
            <a:r>
              <a:rPr lang="zh-CN" altLang="en-US">
                <a:highlight>
                  <a:srgbClr val="00FF00"/>
                </a:highlight>
                <a:latin typeface="宋体" panose="02010600030101010101" pitchFamily="2" charset="-122"/>
              </a:rPr>
              <a:t>封装</a:t>
            </a:r>
            <a:r>
              <a:rPr lang="zh-CN" altLang="en-US">
                <a:latin typeface="宋体" panose="02010600030101010101" pitchFamily="2" charset="-122"/>
              </a:rPr>
              <a:t>。</a:t>
            </a:r>
            <a:endParaRPr lang="zh-CN" altLang="en-US">
              <a:cs typeface="Times New Roman" panose="02020603050405020304" pitchFamily="18" charset="0"/>
            </a:endParaRPr>
          </a:p>
          <a:p>
            <a:r>
              <a:rPr lang="en-US" altLang="zh-CN">
                <a:latin typeface="宋体" panose="02010600030101010101" pitchFamily="2" charset="-122"/>
              </a:rPr>
              <a:t>    </a:t>
            </a:r>
            <a:r>
              <a:rPr lang="zh-CN" altLang="en-US">
                <a:latin typeface="宋体" panose="02010600030101010101" pitchFamily="2" charset="-122"/>
              </a:rPr>
              <a:t>加密很</a:t>
            </a:r>
            <a:r>
              <a:rPr lang="zh-CN" altLang="en-US">
                <a:latin typeface="宋体" panose="02010600030101010101" pitchFamily="2" charset="-122"/>
              </a:rPr>
              <a:t>有必要，如果流经隧道的数据不加密，那么整个隧道就暴露在了</a:t>
            </a:r>
            <a:r>
              <a:rPr lang="en-US" altLang="zh-CN">
                <a:cs typeface="Times New Roman" panose="02020603050405020304" pitchFamily="18" charset="0"/>
              </a:rPr>
              <a:t>Internet</a:t>
            </a:r>
            <a:r>
              <a:rPr lang="zh-CN" altLang="en-US">
                <a:latin typeface="宋体" panose="02010600030101010101" pitchFamily="2" charset="-122"/>
              </a:rPr>
              <a:t>上。</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a:t> </a:t>
            </a:r>
            <a:endParaRPr lang="zh-CN" altLang="en-US"/>
          </a:p>
        </p:txBody>
      </p:sp>
      <p:sp>
        <p:nvSpPr>
          <p:cNvPr id="108547" name="Rectangle 3"/>
          <p:cNvSpPr>
            <a:spLocks noGrp="1" noChangeArrowheads="1"/>
          </p:cNvSpPr>
          <p:nvPr>
            <p:ph type="body" idx="1"/>
          </p:nvPr>
        </p:nvSpPr>
        <p:spPr/>
        <p:txBody>
          <a:bodyPr/>
          <a:lstStyle/>
          <a:p>
            <a:r>
              <a:rPr lang="en-US" altLang="zh-CN">
                <a:latin typeface="宋体" panose="02010600030101010101" pitchFamily="2" charset="-122"/>
              </a:rPr>
              <a:t>    </a:t>
            </a:r>
            <a:r>
              <a:rPr lang="zh-CN" altLang="en-US">
                <a:latin typeface="宋体" panose="02010600030101010101" pitchFamily="2" charset="-122"/>
              </a:rPr>
              <a:t>封装是构建隧道的基本手段，用来创建、维持和撤销一个隧道。封装使得隧道能够实现信息的隐蔽和信息的抽象。信息的隐蔽表现在企业内部</a:t>
            </a:r>
            <a:r>
              <a:rPr lang="en-US" altLang="zh-CN">
                <a:cs typeface="Times New Roman" panose="02020603050405020304" pitchFamily="18" charset="0"/>
              </a:rPr>
              <a:t>IP</a:t>
            </a:r>
            <a:r>
              <a:rPr lang="zh-CN" altLang="en-US">
                <a:latin typeface="宋体" panose="02010600030101010101" pitchFamily="2" charset="-122"/>
              </a:rPr>
              <a:t>地址的隐藏：暴露的是隧道两端节点的地址。于是我们就可以在</a:t>
            </a:r>
            <a:r>
              <a:rPr lang="en-US" altLang="zh-CN">
                <a:cs typeface="Times New Roman" panose="02020603050405020304" pitchFamily="18" charset="0"/>
              </a:rPr>
              <a:t>VPN</a:t>
            </a:r>
            <a:r>
              <a:rPr lang="zh-CN" altLang="en-US">
                <a:latin typeface="宋体" panose="02010600030101010101" pitchFamily="2" charset="-122"/>
              </a:rPr>
              <a:t>上应用</a:t>
            </a:r>
            <a:r>
              <a:rPr lang="en-US" altLang="zh-CN">
                <a:cs typeface="Times New Roman" panose="02020603050405020304" pitchFamily="18" charset="0"/>
              </a:rPr>
              <a:t>NAT</a:t>
            </a:r>
            <a:r>
              <a:rPr lang="en-US" altLang="zh-CN">
                <a:latin typeface="宋体" panose="02010600030101010101" pitchFamily="2" charset="-122"/>
              </a:rPr>
              <a:t>（</a:t>
            </a:r>
            <a:r>
              <a:rPr lang="zh-CN" altLang="en-US">
                <a:latin typeface="宋体" panose="02010600030101010101" pitchFamily="2" charset="-122"/>
              </a:rPr>
              <a:t>网络地址翻译）：在隧道的一端将内部地址转换成外部地址，在另一端将外部地址转换成内部地址。这样做的另外一个好处是节省</a:t>
            </a:r>
            <a:r>
              <a:rPr lang="en-US" altLang="zh-CN">
                <a:cs typeface="Times New Roman" panose="02020603050405020304" pitchFamily="18" charset="0"/>
              </a:rPr>
              <a:t>IP</a:t>
            </a:r>
            <a:r>
              <a:rPr lang="zh-CN" altLang="en-US">
                <a:latin typeface="宋体" panose="02010600030101010101" pitchFamily="2" charset="-122"/>
              </a:rPr>
              <a:t>地址。</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zh-CN" altLang="en-US"/>
              <a:t> </a:t>
            </a:r>
            <a:endParaRPr lang="zh-CN" altLang="en-US"/>
          </a:p>
        </p:txBody>
      </p:sp>
      <p:sp>
        <p:nvSpPr>
          <p:cNvPr id="109571" name="Rectangle 3"/>
          <p:cNvSpPr>
            <a:spLocks noGrp="1" noChangeArrowheads="1"/>
          </p:cNvSpPr>
          <p:nvPr>
            <p:ph type="body" idx="1"/>
          </p:nvPr>
        </p:nvSpPr>
        <p:spPr>
          <a:xfrm>
            <a:off x="1153160" y="1981200"/>
            <a:ext cx="10124440" cy="4114800"/>
          </a:xfrm>
        </p:spPr>
        <p:txBody>
          <a:bodyPr/>
          <a:lstStyle/>
          <a:p>
            <a:r>
              <a:rPr lang="en-US" altLang="zh-CN">
                <a:latin typeface="宋体" panose="02010600030101010101" pitchFamily="2" charset="-122"/>
              </a:rPr>
              <a:t>    </a:t>
            </a:r>
            <a:r>
              <a:rPr lang="zh-CN" altLang="en-US">
                <a:latin typeface="宋体" panose="02010600030101010101" pitchFamily="2" charset="-122"/>
              </a:rPr>
              <a:t>要构建一个</a:t>
            </a:r>
            <a:r>
              <a:rPr lang="en-US" altLang="zh-CN">
                <a:cs typeface="Times New Roman" panose="02020603050405020304" pitchFamily="18" charset="0"/>
              </a:rPr>
              <a:t>VPN</a:t>
            </a:r>
            <a:r>
              <a:rPr lang="en-US" altLang="zh-CN">
                <a:latin typeface="宋体" panose="02010600030101010101" pitchFamily="2" charset="-122"/>
              </a:rPr>
              <a:t>，</a:t>
            </a:r>
            <a:r>
              <a:rPr lang="zh-CN" altLang="en-US">
                <a:latin typeface="宋体" panose="02010600030101010101" pitchFamily="2" charset="-122"/>
              </a:rPr>
              <a:t>不可缺少的是</a:t>
            </a:r>
            <a:r>
              <a:rPr lang="zh-CN" altLang="en-US"/>
              <a:t>“</a:t>
            </a:r>
            <a:r>
              <a:rPr lang="zh-CN" altLang="en-US">
                <a:latin typeface="宋体" panose="02010600030101010101" pitchFamily="2" charset="-122"/>
              </a:rPr>
              <a:t>安全协议</a:t>
            </a:r>
            <a:r>
              <a:rPr lang="zh-CN" altLang="en-US"/>
              <a:t>”</a:t>
            </a:r>
            <a:r>
              <a:rPr lang="zh-CN" altLang="en-US">
                <a:latin typeface="宋体" panose="02010600030101010101" pitchFamily="2" charset="-122"/>
              </a:rPr>
              <a:t>，也就是构建隧道的</a:t>
            </a:r>
            <a:r>
              <a:rPr lang="zh-CN" altLang="en-US"/>
              <a:t>“</a:t>
            </a:r>
            <a:r>
              <a:rPr lang="zh-CN" altLang="en-US">
                <a:latin typeface="宋体" panose="02010600030101010101" pitchFamily="2" charset="-122"/>
              </a:rPr>
              <a:t>隧道协议</a:t>
            </a:r>
            <a:r>
              <a:rPr lang="zh-CN" altLang="en-US"/>
              <a:t>”</a:t>
            </a:r>
            <a:r>
              <a:rPr lang="zh-CN" altLang="en-US">
                <a:latin typeface="宋体" panose="02010600030101010101" pitchFamily="2" charset="-122"/>
              </a:rPr>
              <a:t>。隧道协议可分为第二层隧道协议和第三层隧道协议。第二层隧道协议典型的有</a:t>
            </a:r>
            <a:r>
              <a:rPr lang="en-US" altLang="zh-CN">
                <a:cs typeface="Times New Roman" panose="02020603050405020304" pitchFamily="18" charset="0"/>
              </a:rPr>
              <a:t>PPTP</a:t>
            </a:r>
            <a:r>
              <a:rPr lang="en-US" altLang="zh-CN">
                <a:latin typeface="宋体" panose="02010600030101010101" pitchFamily="2" charset="-122"/>
              </a:rPr>
              <a:t>（</a:t>
            </a:r>
            <a:r>
              <a:rPr lang="en-US" altLang="zh-CN">
                <a:cs typeface="Times New Roman" panose="02020603050405020304" pitchFamily="18" charset="0"/>
              </a:rPr>
              <a:t>Point-to-Point Tunneling Protocol</a:t>
            </a:r>
            <a:r>
              <a:rPr lang="en-US" altLang="zh-CN">
                <a:latin typeface="宋体" panose="02010600030101010101" pitchFamily="2" charset="-122"/>
              </a:rPr>
              <a:t>）、</a:t>
            </a:r>
            <a:r>
              <a:rPr lang="en-US" altLang="zh-CN">
                <a:cs typeface="Times New Roman" panose="02020603050405020304" pitchFamily="18" charset="0"/>
              </a:rPr>
              <a:t>L2F</a:t>
            </a:r>
            <a:r>
              <a:rPr lang="en-US" altLang="zh-CN">
                <a:latin typeface="宋体" panose="02010600030101010101" pitchFamily="2" charset="-122"/>
              </a:rPr>
              <a:t>（</a:t>
            </a:r>
            <a:r>
              <a:rPr lang="en-US" altLang="zh-CN">
                <a:cs typeface="Times New Roman" panose="02020603050405020304" pitchFamily="18" charset="0"/>
              </a:rPr>
              <a:t>Layer Two Forwarding</a:t>
            </a:r>
            <a:r>
              <a:rPr lang="en-US" altLang="zh-CN">
                <a:latin typeface="宋体" panose="02010600030101010101" pitchFamily="2" charset="-122"/>
              </a:rPr>
              <a:t>）</a:t>
            </a:r>
            <a:r>
              <a:rPr lang="zh-CN" altLang="en-US">
                <a:latin typeface="宋体" panose="02010600030101010101" pitchFamily="2" charset="-122"/>
              </a:rPr>
              <a:t>和</a:t>
            </a:r>
            <a:r>
              <a:rPr lang="en-US" altLang="zh-CN">
                <a:cs typeface="Times New Roman" panose="02020603050405020304" pitchFamily="18" charset="0"/>
              </a:rPr>
              <a:t>L2TP</a:t>
            </a:r>
            <a:r>
              <a:rPr lang="en-US" altLang="zh-CN">
                <a:latin typeface="宋体" panose="02010600030101010101" pitchFamily="2" charset="-122"/>
              </a:rPr>
              <a:t>（</a:t>
            </a:r>
            <a:r>
              <a:rPr lang="en-US" altLang="zh-CN">
                <a:cs typeface="Times New Roman" panose="02020603050405020304" pitchFamily="18" charset="0"/>
              </a:rPr>
              <a:t>Layer Two Tunneling Protocol</a:t>
            </a:r>
            <a:r>
              <a:rPr lang="en-US" altLang="zh-CN">
                <a:latin typeface="宋体" panose="02010600030101010101" pitchFamily="2" charset="-122"/>
              </a:rPr>
              <a:t>）</a:t>
            </a:r>
            <a:r>
              <a:rPr lang="zh-CN" altLang="en-US">
                <a:latin typeface="宋体" panose="02010600030101010101" pitchFamily="2" charset="-122"/>
              </a:rPr>
              <a:t>等；第三层隧道协议典型的有</a:t>
            </a:r>
            <a:r>
              <a:rPr lang="en-US" altLang="zh-CN">
                <a:cs typeface="Times New Roman" panose="02020603050405020304" pitchFamily="18" charset="0"/>
              </a:rPr>
              <a:t>GRE</a:t>
            </a:r>
            <a:r>
              <a:rPr lang="en-US" altLang="zh-CN">
                <a:latin typeface="宋体" panose="02010600030101010101" pitchFamily="2" charset="-122"/>
              </a:rPr>
              <a:t>（</a:t>
            </a:r>
            <a:r>
              <a:rPr lang="en-US" altLang="zh-CN">
                <a:cs typeface="Times New Roman" panose="02020603050405020304" pitchFamily="18" charset="0"/>
              </a:rPr>
              <a:t>Generic Routing Encapsulation</a:t>
            </a:r>
            <a:r>
              <a:rPr lang="en-US" altLang="zh-CN">
                <a:latin typeface="宋体" panose="02010600030101010101" pitchFamily="2" charset="-122"/>
              </a:rPr>
              <a:t>）</a:t>
            </a:r>
            <a:r>
              <a:rPr lang="zh-CN" altLang="en-US">
                <a:latin typeface="宋体" panose="02010600030101010101" pitchFamily="2" charset="-122"/>
              </a:rPr>
              <a:t>和</a:t>
            </a:r>
            <a:r>
              <a:rPr lang="en-US" altLang="zh-CN">
                <a:cs typeface="Times New Roman" panose="02020603050405020304" pitchFamily="18" charset="0"/>
              </a:rPr>
              <a:t>IPSec</a:t>
            </a:r>
            <a:r>
              <a:rPr lang="en-US" altLang="zh-CN">
                <a:latin typeface="宋体" panose="02010600030101010101" pitchFamily="2" charset="-122"/>
              </a:rPr>
              <a:t>（</a:t>
            </a:r>
            <a:r>
              <a:rPr lang="en-US" altLang="zh-CN">
                <a:cs typeface="Times New Roman" panose="02020603050405020304" pitchFamily="18" charset="0"/>
              </a:rPr>
              <a:t>Internet Protocol Security</a:t>
            </a:r>
            <a:r>
              <a:rPr lang="en-US" altLang="zh-CN">
                <a:latin typeface="宋体" panose="02010600030101010101" pitchFamily="2" charset="-122"/>
              </a:rPr>
              <a:t>）。</a:t>
            </a:r>
            <a:r>
              <a:rPr lang="en-US" altLang="zh-CN"/>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p:cNvSpPr>
            <a:spLocks noGrp="1" noChangeArrowheads="1"/>
          </p:cNvSpPr>
          <p:nvPr>
            <p:ph type="body" idx="1"/>
          </p:nvPr>
        </p:nvSpPr>
        <p:spPr/>
        <p:txBody>
          <a:bodyPr/>
          <a:lstStyle/>
          <a:p>
            <a:pPr algn="just"/>
            <a:r>
              <a:rPr lang="en-US" altLang="zh-CN">
                <a:cs typeface="Times New Roman" panose="02020603050405020304" pitchFamily="18" charset="0"/>
              </a:rPr>
              <a:t>1</a:t>
            </a:r>
            <a:r>
              <a:rPr lang="en-US" altLang="zh-CN"/>
              <a:t>、 </a:t>
            </a:r>
            <a:r>
              <a:rPr lang="en-US" altLang="zh-CN">
                <a:cs typeface="Times New Roman" panose="02020603050405020304" pitchFamily="18" charset="0"/>
              </a:rPr>
              <a:t>IPSec</a:t>
            </a:r>
            <a:r>
              <a:rPr lang="zh-CN" altLang="en-US"/>
              <a:t>对</a:t>
            </a:r>
            <a:r>
              <a:rPr lang="en-US" altLang="zh-CN"/>
              <a:t>VPN</a:t>
            </a:r>
            <a:r>
              <a:rPr lang="zh-CN" altLang="en-US"/>
              <a:t>的支持</a:t>
            </a:r>
            <a:endParaRPr lang="zh-CN" altLang="en-US"/>
          </a:p>
          <a:p>
            <a:pPr algn="just"/>
            <a:r>
              <a:rPr lang="en-US" altLang="zh-CN">
                <a:cs typeface="Times New Roman" panose="02020603050405020304" pitchFamily="18" charset="0"/>
              </a:rPr>
              <a:t>      IPSec</a:t>
            </a:r>
            <a:r>
              <a:rPr lang="zh-CN" altLang="en-US">
                <a:latin typeface="宋体" panose="02010600030101010101" pitchFamily="2" charset="-122"/>
              </a:rPr>
              <a:t>可以有效地保护</a:t>
            </a:r>
            <a:r>
              <a:rPr lang="en-US" altLang="zh-CN">
                <a:cs typeface="Times New Roman" panose="02020603050405020304" pitchFamily="18" charset="0"/>
              </a:rPr>
              <a:t>IP</a:t>
            </a:r>
            <a:r>
              <a:rPr lang="zh-CN" altLang="en-US">
                <a:latin typeface="宋体" panose="02010600030101010101" pitchFamily="2" charset="-122"/>
              </a:rPr>
              <a:t>数据包的机密性（数据没有被别人看过）和完整性（包括数据的真实性及数据未被修改）以及一定程度的抗重播能力。</a:t>
            </a:r>
            <a:endParaRPr lang="zh-CN" altLang="en-US">
              <a:cs typeface="Times New Roman" panose="02020603050405020304" pitchFamily="18" charset="0"/>
            </a:endParaRPr>
          </a:p>
          <a:p>
            <a:r>
              <a:rPr lang="en-US" altLang="zh-CN">
                <a:cs typeface="Times New Roman" panose="02020603050405020304" pitchFamily="18" charset="0"/>
              </a:rPr>
              <a:t>      IPSec</a:t>
            </a:r>
            <a:r>
              <a:rPr lang="zh-CN" altLang="en-US">
                <a:latin typeface="宋体" panose="02010600030101010101" pitchFamily="2" charset="-122"/>
              </a:rPr>
              <a:t>有两种工作</a:t>
            </a:r>
            <a:r>
              <a:rPr lang="zh-CN" altLang="en-US"/>
              <a:t>“</a:t>
            </a:r>
            <a:r>
              <a:rPr lang="zh-CN" altLang="en-US">
                <a:latin typeface="宋体" panose="02010600030101010101" pitchFamily="2" charset="-122"/>
              </a:rPr>
              <a:t>模式</a:t>
            </a:r>
            <a:r>
              <a:rPr lang="zh-CN" altLang="en-US"/>
              <a:t>”</a:t>
            </a:r>
            <a:r>
              <a:rPr lang="zh-CN" altLang="en-US">
                <a:latin typeface="宋体" panose="02010600030101010101" pitchFamily="2" charset="-122"/>
              </a:rPr>
              <a:t>：传送模式和隧道模式（见图</a:t>
            </a:r>
            <a:r>
              <a:rPr lang="zh-CN" altLang="en-US">
                <a:cs typeface="Times New Roman" panose="02020603050405020304" pitchFamily="18" charset="0"/>
              </a:rPr>
              <a:t>5-</a:t>
            </a:r>
            <a:r>
              <a:rPr lang="en-US" altLang="zh-CN">
                <a:cs typeface="Times New Roman" panose="02020603050405020304" pitchFamily="18" charset="0"/>
              </a:rPr>
              <a:t>1</a:t>
            </a:r>
            <a:r>
              <a:rPr lang="zh-CN" altLang="en-US">
                <a:cs typeface="Times New Roman" panose="02020603050405020304" pitchFamily="18" charset="0"/>
              </a:rPr>
              <a:t>9</a:t>
            </a:r>
            <a:r>
              <a:rPr lang="zh-CN" altLang="en-US">
                <a:latin typeface="宋体" panose="02010600030101010101" pitchFamily="2" charset="-122"/>
              </a:rPr>
              <a:t>）。</a:t>
            </a:r>
            <a:r>
              <a:rPr lang="zh-CN" altLang="en-US"/>
              <a:t> </a:t>
            </a:r>
            <a:endParaRPr lang="zh-CN" altLang="en-US"/>
          </a:p>
        </p:txBody>
      </p:sp>
      <p:grpSp>
        <p:nvGrpSpPr>
          <p:cNvPr id="4" name="组合 3"/>
          <p:cNvGrpSpPr/>
          <p:nvPr/>
        </p:nvGrpSpPr>
        <p:grpSpPr>
          <a:xfrm>
            <a:off x="3594092" y="211056"/>
            <a:ext cx="5003816" cy="1109044"/>
            <a:chOff x="3279913" y="488294"/>
            <a:chExt cx="5003816" cy="1109044"/>
          </a:xfrm>
        </p:grpSpPr>
        <p:grpSp>
          <p:nvGrpSpPr>
            <p:cNvPr id="5" name="组合 4"/>
            <p:cNvGrpSpPr/>
            <p:nvPr/>
          </p:nvGrpSpPr>
          <p:grpSpPr>
            <a:xfrm>
              <a:off x="3279913" y="909457"/>
              <a:ext cx="5003816" cy="687881"/>
              <a:chOff x="3279913" y="909457"/>
              <a:chExt cx="5003816" cy="687881"/>
            </a:xfrm>
          </p:grpSpPr>
          <p:sp>
            <p:nvSpPr>
              <p:cNvPr id="159" name="矩形: 圆角 9"/>
              <p:cNvSpPr/>
              <p:nvPr/>
            </p:nvSpPr>
            <p:spPr>
              <a:xfrm>
                <a:off x="3279913" y="909457"/>
                <a:ext cx="5003816"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3425810"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基于</a:t>
                </a:r>
                <a:r>
                  <a:rPr lang="en-US" altLang="zh-CN" sz="32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IPSec</a:t>
                </a: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的</a:t>
                </a:r>
                <a:r>
                  <a:rPr lang="en-US" altLang="zh-CN"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VPN</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1697932" y="5879494"/>
            <a:ext cx="10363200" cy="1143000"/>
          </a:xfrm>
        </p:spPr>
        <p:txBody>
          <a:bodyPr/>
          <a:lstStyle/>
          <a:p>
            <a:r>
              <a:rPr lang="zh-CN" altLang="en-US" sz="3200" dirty="0">
                <a:latin typeface="宋体" panose="02010600030101010101" pitchFamily="2" charset="-122"/>
              </a:rPr>
              <a:t>图</a:t>
            </a:r>
            <a:r>
              <a:rPr lang="zh-CN" altLang="en-US" sz="3200" dirty="0">
                <a:latin typeface="Times New Roman" panose="02020603050405020304" pitchFamily="18" charset="0"/>
                <a:cs typeface="Times New Roman" panose="02020603050405020304" pitchFamily="18" charset="0"/>
              </a:rPr>
              <a:t>5</a:t>
            </a:r>
            <a:r>
              <a:rPr lang="zh-CN" altLang="en-US" sz="3200" dirty="0" smtClean="0">
                <a:latin typeface="Times New Roman" panose="02020603050405020304" pitchFamily="18" charset="0"/>
                <a:cs typeface="Times New Roman" panose="02020603050405020304" pitchFamily="18" charset="0"/>
              </a:rPr>
              <a:t>-</a:t>
            </a:r>
            <a:r>
              <a:rPr lang="en-US" altLang="zh-CN" sz="3200" dirty="0" smtClean="0">
                <a:latin typeface="Times New Roman" panose="02020603050405020304" pitchFamily="18" charset="0"/>
                <a:cs typeface="Times New Roman" panose="02020603050405020304" pitchFamily="18" charset="0"/>
              </a:rPr>
              <a:t>1</a:t>
            </a:r>
            <a:r>
              <a:rPr lang="zh-CN" altLang="en-US" sz="3200" dirty="0" smtClean="0">
                <a:latin typeface="Times New Roman" panose="02020603050405020304" pitchFamily="18" charset="0"/>
                <a:cs typeface="Times New Roman" panose="02020603050405020304" pitchFamily="18" charset="0"/>
              </a:rPr>
              <a:t>9  </a:t>
            </a:r>
            <a:r>
              <a:rPr lang="zh-CN" altLang="en-US" sz="3200" dirty="0">
                <a:latin typeface="宋体" panose="02010600030101010101" pitchFamily="2" charset="-122"/>
              </a:rPr>
              <a:t>在传送模式和隧道模式下的受</a:t>
            </a:r>
            <a:r>
              <a:rPr lang="en-US" altLang="zh-CN" sz="3200" dirty="0" err="1">
                <a:latin typeface="Times New Roman" panose="02020603050405020304" pitchFamily="18" charset="0"/>
                <a:cs typeface="Times New Roman" panose="02020603050405020304" pitchFamily="18" charset="0"/>
              </a:rPr>
              <a:t>IPSec</a:t>
            </a:r>
            <a:r>
              <a:rPr lang="zh-CN" altLang="en-US" sz="3200" dirty="0">
                <a:latin typeface="宋体" panose="02010600030101010101" pitchFamily="2" charset="-122"/>
              </a:rPr>
              <a:t>保护的</a:t>
            </a:r>
            <a:r>
              <a:rPr lang="en-US" altLang="zh-CN" sz="3200" dirty="0">
                <a:latin typeface="Times New Roman" panose="02020603050405020304" pitchFamily="18" charset="0"/>
                <a:cs typeface="Times New Roman" panose="02020603050405020304" pitchFamily="18" charset="0"/>
              </a:rPr>
              <a:t>IP</a:t>
            </a:r>
            <a:r>
              <a:rPr lang="zh-CN" altLang="en-US" sz="3200" dirty="0">
                <a:latin typeface="宋体" panose="02010600030101010101" pitchFamily="2" charset="-122"/>
              </a:rPr>
              <a:t>包</a:t>
            </a:r>
            <a:r>
              <a:rPr lang="zh-CN" altLang="en-US" dirty="0"/>
              <a:t> </a:t>
            </a:r>
            <a:endParaRPr lang="zh-CN" altLang="en-US" dirty="0"/>
          </a:p>
        </p:txBody>
      </p:sp>
      <p:grpSp>
        <p:nvGrpSpPr>
          <p:cNvPr id="111619" name="Group 3"/>
          <p:cNvGrpSpPr/>
          <p:nvPr/>
        </p:nvGrpSpPr>
        <p:grpSpPr bwMode="auto">
          <a:xfrm>
            <a:off x="1981200" y="1345169"/>
            <a:ext cx="8458200" cy="3511150"/>
            <a:chOff x="2745" y="6640"/>
            <a:chExt cx="7520" cy="1441"/>
          </a:xfrm>
        </p:grpSpPr>
        <p:sp>
          <p:nvSpPr>
            <p:cNvPr id="111620" name="Text Box 4"/>
            <p:cNvSpPr txBox="1">
              <a:spLocks noChangeArrowheads="1"/>
            </p:cNvSpPr>
            <p:nvPr/>
          </p:nvSpPr>
          <p:spPr bwMode="auto">
            <a:xfrm>
              <a:off x="3965" y="6640"/>
              <a:ext cx="1260" cy="172"/>
            </a:xfrm>
            <a:prstGeom prst="rect">
              <a:avLst/>
            </a:prstGeom>
            <a:solidFill>
              <a:srgbClr val="FF99CC"/>
            </a:solidFill>
            <a:ln w="9525">
              <a:solidFill>
                <a:srgbClr val="000000"/>
              </a:solidFill>
              <a:miter lim="800000"/>
            </a:ln>
          </p:spPr>
          <p:txBody>
            <a:bodyPr/>
            <a:lstStyle/>
            <a:p>
              <a:pPr algn="ctr" eaLnBrk="0" hangingPunct="0"/>
              <a:r>
                <a:rPr lang="en-US" altLang="zh-CN">
                  <a:solidFill>
                    <a:schemeClr val="tx1"/>
                  </a:solidFill>
                </a:rPr>
                <a:t>IP</a:t>
              </a:r>
              <a:r>
                <a:rPr lang="zh-CN" altLang="en-US">
                  <a:solidFill>
                    <a:schemeClr val="tx1"/>
                  </a:solidFill>
                </a:rPr>
                <a:t>头</a:t>
              </a:r>
              <a:endParaRPr lang="zh-CN" altLang="en-US">
                <a:solidFill>
                  <a:schemeClr val="tx1"/>
                </a:solidFill>
              </a:endParaRPr>
            </a:p>
          </p:txBody>
        </p:sp>
        <p:sp>
          <p:nvSpPr>
            <p:cNvPr id="111621" name="Text Box 5"/>
            <p:cNvSpPr txBox="1">
              <a:spLocks noChangeArrowheads="1"/>
            </p:cNvSpPr>
            <p:nvPr/>
          </p:nvSpPr>
          <p:spPr bwMode="auto">
            <a:xfrm>
              <a:off x="6479" y="6640"/>
              <a:ext cx="1260" cy="172"/>
            </a:xfrm>
            <a:prstGeom prst="rect">
              <a:avLst/>
            </a:prstGeom>
            <a:solidFill>
              <a:srgbClr val="FF99CC"/>
            </a:solidFill>
            <a:ln w="9525">
              <a:solidFill>
                <a:srgbClr val="000000"/>
              </a:solidFill>
              <a:miter lim="800000"/>
            </a:ln>
          </p:spPr>
          <p:txBody>
            <a:bodyPr/>
            <a:lstStyle/>
            <a:p>
              <a:pPr algn="ctr" eaLnBrk="0" hangingPunct="0"/>
              <a:r>
                <a:rPr lang="zh-CN" altLang="en-US">
                  <a:solidFill>
                    <a:schemeClr val="tx1"/>
                  </a:solidFill>
                </a:rPr>
                <a:t>数据</a:t>
              </a:r>
              <a:endParaRPr lang="zh-CN" altLang="en-US">
                <a:solidFill>
                  <a:schemeClr val="tx1"/>
                </a:solidFill>
              </a:endParaRPr>
            </a:p>
          </p:txBody>
        </p:sp>
        <p:sp>
          <p:nvSpPr>
            <p:cNvPr id="111622" name="Text Box 6"/>
            <p:cNvSpPr txBox="1">
              <a:spLocks noChangeArrowheads="1"/>
            </p:cNvSpPr>
            <p:nvPr/>
          </p:nvSpPr>
          <p:spPr bwMode="auto">
            <a:xfrm>
              <a:off x="3965" y="7253"/>
              <a:ext cx="1260" cy="198"/>
            </a:xfrm>
            <a:prstGeom prst="rect">
              <a:avLst/>
            </a:prstGeom>
            <a:solidFill>
              <a:srgbClr val="FF99CC"/>
            </a:solidFill>
            <a:ln w="9525">
              <a:solidFill>
                <a:srgbClr val="000000"/>
              </a:solidFill>
              <a:miter lim="800000"/>
            </a:ln>
          </p:spPr>
          <p:txBody>
            <a:bodyPr/>
            <a:lstStyle/>
            <a:p>
              <a:pPr algn="ctr" eaLnBrk="0" hangingPunct="0"/>
              <a:r>
                <a:rPr lang="en-US" altLang="zh-CN">
                  <a:solidFill>
                    <a:schemeClr val="tx1"/>
                  </a:solidFill>
                </a:rPr>
                <a:t>IP</a:t>
              </a:r>
              <a:r>
                <a:rPr lang="zh-CN" altLang="en-US">
                  <a:solidFill>
                    <a:schemeClr val="tx1"/>
                  </a:solidFill>
                </a:rPr>
                <a:t>头</a:t>
              </a:r>
              <a:endParaRPr lang="zh-CN" altLang="en-US">
                <a:solidFill>
                  <a:schemeClr val="tx1"/>
                </a:solidFill>
              </a:endParaRPr>
            </a:p>
          </p:txBody>
        </p:sp>
        <p:sp>
          <p:nvSpPr>
            <p:cNvPr id="111623" name="Text Box 7"/>
            <p:cNvSpPr txBox="1">
              <a:spLocks noChangeArrowheads="1"/>
            </p:cNvSpPr>
            <p:nvPr/>
          </p:nvSpPr>
          <p:spPr bwMode="auto">
            <a:xfrm>
              <a:off x="7745" y="7253"/>
              <a:ext cx="1260" cy="198"/>
            </a:xfrm>
            <a:prstGeom prst="rect">
              <a:avLst/>
            </a:prstGeom>
            <a:solidFill>
              <a:srgbClr val="FF99CC"/>
            </a:solidFill>
            <a:ln w="9525">
              <a:solidFill>
                <a:srgbClr val="000000"/>
              </a:solidFill>
              <a:miter lim="800000"/>
            </a:ln>
          </p:spPr>
          <p:txBody>
            <a:bodyPr/>
            <a:lstStyle/>
            <a:p>
              <a:pPr algn="just" eaLnBrk="0" hangingPunct="0"/>
              <a:r>
                <a:rPr lang="zh-CN" altLang="en-US">
                  <a:solidFill>
                    <a:schemeClr val="tx1"/>
                  </a:solidFill>
                </a:rPr>
                <a:t>数据</a:t>
              </a:r>
              <a:endParaRPr lang="zh-CN" altLang="en-US">
                <a:solidFill>
                  <a:schemeClr val="tx1"/>
                </a:solidFill>
              </a:endParaRPr>
            </a:p>
          </p:txBody>
        </p:sp>
        <p:sp>
          <p:nvSpPr>
            <p:cNvPr id="111624" name="Text Box 8"/>
            <p:cNvSpPr txBox="1">
              <a:spLocks noChangeArrowheads="1"/>
            </p:cNvSpPr>
            <p:nvPr/>
          </p:nvSpPr>
          <p:spPr bwMode="auto">
            <a:xfrm>
              <a:off x="5225" y="7253"/>
              <a:ext cx="1260" cy="198"/>
            </a:xfrm>
            <a:prstGeom prst="rect">
              <a:avLst/>
            </a:prstGeom>
            <a:solidFill>
              <a:srgbClr val="FF99CC"/>
            </a:solidFill>
            <a:ln w="9525">
              <a:solidFill>
                <a:srgbClr val="000000"/>
              </a:solidFill>
              <a:miter lim="800000"/>
            </a:ln>
          </p:spPr>
          <p:txBody>
            <a:bodyPr/>
            <a:lstStyle/>
            <a:p>
              <a:pPr algn="ctr" eaLnBrk="0" hangingPunct="0"/>
              <a:r>
                <a:rPr lang="en-US" altLang="zh-CN">
                  <a:solidFill>
                    <a:schemeClr val="tx1"/>
                  </a:solidFill>
                </a:rPr>
                <a:t>IPsec</a:t>
              </a:r>
              <a:r>
                <a:rPr lang="zh-CN" altLang="en-US">
                  <a:solidFill>
                    <a:schemeClr val="tx1"/>
                  </a:solidFill>
                </a:rPr>
                <a:t>头</a:t>
              </a:r>
              <a:endParaRPr lang="zh-CN" altLang="en-US">
                <a:solidFill>
                  <a:schemeClr val="tx1"/>
                </a:solidFill>
              </a:endParaRPr>
            </a:p>
          </p:txBody>
        </p:sp>
        <p:sp>
          <p:nvSpPr>
            <p:cNvPr id="111625" name="Text Box 9"/>
            <p:cNvSpPr txBox="1">
              <a:spLocks noChangeArrowheads="1"/>
            </p:cNvSpPr>
            <p:nvPr/>
          </p:nvSpPr>
          <p:spPr bwMode="auto">
            <a:xfrm>
              <a:off x="3965" y="7865"/>
              <a:ext cx="1260" cy="209"/>
            </a:xfrm>
            <a:prstGeom prst="rect">
              <a:avLst/>
            </a:prstGeom>
            <a:solidFill>
              <a:srgbClr val="FF99CC"/>
            </a:solidFill>
            <a:ln w="9525">
              <a:solidFill>
                <a:srgbClr val="000000"/>
              </a:solidFill>
              <a:miter lim="800000"/>
            </a:ln>
          </p:spPr>
          <p:txBody>
            <a:bodyPr/>
            <a:lstStyle/>
            <a:p>
              <a:pPr algn="ctr" eaLnBrk="0" hangingPunct="0"/>
              <a:r>
                <a:rPr lang="zh-CN" altLang="en-US">
                  <a:solidFill>
                    <a:schemeClr val="tx1"/>
                  </a:solidFill>
                </a:rPr>
                <a:t>外部</a:t>
              </a:r>
              <a:r>
                <a:rPr lang="en-US" altLang="zh-CN">
                  <a:solidFill>
                    <a:schemeClr val="tx1"/>
                  </a:solidFill>
                </a:rPr>
                <a:t>IP</a:t>
              </a:r>
              <a:r>
                <a:rPr lang="zh-CN" altLang="en-US">
                  <a:solidFill>
                    <a:schemeClr val="tx1"/>
                  </a:solidFill>
                </a:rPr>
                <a:t>头</a:t>
              </a:r>
              <a:endParaRPr lang="zh-CN" altLang="en-US">
                <a:solidFill>
                  <a:schemeClr val="tx1"/>
                </a:solidFill>
              </a:endParaRPr>
            </a:p>
          </p:txBody>
        </p:sp>
        <p:sp>
          <p:nvSpPr>
            <p:cNvPr id="111626" name="Text Box 10"/>
            <p:cNvSpPr txBox="1">
              <a:spLocks noChangeArrowheads="1"/>
            </p:cNvSpPr>
            <p:nvPr/>
          </p:nvSpPr>
          <p:spPr bwMode="auto">
            <a:xfrm>
              <a:off x="9005" y="7865"/>
              <a:ext cx="1260" cy="209"/>
            </a:xfrm>
            <a:prstGeom prst="rect">
              <a:avLst/>
            </a:prstGeom>
            <a:solidFill>
              <a:srgbClr val="FF99CC"/>
            </a:solidFill>
            <a:ln w="9525">
              <a:solidFill>
                <a:srgbClr val="000000"/>
              </a:solidFill>
              <a:miter lim="800000"/>
            </a:ln>
          </p:spPr>
          <p:txBody>
            <a:bodyPr/>
            <a:lstStyle/>
            <a:p>
              <a:pPr algn="ctr" eaLnBrk="0" hangingPunct="0"/>
              <a:r>
                <a:rPr lang="zh-CN" altLang="en-US">
                  <a:solidFill>
                    <a:schemeClr val="tx1"/>
                  </a:solidFill>
                </a:rPr>
                <a:t>数据</a:t>
              </a:r>
              <a:endParaRPr lang="zh-CN" altLang="en-US">
                <a:solidFill>
                  <a:schemeClr val="tx1"/>
                </a:solidFill>
              </a:endParaRPr>
            </a:p>
          </p:txBody>
        </p:sp>
        <p:sp>
          <p:nvSpPr>
            <p:cNvPr id="111627" name="Text Box 11"/>
            <p:cNvSpPr txBox="1">
              <a:spLocks noChangeArrowheads="1"/>
            </p:cNvSpPr>
            <p:nvPr/>
          </p:nvSpPr>
          <p:spPr bwMode="auto">
            <a:xfrm>
              <a:off x="5225" y="7865"/>
              <a:ext cx="1260" cy="209"/>
            </a:xfrm>
            <a:prstGeom prst="rect">
              <a:avLst/>
            </a:prstGeom>
            <a:solidFill>
              <a:srgbClr val="FF99CC"/>
            </a:solidFill>
            <a:ln w="9525">
              <a:solidFill>
                <a:srgbClr val="000000"/>
              </a:solidFill>
              <a:miter lim="800000"/>
            </a:ln>
          </p:spPr>
          <p:txBody>
            <a:bodyPr/>
            <a:lstStyle/>
            <a:p>
              <a:pPr algn="ctr" eaLnBrk="0" hangingPunct="0"/>
              <a:r>
                <a:rPr lang="en-US" altLang="zh-CN">
                  <a:solidFill>
                    <a:schemeClr val="tx1"/>
                  </a:solidFill>
                </a:rPr>
                <a:t>IPsec</a:t>
              </a:r>
              <a:r>
                <a:rPr lang="zh-CN" altLang="en-US">
                  <a:solidFill>
                    <a:schemeClr val="tx1"/>
                  </a:solidFill>
                </a:rPr>
                <a:t>头</a:t>
              </a:r>
              <a:endParaRPr lang="zh-CN" altLang="en-US">
                <a:solidFill>
                  <a:schemeClr val="tx1"/>
                </a:solidFill>
              </a:endParaRPr>
            </a:p>
          </p:txBody>
        </p:sp>
        <p:sp>
          <p:nvSpPr>
            <p:cNvPr id="111628" name="Text Box 12"/>
            <p:cNvSpPr txBox="1">
              <a:spLocks noChangeArrowheads="1"/>
            </p:cNvSpPr>
            <p:nvPr/>
          </p:nvSpPr>
          <p:spPr bwMode="auto">
            <a:xfrm>
              <a:off x="6485" y="7865"/>
              <a:ext cx="1260" cy="209"/>
            </a:xfrm>
            <a:prstGeom prst="rect">
              <a:avLst/>
            </a:prstGeom>
            <a:solidFill>
              <a:srgbClr val="FF99CC"/>
            </a:solidFill>
            <a:ln w="9525">
              <a:solidFill>
                <a:srgbClr val="000000"/>
              </a:solidFill>
              <a:miter lim="800000"/>
            </a:ln>
          </p:spPr>
          <p:txBody>
            <a:bodyPr/>
            <a:lstStyle/>
            <a:p>
              <a:pPr algn="ctr" eaLnBrk="0" hangingPunct="0"/>
              <a:r>
                <a:rPr lang="zh-CN" altLang="en-US">
                  <a:solidFill>
                    <a:schemeClr val="tx1"/>
                  </a:solidFill>
                </a:rPr>
                <a:t>内部</a:t>
              </a:r>
              <a:r>
                <a:rPr lang="en-US" altLang="zh-CN">
                  <a:solidFill>
                    <a:schemeClr val="tx1"/>
                  </a:solidFill>
                </a:rPr>
                <a:t>IP</a:t>
              </a:r>
              <a:r>
                <a:rPr lang="zh-CN" altLang="en-US">
                  <a:solidFill>
                    <a:schemeClr val="tx1"/>
                  </a:solidFill>
                </a:rPr>
                <a:t>头</a:t>
              </a:r>
              <a:endParaRPr lang="zh-CN" altLang="en-US">
                <a:solidFill>
                  <a:schemeClr val="tx1"/>
                </a:solidFill>
              </a:endParaRPr>
            </a:p>
          </p:txBody>
        </p:sp>
        <p:sp>
          <p:nvSpPr>
            <p:cNvPr id="111629" name="Text Box 13"/>
            <p:cNvSpPr txBox="1">
              <a:spLocks noChangeArrowheads="1"/>
            </p:cNvSpPr>
            <p:nvPr/>
          </p:nvSpPr>
          <p:spPr bwMode="auto">
            <a:xfrm>
              <a:off x="2745" y="6704"/>
              <a:ext cx="1080" cy="11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0" hangingPunct="0"/>
              <a:r>
                <a:rPr lang="zh-CN" altLang="en-US">
                  <a:solidFill>
                    <a:schemeClr val="tx1"/>
                  </a:solidFill>
                </a:rPr>
                <a:t>原始的</a:t>
              </a:r>
              <a:r>
                <a:rPr lang="en-US" altLang="zh-CN">
                  <a:solidFill>
                    <a:schemeClr val="tx1"/>
                  </a:solidFill>
                </a:rPr>
                <a:t>IP</a:t>
              </a:r>
              <a:r>
                <a:rPr lang="zh-CN" altLang="en-US">
                  <a:solidFill>
                    <a:schemeClr val="tx1"/>
                  </a:solidFill>
                </a:rPr>
                <a:t>包</a:t>
              </a:r>
              <a:endParaRPr lang="zh-CN" altLang="en-US">
                <a:solidFill>
                  <a:schemeClr val="tx1"/>
                </a:solidFill>
              </a:endParaRPr>
            </a:p>
          </p:txBody>
        </p:sp>
        <p:sp>
          <p:nvSpPr>
            <p:cNvPr id="111630" name="Text Box 14"/>
            <p:cNvSpPr txBox="1">
              <a:spLocks noChangeArrowheads="1"/>
            </p:cNvSpPr>
            <p:nvPr/>
          </p:nvSpPr>
          <p:spPr bwMode="auto">
            <a:xfrm>
              <a:off x="2745" y="7317"/>
              <a:ext cx="1080" cy="133"/>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0" hangingPunct="0"/>
              <a:r>
                <a:rPr lang="zh-CN" altLang="en-US">
                  <a:solidFill>
                    <a:schemeClr val="tx1"/>
                  </a:solidFill>
                </a:rPr>
                <a:t>传送模式</a:t>
              </a:r>
              <a:endParaRPr lang="zh-CN" altLang="en-US">
                <a:solidFill>
                  <a:schemeClr val="tx1"/>
                </a:solidFill>
              </a:endParaRPr>
            </a:p>
          </p:txBody>
        </p:sp>
        <p:sp>
          <p:nvSpPr>
            <p:cNvPr id="111631" name="Text Box 15"/>
            <p:cNvSpPr txBox="1">
              <a:spLocks noChangeArrowheads="1"/>
            </p:cNvSpPr>
            <p:nvPr/>
          </p:nvSpPr>
          <p:spPr bwMode="auto">
            <a:xfrm>
              <a:off x="2745" y="7931"/>
              <a:ext cx="1080" cy="139"/>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0" hangingPunct="0"/>
              <a:r>
                <a:rPr lang="zh-CN" altLang="en-US">
                  <a:solidFill>
                    <a:schemeClr val="tx1"/>
                  </a:solidFill>
                </a:rPr>
                <a:t>隧道模式</a:t>
              </a:r>
              <a:endParaRPr lang="zh-CN" altLang="en-US">
                <a:solidFill>
                  <a:schemeClr val="tx1"/>
                </a:solidFill>
              </a:endParaRPr>
            </a:p>
          </p:txBody>
        </p:sp>
        <p:sp>
          <p:nvSpPr>
            <p:cNvPr id="111632" name="Text Box 16"/>
            <p:cNvSpPr txBox="1">
              <a:spLocks noChangeArrowheads="1"/>
            </p:cNvSpPr>
            <p:nvPr/>
          </p:nvSpPr>
          <p:spPr bwMode="auto">
            <a:xfrm>
              <a:off x="7745" y="7872"/>
              <a:ext cx="1260" cy="209"/>
            </a:xfrm>
            <a:prstGeom prst="rect">
              <a:avLst/>
            </a:prstGeom>
            <a:solidFill>
              <a:srgbClr val="FF99CC"/>
            </a:solidFill>
            <a:ln w="9525">
              <a:solidFill>
                <a:srgbClr val="000000"/>
              </a:solidFill>
              <a:miter lim="800000"/>
            </a:ln>
          </p:spPr>
          <p:txBody>
            <a:bodyPr/>
            <a:lstStyle/>
            <a:p>
              <a:pPr algn="ctr" eaLnBrk="0" hangingPunct="0"/>
              <a:r>
                <a:rPr lang="en-US" altLang="zh-CN">
                  <a:solidFill>
                    <a:schemeClr val="tx1"/>
                  </a:solidFill>
                </a:rPr>
                <a:t>TCP</a:t>
              </a:r>
              <a:r>
                <a:rPr lang="zh-CN" altLang="en-US">
                  <a:solidFill>
                    <a:schemeClr val="tx1"/>
                  </a:solidFill>
                </a:rPr>
                <a:t>头</a:t>
              </a:r>
              <a:endParaRPr lang="zh-CN" altLang="en-US">
                <a:solidFill>
                  <a:schemeClr val="tx1"/>
                </a:solidFill>
              </a:endParaRPr>
            </a:p>
          </p:txBody>
        </p:sp>
        <p:sp>
          <p:nvSpPr>
            <p:cNvPr id="111633" name="Text Box 17"/>
            <p:cNvSpPr txBox="1">
              <a:spLocks noChangeArrowheads="1"/>
            </p:cNvSpPr>
            <p:nvPr/>
          </p:nvSpPr>
          <p:spPr bwMode="auto">
            <a:xfrm>
              <a:off x="6490" y="7254"/>
              <a:ext cx="1260" cy="198"/>
            </a:xfrm>
            <a:prstGeom prst="rect">
              <a:avLst/>
            </a:prstGeom>
            <a:solidFill>
              <a:srgbClr val="FF99CC"/>
            </a:solidFill>
            <a:ln w="9525">
              <a:solidFill>
                <a:srgbClr val="000000"/>
              </a:solidFill>
              <a:miter lim="800000"/>
            </a:ln>
          </p:spPr>
          <p:txBody>
            <a:bodyPr/>
            <a:lstStyle/>
            <a:p>
              <a:pPr algn="ctr" eaLnBrk="0" hangingPunct="0"/>
              <a:r>
                <a:rPr lang="en-US" altLang="zh-CN">
                  <a:solidFill>
                    <a:schemeClr val="tx1"/>
                  </a:solidFill>
                </a:rPr>
                <a:t>TCP</a:t>
              </a:r>
              <a:r>
                <a:rPr lang="zh-CN" altLang="en-US">
                  <a:solidFill>
                    <a:schemeClr val="tx1"/>
                  </a:solidFill>
                </a:rPr>
                <a:t>头</a:t>
              </a:r>
              <a:endParaRPr lang="zh-CN" altLang="en-US">
                <a:solidFill>
                  <a:schemeClr val="tx1"/>
                </a:solidFill>
              </a:endParaRPr>
            </a:p>
          </p:txBody>
        </p:sp>
        <p:sp>
          <p:nvSpPr>
            <p:cNvPr id="111634" name="Text Box 18"/>
            <p:cNvSpPr txBox="1">
              <a:spLocks noChangeArrowheads="1"/>
            </p:cNvSpPr>
            <p:nvPr/>
          </p:nvSpPr>
          <p:spPr bwMode="auto">
            <a:xfrm>
              <a:off x="5220" y="6640"/>
              <a:ext cx="1260" cy="172"/>
            </a:xfrm>
            <a:prstGeom prst="rect">
              <a:avLst/>
            </a:prstGeom>
            <a:solidFill>
              <a:srgbClr val="FF99CC"/>
            </a:solidFill>
            <a:ln w="9525">
              <a:solidFill>
                <a:srgbClr val="000000"/>
              </a:solidFill>
              <a:miter lim="800000"/>
            </a:ln>
          </p:spPr>
          <p:txBody>
            <a:bodyPr/>
            <a:lstStyle/>
            <a:p>
              <a:pPr algn="ctr" eaLnBrk="0" hangingPunct="0"/>
              <a:r>
                <a:rPr lang="en-US" altLang="zh-CN">
                  <a:solidFill>
                    <a:schemeClr val="tx1"/>
                  </a:solidFill>
                </a:rPr>
                <a:t>TCP</a:t>
              </a:r>
              <a:r>
                <a:rPr lang="zh-CN" altLang="en-US">
                  <a:solidFill>
                    <a:schemeClr val="tx1"/>
                  </a:solidFill>
                </a:rPr>
                <a:t>头</a:t>
              </a:r>
              <a:endParaRPr lang="zh-CN" altLang="en-US">
                <a:solidFill>
                  <a:schemeClr val="tx1"/>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zh-CN" altLang="en-US" b="1">
                <a:latin typeface="Times New Roman" panose="02020603050405020304" pitchFamily="18" charset="0"/>
                <a:cs typeface="Times New Roman" panose="02020603050405020304" pitchFamily="18" charset="0"/>
              </a:rPr>
              <a:t>2</a:t>
            </a:r>
            <a:r>
              <a:rPr lang="zh-CN" altLang="en-US" b="1">
                <a:latin typeface="宋体" panose="02010600030101010101" pitchFamily="2" charset="-122"/>
              </a:rPr>
              <a:t>、</a:t>
            </a:r>
            <a:r>
              <a:rPr lang="zh-CN" altLang="en-US" b="1">
                <a:latin typeface="Times New Roman" panose="02020603050405020304" pitchFamily="18" charset="0"/>
                <a:ea typeface="黑体" panose="02010609060101010101" pitchFamily="49" charset="-122"/>
              </a:rPr>
              <a:t>用</a:t>
            </a:r>
            <a:r>
              <a:rPr lang="en-US" altLang="zh-CN" b="1">
                <a:latin typeface="Times New Roman" panose="02020603050405020304" pitchFamily="18" charset="0"/>
                <a:cs typeface="Times New Roman" panose="02020603050405020304" pitchFamily="18" charset="0"/>
              </a:rPr>
              <a:t>IPSec</a:t>
            </a:r>
            <a:r>
              <a:rPr lang="zh-CN" altLang="en-US" b="1">
                <a:latin typeface="Times New Roman" panose="02020603050405020304" pitchFamily="18" charset="0"/>
                <a:ea typeface="黑体" panose="02010609060101010101" pitchFamily="49" charset="-122"/>
              </a:rPr>
              <a:t>构建</a:t>
            </a:r>
            <a:r>
              <a:rPr lang="en-US" altLang="zh-CN" b="1">
                <a:latin typeface="Times New Roman" panose="02020603050405020304" pitchFamily="18" charset="0"/>
                <a:cs typeface="Times New Roman" panose="02020603050405020304" pitchFamily="18" charset="0"/>
              </a:rPr>
              <a:t>IP-VPN</a:t>
            </a:r>
            <a:r>
              <a:rPr lang="en-US" altLang="zh-CN"/>
              <a:t> </a:t>
            </a:r>
            <a:endParaRPr lang="zh-CN" altLang="en-US"/>
          </a:p>
        </p:txBody>
      </p:sp>
      <p:sp>
        <p:nvSpPr>
          <p:cNvPr id="112643" name="Rectangle 3"/>
          <p:cNvSpPr>
            <a:spLocks noGrp="1" noChangeArrowheads="1"/>
          </p:cNvSpPr>
          <p:nvPr>
            <p:ph type="body" idx="1"/>
          </p:nvPr>
        </p:nvSpPr>
        <p:spPr>
          <a:xfrm>
            <a:off x="1244933" y="1534259"/>
            <a:ext cx="9410625" cy="2022475"/>
          </a:xfrm>
        </p:spPr>
        <p:txBody>
          <a:bodyPr/>
          <a:lstStyle/>
          <a:p>
            <a:pPr>
              <a:lnSpc>
                <a:spcPct val="90000"/>
              </a:lnSpc>
            </a:pPr>
            <a:r>
              <a:rPr lang="en-US" altLang="zh-CN" dirty="0">
                <a:latin typeface="宋体" panose="02010600030101010101" pitchFamily="2" charset="-122"/>
              </a:rPr>
              <a:t>    </a:t>
            </a:r>
            <a:r>
              <a:rPr lang="zh-CN" altLang="en-US" dirty="0">
                <a:latin typeface="宋体" panose="02010600030101010101" pitchFamily="2" charset="-122"/>
              </a:rPr>
              <a:t>当</a:t>
            </a:r>
            <a:r>
              <a:rPr lang="en-US" altLang="zh-CN" dirty="0" err="1">
                <a:cs typeface="Times New Roman" panose="02020603050405020304" pitchFamily="18" charset="0"/>
              </a:rPr>
              <a:t>IPSec</a:t>
            </a:r>
            <a:r>
              <a:rPr lang="zh-CN" altLang="en-US" dirty="0">
                <a:latin typeface="宋体" panose="02010600030101010101" pitchFamily="2" charset="-122"/>
              </a:rPr>
              <a:t>应用在路由器上时，就可以建立一个</a:t>
            </a:r>
            <a:r>
              <a:rPr lang="en-US" altLang="zh-CN" dirty="0">
                <a:cs typeface="Times New Roman" panose="02020603050405020304" pitchFamily="18" charset="0"/>
              </a:rPr>
              <a:t>IP-VPN</a:t>
            </a:r>
            <a:r>
              <a:rPr lang="en-US" altLang="zh-CN" dirty="0">
                <a:latin typeface="宋体" panose="02010600030101010101" pitchFamily="2" charset="-122"/>
              </a:rPr>
              <a:t>。</a:t>
            </a:r>
            <a:r>
              <a:rPr lang="en-US" altLang="zh-CN" dirty="0">
                <a:cs typeface="Times New Roman" panose="02020603050405020304" pitchFamily="18" charset="0"/>
              </a:rPr>
              <a:t>IP-VPN</a:t>
            </a:r>
            <a:r>
              <a:rPr lang="zh-CN" altLang="en-US" dirty="0">
                <a:latin typeface="宋体" panose="02010600030101010101" pitchFamily="2" charset="-122"/>
              </a:rPr>
              <a:t>的意思就是这个</a:t>
            </a:r>
            <a:r>
              <a:rPr lang="en-US" altLang="zh-CN" dirty="0">
                <a:cs typeface="Times New Roman" panose="02020603050405020304" pitchFamily="18" charset="0"/>
              </a:rPr>
              <a:t>VPN</a:t>
            </a:r>
            <a:r>
              <a:rPr lang="zh-CN" altLang="en-US" dirty="0">
                <a:latin typeface="宋体" panose="02010600030101010101" pitchFamily="2" charset="-122"/>
              </a:rPr>
              <a:t>是建立在</a:t>
            </a:r>
            <a:r>
              <a:rPr lang="en-US" altLang="zh-CN" dirty="0">
                <a:cs typeface="Times New Roman" panose="02020603050405020304" pitchFamily="18" charset="0"/>
              </a:rPr>
              <a:t>Internet</a:t>
            </a:r>
            <a:r>
              <a:rPr lang="zh-CN" altLang="en-US" dirty="0">
                <a:latin typeface="宋体" panose="02010600030101010101" pitchFamily="2" charset="-122"/>
              </a:rPr>
              <a:t>上的，或是说是基于</a:t>
            </a:r>
            <a:r>
              <a:rPr lang="en-US" altLang="zh-CN" dirty="0">
                <a:cs typeface="Times New Roman" panose="02020603050405020304" pitchFamily="18" charset="0"/>
              </a:rPr>
              <a:t>IP</a:t>
            </a:r>
            <a:r>
              <a:rPr lang="zh-CN" altLang="en-US" dirty="0">
                <a:latin typeface="宋体" panose="02010600030101010101" pitchFamily="2" charset="-122"/>
              </a:rPr>
              <a:t>的。其</a:t>
            </a:r>
            <a:r>
              <a:rPr lang="zh-CN" altLang="en-US" dirty="0">
                <a:highlight>
                  <a:srgbClr val="FFFF00"/>
                </a:highlight>
                <a:latin typeface="宋体" panose="02010600030101010101" pitchFamily="2" charset="-122"/>
              </a:rPr>
              <a:t>示意图</a:t>
            </a:r>
            <a:r>
              <a:rPr lang="zh-CN" altLang="en-US" dirty="0">
                <a:latin typeface="宋体" panose="02010600030101010101" pitchFamily="2" charset="-122"/>
              </a:rPr>
              <a:t>如图</a:t>
            </a:r>
            <a:r>
              <a:rPr lang="zh-CN" altLang="en-US" dirty="0">
                <a:cs typeface="Times New Roman" panose="02020603050405020304" pitchFamily="18" charset="0"/>
              </a:rPr>
              <a:t>5</a:t>
            </a:r>
            <a:r>
              <a:rPr lang="zh-CN" altLang="en-US" dirty="0" smtClean="0">
                <a:cs typeface="Times New Roman" panose="02020603050405020304" pitchFamily="18" charset="0"/>
              </a:rPr>
              <a:t>-</a:t>
            </a:r>
            <a:r>
              <a:rPr lang="en-US" altLang="zh-CN" dirty="0" smtClean="0">
                <a:cs typeface="Times New Roman" panose="02020603050405020304" pitchFamily="18" charset="0"/>
              </a:rPr>
              <a:t>2</a:t>
            </a:r>
            <a:r>
              <a:rPr lang="zh-CN" altLang="en-US" dirty="0" smtClean="0">
                <a:cs typeface="Times New Roman" panose="02020603050405020304" pitchFamily="18" charset="0"/>
              </a:rPr>
              <a:t>0</a:t>
            </a:r>
            <a:r>
              <a:rPr lang="zh-CN" altLang="en-US" dirty="0">
                <a:latin typeface="宋体" panose="02010600030101010101" pitchFamily="2" charset="-122"/>
              </a:rPr>
              <a:t>所示：</a:t>
            </a:r>
            <a:r>
              <a:rPr lang="zh-CN" altLang="en-US" dirty="0"/>
              <a:t> </a:t>
            </a:r>
            <a:endParaRPr lang="zh-CN" altLang="en-US" dirty="0"/>
          </a:p>
        </p:txBody>
      </p:sp>
      <p:grpSp>
        <p:nvGrpSpPr>
          <p:cNvPr id="112644" name="Group 4"/>
          <p:cNvGrpSpPr/>
          <p:nvPr/>
        </p:nvGrpSpPr>
        <p:grpSpPr bwMode="auto">
          <a:xfrm>
            <a:off x="2552700" y="3265719"/>
            <a:ext cx="7277100" cy="3208338"/>
            <a:chOff x="1620" y="2500"/>
            <a:chExt cx="8088" cy="2705"/>
          </a:xfrm>
        </p:grpSpPr>
        <p:pic>
          <p:nvPicPr>
            <p:cNvPr id="112645" name="Picture 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640" y="3620"/>
              <a:ext cx="1195" cy="70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2646" name="Picture 6"/>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20" y="3580"/>
              <a:ext cx="1195" cy="70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2647" name="Picture 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45" y="3040"/>
              <a:ext cx="2600" cy="15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112648" name="Group 8"/>
            <p:cNvGrpSpPr/>
            <p:nvPr/>
          </p:nvGrpSpPr>
          <p:grpSpPr bwMode="auto">
            <a:xfrm>
              <a:off x="3915" y="3740"/>
              <a:ext cx="3240" cy="340"/>
              <a:chOff x="3675" y="8959"/>
              <a:chExt cx="3325" cy="343"/>
            </a:xfrm>
          </p:grpSpPr>
          <p:sp>
            <p:nvSpPr>
              <p:cNvPr id="112649" name="Rectangle 9"/>
              <p:cNvSpPr>
                <a:spLocks noChangeArrowheads="1"/>
              </p:cNvSpPr>
              <p:nvPr/>
            </p:nvSpPr>
            <p:spPr bwMode="auto">
              <a:xfrm>
                <a:off x="3720" y="8959"/>
                <a:ext cx="3240" cy="343"/>
              </a:xfrm>
              <a:prstGeom prst="rect">
                <a:avLst/>
              </a:prstGeom>
              <a:noFill/>
              <a:ln w="9525">
                <a:solidFill>
                  <a:srgbClr val="000000"/>
                </a:solidFill>
                <a:miter lim="800000"/>
              </a:ln>
              <a:extLst>
                <a:ext uri="{909E8E84-426E-40DD-AFC4-6F175D3DCCD1}">
                  <a14:hiddenFill xmlns:a14="http://schemas.microsoft.com/office/drawing/2010/main">
                    <a:solidFill>
                      <a:schemeClr val="tx1"/>
                    </a:solidFill>
                  </a14:hiddenFill>
                </a:ext>
              </a:extLst>
            </p:spPr>
            <p:txBody>
              <a:bodyPr lIns="0" tIns="0" rIns="0" bIns="0"/>
              <a:lstStyle/>
              <a:p>
                <a:pPr algn="ctr" eaLnBrk="0" hangingPunct="0"/>
                <a:r>
                  <a:rPr lang="en-US" altLang="zh-CN">
                    <a:solidFill>
                      <a:schemeClr val="bg2"/>
                    </a:solidFill>
                  </a:rPr>
                  <a:t>IP</a:t>
                </a:r>
                <a:r>
                  <a:rPr lang="zh-CN" altLang="en-US">
                    <a:solidFill>
                      <a:schemeClr val="bg2"/>
                    </a:solidFill>
                  </a:rPr>
                  <a:t>隧道</a:t>
                </a:r>
                <a:endParaRPr lang="zh-CN" altLang="en-US" b="1">
                  <a:solidFill>
                    <a:schemeClr val="bg2"/>
                  </a:solidFill>
                </a:endParaRPr>
              </a:p>
            </p:txBody>
          </p:sp>
          <p:sp>
            <p:nvSpPr>
              <p:cNvPr id="112650" name="Oval 10"/>
              <p:cNvSpPr>
                <a:spLocks noChangeArrowheads="1"/>
              </p:cNvSpPr>
              <p:nvPr/>
            </p:nvSpPr>
            <p:spPr bwMode="auto">
              <a:xfrm>
                <a:off x="3675" y="8963"/>
                <a:ext cx="125" cy="335"/>
              </a:xfrm>
              <a:prstGeom prst="ellipse">
                <a:avLst/>
              </a:prstGeom>
              <a:noFill/>
              <a:ln w="9525">
                <a:solidFill>
                  <a:srgbClr val="000000"/>
                </a:solidFill>
                <a:round/>
              </a:ln>
              <a:extLst>
                <a:ext uri="{909E8E84-426E-40DD-AFC4-6F175D3DCCD1}">
                  <a14:hiddenFill xmlns:a14="http://schemas.microsoft.com/office/drawing/2010/main">
                    <a:solidFill>
                      <a:schemeClr val="tx1"/>
                    </a:solidFill>
                  </a14:hiddenFill>
                </a:ext>
              </a:extLst>
            </p:spPr>
            <p:txBody>
              <a:bodyPr/>
              <a:lstStyle/>
              <a:p>
                <a:endParaRPr lang="zh-CN" altLang="en-US"/>
              </a:p>
            </p:txBody>
          </p:sp>
          <p:sp>
            <p:nvSpPr>
              <p:cNvPr id="112651" name="Oval 11"/>
              <p:cNvSpPr>
                <a:spLocks noChangeArrowheads="1"/>
              </p:cNvSpPr>
              <p:nvPr/>
            </p:nvSpPr>
            <p:spPr bwMode="auto">
              <a:xfrm>
                <a:off x="6905" y="8968"/>
                <a:ext cx="95" cy="325"/>
              </a:xfrm>
              <a:prstGeom prst="ellipse">
                <a:avLst/>
              </a:prstGeom>
              <a:noFill/>
              <a:ln w="9525">
                <a:solidFill>
                  <a:srgbClr val="000000"/>
                </a:solidFill>
                <a:round/>
              </a:ln>
              <a:extLst>
                <a:ext uri="{909E8E84-426E-40DD-AFC4-6F175D3DCCD1}">
                  <a14:hiddenFill xmlns:a14="http://schemas.microsoft.com/office/drawing/2010/main">
                    <a:solidFill>
                      <a:schemeClr val="tx1"/>
                    </a:solidFill>
                  </a14:hiddenFill>
                </a:ext>
              </a:extLst>
            </p:spPr>
            <p:txBody>
              <a:bodyPr/>
              <a:lstStyle/>
              <a:p>
                <a:endParaRPr lang="zh-CN" altLang="en-US"/>
              </a:p>
            </p:txBody>
          </p:sp>
          <p:sp>
            <p:nvSpPr>
              <p:cNvPr id="112652" name="Rectangle 12"/>
              <p:cNvSpPr>
                <a:spLocks noChangeArrowheads="1"/>
              </p:cNvSpPr>
              <p:nvPr/>
            </p:nvSpPr>
            <p:spPr bwMode="auto">
              <a:xfrm>
                <a:off x="6420" y="8980"/>
                <a:ext cx="540" cy="30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pic>
          <p:nvPicPr>
            <p:cNvPr id="112653"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00" y="2500"/>
              <a:ext cx="643" cy="58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2654"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0" y="3640"/>
              <a:ext cx="643" cy="58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2655"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20" y="4620"/>
              <a:ext cx="643" cy="58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2656" name="Picture 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65" y="2680"/>
              <a:ext cx="643" cy="58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2657" name="Picture 1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65" y="3660"/>
              <a:ext cx="643" cy="58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2658" name="Picture 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65" y="4560"/>
              <a:ext cx="643" cy="58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2659" name="Line 19"/>
            <p:cNvSpPr>
              <a:spLocks noChangeShapeType="1"/>
            </p:cNvSpPr>
            <p:nvPr/>
          </p:nvSpPr>
          <p:spPr bwMode="auto">
            <a:xfrm>
              <a:off x="3735" y="3920"/>
              <a:ext cx="2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660" name="Line 20"/>
            <p:cNvSpPr>
              <a:spLocks noChangeShapeType="1"/>
            </p:cNvSpPr>
            <p:nvPr/>
          </p:nvSpPr>
          <p:spPr bwMode="auto">
            <a:xfrm>
              <a:off x="2180" y="3920"/>
              <a:ext cx="4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661" name="Freeform 21"/>
            <p:cNvSpPr/>
            <p:nvPr/>
          </p:nvSpPr>
          <p:spPr bwMode="auto">
            <a:xfrm>
              <a:off x="7140" y="3915"/>
              <a:ext cx="165" cy="5"/>
            </a:xfrm>
            <a:custGeom>
              <a:avLst/>
              <a:gdLst>
                <a:gd name="T0" fmla="*/ 0 w 165"/>
                <a:gd name="T1" fmla="*/ 5 h 5"/>
                <a:gd name="T2" fmla="*/ 165 w 165"/>
                <a:gd name="T3" fmla="*/ 0 h 5"/>
              </a:gdLst>
              <a:ahLst/>
              <a:cxnLst>
                <a:cxn ang="0">
                  <a:pos x="T0" y="T1"/>
                </a:cxn>
                <a:cxn ang="0">
                  <a:pos x="T2" y="T3"/>
                </a:cxn>
              </a:cxnLst>
              <a:rect l="0" t="0" r="r" b="b"/>
              <a:pathLst>
                <a:path w="165" h="5">
                  <a:moveTo>
                    <a:pt x="0" y="5"/>
                  </a:moveTo>
                  <a:lnTo>
                    <a:pt x="165" y="0"/>
                  </a:lnTo>
                </a:path>
              </a:pathLst>
            </a:custGeom>
            <a:noFill/>
            <a:ln w="9525">
              <a:solidFill>
                <a:srgbClr val="000000"/>
              </a:solidFill>
              <a:round/>
              <a:headEnd type="none" w="med" len="med"/>
              <a:tailEnd type="none" w="med" len="med"/>
            </a:ln>
            <a:extLst>
              <a:ext uri="{909E8E84-426E-40DD-AFC4-6F175D3DCCD1}">
                <a14:hiddenFill xmlns:a14="http://schemas.microsoft.com/office/drawing/2010/main">
                  <a:solidFill>
                    <a:schemeClr val="tx1"/>
                  </a:solidFill>
                </a14:hiddenFill>
              </a:ext>
            </a:extLst>
          </p:spPr>
          <p:txBody>
            <a:bodyPr/>
            <a:lstStyle/>
            <a:p>
              <a:endParaRPr lang="zh-CN" altLang="en-US"/>
            </a:p>
          </p:txBody>
        </p:sp>
        <p:sp>
          <p:nvSpPr>
            <p:cNvPr id="112662" name="Line 22"/>
            <p:cNvSpPr>
              <a:spLocks noChangeShapeType="1"/>
            </p:cNvSpPr>
            <p:nvPr/>
          </p:nvSpPr>
          <p:spPr bwMode="auto">
            <a:xfrm>
              <a:off x="8405" y="3920"/>
              <a:ext cx="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663" name="Freeform 23"/>
            <p:cNvSpPr/>
            <p:nvPr/>
          </p:nvSpPr>
          <p:spPr bwMode="auto">
            <a:xfrm>
              <a:off x="2120" y="2720"/>
              <a:ext cx="280" cy="2080"/>
            </a:xfrm>
            <a:custGeom>
              <a:avLst/>
              <a:gdLst>
                <a:gd name="T0" fmla="*/ 60 w 280"/>
                <a:gd name="T1" fmla="*/ 0 h 2080"/>
                <a:gd name="T2" fmla="*/ 280 w 280"/>
                <a:gd name="T3" fmla="*/ 0 h 2080"/>
                <a:gd name="T4" fmla="*/ 280 w 280"/>
                <a:gd name="T5" fmla="*/ 2080 h 2080"/>
                <a:gd name="T6" fmla="*/ 0 w 280"/>
                <a:gd name="T7" fmla="*/ 2080 h 2080"/>
              </a:gdLst>
              <a:ahLst/>
              <a:cxnLst>
                <a:cxn ang="0">
                  <a:pos x="T0" y="T1"/>
                </a:cxn>
                <a:cxn ang="0">
                  <a:pos x="T2" y="T3"/>
                </a:cxn>
                <a:cxn ang="0">
                  <a:pos x="T4" y="T5"/>
                </a:cxn>
                <a:cxn ang="0">
                  <a:pos x="T6" y="T7"/>
                </a:cxn>
              </a:cxnLst>
              <a:rect l="0" t="0" r="r" b="b"/>
              <a:pathLst>
                <a:path w="280" h="2080">
                  <a:moveTo>
                    <a:pt x="60" y="0"/>
                  </a:moveTo>
                  <a:lnTo>
                    <a:pt x="280" y="0"/>
                  </a:lnTo>
                  <a:lnTo>
                    <a:pt x="280" y="2080"/>
                  </a:lnTo>
                  <a:lnTo>
                    <a:pt x="0" y="2080"/>
                  </a:lnTo>
                </a:path>
              </a:pathLst>
            </a:custGeom>
            <a:noFill/>
            <a:ln w="9525">
              <a:solidFill>
                <a:srgbClr val="000000"/>
              </a:solidFill>
              <a:round/>
            </a:ln>
            <a:extLst>
              <a:ext uri="{909E8E84-426E-40DD-AFC4-6F175D3DCCD1}">
                <a14:hiddenFill xmlns:a14="http://schemas.microsoft.com/office/drawing/2010/main">
                  <a:solidFill>
                    <a:schemeClr val="tx1"/>
                  </a:solidFill>
                </a14:hiddenFill>
              </a:ext>
            </a:extLst>
          </p:spPr>
          <p:txBody>
            <a:bodyPr/>
            <a:lstStyle/>
            <a:p>
              <a:endParaRPr lang="zh-CN" altLang="en-US"/>
            </a:p>
          </p:txBody>
        </p:sp>
        <p:sp>
          <p:nvSpPr>
            <p:cNvPr id="112664" name="Freeform 24"/>
            <p:cNvSpPr/>
            <p:nvPr/>
          </p:nvSpPr>
          <p:spPr bwMode="auto">
            <a:xfrm>
              <a:off x="8585" y="2860"/>
              <a:ext cx="240" cy="1880"/>
            </a:xfrm>
            <a:custGeom>
              <a:avLst/>
              <a:gdLst>
                <a:gd name="T0" fmla="*/ 240 w 240"/>
                <a:gd name="T1" fmla="*/ 0 h 1880"/>
                <a:gd name="T2" fmla="*/ 0 w 240"/>
                <a:gd name="T3" fmla="*/ 0 h 1880"/>
                <a:gd name="T4" fmla="*/ 0 w 240"/>
                <a:gd name="T5" fmla="*/ 1880 h 1880"/>
                <a:gd name="T6" fmla="*/ 220 w 240"/>
                <a:gd name="T7" fmla="*/ 1880 h 1880"/>
              </a:gdLst>
              <a:ahLst/>
              <a:cxnLst>
                <a:cxn ang="0">
                  <a:pos x="T0" y="T1"/>
                </a:cxn>
                <a:cxn ang="0">
                  <a:pos x="T2" y="T3"/>
                </a:cxn>
                <a:cxn ang="0">
                  <a:pos x="T4" y="T5"/>
                </a:cxn>
                <a:cxn ang="0">
                  <a:pos x="T6" y="T7"/>
                </a:cxn>
              </a:cxnLst>
              <a:rect l="0" t="0" r="r" b="b"/>
              <a:pathLst>
                <a:path w="240" h="1880">
                  <a:moveTo>
                    <a:pt x="240" y="0"/>
                  </a:moveTo>
                  <a:lnTo>
                    <a:pt x="0" y="0"/>
                  </a:lnTo>
                  <a:lnTo>
                    <a:pt x="0" y="1880"/>
                  </a:lnTo>
                  <a:lnTo>
                    <a:pt x="220" y="1880"/>
                  </a:lnTo>
                </a:path>
              </a:pathLst>
            </a:custGeom>
            <a:noFill/>
            <a:ln w="9525">
              <a:solidFill>
                <a:srgbClr val="000000"/>
              </a:solidFill>
              <a:round/>
            </a:ln>
            <a:extLst>
              <a:ext uri="{909E8E84-426E-40DD-AFC4-6F175D3DCCD1}">
                <a14:hiddenFill xmlns:a14="http://schemas.microsoft.com/office/drawing/2010/main">
                  <a:solidFill>
                    <a:schemeClr val="tx1"/>
                  </a:solidFill>
                </a14:hiddenFill>
              </a:ext>
            </a:extLst>
          </p:spPr>
          <p:txBody>
            <a:bodyPr/>
            <a:lstStyle/>
            <a:p>
              <a:endParaRPr lang="zh-CN" altLang="en-US"/>
            </a:p>
          </p:txBody>
        </p:sp>
        <p:sp>
          <p:nvSpPr>
            <p:cNvPr id="112665" name="Text Box 25"/>
            <p:cNvSpPr txBox="1">
              <a:spLocks noChangeArrowheads="1"/>
            </p:cNvSpPr>
            <p:nvPr/>
          </p:nvSpPr>
          <p:spPr bwMode="auto">
            <a:xfrm>
              <a:off x="4902" y="3265"/>
              <a:ext cx="1180" cy="32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lang="en-US" altLang="zh-CN" dirty="0">
                  <a:solidFill>
                    <a:srgbClr val="FFFF00"/>
                  </a:solidFill>
                  <a:highlight>
                    <a:srgbClr val="000080"/>
                  </a:highlight>
                </a:rPr>
                <a:t>Internet</a:t>
              </a:r>
              <a:endParaRPr lang="en-US" altLang="zh-CN" dirty="0">
                <a:solidFill>
                  <a:srgbClr val="FFFF00"/>
                </a:solidFill>
                <a:highlight>
                  <a:srgbClr val="000080"/>
                </a:highlight>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zh-CN" altLang="en-US"/>
              <a:t> </a:t>
            </a:r>
            <a:endParaRPr lang="zh-CN" altLang="en-US"/>
          </a:p>
        </p:txBody>
      </p:sp>
      <p:sp>
        <p:nvSpPr>
          <p:cNvPr id="113667" name="Rectangle 3"/>
          <p:cNvSpPr>
            <a:spLocks noGrp="1" noChangeArrowheads="1"/>
          </p:cNvSpPr>
          <p:nvPr>
            <p:ph type="body" idx="1"/>
          </p:nvPr>
        </p:nvSpPr>
        <p:spPr>
          <a:xfrm>
            <a:off x="1981200" y="1066800"/>
            <a:ext cx="8229600" cy="5029200"/>
          </a:xfrm>
        </p:spPr>
        <p:txBody>
          <a:bodyPr/>
          <a:lstStyle/>
          <a:p>
            <a:r>
              <a:rPr lang="en-US" altLang="zh-CN">
                <a:latin typeface="宋体" panose="02010600030101010101" pitchFamily="2" charset="-122"/>
              </a:rPr>
              <a:t>    </a:t>
            </a:r>
            <a:r>
              <a:rPr lang="zh-CN" altLang="en-US">
                <a:latin typeface="宋体" panose="02010600030101010101" pitchFamily="2" charset="-122"/>
              </a:rPr>
              <a:t>在</a:t>
            </a:r>
            <a:r>
              <a:rPr lang="en-US" altLang="zh-CN">
                <a:cs typeface="Times New Roman" panose="02020603050405020304" pitchFamily="18" charset="0"/>
              </a:rPr>
              <a:t>IP</a:t>
            </a:r>
            <a:r>
              <a:rPr lang="zh-CN" altLang="en-US">
                <a:latin typeface="宋体" panose="02010600030101010101" pitchFamily="2" charset="-122"/>
              </a:rPr>
              <a:t>隧道的两边或者说在具有</a:t>
            </a:r>
            <a:r>
              <a:rPr lang="en-US" altLang="zh-CN">
                <a:cs typeface="Times New Roman" panose="02020603050405020304" pitchFamily="18" charset="0"/>
              </a:rPr>
              <a:t>IPSec</a:t>
            </a:r>
            <a:r>
              <a:rPr lang="zh-CN" altLang="en-US">
                <a:latin typeface="宋体" panose="02010600030101010101" pitchFamily="2" charset="-122"/>
              </a:rPr>
              <a:t>功能的路由器上，都同时具有</a:t>
            </a:r>
            <a:r>
              <a:rPr lang="zh-CN" altLang="en-US">
                <a:highlight>
                  <a:srgbClr val="FFFF00"/>
                </a:highlight>
                <a:latin typeface="宋体" panose="02010600030101010101" pitchFamily="2" charset="-122"/>
              </a:rPr>
              <a:t>发送和接受</a:t>
            </a:r>
            <a:r>
              <a:rPr lang="zh-CN" altLang="en-US">
                <a:latin typeface="宋体" panose="02010600030101010101" pitchFamily="2" charset="-122"/>
              </a:rPr>
              <a:t>两个过程。</a:t>
            </a:r>
            <a:endParaRPr lang="zh-CN" altLang="en-US">
              <a:latin typeface="宋体" panose="02010600030101010101" pitchFamily="2" charset="-122"/>
            </a:endParaRPr>
          </a:p>
          <a:p>
            <a:r>
              <a:rPr lang="zh-CN" altLang="en-US">
                <a:latin typeface="宋体" panose="02010600030101010101" pitchFamily="2" charset="-122"/>
              </a:rPr>
              <a:t> </a:t>
            </a:r>
            <a:r>
              <a:rPr lang="en-US" altLang="zh-CN">
                <a:latin typeface="宋体" panose="02010600030101010101" pitchFamily="2" charset="-122"/>
              </a:rPr>
              <a:t>   </a:t>
            </a:r>
            <a:r>
              <a:rPr lang="zh-CN" altLang="en-US">
                <a:highlight>
                  <a:srgbClr val="FFFF00"/>
                </a:highlight>
                <a:latin typeface="宋体" panose="02010600030101010101" pitchFamily="2" charset="-122"/>
              </a:rPr>
              <a:t>发送过程</a:t>
            </a:r>
            <a:r>
              <a:rPr lang="zh-CN" altLang="en-US">
                <a:latin typeface="宋体" panose="02010600030101010101" pitchFamily="2" charset="-122"/>
              </a:rPr>
              <a:t>是数据进入隧道前的处理，要对进入隧道传递的数据进行加密，然后后利用</a:t>
            </a:r>
            <a:r>
              <a:rPr lang="en-US" altLang="zh-CN">
                <a:cs typeface="Times New Roman" panose="02020603050405020304" pitchFamily="18" charset="0"/>
              </a:rPr>
              <a:t>MD5</a:t>
            </a:r>
            <a:r>
              <a:rPr lang="zh-CN" altLang="en-US">
                <a:latin typeface="宋体" panose="02010600030101010101" pitchFamily="2" charset="-122"/>
              </a:rPr>
              <a:t>这样的算法进行摘要、签名等认证处理以保证报文的完整性和可鉴别性，最后按进入公用</a:t>
            </a:r>
            <a:r>
              <a:rPr lang="en-US" altLang="zh-CN">
                <a:cs typeface="Times New Roman" panose="02020603050405020304" pitchFamily="18" charset="0"/>
              </a:rPr>
              <a:t>IP</a:t>
            </a:r>
            <a:r>
              <a:rPr lang="zh-CN" altLang="en-US">
                <a:latin typeface="宋体" panose="02010600030101010101" pitchFamily="2" charset="-122"/>
              </a:rPr>
              <a:t>网的要求，重新进行</a:t>
            </a:r>
            <a:r>
              <a:rPr lang="en-US" altLang="zh-CN">
                <a:cs typeface="Times New Roman" panose="02020603050405020304" pitchFamily="18" charset="0"/>
              </a:rPr>
              <a:t>IP</a:t>
            </a:r>
            <a:r>
              <a:rPr lang="zh-CN" altLang="en-US">
                <a:latin typeface="宋体" panose="02010600030101010101" pitchFamily="2" charset="-122"/>
              </a:rPr>
              <a:t>封装。</a:t>
            </a:r>
            <a:endParaRPr lang="zh-CN" altLang="en-US">
              <a:latin typeface="宋体" panose="02010600030101010101" pitchFamily="2" charset="-122"/>
            </a:endParaRPr>
          </a:p>
          <a:p>
            <a:r>
              <a:rPr lang="zh-CN" altLang="en-US">
                <a:latin typeface="宋体" panose="02010600030101010101" pitchFamily="2" charset="-122"/>
              </a:rPr>
              <a:t> </a:t>
            </a:r>
            <a:r>
              <a:rPr lang="en-US" altLang="zh-CN">
                <a:latin typeface="宋体" panose="02010600030101010101" pitchFamily="2" charset="-122"/>
              </a:rPr>
              <a:t>   </a:t>
            </a:r>
            <a:r>
              <a:rPr lang="zh-CN" altLang="en-US">
                <a:highlight>
                  <a:srgbClr val="FFFF00"/>
                </a:highlight>
                <a:latin typeface="宋体" panose="02010600030101010101" pitchFamily="2" charset="-122"/>
              </a:rPr>
              <a:t>接收过程</a:t>
            </a:r>
            <a:r>
              <a:rPr lang="zh-CN" altLang="en-US">
                <a:latin typeface="宋体" panose="02010600030101010101" pitchFamily="2" charset="-122"/>
              </a:rPr>
              <a:t>与发送过程相对应，接收方首先进行报文的解封、还原，再经过认证，解密得到明文，最后由访问控制模块决定该报文是否符合安全的存取控制规定，是否能进入指定的</a:t>
            </a:r>
            <a:r>
              <a:rPr lang="en-US" altLang="zh-CN">
                <a:cs typeface="Times New Roman" panose="02020603050405020304" pitchFamily="18" charset="0"/>
              </a:rPr>
              <a:t>LAN</a:t>
            </a:r>
            <a:r>
              <a:rPr lang="zh-CN" altLang="en-US">
                <a:latin typeface="宋体" panose="02010600030101010101" pitchFamily="2" charset="-122"/>
              </a:rPr>
              <a:t>或主机。其工作原理如图</a:t>
            </a:r>
            <a:r>
              <a:rPr lang="zh-CN" altLang="en-US">
                <a:cs typeface="Times New Roman" panose="02020603050405020304" pitchFamily="18" charset="0"/>
              </a:rPr>
              <a:t>5-</a:t>
            </a:r>
            <a:r>
              <a:rPr lang="en-US" altLang="zh-CN">
                <a:cs typeface="Times New Roman" panose="02020603050405020304" pitchFamily="18" charset="0"/>
              </a:rPr>
              <a:t>2</a:t>
            </a:r>
            <a:r>
              <a:rPr lang="zh-CN" altLang="en-US">
                <a:cs typeface="Times New Roman" panose="02020603050405020304" pitchFamily="18" charset="0"/>
              </a:rPr>
              <a:t>1</a:t>
            </a:r>
            <a:r>
              <a:rPr lang="zh-CN" altLang="en-US">
                <a:latin typeface="宋体" panose="02010600030101010101" pitchFamily="2" charset="-122"/>
              </a:rPr>
              <a:t>所示：</a:t>
            </a:r>
            <a:r>
              <a:rPr lang="zh-CN" altLang="en-US"/>
              <a:t> </a:t>
            </a:r>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3399453" y="4738396"/>
            <a:ext cx="8229600" cy="762000"/>
          </a:xfrm>
        </p:spPr>
        <p:txBody>
          <a:bodyPr/>
          <a:lstStyle/>
          <a:p>
            <a:r>
              <a:rPr lang="zh-CN" altLang="en-US" sz="3200" b="1" dirty="0">
                <a:latin typeface="宋体" panose="02010600030101010101" pitchFamily="2" charset="-122"/>
              </a:rPr>
              <a:t>图</a:t>
            </a:r>
            <a:r>
              <a:rPr lang="zh-CN" altLang="en-US" sz="3200" b="1" dirty="0">
                <a:latin typeface="Times New Roman" panose="02020603050405020304" pitchFamily="18" charset="0"/>
                <a:cs typeface="Times New Roman" panose="02020603050405020304" pitchFamily="18" charset="0"/>
              </a:rPr>
              <a:t>5</a:t>
            </a:r>
            <a:r>
              <a:rPr lang="zh-CN" altLang="en-US" sz="3200" b="1" dirty="0" smtClean="0">
                <a:latin typeface="Times New Roman" panose="02020603050405020304" pitchFamily="18" charset="0"/>
                <a:cs typeface="Times New Roman" panose="02020603050405020304" pitchFamily="18" charset="0"/>
              </a:rPr>
              <a:t>-</a:t>
            </a:r>
            <a:r>
              <a:rPr lang="en-US" altLang="zh-CN" sz="3200" b="1" dirty="0" smtClean="0">
                <a:latin typeface="Times New Roman" panose="02020603050405020304" pitchFamily="18" charset="0"/>
                <a:cs typeface="Times New Roman" panose="02020603050405020304" pitchFamily="18" charset="0"/>
              </a:rPr>
              <a:t>2</a:t>
            </a:r>
            <a:r>
              <a:rPr lang="zh-CN" altLang="en-US" sz="3200" b="1" dirty="0" smtClean="0">
                <a:latin typeface="Times New Roman" panose="02020603050405020304" pitchFamily="18" charset="0"/>
                <a:cs typeface="Times New Roman" panose="02020603050405020304" pitchFamily="18" charset="0"/>
              </a:rPr>
              <a:t>1  </a:t>
            </a:r>
            <a:r>
              <a:rPr lang="en-US" altLang="zh-CN" sz="3200" b="1" dirty="0">
                <a:latin typeface="Times New Roman" panose="02020603050405020304" pitchFamily="18" charset="0"/>
                <a:cs typeface="Times New Roman" panose="02020603050405020304" pitchFamily="18" charset="0"/>
              </a:rPr>
              <a:t>IP-VPN</a:t>
            </a:r>
            <a:r>
              <a:rPr lang="zh-CN" altLang="en-US" sz="3200" b="1" dirty="0">
                <a:latin typeface="宋体" panose="02010600030101010101" pitchFamily="2" charset="-122"/>
              </a:rPr>
              <a:t>原理图</a:t>
            </a:r>
            <a:r>
              <a:rPr lang="zh-CN" altLang="en-US" sz="5000" b="1" dirty="0">
                <a:latin typeface="黑体" panose="02010609060101010101" pitchFamily="49" charset="-122"/>
                <a:ea typeface="黑体" panose="02010609060101010101" pitchFamily="49" charset="-122"/>
              </a:rPr>
              <a:t> </a:t>
            </a:r>
            <a:endParaRPr lang="zh-CN" altLang="en-US" sz="5000" b="1" dirty="0">
              <a:latin typeface="黑体" panose="02010609060101010101" pitchFamily="49" charset="-122"/>
              <a:ea typeface="黑体" panose="02010609060101010101" pitchFamily="49" charset="-122"/>
            </a:endParaRPr>
          </a:p>
        </p:txBody>
      </p:sp>
      <p:sp>
        <p:nvSpPr>
          <p:cNvPr id="114691" name="Rectangle 3"/>
          <p:cNvSpPr>
            <a:spLocks noChangeArrowheads="1"/>
          </p:cNvSpPr>
          <p:nvPr/>
        </p:nvSpPr>
        <p:spPr bwMode="auto">
          <a:xfrm>
            <a:off x="1524001" y="16631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14692" name="Object 4"/>
          <p:cNvGraphicFramePr>
            <a:graphicFrameLocks noGrp="1" noChangeAspect="1"/>
          </p:cNvGraphicFramePr>
          <p:nvPr>
            <p:ph idx="1"/>
          </p:nvPr>
        </p:nvGraphicFramePr>
        <p:xfrm>
          <a:off x="1612901" y="2565400"/>
          <a:ext cx="8964613" cy="1874838"/>
        </p:xfrm>
        <a:graphic>
          <a:graphicData uri="http://schemas.openxmlformats.org/presentationml/2006/ole">
            <mc:AlternateContent xmlns:mc="http://schemas.openxmlformats.org/markup-compatibility/2006">
              <mc:Choice xmlns:v="urn:schemas-microsoft-com:vml" Requires="v">
                <p:oleObj spid="_x0000_s17487" name="图片" r:id="rId1" imgW="5652135" imgH="1180465" progId="Word.Picture.8">
                  <p:embed/>
                </p:oleObj>
              </mc:Choice>
              <mc:Fallback>
                <p:oleObj name="图片" r:id="rId1" imgW="5652135" imgH="1180465" progId="Word.Picture.8">
                  <p:embed/>
                  <p:pic>
                    <p:nvPicPr>
                      <p:cNvPr id="0" name="图片 174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2901" y="2565400"/>
                        <a:ext cx="8964613" cy="187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p:cNvSpPr>
            <a:spLocks noGrp="1" noChangeArrowheads="1"/>
          </p:cNvSpPr>
          <p:nvPr>
            <p:ph type="body" idx="1"/>
          </p:nvPr>
        </p:nvSpPr>
        <p:spPr/>
        <p:txBody>
          <a:bodyPr/>
          <a:lstStyle/>
          <a:p>
            <a:r>
              <a:rPr lang="zh-CN" altLang="en-US" b="1" dirty="0">
                <a:cs typeface="Times New Roman" panose="02020603050405020304" pitchFamily="18" charset="0"/>
              </a:rPr>
              <a:t>1</a:t>
            </a:r>
            <a:r>
              <a:rPr lang="zh-CN" altLang="en-US" b="1" dirty="0">
                <a:latin typeface="宋体" panose="02010600030101010101" pitchFamily="2" charset="-122"/>
              </a:rPr>
              <a:t>、</a:t>
            </a:r>
            <a:r>
              <a:rPr lang="en-US" altLang="zh-CN" b="1" dirty="0" err="1">
                <a:cs typeface="Times New Roman" panose="02020603050405020304" pitchFamily="18" charset="0"/>
              </a:rPr>
              <a:t>IPSec</a:t>
            </a:r>
            <a:r>
              <a:rPr lang="zh-CN" altLang="en-US" b="1" dirty="0">
                <a:ea typeface="黑体" panose="02010609060101010101" pitchFamily="49" charset="-122"/>
              </a:rPr>
              <a:t>的进一步完善</a:t>
            </a:r>
            <a:r>
              <a:rPr lang="zh-CN" altLang="en-US" dirty="0"/>
              <a:t> </a:t>
            </a:r>
            <a:endParaRPr lang="zh-CN" altLang="en-US" dirty="0"/>
          </a:p>
          <a:p>
            <a:pPr algn="just"/>
            <a:r>
              <a:rPr lang="zh-CN" altLang="en-US" b="1" dirty="0">
                <a:cs typeface="Times New Roman" panose="02020603050405020304" pitchFamily="18" charset="0"/>
              </a:rPr>
              <a:t>2</a:t>
            </a:r>
            <a:r>
              <a:rPr lang="zh-CN" altLang="en-US" b="1" dirty="0">
                <a:latin typeface="宋体" panose="02010600030101010101" pitchFamily="2" charset="-122"/>
              </a:rPr>
              <a:t>、</a:t>
            </a:r>
            <a:r>
              <a:rPr lang="en-US" altLang="zh-CN" b="1" dirty="0">
                <a:cs typeface="Times New Roman" panose="02020603050405020304" pitchFamily="18" charset="0"/>
              </a:rPr>
              <a:t>IP-VPN</a:t>
            </a:r>
            <a:r>
              <a:rPr lang="zh-CN" altLang="en-US" b="1" dirty="0">
                <a:ea typeface="黑体" panose="02010609060101010101" pitchFamily="49" charset="-122"/>
              </a:rPr>
              <a:t>的</a:t>
            </a:r>
            <a:r>
              <a:rPr lang="en-US" altLang="zh-CN" b="1" dirty="0" err="1">
                <a:cs typeface="Times New Roman" panose="02020603050405020304" pitchFamily="18" charset="0"/>
              </a:rPr>
              <a:t>QoS</a:t>
            </a:r>
            <a:r>
              <a:rPr lang="zh-CN" altLang="en-US" b="1" dirty="0">
                <a:ea typeface="黑体" panose="02010609060101010101" pitchFamily="49" charset="-122"/>
              </a:rPr>
              <a:t>保证</a:t>
            </a:r>
            <a:endParaRPr lang="zh-CN" altLang="en-US" dirty="0">
              <a:cs typeface="Times New Roman" panose="02020603050405020304" pitchFamily="18" charset="0"/>
            </a:endParaRPr>
          </a:p>
          <a:p>
            <a:r>
              <a:rPr lang="zh-CN" altLang="en-US" b="1" dirty="0">
                <a:cs typeface="Times New Roman" panose="02020603050405020304" pitchFamily="18" charset="0"/>
              </a:rPr>
              <a:t>3</a:t>
            </a:r>
            <a:r>
              <a:rPr lang="zh-CN" altLang="en-US" b="1" dirty="0">
                <a:latin typeface="宋体" panose="02010600030101010101" pitchFamily="2" charset="-122"/>
              </a:rPr>
              <a:t>、</a:t>
            </a:r>
            <a:r>
              <a:rPr lang="en-US" altLang="zh-CN" b="1" dirty="0">
                <a:cs typeface="Times New Roman" panose="02020603050405020304" pitchFamily="18" charset="0"/>
              </a:rPr>
              <a:t>IP-VPN</a:t>
            </a:r>
            <a:r>
              <a:rPr lang="zh-CN" altLang="en-US" b="1" dirty="0">
                <a:ea typeface="黑体" panose="02010609060101010101" pitchFamily="49" charset="-122"/>
              </a:rPr>
              <a:t>的网络管理及安全管理</a:t>
            </a:r>
            <a:r>
              <a:rPr lang="zh-CN" altLang="en-US" dirty="0"/>
              <a:t> </a:t>
            </a:r>
            <a:endParaRPr lang="zh-CN" altLang="en-US" dirty="0"/>
          </a:p>
          <a:p>
            <a:pPr algn="just"/>
            <a:r>
              <a:rPr lang="zh-CN" altLang="en-US" dirty="0">
                <a:cs typeface="Times New Roman" panose="02020603050405020304" pitchFamily="18" charset="0"/>
              </a:rPr>
              <a:t>(1)    </a:t>
            </a:r>
            <a:r>
              <a:rPr lang="en-US" altLang="zh-CN" dirty="0">
                <a:cs typeface="Times New Roman" panose="02020603050405020304" pitchFamily="18" charset="0"/>
              </a:rPr>
              <a:t>SNMP </a:t>
            </a:r>
            <a:r>
              <a:rPr lang="zh-CN" altLang="en-US" dirty="0">
                <a:latin typeface="宋体" panose="02010600030101010101" pitchFamily="2" charset="-122"/>
              </a:rPr>
              <a:t>和</a:t>
            </a:r>
            <a:r>
              <a:rPr lang="en-US" altLang="zh-CN" dirty="0">
                <a:cs typeface="Times New Roman" panose="02020603050405020304" pitchFamily="18" charset="0"/>
              </a:rPr>
              <a:t>SNMP++ Over IP</a:t>
            </a:r>
            <a:r>
              <a:rPr lang="zh-CN" altLang="en-US" dirty="0">
                <a:latin typeface="宋体" panose="02010600030101010101" pitchFamily="2" charset="-122"/>
              </a:rPr>
              <a:t>隧道的</a:t>
            </a:r>
            <a:r>
              <a:rPr lang="zh-CN" altLang="en-US" dirty="0" smtClean="0">
                <a:latin typeface="宋体" panose="02010600030101010101" pitchFamily="2" charset="-122"/>
              </a:rPr>
              <a:t>问题；</a:t>
            </a:r>
            <a:endParaRPr lang="en-US" altLang="zh-CN" dirty="0" smtClean="0">
              <a:latin typeface="宋体" panose="02010600030101010101" pitchFamily="2" charset="-122"/>
            </a:endParaRPr>
          </a:p>
          <a:p>
            <a:pPr algn="just"/>
            <a:r>
              <a:rPr lang="zh-CN" altLang="en-US" dirty="0" smtClean="0">
                <a:cs typeface="Times New Roman" panose="02020603050405020304" pitchFamily="18" charset="0"/>
              </a:rPr>
              <a:t>(</a:t>
            </a:r>
            <a:r>
              <a:rPr lang="zh-CN" altLang="en-US" dirty="0">
                <a:cs typeface="Times New Roman" panose="02020603050405020304" pitchFamily="18" charset="0"/>
              </a:rPr>
              <a:t>2)    </a:t>
            </a:r>
            <a:r>
              <a:rPr lang="zh-CN" altLang="en-US" dirty="0">
                <a:latin typeface="宋体" panose="02010600030101010101" pitchFamily="2" charset="-122"/>
              </a:rPr>
              <a:t>网管系统</a:t>
            </a:r>
            <a:r>
              <a:rPr lang="en-US" altLang="zh-CN" dirty="0">
                <a:cs typeface="Times New Roman" panose="02020603050405020304" pitchFamily="18" charset="0"/>
              </a:rPr>
              <a:t>IP</a:t>
            </a:r>
            <a:r>
              <a:rPr lang="zh-CN" altLang="en-US" dirty="0">
                <a:latin typeface="宋体" panose="02010600030101010101" pitchFamily="2" charset="-122"/>
              </a:rPr>
              <a:t>隧道状态的监控管理</a:t>
            </a:r>
            <a:r>
              <a:rPr lang="zh-CN" altLang="en-US" dirty="0" smtClean="0">
                <a:latin typeface="宋体" panose="02010600030101010101" pitchFamily="2" charset="-122"/>
              </a:rPr>
              <a:t>；</a:t>
            </a:r>
            <a:endParaRPr lang="en-US" altLang="zh-CN" dirty="0" smtClean="0">
              <a:latin typeface="宋体" panose="02010600030101010101" pitchFamily="2" charset="-122"/>
            </a:endParaRPr>
          </a:p>
          <a:p>
            <a:pPr algn="just"/>
            <a:r>
              <a:rPr lang="en-US" altLang="zh-CN" dirty="0" smtClean="0">
                <a:latin typeface="宋体" panose="02010600030101010101" pitchFamily="2" charset="-122"/>
              </a:rPr>
              <a:t>(3) </a:t>
            </a:r>
            <a:r>
              <a:rPr lang="en-US" altLang="zh-CN" dirty="0" smtClean="0">
                <a:cs typeface="Times New Roman" panose="02020603050405020304" pitchFamily="18" charset="0"/>
              </a:rPr>
              <a:t>IP-VPN</a:t>
            </a:r>
            <a:r>
              <a:rPr lang="zh-CN" altLang="en-US" dirty="0">
                <a:latin typeface="宋体" panose="02010600030101010101" pitchFamily="2" charset="-122"/>
              </a:rPr>
              <a:t>网关对</a:t>
            </a:r>
            <a:r>
              <a:rPr lang="en-US" altLang="zh-CN" dirty="0">
                <a:cs typeface="Times New Roman" panose="02020603050405020304" pitchFamily="18" charset="0"/>
              </a:rPr>
              <a:t>SNMP</a:t>
            </a:r>
            <a:r>
              <a:rPr lang="zh-CN" altLang="en-US" dirty="0">
                <a:latin typeface="宋体" panose="02010600030101010101" pitchFamily="2" charset="-122"/>
              </a:rPr>
              <a:t>的支持，如具有监控</a:t>
            </a:r>
            <a:r>
              <a:rPr lang="en-US" altLang="zh-CN" dirty="0">
                <a:cs typeface="Times New Roman" panose="02020603050405020304" pitchFamily="18" charset="0"/>
              </a:rPr>
              <a:t>IP</a:t>
            </a:r>
            <a:r>
              <a:rPr lang="zh-CN" altLang="en-US" dirty="0">
                <a:latin typeface="宋体" panose="02010600030101010101" pitchFamily="2" charset="-122"/>
              </a:rPr>
              <a:t>隧道的代理功能、向管理进程报告</a:t>
            </a:r>
            <a:r>
              <a:rPr lang="en-US" altLang="zh-CN" dirty="0">
                <a:cs typeface="Times New Roman" panose="02020603050405020304" pitchFamily="18" charset="0"/>
              </a:rPr>
              <a:t>IP</a:t>
            </a:r>
            <a:r>
              <a:rPr lang="zh-CN" altLang="en-US" dirty="0">
                <a:latin typeface="宋体" panose="02010600030101010101" pitchFamily="2" charset="-122"/>
              </a:rPr>
              <a:t>隧道的状态、接收管理进程发出的管理命令等。</a:t>
            </a:r>
            <a:r>
              <a:rPr lang="zh-CN" altLang="en-US" dirty="0"/>
              <a:t> </a:t>
            </a:r>
            <a:endParaRPr lang="zh-CN" altLang="en-US" dirty="0"/>
          </a:p>
        </p:txBody>
      </p:sp>
      <p:grpSp>
        <p:nvGrpSpPr>
          <p:cNvPr id="4" name="组合 3"/>
          <p:cNvGrpSpPr/>
          <p:nvPr/>
        </p:nvGrpSpPr>
        <p:grpSpPr>
          <a:xfrm>
            <a:off x="2778211" y="233460"/>
            <a:ext cx="6635578" cy="1109044"/>
            <a:chOff x="3279913" y="488294"/>
            <a:chExt cx="6635578" cy="1109044"/>
          </a:xfrm>
        </p:grpSpPr>
        <p:grpSp>
          <p:nvGrpSpPr>
            <p:cNvPr id="5" name="组合 4"/>
            <p:cNvGrpSpPr/>
            <p:nvPr/>
          </p:nvGrpSpPr>
          <p:grpSpPr>
            <a:xfrm>
              <a:off x="3279913" y="909457"/>
              <a:ext cx="6635578" cy="687881"/>
              <a:chOff x="3279913" y="909457"/>
              <a:chExt cx="6635578" cy="687881"/>
            </a:xfrm>
          </p:grpSpPr>
          <p:sp>
            <p:nvSpPr>
              <p:cNvPr id="159" name="矩形: 圆角 9"/>
              <p:cNvSpPr/>
              <p:nvPr/>
            </p:nvSpPr>
            <p:spPr>
              <a:xfrm>
                <a:off x="3279913" y="909457"/>
                <a:ext cx="6635578"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4481483" cy="535531"/>
              </a:xfrm>
              <a:prstGeom prst="rect">
                <a:avLst/>
              </a:prstGeom>
              <a:noFill/>
            </p:spPr>
            <p:txBody>
              <a:bodyPr wrap="none" rtlCol="0" anchor="t">
                <a:spAutoFit/>
              </a:bodyPr>
              <a:lstStyle/>
              <a:p>
                <a:pPr lvl="0" fontAlgn="base">
                  <a:lnSpc>
                    <a:spcPct val="90000"/>
                  </a:lnSpc>
                  <a:spcBef>
                    <a:spcPts val="1000"/>
                  </a:spcBef>
                  <a:spcAft>
                    <a:spcPct val="0"/>
                  </a:spcAft>
                  <a:defRPr/>
                </a:pPr>
                <a:r>
                  <a:rPr lang="en-US" altLang="zh-CN"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IP-VPN</a:t>
                </a: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需要解决的问题</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4000" dirty="0" smtClean="0">
                <a:solidFill>
                  <a:srgbClr val="002060"/>
                </a:solidFill>
                <a:latin typeface="思源黑体 CN Heavy" panose="020B0A00000000000000" pitchFamily="34" charset="-122"/>
                <a:ea typeface="思源黑体 CN Heavy" panose="020B0A00000000000000" pitchFamily="34" charset="-122"/>
                <a:cs typeface="+mn-ea"/>
                <a:sym typeface="+mn-lt"/>
              </a:rPr>
              <a:t>蜜罐</a:t>
            </a:r>
            <a:r>
              <a:rPr lang="zh-CN" altLang="en-US" sz="4000" dirty="0">
                <a:solidFill>
                  <a:srgbClr val="002060"/>
                </a:solidFill>
                <a:latin typeface="思源黑体 CN Heavy" panose="020B0A00000000000000" pitchFamily="34" charset="-122"/>
                <a:ea typeface="思源黑体 CN Heavy" panose="020B0A00000000000000" pitchFamily="34" charset="-122"/>
                <a:cs typeface="+mn-ea"/>
                <a:sym typeface="+mn-lt"/>
              </a:rPr>
              <a:t>技术</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r>
              <a:rPr lang="en-US" altLang="zh-CN" b="1" dirty="0" smtClean="0">
                <a:latin typeface="宋体" panose="02010600030101010101" pitchFamily="2" charset="-122"/>
              </a:rPr>
              <a:t>5</a:t>
            </a:r>
            <a:r>
              <a:rPr lang="zh-CN" altLang="en-US" b="1" dirty="0" smtClean="0">
                <a:latin typeface="宋体" panose="02010600030101010101" pitchFamily="2" charset="-122"/>
              </a:rPr>
              <a:t>.</a:t>
            </a:r>
            <a:r>
              <a:rPr lang="en-US" altLang="zh-CN" b="1" dirty="0" smtClean="0">
                <a:latin typeface="宋体" panose="02010600030101010101" pitchFamily="2" charset="-122"/>
              </a:rPr>
              <a:t>4</a:t>
            </a:r>
            <a:r>
              <a:rPr lang="zh-CN" altLang="en-US" b="1" dirty="0" smtClean="0">
                <a:latin typeface="宋体" panose="02010600030101010101" pitchFamily="2" charset="-122"/>
              </a:rPr>
              <a:t> </a:t>
            </a:r>
            <a:r>
              <a:rPr lang="zh-CN" altLang="en-US" b="1" dirty="0">
                <a:latin typeface="宋体" panose="02010600030101010101" pitchFamily="2" charset="-122"/>
              </a:rPr>
              <a:t>蜜罐技术</a:t>
            </a:r>
            <a:endParaRPr lang="zh-CN" altLang="en-US" b="1" dirty="0">
              <a:latin typeface="宋体" panose="02010600030101010101" pitchFamily="2" charset="-122"/>
            </a:endParaRPr>
          </a:p>
        </p:txBody>
      </p:sp>
      <p:sp>
        <p:nvSpPr>
          <p:cNvPr id="117763" name="Rectangle 3"/>
          <p:cNvSpPr>
            <a:spLocks noGrp="1" noChangeArrowheads="1"/>
          </p:cNvSpPr>
          <p:nvPr>
            <p:ph type="body" idx="1"/>
          </p:nvPr>
        </p:nvSpPr>
        <p:spPr/>
        <p:txBody>
          <a:bodyPr/>
          <a:lstStyle/>
          <a:p>
            <a:r>
              <a:rPr lang="en-US" altLang="zh-CN" dirty="0"/>
              <a:t>        </a:t>
            </a:r>
            <a:r>
              <a:rPr lang="zh-CN" altLang="en-US" dirty="0"/>
              <a:t>蜜罐是网络安全领域中其他安全策略不可替代的一种主动防御技术。蜜罐的概念最早出现在</a:t>
            </a:r>
            <a:r>
              <a:rPr lang="en-US" altLang="zh-CN" dirty="0"/>
              <a:t>Cliff Stoll</a:t>
            </a:r>
            <a:r>
              <a:rPr lang="zh-CN" altLang="en-US" dirty="0"/>
              <a:t>的专著《</a:t>
            </a:r>
            <a:r>
              <a:rPr lang="en-US" altLang="zh-CN" dirty="0"/>
              <a:t>The Cuckoo’s egg》</a:t>
            </a:r>
            <a:r>
              <a:rPr lang="zh-CN" altLang="en-US" dirty="0"/>
              <a:t>和</a:t>
            </a:r>
            <a:r>
              <a:rPr lang="en-US" altLang="zh-CN" dirty="0"/>
              <a:t>Bill Cheswick</a:t>
            </a:r>
            <a:r>
              <a:rPr lang="zh-CN" altLang="en-US" dirty="0"/>
              <a:t>的文章《</a:t>
            </a:r>
            <a:r>
              <a:rPr lang="en-US" altLang="zh-CN" dirty="0"/>
              <a:t>An evening with </a:t>
            </a:r>
            <a:r>
              <a:rPr lang="en-US" altLang="zh-CN" dirty="0" err="1"/>
              <a:t>Berferd</a:t>
            </a:r>
            <a:r>
              <a:rPr lang="en-US" altLang="zh-CN" dirty="0"/>
              <a:t>》</a:t>
            </a:r>
            <a:r>
              <a:rPr lang="zh-CN" altLang="en-US" dirty="0"/>
              <a:t>中，从那以后，蜜罐逐渐发展成为今天具有强大功能的安全工具。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1066800" y="2133600"/>
            <a:ext cx="10363200" cy="4114800"/>
          </a:xfrm>
          <a:prstGeom prst="rect">
            <a:avLst/>
          </a:prstGeom>
        </p:spPr>
        <p:txBody>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latin typeface="宋体" panose="02010600030101010101" pitchFamily="2" charset="-122"/>
              </a:rPr>
              <a:t>    蜜罐被定义为一种信息系统伪资源，它的作用是通过吸引攻击者对这些资源访问与使用，达到保护信息系统资源的目的。</a:t>
            </a:r>
            <a:r>
              <a:rPr lang="en-US" altLang="zh-CN" dirty="0" smtClean="0"/>
              <a:t> </a:t>
            </a:r>
            <a:endParaRPr lang="zh-CN" altLang="en-US" dirty="0"/>
          </a:p>
        </p:txBody>
      </p:sp>
      <p:grpSp>
        <p:nvGrpSpPr>
          <p:cNvPr id="6" name="组合 5"/>
          <p:cNvGrpSpPr/>
          <p:nvPr/>
        </p:nvGrpSpPr>
        <p:grpSpPr>
          <a:xfrm>
            <a:off x="4300969" y="207478"/>
            <a:ext cx="3894862" cy="1109044"/>
            <a:chOff x="3279913" y="488294"/>
            <a:chExt cx="3894862" cy="1109044"/>
          </a:xfrm>
        </p:grpSpPr>
        <p:grpSp>
          <p:nvGrpSpPr>
            <p:cNvPr id="7" name="组合 6"/>
            <p:cNvGrpSpPr/>
            <p:nvPr/>
          </p:nvGrpSpPr>
          <p:grpSpPr>
            <a:xfrm>
              <a:off x="3279913" y="909457"/>
              <a:ext cx="3894862" cy="687881"/>
              <a:chOff x="3279913" y="909457"/>
              <a:chExt cx="3894862" cy="687881"/>
            </a:xfrm>
          </p:grpSpPr>
          <p:sp>
            <p:nvSpPr>
              <p:cNvPr id="161" name="矩形: 圆角 9"/>
              <p:cNvSpPr/>
              <p:nvPr/>
            </p:nvSpPr>
            <p:spPr>
              <a:xfrm>
                <a:off x="3279913" y="909457"/>
                <a:ext cx="3894862"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2" name="文本框 161"/>
              <p:cNvSpPr txBox="1"/>
              <p:nvPr/>
            </p:nvSpPr>
            <p:spPr>
              <a:xfrm>
                <a:off x="4648956" y="1032190"/>
                <a:ext cx="2236510"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蜜罐的概念</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8"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9"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9"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50"/>
                                        <p:tgtEl>
                                          <p:spTgt spid="6"/>
                                        </p:tgtEl>
                                      </p:cBhvr>
                                    </p:animEffect>
                                    <p:anim calcmode="lin" valueType="num">
                                      <p:cBhvr>
                                        <p:cTn id="8" dur="650" fill="hold"/>
                                        <p:tgtEl>
                                          <p:spTgt spid="6"/>
                                        </p:tgtEl>
                                        <p:attrNameLst>
                                          <p:attrName>ppt_x</p:attrName>
                                        </p:attrNameLst>
                                      </p:cBhvr>
                                      <p:tavLst>
                                        <p:tav tm="0">
                                          <p:val>
                                            <p:strVal val="#ppt_x"/>
                                          </p:val>
                                        </p:tav>
                                        <p:tav tm="100000">
                                          <p:val>
                                            <p:strVal val="#ppt_x"/>
                                          </p:val>
                                        </p:tav>
                                      </p:tavLst>
                                    </p:anim>
                                    <p:anim calcmode="lin" valueType="num">
                                      <p:cBhvr>
                                        <p:cTn id="9" dur="6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p:cNvSpPr>
            <a:spLocks noGrp="1" noChangeArrowheads="1"/>
          </p:cNvSpPr>
          <p:nvPr>
            <p:ph type="body" idx="1"/>
          </p:nvPr>
        </p:nvSpPr>
        <p:spPr/>
        <p:txBody>
          <a:bodyPr/>
          <a:lstStyle/>
          <a:p>
            <a:r>
              <a:rPr lang="zh-CN" altLang="en-US" dirty="0">
                <a:latin typeface="宋体" panose="02010600030101010101" pitchFamily="2" charset="-122"/>
              </a:rPr>
              <a:t>根据蜜罐同攻击者之间交互的程度，蜜罐可以被分为低交互蜜罐（</a:t>
            </a:r>
            <a:r>
              <a:rPr lang="en-US" altLang="zh-CN" dirty="0">
                <a:cs typeface="Times New Roman" panose="02020603050405020304" pitchFamily="18" charset="0"/>
              </a:rPr>
              <a:t>low-interaction honeypot</a:t>
            </a:r>
            <a:r>
              <a:rPr lang="en-US" altLang="zh-CN" dirty="0">
                <a:latin typeface="宋体" panose="02010600030101010101" pitchFamily="2" charset="-122"/>
              </a:rPr>
              <a:t>）</a:t>
            </a:r>
            <a:r>
              <a:rPr lang="zh-CN" altLang="en-US" dirty="0">
                <a:latin typeface="宋体" panose="02010600030101010101" pitchFamily="2" charset="-122"/>
              </a:rPr>
              <a:t>和高交互蜜罐</a:t>
            </a:r>
            <a:r>
              <a:rPr lang="zh-CN" altLang="en-US" dirty="0">
                <a:cs typeface="Times New Roman" panose="02020603050405020304" pitchFamily="18" charset="0"/>
              </a:rPr>
              <a:t>(</a:t>
            </a:r>
            <a:r>
              <a:rPr lang="en-US" altLang="zh-CN" dirty="0">
                <a:cs typeface="Times New Roman" panose="02020603050405020304" pitchFamily="18" charset="0"/>
              </a:rPr>
              <a:t>high-interaction honeypot</a:t>
            </a:r>
            <a:r>
              <a:rPr lang="en-US" altLang="zh-CN" dirty="0" smtClean="0">
                <a:cs typeface="Times New Roman" panose="02020603050405020304" pitchFamily="18" charset="0"/>
              </a:rPr>
              <a:t>)</a:t>
            </a:r>
            <a:r>
              <a:rPr lang="en-US" altLang="zh-CN" dirty="0" smtClean="0">
                <a:latin typeface="宋体" panose="02010600030101010101" pitchFamily="2" charset="-122"/>
              </a:rPr>
              <a:t>。</a:t>
            </a:r>
            <a:endParaRPr lang="en-US" altLang="zh-CN" dirty="0" smtClean="0">
              <a:latin typeface="宋体" panose="02010600030101010101" pitchFamily="2" charset="-122"/>
            </a:endParaRPr>
          </a:p>
          <a:p>
            <a:pPr marL="457200" indent="-457200">
              <a:buFont typeface="Wingdings" panose="05000000000000000000" pitchFamily="2" charset="2"/>
              <a:buChar char="ü"/>
            </a:pPr>
            <a:r>
              <a:rPr lang="zh-CN" altLang="en-US" dirty="0" smtClean="0">
                <a:latin typeface="宋体" panose="02010600030101010101" pitchFamily="2" charset="-122"/>
              </a:rPr>
              <a:t>低</a:t>
            </a:r>
            <a:r>
              <a:rPr lang="zh-CN" altLang="en-US" dirty="0">
                <a:latin typeface="宋体" panose="02010600030101010101" pitchFamily="2" charset="-122"/>
              </a:rPr>
              <a:t>交互蜜罐通常又被称为产品型蜜罐（</a:t>
            </a:r>
            <a:r>
              <a:rPr lang="en-US" altLang="zh-CN" dirty="0">
                <a:cs typeface="Times New Roman" panose="02020603050405020304" pitchFamily="18" charset="0"/>
              </a:rPr>
              <a:t>production honeypot</a:t>
            </a:r>
            <a:r>
              <a:rPr lang="en-US" altLang="zh-CN" dirty="0">
                <a:latin typeface="宋体" panose="02010600030101010101" pitchFamily="2" charset="-122"/>
              </a:rPr>
              <a:t>）</a:t>
            </a:r>
            <a:r>
              <a:rPr lang="en-US" altLang="zh-CN" dirty="0">
                <a:cs typeface="Times New Roman" panose="02020603050405020304" pitchFamily="18" charset="0"/>
              </a:rPr>
              <a:t>, </a:t>
            </a:r>
            <a:endParaRPr lang="en-US" altLang="zh-CN" dirty="0">
              <a:latin typeface="宋体" panose="02010600030101010101" pitchFamily="2" charset="-122"/>
            </a:endParaRPr>
          </a:p>
          <a:p>
            <a:pPr marL="457200" indent="-457200">
              <a:buFont typeface="Wingdings" panose="05000000000000000000" pitchFamily="2" charset="2"/>
              <a:buChar char="ü"/>
            </a:pPr>
            <a:r>
              <a:rPr lang="zh-CN" altLang="en-US" dirty="0" smtClean="0">
                <a:latin typeface="宋体" panose="02010600030101010101" pitchFamily="2" charset="-122"/>
              </a:rPr>
              <a:t>高交互</a:t>
            </a:r>
            <a:r>
              <a:rPr lang="zh-CN" altLang="en-US" dirty="0">
                <a:latin typeface="宋体" panose="02010600030101010101" pitchFamily="2" charset="-122"/>
              </a:rPr>
              <a:t>蜜罐通常又被称为研究型蜜罐（</a:t>
            </a:r>
            <a:r>
              <a:rPr lang="en-US" altLang="zh-CN" dirty="0">
                <a:cs typeface="Times New Roman" panose="02020603050405020304" pitchFamily="18" charset="0"/>
              </a:rPr>
              <a:t>research honeypot</a:t>
            </a:r>
            <a:r>
              <a:rPr lang="en-US" altLang="zh-CN" dirty="0">
                <a:latin typeface="宋体" panose="02010600030101010101" pitchFamily="2" charset="-122"/>
              </a:rPr>
              <a:t>）。</a:t>
            </a:r>
            <a:r>
              <a:rPr lang="en-US" altLang="zh-CN" dirty="0"/>
              <a:t> </a:t>
            </a:r>
            <a:endParaRPr lang="zh-CN" altLang="en-US" dirty="0"/>
          </a:p>
        </p:txBody>
      </p:sp>
      <p:grpSp>
        <p:nvGrpSpPr>
          <p:cNvPr id="4" name="组合 3"/>
          <p:cNvGrpSpPr/>
          <p:nvPr/>
        </p:nvGrpSpPr>
        <p:grpSpPr>
          <a:xfrm>
            <a:off x="4158296" y="191600"/>
            <a:ext cx="3875407" cy="1109044"/>
            <a:chOff x="3279913" y="488294"/>
            <a:chExt cx="3875407" cy="1109044"/>
          </a:xfrm>
        </p:grpSpPr>
        <p:grpSp>
          <p:nvGrpSpPr>
            <p:cNvPr id="5" name="组合 4"/>
            <p:cNvGrpSpPr/>
            <p:nvPr/>
          </p:nvGrpSpPr>
          <p:grpSpPr>
            <a:xfrm>
              <a:off x="3279913" y="909457"/>
              <a:ext cx="3875407" cy="687881"/>
              <a:chOff x="3279913" y="909457"/>
              <a:chExt cx="3875407" cy="687881"/>
            </a:xfrm>
          </p:grpSpPr>
          <p:sp>
            <p:nvSpPr>
              <p:cNvPr id="159" name="矩形: 圆角 9"/>
              <p:cNvSpPr/>
              <p:nvPr/>
            </p:nvSpPr>
            <p:spPr>
              <a:xfrm>
                <a:off x="3279913" y="909457"/>
                <a:ext cx="3875407"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2236510"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蜜罐的分类</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zh-CN" altLang="en-US" b="1">
                <a:solidFill>
                  <a:schemeClr val="hlink"/>
                </a:solidFill>
                <a:latin typeface="Times New Roman" panose="02020603050405020304" pitchFamily="18" charset="0"/>
                <a:cs typeface="Times New Roman" panose="02020603050405020304" pitchFamily="18" charset="0"/>
              </a:rPr>
              <a:t>1. </a:t>
            </a:r>
            <a:r>
              <a:rPr lang="zh-CN" altLang="en-US" b="1">
                <a:solidFill>
                  <a:schemeClr val="hlink"/>
                </a:solidFill>
                <a:latin typeface="宋体" panose="02010600030101010101" pitchFamily="2" charset="-122"/>
              </a:rPr>
              <a:t>低交互蜜罐</a:t>
            </a:r>
            <a:endParaRPr lang="zh-CN" altLang="en-US">
              <a:solidFill>
                <a:schemeClr val="hlink"/>
              </a:solidFill>
              <a:latin typeface="Times New Roman" panose="02020603050405020304" pitchFamily="18" charset="0"/>
              <a:cs typeface="Times New Roman" panose="02020603050405020304" pitchFamily="18" charset="0"/>
            </a:endParaRPr>
          </a:p>
        </p:txBody>
      </p:sp>
      <p:sp>
        <p:nvSpPr>
          <p:cNvPr id="125955" name="Rectangle 3"/>
          <p:cNvSpPr>
            <a:spLocks noGrp="1" noChangeArrowheads="1"/>
          </p:cNvSpPr>
          <p:nvPr>
            <p:ph type="body" idx="1"/>
          </p:nvPr>
        </p:nvSpPr>
        <p:spPr/>
        <p:txBody>
          <a:bodyPr/>
          <a:lstStyle/>
          <a:p>
            <a:pPr>
              <a:lnSpc>
                <a:spcPct val="90000"/>
              </a:lnSpc>
            </a:pPr>
            <a:r>
              <a:rPr lang="zh-CN" altLang="en-US" dirty="0" smtClean="0">
                <a:latin typeface="宋体" panose="02010600030101010101" pitchFamily="2" charset="-122"/>
              </a:rPr>
              <a:t>    低</a:t>
            </a:r>
            <a:r>
              <a:rPr lang="zh-CN" altLang="en-US" dirty="0">
                <a:latin typeface="宋体" panose="02010600030101010101" pitchFamily="2" charset="-122"/>
              </a:rPr>
              <a:t>交互蜜罐包括有：</a:t>
            </a:r>
            <a:r>
              <a:rPr lang="en-US" altLang="zh-CN" dirty="0">
                <a:cs typeface="Times New Roman" panose="02020603050405020304" pitchFamily="18" charset="0"/>
              </a:rPr>
              <a:t>Specter, </a:t>
            </a:r>
            <a:r>
              <a:rPr lang="en-US" altLang="zh-CN" dirty="0" err="1">
                <a:cs typeface="Times New Roman" panose="02020603050405020304" pitchFamily="18" charset="0"/>
              </a:rPr>
              <a:t>Honeyd</a:t>
            </a:r>
            <a:r>
              <a:rPr lang="zh-CN" altLang="en-US" dirty="0">
                <a:latin typeface="宋体" panose="02010600030101010101" pitchFamily="2" charset="-122"/>
              </a:rPr>
              <a:t>和</a:t>
            </a:r>
            <a:r>
              <a:rPr lang="en-US" altLang="zh-CN" dirty="0" err="1">
                <a:cs typeface="Times New Roman" panose="02020603050405020304" pitchFamily="18" charset="0"/>
              </a:rPr>
              <a:t>KfSensor</a:t>
            </a:r>
            <a:r>
              <a:rPr lang="zh-CN" altLang="en-US" dirty="0">
                <a:latin typeface="宋体" panose="02010600030101010101" pitchFamily="2" charset="-122"/>
              </a:rPr>
              <a:t>等，其最大的特点就是模拟。通常低交互蜜罐通过模拟某些特定的服务或是操作系统，使攻击者行为被限制在被模拟的范围内。</a:t>
            </a:r>
            <a:r>
              <a:rPr lang="zh-CN" altLang="en-US" dirty="0"/>
              <a:t> </a:t>
            </a:r>
            <a:endParaRPr lang="zh-CN" altLang="en-US" dirty="0"/>
          </a:p>
          <a:p>
            <a:pPr>
              <a:lnSpc>
                <a:spcPct val="90000"/>
              </a:lnSpc>
            </a:pPr>
            <a:r>
              <a:rPr lang="zh-CN" altLang="en-US" dirty="0">
                <a:latin typeface="宋体" panose="02010600030101010101" pitchFamily="2" charset="-122"/>
              </a:rPr>
              <a:t>低交互蜜罐的优点在于简单，容易配置和维护，也具有更小的危险性。通常它们包括安装软件，可选择的想模拟和监视的服务或操作系统，这种方式使安装配置变得非常方便，而且模拟服务只为攻击者提供有限操作空间，使其不会攻击和伤害其它系统，减少了引入的危险性。</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r>
              <a:rPr lang="zh-CN" altLang="en-US"/>
              <a:t> </a:t>
            </a:r>
            <a:endParaRPr lang="zh-CN" altLang="en-US"/>
          </a:p>
        </p:txBody>
      </p:sp>
      <p:sp>
        <p:nvSpPr>
          <p:cNvPr id="126979" name="Rectangle 3"/>
          <p:cNvSpPr>
            <a:spLocks noGrp="1" noChangeArrowheads="1"/>
          </p:cNvSpPr>
          <p:nvPr>
            <p:ph type="body" idx="1"/>
          </p:nvPr>
        </p:nvSpPr>
        <p:spPr/>
        <p:txBody>
          <a:bodyPr/>
          <a:lstStyle/>
          <a:p>
            <a:r>
              <a:rPr lang="en-US" altLang="zh-CN">
                <a:cs typeface="Times New Roman" panose="02020603050405020304" pitchFamily="18" charset="0"/>
              </a:rPr>
              <a:t>        Honeyd</a:t>
            </a:r>
            <a:r>
              <a:rPr lang="zh-CN" altLang="en-US">
                <a:latin typeface="宋体" panose="02010600030101010101" pitchFamily="2" charset="-122"/>
              </a:rPr>
              <a:t>是由</a:t>
            </a:r>
            <a:r>
              <a:rPr lang="en-US" altLang="zh-CN">
                <a:cs typeface="Times New Roman" panose="02020603050405020304" pitchFamily="18" charset="0"/>
              </a:rPr>
              <a:t>Niels Provos</a:t>
            </a:r>
            <a:r>
              <a:rPr lang="zh-CN" altLang="en-US">
                <a:latin typeface="宋体" panose="02010600030101010101" pitchFamily="2" charset="-122"/>
              </a:rPr>
              <a:t>创建，主要运行在</a:t>
            </a:r>
            <a:r>
              <a:rPr lang="en-US" altLang="zh-CN">
                <a:cs typeface="Times New Roman" panose="02020603050405020304" pitchFamily="18" charset="0"/>
              </a:rPr>
              <a:t>unix</a:t>
            </a:r>
            <a:r>
              <a:rPr lang="zh-CN" altLang="en-US">
                <a:latin typeface="宋体" panose="02010600030101010101" pitchFamily="2" charset="-122"/>
              </a:rPr>
              <a:t>系统上的一种功能强大的开放源代码的低交互蜜罐。</a:t>
            </a:r>
            <a:r>
              <a:rPr lang="en-US" altLang="zh-CN">
                <a:cs typeface="Times New Roman" panose="02020603050405020304" pitchFamily="18" charset="0"/>
              </a:rPr>
              <a:t>Honeyd</a:t>
            </a:r>
            <a:r>
              <a:rPr lang="zh-CN" altLang="en-US">
                <a:latin typeface="宋体" panose="02010600030101010101" pitchFamily="2" charset="-122"/>
              </a:rPr>
              <a:t>工作的原理是监控未使用的</a:t>
            </a:r>
            <a:r>
              <a:rPr lang="en-US" altLang="zh-CN">
                <a:cs typeface="Times New Roman" panose="02020603050405020304" pitchFamily="18" charset="0"/>
              </a:rPr>
              <a:t>IP</a:t>
            </a:r>
            <a:r>
              <a:rPr lang="zh-CN" altLang="en-US">
                <a:latin typeface="宋体" panose="02010600030101010101" pitchFamily="2" charset="-122"/>
              </a:rPr>
              <a:t>地址，当发现有对未使用</a:t>
            </a:r>
            <a:r>
              <a:rPr lang="en-US" altLang="zh-CN">
                <a:cs typeface="Times New Roman" panose="02020603050405020304" pitchFamily="18" charset="0"/>
              </a:rPr>
              <a:t>IP</a:t>
            </a:r>
            <a:r>
              <a:rPr lang="zh-CN" altLang="en-US">
                <a:latin typeface="宋体" panose="02010600030101010101" pitchFamily="2" charset="-122"/>
              </a:rPr>
              <a:t>地址的连接企图，通过</a:t>
            </a:r>
            <a:r>
              <a:rPr lang="en-US" altLang="zh-CN">
                <a:cs typeface="Times New Roman" panose="02020603050405020304" pitchFamily="18" charset="0"/>
              </a:rPr>
              <a:t>ARP</a:t>
            </a:r>
            <a:r>
              <a:rPr lang="zh-CN" altLang="en-US">
                <a:latin typeface="宋体" panose="02010600030101010101" pitchFamily="2" charset="-122"/>
              </a:rPr>
              <a:t>欺骗模拟服务并同攻击者进行交互。通常情况下，</a:t>
            </a:r>
            <a:r>
              <a:rPr lang="en-US" altLang="zh-CN">
                <a:cs typeface="Times New Roman" panose="02020603050405020304" pitchFamily="18" charset="0"/>
              </a:rPr>
              <a:t>Honeyd</a:t>
            </a:r>
            <a:r>
              <a:rPr lang="zh-CN" altLang="en-US">
                <a:latin typeface="宋体" panose="02010600030101010101" pitchFamily="2" charset="-122"/>
              </a:rPr>
              <a:t>检测和记录对所有</a:t>
            </a:r>
            <a:r>
              <a:rPr lang="en-US" altLang="zh-CN">
                <a:cs typeface="Times New Roman" panose="02020603050405020304" pitchFamily="18" charset="0"/>
              </a:rPr>
              <a:t>UDP</a:t>
            </a:r>
            <a:r>
              <a:rPr lang="zh-CN" altLang="en-US">
                <a:latin typeface="宋体" panose="02010600030101010101" pitchFamily="2" charset="-122"/>
              </a:rPr>
              <a:t>和</a:t>
            </a:r>
            <a:r>
              <a:rPr lang="en-US" altLang="zh-CN">
                <a:cs typeface="Times New Roman" panose="02020603050405020304" pitchFamily="18" charset="0"/>
              </a:rPr>
              <a:t>TCP</a:t>
            </a:r>
            <a:r>
              <a:rPr lang="zh-CN" altLang="en-US">
                <a:latin typeface="宋体" panose="02010600030101010101" pitchFamily="2" charset="-122"/>
              </a:rPr>
              <a:t>端口的连接，当然也可以通过配置检测专门的端口，例如模拟</a:t>
            </a:r>
            <a:r>
              <a:rPr lang="en-US" altLang="zh-CN">
                <a:cs typeface="Times New Roman" panose="02020603050405020304" pitchFamily="18" charset="0"/>
              </a:rPr>
              <a:t>FTP</a:t>
            </a:r>
            <a:r>
              <a:rPr lang="zh-CN" altLang="en-US">
                <a:latin typeface="宋体" panose="02010600030101010101" pitchFamily="2" charset="-122"/>
              </a:rPr>
              <a:t>服务器监视</a:t>
            </a:r>
            <a:r>
              <a:rPr lang="en-US" altLang="zh-CN">
                <a:cs typeface="Times New Roman" panose="02020603050405020304" pitchFamily="18" charset="0"/>
              </a:rPr>
              <a:t>TCP</a:t>
            </a:r>
            <a:r>
              <a:rPr lang="zh-CN" altLang="en-US">
                <a:latin typeface="宋体" panose="02010600030101010101" pitchFamily="2" charset="-122"/>
              </a:rPr>
              <a:t>的</a:t>
            </a:r>
            <a:r>
              <a:rPr lang="zh-CN" altLang="en-US">
                <a:cs typeface="Times New Roman" panose="02020603050405020304" pitchFamily="18" charset="0"/>
              </a:rPr>
              <a:t>21</a:t>
            </a:r>
            <a:r>
              <a:rPr lang="zh-CN" altLang="en-US">
                <a:latin typeface="宋体" panose="02010600030101010101" pitchFamily="2" charset="-122"/>
              </a:rPr>
              <a:t>号端口。</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zh-CN" altLang="en-US"/>
              <a:t> </a:t>
            </a:r>
            <a:endParaRPr lang="zh-CN" altLang="en-US"/>
          </a:p>
        </p:txBody>
      </p:sp>
      <p:sp>
        <p:nvSpPr>
          <p:cNvPr id="128003" name="Rectangle 3"/>
          <p:cNvSpPr>
            <a:spLocks noGrp="1" noChangeArrowheads="1"/>
          </p:cNvSpPr>
          <p:nvPr>
            <p:ph type="body" idx="1"/>
          </p:nvPr>
        </p:nvSpPr>
        <p:spPr/>
        <p:txBody>
          <a:bodyPr/>
          <a:lstStyle/>
          <a:p>
            <a:r>
              <a:rPr lang="en-US" altLang="zh-CN">
                <a:latin typeface="宋体" panose="02010600030101010101" pitchFamily="2" charset="-122"/>
              </a:rPr>
              <a:t>    </a:t>
            </a:r>
            <a:r>
              <a:rPr lang="zh-CN" altLang="en-US">
                <a:latin typeface="宋体" panose="02010600030101010101" pitchFamily="2" charset="-122"/>
              </a:rPr>
              <a:t>但是低交互蜜罐由于只为攻击者提供简单的交互能力，因此获得信息非常有限，只能对攻击行为做简单的记录和分析。而且这也使低交互蜜罐无论模拟的多么完美，对攻击者来讲也会很容易检测出蜜罐的存在。</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zh-CN" altLang="en-US" b="1">
                <a:solidFill>
                  <a:schemeClr val="hlink"/>
                </a:solidFill>
                <a:latin typeface="Times New Roman" panose="02020603050405020304" pitchFamily="18" charset="0"/>
                <a:cs typeface="Times New Roman" panose="02020603050405020304" pitchFamily="18" charset="0"/>
              </a:rPr>
              <a:t>2.</a:t>
            </a:r>
            <a:r>
              <a:rPr lang="zh-CN" altLang="en-US" b="1">
                <a:solidFill>
                  <a:schemeClr val="hlink"/>
                </a:solidFill>
                <a:latin typeface="宋体" panose="02010600030101010101" pitchFamily="2" charset="-122"/>
              </a:rPr>
              <a:t>高交互蜜罐</a:t>
            </a:r>
            <a:endParaRPr lang="zh-CN" altLang="en-US">
              <a:solidFill>
                <a:schemeClr val="hlink"/>
              </a:solidFill>
              <a:latin typeface="Times New Roman" panose="02020603050405020304" pitchFamily="18" charset="0"/>
              <a:cs typeface="Times New Roman" panose="02020603050405020304" pitchFamily="18" charset="0"/>
            </a:endParaRPr>
          </a:p>
        </p:txBody>
      </p:sp>
      <p:sp>
        <p:nvSpPr>
          <p:cNvPr id="129027" name="Rectangle 3"/>
          <p:cNvSpPr>
            <a:spLocks noGrp="1" noChangeArrowheads="1"/>
          </p:cNvSpPr>
          <p:nvPr>
            <p:ph type="body" idx="1"/>
          </p:nvPr>
        </p:nvSpPr>
        <p:spPr/>
        <p:txBody>
          <a:bodyPr/>
          <a:lstStyle/>
          <a:p>
            <a:r>
              <a:rPr lang="en-US" altLang="zh-CN">
                <a:latin typeface="宋体" panose="02010600030101010101" pitchFamily="2" charset="-122"/>
              </a:rPr>
              <a:t>    </a:t>
            </a:r>
            <a:r>
              <a:rPr lang="zh-CN" altLang="en-US">
                <a:latin typeface="宋体" panose="02010600030101010101" pitchFamily="2" charset="-122"/>
              </a:rPr>
              <a:t>高交互蜜罐包括有：</a:t>
            </a:r>
            <a:r>
              <a:rPr lang="en-US" altLang="zh-CN">
                <a:cs typeface="Times New Roman" panose="02020603050405020304" pitchFamily="18" charset="0"/>
              </a:rPr>
              <a:t>Symantec Decoy Server </a:t>
            </a:r>
            <a:r>
              <a:rPr lang="zh-CN" altLang="en-US">
                <a:latin typeface="宋体" panose="02010600030101010101" pitchFamily="2" charset="-122"/>
              </a:rPr>
              <a:t>和</a:t>
            </a:r>
            <a:r>
              <a:rPr lang="en-US" altLang="zh-CN">
                <a:cs typeface="Times New Roman" panose="02020603050405020304" pitchFamily="18" charset="0"/>
              </a:rPr>
              <a:t>Honeynets</a:t>
            </a:r>
            <a:r>
              <a:rPr lang="en-US" altLang="zh-CN">
                <a:latin typeface="宋体" panose="02010600030101010101" pitchFamily="2" charset="-122"/>
              </a:rPr>
              <a:t>，</a:t>
            </a:r>
            <a:r>
              <a:rPr lang="zh-CN" altLang="en-US">
                <a:latin typeface="宋体" panose="02010600030101010101" pitchFamily="2" charset="-122"/>
              </a:rPr>
              <a:t>其最大的特点就是真实，除了系统中信息是假的外，其余系统功能或软件都是真的。安装在蜜罐上的系统和应用程序都是能在网络上发现的真正的系统和应用程序，没有模拟也没有故意的不安全设置。</a:t>
            </a:r>
            <a:r>
              <a:rPr lang="zh-CN" altLang="en-US"/>
              <a:t> </a:t>
            </a:r>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zh-CN" altLang="en-US"/>
              <a:t> </a:t>
            </a:r>
            <a:endParaRPr lang="zh-CN" altLang="en-US"/>
          </a:p>
        </p:txBody>
      </p:sp>
      <p:sp>
        <p:nvSpPr>
          <p:cNvPr id="130051" name="Rectangle 3"/>
          <p:cNvSpPr>
            <a:spLocks noGrp="1" noChangeArrowheads="1"/>
          </p:cNvSpPr>
          <p:nvPr>
            <p:ph type="body" idx="1"/>
          </p:nvPr>
        </p:nvSpPr>
        <p:spPr/>
        <p:txBody>
          <a:bodyPr/>
          <a:lstStyle/>
          <a:p>
            <a:r>
              <a:rPr lang="en-US" altLang="zh-CN">
                <a:latin typeface="宋体" panose="02010600030101010101" pitchFamily="2" charset="-122"/>
              </a:rPr>
              <a:t>    </a:t>
            </a:r>
            <a:r>
              <a:rPr lang="zh-CN" altLang="en-US">
                <a:latin typeface="宋体" panose="02010600030101010101" pitchFamily="2" charset="-122"/>
              </a:rPr>
              <a:t>这种设计有两种好处：一是能够捕捉到更广泛更有价值的信息。通过为攻击者提供真实的系统去交互，你能够更加充分地学习他们的行为，例如他们使用的最新的攻击工具、攻击手段以及</a:t>
            </a:r>
            <a:r>
              <a:rPr lang="en-US" altLang="zh-CN">
                <a:cs typeface="Times New Roman" panose="02020603050405020304" pitchFamily="18" charset="0"/>
              </a:rPr>
              <a:t>IRC</a:t>
            </a:r>
            <a:r>
              <a:rPr lang="zh-CN" altLang="en-US">
                <a:latin typeface="宋体" panose="02010600030101010101" pitchFamily="2" charset="-122"/>
              </a:rPr>
              <a:t>会话的内容等等。二是高交互蜜罐没有预先设定攻击者的攻击行为。通过提供开放环境高交互蜜罐可以捕捉记录攻击者同其交互的所有行为，经过研究分析可以发现和学习攻击者新的攻击手段、攻击策略和攻击动机。</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zh-CN" altLang="en-US"/>
              <a:t> </a:t>
            </a:r>
            <a:endParaRPr lang="zh-CN" altLang="en-US"/>
          </a:p>
        </p:txBody>
      </p:sp>
      <p:sp>
        <p:nvSpPr>
          <p:cNvPr id="131075" name="Rectangle 3"/>
          <p:cNvSpPr>
            <a:spLocks noGrp="1" noChangeArrowheads="1"/>
          </p:cNvSpPr>
          <p:nvPr>
            <p:ph type="body" idx="1"/>
          </p:nvPr>
        </p:nvSpPr>
        <p:spPr/>
        <p:txBody>
          <a:bodyPr/>
          <a:lstStyle/>
          <a:p>
            <a:r>
              <a:rPr lang="en-US" altLang="zh-CN">
                <a:latin typeface="宋体" panose="02010600030101010101" pitchFamily="2" charset="-122"/>
              </a:rPr>
              <a:t>    </a:t>
            </a:r>
            <a:r>
              <a:rPr lang="zh-CN" altLang="en-US">
                <a:latin typeface="宋体" panose="02010600030101010101" pitchFamily="2" charset="-122"/>
              </a:rPr>
              <a:t>但是高交互的蜜罐的这种设计也增加了引入的风险，高交互的蜜罐被攻击者侵入后，它往往是攻击者攻击其它系统的最好工具。因此，必须要增加其它的安全策略和防御技术，阻止被侵入的高交互的蜜罐成为攻击者攻击其它正常系统的</a:t>
            </a:r>
            <a:r>
              <a:rPr lang="zh-CN" altLang="en-US"/>
              <a:t>“</a:t>
            </a:r>
            <a:r>
              <a:rPr lang="zh-CN" altLang="en-US">
                <a:latin typeface="宋体" panose="02010600030101010101" pitchFamily="2" charset="-122"/>
              </a:rPr>
              <a:t>跳板</a:t>
            </a:r>
            <a:r>
              <a:rPr lang="zh-CN" altLang="en-US"/>
              <a:t>”</a:t>
            </a:r>
            <a:r>
              <a:rPr lang="zh-CN" altLang="en-US">
                <a:latin typeface="宋体" panose="02010600030101010101" pitchFamily="2" charset="-122"/>
              </a:rPr>
              <a:t>。</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zh-CN" altLang="en-US"/>
              <a:t> </a:t>
            </a:r>
            <a:endParaRPr lang="zh-CN" altLang="en-US"/>
          </a:p>
        </p:txBody>
      </p:sp>
      <p:sp>
        <p:nvSpPr>
          <p:cNvPr id="132099" name="Rectangle 3"/>
          <p:cNvSpPr>
            <a:spLocks noGrp="1" noChangeArrowheads="1"/>
          </p:cNvSpPr>
          <p:nvPr>
            <p:ph type="body" idx="1"/>
          </p:nvPr>
        </p:nvSpPr>
        <p:spPr/>
        <p:txBody>
          <a:bodyPr/>
          <a:lstStyle/>
          <a:p>
            <a:pPr>
              <a:lnSpc>
                <a:spcPct val="90000"/>
              </a:lnSpc>
            </a:pPr>
            <a:r>
              <a:rPr lang="en-US" altLang="zh-CN">
                <a:cs typeface="Times New Roman" panose="02020603050405020304" pitchFamily="18" charset="0"/>
              </a:rPr>
              <a:t>        Honeynet</a:t>
            </a:r>
            <a:r>
              <a:rPr lang="zh-CN" altLang="en-US">
                <a:latin typeface="宋体" panose="02010600030101010101" pitchFamily="2" charset="-122"/>
              </a:rPr>
              <a:t>是一种高交互的蜜罐，其设计的主要目的就是通过广泛收集攻击者信息来研究和学习攻击者的手段、策略和动机，得到信息反过来用来对抗攻击者的攻击。从理论上讲，</a:t>
            </a:r>
            <a:r>
              <a:rPr lang="en-US" altLang="zh-CN"/>
              <a:t>honeynet</a:t>
            </a:r>
            <a:r>
              <a:rPr lang="zh-CN" altLang="en-US">
                <a:latin typeface="宋体" panose="02010600030101010101" pitchFamily="2" charset="-122"/>
              </a:rPr>
              <a:t>的工作原理非常简单。</a:t>
            </a:r>
            <a:r>
              <a:rPr lang="en-US" altLang="zh-CN">
                <a:cs typeface="Times New Roman" panose="02020603050405020304" pitchFamily="18" charset="0"/>
              </a:rPr>
              <a:t>Honeynet</a:t>
            </a:r>
            <a:r>
              <a:rPr lang="zh-CN" altLang="en-US">
                <a:latin typeface="宋体" panose="02010600030101010101" pitchFamily="2" charset="-122"/>
              </a:rPr>
              <a:t>就像是一个透明的玻璃鱼缸，在外面可以看到发生在里面的一切。攻击者就像玻璃鱼缸里的鱼儿，可以被观察如何同设置的虚拟环境进行交互，通过分析研究相关信息就可以学习到攻击者使用的手段、策略和动机。</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zh-CN" altLang="en-US"/>
              <a:t> </a:t>
            </a:r>
            <a:endParaRPr lang="zh-CN" altLang="en-US"/>
          </a:p>
        </p:txBody>
      </p:sp>
      <p:sp>
        <p:nvSpPr>
          <p:cNvPr id="133123" name="Rectangle 3"/>
          <p:cNvSpPr>
            <a:spLocks noGrp="1" noChangeArrowheads="1"/>
          </p:cNvSpPr>
          <p:nvPr>
            <p:ph type="body" idx="1"/>
          </p:nvPr>
        </p:nvSpPr>
        <p:spPr/>
        <p:txBody>
          <a:bodyPr/>
          <a:lstStyle/>
          <a:p>
            <a:r>
              <a:rPr lang="en-US" altLang="zh-CN"/>
              <a:t>        honeynet</a:t>
            </a:r>
            <a:r>
              <a:rPr lang="zh-CN" altLang="en-US">
                <a:latin typeface="宋体" panose="02010600030101010101" pitchFamily="2" charset="-122"/>
              </a:rPr>
              <a:t>主要具有两个功能：数据控制和数据捕捉。数据控制是指</a:t>
            </a:r>
            <a:r>
              <a:rPr lang="en-US" altLang="zh-CN">
                <a:cs typeface="Times New Roman" panose="02020603050405020304" pitchFamily="18" charset="0"/>
              </a:rPr>
              <a:t>honeynet</a:t>
            </a:r>
            <a:r>
              <a:rPr lang="zh-CN" altLang="en-US">
                <a:latin typeface="宋体" panose="02010600030101010101" pitchFamily="2" charset="-122"/>
              </a:rPr>
              <a:t>对攻击者行为的规范，并保证</a:t>
            </a:r>
            <a:r>
              <a:rPr lang="en-US" altLang="zh-CN">
                <a:cs typeface="Times New Roman" panose="02020603050405020304" pitchFamily="18" charset="0"/>
              </a:rPr>
              <a:t>honeynet</a:t>
            </a:r>
            <a:r>
              <a:rPr lang="zh-CN" altLang="en-US">
                <a:latin typeface="宋体" panose="02010600030101010101" pitchFamily="2" charset="-122"/>
              </a:rPr>
              <a:t>不被利用危及网络中其它正常系统。</a:t>
            </a:r>
            <a:endParaRPr lang="zh-CN" altLang="en-US">
              <a:latin typeface="宋体" panose="02010600030101010101" pitchFamily="2" charset="-122"/>
            </a:endParaRPr>
          </a:p>
          <a:p>
            <a:r>
              <a:rPr lang="zh-CN" altLang="en-US">
                <a:latin typeface="宋体" panose="02010600030101010101" pitchFamily="2" charset="-122"/>
              </a:rPr>
              <a:t>数据捕捉就是指捕捉攻击者在</a:t>
            </a:r>
            <a:r>
              <a:rPr lang="en-US" altLang="zh-CN"/>
              <a:t>honeynet</a:t>
            </a:r>
            <a:r>
              <a:rPr lang="zh-CN" altLang="en-US">
                <a:latin typeface="宋体" panose="02010600030101010101" pitchFamily="2" charset="-122"/>
              </a:rPr>
              <a:t>中所有的行为以及流入和流出</a:t>
            </a:r>
            <a:r>
              <a:rPr lang="en-US" altLang="zh-CN"/>
              <a:t>honeynet</a:t>
            </a:r>
            <a:r>
              <a:rPr lang="zh-CN" altLang="en-US">
                <a:latin typeface="宋体" panose="02010600030101010101" pitchFamily="2" charset="-122"/>
              </a:rPr>
              <a:t>的信息，然后对这些信息分析和学习，从而得知攻击所使用的攻击工具、策略和动机。</a:t>
            </a:r>
            <a:endParaRPr lang="zh-C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zh-CN" altLang="en-US"/>
              <a:t> </a:t>
            </a:r>
            <a:endParaRPr lang="zh-CN" altLang="en-US"/>
          </a:p>
        </p:txBody>
      </p:sp>
      <p:sp>
        <p:nvSpPr>
          <p:cNvPr id="134147" name="Rectangle 3"/>
          <p:cNvSpPr>
            <a:spLocks noGrp="1" noChangeArrowheads="1"/>
          </p:cNvSpPr>
          <p:nvPr>
            <p:ph type="body" idx="1"/>
          </p:nvPr>
        </p:nvSpPr>
        <p:spPr/>
        <p:txBody>
          <a:bodyPr/>
          <a:lstStyle/>
          <a:p>
            <a:pPr>
              <a:lnSpc>
                <a:spcPct val="90000"/>
              </a:lnSpc>
            </a:pPr>
            <a:r>
              <a:rPr lang="en-US" altLang="zh-CN">
                <a:cs typeface="Times New Roman" panose="02020603050405020304" pitchFamily="18" charset="0"/>
              </a:rPr>
              <a:t>        honeynet</a:t>
            </a:r>
            <a:r>
              <a:rPr lang="zh-CN" altLang="en-US">
                <a:latin typeface="宋体" panose="02010600030101010101" pitchFamily="2" charset="-122"/>
              </a:rPr>
              <a:t>发展起源于</a:t>
            </a:r>
            <a:r>
              <a:rPr lang="zh-CN" altLang="en-US">
                <a:cs typeface="Times New Roman" panose="02020603050405020304" pitchFamily="18" charset="0"/>
              </a:rPr>
              <a:t>1999</a:t>
            </a:r>
            <a:r>
              <a:rPr lang="zh-CN" altLang="en-US">
                <a:latin typeface="宋体" panose="02010600030101010101" pitchFamily="2" charset="-122"/>
              </a:rPr>
              <a:t>年，目前已经发展到了第二代</a:t>
            </a:r>
            <a:r>
              <a:rPr lang="en-US" altLang="zh-CN">
                <a:cs typeface="Times New Roman" panose="02020603050405020304" pitchFamily="18" charset="0"/>
              </a:rPr>
              <a:t>GenII</a:t>
            </a:r>
            <a:r>
              <a:rPr lang="en-US" altLang="zh-CN">
                <a:latin typeface="宋体" panose="02010600030101010101" pitchFamily="2" charset="-122"/>
              </a:rPr>
              <a:t>（</a:t>
            </a:r>
            <a:r>
              <a:rPr lang="zh-CN" altLang="en-US">
                <a:latin typeface="宋体" panose="02010600030101010101" pitchFamily="2" charset="-122"/>
              </a:rPr>
              <a:t>如图</a:t>
            </a:r>
            <a:r>
              <a:rPr lang="zh-CN" altLang="en-US">
                <a:cs typeface="Times New Roman" panose="02020603050405020304" pitchFamily="18" charset="0"/>
              </a:rPr>
              <a:t>5-32</a:t>
            </a:r>
            <a:r>
              <a:rPr lang="zh-CN" altLang="en-US">
                <a:latin typeface="宋体" panose="02010600030101010101" pitchFamily="2" charset="-122"/>
              </a:rPr>
              <a:t>所示），其特点是将数据控制和数据捕捉等功能集为一体形成网关，使</a:t>
            </a:r>
            <a:r>
              <a:rPr lang="en-US" altLang="zh-CN">
                <a:cs typeface="Times New Roman" panose="02020603050405020304" pitchFamily="18" charset="0"/>
              </a:rPr>
              <a:t>honeynet</a:t>
            </a:r>
            <a:r>
              <a:rPr lang="zh-CN" altLang="en-US">
                <a:latin typeface="宋体" panose="02010600030101010101" pitchFamily="2" charset="-122"/>
              </a:rPr>
              <a:t>的配置和管理更加容易。网关采用桥的模式，将</a:t>
            </a:r>
            <a:r>
              <a:rPr lang="en-US" altLang="zh-CN">
                <a:cs typeface="Times New Roman" panose="02020603050405020304" pitchFamily="18" charset="0"/>
              </a:rPr>
              <a:t>honeynet</a:t>
            </a:r>
            <a:r>
              <a:rPr lang="zh-CN" altLang="en-US">
                <a:latin typeface="宋体" panose="02010600030101010101" pitchFamily="2" charset="-122"/>
              </a:rPr>
              <a:t>从正常的网络系统中单独分离出来，这样使网关成为实际的控制中心，不仅可以捕捉控制来自外网和内网的攻击，而且由于没有路由，没有</a:t>
            </a:r>
            <a:r>
              <a:rPr lang="en-US" altLang="zh-CN">
                <a:cs typeface="Times New Roman" panose="02020603050405020304" pitchFamily="18" charset="0"/>
              </a:rPr>
              <a:t>TTL</a:t>
            </a:r>
            <a:r>
              <a:rPr lang="en-US" altLang="zh-CN">
                <a:latin typeface="宋体" panose="02010600030101010101" pitchFamily="2" charset="-122"/>
              </a:rPr>
              <a:t>，</a:t>
            </a:r>
            <a:r>
              <a:rPr lang="zh-CN" altLang="en-US">
                <a:latin typeface="宋体" panose="02010600030101010101" pitchFamily="2" charset="-122"/>
              </a:rPr>
              <a:t>没有</a:t>
            </a:r>
            <a:r>
              <a:rPr lang="en-US" altLang="zh-CN">
                <a:cs typeface="Times New Roman" panose="02020603050405020304" pitchFamily="18" charset="0"/>
              </a:rPr>
              <a:t>MAC</a:t>
            </a:r>
            <a:r>
              <a:rPr lang="zh-CN" altLang="en-US">
                <a:latin typeface="宋体" panose="02010600030101010101" pitchFamily="2" charset="-122"/>
              </a:rPr>
              <a:t>地址，隐蔽性更强，使攻击者更难觉察到其行为被捕捉和控制。</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3962401" y="5913439"/>
            <a:ext cx="5049838" cy="1143000"/>
          </a:xfrm>
        </p:spPr>
        <p:txBody>
          <a:bodyPr/>
          <a:lstStyle/>
          <a:p>
            <a:r>
              <a:rPr lang="zh-CN" altLang="en-US" sz="3200" dirty="0">
                <a:solidFill>
                  <a:schemeClr val="hlink"/>
                </a:solidFill>
                <a:latin typeface="宋体" panose="02010600030101010101" pitchFamily="2" charset="-122"/>
              </a:rPr>
              <a:t>图</a:t>
            </a:r>
            <a:r>
              <a:rPr lang="en-US" altLang="zh-CN" sz="3200" dirty="0">
                <a:solidFill>
                  <a:schemeClr val="hlink"/>
                </a:solidFill>
                <a:latin typeface="宋体" panose="02010600030101010101" pitchFamily="2" charset="-122"/>
              </a:rPr>
              <a:t>5</a:t>
            </a:r>
            <a:r>
              <a:rPr lang="zh-CN" altLang="en-US" sz="3200" dirty="0">
                <a:solidFill>
                  <a:schemeClr val="hlink"/>
                </a:solidFill>
                <a:latin typeface="Times New Roman" panose="02020603050405020304" pitchFamily="18" charset="0"/>
                <a:cs typeface="Times New Roman" panose="02020603050405020304" pitchFamily="18" charset="0"/>
              </a:rPr>
              <a:t>-</a:t>
            </a:r>
            <a:r>
              <a:rPr lang="en-US" altLang="zh-CN" sz="3200" dirty="0">
                <a:solidFill>
                  <a:schemeClr val="hlink"/>
                </a:solidFill>
                <a:latin typeface="Times New Roman" panose="02020603050405020304" pitchFamily="18" charset="0"/>
                <a:cs typeface="Times New Roman" panose="02020603050405020304" pitchFamily="18" charset="0"/>
              </a:rPr>
              <a:t>22</a:t>
            </a:r>
            <a:r>
              <a:rPr lang="zh-CN" altLang="en-US" sz="3200" dirty="0">
                <a:solidFill>
                  <a:schemeClr val="hlink"/>
                </a:solidFill>
                <a:latin typeface="Times New Roman" panose="02020603050405020304" pitchFamily="18" charset="0"/>
                <a:cs typeface="Times New Roman" panose="02020603050405020304" pitchFamily="18" charset="0"/>
              </a:rPr>
              <a:t>  </a:t>
            </a:r>
            <a:r>
              <a:rPr lang="en-US" altLang="zh-CN" sz="3200" dirty="0" err="1" smtClean="0">
                <a:solidFill>
                  <a:schemeClr val="hlink"/>
                </a:solidFill>
                <a:latin typeface="Times New Roman" panose="02020603050405020304" pitchFamily="18" charset="0"/>
                <a:cs typeface="Times New Roman" panose="02020603050405020304" pitchFamily="18" charset="0"/>
              </a:rPr>
              <a:t>GenII</a:t>
            </a:r>
            <a:r>
              <a:rPr lang="zh-CN" altLang="en-US" sz="3200" dirty="0">
                <a:solidFill>
                  <a:schemeClr val="hlink"/>
                </a:solidFill>
                <a:latin typeface="宋体" panose="02010600030101010101" pitchFamily="2" charset="-122"/>
              </a:rPr>
              <a:t>的结构配置图</a:t>
            </a:r>
            <a:r>
              <a:rPr lang="zh-CN" altLang="en-US" dirty="0"/>
              <a:t> </a:t>
            </a:r>
            <a:endParaRPr lang="zh-CN" altLang="en-US" dirty="0"/>
          </a:p>
        </p:txBody>
      </p:sp>
      <p:sp>
        <p:nvSpPr>
          <p:cNvPr id="135171" name="computr1"/>
          <p:cNvSpPr>
            <a:spLocks noEditPoints="1" noChangeArrowheads="1"/>
          </p:cNvSpPr>
          <p:nvPr/>
        </p:nvSpPr>
        <p:spPr bwMode="auto">
          <a:xfrm>
            <a:off x="2573339" y="1719946"/>
            <a:ext cx="847725" cy="711200"/>
          </a:xfrm>
          <a:custGeom>
            <a:avLst/>
            <a:gdLst>
              <a:gd name="T0" fmla="*/ 19535 w 21600"/>
              <a:gd name="T1" fmla="*/ 0 h 21600"/>
              <a:gd name="T2" fmla="*/ 10800 w 21600"/>
              <a:gd name="T3" fmla="*/ 0 h 21600"/>
              <a:gd name="T4" fmla="*/ 2065 w 21600"/>
              <a:gd name="T5" fmla="*/ 0 h 21600"/>
              <a:gd name="T6" fmla="*/ 0 w 21600"/>
              <a:gd name="T7" fmla="*/ 15388 h 21600"/>
              <a:gd name="T8" fmla="*/ 0 w 21600"/>
              <a:gd name="T9" fmla="*/ 21600 h 21600"/>
              <a:gd name="T10" fmla="*/ 10800 w 21600"/>
              <a:gd name="T11" fmla="*/ 21600 h 21600"/>
              <a:gd name="T12" fmla="*/ 21600 w 21600"/>
              <a:gd name="T13" fmla="*/ 21600 h 21600"/>
              <a:gd name="T14" fmla="*/ 21600 w 21600"/>
              <a:gd name="T15" fmla="*/ 15388 h 21600"/>
              <a:gd name="T16" fmla="*/ 19535 w 21600"/>
              <a:gd name="T17" fmla="*/ 13553 h 21600"/>
              <a:gd name="T18" fmla="*/ 2065 w 21600"/>
              <a:gd name="T19" fmla="*/ 13553 h 21600"/>
              <a:gd name="T20" fmla="*/ 2065 w 21600"/>
              <a:gd name="T21" fmla="*/ 6776 h 21600"/>
              <a:gd name="T22" fmla="*/ 19535 w 21600"/>
              <a:gd name="T23" fmla="*/ 6776 h 21600"/>
              <a:gd name="T24" fmla="*/ 0 w 21600"/>
              <a:gd name="T25" fmla="*/ 18494 h 21600"/>
              <a:gd name="T26" fmla="*/ 21600 w 21600"/>
              <a:gd name="T27" fmla="*/ 18494 h 21600"/>
              <a:gd name="T28" fmla="*/ 4923 w 21600"/>
              <a:gd name="T29" fmla="*/ 2541 h 21600"/>
              <a:gd name="T30" fmla="*/ 16756 w 21600"/>
              <a:gd name="T31" fmla="*/ 1115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T28" t="T29" r="T30" b="T31"/>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99CC"/>
          </a:solidFill>
          <a:ln w="9525">
            <a:solidFill>
              <a:srgbClr val="000000"/>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a:lstStyle/>
          <a:p>
            <a:endParaRPr lang="zh-CN" altLang="en-US"/>
          </a:p>
        </p:txBody>
      </p:sp>
      <p:sp>
        <p:nvSpPr>
          <p:cNvPr id="135172" name="computr1"/>
          <p:cNvSpPr>
            <a:spLocks noEditPoints="1" noChangeArrowheads="1"/>
          </p:cNvSpPr>
          <p:nvPr/>
        </p:nvSpPr>
        <p:spPr bwMode="auto">
          <a:xfrm>
            <a:off x="4056064" y="1719946"/>
            <a:ext cx="847725" cy="711200"/>
          </a:xfrm>
          <a:custGeom>
            <a:avLst/>
            <a:gdLst>
              <a:gd name="T0" fmla="*/ 19535 w 21600"/>
              <a:gd name="T1" fmla="*/ 0 h 21600"/>
              <a:gd name="T2" fmla="*/ 10800 w 21600"/>
              <a:gd name="T3" fmla="*/ 0 h 21600"/>
              <a:gd name="T4" fmla="*/ 2065 w 21600"/>
              <a:gd name="T5" fmla="*/ 0 h 21600"/>
              <a:gd name="T6" fmla="*/ 0 w 21600"/>
              <a:gd name="T7" fmla="*/ 15388 h 21600"/>
              <a:gd name="T8" fmla="*/ 0 w 21600"/>
              <a:gd name="T9" fmla="*/ 21600 h 21600"/>
              <a:gd name="T10" fmla="*/ 10800 w 21600"/>
              <a:gd name="T11" fmla="*/ 21600 h 21600"/>
              <a:gd name="T12" fmla="*/ 21600 w 21600"/>
              <a:gd name="T13" fmla="*/ 21600 h 21600"/>
              <a:gd name="T14" fmla="*/ 21600 w 21600"/>
              <a:gd name="T15" fmla="*/ 15388 h 21600"/>
              <a:gd name="T16" fmla="*/ 19535 w 21600"/>
              <a:gd name="T17" fmla="*/ 13553 h 21600"/>
              <a:gd name="T18" fmla="*/ 2065 w 21600"/>
              <a:gd name="T19" fmla="*/ 13553 h 21600"/>
              <a:gd name="T20" fmla="*/ 2065 w 21600"/>
              <a:gd name="T21" fmla="*/ 6776 h 21600"/>
              <a:gd name="T22" fmla="*/ 19535 w 21600"/>
              <a:gd name="T23" fmla="*/ 6776 h 21600"/>
              <a:gd name="T24" fmla="*/ 0 w 21600"/>
              <a:gd name="T25" fmla="*/ 18494 h 21600"/>
              <a:gd name="T26" fmla="*/ 21600 w 21600"/>
              <a:gd name="T27" fmla="*/ 18494 h 21600"/>
              <a:gd name="T28" fmla="*/ 4923 w 21600"/>
              <a:gd name="T29" fmla="*/ 2541 h 21600"/>
              <a:gd name="T30" fmla="*/ 16756 w 21600"/>
              <a:gd name="T31" fmla="*/ 1115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T28" t="T29" r="T30" b="T31"/>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99CC"/>
          </a:solidFill>
          <a:ln w="9525">
            <a:solidFill>
              <a:srgbClr val="000000"/>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a:lstStyle/>
          <a:p>
            <a:endParaRPr lang="zh-CN" altLang="en-US"/>
          </a:p>
        </p:txBody>
      </p:sp>
      <p:sp>
        <p:nvSpPr>
          <p:cNvPr id="135173" name="computr1"/>
          <p:cNvSpPr>
            <a:spLocks noEditPoints="1" noChangeArrowheads="1"/>
          </p:cNvSpPr>
          <p:nvPr/>
        </p:nvSpPr>
        <p:spPr bwMode="auto">
          <a:xfrm>
            <a:off x="5327651" y="1719946"/>
            <a:ext cx="847725" cy="711200"/>
          </a:xfrm>
          <a:custGeom>
            <a:avLst/>
            <a:gdLst>
              <a:gd name="T0" fmla="*/ 19535 w 21600"/>
              <a:gd name="T1" fmla="*/ 0 h 21600"/>
              <a:gd name="T2" fmla="*/ 10800 w 21600"/>
              <a:gd name="T3" fmla="*/ 0 h 21600"/>
              <a:gd name="T4" fmla="*/ 2065 w 21600"/>
              <a:gd name="T5" fmla="*/ 0 h 21600"/>
              <a:gd name="T6" fmla="*/ 0 w 21600"/>
              <a:gd name="T7" fmla="*/ 15388 h 21600"/>
              <a:gd name="T8" fmla="*/ 0 w 21600"/>
              <a:gd name="T9" fmla="*/ 21600 h 21600"/>
              <a:gd name="T10" fmla="*/ 10800 w 21600"/>
              <a:gd name="T11" fmla="*/ 21600 h 21600"/>
              <a:gd name="T12" fmla="*/ 21600 w 21600"/>
              <a:gd name="T13" fmla="*/ 21600 h 21600"/>
              <a:gd name="T14" fmla="*/ 21600 w 21600"/>
              <a:gd name="T15" fmla="*/ 15388 h 21600"/>
              <a:gd name="T16" fmla="*/ 19535 w 21600"/>
              <a:gd name="T17" fmla="*/ 13553 h 21600"/>
              <a:gd name="T18" fmla="*/ 2065 w 21600"/>
              <a:gd name="T19" fmla="*/ 13553 h 21600"/>
              <a:gd name="T20" fmla="*/ 2065 w 21600"/>
              <a:gd name="T21" fmla="*/ 6776 h 21600"/>
              <a:gd name="T22" fmla="*/ 19535 w 21600"/>
              <a:gd name="T23" fmla="*/ 6776 h 21600"/>
              <a:gd name="T24" fmla="*/ 0 w 21600"/>
              <a:gd name="T25" fmla="*/ 18494 h 21600"/>
              <a:gd name="T26" fmla="*/ 21600 w 21600"/>
              <a:gd name="T27" fmla="*/ 18494 h 21600"/>
              <a:gd name="T28" fmla="*/ 4923 w 21600"/>
              <a:gd name="T29" fmla="*/ 2541 h 21600"/>
              <a:gd name="T30" fmla="*/ 16756 w 21600"/>
              <a:gd name="T31" fmla="*/ 1115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T28" t="T29" r="T30" b="T31"/>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99CC"/>
          </a:solidFill>
          <a:ln w="9525">
            <a:solidFill>
              <a:srgbClr val="000000"/>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a:lstStyle/>
          <a:p>
            <a:endParaRPr lang="zh-CN" altLang="en-US"/>
          </a:p>
        </p:txBody>
      </p:sp>
      <p:sp>
        <p:nvSpPr>
          <p:cNvPr id="135174" name="computr1"/>
          <p:cNvSpPr>
            <a:spLocks noEditPoints="1" noChangeArrowheads="1"/>
          </p:cNvSpPr>
          <p:nvPr/>
        </p:nvSpPr>
        <p:spPr bwMode="auto">
          <a:xfrm>
            <a:off x="2573339" y="4329796"/>
            <a:ext cx="847725" cy="711200"/>
          </a:xfrm>
          <a:custGeom>
            <a:avLst/>
            <a:gdLst>
              <a:gd name="T0" fmla="*/ 19535 w 21600"/>
              <a:gd name="T1" fmla="*/ 0 h 21600"/>
              <a:gd name="T2" fmla="*/ 10800 w 21600"/>
              <a:gd name="T3" fmla="*/ 0 h 21600"/>
              <a:gd name="T4" fmla="*/ 2065 w 21600"/>
              <a:gd name="T5" fmla="*/ 0 h 21600"/>
              <a:gd name="T6" fmla="*/ 0 w 21600"/>
              <a:gd name="T7" fmla="*/ 15388 h 21600"/>
              <a:gd name="T8" fmla="*/ 0 w 21600"/>
              <a:gd name="T9" fmla="*/ 21600 h 21600"/>
              <a:gd name="T10" fmla="*/ 10800 w 21600"/>
              <a:gd name="T11" fmla="*/ 21600 h 21600"/>
              <a:gd name="T12" fmla="*/ 21600 w 21600"/>
              <a:gd name="T13" fmla="*/ 21600 h 21600"/>
              <a:gd name="T14" fmla="*/ 21600 w 21600"/>
              <a:gd name="T15" fmla="*/ 15388 h 21600"/>
              <a:gd name="T16" fmla="*/ 19535 w 21600"/>
              <a:gd name="T17" fmla="*/ 13553 h 21600"/>
              <a:gd name="T18" fmla="*/ 2065 w 21600"/>
              <a:gd name="T19" fmla="*/ 13553 h 21600"/>
              <a:gd name="T20" fmla="*/ 2065 w 21600"/>
              <a:gd name="T21" fmla="*/ 6776 h 21600"/>
              <a:gd name="T22" fmla="*/ 19535 w 21600"/>
              <a:gd name="T23" fmla="*/ 6776 h 21600"/>
              <a:gd name="T24" fmla="*/ 0 w 21600"/>
              <a:gd name="T25" fmla="*/ 18494 h 21600"/>
              <a:gd name="T26" fmla="*/ 21600 w 21600"/>
              <a:gd name="T27" fmla="*/ 18494 h 21600"/>
              <a:gd name="T28" fmla="*/ 4923 w 21600"/>
              <a:gd name="T29" fmla="*/ 2541 h 21600"/>
              <a:gd name="T30" fmla="*/ 16756 w 21600"/>
              <a:gd name="T31" fmla="*/ 1115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T28" t="T29" r="T30" b="T31"/>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99CC"/>
          </a:solidFill>
          <a:ln w="9525">
            <a:solidFill>
              <a:srgbClr val="000000"/>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a:lstStyle/>
          <a:p>
            <a:endParaRPr lang="zh-CN" altLang="en-US"/>
          </a:p>
        </p:txBody>
      </p:sp>
      <p:sp>
        <p:nvSpPr>
          <p:cNvPr id="135175" name="computr1"/>
          <p:cNvSpPr>
            <a:spLocks noEditPoints="1" noChangeArrowheads="1"/>
          </p:cNvSpPr>
          <p:nvPr/>
        </p:nvSpPr>
        <p:spPr bwMode="auto">
          <a:xfrm>
            <a:off x="4056064" y="4329796"/>
            <a:ext cx="847725" cy="711200"/>
          </a:xfrm>
          <a:custGeom>
            <a:avLst/>
            <a:gdLst>
              <a:gd name="T0" fmla="*/ 19535 w 21600"/>
              <a:gd name="T1" fmla="*/ 0 h 21600"/>
              <a:gd name="T2" fmla="*/ 10800 w 21600"/>
              <a:gd name="T3" fmla="*/ 0 h 21600"/>
              <a:gd name="T4" fmla="*/ 2065 w 21600"/>
              <a:gd name="T5" fmla="*/ 0 h 21600"/>
              <a:gd name="T6" fmla="*/ 0 w 21600"/>
              <a:gd name="T7" fmla="*/ 15388 h 21600"/>
              <a:gd name="T8" fmla="*/ 0 w 21600"/>
              <a:gd name="T9" fmla="*/ 21600 h 21600"/>
              <a:gd name="T10" fmla="*/ 10800 w 21600"/>
              <a:gd name="T11" fmla="*/ 21600 h 21600"/>
              <a:gd name="T12" fmla="*/ 21600 w 21600"/>
              <a:gd name="T13" fmla="*/ 21600 h 21600"/>
              <a:gd name="T14" fmla="*/ 21600 w 21600"/>
              <a:gd name="T15" fmla="*/ 15388 h 21600"/>
              <a:gd name="T16" fmla="*/ 19535 w 21600"/>
              <a:gd name="T17" fmla="*/ 13553 h 21600"/>
              <a:gd name="T18" fmla="*/ 2065 w 21600"/>
              <a:gd name="T19" fmla="*/ 13553 h 21600"/>
              <a:gd name="T20" fmla="*/ 2065 w 21600"/>
              <a:gd name="T21" fmla="*/ 6776 h 21600"/>
              <a:gd name="T22" fmla="*/ 19535 w 21600"/>
              <a:gd name="T23" fmla="*/ 6776 h 21600"/>
              <a:gd name="T24" fmla="*/ 0 w 21600"/>
              <a:gd name="T25" fmla="*/ 18494 h 21600"/>
              <a:gd name="T26" fmla="*/ 21600 w 21600"/>
              <a:gd name="T27" fmla="*/ 18494 h 21600"/>
              <a:gd name="T28" fmla="*/ 4923 w 21600"/>
              <a:gd name="T29" fmla="*/ 2541 h 21600"/>
              <a:gd name="T30" fmla="*/ 16756 w 21600"/>
              <a:gd name="T31" fmla="*/ 1115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T28" t="T29" r="T30" b="T31"/>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99CC"/>
          </a:solidFill>
          <a:ln w="9525">
            <a:solidFill>
              <a:srgbClr val="000000"/>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a:lstStyle/>
          <a:p>
            <a:endParaRPr lang="zh-CN" altLang="en-US"/>
          </a:p>
        </p:txBody>
      </p:sp>
      <p:sp>
        <p:nvSpPr>
          <p:cNvPr id="135176" name="computr1"/>
          <p:cNvSpPr>
            <a:spLocks noEditPoints="1" noChangeArrowheads="1"/>
          </p:cNvSpPr>
          <p:nvPr/>
        </p:nvSpPr>
        <p:spPr bwMode="auto">
          <a:xfrm>
            <a:off x="5540376" y="4329796"/>
            <a:ext cx="847725" cy="711200"/>
          </a:xfrm>
          <a:custGeom>
            <a:avLst/>
            <a:gdLst>
              <a:gd name="T0" fmla="*/ 19535 w 21600"/>
              <a:gd name="T1" fmla="*/ 0 h 21600"/>
              <a:gd name="T2" fmla="*/ 10800 w 21600"/>
              <a:gd name="T3" fmla="*/ 0 h 21600"/>
              <a:gd name="T4" fmla="*/ 2065 w 21600"/>
              <a:gd name="T5" fmla="*/ 0 h 21600"/>
              <a:gd name="T6" fmla="*/ 0 w 21600"/>
              <a:gd name="T7" fmla="*/ 15388 h 21600"/>
              <a:gd name="T8" fmla="*/ 0 w 21600"/>
              <a:gd name="T9" fmla="*/ 21600 h 21600"/>
              <a:gd name="T10" fmla="*/ 10800 w 21600"/>
              <a:gd name="T11" fmla="*/ 21600 h 21600"/>
              <a:gd name="T12" fmla="*/ 21600 w 21600"/>
              <a:gd name="T13" fmla="*/ 21600 h 21600"/>
              <a:gd name="T14" fmla="*/ 21600 w 21600"/>
              <a:gd name="T15" fmla="*/ 15388 h 21600"/>
              <a:gd name="T16" fmla="*/ 19535 w 21600"/>
              <a:gd name="T17" fmla="*/ 13553 h 21600"/>
              <a:gd name="T18" fmla="*/ 2065 w 21600"/>
              <a:gd name="T19" fmla="*/ 13553 h 21600"/>
              <a:gd name="T20" fmla="*/ 2065 w 21600"/>
              <a:gd name="T21" fmla="*/ 6776 h 21600"/>
              <a:gd name="T22" fmla="*/ 19535 w 21600"/>
              <a:gd name="T23" fmla="*/ 6776 h 21600"/>
              <a:gd name="T24" fmla="*/ 0 w 21600"/>
              <a:gd name="T25" fmla="*/ 18494 h 21600"/>
              <a:gd name="T26" fmla="*/ 21600 w 21600"/>
              <a:gd name="T27" fmla="*/ 18494 h 21600"/>
              <a:gd name="T28" fmla="*/ 4923 w 21600"/>
              <a:gd name="T29" fmla="*/ 2541 h 21600"/>
              <a:gd name="T30" fmla="*/ 16756 w 21600"/>
              <a:gd name="T31" fmla="*/ 1115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T28" t="T29" r="T30" b="T31"/>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99CC"/>
          </a:solidFill>
          <a:ln w="9525">
            <a:solidFill>
              <a:srgbClr val="000000"/>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a:lstStyle/>
          <a:p>
            <a:endParaRPr lang="zh-CN" altLang="en-US"/>
          </a:p>
        </p:txBody>
      </p:sp>
      <p:sp>
        <p:nvSpPr>
          <p:cNvPr id="135177" name="computr1"/>
          <p:cNvSpPr>
            <a:spLocks noEditPoints="1" noChangeArrowheads="1"/>
          </p:cNvSpPr>
          <p:nvPr/>
        </p:nvSpPr>
        <p:spPr bwMode="auto">
          <a:xfrm>
            <a:off x="7446964" y="4329796"/>
            <a:ext cx="847725" cy="711200"/>
          </a:xfrm>
          <a:custGeom>
            <a:avLst/>
            <a:gdLst>
              <a:gd name="T0" fmla="*/ 19535 w 21600"/>
              <a:gd name="T1" fmla="*/ 0 h 21600"/>
              <a:gd name="T2" fmla="*/ 10800 w 21600"/>
              <a:gd name="T3" fmla="*/ 0 h 21600"/>
              <a:gd name="T4" fmla="*/ 2065 w 21600"/>
              <a:gd name="T5" fmla="*/ 0 h 21600"/>
              <a:gd name="T6" fmla="*/ 0 w 21600"/>
              <a:gd name="T7" fmla="*/ 15388 h 21600"/>
              <a:gd name="T8" fmla="*/ 0 w 21600"/>
              <a:gd name="T9" fmla="*/ 21600 h 21600"/>
              <a:gd name="T10" fmla="*/ 10800 w 21600"/>
              <a:gd name="T11" fmla="*/ 21600 h 21600"/>
              <a:gd name="T12" fmla="*/ 21600 w 21600"/>
              <a:gd name="T13" fmla="*/ 21600 h 21600"/>
              <a:gd name="T14" fmla="*/ 21600 w 21600"/>
              <a:gd name="T15" fmla="*/ 15388 h 21600"/>
              <a:gd name="T16" fmla="*/ 19535 w 21600"/>
              <a:gd name="T17" fmla="*/ 13553 h 21600"/>
              <a:gd name="T18" fmla="*/ 2065 w 21600"/>
              <a:gd name="T19" fmla="*/ 13553 h 21600"/>
              <a:gd name="T20" fmla="*/ 2065 w 21600"/>
              <a:gd name="T21" fmla="*/ 6776 h 21600"/>
              <a:gd name="T22" fmla="*/ 19535 w 21600"/>
              <a:gd name="T23" fmla="*/ 6776 h 21600"/>
              <a:gd name="T24" fmla="*/ 0 w 21600"/>
              <a:gd name="T25" fmla="*/ 18494 h 21600"/>
              <a:gd name="T26" fmla="*/ 21600 w 21600"/>
              <a:gd name="T27" fmla="*/ 18494 h 21600"/>
              <a:gd name="T28" fmla="*/ 4923 w 21600"/>
              <a:gd name="T29" fmla="*/ 2541 h 21600"/>
              <a:gd name="T30" fmla="*/ 16756 w 21600"/>
              <a:gd name="T31" fmla="*/ 1115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T28" t="T29" r="T30" b="T31"/>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99CC"/>
          </a:solidFill>
          <a:ln w="9525">
            <a:solidFill>
              <a:srgbClr val="000000"/>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a:lstStyle/>
          <a:p>
            <a:endParaRPr lang="zh-CN" altLang="en-US"/>
          </a:p>
        </p:txBody>
      </p:sp>
      <p:pic>
        <p:nvPicPr>
          <p:cNvPr id="135178" name="Picture 10"/>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169151" y="2828022"/>
            <a:ext cx="1336675" cy="1027113"/>
          </a:xfrm>
          <a:prstGeom prst="rect">
            <a:avLst/>
          </a:prstGeom>
          <a:solidFill>
            <a:srgbClr val="FF99CC"/>
          </a:solidFill>
          <a:ln>
            <a:noFill/>
          </a:ln>
          <a:effectLst/>
          <a:extLst>
            <a:ext uri="{91240B29-F687-4F45-9708-019B960494DF}">
              <a14:hiddenLine xmlns:a14="http://schemas.microsoft.com/office/drawing/2010/main" w="12700">
                <a:solidFill>
                  <a:srgbClr val="CCECFF"/>
                </a:solidFill>
                <a:miter lim="800000"/>
                <a:headEnd/>
                <a:tailEnd/>
              </a14:hiddenLine>
            </a:ext>
            <a:ext uri="{AF507438-7753-43E0-B8FC-AC1667EBCBE1}">
              <a14:hiddenEffects xmlns:a14="http://schemas.microsoft.com/office/drawing/2010/main">
                <a:effectLst>
                  <a:outerShdw dist="35921" dir="2700000" algn="ctr" rotWithShape="0">
                    <a:srgbClr val="000066"/>
                  </a:outerShdw>
                </a:effectLst>
              </a14:hiddenEffects>
            </a:ext>
          </a:extLst>
        </p:spPr>
      </p:pic>
      <p:sp>
        <p:nvSpPr>
          <p:cNvPr id="135179" name="Line 11"/>
          <p:cNvSpPr>
            <a:spLocks noChangeShapeType="1"/>
          </p:cNvSpPr>
          <p:nvPr/>
        </p:nvSpPr>
        <p:spPr bwMode="auto">
          <a:xfrm>
            <a:off x="2573339" y="2669271"/>
            <a:ext cx="4238625"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80" name="Line 12"/>
          <p:cNvSpPr>
            <a:spLocks noChangeShapeType="1"/>
          </p:cNvSpPr>
          <p:nvPr/>
        </p:nvSpPr>
        <p:spPr bwMode="auto">
          <a:xfrm>
            <a:off x="2573339" y="5515659"/>
            <a:ext cx="5508625"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81" name="Cloud"/>
          <p:cNvSpPr>
            <a:spLocks noChangeAspect="1" noEditPoints="1" noChangeArrowheads="1"/>
          </p:cNvSpPr>
          <p:nvPr/>
        </p:nvSpPr>
        <p:spPr bwMode="auto">
          <a:xfrm>
            <a:off x="8081964" y="1719946"/>
            <a:ext cx="1519237" cy="839788"/>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99CC"/>
          </a:solidFill>
          <a:ln w="9525">
            <a:solidFill>
              <a:srgbClr val="000000"/>
            </a:solidFill>
            <a:miter lim="800000"/>
          </a:ln>
          <a:effectLst>
            <a:outerShdw dist="107763" dir="2700000" algn="ctr" rotWithShape="0">
              <a:srgbClr val="808080"/>
            </a:outerShdw>
          </a:effectLst>
        </p:spPr>
        <p:txBody>
          <a:bodyPr/>
          <a:lstStyle/>
          <a:p>
            <a:endParaRPr lang="zh-CN" altLang="en-US"/>
          </a:p>
        </p:txBody>
      </p:sp>
      <p:sp>
        <p:nvSpPr>
          <p:cNvPr id="135182" name="Line 14"/>
          <p:cNvSpPr>
            <a:spLocks noChangeShapeType="1"/>
          </p:cNvSpPr>
          <p:nvPr/>
        </p:nvSpPr>
        <p:spPr bwMode="auto">
          <a:xfrm>
            <a:off x="2997200" y="2431147"/>
            <a:ext cx="0" cy="2381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83" name="Line 15"/>
          <p:cNvSpPr>
            <a:spLocks noChangeShapeType="1"/>
          </p:cNvSpPr>
          <p:nvPr/>
        </p:nvSpPr>
        <p:spPr bwMode="auto">
          <a:xfrm>
            <a:off x="4479925" y="2431147"/>
            <a:ext cx="0" cy="2381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84" name="Line 16"/>
          <p:cNvSpPr>
            <a:spLocks noChangeShapeType="1"/>
          </p:cNvSpPr>
          <p:nvPr/>
        </p:nvSpPr>
        <p:spPr bwMode="auto">
          <a:xfrm>
            <a:off x="5751513" y="2431147"/>
            <a:ext cx="0" cy="2381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85" name="Line 17"/>
          <p:cNvSpPr>
            <a:spLocks noChangeShapeType="1"/>
          </p:cNvSpPr>
          <p:nvPr/>
        </p:nvSpPr>
        <p:spPr bwMode="auto">
          <a:xfrm>
            <a:off x="2997200" y="5040997"/>
            <a:ext cx="0" cy="4746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86" name="Line 18"/>
          <p:cNvSpPr>
            <a:spLocks noChangeShapeType="1"/>
          </p:cNvSpPr>
          <p:nvPr/>
        </p:nvSpPr>
        <p:spPr bwMode="auto">
          <a:xfrm>
            <a:off x="4479925" y="5040997"/>
            <a:ext cx="0" cy="4746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87" name="Line 19"/>
          <p:cNvSpPr>
            <a:spLocks noChangeShapeType="1"/>
          </p:cNvSpPr>
          <p:nvPr/>
        </p:nvSpPr>
        <p:spPr bwMode="auto">
          <a:xfrm>
            <a:off x="5964238" y="5040997"/>
            <a:ext cx="0" cy="4746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88" name="Line 20"/>
          <p:cNvSpPr>
            <a:spLocks noChangeShapeType="1"/>
          </p:cNvSpPr>
          <p:nvPr/>
        </p:nvSpPr>
        <p:spPr bwMode="auto">
          <a:xfrm>
            <a:off x="7870825" y="3618596"/>
            <a:ext cx="0" cy="711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89" name="Line 21"/>
          <p:cNvSpPr>
            <a:spLocks noChangeShapeType="1"/>
          </p:cNvSpPr>
          <p:nvPr/>
        </p:nvSpPr>
        <p:spPr bwMode="auto">
          <a:xfrm>
            <a:off x="7870825" y="5040997"/>
            <a:ext cx="0" cy="4746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90" name="Line 22"/>
          <p:cNvSpPr>
            <a:spLocks noChangeShapeType="1"/>
          </p:cNvSpPr>
          <p:nvPr/>
        </p:nvSpPr>
        <p:spPr bwMode="auto">
          <a:xfrm flipH="1">
            <a:off x="8081964" y="2431147"/>
            <a:ext cx="636587" cy="4746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91" name="Line 23"/>
          <p:cNvSpPr>
            <a:spLocks noChangeShapeType="1"/>
          </p:cNvSpPr>
          <p:nvPr/>
        </p:nvSpPr>
        <p:spPr bwMode="auto">
          <a:xfrm>
            <a:off x="6811963" y="2669271"/>
            <a:ext cx="423862" cy="2365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92" name="Text Box 24"/>
          <p:cNvSpPr txBox="1">
            <a:spLocks noChangeArrowheads="1"/>
          </p:cNvSpPr>
          <p:nvPr/>
        </p:nvSpPr>
        <p:spPr bwMode="auto">
          <a:xfrm>
            <a:off x="6705600" y="3853547"/>
            <a:ext cx="1722438" cy="1185863"/>
          </a:xfrm>
          <a:prstGeom prst="rect">
            <a:avLst/>
          </a:prstGeom>
          <a:noFill/>
          <a:ln>
            <a:noFill/>
          </a:ln>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t>Honeywall</a:t>
            </a:r>
            <a:r>
              <a:rPr lang="zh-CN" altLang="en-US"/>
              <a:t>网关</a:t>
            </a:r>
            <a:endParaRPr lang="zh-CN" altLang="en-US"/>
          </a:p>
        </p:txBody>
      </p:sp>
      <p:sp>
        <p:nvSpPr>
          <p:cNvPr id="135193" name="Text Box 25"/>
          <p:cNvSpPr txBox="1">
            <a:spLocks noChangeArrowheads="1"/>
          </p:cNvSpPr>
          <p:nvPr/>
        </p:nvSpPr>
        <p:spPr bwMode="auto">
          <a:xfrm>
            <a:off x="3962401" y="3853546"/>
            <a:ext cx="1482725" cy="711200"/>
          </a:xfrm>
          <a:prstGeom prst="rect">
            <a:avLst/>
          </a:prstGeom>
          <a:noFill/>
          <a:ln>
            <a:noFill/>
          </a:ln>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000"/>
              <a:t>Honeypot</a:t>
            </a:r>
            <a:endParaRPr lang="en-US" altLang="zh-CN" sz="2000"/>
          </a:p>
        </p:txBody>
      </p:sp>
      <p:sp>
        <p:nvSpPr>
          <p:cNvPr id="135194" name="Text Box 26"/>
          <p:cNvSpPr txBox="1">
            <a:spLocks noChangeArrowheads="1"/>
          </p:cNvSpPr>
          <p:nvPr/>
        </p:nvSpPr>
        <p:spPr bwMode="auto">
          <a:xfrm>
            <a:off x="5257801" y="3853546"/>
            <a:ext cx="1330325" cy="711200"/>
          </a:xfrm>
          <a:prstGeom prst="rect">
            <a:avLst/>
          </a:prstGeom>
          <a:noFill/>
          <a:ln>
            <a:noFill/>
          </a:ln>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000"/>
              <a:t>Honeypot</a:t>
            </a:r>
            <a:endParaRPr lang="en-US" altLang="zh-CN" sz="2000"/>
          </a:p>
        </p:txBody>
      </p:sp>
      <p:sp>
        <p:nvSpPr>
          <p:cNvPr id="135195" name="Text Box 27"/>
          <p:cNvSpPr txBox="1">
            <a:spLocks noChangeArrowheads="1"/>
          </p:cNvSpPr>
          <p:nvPr/>
        </p:nvSpPr>
        <p:spPr bwMode="auto">
          <a:xfrm>
            <a:off x="2362201" y="3853546"/>
            <a:ext cx="1482725" cy="711200"/>
          </a:xfrm>
          <a:prstGeom prst="rect">
            <a:avLst/>
          </a:prstGeom>
          <a:noFill/>
          <a:ln>
            <a:noFill/>
          </a:ln>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a:t>Honeypot</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2209800" y="609600"/>
            <a:ext cx="7772400" cy="685800"/>
          </a:xfrm>
        </p:spPr>
        <p:txBody>
          <a:bodyPr/>
          <a:lstStyle/>
          <a:p>
            <a:r>
              <a:rPr lang="zh-CN" altLang="en-US" sz="3200" b="1">
                <a:solidFill>
                  <a:schemeClr val="hlink"/>
                </a:solidFill>
                <a:latin typeface="宋体" panose="02010600030101010101" pitchFamily="2" charset="-122"/>
              </a:rPr>
              <a:t>高、低交互蜜罐比较</a:t>
            </a:r>
            <a:endParaRPr lang="zh-CN" altLang="en-US" sz="3200" b="1">
              <a:solidFill>
                <a:schemeClr val="hlink"/>
              </a:solidFill>
              <a:latin typeface="宋体" panose="02010600030101010101" pitchFamily="2" charset="-122"/>
            </a:endParaRPr>
          </a:p>
        </p:txBody>
      </p:sp>
      <p:grpSp>
        <p:nvGrpSpPr>
          <p:cNvPr id="136195" name="Group 3"/>
          <p:cNvGrpSpPr/>
          <p:nvPr>
            <p:custDataLst>
              <p:tags r:id="rId1"/>
            </p:custDataLst>
          </p:nvPr>
        </p:nvGrpSpPr>
        <p:grpSpPr bwMode="auto">
          <a:xfrm>
            <a:off x="2057400" y="1371600"/>
            <a:ext cx="8229600" cy="4724400"/>
            <a:chOff x="-3" y="-3"/>
            <a:chExt cx="3586" cy="1254"/>
          </a:xfrm>
        </p:grpSpPr>
        <p:grpSp>
          <p:nvGrpSpPr>
            <p:cNvPr id="136196" name="Group 4"/>
            <p:cNvGrpSpPr/>
            <p:nvPr/>
          </p:nvGrpSpPr>
          <p:grpSpPr bwMode="auto">
            <a:xfrm>
              <a:off x="0" y="0"/>
              <a:ext cx="3580" cy="1248"/>
              <a:chOff x="0" y="0"/>
              <a:chExt cx="3580" cy="1248"/>
            </a:xfrm>
          </p:grpSpPr>
          <p:grpSp>
            <p:nvGrpSpPr>
              <p:cNvPr id="136197" name="Group 5"/>
              <p:cNvGrpSpPr/>
              <p:nvPr/>
            </p:nvGrpSpPr>
            <p:grpSpPr bwMode="auto">
              <a:xfrm>
                <a:off x="0" y="0"/>
                <a:ext cx="1790" cy="480"/>
                <a:chOff x="0" y="0"/>
                <a:chExt cx="1790" cy="480"/>
              </a:xfrm>
            </p:grpSpPr>
            <p:sp>
              <p:nvSpPr>
                <p:cNvPr id="136198" name="Rectangle 6"/>
                <p:cNvSpPr>
                  <a:spLocks noChangeArrowheads="1"/>
                </p:cNvSpPr>
                <p:nvPr>
                  <p:custDataLst>
                    <p:tags r:id="rId2"/>
                  </p:custDataLst>
                </p:nvPr>
              </p:nvSpPr>
              <p:spPr bwMode="auto">
                <a:xfrm>
                  <a:off x="43" y="0"/>
                  <a:ext cx="17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a:latin typeface="宋体" panose="02010600030101010101" pitchFamily="2" charset="-122"/>
                    </a:rPr>
                    <a:t>低交互蜜罐</a:t>
                  </a:r>
                  <a:endParaRPr lang="zh-CN" altLang="en-US" sz="2800" b="1">
                    <a:cs typeface="Times New Roman" panose="02020603050405020304" pitchFamily="18" charset="0"/>
                  </a:endParaRPr>
                </a:p>
                <a:p>
                  <a:pPr algn="ctr" eaLnBrk="0" hangingPunct="0"/>
                  <a:r>
                    <a:rPr lang="zh-CN" altLang="en-US" sz="2800">
                      <a:latin typeface="宋体" panose="02010600030101010101" pitchFamily="2" charset="-122"/>
                    </a:rPr>
                    <a:t>模拟操作系统和服务</a:t>
                  </a:r>
                  <a:endParaRPr lang="zh-CN" altLang="en-US" sz="2800">
                    <a:latin typeface="宋体" panose="02010600030101010101" pitchFamily="2" charset="-122"/>
                  </a:endParaRPr>
                </a:p>
              </p:txBody>
            </p:sp>
            <p:sp>
              <p:nvSpPr>
                <p:cNvPr id="136199" name="Rectangle 7"/>
                <p:cNvSpPr>
                  <a:spLocks noChangeArrowheads="1"/>
                </p:cNvSpPr>
                <p:nvPr>
                  <p:custDataLst>
                    <p:tags r:id="rId3"/>
                  </p:custDataLst>
                </p:nvPr>
              </p:nvSpPr>
              <p:spPr bwMode="auto">
                <a:xfrm>
                  <a:off x="0" y="0"/>
                  <a:ext cx="1790" cy="48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6200" name="Group 8"/>
              <p:cNvGrpSpPr/>
              <p:nvPr/>
            </p:nvGrpSpPr>
            <p:grpSpPr bwMode="auto">
              <a:xfrm>
                <a:off x="1790" y="0"/>
                <a:ext cx="1790" cy="480"/>
                <a:chOff x="1790" y="0"/>
                <a:chExt cx="1790" cy="480"/>
              </a:xfrm>
            </p:grpSpPr>
            <p:sp>
              <p:nvSpPr>
                <p:cNvPr id="136201" name="Rectangle 9"/>
                <p:cNvSpPr>
                  <a:spLocks noChangeArrowheads="1"/>
                </p:cNvSpPr>
                <p:nvPr>
                  <p:custDataLst>
                    <p:tags r:id="rId4"/>
                  </p:custDataLst>
                </p:nvPr>
              </p:nvSpPr>
              <p:spPr bwMode="auto">
                <a:xfrm>
                  <a:off x="1833" y="0"/>
                  <a:ext cx="17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a:latin typeface="宋体" panose="02010600030101010101" pitchFamily="2" charset="-122"/>
                    </a:rPr>
                    <a:t>高交互蜜罐</a:t>
                  </a:r>
                  <a:endParaRPr lang="zh-CN" altLang="en-US" sz="2800" b="1">
                    <a:cs typeface="Times New Roman" panose="02020603050405020304" pitchFamily="18" charset="0"/>
                  </a:endParaRPr>
                </a:p>
                <a:p>
                  <a:pPr algn="ctr" eaLnBrk="0" hangingPunct="0"/>
                  <a:r>
                    <a:rPr lang="zh-CN" altLang="en-US" sz="2800">
                      <a:latin typeface="宋体" panose="02010600030101010101" pitchFamily="2" charset="-122"/>
                    </a:rPr>
                    <a:t>真正的操作系统和服务</a:t>
                  </a:r>
                  <a:endParaRPr lang="zh-CN" altLang="en-US" sz="2800">
                    <a:latin typeface="宋体" panose="02010600030101010101" pitchFamily="2" charset="-122"/>
                  </a:endParaRPr>
                </a:p>
              </p:txBody>
            </p:sp>
            <p:sp>
              <p:nvSpPr>
                <p:cNvPr id="136202" name="Rectangle 10"/>
                <p:cNvSpPr>
                  <a:spLocks noChangeArrowheads="1"/>
                </p:cNvSpPr>
                <p:nvPr>
                  <p:custDataLst>
                    <p:tags r:id="rId5"/>
                  </p:custDataLst>
                </p:nvPr>
              </p:nvSpPr>
              <p:spPr bwMode="auto">
                <a:xfrm>
                  <a:off x="1790" y="0"/>
                  <a:ext cx="1790" cy="48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6203" name="Group 11"/>
              <p:cNvGrpSpPr/>
              <p:nvPr/>
            </p:nvGrpSpPr>
            <p:grpSpPr bwMode="auto">
              <a:xfrm>
                <a:off x="0" y="480"/>
                <a:ext cx="1790" cy="768"/>
                <a:chOff x="0" y="480"/>
                <a:chExt cx="1790" cy="768"/>
              </a:xfrm>
            </p:grpSpPr>
            <p:sp>
              <p:nvSpPr>
                <p:cNvPr id="136204" name="Rectangle 12"/>
                <p:cNvSpPr>
                  <a:spLocks noChangeArrowheads="1"/>
                </p:cNvSpPr>
                <p:nvPr>
                  <p:custDataLst>
                    <p:tags r:id="rId6"/>
                  </p:custDataLst>
                </p:nvPr>
              </p:nvSpPr>
              <p:spPr bwMode="auto">
                <a:xfrm>
                  <a:off x="43" y="480"/>
                  <a:ext cx="1704"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266700">
                    <a:tabLst>
                      <a:tab pos="266700" algn="l"/>
                    </a:tabLst>
                    <a:defRPr kumimoji="1" sz="2400">
                      <a:solidFill>
                        <a:schemeClr val="tx1"/>
                      </a:solidFill>
                      <a:latin typeface="Times New Roman" panose="02020603050405020304" pitchFamily="18" charset="0"/>
                      <a:ea typeface="宋体" panose="02010600030101010101" pitchFamily="2" charset="-122"/>
                    </a:defRPr>
                  </a:lvl1pPr>
                  <a:lvl2pPr>
                    <a:tabLst>
                      <a:tab pos="266700" algn="l"/>
                    </a:tabLst>
                    <a:defRPr kumimoji="1" sz="2400">
                      <a:solidFill>
                        <a:schemeClr val="tx1"/>
                      </a:solidFill>
                      <a:latin typeface="Times New Roman" panose="02020603050405020304" pitchFamily="18" charset="0"/>
                      <a:ea typeface="宋体" panose="02010600030101010101" pitchFamily="2" charset="-122"/>
                    </a:defRPr>
                  </a:lvl2pPr>
                  <a:lvl3pPr>
                    <a:tabLst>
                      <a:tab pos="266700" algn="l"/>
                    </a:tabLst>
                    <a:defRPr kumimoji="1" sz="2400">
                      <a:solidFill>
                        <a:schemeClr val="tx1"/>
                      </a:solidFill>
                      <a:latin typeface="Times New Roman" panose="02020603050405020304" pitchFamily="18" charset="0"/>
                      <a:ea typeface="宋体" panose="02010600030101010101" pitchFamily="2" charset="-122"/>
                    </a:defRPr>
                  </a:lvl3pPr>
                  <a:lvl4pPr>
                    <a:tabLst>
                      <a:tab pos="266700" algn="l"/>
                    </a:tabLst>
                    <a:defRPr kumimoji="1" sz="2400">
                      <a:solidFill>
                        <a:schemeClr val="tx1"/>
                      </a:solidFill>
                      <a:latin typeface="Times New Roman" panose="02020603050405020304" pitchFamily="18" charset="0"/>
                      <a:ea typeface="宋体" panose="02010600030101010101" pitchFamily="2" charset="-122"/>
                    </a:defRPr>
                  </a:lvl4pPr>
                  <a:lvl5pPr>
                    <a:tabLst>
                      <a:tab pos="2667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2667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2667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2667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266700" algn="l"/>
                    </a:tabLs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a:latin typeface="Wingdings" panose="05000000000000000000" pitchFamily="2" charset="2"/>
                      <a:cs typeface="Times New Roman" panose="02020603050405020304" pitchFamily="18" charset="0"/>
                      <a:sym typeface="+mn-ea"/>
                    </a:rPr>
                    <a:t>s</a:t>
                  </a:r>
                  <a:r>
                    <a:rPr kumimoji="0" lang="en-US" altLang="zh-CN">
                      <a:latin typeface="Arial" panose="020B0604020202020204" pitchFamily="34" charset="0"/>
                      <a:cs typeface="Times New Roman" panose="02020603050405020304" pitchFamily="18" charset="0"/>
                      <a:sym typeface="+mn-ea"/>
                    </a:rPr>
                    <a:t> </a:t>
                  </a:r>
                  <a:r>
                    <a:rPr kumimoji="0" lang="zh-CN" altLang="en-US">
                      <a:latin typeface="宋体" panose="02010600030101010101" pitchFamily="2" charset="-122"/>
                    </a:rPr>
                    <a:t>安装、配置和维护容易</a:t>
                  </a:r>
                  <a:endParaRPr kumimoji="0" lang="zh-CN" altLang="en-US">
                    <a:cs typeface="Times New Roman" panose="02020603050405020304" pitchFamily="18" charset="0"/>
                  </a:endParaRPr>
                </a:p>
                <a:p>
                  <a:pPr eaLnBrk="0" hangingPunct="0"/>
                  <a:r>
                    <a:rPr kumimoji="0" lang="en-US" altLang="zh-CN">
                      <a:latin typeface="Wingdings" panose="05000000000000000000" pitchFamily="2" charset="2"/>
                      <a:cs typeface="Times New Roman" panose="02020603050405020304" pitchFamily="18" charset="0"/>
                    </a:rPr>
                    <a:t>s</a:t>
                  </a:r>
                  <a:r>
                    <a:rPr kumimoji="0" lang="en-US" altLang="zh-CN">
                      <a:latin typeface="Arial" panose="020B0604020202020204" pitchFamily="34" charset="0"/>
                      <a:cs typeface="Times New Roman" panose="02020603050405020304" pitchFamily="18" charset="0"/>
                    </a:rPr>
                    <a:t> </a:t>
                  </a:r>
                  <a:r>
                    <a:rPr kumimoji="0" lang="zh-CN" altLang="en-US">
                      <a:latin typeface="宋体" panose="02010600030101010101" pitchFamily="2" charset="-122"/>
                    </a:rPr>
                    <a:t>引入风险小，模拟服务可以控制攻击者行为</a:t>
                  </a:r>
                  <a:endParaRPr kumimoji="0" lang="zh-CN" altLang="en-US">
                    <a:cs typeface="Times New Roman" panose="02020603050405020304" pitchFamily="18" charset="0"/>
                  </a:endParaRPr>
                </a:p>
                <a:p>
                  <a:pPr eaLnBrk="0" hangingPunct="0"/>
                  <a:r>
                    <a:rPr kumimoji="0" lang="en-US" altLang="zh-CN">
                      <a:latin typeface="Wingdings" panose="05000000000000000000" pitchFamily="2" charset="2"/>
                      <a:cs typeface="Times New Roman" panose="02020603050405020304" pitchFamily="18" charset="0"/>
                    </a:rPr>
                    <a:t>s</a:t>
                  </a:r>
                  <a:r>
                    <a:rPr kumimoji="0" lang="en-US" altLang="zh-CN">
                      <a:latin typeface="Arial" panose="020B0604020202020204" pitchFamily="34" charset="0"/>
                      <a:cs typeface="Times New Roman" panose="02020603050405020304" pitchFamily="18" charset="0"/>
                    </a:rPr>
                    <a:t> </a:t>
                  </a:r>
                  <a:r>
                    <a:rPr kumimoji="0" lang="zh-CN" altLang="en-US">
                      <a:latin typeface="宋体" panose="02010600030101010101" pitchFamily="2" charset="-122"/>
                    </a:rPr>
                    <a:t>捕捉有限信息，主要包括一些有限的处理和交互信息</a:t>
                  </a:r>
                  <a:endParaRPr kumimoji="0" lang="zh-CN" altLang="en-US"/>
                </a:p>
              </p:txBody>
            </p:sp>
            <p:sp>
              <p:nvSpPr>
                <p:cNvPr id="136205" name="Rectangle 13"/>
                <p:cNvSpPr>
                  <a:spLocks noChangeArrowheads="1"/>
                </p:cNvSpPr>
                <p:nvPr>
                  <p:custDataLst>
                    <p:tags r:id="rId7"/>
                  </p:custDataLst>
                </p:nvPr>
              </p:nvSpPr>
              <p:spPr bwMode="auto">
                <a:xfrm>
                  <a:off x="0" y="480"/>
                  <a:ext cx="1790" cy="76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6206" name="Group 14"/>
              <p:cNvGrpSpPr/>
              <p:nvPr/>
            </p:nvGrpSpPr>
            <p:grpSpPr bwMode="auto">
              <a:xfrm>
                <a:off x="1790" y="480"/>
                <a:ext cx="1790" cy="768"/>
                <a:chOff x="1790" y="480"/>
                <a:chExt cx="1790" cy="768"/>
              </a:xfrm>
            </p:grpSpPr>
            <p:sp>
              <p:nvSpPr>
                <p:cNvPr id="136207" name="Rectangle 15"/>
                <p:cNvSpPr>
                  <a:spLocks noChangeArrowheads="1"/>
                </p:cNvSpPr>
                <p:nvPr>
                  <p:custDataLst>
                    <p:tags r:id="rId8"/>
                  </p:custDataLst>
                </p:nvPr>
              </p:nvSpPr>
              <p:spPr bwMode="auto">
                <a:xfrm>
                  <a:off x="1833" y="480"/>
                  <a:ext cx="1704"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266700">
                    <a:tabLst>
                      <a:tab pos="266700" algn="l"/>
                    </a:tabLst>
                    <a:defRPr kumimoji="1" sz="2400">
                      <a:solidFill>
                        <a:schemeClr val="tx1"/>
                      </a:solidFill>
                      <a:latin typeface="Times New Roman" panose="02020603050405020304" pitchFamily="18" charset="0"/>
                      <a:ea typeface="宋体" panose="02010600030101010101" pitchFamily="2" charset="-122"/>
                    </a:defRPr>
                  </a:lvl1pPr>
                  <a:lvl2pPr>
                    <a:tabLst>
                      <a:tab pos="266700" algn="l"/>
                    </a:tabLst>
                    <a:defRPr kumimoji="1" sz="2400">
                      <a:solidFill>
                        <a:schemeClr val="tx1"/>
                      </a:solidFill>
                      <a:latin typeface="Times New Roman" panose="02020603050405020304" pitchFamily="18" charset="0"/>
                      <a:ea typeface="宋体" panose="02010600030101010101" pitchFamily="2" charset="-122"/>
                    </a:defRPr>
                  </a:lvl2pPr>
                  <a:lvl3pPr>
                    <a:tabLst>
                      <a:tab pos="266700" algn="l"/>
                    </a:tabLst>
                    <a:defRPr kumimoji="1" sz="2400">
                      <a:solidFill>
                        <a:schemeClr val="tx1"/>
                      </a:solidFill>
                      <a:latin typeface="Times New Roman" panose="02020603050405020304" pitchFamily="18" charset="0"/>
                      <a:ea typeface="宋体" panose="02010600030101010101" pitchFamily="2" charset="-122"/>
                    </a:defRPr>
                  </a:lvl3pPr>
                  <a:lvl4pPr>
                    <a:tabLst>
                      <a:tab pos="266700" algn="l"/>
                    </a:tabLst>
                    <a:defRPr kumimoji="1" sz="2400">
                      <a:solidFill>
                        <a:schemeClr val="tx1"/>
                      </a:solidFill>
                      <a:latin typeface="Times New Roman" panose="02020603050405020304" pitchFamily="18" charset="0"/>
                      <a:ea typeface="宋体" panose="02010600030101010101" pitchFamily="2" charset="-122"/>
                    </a:defRPr>
                  </a:lvl4pPr>
                  <a:lvl5pPr>
                    <a:tabLst>
                      <a:tab pos="2667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2667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2667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2667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266700" algn="l"/>
                    </a:tabLst>
                    <a:defRPr kumimoji="1" sz="2400">
                      <a:solidFill>
                        <a:schemeClr val="tx1"/>
                      </a:solidFill>
                      <a:latin typeface="Times New Roman" panose="02020603050405020304" pitchFamily="18" charset="0"/>
                      <a:ea typeface="宋体" panose="02010600030101010101" pitchFamily="2" charset="-122"/>
                    </a:defRPr>
                  </a:lvl9pPr>
                </a:lstStyle>
                <a:p>
                  <a:pPr algn="just"/>
                  <a:r>
                    <a:rPr kumimoji="0" lang="en-US" altLang="zh-CN">
                      <a:latin typeface="Wingdings" panose="05000000000000000000" pitchFamily="2" charset="2"/>
                      <a:cs typeface="Times New Roman" panose="02020603050405020304" pitchFamily="18" charset="0"/>
                      <a:sym typeface="+mn-ea"/>
                    </a:rPr>
                    <a:t>s</a:t>
                  </a:r>
                  <a:r>
                    <a:rPr kumimoji="0" lang="en-US" altLang="zh-CN">
                      <a:latin typeface="Arial" panose="020B0604020202020204" pitchFamily="34" charset="0"/>
                      <a:cs typeface="Times New Roman" panose="02020603050405020304" pitchFamily="18" charset="0"/>
                      <a:sym typeface="+mn-ea"/>
                    </a:rPr>
                    <a:t> </a:t>
                  </a:r>
                  <a:r>
                    <a:rPr kumimoji="0" lang="zh-CN" altLang="en-US">
                      <a:latin typeface="宋体" panose="02010600030101010101" pitchFamily="2" charset="-122"/>
                    </a:rPr>
                    <a:t>安装、配置和维护复杂</a:t>
                  </a:r>
                  <a:endParaRPr kumimoji="0" lang="zh-CN" altLang="en-US">
                    <a:cs typeface="Times New Roman" panose="02020603050405020304" pitchFamily="18" charset="0"/>
                  </a:endParaRPr>
                </a:p>
                <a:p>
                  <a:pPr algn="just" eaLnBrk="0" hangingPunct="0"/>
                  <a:r>
                    <a:rPr kumimoji="0" lang="en-US" altLang="zh-CN">
                      <a:latin typeface="Wingdings" panose="05000000000000000000" pitchFamily="2" charset="2"/>
                      <a:cs typeface="Times New Roman" panose="02020603050405020304" pitchFamily="18" charset="0"/>
                    </a:rPr>
                    <a:t>s</a:t>
                  </a:r>
                  <a:r>
                    <a:rPr kumimoji="0" lang="en-US" altLang="zh-CN">
                      <a:latin typeface="Arial" panose="020B0604020202020204" pitchFamily="34" charset="0"/>
                      <a:cs typeface="Times New Roman" panose="02020603050405020304" pitchFamily="18" charset="0"/>
                    </a:rPr>
                    <a:t> </a:t>
                  </a:r>
                  <a:r>
                    <a:rPr kumimoji="0" lang="zh-CN" altLang="en-US">
                      <a:latin typeface="宋体" panose="02010600030101010101" pitchFamily="2" charset="-122"/>
                    </a:rPr>
                    <a:t>引入风险大，提供攻击者真正操作环境去交互</a:t>
                  </a:r>
                  <a:endParaRPr kumimoji="0" lang="zh-CN" altLang="en-US">
                    <a:cs typeface="Times New Roman" panose="02020603050405020304" pitchFamily="18" charset="0"/>
                  </a:endParaRPr>
                </a:p>
                <a:p>
                  <a:pPr algn="just" eaLnBrk="0" hangingPunct="0"/>
                  <a:r>
                    <a:rPr kumimoji="0" lang="en-US" altLang="zh-CN">
                      <a:latin typeface="Wingdings" panose="05000000000000000000" pitchFamily="2" charset="2"/>
                      <a:cs typeface="Times New Roman" panose="02020603050405020304" pitchFamily="18" charset="0"/>
                    </a:rPr>
                    <a:t>s</a:t>
                  </a:r>
                  <a:r>
                    <a:rPr kumimoji="0" lang="en-US" altLang="zh-CN">
                      <a:latin typeface="Arial" panose="020B0604020202020204" pitchFamily="34" charset="0"/>
                      <a:cs typeface="Times New Roman" panose="02020603050405020304" pitchFamily="18" charset="0"/>
                    </a:rPr>
                    <a:t> </a:t>
                  </a:r>
                  <a:r>
                    <a:rPr kumimoji="0" lang="zh-CN" altLang="en-US">
                      <a:latin typeface="宋体" panose="02010600030101010101" pitchFamily="2" charset="-122"/>
                    </a:rPr>
                    <a:t>能够捕捉更多的信息，包括新的工具、通信和攻击者键入命令</a:t>
                  </a:r>
                  <a:endParaRPr kumimoji="0" lang="zh-CN" altLang="en-US">
                    <a:cs typeface="Times New Roman" panose="02020603050405020304" pitchFamily="18" charset="0"/>
                  </a:endParaRPr>
                </a:p>
                <a:p>
                  <a:pPr algn="just" eaLnBrk="0" hangingPunct="0"/>
                  <a:endParaRPr kumimoji="0" lang="zh-CN" altLang="en-US"/>
                </a:p>
              </p:txBody>
            </p:sp>
            <p:sp>
              <p:nvSpPr>
                <p:cNvPr id="136208" name="Rectangle 16"/>
                <p:cNvSpPr>
                  <a:spLocks noChangeArrowheads="1"/>
                </p:cNvSpPr>
                <p:nvPr>
                  <p:custDataLst>
                    <p:tags r:id="rId9"/>
                  </p:custDataLst>
                </p:nvPr>
              </p:nvSpPr>
              <p:spPr bwMode="auto">
                <a:xfrm>
                  <a:off x="1790" y="480"/>
                  <a:ext cx="1790" cy="76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36209" name="Rectangle 17"/>
            <p:cNvSpPr>
              <a:spLocks noChangeArrowheads="1"/>
            </p:cNvSpPr>
            <p:nvPr>
              <p:custDataLst>
                <p:tags r:id="rId10"/>
              </p:custDataLst>
            </p:nvPr>
          </p:nvSpPr>
          <p:spPr bwMode="auto">
            <a:xfrm>
              <a:off x="-3" y="-3"/>
              <a:ext cx="3586" cy="1254"/>
            </a:xfrm>
            <a:prstGeom prst="rect">
              <a:avLst/>
            </a:prstGeom>
            <a:noFill/>
            <a:ln w="9525">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Rectangle 3"/>
          <p:cNvSpPr>
            <a:spLocks noGrp="1" noChangeArrowheads="1"/>
          </p:cNvSpPr>
          <p:nvPr>
            <p:ph type="body" idx="1"/>
          </p:nvPr>
        </p:nvSpPr>
        <p:spPr/>
        <p:txBody>
          <a:bodyPr/>
          <a:lstStyle/>
          <a:p>
            <a:pPr algn="just">
              <a:lnSpc>
                <a:spcPct val="90000"/>
              </a:lnSpc>
            </a:pPr>
            <a:r>
              <a:rPr lang="zh-CN" altLang="en-US" b="1" dirty="0">
                <a:cs typeface="Times New Roman" panose="02020603050405020304" pitchFamily="18" charset="0"/>
              </a:rPr>
              <a:t>1. </a:t>
            </a:r>
            <a:r>
              <a:rPr lang="zh-CN" altLang="en-US" b="1" dirty="0">
                <a:latin typeface="宋体" panose="02010600030101010101" pitchFamily="2" charset="-122"/>
              </a:rPr>
              <a:t>蜜罐的价值</a:t>
            </a:r>
            <a:endParaRPr lang="zh-CN" altLang="en-US" b="1" dirty="0">
              <a:solidFill>
                <a:srgbClr val="FF0000"/>
              </a:solidFill>
              <a:cs typeface="Times New Roman" panose="02020603050405020304" pitchFamily="18" charset="0"/>
            </a:endParaRPr>
          </a:p>
          <a:p>
            <a:pPr>
              <a:lnSpc>
                <a:spcPct val="90000"/>
              </a:lnSpc>
            </a:pPr>
            <a:r>
              <a:rPr lang="en-US" altLang="zh-CN" dirty="0">
                <a:latin typeface="宋体" panose="02010600030101010101" pitchFamily="2" charset="-122"/>
              </a:rPr>
              <a:t>    </a:t>
            </a:r>
            <a:r>
              <a:rPr lang="zh-CN" altLang="en-US" dirty="0">
                <a:latin typeface="宋体" panose="02010600030101010101" pitchFamily="2" charset="-122"/>
              </a:rPr>
              <a:t>蜜罐的价值分别体现在对攻击的防护、检测和响应。</a:t>
            </a:r>
            <a:r>
              <a:rPr lang="zh-CN" altLang="en-US" dirty="0"/>
              <a:t> </a:t>
            </a:r>
            <a:endParaRPr lang="zh-CN" altLang="en-US" dirty="0"/>
          </a:p>
          <a:p>
            <a:pPr>
              <a:lnSpc>
                <a:spcPct val="90000"/>
              </a:lnSpc>
            </a:pPr>
            <a:r>
              <a:rPr lang="en-US" altLang="zh-CN" dirty="0">
                <a:latin typeface="宋体" panose="02010600030101010101" pitchFamily="2" charset="-122"/>
              </a:rPr>
              <a:t>    </a:t>
            </a:r>
            <a:r>
              <a:rPr lang="zh-CN" altLang="en-US" dirty="0">
                <a:latin typeface="宋体" panose="02010600030101010101" pitchFamily="2" charset="-122"/>
              </a:rPr>
              <a:t>蜜罐可以阻碍或阻止自动地或是人为的攻击。一种被称为粘性的蜜罐（</a:t>
            </a:r>
            <a:r>
              <a:rPr lang="en-US" altLang="zh-CN" dirty="0">
                <a:cs typeface="Times New Roman" panose="02020603050405020304" pitchFamily="18" charset="0"/>
              </a:rPr>
              <a:t>sticky honeypot</a:t>
            </a:r>
            <a:r>
              <a:rPr lang="en-US" altLang="zh-CN" dirty="0">
                <a:latin typeface="宋体" panose="02010600030101010101" pitchFamily="2" charset="-122"/>
              </a:rPr>
              <a:t>）</a:t>
            </a:r>
            <a:r>
              <a:rPr lang="zh-CN" altLang="en-US" dirty="0">
                <a:latin typeface="宋体" panose="02010600030101010101" pitchFamily="2" charset="-122"/>
              </a:rPr>
              <a:t>能够帮助降低或阻止自动攻击工具的攻击。粘性蜜罐如</a:t>
            </a:r>
            <a:r>
              <a:rPr lang="en-US" altLang="zh-CN" dirty="0" err="1">
                <a:cs typeface="Times New Roman" panose="02020603050405020304" pitchFamily="18" charset="0"/>
              </a:rPr>
              <a:t>LaBea</a:t>
            </a:r>
            <a:r>
              <a:rPr lang="en-US" altLang="zh-CN" dirty="0">
                <a:cs typeface="Times New Roman" panose="02020603050405020304" pitchFamily="18" charset="0"/>
              </a:rPr>
              <a:t> </a:t>
            </a:r>
            <a:r>
              <a:rPr lang="en-US" altLang="zh-CN" dirty="0" err="1">
                <a:cs typeface="Times New Roman" panose="02020603050405020304" pitchFamily="18" charset="0"/>
              </a:rPr>
              <a:t>Tarpit</a:t>
            </a:r>
            <a:r>
              <a:rPr lang="zh-CN" altLang="en-US" dirty="0">
                <a:latin typeface="宋体" panose="02010600030101010101" pitchFamily="2" charset="-122"/>
              </a:rPr>
              <a:t>监视网络未使用的</a:t>
            </a:r>
            <a:r>
              <a:rPr lang="en-US" altLang="zh-CN" dirty="0">
                <a:cs typeface="Times New Roman" panose="02020603050405020304" pitchFamily="18" charset="0"/>
              </a:rPr>
              <a:t>IP</a:t>
            </a:r>
            <a:r>
              <a:rPr lang="zh-CN" altLang="en-US" dirty="0">
                <a:latin typeface="宋体" panose="02010600030101010101" pitchFamily="2" charset="-122"/>
              </a:rPr>
              <a:t>地址，当发现有自动攻击工具进行扫描，粘性蜜罐模拟服务和使用多种</a:t>
            </a:r>
            <a:r>
              <a:rPr lang="en-US" altLang="zh-CN" dirty="0">
                <a:cs typeface="Times New Roman" panose="02020603050405020304" pitchFamily="18" charset="0"/>
              </a:rPr>
              <a:t>TCP</a:t>
            </a:r>
            <a:r>
              <a:rPr lang="zh-CN" altLang="en-US" dirty="0">
                <a:latin typeface="宋体" panose="02010600030101010101" pitchFamily="2" charset="-122"/>
              </a:rPr>
              <a:t>欺骗，同自动攻击进行交互和控制，降低以至于阻止自动攻击工具的攻击。</a:t>
            </a:r>
            <a:r>
              <a:rPr lang="zh-CN" altLang="en-US" dirty="0"/>
              <a:t> </a:t>
            </a:r>
            <a:endParaRPr lang="zh-CN" altLang="en-US" dirty="0"/>
          </a:p>
        </p:txBody>
      </p:sp>
      <p:grpSp>
        <p:nvGrpSpPr>
          <p:cNvPr id="4" name="组合 3"/>
          <p:cNvGrpSpPr/>
          <p:nvPr/>
        </p:nvGrpSpPr>
        <p:grpSpPr>
          <a:xfrm>
            <a:off x="3594092" y="172596"/>
            <a:ext cx="5003816" cy="1109044"/>
            <a:chOff x="3279913" y="488294"/>
            <a:chExt cx="5003816" cy="1109044"/>
          </a:xfrm>
        </p:grpSpPr>
        <p:grpSp>
          <p:nvGrpSpPr>
            <p:cNvPr id="5" name="组合 4"/>
            <p:cNvGrpSpPr/>
            <p:nvPr/>
          </p:nvGrpSpPr>
          <p:grpSpPr>
            <a:xfrm>
              <a:off x="3279913" y="909457"/>
              <a:ext cx="5003816" cy="687881"/>
              <a:chOff x="3279913" y="909457"/>
              <a:chExt cx="5003816" cy="687881"/>
            </a:xfrm>
          </p:grpSpPr>
          <p:sp>
            <p:nvSpPr>
              <p:cNvPr id="159" name="矩形: 圆角 9"/>
              <p:cNvSpPr/>
              <p:nvPr/>
            </p:nvSpPr>
            <p:spPr>
              <a:xfrm>
                <a:off x="3279913" y="909457"/>
                <a:ext cx="5003816"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3467616"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蜜罐的价值与弱点</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zh-CN" altLang="en-US"/>
              <a:t> </a:t>
            </a:r>
            <a:endParaRPr lang="zh-CN" altLang="en-US"/>
          </a:p>
        </p:txBody>
      </p:sp>
      <p:sp>
        <p:nvSpPr>
          <p:cNvPr id="138243" name="Rectangle 3"/>
          <p:cNvSpPr>
            <a:spLocks noGrp="1" noChangeArrowheads="1"/>
          </p:cNvSpPr>
          <p:nvPr>
            <p:ph type="body" idx="1"/>
          </p:nvPr>
        </p:nvSpPr>
        <p:spPr/>
        <p:txBody>
          <a:bodyPr/>
          <a:lstStyle/>
          <a:p>
            <a:pPr>
              <a:lnSpc>
                <a:spcPct val="90000"/>
              </a:lnSpc>
            </a:pPr>
            <a:r>
              <a:rPr lang="en-US" altLang="zh-CN">
                <a:latin typeface="宋体" panose="02010600030101010101" pitchFamily="2" charset="-122"/>
              </a:rPr>
              <a:t>    </a:t>
            </a:r>
            <a:r>
              <a:rPr lang="zh-CN" altLang="en-US">
                <a:latin typeface="宋体" panose="02010600030101010101" pitchFamily="2" charset="-122"/>
              </a:rPr>
              <a:t>在过去捕捉和检测攻击者行为时，信息安全面临地最大问题就是信息超载。在铺天盖地的数据中很难区分哪些是正常的信息，哪些是异常的信息。</a:t>
            </a:r>
            <a:r>
              <a:rPr lang="zh-CN" altLang="en-US"/>
              <a:t> </a:t>
            </a:r>
            <a:endParaRPr lang="zh-CN" altLang="en-US"/>
          </a:p>
          <a:p>
            <a:pPr>
              <a:lnSpc>
                <a:spcPct val="90000"/>
              </a:lnSpc>
            </a:pPr>
            <a:r>
              <a:rPr lang="en-US" altLang="zh-CN">
                <a:latin typeface="宋体" panose="02010600030101010101" pitchFamily="2" charset="-122"/>
              </a:rPr>
              <a:t>    </a:t>
            </a:r>
            <a:r>
              <a:rPr lang="zh-CN" altLang="en-US">
                <a:latin typeface="宋体" panose="02010600030101010101" pitchFamily="2" charset="-122"/>
              </a:rPr>
              <a:t>蜜罐这个应当不产生正常信息流量的概念大大减少了数据捕捉和数据分析的数量，提高了数据的质量。而且由于蜜罐能够监视和捕捉到所有同其交互的行为包括新出现的攻击，并能够在更深层次捕捉和解析通过加密的攻击和在</a:t>
            </a:r>
            <a:r>
              <a:rPr lang="en-US" altLang="zh-CN">
                <a:cs typeface="Times New Roman" panose="02020603050405020304" pitchFamily="18" charset="0"/>
              </a:rPr>
              <a:t>IPv 6</a:t>
            </a:r>
            <a:r>
              <a:rPr lang="zh-CN" altLang="en-US">
                <a:latin typeface="宋体" panose="02010600030101010101" pitchFamily="2" charset="-122"/>
              </a:rPr>
              <a:t>环境下的攻击行为</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zh-CN" altLang="en-US"/>
              <a:t> </a:t>
            </a:r>
            <a:endParaRPr lang="zh-CN" altLang="en-US"/>
          </a:p>
        </p:txBody>
      </p:sp>
      <p:sp>
        <p:nvSpPr>
          <p:cNvPr id="139267" name="Rectangle 3"/>
          <p:cNvSpPr>
            <a:spLocks noGrp="1" noChangeArrowheads="1"/>
          </p:cNvSpPr>
          <p:nvPr>
            <p:ph type="body" idx="1"/>
          </p:nvPr>
        </p:nvSpPr>
        <p:spPr/>
        <p:txBody>
          <a:bodyPr/>
          <a:lstStyle/>
          <a:p>
            <a:r>
              <a:rPr lang="en-US" altLang="zh-CN">
                <a:latin typeface="宋体" panose="02010600030101010101" pitchFamily="2" charset="-122"/>
              </a:rPr>
              <a:t>    </a:t>
            </a:r>
            <a:r>
              <a:rPr lang="zh-CN" altLang="en-US">
                <a:latin typeface="宋体" panose="02010600030101010101" pitchFamily="2" charset="-122"/>
              </a:rPr>
              <a:t>面对攻击如何响应，这可能是系统管理员经常要面对的最大的挑战。</a:t>
            </a:r>
            <a:endParaRPr lang="zh-CN" altLang="en-US">
              <a:latin typeface="宋体" panose="02010600030101010101" pitchFamily="2" charset="-122"/>
            </a:endParaRPr>
          </a:p>
          <a:p>
            <a:r>
              <a:rPr lang="en-US" altLang="zh-CN">
                <a:latin typeface="宋体" panose="02010600030101010101" pitchFamily="2" charset="-122"/>
              </a:rPr>
              <a:t>    </a:t>
            </a:r>
            <a:r>
              <a:rPr lang="zh-CN" altLang="en-US">
                <a:latin typeface="宋体" panose="02010600030101010101" pitchFamily="2" charset="-122"/>
              </a:rPr>
              <a:t>蜜罐是优秀的事件响应工具，能够在不影响正常服务的情况下，快速容易的离线进行全面细致地分析取证。而且由于蜜罐的设计原理，同蜜罐交互的都是同入侵相关的行为，这样大大减少了数据捕捉的数量和提高了数据的质量，同时也减少数据分析时间和提高分析的正确性。</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zh-CN" altLang="en-US" b="1">
                <a:solidFill>
                  <a:schemeClr val="hlink"/>
                </a:solidFill>
                <a:latin typeface="Times New Roman" panose="02020603050405020304" pitchFamily="18" charset="0"/>
                <a:cs typeface="Times New Roman" panose="02020603050405020304" pitchFamily="18" charset="0"/>
              </a:rPr>
              <a:t>2. </a:t>
            </a:r>
            <a:r>
              <a:rPr lang="zh-CN" altLang="en-US" b="1">
                <a:solidFill>
                  <a:schemeClr val="hlink"/>
                </a:solidFill>
                <a:latin typeface="宋体" panose="02010600030101010101" pitchFamily="2" charset="-122"/>
              </a:rPr>
              <a:t>蜜罐的弱点</a:t>
            </a:r>
            <a:endParaRPr lang="zh-CN" altLang="en-US" b="1">
              <a:solidFill>
                <a:schemeClr val="hlink"/>
              </a:solidFill>
              <a:latin typeface="宋体" panose="02010600030101010101" pitchFamily="2" charset="-122"/>
            </a:endParaRPr>
          </a:p>
        </p:txBody>
      </p:sp>
      <p:sp>
        <p:nvSpPr>
          <p:cNvPr id="140291" name="Rectangle 3"/>
          <p:cNvSpPr>
            <a:spLocks noGrp="1" noChangeArrowheads="1"/>
          </p:cNvSpPr>
          <p:nvPr>
            <p:ph type="body" idx="1"/>
          </p:nvPr>
        </p:nvSpPr>
        <p:spPr/>
        <p:txBody>
          <a:bodyPr/>
          <a:lstStyle/>
          <a:p>
            <a:pPr algn="just"/>
            <a:r>
              <a:rPr lang="en-US" altLang="zh-CN">
                <a:latin typeface="宋体" panose="02010600030101010101" pitchFamily="2" charset="-122"/>
              </a:rPr>
              <a:t>    </a:t>
            </a:r>
            <a:r>
              <a:rPr lang="zh-CN" altLang="en-US">
                <a:latin typeface="宋体" panose="02010600030101010101" pitchFamily="2" charset="-122"/>
              </a:rPr>
              <a:t>蜜罐的缺点主要包括数据收集面狭窄和给使用者引入风险。</a:t>
            </a:r>
            <a:r>
              <a:rPr lang="zh-CN" altLang="en-US"/>
              <a:t> </a:t>
            </a:r>
            <a:endParaRPr lang="zh-CN" altLang="en-US"/>
          </a:p>
          <a:p>
            <a:r>
              <a:rPr lang="zh-CN" altLang="en-US">
                <a:latin typeface="宋体" panose="02010600030101010101" pitchFamily="2" charset="-122"/>
              </a:rPr>
              <a:t>蜜罐只能检测和捕捉到那些直接同它进行交互的行为，而不能捕捉到对其它系统的攻击。而且如果攻击者识破系统中的蜜罐转向攻击其它正常系统，这就会使蜜罐无法收集到任何数据。缺乏数据不可避免会影响到对攻击者工具、策略和行为的正确分析。</a:t>
            </a:r>
            <a:r>
              <a:rPr lang="zh-CN" altLang="en-US"/>
              <a:t> </a:t>
            </a:r>
            <a:endParaRPr lang="zh-CN"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zh-CN" altLang="en-US"/>
              <a:t> </a:t>
            </a:r>
            <a:endParaRPr lang="zh-CN" altLang="en-US"/>
          </a:p>
        </p:txBody>
      </p:sp>
      <p:sp>
        <p:nvSpPr>
          <p:cNvPr id="141315" name="Rectangle 3"/>
          <p:cNvSpPr>
            <a:spLocks noGrp="1" noChangeArrowheads="1"/>
          </p:cNvSpPr>
          <p:nvPr>
            <p:ph type="body" idx="1"/>
          </p:nvPr>
        </p:nvSpPr>
        <p:spPr/>
        <p:txBody>
          <a:bodyPr/>
          <a:lstStyle/>
          <a:p>
            <a:r>
              <a:rPr lang="en-US" altLang="zh-CN">
                <a:latin typeface="宋体" panose="02010600030101010101" pitchFamily="2" charset="-122"/>
              </a:rPr>
              <a:t>    </a:t>
            </a:r>
            <a:r>
              <a:rPr lang="zh-CN" altLang="en-US">
                <a:latin typeface="宋体" panose="02010600030101010101" pitchFamily="2" charset="-122"/>
              </a:rPr>
              <a:t>所有的安全技术都存在危险性 。</a:t>
            </a:r>
            <a:endParaRPr lang="zh-CN" altLang="en-US">
              <a:latin typeface="宋体" panose="02010600030101010101" pitchFamily="2" charset="-122"/>
            </a:endParaRPr>
          </a:p>
          <a:p>
            <a:r>
              <a:rPr lang="en-US" altLang="zh-CN">
                <a:latin typeface="宋体" panose="02010600030101010101" pitchFamily="2" charset="-122"/>
              </a:rPr>
              <a:t>    </a:t>
            </a:r>
            <a:r>
              <a:rPr lang="zh-CN" altLang="en-US">
                <a:latin typeface="宋体" panose="02010600030101010101" pitchFamily="2" charset="-122"/>
              </a:rPr>
              <a:t>蜜罐被攻击者入侵后，可能被用来作为工具攻击、入侵和危害其他的正常系统。不同类型的蜜罐会带来不同的风险，通常那些模拟某些特定服务的蜜罐，很难作为攻击其它系统的工具，而那些具有真实系统和应用的蜜罐，就很容易被攻击者入侵而攻击其它正常系统。</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4000" dirty="0" smtClean="0">
                <a:solidFill>
                  <a:srgbClr val="002060"/>
                </a:solidFill>
                <a:latin typeface="思源黑体 CN Heavy" panose="020B0A00000000000000" pitchFamily="34" charset="-122"/>
                <a:ea typeface="思源黑体 CN Heavy" panose="020B0A00000000000000" pitchFamily="34" charset="-122"/>
                <a:cs typeface="+mn-ea"/>
              </a:rPr>
              <a:t>入侵检测</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zh-CN" dirty="0" smtClean="0">
                <a:latin typeface="Times New Roman" panose="02020603050405020304" pitchFamily="18" charset="0"/>
                <a:cs typeface="Times New Roman" panose="02020603050405020304" pitchFamily="18" charset="0"/>
              </a:rPr>
              <a:t>5</a:t>
            </a:r>
            <a:r>
              <a:rPr lang="zh-CN" altLang="en-US"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5</a:t>
            </a:r>
            <a:r>
              <a:rPr lang="zh-CN" altLang="en-US" dirty="0" smtClean="0">
                <a:latin typeface="Times New Roman" panose="02020603050405020304" pitchFamily="18" charset="0"/>
                <a:cs typeface="Times New Roman" panose="02020603050405020304" pitchFamily="18" charset="0"/>
              </a:rPr>
              <a:t> </a:t>
            </a:r>
            <a:r>
              <a:rPr lang="zh-CN" altLang="en-US" dirty="0">
                <a:latin typeface="宋体" panose="02010600030101010101" pitchFamily="2" charset="-122"/>
              </a:rPr>
              <a:t>入侵检测</a:t>
            </a:r>
            <a:r>
              <a:rPr lang="zh-CN" altLang="en-US" dirty="0"/>
              <a:t> </a:t>
            </a:r>
            <a:endParaRPr lang="zh-CN" altLang="en-US" dirty="0"/>
          </a:p>
        </p:txBody>
      </p:sp>
      <p:sp>
        <p:nvSpPr>
          <p:cNvPr id="31747" name="Rectangle 3"/>
          <p:cNvSpPr>
            <a:spLocks noGrp="1" noChangeArrowheads="1"/>
          </p:cNvSpPr>
          <p:nvPr>
            <p:ph type="body" idx="1"/>
          </p:nvPr>
        </p:nvSpPr>
        <p:spPr/>
        <p:txBody>
          <a:bodyPr/>
          <a:lstStyle/>
          <a:p>
            <a:r>
              <a:rPr lang="en-US" altLang="zh-CN">
                <a:latin typeface="宋体" panose="02010600030101010101" pitchFamily="2" charset="-122"/>
              </a:rPr>
              <a:t>    </a:t>
            </a:r>
            <a:r>
              <a:rPr lang="zh-CN" altLang="en-US">
                <a:latin typeface="宋体" panose="02010600030101010101" pitchFamily="2" charset="-122"/>
              </a:rPr>
              <a:t>操作系统安全增强技术和防火墙技术应运而生。但这些作为静态的安全防御技术，对网络环境下日新月异的攻击手段缺乏主动的反应。因此作为动态的网络安全防御技术，入侵检测提供了对内部攻击、外部攻击的实时保护，使得网络系统在受到危害之前拦截和响应入侵，为网络安全人员提供了主动的防御手段。</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p:txBody>
          <a:bodyPr/>
          <a:lstStyle/>
          <a:p>
            <a:r>
              <a:rPr lang="zh-CN" altLang="en-US" dirty="0" smtClean="0">
                <a:latin typeface="宋体" panose="02010600030101010101" pitchFamily="2" charset="-122"/>
              </a:rPr>
              <a:t>    入侵</a:t>
            </a:r>
            <a:r>
              <a:rPr lang="zh-CN" altLang="en-US" dirty="0">
                <a:latin typeface="宋体" panose="02010600030101010101" pitchFamily="2" charset="-122"/>
              </a:rPr>
              <a:t>检测是监测计算机网络和系统以发现违反安全策略事件的过程。入侵检测系统（</a:t>
            </a:r>
            <a:r>
              <a:rPr lang="en-US" altLang="zh-CN" dirty="0" err="1">
                <a:cs typeface="Times New Roman" panose="02020603050405020304" pitchFamily="18" charset="0"/>
              </a:rPr>
              <a:t>IDS</a:t>
            </a:r>
            <a:r>
              <a:rPr lang="en-US" altLang="zh-CN" dirty="0" err="1">
                <a:latin typeface="宋体" panose="02010600030101010101" pitchFamily="2" charset="-122"/>
              </a:rPr>
              <a:t>，</a:t>
            </a:r>
            <a:r>
              <a:rPr lang="en-US" altLang="zh-CN" dirty="0" err="1">
                <a:cs typeface="Times New Roman" panose="02020603050405020304" pitchFamily="18" charset="0"/>
              </a:rPr>
              <a:t>Intrusion</a:t>
            </a:r>
            <a:r>
              <a:rPr lang="en-US" altLang="zh-CN" dirty="0">
                <a:cs typeface="Times New Roman" panose="02020603050405020304" pitchFamily="18" charset="0"/>
              </a:rPr>
              <a:t> Detection Systems</a:t>
            </a:r>
            <a:r>
              <a:rPr lang="en-US" altLang="zh-CN" dirty="0">
                <a:latin typeface="宋体" panose="02010600030101010101" pitchFamily="2" charset="-122"/>
              </a:rPr>
              <a:t>）</a:t>
            </a:r>
            <a:r>
              <a:rPr lang="zh-CN" altLang="en-US" dirty="0">
                <a:latin typeface="宋体" panose="02010600030101010101" pitchFamily="2" charset="-122"/>
              </a:rPr>
              <a:t>是实现入侵监测的系统，一般位于内部网的入口处，安装在防火墙的后面，用于检测外部入侵者的入侵和内部用户的非法活动。</a:t>
            </a:r>
            <a:endParaRPr lang="zh-CN" altLang="en-US" dirty="0">
              <a:latin typeface="宋体" panose="02010600030101010101" pitchFamily="2" charset="-122"/>
            </a:endParaRPr>
          </a:p>
          <a:p>
            <a:r>
              <a:rPr lang="zh-CN" altLang="en-US" dirty="0">
                <a:latin typeface="宋体" panose="02010600030101010101" pitchFamily="2" charset="-122"/>
              </a:rPr>
              <a:t>一般的入侵检测模型</a:t>
            </a:r>
            <a:r>
              <a:rPr lang="zh-CN" altLang="en-US" baseline="30000" dirty="0">
                <a:cs typeface="Times New Roman" panose="02020603050405020304" pitchFamily="18" charset="0"/>
              </a:rPr>
              <a:t>]</a:t>
            </a:r>
            <a:r>
              <a:rPr lang="zh-CN" altLang="en-US" dirty="0">
                <a:latin typeface="宋体" panose="02010600030101010101" pitchFamily="2" charset="-122"/>
              </a:rPr>
              <a:t>如图</a:t>
            </a:r>
            <a:r>
              <a:rPr lang="zh-CN" altLang="en-US" dirty="0">
                <a:cs typeface="Times New Roman" panose="02020603050405020304" pitchFamily="18" charset="0"/>
              </a:rPr>
              <a:t>6-33</a:t>
            </a:r>
            <a:r>
              <a:rPr lang="zh-CN" altLang="en-US" dirty="0">
                <a:latin typeface="宋体" panose="02010600030101010101" pitchFamily="2" charset="-122"/>
              </a:rPr>
              <a:t>所示</a:t>
            </a:r>
            <a:r>
              <a:rPr lang="zh-CN" altLang="en-US" dirty="0"/>
              <a:t> 。</a:t>
            </a:r>
            <a:endParaRPr lang="zh-CN" altLang="en-US" dirty="0"/>
          </a:p>
        </p:txBody>
      </p:sp>
      <p:grpSp>
        <p:nvGrpSpPr>
          <p:cNvPr id="4" name="组合 3"/>
          <p:cNvGrpSpPr/>
          <p:nvPr/>
        </p:nvGrpSpPr>
        <p:grpSpPr>
          <a:xfrm>
            <a:off x="3798373" y="191601"/>
            <a:ext cx="4595254" cy="1109044"/>
            <a:chOff x="3279913" y="488294"/>
            <a:chExt cx="4595254" cy="1109044"/>
          </a:xfrm>
        </p:grpSpPr>
        <p:grpSp>
          <p:nvGrpSpPr>
            <p:cNvPr id="5" name="组合 4"/>
            <p:cNvGrpSpPr/>
            <p:nvPr/>
          </p:nvGrpSpPr>
          <p:grpSpPr>
            <a:xfrm>
              <a:off x="3279913" y="909457"/>
              <a:ext cx="4595254" cy="687881"/>
              <a:chOff x="3279913" y="909457"/>
              <a:chExt cx="4595254" cy="687881"/>
            </a:xfrm>
          </p:grpSpPr>
          <p:sp>
            <p:nvSpPr>
              <p:cNvPr id="159" name="矩形: 圆角 9"/>
              <p:cNvSpPr/>
              <p:nvPr/>
            </p:nvSpPr>
            <p:spPr>
              <a:xfrm>
                <a:off x="3279913" y="909457"/>
                <a:ext cx="4595254"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2943434" cy="535531"/>
              </a:xfrm>
              <a:prstGeom prst="rect">
                <a:avLst/>
              </a:prstGeom>
              <a:noFill/>
            </p:spPr>
            <p:txBody>
              <a:bodyPr wrap="none" rtlCol="0" anchor="t">
                <a:spAutoFit/>
              </a:bodyPr>
              <a:lstStyle/>
              <a:p>
                <a:pPr lvl="0" fontAlgn="base">
                  <a:lnSpc>
                    <a:spcPct val="90000"/>
                  </a:lnSpc>
                  <a:spcBef>
                    <a:spcPts val="1000"/>
                  </a:spcBef>
                  <a:spcAft>
                    <a:spcPct val="0"/>
                  </a:spcAft>
                  <a:defRPr/>
                </a:pPr>
                <a:r>
                  <a:rPr lang="en-US" altLang="zh-CN"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IDS</a:t>
                </a: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的基本概念</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188570" y="5950662"/>
            <a:ext cx="5318449" cy="720726"/>
          </a:xfrm>
        </p:spPr>
        <p:txBody>
          <a:bodyPr/>
          <a:lstStyle/>
          <a:p>
            <a:r>
              <a:rPr lang="zh-CN" altLang="en-US" dirty="0" smtClean="0">
                <a:latin typeface="Times New Roman" panose="02020603050405020304" pitchFamily="18" charset="0"/>
              </a:rPr>
              <a:t>图</a:t>
            </a:r>
            <a:r>
              <a:rPr lang="en-US" altLang="zh-CN" dirty="0" smtClean="0">
                <a:latin typeface="Times New Roman" panose="02020603050405020304" pitchFamily="18" charset="0"/>
              </a:rPr>
              <a:t>5</a:t>
            </a:r>
            <a:r>
              <a:rPr lang="zh-CN" altLang="en-US" dirty="0" smtClean="0">
                <a:latin typeface="Times New Roman" panose="02020603050405020304" pitchFamily="18" charset="0"/>
              </a:rPr>
              <a:t>-</a:t>
            </a:r>
            <a:r>
              <a:rPr lang="en-US" altLang="zh-CN" dirty="0" smtClean="0">
                <a:latin typeface="Times New Roman" panose="02020603050405020304" pitchFamily="18" charset="0"/>
              </a:rPr>
              <a:t>2</a:t>
            </a:r>
            <a:r>
              <a:rPr lang="zh-CN" altLang="en-US" dirty="0" smtClean="0">
                <a:latin typeface="Times New Roman" panose="02020603050405020304" pitchFamily="18" charset="0"/>
              </a:rPr>
              <a:t>3  </a:t>
            </a:r>
            <a:r>
              <a:rPr lang="zh-CN" altLang="en-US" dirty="0">
                <a:latin typeface="Times New Roman" panose="02020603050405020304" pitchFamily="18" charset="0"/>
              </a:rPr>
              <a:t>入侵检测模型</a:t>
            </a:r>
            <a:endParaRPr lang="zh-CN" altLang="en-US" dirty="0">
              <a:latin typeface="Times New Roman" panose="02020603050405020304" pitchFamily="18" charset="0"/>
            </a:endParaRPr>
          </a:p>
        </p:txBody>
      </p:sp>
      <p:sp>
        <p:nvSpPr>
          <p:cNvPr id="33795" name="Text Box 3"/>
          <p:cNvSpPr txBox="1">
            <a:spLocks noChangeArrowheads="1"/>
          </p:cNvSpPr>
          <p:nvPr/>
        </p:nvSpPr>
        <p:spPr bwMode="auto">
          <a:xfrm>
            <a:off x="5663357" y="4398802"/>
            <a:ext cx="1473200" cy="328613"/>
          </a:xfrm>
          <a:prstGeom prst="rect">
            <a:avLst/>
          </a:prstGeom>
          <a:noFill/>
          <a:ln>
            <a:noFill/>
          </a:ln>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ctr" eaLnBrk="0" hangingPunct="0"/>
            <a:r>
              <a:rPr lang="zh-CN" altLang="en-US"/>
              <a:t>更新</a:t>
            </a:r>
            <a:r>
              <a:rPr lang="en-US" altLang="zh-CN"/>
              <a:t>Profile</a:t>
            </a:r>
            <a:endParaRPr lang="en-US" altLang="zh-CN"/>
          </a:p>
        </p:txBody>
      </p:sp>
      <p:sp>
        <p:nvSpPr>
          <p:cNvPr id="33796" name="Text Box 4"/>
          <p:cNvSpPr txBox="1">
            <a:spLocks noChangeArrowheads="1"/>
          </p:cNvSpPr>
          <p:nvPr/>
        </p:nvSpPr>
        <p:spPr bwMode="auto">
          <a:xfrm>
            <a:off x="5607796" y="3782852"/>
            <a:ext cx="1392237" cy="346075"/>
          </a:xfrm>
          <a:prstGeom prst="rect">
            <a:avLst/>
          </a:prstGeom>
          <a:noFill/>
          <a:ln>
            <a:noFill/>
          </a:ln>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ctr" eaLnBrk="0" hangingPunct="0"/>
            <a:r>
              <a:rPr lang="zh-CN" altLang="en-US"/>
              <a:t>异常记录</a:t>
            </a:r>
            <a:endParaRPr lang="zh-CN" altLang="en-US"/>
          </a:p>
        </p:txBody>
      </p:sp>
      <p:sp>
        <p:nvSpPr>
          <p:cNvPr id="33797" name="Text Box 5"/>
          <p:cNvSpPr txBox="1">
            <a:spLocks noChangeArrowheads="1"/>
          </p:cNvSpPr>
          <p:nvPr/>
        </p:nvSpPr>
        <p:spPr bwMode="auto">
          <a:xfrm>
            <a:off x="3718670" y="5019514"/>
            <a:ext cx="709612" cy="330200"/>
          </a:xfrm>
          <a:prstGeom prst="rect">
            <a:avLst/>
          </a:prstGeom>
          <a:noFill/>
          <a:ln>
            <a:noFill/>
          </a:ln>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ctr" eaLnBrk="0" hangingPunct="0"/>
            <a:r>
              <a:rPr lang="zh-CN" altLang="en-US"/>
              <a:t>更新</a:t>
            </a:r>
            <a:endParaRPr lang="zh-CN" altLang="en-US"/>
          </a:p>
        </p:txBody>
      </p:sp>
      <p:sp>
        <p:nvSpPr>
          <p:cNvPr id="33798" name="Text Box 6"/>
          <p:cNvSpPr txBox="1">
            <a:spLocks noChangeArrowheads="1"/>
          </p:cNvSpPr>
          <p:nvPr/>
        </p:nvSpPr>
        <p:spPr bwMode="auto">
          <a:xfrm>
            <a:off x="8112871" y="5019514"/>
            <a:ext cx="708025" cy="330200"/>
          </a:xfrm>
          <a:prstGeom prst="rect">
            <a:avLst/>
          </a:prstGeom>
          <a:noFill/>
          <a:ln>
            <a:noFill/>
          </a:ln>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ctr" eaLnBrk="0" hangingPunct="0"/>
            <a:r>
              <a:rPr lang="zh-CN" altLang="en-US"/>
              <a:t>更新</a:t>
            </a:r>
            <a:endParaRPr lang="zh-CN" altLang="en-US"/>
          </a:p>
        </p:txBody>
      </p:sp>
      <p:sp>
        <p:nvSpPr>
          <p:cNvPr id="33799" name="Oval 7"/>
          <p:cNvSpPr>
            <a:spLocks noChangeArrowheads="1"/>
          </p:cNvSpPr>
          <p:nvPr/>
        </p:nvSpPr>
        <p:spPr bwMode="auto">
          <a:xfrm>
            <a:off x="4848970" y="1836577"/>
            <a:ext cx="3079750" cy="549275"/>
          </a:xfrm>
          <a:prstGeom prst="ellipse">
            <a:avLst/>
          </a:prstGeom>
          <a:solidFill>
            <a:srgbClr val="FF99CC"/>
          </a:solidFill>
          <a:ln w="9525">
            <a:solidFill>
              <a:schemeClr val="tx1"/>
            </a:solidFill>
            <a:round/>
          </a:ln>
        </p:spPr>
        <p:txBody>
          <a:bodyPr lIns="54000" tIns="10800" rIns="54000" bIns="10800"/>
          <a:lstStyle/>
          <a:p>
            <a:pPr algn="ctr" eaLnBrk="0" hangingPunct="0"/>
            <a:r>
              <a:rPr lang="zh-CN" altLang="en-US">
                <a:solidFill>
                  <a:schemeClr val="bg2"/>
                </a:solidFill>
              </a:rPr>
              <a:t>审计/网络数据</a:t>
            </a:r>
            <a:endParaRPr lang="zh-CN" altLang="en-US">
              <a:solidFill>
                <a:schemeClr val="bg2"/>
              </a:solidFill>
            </a:endParaRPr>
          </a:p>
        </p:txBody>
      </p:sp>
      <p:sp>
        <p:nvSpPr>
          <p:cNvPr id="33800" name="Rectangle 8"/>
          <p:cNvSpPr>
            <a:spLocks noChangeArrowheads="1"/>
          </p:cNvSpPr>
          <p:nvPr/>
        </p:nvSpPr>
        <p:spPr bwMode="auto">
          <a:xfrm>
            <a:off x="5472857" y="2858926"/>
            <a:ext cx="1828800" cy="395288"/>
          </a:xfrm>
          <a:prstGeom prst="rect">
            <a:avLst/>
          </a:prstGeom>
          <a:solidFill>
            <a:srgbClr val="FF99CC"/>
          </a:solidFill>
          <a:ln w="9525">
            <a:solidFill>
              <a:schemeClr val="tx1"/>
            </a:solidFill>
            <a:miter lim="800000"/>
          </a:ln>
        </p:spPr>
        <p:txBody>
          <a:bodyPr lIns="54000" tIns="10800" rIns="54000" bIns="10800"/>
          <a:lstStyle/>
          <a:p>
            <a:pPr algn="ctr" eaLnBrk="0" hangingPunct="0"/>
            <a:r>
              <a:rPr lang="zh-CN" altLang="en-US">
                <a:solidFill>
                  <a:schemeClr val="bg2"/>
                </a:solidFill>
              </a:rPr>
              <a:t>事件产生器</a:t>
            </a:r>
            <a:endParaRPr lang="zh-CN" altLang="en-US">
              <a:solidFill>
                <a:schemeClr val="bg2"/>
              </a:solidFill>
            </a:endParaRPr>
          </a:p>
        </p:txBody>
      </p:sp>
      <p:sp>
        <p:nvSpPr>
          <p:cNvPr id="33801" name="Text Box 9"/>
          <p:cNvSpPr txBox="1">
            <a:spLocks noChangeArrowheads="1"/>
          </p:cNvSpPr>
          <p:nvPr/>
        </p:nvSpPr>
        <p:spPr bwMode="auto">
          <a:xfrm>
            <a:off x="3240833" y="3959065"/>
            <a:ext cx="1909763" cy="636587"/>
          </a:xfrm>
          <a:prstGeom prst="rect">
            <a:avLst/>
          </a:prstGeom>
          <a:solidFill>
            <a:srgbClr val="FF99CC"/>
          </a:solidFill>
          <a:ln w="9525">
            <a:solidFill>
              <a:schemeClr val="tx1"/>
            </a:solidFill>
            <a:miter lim="800000"/>
          </a:ln>
        </p:spPr>
        <p:txBody>
          <a:bodyPr tIns="82800"/>
          <a:lstStyle/>
          <a:p>
            <a:pPr algn="just" eaLnBrk="0" hangingPunct="0"/>
            <a:r>
              <a:rPr lang="zh-CN" altLang="en-US">
                <a:solidFill>
                  <a:schemeClr val="bg2"/>
                </a:solidFill>
              </a:rPr>
              <a:t>活动</a:t>
            </a:r>
            <a:r>
              <a:rPr lang="en-US" altLang="zh-CN">
                <a:solidFill>
                  <a:schemeClr val="bg2"/>
                </a:solidFill>
              </a:rPr>
              <a:t>Profile</a:t>
            </a:r>
            <a:endParaRPr lang="en-US" altLang="zh-CN">
              <a:solidFill>
                <a:schemeClr val="bg2"/>
              </a:solidFill>
            </a:endParaRPr>
          </a:p>
        </p:txBody>
      </p:sp>
      <p:sp>
        <p:nvSpPr>
          <p:cNvPr id="33802" name="Text Box 10"/>
          <p:cNvSpPr txBox="1">
            <a:spLocks noChangeArrowheads="1"/>
          </p:cNvSpPr>
          <p:nvPr/>
        </p:nvSpPr>
        <p:spPr bwMode="auto">
          <a:xfrm>
            <a:off x="7771558" y="3959065"/>
            <a:ext cx="1336675" cy="636587"/>
          </a:xfrm>
          <a:prstGeom prst="rect">
            <a:avLst/>
          </a:prstGeom>
          <a:solidFill>
            <a:srgbClr val="FF99CC"/>
          </a:solidFill>
          <a:ln w="9525">
            <a:solidFill>
              <a:schemeClr val="tx1"/>
            </a:solidFill>
            <a:miter lim="800000"/>
          </a:ln>
        </p:spPr>
        <p:txBody>
          <a:bodyPr tIns="82800"/>
          <a:lstStyle/>
          <a:p>
            <a:pPr algn="just" eaLnBrk="0" hangingPunct="0"/>
            <a:r>
              <a:rPr lang="zh-CN" altLang="en-US">
                <a:solidFill>
                  <a:schemeClr val="bg2"/>
                </a:solidFill>
              </a:rPr>
              <a:t>规则集</a:t>
            </a:r>
            <a:endParaRPr lang="zh-CN" altLang="en-US">
              <a:solidFill>
                <a:schemeClr val="bg2"/>
              </a:solidFill>
            </a:endParaRPr>
          </a:p>
        </p:txBody>
      </p:sp>
      <p:sp>
        <p:nvSpPr>
          <p:cNvPr id="33803" name="Line 11"/>
          <p:cNvSpPr>
            <a:spLocks noChangeShapeType="1"/>
          </p:cNvSpPr>
          <p:nvPr/>
        </p:nvSpPr>
        <p:spPr bwMode="auto">
          <a:xfrm>
            <a:off x="6399957" y="2385851"/>
            <a:ext cx="0" cy="4841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4" name="Line 12"/>
          <p:cNvSpPr>
            <a:spLocks noChangeShapeType="1"/>
          </p:cNvSpPr>
          <p:nvPr/>
        </p:nvSpPr>
        <p:spPr bwMode="auto">
          <a:xfrm flipH="1">
            <a:off x="4188570" y="3265326"/>
            <a:ext cx="1719262" cy="70485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5" name="Line 13"/>
          <p:cNvSpPr>
            <a:spLocks noChangeShapeType="1"/>
          </p:cNvSpPr>
          <p:nvPr/>
        </p:nvSpPr>
        <p:spPr bwMode="auto">
          <a:xfrm>
            <a:off x="6780958" y="3265327"/>
            <a:ext cx="1611313" cy="6826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6" name="Line 14"/>
          <p:cNvSpPr>
            <a:spLocks noChangeShapeType="1"/>
          </p:cNvSpPr>
          <p:nvPr/>
        </p:nvSpPr>
        <p:spPr bwMode="auto">
          <a:xfrm>
            <a:off x="5144246" y="4124164"/>
            <a:ext cx="26193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7" name="Line 15"/>
          <p:cNvSpPr>
            <a:spLocks noChangeShapeType="1"/>
          </p:cNvSpPr>
          <p:nvPr/>
        </p:nvSpPr>
        <p:spPr bwMode="auto">
          <a:xfrm flipH="1">
            <a:off x="5144246" y="4387689"/>
            <a:ext cx="26193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8" name="Freeform 16"/>
          <p:cNvSpPr/>
          <p:nvPr/>
        </p:nvSpPr>
        <p:spPr bwMode="auto">
          <a:xfrm>
            <a:off x="3615482" y="4606764"/>
            <a:ext cx="819150" cy="374650"/>
          </a:xfrm>
          <a:custGeom>
            <a:avLst/>
            <a:gdLst>
              <a:gd name="T0" fmla="*/ 0 w 600"/>
              <a:gd name="T1" fmla="*/ 0 h 360"/>
              <a:gd name="T2" fmla="*/ 0 w 600"/>
              <a:gd name="T3" fmla="*/ 360 h 360"/>
              <a:gd name="T4" fmla="*/ 600 w 600"/>
              <a:gd name="T5" fmla="*/ 360 h 360"/>
              <a:gd name="T6" fmla="*/ 600 w 600"/>
              <a:gd name="T7" fmla="*/ 0 h 360"/>
            </a:gdLst>
            <a:ahLst/>
            <a:cxnLst>
              <a:cxn ang="0">
                <a:pos x="T0" y="T1"/>
              </a:cxn>
              <a:cxn ang="0">
                <a:pos x="T2" y="T3"/>
              </a:cxn>
              <a:cxn ang="0">
                <a:pos x="T4" y="T5"/>
              </a:cxn>
              <a:cxn ang="0">
                <a:pos x="T6" y="T7"/>
              </a:cxn>
            </a:cxnLst>
            <a:rect l="0" t="0" r="r" b="b"/>
            <a:pathLst>
              <a:path w="600" h="360">
                <a:moveTo>
                  <a:pt x="0" y="0"/>
                </a:moveTo>
                <a:lnTo>
                  <a:pt x="0" y="360"/>
                </a:lnTo>
                <a:lnTo>
                  <a:pt x="600" y="360"/>
                </a:lnTo>
                <a:lnTo>
                  <a:pt x="600" y="0"/>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99CC"/>
                </a:solidFill>
              </a14:hiddenFill>
            </a:ext>
          </a:extLst>
        </p:spPr>
        <p:txBody>
          <a:bodyPr/>
          <a:lstStyle/>
          <a:p>
            <a:endParaRPr lang="zh-CN" altLang="en-US"/>
          </a:p>
        </p:txBody>
      </p:sp>
      <p:sp>
        <p:nvSpPr>
          <p:cNvPr id="33809" name="Freeform 17"/>
          <p:cNvSpPr/>
          <p:nvPr/>
        </p:nvSpPr>
        <p:spPr bwMode="auto">
          <a:xfrm>
            <a:off x="8044608" y="4613114"/>
            <a:ext cx="817563" cy="373062"/>
          </a:xfrm>
          <a:custGeom>
            <a:avLst/>
            <a:gdLst>
              <a:gd name="T0" fmla="*/ 0 w 600"/>
              <a:gd name="T1" fmla="*/ 0 h 360"/>
              <a:gd name="T2" fmla="*/ 0 w 600"/>
              <a:gd name="T3" fmla="*/ 360 h 360"/>
              <a:gd name="T4" fmla="*/ 600 w 600"/>
              <a:gd name="T5" fmla="*/ 360 h 360"/>
              <a:gd name="T6" fmla="*/ 600 w 600"/>
              <a:gd name="T7" fmla="*/ 0 h 360"/>
            </a:gdLst>
            <a:ahLst/>
            <a:cxnLst>
              <a:cxn ang="0">
                <a:pos x="T0" y="T1"/>
              </a:cxn>
              <a:cxn ang="0">
                <a:pos x="T2" y="T3"/>
              </a:cxn>
              <a:cxn ang="0">
                <a:pos x="T4" y="T5"/>
              </a:cxn>
              <a:cxn ang="0">
                <a:pos x="T6" y="T7"/>
              </a:cxn>
            </a:cxnLst>
            <a:rect l="0" t="0" r="r" b="b"/>
            <a:pathLst>
              <a:path w="600" h="360">
                <a:moveTo>
                  <a:pt x="0" y="0"/>
                </a:moveTo>
                <a:lnTo>
                  <a:pt x="0" y="360"/>
                </a:lnTo>
                <a:lnTo>
                  <a:pt x="600" y="360"/>
                </a:lnTo>
                <a:lnTo>
                  <a:pt x="600" y="0"/>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99CC"/>
                </a:solid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idx="1"/>
          </p:nvPr>
        </p:nvSpPr>
        <p:spPr/>
        <p:txBody>
          <a:bodyPr/>
          <a:lstStyle/>
          <a:p>
            <a:r>
              <a:rPr lang="zh-CN" altLang="en-US" dirty="0">
                <a:latin typeface="宋体" panose="02010600030101010101" pitchFamily="2" charset="-122"/>
              </a:rPr>
              <a:t>一般来说，</a:t>
            </a:r>
            <a:r>
              <a:rPr lang="en-US" altLang="zh-CN" dirty="0">
                <a:cs typeface="Times New Roman" panose="02020603050405020304" pitchFamily="18" charset="0"/>
              </a:rPr>
              <a:t>IDS</a:t>
            </a:r>
            <a:r>
              <a:rPr lang="zh-CN" altLang="en-US" dirty="0">
                <a:latin typeface="宋体" panose="02010600030101010101" pitchFamily="2" charset="-122"/>
              </a:rPr>
              <a:t>系统检测的各种活动包括：入侵，包括入侵企图和成功的入侵；伪装；合法用户的渗透；合法用户的泄露；合法用户的推断；特洛伊木马；病毒；拒绝服务。</a:t>
            </a:r>
            <a:r>
              <a:rPr lang="zh-CN" altLang="en-US" dirty="0"/>
              <a:t> </a:t>
            </a:r>
            <a:endParaRPr lang="zh-CN" altLang="en-US" dirty="0"/>
          </a:p>
        </p:txBody>
      </p:sp>
      <p:grpSp>
        <p:nvGrpSpPr>
          <p:cNvPr id="4" name="组合 3"/>
          <p:cNvGrpSpPr/>
          <p:nvPr/>
        </p:nvGrpSpPr>
        <p:grpSpPr>
          <a:xfrm>
            <a:off x="3837283" y="191601"/>
            <a:ext cx="4517433" cy="1109044"/>
            <a:chOff x="3279913" y="488294"/>
            <a:chExt cx="4517433" cy="1109044"/>
          </a:xfrm>
        </p:grpSpPr>
        <p:grpSp>
          <p:nvGrpSpPr>
            <p:cNvPr id="5" name="组合 4"/>
            <p:cNvGrpSpPr/>
            <p:nvPr/>
          </p:nvGrpSpPr>
          <p:grpSpPr>
            <a:xfrm>
              <a:off x="3279913" y="909457"/>
              <a:ext cx="4517433" cy="687881"/>
              <a:chOff x="3279913" y="909457"/>
              <a:chExt cx="4517433" cy="687881"/>
            </a:xfrm>
          </p:grpSpPr>
          <p:sp>
            <p:nvSpPr>
              <p:cNvPr id="159" name="矩形: 圆角 9"/>
              <p:cNvSpPr/>
              <p:nvPr/>
            </p:nvSpPr>
            <p:spPr>
              <a:xfrm>
                <a:off x="3279913" y="909457"/>
                <a:ext cx="4517433"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2943434" cy="535531"/>
              </a:xfrm>
              <a:prstGeom prst="rect">
                <a:avLst/>
              </a:prstGeom>
              <a:noFill/>
            </p:spPr>
            <p:txBody>
              <a:bodyPr wrap="none" rtlCol="0" anchor="t">
                <a:spAutoFit/>
              </a:bodyPr>
              <a:lstStyle/>
              <a:p>
                <a:pPr lvl="0" fontAlgn="base">
                  <a:lnSpc>
                    <a:spcPct val="90000"/>
                  </a:lnSpc>
                  <a:spcBef>
                    <a:spcPts val="1000"/>
                  </a:spcBef>
                  <a:spcAft>
                    <a:spcPct val="0"/>
                  </a:spcAft>
                  <a:defRPr/>
                </a:pPr>
                <a:r>
                  <a:rPr lang="en-US" altLang="zh-CN"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IDS</a:t>
                </a: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检测的活动</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en-US" b="1">
                <a:latin typeface="宋体" panose="02010600030101010101" pitchFamily="2" charset="-122"/>
              </a:rPr>
              <a:t>（</a:t>
            </a:r>
            <a:r>
              <a:rPr lang="zh-CN" altLang="en-US" b="1">
                <a:latin typeface="Times New Roman" panose="02020603050405020304" pitchFamily="18" charset="0"/>
                <a:cs typeface="Times New Roman" panose="02020603050405020304" pitchFamily="18" charset="0"/>
              </a:rPr>
              <a:t>1</a:t>
            </a:r>
            <a:r>
              <a:rPr lang="zh-CN" altLang="en-US" b="1">
                <a:latin typeface="宋体" panose="02010600030101010101" pitchFamily="2" charset="-122"/>
              </a:rPr>
              <a:t>）入侵</a:t>
            </a:r>
            <a:r>
              <a:rPr lang="zh-CN" altLang="en-US">
                <a:latin typeface="宋体" panose="02010600030101010101" pitchFamily="2" charset="-122"/>
              </a:rPr>
              <a:t>。</a:t>
            </a:r>
            <a:endParaRPr lang="zh-CN" altLang="en-US">
              <a:latin typeface="宋体" panose="02010600030101010101" pitchFamily="2" charset="-122"/>
            </a:endParaRPr>
          </a:p>
        </p:txBody>
      </p:sp>
      <p:sp>
        <p:nvSpPr>
          <p:cNvPr id="35843" name="Rectangle 3"/>
          <p:cNvSpPr>
            <a:spLocks noGrp="1" noChangeArrowheads="1"/>
          </p:cNvSpPr>
          <p:nvPr>
            <p:ph type="body" idx="1"/>
          </p:nvPr>
        </p:nvSpPr>
        <p:spPr/>
        <p:txBody>
          <a:bodyPr/>
          <a:lstStyle/>
          <a:p>
            <a:r>
              <a:rPr lang="zh-CN" altLang="en-US">
                <a:latin typeface="宋体" panose="02010600030101010101" pitchFamily="2" charset="-122"/>
              </a:rPr>
              <a:t>它是对计算机系统最常见的威胁，并在各种新闻媒体中常有黑客对某个计算机系统或网络入侵的报道。入侵就是非授权用户通过某种方法获得系统或网络的访问权，而对系统和网络进行的非法访问。只对审计文件中针对系统失败的登录企图还是不够的，因为合法用户也经常出现输入密码错误而出现登录失败。列出失败的登录企图只是</a:t>
            </a:r>
            <a:r>
              <a:rPr lang="en-US" altLang="zh-CN">
                <a:cs typeface="Times New Roman" panose="02020603050405020304" pitchFamily="18" charset="0"/>
              </a:rPr>
              <a:t>IDS</a:t>
            </a:r>
            <a:r>
              <a:rPr lang="zh-CN" altLang="en-US">
                <a:latin typeface="宋体" panose="02010600030101010101" pitchFamily="2" charset="-122"/>
              </a:rPr>
              <a:t>系统要做第一步。</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b="1">
                <a:latin typeface="宋体" panose="02010600030101010101" pitchFamily="2" charset="-122"/>
              </a:rPr>
              <a:t>（</a:t>
            </a:r>
            <a:r>
              <a:rPr lang="zh-CN" altLang="en-US" b="1">
                <a:latin typeface="Times New Roman" panose="02020603050405020304" pitchFamily="18" charset="0"/>
                <a:cs typeface="Times New Roman" panose="02020603050405020304" pitchFamily="18" charset="0"/>
              </a:rPr>
              <a:t>2</a:t>
            </a:r>
            <a:r>
              <a:rPr lang="zh-CN" altLang="en-US" b="1">
                <a:latin typeface="宋体" panose="02010600030101010101" pitchFamily="2" charset="-122"/>
              </a:rPr>
              <a:t>）伪装</a:t>
            </a:r>
            <a:r>
              <a:rPr lang="zh-CN" altLang="en-US">
                <a:latin typeface="宋体" panose="02010600030101010101" pitchFamily="2" charset="-122"/>
              </a:rPr>
              <a:t>。</a:t>
            </a:r>
            <a:endParaRPr lang="zh-CN" altLang="en-US">
              <a:latin typeface="宋体" panose="02010600030101010101" pitchFamily="2" charset="-122"/>
            </a:endParaRPr>
          </a:p>
        </p:txBody>
      </p:sp>
      <p:sp>
        <p:nvSpPr>
          <p:cNvPr id="36867" name="Rectangle 3"/>
          <p:cNvSpPr>
            <a:spLocks noGrp="1" noChangeArrowheads="1"/>
          </p:cNvSpPr>
          <p:nvPr>
            <p:ph type="body" idx="1"/>
          </p:nvPr>
        </p:nvSpPr>
        <p:spPr/>
        <p:txBody>
          <a:bodyPr/>
          <a:lstStyle/>
          <a:p>
            <a:r>
              <a:rPr lang="zh-CN" altLang="en-US">
                <a:latin typeface="宋体" panose="02010600030101010101" pitchFamily="2" charset="-122"/>
              </a:rPr>
              <a:t>伪装和入侵通常是密不可分的，它常表现为一个非法用户为了获得某个用户的帐号而假冒该用户；它也经常表现为假冒另一个用户，对发往某个用户的文件或消息进行修改。</a:t>
            </a:r>
            <a:r>
              <a:rPr lang="zh-CN" altLang="en-US"/>
              <a:t> </a:t>
            </a:r>
            <a:endParaRPr lang="zh-CN" altLang="en-US"/>
          </a:p>
          <a:p>
            <a:r>
              <a:rPr lang="zh-CN" altLang="en-US" b="1">
                <a:latin typeface="宋体" panose="02010600030101010101" pitchFamily="2" charset="-122"/>
              </a:rPr>
              <a:t>（</a:t>
            </a:r>
            <a:r>
              <a:rPr lang="zh-CN" altLang="en-US" b="1">
                <a:cs typeface="Times New Roman" panose="02020603050405020304" pitchFamily="18" charset="0"/>
              </a:rPr>
              <a:t>3</a:t>
            </a:r>
            <a:r>
              <a:rPr lang="zh-CN" altLang="en-US" b="1">
                <a:latin typeface="宋体" panose="02010600030101010101" pitchFamily="2" charset="-122"/>
              </a:rPr>
              <a:t>）合法用户的渗透</a:t>
            </a:r>
            <a:r>
              <a:rPr lang="zh-CN" altLang="en-US">
                <a:latin typeface="宋体" panose="02010600030101010101" pitchFamily="2" charset="-122"/>
              </a:rPr>
              <a:t>。它与入侵有些类似，表现为一个系统或网络的合法用户试图获得超过其本身被授予的权限。例如，一个用户试图获得系统管理员的权限。</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zh-CN" altLang="en-US" b="1">
                <a:latin typeface="宋体" panose="02010600030101010101" pitchFamily="2" charset="-122"/>
              </a:rPr>
              <a:t>（</a:t>
            </a:r>
            <a:r>
              <a:rPr lang="zh-CN" altLang="en-US" b="1">
                <a:latin typeface="Times New Roman" panose="02020603050405020304" pitchFamily="18" charset="0"/>
                <a:cs typeface="Times New Roman" panose="02020603050405020304" pitchFamily="18" charset="0"/>
              </a:rPr>
              <a:t>4</a:t>
            </a:r>
            <a:r>
              <a:rPr lang="zh-CN" altLang="en-US" b="1">
                <a:latin typeface="宋体" panose="02010600030101010101" pitchFamily="2" charset="-122"/>
              </a:rPr>
              <a:t>）合法用户的泄漏</a:t>
            </a:r>
            <a:r>
              <a:rPr lang="zh-CN" altLang="en-US">
                <a:latin typeface="宋体" panose="02010600030101010101" pitchFamily="2" charset="-122"/>
              </a:rPr>
              <a:t>。</a:t>
            </a:r>
            <a:endParaRPr lang="zh-CN" altLang="en-US">
              <a:latin typeface="宋体" panose="02010600030101010101" pitchFamily="2" charset="-122"/>
            </a:endParaRPr>
          </a:p>
        </p:txBody>
      </p:sp>
      <p:sp>
        <p:nvSpPr>
          <p:cNvPr id="37891" name="Rectangle 3"/>
          <p:cNvSpPr>
            <a:spLocks noGrp="1" noChangeArrowheads="1"/>
          </p:cNvSpPr>
          <p:nvPr>
            <p:ph type="body" idx="1"/>
          </p:nvPr>
        </p:nvSpPr>
        <p:spPr/>
        <p:txBody>
          <a:bodyPr/>
          <a:lstStyle/>
          <a:p>
            <a:r>
              <a:rPr lang="zh-CN" altLang="en-US">
                <a:latin typeface="宋体" panose="02010600030101010101" pitchFamily="2" charset="-122"/>
              </a:rPr>
              <a:t>这是在多级安全系统中最为令人关注的问题。例如，拥有对最高密级信息访问权的用户向只有访问一般保密级别信息的用户传送文件时，就要受到</a:t>
            </a:r>
            <a:r>
              <a:rPr lang="en-US" altLang="zh-CN">
                <a:cs typeface="Times New Roman" panose="02020603050405020304" pitchFamily="18" charset="0"/>
              </a:rPr>
              <a:t>IDS</a:t>
            </a:r>
            <a:r>
              <a:rPr lang="zh-CN" altLang="en-US">
                <a:latin typeface="宋体" panose="02010600030101010101" pitchFamily="2" charset="-122"/>
              </a:rPr>
              <a:t>系统的检测。合法用户的泄露也常常表现为在没有访问文件资格的用户的打印机上打印文件，或者在没有处理文件权利的机器上存储文件等。</a:t>
            </a:r>
            <a:r>
              <a:rPr lang="zh-CN" altLang="en-US"/>
              <a:t> </a:t>
            </a:r>
            <a:endParaRPr lang="zh-CN" alt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zh-CN" altLang="en-US" b="1">
                <a:latin typeface="宋体" panose="02010600030101010101" pitchFamily="2" charset="-122"/>
              </a:rPr>
              <a:t>（</a:t>
            </a:r>
            <a:r>
              <a:rPr lang="zh-CN" altLang="en-US" b="1">
                <a:latin typeface="Times New Roman" panose="02020603050405020304" pitchFamily="18" charset="0"/>
                <a:cs typeface="Times New Roman" panose="02020603050405020304" pitchFamily="18" charset="0"/>
              </a:rPr>
              <a:t>5</a:t>
            </a:r>
            <a:r>
              <a:rPr lang="zh-CN" altLang="en-US" b="1">
                <a:latin typeface="宋体" panose="02010600030101010101" pitchFamily="2" charset="-122"/>
              </a:rPr>
              <a:t>）合法用户的推理</a:t>
            </a:r>
            <a:r>
              <a:rPr lang="zh-CN" altLang="en-US">
                <a:latin typeface="宋体" panose="02010600030101010101" pitchFamily="2" charset="-122"/>
              </a:rPr>
              <a:t>。</a:t>
            </a:r>
            <a:endParaRPr lang="zh-CN" altLang="en-US">
              <a:latin typeface="宋体" panose="02010600030101010101" pitchFamily="2" charset="-122"/>
            </a:endParaRPr>
          </a:p>
        </p:txBody>
      </p:sp>
      <p:sp>
        <p:nvSpPr>
          <p:cNvPr id="38915" name="Rectangle 3"/>
          <p:cNvSpPr>
            <a:spLocks noGrp="1" noChangeArrowheads="1"/>
          </p:cNvSpPr>
          <p:nvPr>
            <p:ph type="body" idx="1"/>
          </p:nvPr>
        </p:nvSpPr>
        <p:spPr/>
        <p:txBody>
          <a:bodyPr/>
          <a:lstStyle/>
          <a:p>
            <a:r>
              <a:rPr lang="zh-CN" altLang="en-US">
                <a:latin typeface="宋体" panose="02010600030101010101" pitchFamily="2" charset="-122"/>
              </a:rPr>
              <a:t>它表现为通过对某些数据的分析而获得真实信息，而用户原本没有获得这些信息的权利。这是在多级数据库中常见的问题。数据库中有的存储数据并不是对所有用户开放的，然而用户通过从数据库中的其他条目能够间接地推理出某些信息。</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zh-CN" altLang="en-US" b="1">
                <a:latin typeface="宋体" panose="02010600030101010101" pitchFamily="2" charset="-122"/>
              </a:rPr>
              <a:t>（</a:t>
            </a:r>
            <a:r>
              <a:rPr lang="zh-CN" altLang="en-US" b="1">
                <a:latin typeface="Times New Roman" panose="02020603050405020304" pitchFamily="18" charset="0"/>
                <a:cs typeface="Times New Roman" panose="02020603050405020304" pitchFamily="18" charset="0"/>
              </a:rPr>
              <a:t>6</a:t>
            </a:r>
            <a:r>
              <a:rPr lang="zh-CN" altLang="en-US" b="1">
                <a:latin typeface="宋体" panose="02010600030101010101" pitchFamily="2" charset="-122"/>
              </a:rPr>
              <a:t>）特洛伊木马</a:t>
            </a:r>
            <a:r>
              <a:rPr lang="zh-CN" altLang="en-US">
                <a:latin typeface="宋体" panose="02010600030101010101" pitchFamily="2" charset="-122"/>
              </a:rPr>
              <a:t>。</a:t>
            </a:r>
            <a:endParaRPr lang="zh-CN" altLang="en-US">
              <a:latin typeface="宋体" panose="02010600030101010101" pitchFamily="2" charset="-122"/>
            </a:endParaRPr>
          </a:p>
        </p:txBody>
      </p:sp>
      <p:sp>
        <p:nvSpPr>
          <p:cNvPr id="39939" name="Rectangle 3"/>
          <p:cNvSpPr>
            <a:spLocks noGrp="1" noChangeArrowheads="1"/>
          </p:cNvSpPr>
          <p:nvPr>
            <p:ph type="body" idx="1"/>
          </p:nvPr>
        </p:nvSpPr>
        <p:spPr/>
        <p:txBody>
          <a:bodyPr/>
          <a:lstStyle/>
          <a:p>
            <a:r>
              <a:rPr lang="zh-CN" altLang="en-US">
                <a:latin typeface="宋体" panose="02010600030101010101" pitchFamily="2" charset="-122"/>
              </a:rPr>
              <a:t>这个问题我们在前面已经详细地讨论过，这里不在论述。一个</a:t>
            </a:r>
            <a:r>
              <a:rPr lang="en-US" altLang="zh-CN">
                <a:cs typeface="Times New Roman" panose="02020603050405020304" pitchFamily="18" charset="0"/>
              </a:rPr>
              <a:t>IDS</a:t>
            </a:r>
            <a:r>
              <a:rPr lang="zh-CN" altLang="en-US">
                <a:latin typeface="宋体" panose="02010600030101010101" pitchFamily="2" charset="-122"/>
              </a:rPr>
              <a:t>系统应揭露特洛伊木马的隐藏活动，它采用的一种办法是将程序实际占用的资源的类型和数量与它应该占用的类型和数量进行比较。另外，一些合法的进程如果有违反安全规则的企图，通常也意味着其代码中有隐藏的功能。</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914400" y="1001486"/>
            <a:ext cx="10363200" cy="640702"/>
          </a:xfrm>
        </p:spPr>
        <p:txBody>
          <a:bodyPr/>
          <a:lstStyle/>
          <a:p>
            <a:r>
              <a:rPr lang="zh-CN" altLang="en-US" b="1" dirty="0">
                <a:latin typeface="Times New Roman" panose="02020603050405020304" pitchFamily="18" charset="0"/>
              </a:rPr>
              <a:t>（7）病毒</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40963" name="Rectangle 3"/>
          <p:cNvSpPr>
            <a:spLocks noGrp="1" noChangeArrowheads="1"/>
          </p:cNvSpPr>
          <p:nvPr>
            <p:ph type="body" idx="1"/>
          </p:nvPr>
        </p:nvSpPr>
        <p:spPr/>
        <p:txBody>
          <a:bodyPr/>
          <a:lstStyle/>
          <a:p>
            <a:pPr algn="just"/>
            <a:r>
              <a:rPr lang="zh-CN" altLang="en-US" dirty="0"/>
              <a:t>病毒也是</a:t>
            </a:r>
            <a:r>
              <a:rPr lang="en-US" altLang="zh-CN" dirty="0"/>
              <a:t>IDS</a:t>
            </a:r>
            <a:r>
              <a:rPr lang="zh-CN" altLang="en-US" dirty="0"/>
              <a:t>要寻找、发现并揭露的威胁。</a:t>
            </a:r>
            <a:endParaRPr lang="zh-CN" altLang="en-US" dirty="0"/>
          </a:p>
          <a:p>
            <a:r>
              <a:rPr lang="zh-CN" altLang="en-US" sz="3600" b="1" dirty="0">
                <a:latin typeface="Times New Roman" panose="02020603050405020304" pitchFamily="18" charset="0"/>
                <a:ea typeface="+mj-ea"/>
                <a:cs typeface="+mj-cs"/>
              </a:rPr>
              <a:t>（8）拒绝服务</a:t>
            </a:r>
            <a:r>
              <a:rPr lang="zh-CN" altLang="en-US" sz="3600" b="1" dirty="0" smtClean="0">
                <a:latin typeface="Times New Roman" panose="02020603050405020304" pitchFamily="18" charset="0"/>
                <a:ea typeface="+mj-ea"/>
                <a:cs typeface="+mj-cs"/>
              </a:rPr>
              <a:t>。</a:t>
            </a:r>
            <a:endParaRPr lang="en-US" altLang="zh-CN" sz="3600" b="1" dirty="0" smtClean="0">
              <a:latin typeface="Times New Roman" panose="02020603050405020304" pitchFamily="18" charset="0"/>
              <a:ea typeface="+mj-ea"/>
              <a:cs typeface="+mj-cs"/>
            </a:endParaRPr>
          </a:p>
          <a:p>
            <a:r>
              <a:rPr lang="zh-CN" altLang="en-US" dirty="0" smtClean="0">
                <a:latin typeface="宋体" panose="02010600030101010101" pitchFamily="2" charset="-122"/>
              </a:rPr>
              <a:t>这</a:t>
            </a:r>
            <a:r>
              <a:rPr lang="zh-CN" altLang="en-US" dirty="0">
                <a:latin typeface="宋体" panose="02010600030101010101" pitchFamily="2" charset="-122"/>
              </a:rPr>
              <a:t>也是</a:t>
            </a:r>
            <a:r>
              <a:rPr lang="en-US" altLang="zh-CN" dirty="0">
                <a:cs typeface="Times New Roman" panose="02020603050405020304" pitchFamily="18" charset="0"/>
              </a:rPr>
              <a:t>IDS</a:t>
            </a:r>
            <a:r>
              <a:rPr lang="zh-CN" altLang="en-US" dirty="0">
                <a:latin typeface="宋体" panose="02010600030101010101" pitchFamily="2" charset="-122"/>
              </a:rPr>
              <a:t>要解决的问题之一。通常，攻击者通过对某些资源的独占而达到拒绝系统为合法用户提供服务的目的。对资源的异常请求和使用通常意味着拒绝服务攻击的开始。如果这些请求服务来自某些用户，而这些用户通常不会有这样的特殊请求时，几乎可以肯定是这种攻击。</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4000" dirty="0" smtClean="0">
                <a:solidFill>
                  <a:srgbClr val="002060"/>
                </a:solidFill>
                <a:latin typeface="思源黑体 CN Heavy" panose="020B0A00000000000000" pitchFamily="34" charset="-122"/>
                <a:ea typeface="思源黑体 CN Heavy" panose="020B0A00000000000000" pitchFamily="34" charset="-122"/>
                <a:cs typeface="+mn-ea"/>
                <a:sym typeface="+mn-lt"/>
              </a:rPr>
              <a:t>snort</a:t>
            </a:r>
            <a:r>
              <a:rPr lang="zh-CN" altLang="en-US" sz="4000" dirty="0">
                <a:solidFill>
                  <a:srgbClr val="002060"/>
                </a:solidFill>
                <a:latin typeface="思源黑体 CN Heavy" panose="020B0A00000000000000" pitchFamily="34" charset="-122"/>
                <a:ea typeface="思源黑体 CN Heavy" panose="020B0A00000000000000" pitchFamily="34" charset="-122"/>
                <a:cs typeface="+mn-ea"/>
                <a:sym typeface="+mn-lt"/>
              </a:rPr>
              <a:t>系统介绍</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en-US" altLang="zh-CN" sz="5000" b="1">
                <a:ea typeface="黑体" panose="02010609060101010101" pitchFamily="49" charset="-122"/>
              </a:rPr>
              <a:t>Snort</a:t>
            </a:r>
            <a:r>
              <a:rPr lang="zh-CN" altLang="en-US" sz="5000" b="1">
                <a:ea typeface="黑体" panose="02010609060101010101" pitchFamily="49" charset="-122"/>
              </a:rPr>
              <a:t>系统介绍</a:t>
            </a:r>
            <a:endParaRPr lang="zh-CN" altLang="en-US" sz="5000" b="1">
              <a:ea typeface="黑体" panose="02010609060101010101" pitchFamily="49" charset="-122"/>
            </a:endParaRPr>
          </a:p>
        </p:txBody>
      </p:sp>
      <p:sp>
        <p:nvSpPr>
          <p:cNvPr id="132099" name="Rectangle 3"/>
          <p:cNvSpPr>
            <a:spLocks noGrp="1" noChangeArrowheads="1"/>
          </p:cNvSpPr>
          <p:nvPr>
            <p:ph type="body" idx="1"/>
          </p:nvPr>
        </p:nvSpPr>
        <p:spPr/>
        <p:txBody>
          <a:bodyPr/>
          <a:lstStyle/>
          <a:p>
            <a:pPr algn="just"/>
            <a:r>
              <a:rPr lang="en-US" altLang="zh-CN" sz="3600" b="1">
                <a:ea typeface="黑体" panose="02010609060101010101" pitchFamily="49" charset="-122"/>
              </a:rPr>
              <a:t>Snort</a:t>
            </a:r>
            <a:r>
              <a:rPr lang="zh-CN" altLang="en-US" sz="3600" b="1">
                <a:ea typeface="黑体" panose="02010609060101010101" pitchFamily="49" charset="-122"/>
              </a:rPr>
              <a:t>的特性 </a:t>
            </a:r>
            <a:endParaRPr lang="zh-CN" altLang="en-US" sz="3600" b="1">
              <a:ea typeface="黑体" panose="02010609060101010101" pitchFamily="49" charset="-122"/>
            </a:endParaRPr>
          </a:p>
          <a:p>
            <a:pPr algn="just"/>
            <a:r>
              <a:rPr lang="en-US" altLang="zh-CN" sz="3600" b="1">
                <a:ea typeface="黑体" panose="02010609060101010101" pitchFamily="49" charset="-122"/>
              </a:rPr>
              <a:t>Snort</a:t>
            </a:r>
            <a:r>
              <a:rPr lang="zh-CN" altLang="en-US" sz="3600" b="1">
                <a:ea typeface="黑体" panose="02010609060101010101" pitchFamily="49" charset="-122"/>
              </a:rPr>
              <a:t>的检测规则 </a:t>
            </a:r>
            <a:endParaRPr lang="zh-CN" altLang="en-US" sz="3600" b="1">
              <a:ea typeface="黑体" panose="02010609060101010101" pitchFamily="49" charset="-122"/>
            </a:endParaRPr>
          </a:p>
          <a:p>
            <a:pPr algn="just"/>
            <a:r>
              <a:rPr lang="en-US" altLang="zh-CN" sz="3600" b="1">
                <a:ea typeface="黑体" panose="02010609060101010101" pitchFamily="49" charset="-122"/>
              </a:rPr>
              <a:t>Snort</a:t>
            </a:r>
            <a:r>
              <a:rPr lang="zh-CN" altLang="en-US" sz="3600" b="1">
                <a:ea typeface="黑体" panose="02010609060101010101" pitchFamily="49" charset="-122"/>
              </a:rPr>
              <a:t>的部署和运行 </a:t>
            </a:r>
            <a:endParaRPr lang="zh-CN" altLang="en-US" sz="3600" b="1">
              <a:ea typeface="黑体" panose="02010609060101010101" pitchFamily="49" charset="-122"/>
            </a:endParaRPr>
          </a:p>
          <a:p>
            <a:pPr algn="just"/>
            <a:r>
              <a:rPr lang="en-US" altLang="zh-CN" sz="3600" b="1">
                <a:ea typeface="黑体" panose="02010609060101010101" pitchFamily="49" charset="-122"/>
              </a:rPr>
              <a:t>Snort</a:t>
            </a:r>
            <a:r>
              <a:rPr lang="zh-CN" altLang="en-US" sz="3600" b="1">
                <a:ea typeface="黑体" panose="02010609060101010101" pitchFamily="49" charset="-122"/>
              </a:rPr>
              <a:t>的优化</a:t>
            </a:r>
            <a:endParaRPr lang="zh-CN" altLang="en-US" sz="3600" b="1">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en-US" altLang="zh-CN" sz="5000" b="1">
                <a:ea typeface="黑体" panose="02010609060101010101" pitchFamily="49" charset="-122"/>
              </a:rPr>
              <a:t>Snort</a:t>
            </a:r>
            <a:r>
              <a:rPr lang="zh-CN" altLang="en-US" sz="5000" b="1">
                <a:ea typeface="黑体" panose="02010609060101010101" pitchFamily="49" charset="-122"/>
              </a:rPr>
              <a:t>系统介绍</a:t>
            </a:r>
            <a:endParaRPr lang="zh-CN" altLang="en-US" sz="5000" b="1">
              <a:ea typeface="黑体" panose="02010609060101010101" pitchFamily="49" charset="-122"/>
            </a:endParaRPr>
          </a:p>
        </p:txBody>
      </p:sp>
      <p:sp>
        <p:nvSpPr>
          <p:cNvPr id="133123" name="Rectangle 3"/>
          <p:cNvSpPr>
            <a:spLocks noGrp="1" noChangeArrowheads="1"/>
          </p:cNvSpPr>
          <p:nvPr>
            <p:ph type="body" idx="1"/>
          </p:nvPr>
        </p:nvSpPr>
        <p:spPr>
          <a:xfrm>
            <a:off x="1981200" y="1600201"/>
            <a:ext cx="8229600" cy="4924425"/>
          </a:xfrm>
        </p:spPr>
        <p:txBody>
          <a:bodyPr/>
          <a:lstStyle/>
          <a:p>
            <a:pPr algn="just">
              <a:lnSpc>
                <a:spcPct val="90000"/>
              </a:lnSpc>
            </a:pPr>
            <a:r>
              <a:rPr lang="en-US" altLang="zh-CN" sz="2600" b="1">
                <a:ea typeface="黑体" panose="02010609060101010101" pitchFamily="49" charset="-122"/>
              </a:rPr>
              <a:t>Snort</a:t>
            </a:r>
            <a:r>
              <a:rPr lang="zh-CN" altLang="en-US" sz="2600" b="1">
                <a:ea typeface="黑体" panose="02010609060101010101" pitchFamily="49" charset="-122"/>
              </a:rPr>
              <a:t>是开放源码的</a:t>
            </a:r>
            <a:r>
              <a:rPr lang="en-US" altLang="zh-CN" sz="2600" b="1">
                <a:ea typeface="黑体" panose="02010609060101010101" pitchFamily="49" charset="-122"/>
              </a:rPr>
              <a:t>NIDS(network intrusion detection system，NIDS)</a:t>
            </a:r>
            <a:r>
              <a:rPr lang="zh-CN" altLang="en-US" sz="2600" b="1">
                <a:ea typeface="黑体" panose="02010609060101010101" pitchFamily="49" charset="-122"/>
              </a:rPr>
              <a:t>，可以用来在</a:t>
            </a:r>
            <a:r>
              <a:rPr lang="en-US" altLang="zh-CN" sz="2600" b="1">
                <a:ea typeface="黑体" panose="02010609060101010101" pitchFamily="49" charset="-122"/>
              </a:rPr>
              <a:t>IP</a:t>
            </a:r>
            <a:r>
              <a:rPr lang="zh-CN" altLang="en-US" sz="2600" b="1">
                <a:ea typeface="黑体" panose="02010609060101010101" pitchFamily="49" charset="-122"/>
              </a:rPr>
              <a:t>网络上进行实时的流量分析和数据报日志。</a:t>
            </a:r>
            <a:r>
              <a:rPr lang="en-US" altLang="zh-CN" sz="2600" b="1">
                <a:ea typeface="黑体" panose="02010609060101010101" pitchFamily="49" charset="-122"/>
              </a:rPr>
              <a:t>Snort</a:t>
            </a:r>
            <a:r>
              <a:rPr lang="zh-CN" altLang="en-US" sz="2600" b="1">
                <a:ea typeface="黑体" panose="02010609060101010101" pitchFamily="49" charset="-122"/>
              </a:rPr>
              <a:t>的最初开发目的是完成一个数据包嗅探器。</a:t>
            </a:r>
            <a:r>
              <a:rPr lang="en-US" altLang="zh-CN" sz="2600" b="1">
                <a:ea typeface="黑体" panose="02010609060101010101" pitchFamily="49" charset="-122"/>
              </a:rPr>
              <a:t>1998</a:t>
            </a:r>
            <a:r>
              <a:rPr lang="zh-CN" altLang="en-US" sz="2600" b="1">
                <a:ea typeface="黑体" panose="02010609060101010101" pitchFamily="49" charset="-122"/>
              </a:rPr>
              <a:t>年</a:t>
            </a:r>
            <a:r>
              <a:rPr lang="en-US" altLang="zh-CN" sz="2600" b="1">
                <a:ea typeface="黑体" panose="02010609060101010101" pitchFamily="49" charset="-122"/>
              </a:rPr>
              <a:t>11</a:t>
            </a:r>
            <a:r>
              <a:rPr lang="zh-CN" altLang="en-US" sz="2600" b="1">
                <a:ea typeface="黑体" panose="02010609060101010101" pitchFamily="49" charset="-122"/>
              </a:rPr>
              <a:t>月</a:t>
            </a:r>
            <a:r>
              <a:rPr lang="en-US" altLang="zh-CN" sz="2600" b="1">
                <a:ea typeface="黑体" panose="02010609060101010101" pitchFamily="49" charset="-122"/>
              </a:rPr>
              <a:t>Marty Roesch</a:t>
            </a:r>
            <a:r>
              <a:rPr lang="zh-CN" altLang="en-US" sz="2600" b="1">
                <a:ea typeface="黑体" panose="02010609060101010101" pitchFamily="49" charset="-122"/>
              </a:rPr>
              <a:t>编写了一个</a:t>
            </a:r>
            <a:r>
              <a:rPr lang="en-US" altLang="zh-CN" sz="2600" b="1">
                <a:ea typeface="黑体" panose="02010609060101010101" pitchFamily="49" charset="-122"/>
              </a:rPr>
              <a:t>LINUX</a:t>
            </a:r>
            <a:r>
              <a:rPr lang="zh-CN" altLang="en-US" sz="2600" b="1">
                <a:ea typeface="黑体" panose="02010609060101010101" pitchFamily="49" charset="-122"/>
              </a:rPr>
              <a:t>平台上的一个数据包嗅探软件</a:t>
            </a:r>
            <a:r>
              <a:rPr lang="en-US" altLang="zh-CN" sz="2600" b="1">
                <a:ea typeface="黑体" panose="02010609060101010101" pitchFamily="49" charset="-122"/>
              </a:rPr>
              <a:t>APE</a:t>
            </a:r>
            <a:r>
              <a:rPr lang="zh-CN" altLang="en-US" sz="2600" b="1">
                <a:ea typeface="黑体" panose="02010609060101010101" pitchFamily="49" charset="-122"/>
              </a:rPr>
              <a:t>。</a:t>
            </a:r>
            <a:r>
              <a:rPr lang="en-US" altLang="zh-CN" sz="2600" b="1">
                <a:ea typeface="黑体" panose="02010609060101010101" pitchFamily="49" charset="-122"/>
              </a:rPr>
              <a:t>1998</a:t>
            </a:r>
            <a:r>
              <a:rPr lang="zh-CN" altLang="en-US" sz="2600" b="1">
                <a:ea typeface="黑体" panose="02010609060101010101" pitchFamily="49" charset="-122"/>
              </a:rPr>
              <a:t>年</a:t>
            </a:r>
            <a:r>
              <a:rPr lang="en-US" altLang="zh-CN" sz="2600" b="1">
                <a:ea typeface="黑体" panose="02010609060101010101" pitchFamily="49" charset="-122"/>
              </a:rPr>
              <a:t>12</a:t>
            </a:r>
            <a:r>
              <a:rPr lang="zh-CN" altLang="en-US" sz="2600" b="1">
                <a:ea typeface="黑体" panose="02010609060101010101" pitchFamily="49" charset="-122"/>
              </a:rPr>
              <a:t>月</a:t>
            </a:r>
            <a:r>
              <a:rPr lang="en-US" altLang="zh-CN" sz="2600" b="1">
                <a:ea typeface="黑体" panose="02010609060101010101" pitchFamily="49" charset="-122"/>
              </a:rPr>
              <a:t>Marty Roesch </a:t>
            </a:r>
            <a:r>
              <a:rPr lang="zh-CN" altLang="en-US" sz="2600" b="1">
                <a:ea typeface="黑体" panose="02010609060101010101" pitchFamily="49" charset="-122"/>
              </a:rPr>
              <a:t>在</a:t>
            </a:r>
            <a:r>
              <a:rPr lang="en-US" altLang="zh-CN" sz="2600" b="1">
                <a:ea typeface="黑体" panose="02010609060101010101" pitchFamily="49" charset="-122"/>
              </a:rPr>
              <a:t>APE</a:t>
            </a:r>
            <a:r>
              <a:rPr lang="zh-CN" altLang="en-US" sz="2600" b="1">
                <a:ea typeface="黑体" panose="02010609060101010101" pitchFamily="49" charset="-122"/>
              </a:rPr>
              <a:t>中实现了网络数据包过滤和嗅探功能，并更名为</a:t>
            </a:r>
            <a:r>
              <a:rPr lang="en-US" altLang="zh-CN" sz="2600" b="1">
                <a:ea typeface="黑体" panose="02010609060101010101" pitchFamily="49" charset="-122"/>
              </a:rPr>
              <a:t>Snort</a:t>
            </a:r>
            <a:r>
              <a:rPr lang="zh-CN" altLang="en-US" sz="2600" b="1">
                <a:ea typeface="黑体" panose="02010609060101010101" pitchFamily="49" charset="-122"/>
              </a:rPr>
              <a:t>，当时</a:t>
            </a:r>
            <a:r>
              <a:rPr lang="en-US" altLang="zh-CN" sz="2600" b="1">
                <a:ea typeface="黑体" panose="02010609060101010101" pitchFamily="49" charset="-122"/>
              </a:rPr>
              <a:t>Snort</a:t>
            </a:r>
            <a:r>
              <a:rPr lang="zh-CN" altLang="en-US" sz="2600" b="1">
                <a:ea typeface="黑体" panose="02010609060101010101" pitchFamily="49" charset="-122"/>
              </a:rPr>
              <a:t>仅仅是一个</a:t>
            </a:r>
            <a:r>
              <a:rPr lang="en-US" altLang="zh-CN" sz="2600" b="1">
                <a:ea typeface="黑体" panose="02010609060101010101" pitchFamily="49" charset="-122"/>
              </a:rPr>
              <a:t>1600</a:t>
            </a:r>
            <a:r>
              <a:rPr lang="zh-CN" altLang="en-US" sz="2600" b="1">
                <a:ea typeface="黑体" panose="02010609060101010101" pitchFamily="49" charset="-122"/>
              </a:rPr>
              <a:t>行代码的小程序。</a:t>
            </a:r>
            <a:r>
              <a:rPr lang="en-US" altLang="zh-CN" sz="2600" b="1">
                <a:ea typeface="黑体" panose="02010609060101010101" pitchFamily="49" charset="-122"/>
              </a:rPr>
              <a:t>1999</a:t>
            </a:r>
            <a:r>
              <a:rPr lang="zh-CN" altLang="en-US" sz="2600" b="1">
                <a:ea typeface="黑体" panose="02010609060101010101" pitchFamily="49" charset="-122"/>
              </a:rPr>
              <a:t>年</a:t>
            </a:r>
            <a:r>
              <a:rPr lang="en-US" altLang="zh-CN" sz="2600" b="1">
                <a:ea typeface="黑体" panose="02010609060101010101" pitchFamily="49" charset="-122"/>
              </a:rPr>
              <a:t>Snort</a:t>
            </a:r>
            <a:r>
              <a:rPr lang="zh-CN" altLang="en-US" sz="2600" b="1">
                <a:ea typeface="黑体" panose="02010609060101010101" pitchFamily="49" charset="-122"/>
              </a:rPr>
              <a:t>增加了基于特征分析（</a:t>
            </a:r>
            <a:r>
              <a:rPr lang="en-US" altLang="zh-CN" sz="2600" b="1">
                <a:ea typeface="黑体" panose="02010609060101010101" pitchFamily="49" charset="-122"/>
              </a:rPr>
              <a:t>signature-based</a:t>
            </a:r>
            <a:r>
              <a:rPr lang="zh-CN" altLang="en-US" sz="2600" b="1">
                <a:ea typeface="黑体" panose="02010609060101010101" pitchFamily="49" charset="-122"/>
              </a:rPr>
              <a:t>）的功能，开始向入侵检测功能靠拢。</a:t>
            </a:r>
            <a:r>
              <a:rPr lang="en-US" altLang="zh-CN" sz="2600" b="1">
                <a:ea typeface="黑体" panose="02010609060101010101" pitchFamily="49" charset="-122"/>
              </a:rPr>
              <a:t>1999</a:t>
            </a:r>
            <a:r>
              <a:rPr lang="zh-CN" altLang="en-US" sz="2600" b="1">
                <a:ea typeface="黑体" panose="02010609060101010101" pitchFamily="49" charset="-122"/>
              </a:rPr>
              <a:t>年</a:t>
            </a:r>
            <a:r>
              <a:rPr lang="en-US" altLang="zh-CN" sz="2600" b="1">
                <a:ea typeface="黑体" panose="02010609060101010101" pitchFamily="49" charset="-122"/>
              </a:rPr>
              <a:t>10</a:t>
            </a:r>
            <a:r>
              <a:rPr lang="zh-CN" altLang="en-US" sz="2600" b="1">
                <a:ea typeface="黑体" panose="02010609060101010101" pitchFamily="49" charset="-122"/>
              </a:rPr>
              <a:t>月</a:t>
            </a:r>
            <a:r>
              <a:rPr lang="en-US" altLang="zh-CN" sz="2600" b="1">
                <a:ea typeface="黑体" panose="02010609060101010101" pitchFamily="49" charset="-122"/>
              </a:rPr>
              <a:t>Snort 1.5</a:t>
            </a:r>
            <a:r>
              <a:rPr lang="zh-CN" altLang="en-US" sz="2600" b="1">
                <a:ea typeface="黑体" panose="02010609060101010101" pitchFamily="49" charset="-122"/>
              </a:rPr>
              <a:t>发布。在</a:t>
            </a:r>
            <a:r>
              <a:rPr lang="en-US" altLang="zh-CN" sz="2600" b="1">
                <a:ea typeface="黑体" panose="02010609060101010101" pitchFamily="49" charset="-122"/>
              </a:rPr>
              <a:t>Snort 1.5</a:t>
            </a:r>
            <a:r>
              <a:rPr lang="zh-CN" altLang="en-US" sz="2600" b="1">
                <a:ea typeface="黑体" panose="02010609060101010101" pitchFamily="49" charset="-122"/>
              </a:rPr>
              <a:t>的开发过程中，</a:t>
            </a:r>
            <a:r>
              <a:rPr lang="en-US" altLang="zh-CN" sz="2600" b="1">
                <a:ea typeface="黑体" panose="02010609060101010101" pitchFamily="49" charset="-122"/>
              </a:rPr>
              <a:t>Marty Roesch</a:t>
            </a:r>
            <a:r>
              <a:rPr lang="zh-CN" altLang="en-US" sz="2600" b="1">
                <a:ea typeface="黑体" panose="02010609060101010101" pitchFamily="49" charset="-122"/>
              </a:rPr>
              <a:t>开始进行</a:t>
            </a:r>
            <a:r>
              <a:rPr lang="en-US" altLang="zh-CN" sz="2600" b="1">
                <a:ea typeface="黑体" panose="02010609060101010101" pitchFamily="49" charset="-122"/>
              </a:rPr>
              <a:t>Snort</a:t>
            </a:r>
            <a:r>
              <a:rPr lang="zh-CN" altLang="en-US" sz="2600" b="1">
                <a:ea typeface="黑体" panose="02010609060101010101" pitchFamily="49" charset="-122"/>
              </a:rPr>
              <a:t>的商业化，并开发出</a:t>
            </a:r>
            <a:r>
              <a:rPr lang="en-US" altLang="zh-CN" sz="2600" b="1">
                <a:ea typeface="黑体" panose="02010609060101010101" pitchFamily="49" charset="-122"/>
              </a:rPr>
              <a:t>Snort 2.0</a:t>
            </a:r>
            <a:r>
              <a:rPr lang="zh-CN" altLang="en-US" sz="2600" b="1">
                <a:ea typeface="黑体" panose="02010609060101010101" pitchFamily="49" charset="-122"/>
              </a:rPr>
              <a:t>，尽管</a:t>
            </a:r>
            <a:r>
              <a:rPr lang="en-US" altLang="zh-CN" sz="2600" b="1">
                <a:ea typeface="黑体" panose="02010609060101010101" pitchFamily="49" charset="-122"/>
              </a:rPr>
              <a:t>2.0</a:t>
            </a:r>
            <a:r>
              <a:rPr lang="zh-CN" altLang="en-US" sz="2600" b="1">
                <a:ea typeface="黑体" panose="02010609060101010101" pitchFamily="49" charset="-122"/>
              </a:rPr>
              <a:t>版本是商业模式发布的，但是</a:t>
            </a:r>
            <a:r>
              <a:rPr lang="en-US" altLang="zh-CN" sz="2600" b="1">
                <a:ea typeface="黑体" panose="02010609060101010101" pitchFamily="49" charset="-122"/>
              </a:rPr>
              <a:t>Snort</a:t>
            </a:r>
            <a:r>
              <a:rPr lang="zh-CN" altLang="en-US" sz="2600" b="1">
                <a:ea typeface="黑体" panose="02010609060101010101" pitchFamily="49" charset="-122"/>
              </a:rPr>
              <a:t>依然而且永远是开放源代码的软件。</a:t>
            </a:r>
            <a:r>
              <a:rPr lang="zh-CN" altLang="en-US" sz="2600">
                <a:ea typeface="黑体" panose="02010609060101010101" pitchFamily="49" charset="-122"/>
              </a:rPr>
              <a:t> </a:t>
            </a:r>
            <a:endParaRPr lang="zh-CN" altLang="en-US" sz="260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en-US" altLang="zh-CN" sz="5000" b="1" dirty="0" smtClean="0">
                <a:ea typeface="黑体" panose="02010609060101010101" pitchFamily="49" charset="-122"/>
              </a:rPr>
              <a:t>1. Snort</a:t>
            </a:r>
            <a:r>
              <a:rPr lang="zh-CN" altLang="en-US" sz="5000" b="1" dirty="0">
                <a:ea typeface="黑体" panose="02010609060101010101" pitchFamily="49" charset="-122"/>
              </a:rPr>
              <a:t>的特性</a:t>
            </a:r>
            <a:endParaRPr lang="zh-CN" altLang="en-US" sz="5000" b="1" dirty="0">
              <a:ea typeface="黑体" panose="02010609060101010101" pitchFamily="49" charset="-122"/>
            </a:endParaRPr>
          </a:p>
        </p:txBody>
      </p:sp>
      <p:sp>
        <p:nvSpPr>
          <p:cNvPr id="134147" name="Rectangle 3"/>
          <p:cNvSpPr>
            <a:spLocks noGrp="1" noChangeArrowheads="1"/>
          </p:cNvSpPr>
          <p:nvPr>
            <p:ph type="body" idx="1"/>
          </p:nvPr>
        </p:nvSpPr>
        <p:spPr/>
        <p:txBody>
          <a:bodyPr/>
          <a:lstStyle/>
          <a:p>
            <a:pPr algn="just"/>
            <a:r>
              <a:rPr lang="en-US" altLang="zh-CN" sz="3600" b="1">
                <a:ea typeface="黑体" panose="02010609060101010101" pitchFamily="49" charset="-122"/>
              </a:rPr>
              <a:t>Snort</a:t>
            </a:r>
            <a:r>
              <a:rPr lang="zh-CN" altLang="en-US" sz="3600" b="1">
                <a:ea typeface="黑体" panose="02010609060101010101" pitchFamily="49" charset="-122"/>
              </a:rPr>
              <a:t>的软件模块主要包括</a:t>
            </a:r>
            <a:r>
              <a:rPr lang="en-US" altLang="zh-CN" sz="3600" b="1">
                <a:ea typeface="黑体" panose="02010609060101010101" pitchFamily="49" charset="-122"/>
              </a:rPr>
              <a:t>:</a:t>
            </a:r>
            <a:endParaRPr lang="en-US" altLang="zh-CN" sz="3600" b="1">
              <a:ea typeface="黑体" panose="02010609060101010101" pitchFamily="49" charset="-122"/>
            </a:endParaRPr>
          </a:p>
          <a:p>
            <a:pPr algn="just"/>
            <a:r>
              <a:rPr lang="zh-CN" altLang="en-US" sz="3600" b="1">
                <a:ea typeface="黑体" panose="02010609060101010101" pitchFamily="49" charset="-122"/>
              </a:rPr>
              <a:t>数据包嗅探器 </a:t>
            </a:r>
            <a:endParaRPr lang="zh-CN" altLang="en-US" sz="3600" b="1">
              <a:ea typeface="黑体" panose="02010609060101010101" pitchFamily="49" charset="-122"/>
            </a:endParaRPr>
          </a:p>
          <a:p>
            <a:pPr algn="just"/>
            <a:r>
              <a:rPr lang="zh-CN" altLang="en-US" sz="3600" b="1">
                <a:ea typeface="黑体" panose="02010609060101010101" pitchFamily="49" charset="-122"/>
              </a:rPr>
              <a:t>预处理器 </a:t>
            </a:r>
            <a:endParaRPr lang="zh-CN" altLang="en-US" sz="3600" b="1">
              <a:ea typeface="黑体" panose="02010609060101010101" pitchFamily="49" charset="-122"/>
            </a:endParaRPr>
          </a:p>
          <a:p>
            <a:pPr algn="just"/>
            <a:r>
              <a:rPr lang="zh-CN" altLang="en-US" sz="3600" b="1">
                <a:ea typeface="黑体" panose="02010609060101010101" pitchFamily="49" charset="-122"/>
              </a:rPr>
              <a:t>检测引擎 </a:t>
            </a:r>
            <a:endParaRPr lang="zh-CN" altLang="en-US" sz="3600" b="1">
              <a:ea typeface="黑体" panose="02010609060101010101" pitchFamily="49" charset="-122"/>
            </a:endParaRPr>
          </a:p>
          <a:p>
            <a:pPr algn="just"/>
            <a:r>
              <a:rPr lang="zh-CN" altLang="en-US" sz="3600" b="1">
                <a:ea typeface="黑体" panose="02010609060101010101" pitchFamily="49" charset="-122"/>
              </a:rPr>
              <a:t>报警输出模块 </a:t>
            </a:r>
            <a:endParaRPr lang="zh-CN" altLang="en-US" sz="3600" b="1">
              <a:ea typeface="黑体" panose="02010609060101010101" pitchFamily="49"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r>
              <a:rPr lang="en-US" altLang="zh-CN" sz="5000" b="1" dirty="0" smtClean="0">
                <a:ea typeface="黑体" panose="02010609060101010101" pitchFamily="49" charset="-122"/>
              </a:rPr>
              <a:t> Snort</a:t>
            </a:r>
            <a:r>
              <a:rPr lang="zh-CN" altLang="en-US" sz="5000" b="1" dirty="0">
                <a:ea typeface="黑体" panose="02010609060101010101" pitchFamily="49" charset="-122"/>
              </a:rPr>
              <a:t>的特性</a:t>
            </a:r>
            <a:endParaRPr lang="zh-CN" altLang="en-US" sz="5000" b="1" dirty="0">
              <a:ea typeface="黑体" panose="02010609060101010101" pitchFamily="49" charset="-122"/>
            </a:endParaRPr>
          </a:p>
        </p:txBody>
      </p:sp>
      <p:grpSp>
        <p:nvGrpSpPr>
          <p:cNvPr id="135171" name="Group 3"/>
          <p:cNvGrpSpPr>
            <a:grpSpLocks noChangeAspect="1"/>
          </p:cNvGrpSpPr>
          <p:nvPr/>
        </p:nvGrpSpPr>
        <p:grpSpPr bwMode="auto">
          <a:xfrm>
            <a:off x="1774825" y="2265364"/>
            <a:ext cx="8642350" cy="2319337"/>
            <a:chOff x="2981" y="4266"/>
            <a:chExt cx="6575" cy="1766"/>
          </a:xfrm>
        </p:grpSpPr>
        <p:sp>
          <p:nvSpPr>
            <p:cNvPr id="135172" name="AutoShape 4"/>
            <p:cNvSpPr>
              <a:spLocks noChangeAspect="1" noChangeArrowheads="1"/>
            </p:cNvSpPr>
            <p:nvPr/>
          </p:nvSpPr>
          <p:spPr bwMode="auto">
            <a:xfrm>
              <a:off x="2981" y="4266"/>
              <a:ext cx="6575" cy="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135173" name="Group 5"/>
            <p:cNvGrpSpPr/>
            <p:nvPr/>
          </p:nvGrpSpPr>
          <p:grpSpPr bwMode="auto">
            <a:xfrm>
              <a:off x="3138" y="4266"/>
              <a:ext cx="6269" cy="1766"/>
              <a:chOff x="3138" y="4266"/>
              <a:chExt cx="6269" cy="1766"/>
            </a:xfrm>
          </p:grpSpPr>
          <p:sp>
            <p:nvSpPr>
              <p:cNvPr id="135174" name="AutoShape 6"/>
              <p:cNvSpPr>
                <a:spLocks noChangeArrowheads="1"/>
              </p:cNvSpPr>
              <p:nvPr/>
            </p:nvSpPr>
            <p:spPr bwMode="auto">
              <a:xfrm>
                <a:off x="8617" y="4266"/>
                <a:ext cx="790" cy="1223"/>
              </a:xfrm>
              <a:prstGeom prst="flowChartMagneticDisk">
                <a:avLst/>
              </a:prstGeom>
              <a:solidFill>
                <a:srgbClr val="FFFFFF"/>
              </a:solidFill>
              <a:ln w="9525">
                <a:solidFill>
                  <a:srgbClr val="000000"/>
                </a:solidFill>
                <a:round/>
              </a:ln>
            </p:spPr>
            <p:txBody>
              <a:bodyPr/>
              <a:lstStyle/>
              <a:p>
                <a:pPr algn="ctr"/>
                <a:r>
                  <a:rPr lang="zh-CN" altLang="en-US" sz="1600" b="1">
                    <a:solidFill>
                      <a:schemeClr val="bg1"/>
                    </a:solidFill>
                  </a:rPr>
                  <a:t>日志数据库</a:t>
                </a:r>
                <a:endParaRPr lang="zh-CN" altLang="en-US" sz="1600" b="1">
                  <a:solidFill>
                    <a:schemeClr val="bg1"/>
                  </a:solidFill>
                  <a:latin typeface="Arial" panose="020B0604020202020204" pitchFamily="34" charset="0"/>
                </a:endParaRPr>
              </a:p>
            </p:txBody>
          </p:sp>
          <p:sp>
            <p:nvSpPr>
              <p:cNvPr id="135175" name="Rectangle 7"/>
              <p:cNvSpPr>
                <a:spLocks noChangeArrowheads="1"/>
              </p:cNvSpPr>
              <p:nvPr/>
            </p:nvSpPr>
            <p:spPr bwMode="auto">
              <a:xfrm>
                <a:off x="5016" y="4538"/>
                <a:ext cx="783" cy="679"/>
              </a:xfrm>
              <a:prstGeom prst="rect">
                <a:avLst/>
              </a:prstGeom>
              <a:solidFill>
                <a:srgbClr val="FFFFFF"/>
              </a:solidFill>
              <a:ln w="9525">
                <a:solidFill>
                  <a:srgbClr val="000000"/>
                </a:solidFill>
                <a:miter lim="800000"/>
              </a:ln>
            </p:spPr>
            <p:txBody>
              <a:bodyPr/>
              <a:lstStyle/>
              <a:p>
                <a:pPr algn="just"/>
                <a:r>
                  <a:rPr lang="en-US" altLang="zh-CN" sz="1600" b="1">
                    <a:solidFill>
                      <a:schemeClr val="bg1"/>
                    </a:solidFill>
                  </a:rPr>
                  <a:t>Sniffer</a:t>
                </a:r>
                <a:endParaRPr lang="en-US" altLang="zh-CN" sz="1600" b="1">
                  <a:solidFill>
                    <a:schemeClr val="bg1"/>
                  </a:solidFill>
                  <a:latin typeface="Arial" panose="020B0604020202020204" pitchFamily="34" charset="0"/>
                </a:endParaRPr>
              </a:p>
            </p:txBody>
          </p:sp>
          <p:sp>
            <p:nvSpPr>
              <p:cNvPr id="135176" name="Rectangle 8"/>
              <p:cNvSpPr>
                <a:spLocks noChangeArrowheads="1"/>
              </p:cNvSpPr>
              <p:nvPr/>
            </p:nvSpPr>
            <p:spPr bwMode="auto">
              <a:xfrm>
                <a:off x="5642" y="4538"/>
                <a:ext cx="988" cy="679"/>
              </a:xfrm>
              <a:prstGeom prst="rect">
                <a:avLst/>
              </a:prstGeom>
              <a:solidFill>
                <a:srgbClr val="FFFFFF"/>
              </a:solidFill>
              <a:ln w="9525">
                <a:solidFill>
                  <a:srgbClr val="000000"/>
                </a:solidFill>
                <a:miter lim="800000"/>
              </a:ln>
            </p:spPr>
            <p:txBody>
              <a:bodyPr/>
              <a:lstStyle/>
              <a:p>
                <a:pPr algn="ctr"/>
                <a:r>
                  <a:rPr lang="zh-CN" altLang="en-US" sz="1600" b="1">
                    <a:solidFill>
                      <a:schemeClr val="bg1"/>
                    </a:solidFill>
                  </a:rPr>
                  <a:t>预处理器</a:t>
                </a:r>
                <a:endParaRPr lang="zh-CN" altLang="en-US" sz="1600" b="1">
                  <a:solidFill>
                    <a:schemeClr val="bg1"/>
                  </a:solidFill>
                  <a:latin typeface="Arial" panose="020B0604020202020204" pitchFamily="34" charset="0"/>
                </a:endParaRPr>
              </a:p>
            </p:txBody>
          </p:sp>
          <p:sp>
            <p:nvSpPr>
              <p:cNvPr id="135177" name="Rectangle 9"/>
              <p:cNvSpPr>
                <a:spLocks noChangeArrowheads="1"/>
              </p:cNvSpPr>
              <p:nvPr/>
            </p:nvSpPr>
            <p:spPr bwMode="auto">
              <a:xfrm>
                <a:off x="6630" y="4538"/>
                <a:ext cx="793" cy="679"/>
              </a:xfrm>
              <a:prstGeom prst="rect">
                <a:avLst/>
              </a:prstGeom>
              <a:solidFill>
                <a:srgbClr val="FFFFFF"/>
              </a:solidFill>
              <a:ln w="9525">
                <a:solidFill>
                  <a:srgbClr val="000000"/>
                </a:solidFill>
                <a:miter lim="800000"/>
              </a:ln>
            </p:spPr>
            <p:txBody>
              <a:bodyPr/>
              <a:lstStyle/>
              <a:p>
                <a:pPr algn="ctr"/>
                <a:r>
                  <a:rPr lang="zh-CN" altLang="en-US" sz="1600" b="1">
                    <a:solidFill>
                      <a:schemeClr val="bg1"/>
                    </a:solidFill>
                  </a:rPr>
                  <a:t>检测</a:t>
                </a:r>
                <a:endParaRPr lang="zh-CN" altLang="en-US" sz="1600" b="1">
                  <a:solidFill>
                    <a:schemeClr val="bg1"/>
                  </a:solidFill>
                </a:endParaRPr>
              </a:p>
              <a:p>
                <a:pPr algn="ctr"/>
                <a:r>
                  <a:rPr lang="zh-CN" altLang="en-US" sz="1600" b="1">
                    <a:solidFill>
                      <a:schemeClr val="bg1"/>
                    </a:solidFill>
                  </a:rPr>
                  <a:t>引擎</a:t>
                </a:r>
                <a:endParaRPr lang="zh-CN" altLang="en-US" sz="1600" b="1">
                  <a:solidFill>
                    <a:schemeClr val="bg1"/>
                  </a:solidFill>
                  <a:latin typeface="Arial" panose="020B0604020202020204" pitchFamily="34" charset="0"/>
                </a:endParaRPr>
              </a:p>
            </p:txBody>
          </p:sp>
          <p:sp>
            <p:nvSpPr>
              <p:cNvPr id="135178" name="Rectangle 10"/>
              <p:cNvSpPr>
                <a:spLocks noChangeArrowheads="1"/>
              </p:cNvSpPr>
              <p:nvPr/>
            </p:nvSpPr>
            <p:spPr bwMode="auto">
              <a:xfrm>
                <a:off x="7422" y="4538"/>
                <a:ext cx="791" cy="679"/>
              </a:xfrm>
              <a:prstGeom prst="rect">
                <a:avLst/>
              </a:prstGeom>
              <a:solidFill>
                <a:srgbClr val="FFFFFF"/>
              </a:solidFill>
              <a:ln w="9525">
                <a:solidFill>
                  <a:srgbClr val="000000"/>
                </a:solidFill>
                <a:miter lim="800000"/>
              </a:ln>
            </p:spPr>
            <p:txBody>
              <a:bodyPr/>
              <a:lstStyle/>
              <a:p>
                <a:pPr algn="ctr"/>
                <a:r>
                  <a:rPr lang="zh-CN" altLang="en-US" sz="1600" b="1">
                    <a:solidFill>
                      <a:schemeClr val="bg1"/>
                    </a:solidFill>
                  </a:rPr>
                  <a:t>报警</a:t>
                </a:r>
                <a:endParaRPr lang="zh-CN" altLang="en-US" sz="1600" b="1">
                  <a:solidFill>
                    <a:schemeClr val="bg1"/>
                  </a:solidFill>
                </a:endParaRPr>
              </a:p>
              <a:p>
                <a:pPr algn="ctr"/>
                <a:r>
                  <a:rPr lang="zh-CN" altLang="en-US" sz="1600" b="1">
                    <a:solidFill>
                      <a:schemeClr val="bg1"/>
                    </a:solidFill>
                  </a:rPr>
                  <a:t>日志</a:t>
                </a:r>
                <a:endParaRPr lang="zh-CN" altLang="en-US" sz="1600" b="1">
                  <a:solidFill>
                    <a:schemeClr val="bg1"/>
                  </a:solidFill>
                  <a:latin typeface="Arial" panose="020B0604020202020204" pitchFamily="34" charset="0"/>
                </a:endParaRPr>
              </a:p>
            </p:txBody>
          </p:sp>
          <p:sp>
            <p:nvSpPr>
              <p:cNvPr id="135179" name="Rectangle 11"/>
              <p:cNvSpPr>
                <a:spLocks noChangeArrowheads="1"/>
              </p:cNvSpPr>
              <p:nvPr/>
            </p:nvSpPr>
            <p:spPr bwMode="auto">
              <a:xfrm>
                <a:off x="6630" y="5624"/>
                <a:ext cx="923" cy="408"/>
              </a:xfrm>
              <a:prstGeom prst="rect">
                <a:avLst/>
              </a:prstGeom>
              <a:solidFill>
                <a:srgbClr val="FFFFFF"/>
              </a:solidFill>
              <a:ln w="9525">
                <a:solidFill>
                  <a:srgbClr val="000000"/>
                </a:solidFill>
                <a:miter lim="800000"/>
              </a:ln>
            </p:spPr>
            <p:txBody>
              <a:bodyPr/>
              <a:lstStyle/>
              <a:p>
                <a:pPr algn="just"/>
                <a:r>
                  <a:rPr lang="zh-CN" altLang="en-US" sz="1600" b="1">
                    <a:solidFill>
                      <a:schemeClr val="bg1"/>
                    </a:solidFill>
                  </a:rPr>
                  <a:t>规则设置</a:t>
                </a:r>
                <a:endParaRPr lang="zh-CN" altLang="en-US" sz="1600" b="1">
                  <a:solidFill>
                    <a:schemeClr val="bg1"/>
                  </a:solidFill>
                  <a:latin typeface="Arial" panose="020B0604020202020204" pitchFamily="34" charset="0"/>
                </a:endParaRPr>
              </a:p>
            </p:txBody>
          </p:sp>
          <p:sp>
            <p:nvSpPr>
              <p:cNvPr id="135180" name="Line 12"/>
              <p:cNvSpPr>
                <a:spLocks noChangeShapeType="1"/>
              </p:cNvSpPr>
              <p:nvPr/>
            </p:nvSpPr>
            <p:spPr bwMode="auto">
              <a:xfrm flipV="1">
                <a:off x="4390" y="4674"/>
                <a:ext cx="626"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1" name="Line 13"/>
              <p:cNvSpPr>
                <a:spLocks noChangeShapeType="1"/>
              </p:cNvSpPr>
              <p:nvPr/>
            </p:nvSpPr>
            <p:spPr bwMode="auto">
              <a:xfrm>
                <a:off x="4390" y="4809"/>
                <a:ext cx="626"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2" name="Line 14"/>
              <p:cNvSpPr>
                <a:spLocks noChangeShapeType="1"/>
              </p:cNvSpPr>
              <p:nvPr/>
            </p:nvSpPr>
            <p:spPr bwMode="auto">
              <a:xfrm>
                <a:off x="4390" y="4945"/>
                <a:ext cx="626"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3" name="Text Box 15"/>
              <p:cNvSpPr txBox="1">
                <a:spLocks noChangeArrowheads="1"/>
              </p:cNvSpPr>
              <p:nvPr/>
            </p:nvSpPr>
            <p:spPr bwMode="auto">
              <a:xfrm>
                <a:off x="4390" y="5080"/>
                <a:ext cx="791" cy="40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zh-CN" altLang="en-US" sz="1600" b="1">
                    <a:solidFill>
                      <a:schemeClr val="bg1"/>
                    </a:solidFill>
                  </a:rPr>
                  <a:t>数据包</a:t>
                </a:r>
                <a:endParaRPr lang="zh-CN" altLang="en-US" sz="1600" b="1">
                  <a:solidFill>
                    <a:schemeClr val="bg1"/>
                  </a:solidFill>
                  <a:latin typeface="Arial" panose="020B0604020202020204" pitchFamily="34" charset="0"/>
                </a:endParaRPr>
              </a:p>
            </p:txBody>
          </p:sp>
          <p:sp>
            <p:nvSpPr>
              <p:cNvPr id="135184" name="Line 16"/>
              <p:cNvSpPr>
                <a:spLocks noChangeShapeType="1"/>
              </p:cNvSpPr>
              <p:nvPr/>
            </p:nvSpPr>
            <p:spPr bwMode="auto">
              <a:xfrm>
                <a:off x="6630" y="5217"/>
                <a:ext cx="132" cy="40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5" name="Line 17"/>
              <p:cNvSpPr>
                <a:spLocks noChangeShapeType="1"/>
              </p:cNvSpPr>
              <p:nvPr/>
            </p:nvSpPr>
            <p:spPr bwMode="auto">
              <a:xfrm>
                <a:off x="6762" y="5217"/>
                <a:ext cx="132" cy="40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6" name="Line 18"/>
              <p:cNvSpPr>
                <a:spLocks noChangeShapeType="1"/>
              </p:cNvSpPr>
              <p:nvPr/>
            </p:nvSpPr>
            <p:spPr bwMode="auto">
              <a:xfrm>
                <a:off x="6894" y="5217"/>
                <a:ext cx="132" cy="40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7" name="Line 19"/>
              <p:cNvSpPr>
                <a:spLocks noChangeShapeType="1"/>
              </p:cNvSpPr>
              <p:nvPr/>
            </p:nvSpPr>
            <p:spPr bwMode="auto">
              <a:xfrm flipV="1">
                <a:off x="7290" y="5217"/>
                <a:ext cx="132" cy="40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8" name="Line 20"/>
              <p:cNvSpPr>
                <a:spLocks noChangeShapeType="1"/>
              </p:cNvSpPr>
              <p:nvPr/>
            </p:nvSpPr>
            <p:spPr bwMode="auto">
              <a:xfrm flipV="1">
                <a:off x="7158" y="5217"/>
                <a:ext cx="132" cy="40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9" name="Line 21"/>
              <p:cNvSpPr>
                <a:spLocks noChangeShapeType="1"/>
              </p:cNvSpPr>
              <p:nvPr/>
            </p:nvSpPr>
            <p:spPr bwMode="auto">
              <a:xfrm flipV="1">
                <a:off x="7026" y="5217"/>
                <a:ext cx="132" cy="40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90" name="Line 22"/>
              <p:cNvSpPr>
                <a:spLocks noChangeShapeType="1"/>
              </p:cNvSpPr>
              <p:nvPr/>
            </p:nvSpPr>
            <p:spPr bwMode="auto">
              <a:xfrm>
                <a:off x="8213" y="4674"/>
                <a:ext cx="394"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91" name="Line 23"/>
              <p:cNvSpPr>
                <a:spLocks noChangeShapeType="1"/>
              </p:cNvSpPr>
              <p:nvPr/>
            </p:nvSpPr>
            <p:spPr bwMode="auto">
              <a:xfrm>
                <a:off x="8213" y="4809"/>
                <a:ext cx="394"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92" name="Line 24"/>
              <p:cNvSpPr>
                <a:spLocks noChangeShapeType="1"/>
              </p:cNvSpPr>
              <p:nvPr/>
            </p:nvSpPr>
            <p:spPr bwMode="auto">
              <a:xfrm>
                <a:off x="8213" y="4945"/>
                <a:ext cx="394"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135193" name="Picture 25"/>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38" y="4538"/>
                <a:ext cx="1248" cy="641"/>
              </a:xfrm>
              <a:prstGeom prst="rect">
                <a:avLst/>
              </a:prstGeom>
              <a:noFill/>
              <a:ln>
                <a:noFill/>
              </a:ln>
              <a:effectLst>
                <a:outerShdw dist="28398" dir="3806097" algn="ctr" rotWithShape="0">
                  <a:srgbClr val="000000"/>
                </a:outerShdw>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94" name="Text Box 26"/>
              <p:cNvSpPr txBox="1">
                <a:spLocks noChangeArrowheads="1"/>
              </p:cNvSpPr>
              <p:nvPr/>
            </p:nvSpPr>
            <p:spPr bwMode="auto">
              <a:xfrm>
                <a:off x="3294" y="4674"/>
                <a:ext cx="939"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zh-CN" altLang="en-US" sz="1600" b="1">
                    <a:solidFill>
                      <a:schemeClr val="bg1"/>
                    </a:solidFill>
                  </a:rPr>
                  <a:t>主干网</a:t>
                </a:r>
                <a:endParaRPr lang="zh-CN" altLang="en-US" sz="1600" b="1">
                  <a:solidFill>
                    <a:schemeClr val="bg1"/>
                  </a:solidFill>
                  <a:latin typeface="Arial" panose="020B0604020202020204" pitchFamily="34" charset="0"/>
                </a:endParaRPr>
              </a:p>
            </p:txBody>
          </p:sp>
        </p:grpSp>
      </p:grpSp>
      <p:pic>
        <p:nvPicPr>
          <p:cNvPr id="2" name="图片 1"/>
          <p:cNvPicPr>
            <a:picLocks noChangeAspect="1"/>
          </p:cNvPicPr>
          <p:nvPr/>
        </p:nvPicPr>
        <p:blipFill>
          <a:blip r:embed="rId2"/>
          <a:stretch>
            <a:fillRect/>
          </a:stretch>
        </p:blipFill>
        <p:spPr>
          <a:xfrm>
            <a:off x="1478280" y="1539240"/>
            <a:ext cx="9235440" cy="3779520"/>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r>
              <a:rPr lang="en-US" altLang="zh-CN" sz="5000" b="1" dirty="0" smtClean="0">
                <a:ea typeface="黑体" panose="02010609060101010101" pitchFamily="49" charset="-122"/>
              </a:rPr>
              <a:t>2. Snort</a:t>
            </a:r>
            <a:r>
              <a:rPr lang="zh-CN" altLang="en-US" sz="5000" b="1" dirty="0">
                <a:ea typeface="黑体" panose="02010609060101010101" pitchFamily="49" charset="-122"/>
              </a:rPr>
              <a:t>的检测规则</a:t>
            </a:r>
            <a:r>
              <a:rPr lang="zh-CN" altLang="en-US" dirty="0"/>
              <a:t> </a:t>
            </a:r>
            <a:endParaRPr lang="zh-CN" altLang="en-US" dirty="0"/>
          </a:p>
        </p:txBody>
      </p:sp>
      <p:sp>
        <p:nvSpPr>
          <p:cNvPr id="136195" name="Rectangle 3"/>
          <p:cNvSpPr>
            <a:spLocks noGrp="1" noChangeArrowheads="1"/>
          </p:cNvSpPr>
          <p:nvPr>
            <p:ph type="body" idx="1"/>
          </p:nvPr>
        </p:nvSpPr>
        <p:spPr>
          <a:xfrm>
            <a:off x="2209800" y="1981201"/>
            <a:ext cx="7772400" cy="1871663"/>
          </a:xfrm>
        </p:spPr>
        <p:txBody>
          <a:bodyPr/>
          <a:lstStyle/>
          <a:p>
            <a:pPr algn="just">
              <a:lnSpc>
                <a:spcPct val="90000"/>
              </a:lnSpc>
            </a:pPr>
            <a:r>
              <a:rPr lang="zh-CN" altLang="en-US" sz="3600" b="1">
                <a:ea typeface="黑体" panose="02010609060101010101" pitchFamily="49" charset="-122"/>
              </a:rPr>
              <a:t>规则头 </a:t>
            </a:r>
            <a:endParaRPr lang="en-US" altLang="zh-CN" sz="3600" b="1">
              <a:ea typeface="黑体" panose="02010609060101010101" pitchFamily="49" charset="-122"/>
            </a:endParaRPr>
          </a:p>
          <a:p>
            <a:pPr algn="just">
              <a:lnSpc>
                <a:spcPct val="90000"/>
              </a:lnSpc>
            </a:pPr>
            <a:r>
              <a:rPr lang="zh-CN" altLang="en-US" sz="3600" b="1">
                <a:ea typeface="黑体" panose="02010609060101010101" pitchFamily="49" charset="-122"/>
              </a:rPr>
              <a:t>规则体 </a:t>
            </a:r>
            <a:endParaRPr lang="zh-CN" altLang="en-US" sz="3600" b="1">
              <a:ea typeface="黑体" panose="02010609060101010101" pitchFamily="49" charset="-122"/>
            </a:endParaRPr>
          </a:p>
          <a:p>
            <a:pPr algn="just">
              <a:lnSpc>
                <a:spcPct val="90000"/>
              </a:lnSpc>
            </a:pPr>
            <a:r>
              <a:rPr lang="zh-CN" altLang="en-US" sz="3600" b="1">
                <a:ea typeface="黑体" panose="02010609060101010101" pitchFamily="49" charset="-122"/>
              </a:rPr>
              <a:t>规则选项</a:t>
            </a:r>
            <a:endParaRPr lang="zh-CN" altLang="en-US" sz="3600" b="1">
              <a:ea typeface="黑体" panose="02010609060101010101" pitchFamily="49" charset="-122"/>
            </a:endParaRPr>
          </a:p>
        </p:txBody>
      </p:sp>
      <p:grpSp>
        <p:nvGrpSpPr>
          <p:cNvPr id="136196" name="Group 4"/>
          <p:cNvGrpSpPr/>
          <p:nvPr/>
        </p:nvGrpSpPr>
        <p:grpSpPr bwMode="auto">
          <a:xfrm>
            <a:off x="2495550" y="3501505"/>
            <a:ext cx="5761038" cy="2664345"/>
            <a:chOff x="4456" y="2299"/>
            <a:chExt cx="4321" cy="2496"/>
          </a:xfrm>
        </p:grpSpPr>
        <p:grpSp>
          <p:nvGrpSpPr>
            <p:cNvPr id="136197" name="Group 5"/>
            <p:cNvGrpSpPr/>
            <p:nvPr/>
          </p:nvGrpSpPr>
          <p:grpSpPr bwMode="auto">
            <a:xfrm>
              <a:off x="4456" y="2299"/>
              <a:ext cx="4321" cy="2027"/>
              <a:chOff x="4456" y="2299"/>
              <a:chExt cx="4321" cy="2027"/>
            </a:xfrm>
          </p:grpSpPr>
          <p:sp>
            <p:nvSpPr>
              <p:cNvPr id="136198" name="Text Box 6"/>
              <p:cNvSpPr txBox="1">
                <a:spLocks noChangeArrowheads="1"/>
              </p:cNvSpPr>
              <p:nvPr/>
            </p:nvSpPr>
            <p:spPr bwMode="auto">
              <a:xfrm>
                <a:off x="4456" y="3078"/>
                <a:ext cx="1080" cy="468"/>
              </a:xfrm>
              <a:prstGeom prst="rect">
                <a:avLst/>
              </a:prstGeom>
              <a:solidFill>
                <a:srgbClr val="FFFFFF"/>
              </a:solidFill>
              <a:ln w="9525">
                <a:solidFill>
                  <a:srgbClr val="000000"/>
                </a:solidFill>
                <a:miter lim="800000"/>
              </a:ln>
            </p:spPr>
            <p:txBody>
              <a:bodyPr/>
              <a:lstStyle/>
              <a:p>
                <a:pPr algn="just"/>
                <a:r>
                  <a:rPr lang="zh-CN" altLang="en-US" sz="1600">
                    <a:solidFill>
                      <a:schemeClr val="tx1"/>
                    </a:solidFill>
                  </a:rPr>
                  <a:t>规则行为</a:t>
                </a:r>
                <a:r>
                  <a:rPr lang="zh-CN" altLang="en-US" sz="1600" b="1">
                    <a:solidFill>
                      <a:schemeClr val="bg1"/>
                    </a:solidFill>
                  </a:rPr>
                  <a:t>为</a:t>
                </a:r>
                <a:endParaRPr lang="zh-CN" altLang="en-US" sz="1600" b="1">
                  <a:solidFill>
                    <a:schemeClr val="bg1"/>
                  </a:solidFill>
                  <a:latin typeface="Arial" panose="020B0604020202020204" pitchFamily="34" charset="0"/>
                </a:endParaRPr>
              </a:p>
            </p:txBody>
          </p:sp>
          <p:sp>
            <p:nvSpPr>
              <p:cNvPr id="136199" name="Text Box 7"/>
              <p:cNvSpPr txBox="1">
                <a:spLocks noChangeArrowheads="1"/>
              </p:cNvSpPr>
              <p:nvPr/>
            </p:nvSpPr>
            <p:spPr bwMode="auto">
              <a:xfrm>
                <a:off x="5535" y="3078"/>
                <a:ext cx="1081" cy="468"/>
              </a:xfrm>
              <a:prstGeom prst="rect">
                <a:avLst/>
              </a:prstGeom>
              <a:solidFill>
                <a:srgbClr val="FFFFFF"/>
              </a:solidFill>
              <a:ln w="9525">
                <a:solidFill>
                  <a:srgbClr val="000000"/>
                </a:solidFill>
                <a:miter lim="800000"/>
              </a:ln>
            </p:spPr>
            <p:txBody>
              <a:bodyPr/>
              <a:lstStyle/>
              <a:p>
                <a:pPr algn="ctr"/>
                <a:r>
                  <a:rPr lang="zh-CN" altLang="en-US" sz="1600"/>
                  <a:t>协议</a:t>
                </a:r>
                <a:endParaRPr lang="zh-CN" altLang="en-US" sz="1600"/>
              </a:p>
            </p:txBody>
          </p:sp>
          <p:sp>
            <p:nvSpPr>
              <p:cNvPr id="136200" name="Text Box 8"/>
              <p:cNvSpPr txBox="1">
                <a:spLocks noChangeArrowheads="1"/>
              </p:cNvSpPr>
              <p:nvPr/>
            </p:nvSpPr>
            <p:spPr bwMode="auto">
              <a:xfrm>
                <a:off x="6616" y="3078"/>
                <a:ext cx="1080" cy="469"/>
              </a:xfrm>
              <a:prstGeom prst="rect">
                <a:avLst/>
              </a:prstGeom>
              <a:solidFill>
                <a:srgbClr val="FFFFFF"/>
              </a:solidFill>
              <a:ln w="9525">
                <a:solidFill>
                  <a:srgbClr val="000000"/>
                </a:solidFill>
                <a:miter lim="800000"/>
              </a:ln>
            </p:spPr>
            <p:txBody>
              <a:bodyPr/>
              <a:lstStyle/>
              <a:p>
                <a:pPr algn="ctr"/>
                <a:r>
                  <a:rPr lang="zh-CN" altLang="en-US" sz="1600" b="1">
                    <a:solidFill>
                      <a:schemeClr val="tx1"/>
                    </a:solidFill>
                  </a:rPr>
                  <a:t>源信息</a:t>
                </a:r>
                <a:endParaRPr lang="zh-CN" altLang="en-US" sz="1600" b="1">
                  <a:solidFill>
                    <a:schemeClr val="tx1"/>
                  </a:solidFill>
                </a:endParaRPr>
              </a:p>
            </p:txBody>
          </p:sp>
          <p:sp>
            <p:nvSpPr>
              <p:cNvPr id="136201" name="Text Box 9"/>
              <p:cNvSpPr txBox="1">
                <a:spLocks noChangeArrowheads="1"/>
              </p:cNvSpPr>
              <p:nvPr/>
            </p:nvSpPr>
            <p:spPr bwMode="auto">
              <a:xfrm>
                <a:off x="7696" y="3078"/>
                <a:ext cx="1080" cy="468"/>
              </a:xfrm>
              <a:prstGeom prst="rect">
                <a:avLst/>
              </a:prstGeom>
              <a:solidFill>
                <a:srgbClr val="FFFFFF"/>
              </a:solidFill>
              <a:ln w="9525">
                <a:solidFill>
                  <a:srgbClr val="000000"/>
                </a:solidFill>
                <a:miter lim="800000"/>
              </a:ln>
            </p:spPr>
            <p:txBody>
              <a:bodyPr/>
              <a:lstStyle/>
              <a:p>
                <a:pPr algn="ctr"/>
                <a:r>
                  <a:rPr lang="zh-CN" altLang="en-US" sz="1600" b="1">
                    <a:solidFill>
                      <a:schemeClr val="tx1"/>
                    </a:solidFill>
                  </a:rPr>
                  <a:t>目的信息</a:t>
                </a:r>
                <a:endParaRPr lang="zh-CN" altLang="en-US" sz="1600" b="1">
                  <a:solidFill>
                    <a:schemeClr val="tx1"/>
                  </a:solidFill>
                  <a:latin typeface="Arial" panose="020B0604020202020204" pitchFamily="34" charset="0"/>
                </a:endParaRPr>
              </a:p>
            </p:txBody>
          </p:sp>
          <p:sp>
            <p:nvSpPr>
              <p:cNvPr id="136202" name="Text Box 10"/>
              <p:cNvSpPr txBox="1">
                <a:spLocks noChangeArrowheads="1"/>
              </p:cNvSpPr>
              <p:nvPr/>
            </p:nvSpPr>
            <p:spPr bwMode="auto">
              <a:xfrm>
                <a:off x="4456" y="3546"/>
                <a:ext cx="4320" cy="780"/>
              </a:xfrm>
              <a:prstGeom prst="rect">
                <a:avLst/>
              </a:prstGeom>
              <a:solidFill>
                <a:srgbClr val="C0C0C0"/>
              </a:solidFill>
              <a:ln w="9525">
                <a:solidFill>
                  <a:srgbClr val="000000"/>
                </a:solidFill>
                <a:miter lim="800000"/>
              </a:ln>
            </p:spPr>
            <p:txBody>
              <a:bodyPr/>
              <a:lstStyle/>
              <a:p>
                <a:pPr algn="ctr"/>
                <a:r>
                  <a:rPr lang="zh-CN" altLang="en-US" sz="1600" b="1">
                    <a:solidFill>
                      <a:schemeClr val="accent4">
                        <a:lumMod val="60000"/>
                        <a:lumOff val="40000"/>
                      </a:schemeClr>
                    </a:solidFill>
                  </a:rPr>
                  <a:t>规则体</a:t>
                </a:r>
                <a:endParaRPr lang="zh-CN" altLang="en-US" sz="1600" b="1">
                  <a:solidFill>
                    <a:schemeClr val="accent4">
                      <a:lumMod val="60000"/>
                      <a:lumOff val="40000"/>
                    </a:schemeClr>
                  </a:solidFill>
                  <a:latin typeface="Arial" panose="020B0604020202020204" pitchFamily="34" charset="0"/>
                </a:endParaRPr>
              </a:p>
            </p:txBody>
          </p:sp>
          <p:sp>
            <p:nvSpPr>
              <p:cNvPr id="136203" name="Line 11"/>
              <p:cNvSpPr>
                <a:spLocks noChangeShapeType="1"/>
              </p:cNvSpPr>
              <p:nvPr/>
            </p:nvSpPr>
            <p:spPr bwMode="auto">
              <a:xfrm>
                <a:off x="4456" y="2766"/>
                <a:ext cx="1" cy="3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204" name="Line 12"/>
              <p:cNvSpPr>
                <a:spLocks noChangeShapeType="1"/>
              </p:cNvSpPr>
              <p:nvPr/>
            </p:nvSpPr>
            <p:spPr bwMode="auto">
              <a:xfrm>
                <a:off x="8776" y="2766"/>
                <a:ext cx="1" cy="3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205" name="Line 13"/>
              <p:cNvSpPr>
                <a:spLocks noChangeShapeType="1"/>
              </p:cNvSpPr>
              <p:nvPr/>
            </p:nvSpPr>
            <p:spPr bwMode="auto">
              <a:xfrm>
                <a:off x="4456" y="2766"/>
                <a:ext cx="4320"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6206" name="Text Box 14"/>
              <p:cNvSpPr txBox="1">
                <a:spLocks noChangeArrowheads="1"/>
              </p:cNvSpPr>
              <p:nvPr/>
            </p:nvSpPr>
            <p:spPr bwMode="auto">
              <a:xfrm>
                <a:off x="6350" y="2299"/>
                <a:ext cx="14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zh-CN" altLang="en-US" sz="1600" b="1">
                    <a:solidFill>
                      <a:schemeClr val="hlink"/>
                    </a:solidFill>
                  </a:rPr>
                  <a:t>规则头</a:t>
                </a:r>
                <a:endParaRPr lang="zh-CN" altLang="en-US" sz="1600" b="1">
                  <a:solidFill>
                    <a:schemeClr val="hlink"/>
                  </a:solidFill>
                  <a:latin typeface="Arial" panose="020B0604020202020204" pitchFamily="34" charset="0"/>
                </a:endParaRPr>
              </a:p>
            </p:txBody>
          </p:sp>
        </p:grpSp>
        <p:sp>
          <p:nvSpPr>
            <p:cNvPr id="136207" name="Text Box 15"/>
            <p:cNvSpPr txBox="1">
              <a:spLocks noChangeArrowheads="1"/>
            </p:cNvSpPr>
            <p:nvPr/>
          </p:nvSpPr>
          <p:spPr bwMode="auto">
            <a:xfrm>
              <a:off x="5215" y="4327"/>
              <a:ext cx="2739"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600" b="1">
                  <a:solidFill>
                    <a:schemeClr val="bg1"/>
                  </a:solidFill>
                </a:rPr>
                <a:t>Snort</a:t>
              </a:r>
              <a:r>
                <a:rPr lang="zh-CN" altLang="en-US" sz="1600" b="1">
                  <a:solidFill>
                    <a:schemeClr val="bg1"/>
                  </a:solidFill>
                </a:rPr>
                <a:t>规则头</a:t>
              </a:r>
              <a:endParaRPr lang="zh-CN" altLang="en-US" sz="1600" b="1">
                <a:solidFill>
                  <a:schemeClr val="bg1"/>
                </a:solidFill>
                <a:latin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altLang="zh-CN" sz="5000" b="1" dirty="0" smtClean="0">
                <a:ea typeface="黑体" panose="02010609060101010101" pitchFamily="49" charset="-122"/>
              </a:rPr>
              <a:t>3. Snort</a:t>
            </a:r>
            <a:r>
              <a:rPr lang="zh-CN" altLang="en-US" sz="5000" b="1" dirty="0">
                <a:ea typeface="黑体" panose="02010609060101010101" pitchFamily="49" charset="-122"/>
              </a:rPr>
              <a:t>的部署和运行</a:t>
            </a:r>
            <a:r>
              <a:rPr lang="en-US" altLang="zh-CN" sz="5000" b="1" dirty="0">
                <a:ea typeface="黑体" panose="02010609060101010101" pitchFamily="49" charset="-122"/>
              </a:rPr>
              <a:t>1</a:t>
            </a:r>
            <a:endParaRPr lang="en-US" altLang="zh-CN" sz="5000" b="1" dirty="0">
              <a:ea typeface="黑体" panose="02010609060101010101" pitchFamily="49" charset="-122"/>
            </a:endParaRPr>
          </a:p>
        </p:txBody>
      </p:sp>
      <p:sp>
        <p:nvSpPr>
          <p:cNvPr id="137219" name="Rectangle 3"/>
          <p:cNvSpPr>
            <a:spLocks noChangeArrowheads="1"/>
          </p:cNvSpPr>
          <p:nvPr/>
        </p:nvSpPr>
        <p:spPr bwMode="auto">
          <a:xfrm>
            <a:off x="1524001" y="27776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7220" name="Object 4"/>
          <p:cNvGraphicFramePr>
            <a:graphicFrameLocks noChangeAspect="1"/>
          </p:cNvGraphicFramePr>
          <p:nvPr/>
        </p:nvGraphicFramePr>
        <p:xfrm>
          <a:off x="2135188" y="2420939"/>
          <a:ext cx="8280400" cy="1965325"/>
        </p:xfrm>
        <a:graphic>
          <a:graphicData uri="http://schemas.openxmlformats.org/presentationml/2006/ole">
            <mc:AlternateContent xmlns:mc="http://schemas.openxmlformats.org/markup-compatibility/2006">
              <mc:Choice xmlns:v="urn:schemas-microsoft-com:vml" Requires="v">
                <p:oleObj spid="_x0000_s34887" name="图片" r:id="rId1" imgW="4928235" imgH="932815" progId="Word.Picture.8">
                  <p:embed/>
                </p:oleObj>
              </mc:Choice>
              <mc:Fallback>
                <p:oleObj name="图片" r:id="rId1" imgW="4928235" imgH="932815" progId="Word.Picture.8">
                  <p:embed/>
                  <p:pic>
                    <p:nvPicPr>
                      <p:cNvPr id="0" name="图片 348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8" y="2420939"/>
                        <a:ext cx="8280400" cy="1965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文本框 1"/>
          <p:cNvSpPr txBox="1"/>
          <p:nvPr/>
        </p:nvSpPr>
        <p:spPr>
          <a:xfrm>
            <a:off x="5151120" y="4773930"/>
            <a:ext cx="4064000" cy="368300"/>
          </a:xfrm>
          <a:prstGeom prst="rect">
            <a:avLst/>
          </a:prstGeom>
          <a:noFill/>
        </p:spPr>
        <p:txBody>
          <a:bodyPr wrap="square" rtlCol="0">
            <a:spAutoFit/>
          </a:bodyPr>
          <a:p>
            <a:r>
              <a:rPr lang="en-US" altLang="zh-CN"/>
              <a:t>Snort</a:t>
            </a:r>
            <a:r>
              <a:rPr lang="zh-CN" altLang="en-US"/>
              <a:t>监视</a:t>
            </a:r>
            <a:r>
              <a:rPr lang="zh-CN" altLang="en-US"/>
              <a:t>路由器的结构</a:t>
            </a:r>
            <a:endParaRPr lang="zh-CN" alt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US" altLang="zh-CN" sz="5000" b="1">
                <a:ea typeface="黑体" panose="02010609060101010101" pitchFamily="49" charset="-122"/>
              </a:rPr>
              <a:t>Snort</a:t>
            </a:r>
            <a:r>
              <a:rPr lang="zh-CN" altLang="en-US" sz="5000" b="1">
                <a:ea typeface="黑体" panose="02010609060101010101" pitchFamily="49" charset="-122"/>
              </a:rPr>
              <a:t>的部署和运行</a:t>
            </a:r>
            <a:r>
              <a:rPr lang="en-US" altLang="zh-CN" sz="5000" b="1">
                <a:ea typeface="黑体" panose="02010609060101010101" pitchFamily="49" charset="-122"/>
              </a:rPr>
              <a:t>2</a:t>
            </a:r>
            <a:endParaRPr lang="en-US" altLang="zh-CN" sz="5000" b="1">
              <a:ea typeface="黑体" panose="02010609060101010101" pitchFamily="49" charset="-122"/>
            </a:endParaRPr>
          </a:p>
        </p:txBody>
      </p:sp>
      <p:sp>
        <p:nvSpPr>
          <p:cNvPr id="138243" name="Rectangle 3"/>
          <p:cNvSpPr>
            <a:spLocks noChangeArrowheads="1"/>
          </p:cNvSpPr>
          <p:nvPr/>
        </p:nvSpPr>
        <p:spPr bwMode="auto">
          <a:xfrm>
            <a:off x="1524001" y="1586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8244" name="Object 4"/>
          <p:cNvGraphicFramePr>
            <a:graphicFrameLocks noChangeAspect="1"/>
          </p:cNvGraphicFramePr>
          <p:nvPr/>
        </p:nvGraphicFramePr>
        <p:xfrm>
          <a:off x="2863058" y="1558132"/>
          <a:ext cx="6610350" cy="4924425"/>
        </p:xfrm>
        <a:graphic>
          <a:graphicData uri="http://schemas.openxmlformats.org/presentationml/2006/ole">
            <mc:AlternateContent xmlns:mc="http://schemas.openxmlformats.org/markup-compatibility/2006">
              <mc:Choice xmlns:v="urn:schemas-microsoft-com:vml" Requires="v">
                <p:oleObj spid="_x0000_s35910" name="图片" r:id="rId1" imgW="4458970" imgH="3313430" progId="Word.Picture.8">
                  <p:embed/>
                </p:oleObj>
              </mc:Choice>
              <mc:Fallback>
                <p:oleObj name="图片" r:id="rId1" imgW="4458970" imgH="3313430" progId="Word.Picture.8">
                  <p:embed/>
                  <p:pic>
                    <p:nvPicPr>
                      <p:cNvPr id="0" name="图片 35909"/>
                      <p:cNvPicPr>
                        <a:picLocks noChangeAspect="1" noChangeArrowheads="1"/>
                      </p:cNvPicPr>
                      <p:nvPr/>
                    </p:nvPicPr>
                    <p:blipFill>
                      <a:blip r:embed="rId2"/>
                      <a:srcRect/>
                      <a:stretch>
                        <a:fillRect/>
                      </a:stretch>
                    </p:blipFill>
                    <p:spPr bwMode="auto">
                      <a:xfrm>
                        <a:off x="2863058" y="1558132"/>
                        <a:ext cx="6610350" cy="4924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US" altLang="zh-CN" sz="5000" b="1" dirty="0" smtClean="0">
                <a:ea typeface="黑体" panose="02010609060101010101" pitchFamily="49" charset="-122"/>
              </a:rPr>
              <a:t>4. Snort</a:t>
            </a:r>
            <a:r>
              <a:rPr lang="zh-CN" altLang="en-US" sz="5000" b="1" dirty="0">
                <a:ea typeface="黑体" panose="02010609060101010101" pitchFamily="49" charset="-122"/>
              </a:rPr>
              <a:t>的优化</a:t>
            </a:r>
            <a:endParaRPr lang="zh-CN" altLang="en-US" sz="5000" b="1" dirty="0">
              <a:ea typeface="黑体" panose="02010609060101010101" pitchFamily="49" charset="-122"/>
            </a:endParaRPr>
          </a:p>
        </p:txBody>
      </p:sp>
      <p:sp>
        <p:nvSpPr>
          <p:cNvPr id="139267" name="Rectangle 3"/>
          <p:cNvSpPr>
            <a:spLocks noGrp="1" noChangeArrowheads="1"/>
          </p:cNvSpPr>
          <p:nvPr>
            <p:ph type="body" idx="1"/>
          </p:nvPr>
        </p:nvSpPr>
        <p:spPr/>
        <p:txBody>
          <a:bodyPr/>
          <a:lstStyle/>
          <a:p>
            <a:pPr algn="just"/>
            <a:r>
              <a:rPr lang="zh-CN" altLang="en-US" sz="3600" b="1" dirty="0">
                <a:ea typeface="黑体" panose="02010609060101010101" pitchFamily="49" charset="-122"/>
              </a:rPr>
              <a:t>处理器的速度和架构</a:t>
            </a:r>
            <a:endParaRPr lang="en-US" altLang="zh-CN" sz="3600" b="1" dirty="0">
              <a:ea typeface="黑体" panose="02010609060101010101" pitchFamily="49" charset="-122"/>
            </a:endParaRPr>
          </a:p>
          <a:p>
            <a:pPr algn="just"/>
            <a:r>
              <a:rPr lang="zh-CN" altLang="en-US" sz="3600" b="1" dirty="0">
                <a:ea typeface="黑体" panose="02010609060101010101" pitchFamily="49" charset="-122"/>
              </a:rPr>
              <a:t>内存的大小 </a:t>
            </a:r>
            <a:endParaRPr lang="zh-CN" altLang="en-US" sz="3600" b="1" dirty="0">
              <a:ea typeface="黑体" panose="02010609060101010101" pitchFamily="49" charset="-122"/>
            </a:endParaRPr>
          </a:p>
          <a:p>
            <a:pPr algn="just"/>
            <a:r>
              <a:rPr lang="zh-CN" altLang="en-US" sz="3600" b="1" dirty="0">
                <a:ea typeface="黑体" panose="02010609060101010101" pitchFamily="49" charset="-122"/>
              </a:rPr>
              <a:t>磁盘容量  </a:t>
            </a:r>
            <a:endParaRPr lang="zh-CN" altLang="en-US" sz="3600" b="1" dirty="0">
              <a:ea typeface="黑体" panose="02010609060101010101" pitchFamily="49" charset="-122"/>
            </a:endParaRPr>
          </a:p>
          <a:p>
            <a:pPr algn="just"/>
            <a:r>
              <a:rPr lang="zh-CN" altLang="en-US" sz="3600" b="1" dirty="0">
                <a:ea typeface="黑体" panose="02010609060101010101" pitchFamily="49" charset="-122"/>
              </a:rPr>
              <a:t>网络接口 </a:t>
            </a:r>
            <a:endParaRPr lang="zh-CN" altLang="en-US" sz="3600" b="1" dirty="0">
              <a:ea typeface="黑体" panose="02010609060101010101" pitchFamily="49" charset="-122"/>
            </a:endParaRPr>
          </a:p>
          <a:p>
            <a:pPr algn="just"/>
            <a:r>
              <a:rPr lang="zh-CN" altLang="en-US" sz="3600" b="1" dirty="0">
                <a:ea typeface="黑体" panose="02010609060101010101" pitchFamily="49" charset="-122"/>
              </a:rPr>
              <a:t>标识关键协议和服务 </a:t>
            </a:r>
            <a:endParaRPr lang="zh-CN" altLang="en-US" sz="3600" b="1" dirty="0">
              <a:ea typeface="黑体" panose="02010609060101010101" pitchFamily="49" charset="-122"/>
            </a:endParaRPr>
          </a:p>
          <a:p>
            <a:pPr algn="just"/>
            <a:r>
              <a:rPr lang="zh-CN" altLang="en-US" sz="3600" b="1" dirty="0">
                <a:ea typeface="黑体" panose="02010609060101010101" pitchFamily="49" charset="-122"/>
              </a:rPr>
              <a:t>取证日志所需要的粒度水平</a:t>
            </a:r>
            <a:r>
              <a:rPr lang="zh-CN" altLang="en-US" dirty="0"/>
              <a:t> </a:t>
            </a:r>
            <a:endParaRPr lang="zh-CN"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1992313" y="1700214"/>
            <a:ext cx="8229600" cy="3240087"/>
          </a:xfrm>
        </p:spPr>
        <p:txBody>
          <a:bodyPr/>
          <a:lstStyle/>
          <a:p>
            <a:r>
              <a:rPr lang="zh-CN" altLang="en-US" sz="15000" b="1">
                <a:solidFill>
                  <a:schemeClr val="hlink"/>
                </a:solidFill>
                <a:ea typeface="黑体" panose="02010609060101010101" pitchFamily="49" charset="-122"/>
              </a:rPr>
              <a:t>谢 谢</a:t>
            </a:r>
            <a:endParaRPr lang="zh-CN" altLang="en-US" sz="15000" b="1">
              <a:solidFill>
                <a:schemeClr val="hlink"/>
              </a:solidFill>
              <a:ea typeface="黑体" panose="02010609060101010101" pitchFamily="49" charset="-122"/>
            </a:endParaRPr>
          </a:p>
        </p:txBody>
      </p:sp>
    </p:spTree>
  </p:cSld>
  <p:clrMapOvr>
    <a:masterClrMapping/>
  </p:clrMapOvr>
</p:sld>
</file>

<file path=ppt/tags/tag1.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2.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3.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4.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5.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6.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7.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8.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9.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10.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11.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12.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13.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14.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15.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16.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17.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18.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19.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20.xml><?xml version="1.0" encoding="utf-8"?>
<p:tagLst xmlns:p="http://schemas.openxmlformats.org/presentationml/2006/main">
  <p:tag name="KSO_WM_DIAGRAM_VIRTUALLY_FRAME" val="{&quot;height&quot;:389.5366141732284,&quot;left&quot;:437.96763779527555,&quot;top&quot;:92.1927559055118,&quot;width&quot;:390.8423622047243}"/>
</p:tagLst>
</file>

<file path=ppt/tags/tag21.xml><?xml version="1.0" encoding="utf-8"?>
<p:tagLst xmlns:p="http://schemas.openxmlformats.org/presentationml/2006/main">
  <p:tag name="ISLIDE.VECTOR" val="28b0fd0e-7ece-4f48-881a-83c93b08799b"/>
</p:tagLst>
</file>

<file path=ppt/tags/tag22.xml><?xml version="1.0" encoding="utf-8"?>
<p:tagLst xmlns:p="http://schemas.openxmlformats.org/presentationml/2006/main">
  <p:tag name="ISLIDE.VECTOR" val="28b0fd0e-7ece-4f48-881a-83c93b08799b"/>
</p:tagLst>
</file>

<file path=ppt/tags/tag23.xml><?xml version="1.0" encoding="utf-8"?>
<p:tagLst xmlns:p="http://schemas.openxmlformats.org/presentationml/2006/main">
  <p:tag name="ISLIDE.VECTOR" val="28b0fd0e-7ece-4f48-881a-83c93b08799b"/>
</p:tagLst>
</file>

<file path=ppt/tags/tag24.xml><?xml version="1.0" encoding="utf-8"?>
<p:tagLst xmlns:p="http://schemas.openxmlformats.org/presentationml/2006/main">
  <p:tag name="ISLIDE.VECTOR" val="28b0fd0e-7ece-4f48-881a-83c93b08799b"/>
</p:tagLst>
</file>

<file path=ppt/tags/tag25.xml><?xml version="1.0" encoding="utf-8"?>
<p:tagLst xmlns:p="http://schemas.openxmlformats.org/presentationml/2006/main">
  <p:tag name="ISLIDE.VECTOR" val="28b0fd0e-7ece-4f48-881a-83c93b08799b"/>
</p:tagLst>
</file>

<file path=ppt/tags/tag26.xml><?xml version="1.0" encoding="utf-8"?>
<p:tagLst xmlns:p="http://schemas.openxmlformats.org/presentationml/2006/main">
  <p:tag name="ISLIDE.VECTOR" val="28b0fd0e-7ece-4f48-881a-83c93b08799b"/>
</p:tagLst>
</file>

<file path=ppt/tags/tag27.xml><?xml version="1.0" encoding="utf-8"?>
<p:tagLst xmlns:p="http://schemas.openxmlformats.org/presentationml/2006/main">
  <p:tag name="ISLIDE.VECTOR" val="28b0fd0e-7ece-4f48-881a-83c93b08799b"/>
</p:tagLst>
</file>

<file path=ppt/tags/tag28.xml><?xml version="1.0" encoding="utf-8"?>
<p:tagLst xmlns:p="http://schemas.openxmlformats.org/presentationml/2006/main">
  <p:tag name="ISLIDE.VECTOR" val="28b0fd0e-7ece-4f48-881a-83c93b08799b"/>
</p:tagLst>
</file>

<file path=ppt/tags/tag29.xml><?xml version="1.0" encoding="utf-8"?>
<p:tagLst xmlns:p="http://schemas.openxmlformats.org/presentationml/2006/main">
  <p:tag name="ISLIDE.VECTOR" val="28b0fd0e-7ece-4f48-881a-83c93b08799b"/>
</p:tagLst>
</file>

<file path=ppt/tags/tag30.xml><?xml version="1.0" encoding="utf-8"?>
<p:tagLst xmlns:p="http://schemas.openxmlformats.org/presentationml/2006/main">
  <p:tag name="ISLIDE.VECTOR" val="28b0fd0e-7ece-4f48-881a-83c93b08799b"/>
</p:tagLst>
</file>

<file path=ppt/tags/tag31.xml><?xml version="1.0" encoding="utf-8"?>
<p:tagLst xmlns:p="http://schemas.openxmlformats.org/presentationml/2006/main">
  <p:tag name="ISLIDE.VECTOR" val="28b0fd0e-7ece-4f48-881a-83c93b08799b"/>
</p:tagLst>
</file>

<file path=ppt/tags/tag32.xml><?xml version="1.0" encoding="utf-8"?>
<p:tagLst xmlns:p="http://schemas.openxmlformats.org/presentationml/2006/main">
  <p:tag name="KSO_WM_DIAGRAM_VIRTUALLY_FRAME" val="{&quot;height&quot;:372,&quot;left&quot;:162,&quot;top&quot;:108,&quot;width&quot;:648}"/>
</p:tagLst>
</file>

<file path=ppt/tags/tag33.xml><?xml version="1.0" encoding="utf-8"?>
<p:tagLst xmlns:p="http://schemas.openxmlformats.org/presentationml/2006/main">
  <p:tag name="KSO_WM_DIAGRAM_VIRTUALLY_FRAME" val="{&quot;height&quot;:372,&quot;left&quot;:162,&quot;top&quot;:108,&quot;width&quot;:648}"/>
</p:tagLst>
</file>

<file path=ppt/tags/tag34.xml><?xml version="1.0" encoding="utf-8"?>
<p:tagLst xmlns:p="http://schemas.openxmlformats.org/presentationml/2006/main">
  <p:tag name="KSO_WM_DIAGRAM_VIRTUALLY_FRAME" val="{&quot;height&quot;:372,&quot;left&quot;:162,&quot;top&quot;:108,&quot;width&quot;:648}"/>
</p:tagLst>
</file>

<file path=ppt/tags/tag35.xml><?xml version="1.0" encoding="utf-8"?>
<p:tagLst xmlns:p="http://schemas.openxmlformats.org/presentationml/2006/main">
  <p:tag name="KSO_WM_DIAGRAM_VIRTUALLY_FRAME" val="{&quot;height&quot;:372,&quot;left&quot;:162,&quot;top&quot;:108,&quot;width&quot;:648}"/>
</p:tagLst>
</file>

<file path=ppt/tags/tag36.xml><?xml version="1.0" encoding="utf-8"?>
<p:tagLst xmlns:p="http://schemas.openxmlformats.org/presentationml/2006/main">
  <p:tag name="KSO_WM_DIAGRAM_VIRTUALLY_FRAME" val="{&quot;height&quot;:372,&quot;left&quot;:162,&quot;top&quot;:108,&quot;width&quot;:648}"/>
</p:tagLst>
</file>

<file path=ppt/tags/tag37.xml><?xml version="1.0" encoding="utf-8"?>
<p:tagLst xmlns:p="http://schemas.openxmlformats.org/presentationml/2006/main">
  <p:tag name="KSO_WM_DIAGRAM_VIRTUALLY_FRAME" val="{&quot;height&quot;:372,&quot;left&quot;:162,&quot;top&quot;:108,&quot;width&quot;:648}"/>
</p:tagLst>
</file>

<file path=ppt/tags/tag38.xml><?xml version="1.0" encoding="utf-8"?>
<p:tagLst xmlns:p="http://schemas.openxmlformats.org/presentationml/2006/main">
  <p:tag name="KSO_WM_DIAGRAM_VIRTUALLY_FRAME" val="{&quot;height&quot;:372,&quot;left&quot;:162,&quot;top&quot;:108,&quot;width&quot;:648}"/>
</p:tagLst>
</file>

<file path=ppt/tags/tag39.xml><?xml version="1.0" encoding="utf-8"?>
<p:tagLst xmlns:p="http://schemas.openxmlformats.org/presentationml/2006/main">
  <p:tag name="KSO_WM_DIAGRAM_VIRTUALLY_FRAME" val="{&quot;height&quot;:372,&quot;left&quot;:162,&quot;top&quot;:108,&quot;width&quot;:648}"/>
</p:tagLst>
</file>

<file path=ppt/tags/tag40.xml><?xml version="1.0" encoding="utf-8"?>
<p:tagLst xmlns:p="http://schemas.openxmlformats.org/presentationml/2006/main">
  <p:tag name="KSO_WM_DIAGRAM_VIRTUALLY_FRAME" val="{&quot;height&quot;:372,&quot;left&quot;:162,&quot;top&quot;:108,&quot;width&quot;:648}"/>
</p:tagLst>
</file>

<file path=ppt/tags/tag41.xml><?xml version="1.0" encoding="utf-8"?>
<p:tagLst xmlns:p="http://schemas.openxmlformats.org/presentationml/2006/main">
  <p:tag name="KSO_WM_DIAGRAM_VIRTUALLY_FRAME" val="{&quot;height&quot;:372,&quot;left&quot;:162,&quot;top&quot;:108,&quot;width&quot;:648}"/>
</p:tagLst>
</file>

<file path=ppt/tags/tag42.xml><?xml version="1.0" encoding="utf-8"?>
<p:tagLst xmlns:p="http://schemas.openxmlformats.org/presentationml/2006/main">
  <p:tag name="ISLIDE.VECTOR" val="28b0fd0e-7ece-4f48-881a-83c93b08799b"/>
</p:tagLst>
</file>

<file path=ppt/tags/tag43.xml><?xml version="1.0" encoding="utf-8"?>
<p:tagLst xmlns:p="http://schemas.openxmlformats.org/presentationml/2006/main">
  <p:tag name="ISLIDE.VECTOR" val="28b0fd0e-7ece-4f48-881a-83c93b08799b"/>
</p:tagLst>
</file>

<file path=ppt/tags/tag44.xml><?xml version="1.0" encoding="utf-8"?>
<p:tagLst xmlns:p="http://schemas.openxmlformats.org/presentationml/2006/main">
  <p:tag name="ISLIDE.VECTOR" val="28b0fd0e-7ece-4f48-881a-83c93b08799b"/>
</p:tagLst>
</file>

<file path=ppt/tags/tag45.xml><?xml version="1.0" encoding="utf-8"?>
<p:tagLst xmlns:p="http://schemas.openxmlformats.org/presentationml/2006/main">
  <p:tag name="COMMONDATA" val="eyJoZGlkIjoiMzA1MzljY2Y4ZTIwNzk1OWIzMzdhZjMwODJlM2M5MWEifQ=="/>
  <p:tag name="KSO_WPP_MARK_KEY" val="a7091584-d931-486d-9174-272692c1496b"/>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思源黑体 CN Normal">
      <a:majorFont>
        <a:latin typeface="Times New Roman"/>
        <a:ea typeface="思源黑体 CN Normal"/>
        <a:cs typeface=""/>
      </a:majorFont>
      <a:minorFont>
        <a:latin typeface="Times New Roman"/>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16468</Words>
  <Application>WPS 演示</Application>
  <PresentationFormat>宽屏</PresentationFormat>
  <Paragraphs>671</Paragraphs>
  <Slides>122</Slides>
  <Notes>33</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15</vt:i4>
      </vt:variant>
      <vt:variant>
        <vt:lpstr>幻灯片标题</vt:lpstr>
      </vt:variant>
      <vt:variant>
        <vt:i4>122</vt:i4>
      </vt:variant>
    </vt:vector>
  </HeadingPairs>
  <TitlesOfParts>
    <vt:vector size="153" baseType="lpstr">
      <vt:lpstr>Arial</vt:lpstr>
      <vt:lpstr>宋体</vt:lpstr>
      <vt:lpstr>Wingdings</vt:lpstr>
      <vt:lpstr>Times New Roman</vt:lpstr>
      <vt:lpstr>黑体</vt:lpstr>
      <vt:lpstr>华文行楷</vt:lpstr>
      <vt:lpstr>思源黑体 CN Heavy</vt:lpstr>
      <vt:lpstr>微软雅黑 Light</vt:lpstr>
      <vt:lpstr>思源黑体 CN Normal</vt:lpstr>
      <vt:lpstr>微软雅黑</vt:lpstr>
      <vt:lpstr>Arial Unicode MS</vt:lpstr>
      <vt:lpstr>等线</vt:lpstr>
      <vt:lpstr>KSOFBD28ECAF</vt:lpstr>
      <vt:lpstr>Courant</vt:lpstr>
      <vt:lpstr>KSOF954951BB</vt:lpstr>
      <vt:lpstr>Office 主题​​</vt:lpstr>
      <vt:lpstr>Paint.Picture</vt:lpstr>
      <vt:lpstr>Visio.Drawing.6</vt:lpstr>
      <vt:lpstr>Visio.Drawing.6</vt:lpstr>
      <vt:lpstr>Word.Picture.8</vt:lpstr>
      <vt:lpstr>Word.Picture.8</vt:lpstr>
      <vt:lpstr>Word.Picture.8</vt:lpstr>
      <vt:lpstr>Word.Picture.8</vt:lpstr>
      <vt:lpstr>Word.Picture.8</vt:lpstr>
      <vt:lpstr>Word.Picture.8</vt:lpstr>
      <vt:lpstr>Word.Picture.8</vt:lpstr>
      <vt:lpstr>Visio.Drawing.6</vt:lpstr>
      <vt:lpstr>Visio.Drawing.6</vt:lpstr>
      <vt:lpstr>Visio.Drawing.6</vt:lpstr>
      <vt:lpstr>Visio.Drawing.6</vt:lpstr>
      <vt:lpstr>Visio.Drawing.6</vt:lpstr>
      <vt:lpstr>第5章 网络防护      （一）</vt:lpstr>
      <vt:lpstr>PowerPoint 演示文稿</vt:lpstr>
      <vt:lpstr>前言</vt:lpstr>
      <vt:lpstr>PowerPoint 演示文稿</vt:lpstr>
      <vt:lpstr>网络主动防御</vt:lpstr>
      <vt:lpstr>PowerPoint 演示文稿</vt:lpstr>
      <vt:lpstr>网络主动防御安全模型</vt:lpstr>
      <vt:lpstr>网络主动防御安全模型</vt:lpstr>
      <vt:lpstr>网络主动防御安全模型 </vt:lpstr>
      <vt:lpstr>网络主动防御安全模型</vt:lpstr>
      <vt:lpstr>网络主动防御安全模型</vt:lpstr>
      <vt:lpstr>PowerPoint 演示文稿</vt:lpstr>
      <vt:lpstr>纵深防御策略</vt:lpstr>
      <vt:lpstr>纵深防御策略</vt:lpstr>
      <vt:lpstr>纵深防御策略</vt:lpstr>
      <vt:lpstr>纵深防御策略</vt:lpstr>
      <vt:lpstr>纵深防御策略</vt:lpstr>
      <vt:lpstr>纵深防御策略</vt:lpstr>
      <vt:lpstr>纵深防御策略</vt:lpstr>
      <vt:lpstr>纵深防御策略</vt:lpstr>
      <vt:lpstr>PowerPoint 演示文稿</vt:lpstr>
      <vt:lpstr>网络 主动 防御 体系 结构</vt:lpstr>
      <vt:lpstr>网络主动防御系统</vt:lpstr>
      <vt:lpstr>网络主动防御系统</vt:lpstr>
      <vt:lpstr>网络主动防御系统</vt:lpstr>
      <vt:lpstr>网络主动防御系统</vt:lpstr>
      <vt:lpstr>网络主动防御系统</vt:lpstr>
      <vt:lpstr>网络主动防御系统</vt:lpstr>
      <vt:lpstr>网络主动防御系统</vt:lpstr>
      <vt:lpstr>PowerPoint 演示文稿</vt:lpstr>
      <vt:lpstr>PowerPoint 演示文稿</vt:lpstr>
      <vt:lpstr>一、 防火墙的策略与技术 </vt:lpstr>
      <vt:lpstr>1 防火墙的引入 </vt:lpstr>
      <vt:lpstr>PowerPoint 演示文稿</vt:lpstr>
      <vt:lpstr>PowerPoint 演示文稿</vt:lpstr>
      <vt:lpstr>2  使用防火墙所带来的问题 </vt:lpstr>
      <vt:lpstr>二、 防火墙的接入与安全策略</vt:lpstr>
      <vt:lpstr>图5-5  防火墙接入的基本方法示意图</vt:lpstr>
      <vt:lpstr> </vt:lpstr>
      <vt:lpstr>三、 防火墙的安全技术</vt:lpstr>
      <vt:lpstr>PowerPoint 演示文稿</vt:lpstr>
      <vt:lpstr>3  代理技术</vt:lpstr>
      <vt:lpstr>4  状态包过滤技术 </vt:lpstr>
      <vt:lpstr>5   多级过滤技术</vt:lpstr>
      <vt:lpstr>6  网络地址转换（NAT）</vt:lpstr>
      <vt:lpstr>7 支持DMZ网络</vt:lpstr>
      <vt:lpstr>8    用户鉴别与加密</vt:lpstr>
      <vt:lpstr>9  审计与报警</vt:lpstr>
      <vt:lpstr>PowerPoint 演示文稿</vt:lpstr>
      <vt:lpstr>一、 网络层防火墙 </vt:lpstr>
      <vt:lpstr>下面是网络层防火墙的一个简单包过滤策略示例：</vt:lpstr>
      <vt:lpstr>PowerPoint 演示文稿</vt:lpstr>
      <vt:lpstr>PowerPoint 演示文稿</vt:lpstr>
      <vt:lpstr>PowerPoint 演示文稿</vt:lpstr>
      <vt:lpstr>二、 应用层防火墙</vt:lpstr>
      <vt:lpstr>PowerPoint 演示文稿</vt:lpstr>
      <vt:lpstr>应用层防火墙2：双宿网关防火墙 </vt:lpstr>
      <vt:lpstr>PowerPoint 演示文稿</vt:lpstr>
      <vt:lpstr>(1) 具有应用转发器的双宿网关防火墙</vt:lpstr>
      <vt:lpstr>PowerPoint 演示文稿</vt:lpstr>
      <vt:lpstr>(2) 具有邮件或新闻转发器的双宿网关防火墙 </vt:lpstr>
      <vt:lpstr>PowerPoint 演示文稿</vt:lpstr>
      <vt:lpstr>（3）使用双宿网关防火墙的注意事项</vt:lpstr>
      <vt:lpstr> 降低双宿网关防火墙安全性能的一些因素：</vt:lpstr>
      <vt:lpstr> </vt:lpstr>
      <vt:lpstr>应用层防火墙3：  电路网关</vt:lpstr>
      <vt:lpstr>PowerPoint 演示文稿</vt:lpstr>
      <vt:lpstr>电路网关的缺陷</vt:lpstr>
      <vt:lpstr>PowerPoint 演示文稿</vt:lpstr>
      <vt:lpstr>5.3 虚拟专用网（VPN） </vt:lpstr>
      <vt:lpstr>PowerPoint 演示文稿</vt:lpstr>
      <vt:lpstr>PowerPoint 演示文稿</vt:lpstr>
      <vt:lpstr> </vt:lpstr>
      <vt:lpstr> </vt:lpstr>
      <vt:lpstr> </vt:lpstr>
      <vt:lpstr>PowerPoint 演示文稿</vt:lpstr>
      <vt:lpstr>图5-19  在传送模式和隧道模式下的受IPSec保护的IP包 </vt:lpstr>
      <vt:lpstr>2、用IPSec构建IP-VPN </vt:lpstr>
      <vt:lpstr> </vt:lpstr>
      <vt:lpstr>图5-21  IP-VPN原理图 </vt:lpstr>
      <vt:lpstr>PowerPoint 演示文稿</vt:lpstr>
      <vt:lpstr>PowerPoint 演示文稿</vt:lpstr>
      <vt:lpstr>5.4 蜜罐技术</vt:lpstr>
      <vt:lpstr>PowerPoint 演示文稿</vt:lpstr>
      <vt:lpstr>PowerPoint 演示文稿</vt:lpstr>
      <vt:lpstr>1. 低交互蜜罐</vt:lpstr>
      <vt:lpstr> </vt:lpstr>
      <vt:lpstr> </vt:lpstr>
      <vt:lpstr>2.高交互蜜罐</vt:lpstr>
      <vt:lpstr> </vt:lpstr>
      <vt:lpstr> </vt:lpstr>
      <vt:lpstr> </vt:lpstr>
      <vt:lpstr> </vt:lpstr>
      <vt:lpstr> </vt:lpstr>
      <vt:lpstr>图5-22  GenII的结构配置图 </vt:lpstr>
      <vt:lpstr>高、低交互蜜罐比较</vt:lpstr>
      <vt:lpstr>PowerPoint 演示文稿</vt:lpstr>
      <vt:lpstr> </vt:lpstr>
      <vt:lpstr> </vt:lpstr>
      <vt:lpstr>2. 蜜罐的弱点</vt:lpstr>
      <vt:lpstr> </vt:lpstr>
      <vt:lpstr>PowerPoint 演示文稿</vt:lpstr>
      <vt:lpstr>5.5 入侵检测 </vt:lpstr>
      <vt:lpstr>PowerPoint 演示文稿</vt:lpstr>
      <vt:lpstr>图5-23  入侵检测模型</vt:lpstr>
      <vt:lpstr>PowerPoint 演示文稿</vt:lpstr>
      <vt:lpstr>（1）入侵。</vt:lpstr>
      <vt:lpstr>（2）伪装。</vt:lpstr>
      <vt:lpstr>（4）合法用户的泄漏。</vt:lpstr>
      <vt:lpstr>（5）合法用户的推理。</vt:lpstr>
      <vt:lpstr>（6）特洛伊木马。</vt:lpstr>
      <vt:lpstr>（7）病毒。</vt:lpstr>
      <vt:lpstr>PowerPoint 演示文稿</vt:lpstr>
      <vt:lpstr>Snort系统介绍</vt:lpstr>
      <vt:lpstr>Snort系统介绍</vt:lpstr>
      <vt:lpstr>1. Snort的特性</vt:lpstr>
      <vt:lpstr> Snort的特性</vt:lpstr>
      <vt:lpstr>2. Snort的检测规则 </vt:lpstr>
      <vt:lpstr>3. Snort的部署和运行1</vt:lpstr>
      <vt:lpstr>Snort的部署和运行2</vt:lpstr>
      <vt:lpstr>4. Snort的优化</vt:lpstr>
      <vt:lpstr>谢 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Li安全</cp:lastModifiedBy>
  <cp:revision>231</cp:revision>
  <dcterms:created xsi:type="dcterms:W3CDTF">2019-09-27T01:23:00Z</dcterms:created>
  <dcterms:modified xsi:type="dcterms:W3CDTF">2026-06-09T17:15:24Z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7E114BDEEF4E4A6FAFA14C14D175F1D7_13</vt:lpwstr>
  </property>
</Properties>
</file>