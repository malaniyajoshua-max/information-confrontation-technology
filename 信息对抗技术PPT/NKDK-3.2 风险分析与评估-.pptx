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22" r:id="rId3"/>
    <p:sldId id="423" r:id="rId4"/>
    <p:sldId id="421" r:id="rId6"/>
    <p:sldId id="355" r:id="rId7"/>
    <p:sldId id="357" r:id="rId8"/>
    <p:sldId id="358" r:id="rId9"/>
    <p:sldId id="359" r:id="rId10"/>
    <p:sldId id="360" r:id="rId11"/>
    <p:sldId id="362" r:id="rId12"/>
    <p:sldId id="363" r:id="rId13"/>
    <p:sldId id="364" r:id="rId14"/>
    <p:sldId id="365" r:id="rId15"/>
    <p:sldId id="367" r:id="rId16"/>
    <p:sldId id="368" r:id="rId17"/>
    <p:sldId id="370" r:id="rId18"/>
    <p:sldId id="372" r:id="rId19"/>
    <p:sldId id="373" r:id="rId20"/>
    <p:sldId id="374" r:id="rId21"/>
    <p:sldId id="375" r:id="rId22"/>
    <p:sldId id="376" r:id="rId23"/>
    <p:sldId id="378" r:id="rId24"/>
    <p:sldId id="379" r:id="rId25"/>
    <p:sldId id="380" r:id="rId26"/>
    <p:sldId id="381" r:id="rId27"/>
    <p:sldId id="382" r:id="rId28"/>
    <p:sldId id="383" r:id="rId29"/>
    <p:sldId id="384" r:id="rId30"/>
    <p:sldId id="385" r:id="rId31"/>
    <p:sldId id="386" r:id="rId32"/>
    <p:sldId id="387" r:id="rId33"/>
    <p:sldId id="388" r:id="rId34"/>
    <p:sldId id="389" r:id="rId35"/>
    <p:sldId id="390" r:id="rId36"/>
    <p:sldId id="391" r:id="rId37"/>
    <p:sldId id="392" r:id="rId38"/>
    <p:sldId id="393" r:id="rId39"/>
    <p:sldId id="394" r:id="rId40"/>
    <p:sldId id="395" r:id="rId41"/>
    <p:sldId id="396" r:id="rId42"/>
    <p:sldId id="398" r:id="rId43"/>
    <p:sldId id="399" r:id="rId44"/>
    <p:sldId id="400" r:id="rId45"/>
    <p:sldId id="401" r:id="rId46"/>
    <p:sldId id="402" r:id="rId47"/>
    <p:sldId id="403" r:id="rId48"/>
    <p:sldId id="408" r:id="rId49"/>
    <p:sldId id="407" r:id="rId50"/>
    <p:sldId id="409" r:id="rId51"/>
    <p:sldId id="410" r:id="rId52"/>
    <p:sldId id="411" r:id="rId53"/>
    <p:sldId id="412" r:id="rId54"/>
    <p:sldId id="414" r:id="rId55"/>
    <p:sldId id="415" r:id="rId56"/>
    <p:sldId id="416" r:id="rId57"/>
    <p:sldId id="417" r:id="rId58"/>
    <p:sldId id="419" r:id="rId59"/>
    <p:sldId id="420" r:id="rId60"/>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E3C9F7"/>
    <a:srgbClr val="6E0876"/>
    <a:srgbClr val="731AB6"/>
    <a:srgbClr val="740A47"/>
    <a:srgbClr val="720C4E"/>
    <a:srgbClr val="700E54"/>
    <a:srgbClr val="881DB3"/>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91" d="100"/>
          <a:sy n="91" d="100"/>
        </p:scale>
        <p:origin x="246" y="84"/>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3.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smtClean="0">
                <a:solidFill>
                  <a:srgbClr val="00B0F0"/>
                </a:solidFill>
              </a:rPr>
              <a:t>审计 </a:t>
            </a:r>
            <a:r>
              <a:rPr lang="en-US" altLang="zh-CN" sz="1200" b="1" dirty="0" smtClean="0">
                <a:solidFill>
                  <a:srgbClr val="00B0F0"/>
                </a:solidFill>
              </a:rPr>
              <a:t>Audit:</a:t>
            </a:r>
            <a:r>
              <a:rPr lang="en-US" altLang="zh-CN" sz="1200" dirty="0" smtClean="0"/>
              <a:t>        </a:t>
            </a:r>
            <a:r>
              <a:rPr lang="zh-CN" altLang="en-US" sz="1200" dirty="0" smtClean="0"/>
              <a:t>一个审核工具被用来寻找网络的漏洞。在网络安全审核基础上进行风险分析，并由此构造网络安全策略，就形成了原始的安全基准。</a:t>
            </a:r>
            <a:endParaRPr lang="zh-CN" altLang="en-US" sz="1200" dirty="0" smtClean="0"/>
          </a:p>
          <a:p>
            <a:r>
              <a:rPr lang="zh-CN" altLang="en-US" sz="1200" b="1" dirty="0" smtClean="0">
                <a:solidFill>
                  <a:srgbClr val="00B0F0"/>
                </a:solidFill>
              </a:rPr>
              <a:t>校正 </a:t>
            </a:r>
            <a:r>
              <a:rPr lang="en-US" altLang="zh-CN" sz="1200" b="1" dirty="0" smtClean="0">
                <a:solidFill>
                  <a:srgbClr val="00B0F0"/>
                </a:solidFill>
              </a:rPr>
              <a:t>Correct:</a:t>
            </a:r>
            <a:r>
              <a:rPr lang="en-US" altLang="zh-CN" sz="1200" dirty="0" smtClean="0"/>
              <a:t>        </a:t>
            </a:r>
            <a:r>
              <a:rPr lang="zh-CN" altLang="en-US" sz="1200" dirty="0" smtClean="0"/>
              <a:t>系统中不能通过网络审核的部分要被校正。因此，系统应该不断地被审核以保证新的漏洞不再出现，老的漏洞不再重现。 </a:t>
            </a:r>
            <a:endParaRPr lang="zh-CN" altLang="en-US" sz="1200" dirty="0" smtClean="0"/>
          </a:p>
          <a:p>
            <a:r>
              <a:rPr lang="zh-CN" altLang="en-US" sz="1200" b="1" dirty="0" smtClean="0">
                <a:solidFill>
                  <a:srgbClr val="00B0F0"/>
                </a:solidFill>
              </a:rPr>
              <a:t>监控 </a:t>
            </a:r>
            <a:r>
              <a:rPr lang="en-US" altLang="zh-CN" sz="1200" b="1" dirty="0" smtClean="0">
                <a:solidFill>
                  <a:srgbClr val="00B0F0"/>
                </a:solidFill>
              </a:rPr>
              <a:t>Monitor:</a:t>
            </a:r>
            <a:r>
              <a:rPr lang="en-US" altLang="zh-CN" sz="1200" dirty="0" smtClean="0"/>
              <a:t>        </a:t>
            </a:r>
            <a:r>
              <a:rPr lang="zh-CN" altLang="en-US" sz="1200" dirty="0" smtClean="0"/>
              <a:t>一个监控工具是用来监视新出现的网络攻击手段或者滥用老漏洞的企图。这使得网络管理员始终掌握网络最新动态。</a:t>
            </a:r>
            <a:endParaRPr lang="zh-CN" altLang="en-US" sz="2000"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5777"/>
          <p:cNvSpPr txBox="1"/>
          <p:nvPr/>
        </p:nvSpPr>
        <p:spPr>
          <a:xfrm>
            <a:off x="2711450" y="1557339"/>
            <a:ext cx="6783388" cy="1154113"/>
          </a:xfrm>
          <a:prstGeom prst="rect">
            <a:avLst/>
          </a:prstGeom>
        </p:spPr>
        <p:txBody>
          <a:bodyPr lIns="92075" tIns="46038" rIns="92075" bIns="46038"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en-US" altLang="zh-CN" sz="4000" noProof="1" smtClean="0">
                <a:latin typeface="Times New Roman" panose="02020603050405020304" pitchFamily="18" charset="0"/>
                <a:ea typeface="黑体" panose="02010609060101010101" pitchFamily="2" charset="-122"/>
              </a:rPr>
              <a:t>《</a:t>
            </a:r>
            <a:r>
              <a:rPr lang="zh-CN" altLang="en-US" sz="4000" noProof="1" smtClean="0">
                <a:latin typeface="Times New Roman" panose="02020603050405020304" pitchFamily="18" charset="0"/>
                <a:ea typeface="黑体" panose="02010609060101010101" pitchFamily="2" charset="-122"/>
              </a:rPr>
              <a:t>信息对抗技术</a:t>
            </a:r>
            <a:r>
              <a:rPr lang="en-US" altLang="zh-CN" sz="4000" noProof="1" smtClean="0">
                <a:latin typeface="Times New Roman" panose="02020603050405020304" pitchFamily="18" charset="0"/>
                <a:ea typeface="黑体" panose="02010609060101010101" pitchFamily="2" charset="-122"/>
              </a:rPr>
              <a:t>》</a:t>
            </a:r>
            <a:br>
              <a:rPr lang="en-US" altLang="zh-CN" sz="4000" dirty="0" smtClean="0">
                <a:latin typeface="Times New Roman" panose="02020603050405020304" pitchFamily="18" charset="0"/>
                <a:ea typeface="黑体" panose="02010609060101010101" pitchFamily="2" charset="-122"/>
              </a:rPr>
            </a:br>
            <a:r>
              <a:rPr lang="zh-CN" altLang="en-US" sz="4000" noProof="1" smtClean="0">
                <a:latin typeface="Times New Roman" panose="02020603050405020304" pitchFamily="18" charset="0"/>
                <a:ea typeface="隶书" panose="02010509060101010101" pitchFamily="49" charset="-122"/>
              </a:rPr>
              <a:t>电子讲稿</a:t>
            </a:r>
            <a:endParaRPr lang="zh-CN" altLang="en-US" sz="4000" noProof="1">
              <a:latin typeface="Times New Roman" panose="02020603050405020304" pitchFamily="18" charset="0"/>
              <a:ea typeface="隶书" panose="02010509060101010101" pitchFamily="49" charset="-122"/>
            </a:endParaRPr>
          </a:p>
        </p:txBody>
      </p:sp>
      <p:sp>
        <p:nvSpPr>
          <p:cNvPr id="3" name="副标题 75778"/>
          <p:cNvSpPr txBox="1"/>
          <p:nvPr/>
        </p:nvSpPr>
        <p:spPr>
          <a:xfrm>
            <a:off x="2222500" y="3429000"/>
            <a:ext cx="6400800" cy="1752600"/>
          </a:xfrm>
          <a:prstGeom prst="rect">
            <a:avLst/>
          </a:prstGeom>
        </p:spPr>
        <p:txBody>
          <a:bodyPr lIns="92075" tIns="46038" rIns="92075" bIns="46038"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0000"/>
            </a:pPr>
            <a:endParaRPr lang="en-US" altLang="zh-CN" smtClean="0"/>
          </a:p>
          <a:p>
            <a:pPr>
              <a:buSzPct val="80000"/>
            </a:pPr>
            <a:endParaRPr lang="en-US" altLang="zh-CN"/>
          </a:p>
        </p:txBody>
      </p:sp>
      <p:sp>
        <p:nvSpPr>
          <p:cNvPr id="4" name="文本框 75779"/>
          <p:cNvSpPr txBox="1"/>
          <p:nvPr/>
        </p:nvSpPr>
        <p:spPr>
          <a:xfrm>
            <a:off x="5110799" y="3605214"/>
            <a:ext cx="2068830" cy="1198880"/>
          </a:xfrm>
          <a:prstGeom prst="rect">
            <a:avLst/>
          </a:prstGeom>
          <a:noFill/>
          <a:ln w="9525">
            <a:noFill/>
          </a:ln>
        </p:spPr>
        <p:txBody>
          <a:bodyPr wrap="none" anchor="t">
            <a:spAutoFit/>
          </a:bodyPr>
          <a:lstStyle/>
          <a:p>
            <a:pPr algn="ctr"/>
            <a:r>
              <a:rPr lang="zh-CN" altLang="en-US" dirty="0">
                <a:latin typeface="Times New Roman" panose="02020603050405020304" pitchFamily="18" charset="0"/>
                <a:ea typeface="华文行楷" panose="02010800040101010101" pitchFamily="2" charset="-122"/>
              </a:rPr>
              <a:t>李朝晖</a:t>
            </a:r>
            <a:endParaRPr lang="zh-CN" altLang="en-US" dirty="0">
              <a:latin typeface="Times New Roman" panose="02020603050405020304" pitchFamily="18" charset="0"/>
              <a:ea typeface="华文行楷" panose="02010800040101010101" pitchFamily="2" charset="-122"/>
            </a:endParaRPr>
          </a:p>
          <a:p>
            <a:pPr algn="ctr"/>
            <a:r>
              <a:rPr lang="zh-CN" altLang="en-US" dirty="0">
                <a:latin typeface="Times New Roman" panose="02020603050405020304" pitchFamily="18" charset="0"/>
                <a:ea typeface="华文行楷" panose="02010800040101010101" pitchFamily="2" charset="-122"/>
              </a:rPr>
              <a:t>南开大学 密网学院</a:t>
            </a:r>
            <a:endParaRPr lang="zh-CN" altLang="en-US" dirty="0">
              <a:latin typeface="Times New Roman" panose="02020603050405020304" pitchFamily="18" charset="0"/>
              <a:ea typeface="华文行楷" panose="02010800040101010101" pitchFamily="2" charset="-122"/>
            </a:endParaRPr>
          </a:p>
          <a:p>
            <a:pPr algn="ctr"/>
            <a:endParaRPr lang="zh-CN" altLang="en-US" dirty="0">
              <a:latin typeface="Times New Roman" panose="02020603050405020304" pitchFamily="18" charset="0"/>
              <a:ea typeface="宋体" panose="02010600030101010101" pitchFamily="2" charset="-122"/>
            </a:endParaRPr>
          </a:p>
          <a:p>
            <a:pPr algn="ctr"/>
            <a:r>
              <a:rPr lang="en-US" altLang="zh-CN" smtClean="0">
                <a:latin typeface="Times New Roman" panose="02020603050405020304" pitchFamily="18" charset="0"/>
                <a:ea typeface="宋体" panose="02010600030101010101" pitchFamily="2" charset="-122"/>
              </a:rPr>
              <a:t>2026</a:t>
            </a: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7"/>
          <p:cNvSpPr txBox="1"/>
          <p:nvPr/>
        </p:nvSpPr>
        <p:spPr>
          <a:xfrm>
            <a:off x="3455362" y="2907697"/>
            <a:ext cx="4990524" cy="523220"/>
          </a:xfrm>
          <a:prstGeom prst="rect">
            <a:avLst/>
          </a:prstGeom>
          <a:noFill/>
        </p:spPr>
        <p:txBody>
          <a:bodyPr wrap="square">
            <a:spAutoFit/>
          </a:bodyPr>
          <a:lstStyle/>
          <a:p>
            <a:pPr marR="0" algn="ctr" defTabSz="1217930" fontAlgn="auto">
              <a:buClrTx/>
              <a:buSzTx/>
              <a:buFont typeface="Arial" panose="020B0604020202020204" pitchFamily="34" charset="0"/>
              <a:defRPr/>
            </a:pPr>
            <a:r>
              <a:rPr kumimoji="0" lang="zh-CN" altLang="en-US" sz="2800"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第</a:t>
            </a:r>
            <a:r>
              <a:rPr kumimoji="0" lang="en-US" altLang="zh-CN" sz="2800"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3</a:t>
            </a:r>
            <a:r>
              <a:rPr kumimoji="0" lang="zh-CN" altLang="en-US" sz="2800"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章  安全性分析与风险评估</a:t>
            </a:r>
            <a:endParaRPr kumimoji="0" lang="zh-CN" altLang="en-US" sz="2800" kern="1200" cap="none" spc="0" normalizeH="0" baseline="0" noProof="1">
              <a:solidFill>
                <a:srgbClr val="002060"/>
              </a:solidFill>
              <a:latin typeface="思源黑体 CN Heavy" panose="020B0A00000000000000" pitchFamily="34" charset="-122"/>
              <a:ea typeface="思源黑体 CN Heavy" panose="020B0A00000000000000" pitchFamily="34" charset="-122"/>
              <a:cs typeface="+mn-ea"/>
              <a:sym typeface="+mn-ea"/>
            </a:endParaRPr>
          </a:p>
        </p:txBody>
      </p:sp>
      <p:grpSp>
        <p:nvGrpSpPr>
          <p:cNvPr id="20" name="组合 19"/>
          <p:cNvGrpSpPr/>
          <p:nvPr/>
        </p:nvGrpSpPr>
        <p:grpSpPr>
          <a:xfrm>
            <a:off x="5198095" y="1067366"/>
            <a:ext cx="1622688" cy="1622688"/>
            <a:chOff x="882649" y="2219325"/>
            <a:chExt cx="2070101" cy="2070101"/>
          </a:xfrm>
        </p:grpSpPr>
        <p:sp>
          <p:nvSpPr>
            <p:cNvPr id="21" name="椭圆 20"/>
            <p:cNvSpPr/>
            <p:nvPr/>
          </p:nvSpPr>
          <p:spPr>
            <a:xfrm>
              <a:off x="1019174" y="2355850"/>
              <a:ext cx="1797050" cy="1797050"/>
            </a:xfrm>
            <a:prstGeom prst="ellipse">
              <a:avLst/>
            </a:prstGeom>
            <a:noFill/>
            <a:ln>
              <a:solidFill>
                <a:srgbClr val="0F73E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smtClean="0">
                  <a:solidFill>
                    <a:schemeClr val="accent5">
                      <a:lumMod val="50000"/>
                    </a:schemeClr>
                  </a:solidFill>
                  <a:effectLst/>
                  <a:latin typeface="+mj-lt"/>
                  <a:ea typeface="微软雅黑 Light" panose="020B0502040204020203" pitchFamily="34" charset="-122"/>
                  <a:cs typeface="+mn-ea"/>
                  <a:sym typeface="+mn-lt"/>
                </a:rPr>
                <a:t>03</a:t>
              </a:r>
              <a:endParaRPr lang="en-US" sz="4000" b="1" dirty="0">
                <a:solidFill>
                  <a:schemeClr val="accent5">
                    <a:lumMod val="50000"/>
                  </a:schemeClr>
                </a:solidFill>
                <a:effectLst/>
                <a:latin typeface="+mj-lt"/>
                <a:cs typeface="+mn-ea"/>
                <a:sym typeface="+mn-lt"/>
              </a:endParaRPr>
            </a:p>
          </p:txBody>
        </p:sp>
        <p:sp>
          <p:nvSpPr>
            <p:cNvPr id="22" name="空心弧 21"/>
            <p:cNvSpPr/>
            <p:nvPr/>
          </p:nvSpPr>
          <p:spPr>
            <a:xfrm rot="7613872">
              <a:off x="882649" y="2219325"/>
              <a:ext cx="2070101" cy="2070101"/>
            </a:xfrm>
            <a:prstGeom prst="blockArc">
              <a:avLst>
                <a:gd name="adj1" fmla="val 10800000"/>
                <a:gd name="adj2" fmla="val 3959450"/>
                <a:gd name="adj3" fmla="val 6684"/>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mn-ea"/>
                <a:sym typeface="+mn-lt"/>
              </a:endParaRPr>
            </a:p>
          </p:txBody>
        </p:sp>
      </p:grpSp>
      <p:grpSp>
        <p:nvGrpSpPr>
          <p:cNvPr id="38" name="组合 37"/>
          <p:cNvGrpSpPr/>
          <p:nvPr/>
        </p:nvGrpSpPr>
        <p:grpSpPr>
          <a:xfrm>
            <a:off x="3455362" y="4212778"/>
            <a:ext cx="4963698" cy="617070"/>
            <a:chOff x="5493750" y="892151"/>
            <a:chExt cx="4963698" cy="617070"/>
          </a:xfrm>
        </p:grpSpPr>
        <p:sp>
          <p:nvSpPr>
            <p:cNvPr id="23" name="矩形: 圆角 22"/>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12"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7" name="矩形: 圆角 36"/>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lumMod val="85000"/>
                      <a:lumOff val="15000"/>
                    </a:schemeClr>
                  </a:solidFill>
                  <a:ea typeface="+mj-ea"/>
                  <a:cs typeface="+mn-ea"/>
                  <a:sym typeface="+mn-lt"/>
                </a:rPr>
                <a:t>3</a:t>
              </a:r>
              <a:r>
                <a:rPr lang="en-US" altLang="zh-CN" sz="2400" dirty="0" smtClean="0">
                  <a:solidFill>
                    <a:schemeClr val="tx1">
                      <a:lumMod val="85000"/>
                      <a:lumOff val="15000"/>
                    </a:schemeClr>
                  </a:solidFill>
                  <a:ea typeface="+mj-ea"/>
                  <a:cs typeface="+mn-ea"/>
                  <a:sym typeface="+mn-lt"/>
                </a:rPr>
                <a:t>.1</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安全漏洞概述</a:t>
              </a:r>
              <a:endParaRPr lang="zh-CN" altLang="en-US" sz="2400" dirty="0">
                <a:solidFill>
                  <a:schemeClr val="tx1">
                    <a:lumMod val="85000"/>
                    <a:lumOff val="15000"/>
                  </a:schemeClr>
                </a:solidFill>
                <a:latin typeface="+mj-ea"/>
                <a:ea typeface="+mj-ea"/>
                <a:cs typeface="+mn-ea"/>
                <a:sym typeface="+mn-lt"/>
              </a:endParaRPr>
            </a:p>
          </p:txBody>
        </p:sp>
      </p:grpSp>
      <p:grpSp>
        <p:nvGrpSpPr>
          <p:cNvPr id="67" name="组合 66"/>
          <p:cNvGrpSpPr/>
          <p:nvPr/>
        </p:nvGrpSpPr>
        <p:grpSpPr>
          <a:xfrm>
            <a:off x="3455362" y="5078787"/>
            <a:ext cx="4963698" cy="617070"/>
            <a:chOff x="5493750" y="892151"/>
            <a:chExt cx="4963698" cy="617070"/>
          </a:xfrm>
        </p:grpSpPr>
        <p:sp>
          <p:nvSpPr>
            <p:cNvPr id="68" name="矩形: 圆角 67"/>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69"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0" name="矩形: 圆角 69"/>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chemeClr val="tx1">
                      <a:lumMod val="85000"/>
                      <a:lumOff val="15000"/>
                    </a:schemeClr>
                  </a:solidFill>
                  <a:ea typeface="+mj-ea"/>
                  <a:cs typeface="+mn-ea"/>
                  <a:sym typeface="+mn-lt"/>
                </a:rPr>
                <a:t>3.2</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风险分析与评估</a:t>
              </a:r>
              <a:endParaRPr lang="zh-CN" altLang="en-US" sz="2400" dirty="0">
                <a:solidFill>
                  <a:schemeClr val="tx1">
                    <a:lumMod val="85000"/>
                    <a:lumOff val="15000"/>
                  </a:schemeClr>
                </a:solidFill>
                <a:latin typeface="+mj-ea"/>
                <a:ea typeface="+mj-ea"/>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750" fill="hold"/>
                                        <p:tgtEl>
                                          <p:spTgt spid="20"/>
                                        </p:tgtEl>
                                        <p:attrNameLst>
                                          <p:attrName>ppt_w</p:attrName>
                                        </p:attrNameLst>
                                      </p:cBhvr>
                                      <p:tavLst>
                                        <p:tav tm="0">
                                          <p:val>
                                            <p:fltVal val="0"/>
                                          </p:val>
                                        </p:tav>
                                        <p:tav tm="100000">
                                          <p:val>
                                            <p:strVal val="#ppt_w"/>
                                          </p:val>
                                        </p:tav>
                                      </p:tavLst>
                                    </p:anim>
                                    <p:anim calcmode="lin" valueType="num">
                                      <p:cBhvr>
                                        <p:cTn id="8" dur="750" fill="hold"/>
                                        <p:tgtEl>
                                          <p:spTgt spid="20"/>
                                        </p:tgtEl>
                                        <p:attrNameLst>
                                          <p:attrName>ppt_h</p:attrName>
                                        </p:attrNameLst>
                                      </p:cBhvr>
                                      <p:tavLst>
                                        <p:tav tm="0">
                                          <p:val>
                                            <p:fltVal val="0"/>
                                          </p:val>
                                        </p:tav>
                                        <p:tav tm="100000">
                                          <p:val>
                                            <p:strVal val="#ppt_h"/>
                                          </p:val>
                                        </p:tav>
                                      </p:tavLst>
                                    </p:anim>
                                    <p:animEffect transition="in" filter="fade">
                                      <p:cBhvr>
                                        <p:cTn id="9" dur="750"/>
                                        <p:tgtEl>
                                          <p:spTgt spid="20"/>
                                        </p:tgtEl>
                                      </p:cBhvr>
                                    </p:animEffect>
                                  </p:childTnLst>
                                </p:cTn>
                              </p:par>
                              <p:par>
                                <p:cTn id="10" presetID="22" presetClass="entr" presetSubtype="8" fill="hold" grpId="0" nodeType="withEffect">
                                  <p:stCondLst>
                                    <p:cond delay="30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7" presetClass="entr" presetSubtype="8"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p:cTn id="16" dur="500" fill="hold"/>
                                        <p:tgtEl>
                                          <p:spTgt spid="38"/>
                                        </p:tgtEl>
                                        <p:attrNameLst>
                                          <p:attrName>ppt_x</p:attrName>
                                        </p:attrNameLst>
                                      </p:cBhvr>
                                      <p:tavLst>
                                        <p:tav tm="0">
                                          <p:val>
                                            <p:strVal val="#ppt_x-#ppt_w/2"/>
                                          </p:val>
                                        </p:tav>
                                        <p:tav tm="100000">
                                          <p:val>
                                            <p:strVal val="#ppt_x"/>
                                          </p:val>
                                        </p:tav>
                                      </p:tavLst>
                                    </p:anim>
                                    <p:anim calcmode="lin" valueType="num">
                                      <p:cBhvr>
                                        <p:cTn id="17" dur="500" fill="hold"/>
                                        <p:tgtEl>
                                          <p:spTgt spid="38"/>
                                        </p:tgtEl>
                                        <p:attrNameLst>
                                          <p:attrName>ppt_y</p:attrName>
                                        </p:attrNameLst>
                                      </p:cBhvr>
                                      <p:tavLst>
                                        <p:tav tm="0">
                                          <p:val>
                                            <p:strVal val="#ppt_y"/>
                                          </p:val>
                                        </p:tav>
                                        <p:tav tm="100000">
                                          <p:val>
                                            <p:strVal val="#ppt_y"/>
                                          </p:val>
                                        </p:tav>
                                      </p:tavLst>
                                    </p:anim>
                                    <p:anim calcmode="lin" valueType="num">
                                      <p:cBhvr>
                                        <p:cTn id="18" dur="500" fill="hold"/>
                                        <p:tgtEl>
                                          <p:spTgt spid="38"/>
                                        </p:tgtEl>
                                        <p:attrNameLst>
                                          <p:attrName>ppt_w</p:attrName>
                                        </p:attrNameLst>
                                      </p:cBhvr>
                                      <p:tavLst>
                                        <p:tav tm="0">
                                          <p:val>
                                            <p:fltVal val="0"/>
                                          </p:val>
                                        </p:tav>
                                        <p:tav tm="100000">
                                          <p:val>
                                            <p:strVal val="#ppt_w"/>
                                          </p:val>
                                        </p:tav>
                                      </p:tavLst>
                                    </p:anim>
                                    <p:anim calcmode="lin" valueType="num">
                                      <p:cBhvr>
                                        <p:cTn id="19" dur="500" fill="hold"/>
                                        <p:tgtEl>
                                          <p:spTgt spid="38"/>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8"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p:cTn id="23" dur="500" fill="hold"/>
                                        <p:tgtEl>
                                          <p:spTgt spid="67"/>
                                        </p:tgtEl>
                                        <p:attrNameLst>
                                          <p:attrName>ppt_x</p:attrName>
                                        </p:attrNameLst>
                                      </p:cBhvr>
                                      <p:tavLst>
                                        <p:tav tm="0">
                                          <p:val>
                                            <p:strVal val="#ppt_x-#ppt_w/2"/>
                                          </p:val>
                                        </p:tav>
                                        <p:tav tm="100000">
                                          <p:val>
                                            <p:strVal val="#ppt_x"/>
                                          </p:val>
                                        </p:tav>
                                      </p:tavLst>
                                    </p:anim>
                                    <p:anim calcmode="lin" valueType="num">
                                      <p:cBhvr>
                                        <p:cTn id="24" dur="500" fill="hold"/>
                                        <p:tgtEl>
                                          <p:spTgt spid="67"/>
                                        </p:tgtEl>
                                        <p:attrNameLst>
                                          <p:attrName>ppt_y</p:attrName>
                                        </p:attrNameLst>
                                      </p:cBhvr>
                                      <p:tavLst>
                                        <p:tav tm="0">
                                          <p:val>
                                            <p:strVal val="#ppt_y"/>
                                          </p:val>
                                        </p:tav>
                                        <p:tav tm="100000">
                                          <p:val>
                                            <p:strVal val="#ppt_y"/>
                                          </p:val>
                                        </p:tav>
                                      </p:tavLst>
                                    </p:anim>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base"/>
            <a:r>
              <a:rPr lang="zh-CN" altLang="en-US" sz="4000" noProof="1">
                <a:solidFill>
                  <a:srgbClr val="002060"/>
                </a:solidFill>
                <a:latin typeface="思源黑体 CN Heavy" panose="020B0A00000000000000" pitchFamily="34" charset="-122"/>
                <a:ea typeface="思源黑体 CN Heavy" panose="020B0A00000000000000" pitchFamily="34" charset="-122"/>
                <a:cs typeface="+mn-ea"/>
              </a:rPr>
              <a:t>风险分析与评估</a:t>
            </a:r>
            <a:endParaRPr lang="zh-CN" altLang="en-US" sz="4000" noProof="1">
              <a:solidFill>
                <a:srgbClr val="002060"/>
              </a:solidFill>
              <a:latin typeface="思源黑体 CN Heavy" panose="020B0A00000000000000" pitchFamily="34" charset="-122"/>
              <a:ea typeface="思源黑体 CN Heavy" panose="020B0A00000000000000" pitchFamily="34" charset="-122"/>
              <a:cs typeface="+mn-ea"/>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3730"/>
          <p:cNvSpPr txBox="1"/>
          <p:nvPr/>
        </p:nvSpPr>
        <p:spPr>
          <a:xfrm>
            <a:off x="1272385" y="1753186"/>
            <a:ext cx="5818908" cy="3430379"/>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smtClean="0"/>
              <a:t>        信息安全是当今的一个热门话题，特别是在</a:t>
            </a:r>
            <a:r>
              <a:rPr lang="en-US" altLang="zh-CN" dirty="0" smtClean="0"/>
              <a:t>internet</a:t>
            </a:r>
            <a:r>
              <a:rPr lang="zh-CN" altLang="en-US" dirty="0" smtClean="0"/>
              <a:t>上。然而，极少有人知道如何创建一个可接受的安全系统。 </a:t>
            </a:r>
            <a:endParaRPr lang="zh-CN" altLang="en-US" dirty="0" smtClean="0"/>
          </a:p>
          <a:p>
            <a:pPr marL="0" indent="0">
              <a:buNone/>
            </a:pPr>
            <a:r>
              <a:rPr lang="zh-CN" altLang="en-US" dirty="0" smtClean="0"/>
              <a:t>        安全是一个技术手段不断进步的实施过程。图</a:t>
            </a:r>
            <a:r>
              <a:rPr lang="en-US" altLang="zh-CN" dirty="0" smtClean="0"/>
              <a:t>3-1</a:t>
            </a:r>
            <a:r>
              <a:rPr lang="zh-CN" altLang="en-US" dirty="0" smtClean="0"/>
              <a:t>表示实现一个系统安全的周期，在这个周期中包括</a:t>
            </a:r>
            <a:r>
              <a:rPr lang="zh-CN" altLang="en-US" dirty="0" smtClean="0">
                <a:solidFill>
                  <a:srgbClr val="FF0000"/>
                </a:solidFill>
              </a:rPr>
              <a:t>审计、校正</a:t>
            </a:r>
            <a:r>
              <a:rPr lang="zh-CN" altLang="en-US" dirty="0" smtClean="0">
                <a:solidFill>
                  <a:schemeClr val="tx1"/>
                </a:solidFill>
              </a:rPr>
              <a:t>和</a:t>
            </a:r>
            <a:r>
              <a:rPr lang="zh-CN" altLang="en-US" dirty="0" smtClean="0">
                <a:solidFill>
                  <a:srgbClr val="FF0000"/>
                </a:solidFill>
              </a:rPr>
              <a:t>监控</a:t>
            </a:r>
            <a:r>
              <a:rPr lang="zh-CN" altLang="en-US" dirty="0" smtClean="0"/>
              <a:t>三个动态循环的阶段。 </a:t>
            </a:r>
            <a:endParaRPr lang="zh-CN" altLang="en-US" dirty="0"/>
          </a:p>
        </p:txBody>
      </p:sp>
      <p:sp>
        <p:nvSpPr>
          <p:cNvPr id="4" name="标题 74753"/>
          <p:cNvSpPr txBox="1"/>
          <p:nvPr/>
        </p:nvSpPr>
        <p:spPr>
          <a:xfrm>
            <a:off x="7321477" y="4746209"/>
            <a:ext cx="3639440" cy="874713"/>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2000" dirty="0" smtClean="0">
                <a:latin typeface="宋体" panose="02010600030101010101" pitchFamily="2" charset="-122"/>
              </a:rPr>
              <a:t>图</a:t>
            </a:r>
            <a:r>
              <a:rPr lang="en-US" altLang="zh-CN" sz="2000" dirty="0" smtClean="0">
                <a:latin typeface="宋体" panose="02010600030101010101" pitchFamily="2" charset="-122"/>
              </a:rPr>
              <a:t>3-1  </a:t>
            </a:r>
            <a:r>
              <a:rPr lang="zh-CN" altLang="en-US" sz="2000" dirty="0" smtClean="0">
                <a:latin typeface="宋体" panose="02010600030101010101" pitchFamily="2" charset="-122"/>
              </a:rPr>
              <a:t>维护系统的安全周期</a:t>
            </a:r>
            <a:r>
              <a:rPr lang="zh-CN" altLang="en-US" sz="3200" dirty="0" smtClean="0"/>
              <a:t> </a:t>
            </a:r>
            <a:endParaRPr lang="zh-CN" altLang="en-US" sz="3200" dirty="0"/>
          </a:p>
        </p:txBody>
      </p:sp>
      <p:pic>
        <p:nvPicPr>
          <p:cNvPr id="5" name="图片 74755"/>
          <p:cNvPicPr>
            <a:picLocks noChangeAspect="1"/>
          </p:cNvPicPr>
          <p:nvPr/>
        </p:nvPicPr>
        <p:blipFill>
          <a:blip r:embed="rId1"/>
          <a:stretch>
            <a:fillRect/>
          </a:stretch>
        </p:blipFill>
        <p:spPr>
          <a:xfrm>
            <a:off x="7311605" y="1555333"/>
            <a:ext cx="3429000" cy="3200400"/>
          </a:xfrm>
          <a:prstGeom prst="rect">
            <a:avLst/>
          </a:prstGeom>
          <a:noFill/>
          <a:ln w="9525">
            <a:noFill/>
          </a:ln>
        </p:spPr>
      </p:pic>
      <p:grpSp>
        <p:nvGrpSpPr>
          <p:cNvPr id="6" name="组合 5"/>
          <p:cNvGrpSpPr/>
          <p:nvPr/>
        </p:nvGrpSpPr>
        <p:grpSpPr>
          <a:xfrm>
            <a:off x="3905360" y="370783"/>
            <a:ext cx="4476094" cy="791052"/>
            <a:chOff x="824072" y="1564267"/>
            <a:chExt cx="4476094" cy="791052"/>
          </a:xfrm>
        </p:grpSpPr>
        <p:sp>
          <p:nvSpPr>
            <p:cNvPr id="7" name="矩形: 圆角 16"/>
            <p:cNvSpPr/>
            <p:nvPr/>
          </p:nvSpPr>
          <p:spPr>
            <a:xfrm>
              <a:off x="824072" y="1740416"/>
              <a:ext cx="447609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701522" y="1828091"/>
              <a:ext cx="3496470" cy="480131"/>
            </a:xfrm>
            <a:prstGeom prst="rect">
              <a:avLst/>
            </a:prstGeom>
          </p:spPr>
          <p:txBody>
            <a:bodyPr wrap="none">
              <a:spAutoFit/>
            </a:bodyPr>
            <a:lstStyle/>
            <a:p>
              <a:pPr>
                <a:lnSpc>
                  <a:spcPct val="90000"/>
                </a:lnSpc>
              </a:pPr>
              <a:r>
                <a:rPr lang="zh-CN" altLang="en-US" sz="2800" dirty="0">
                  <a:solidFill>
                    <a:schemeClr val="bg1"/>
                  </a:solidFill>
                  <a:latin typeface="+mj-ea"/>
                </a:rPr>
                <a:t>维护系统的安全周期 </a:t>
              </a:r>
              <a:endParaRPr lang="zh-CN" altLang="en-US" sz="2800" dirty="0">
                <a:solidFill>
                  <a:schemeClr val="bg1"/>
                </a:solidFill>
                <a:latin typeface="+mj-ea"/>
              </a:endParaRPr>
            </a:p>
          </p:txBody>
        </p:sp>
        <p:pic>
          <p:nvPicPr>
            <p:cNvPr id="9" name="图片 8"/>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74754"/>
          <p:cNvSpPr/>
          <p:nvPr/>
        </p:nvSpPr>
        <p:spPr>
          <a:xfrm>
            <a:off x="5205413" y="2557463"/>
            <a:ext cx="9144000" cy="0"/>
          </a:xfrm>
          <a:prstGeom prst="rect">
            <a:avLst/>
          </a:prstGeom>
          <a:noFill/>
          <a:ln w="9525">
            <a:noFill/>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4" name="文本框 74756"/>
          <p:cNvSpPr txBox="1"/>
          <p:nvPr/>
        </p:nvSpPr>
        <p:spPr>
          <a:xfrm>
            <a:off x="1151907" y="1958522"/>
            <a:ext cx="9915896" cy="3416320"/>
          </a:xfrm>
          <a:prstGeom prst="rect">
            <a:avLst/>
          </a:prstGeom>
          <a:noFill/>
          <a:ln w="9525">
            <a:noFill/>
          </a:ln>
        </p:spPr>
        <p:txBody>
          <a:bodyPr wrap="square" anchor="t">
            <a:spAutoFit/>
          </a:bodyPr>
          <a:lstStyle/>
          <a:p>
            <a:r>
              <a:rPr lang="zh-CN" altLang="en-US" sz="2400" b="1" dirty="0">
                <a:solidFill>
                  <a:srgbClr val="00B0F0"/>
                </a:solidFill>
              </a:rPr>
              <a:t>审计 </a:t>
            </a:r>
            <a:r>
              <a:rPr lang="en-US" altLang="zh-CN" sz="2400" b="1" dirty="0">
                <a:solidFill>
                  <a:srgbClr val="00B0F0"/>
                </a:solidFill>
              </a:rPr>
              <a:t>Audit</a:t>
            </a:r>
            <a:endParaRPr lang="en-US" altLang="zh-CN" sz="2400" b="1" dirty="0">
              <a:solidFill>
                <a:srgbClr val="00B0F0"/>
              </a:solidFill>
            </a:endParaRPr>
          </a:p>
          <a:p>
            <a:r>
              <a:rPr lang="en-US" altLang="zh-CN" sz="2400" dirty="0"/>
              <a:t>        </a:t>
            </a:r>
            <a:r>
              <a:rPr lang="zh-CN" altLang="en-US" sz="2400" dirty="0"/>
              <a:t>一个审核工具被用来寻找网络的漏洞。在网络安全审核基础上进行风险分析，并由此构造网络安全策略，就形成了原始的安全基准。</a:t>
            </a:r>
            <a:endParaRPr lang="zh-CN" altLang="en-US" sz="2400" dirty="0"/>
          </a:p>
          <a:p>
            <a:r>
              <a:rPr lang="zh-CN" altLang="en-US" sz="2400" b="1" dirty="0">
                <a:solidFill>
                  <a:srgbClr val="00B0F0"/>
                </a:solidFill>
              </a:rPr>
              <a:t>校正 </a:t>
            </a:r>
            <a:r>
              <a:rPr lang="en-US" altLang="zh-CN" sz="2400" b="1" dirty="0">
                <a:solidFill>
                  <a:srgbClr val="00B0F0"/>
                </a:solidFill>
              </a:rPr>
              <a:t>Correct</a:t>
            </a:r>
            <a:endParaRPr lang="en-US" altLang="zh-CN" sz="2400" b="1" dirty="0">
              <a:solidFill>
                <a:srgbClr val="00B0F0"/>
              </a:solidFill>
            </a:endParaRPr>
          </a:p>
          <a:p>
            <a:r>
              <a:rPr lang="en-US" altLang="zh-CN" sz="2400" dirty="0"/>
              <a:t>        </a:t>
            </a:r>
            <a:r>
              <a:rPr lang="zh-CN" altLang="en-US" sz="2400" dirty="0"/>
              <a:t>系统中不能通过网络审核的部分要被校正。因此，系统应该不断地被审核以保证新的漏洞不再出现，老的漏洞不再重现。 </a:t>
            </a:r>
            <a:endParaRPr lang="zh-CN" altLang="en-US" sz="2400" dirty="0"/>
          </a:p>
          <a:p>
            <a:r>
              <a:rPr lang="zh-CN" altLang="en-US" sz="2400" b="1" dirty="0">
                <a:solidFill>
                  <a:srgbClr val="00B0F0"/>
                </a:solidFill>
              </a:rPr>
              <a:t>监控 </a:t>
            </a:r>
            <a:r>
              <a:rPr lang="en-US" altLang="zh-CN" sz="2400" b="1" dirty="0">
                <a:solidFill>
                  <a:srgbClr val="00B0F0"/>
                </a:solidFill>
              </a:rPr>
              <a:t>Monitor</a:t>
            </a:r>
            <a:endParaRPr lang="en-US" altLang="zh-CN" sz="2400" b="1" dirty="0">
              <a:solidFill>
                <a:srgbClr val="00B0F0"/>
              </a:solidFill>
            </a:endParaRPr>
          </a:p>
          <a:p>
            <a:r>
              <a:rPr lang="en-US" altLang="zh-CN" sz="2400" dirty="0"/>
              <a:t>        </a:t>
            </a:r>
            <a:r>
              <a:rPr lang="zh-CN" altLang="en-US" sz="2400" dirty="0"/>
              <a:t>一个监控工具是用来监视新出现的网络攻击手段或者滥用老漏洞的企图。这使得网络管理员始终掌握网络最新动态。</a:t>
            </a:r>
            <a:endParaRPr lang="zh-CN" alt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680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76802"/>
          <p:cNvSpPr txBox="1"/>
          <p:nvPr/>
        </p:nvSpPr>
        <p:spPr>
          <a:xfrm>
            <a:off x="1104405" y="2396568"/>
            <a:ext cx="9737766" cy="381635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绝对安全的网络和计算机都不存在。只有那些锁在一间孤立得房间里、没有任何人使用、没有与外界网络连接的计算机，才可以被认为是安全的。显然，如此“安全”的计算机没有存在的必要。只要计算机被使用和被接入</a:t>
            </a:r>
            <a:r>
              <a:rPr lang="en-US" altLang="zh-CN" dirty="0" smtClean="0"/>
              <a:t>Internet</a:t>
            </a:r>
            <a:r>
              <a:rPr lang="zh-CN" altLang="en-US" dirty="0" smtClean="0">
                <a:latin typeface="宋体" panose="02010600030101010101" pitchFamily="2" charset="-122"/>
              </a:rPr>
              <a:t>，它就注定是不安全的。</a:t>
            </a:r>
            <a:r>
              <a:rPr lang="zh-CN" altLang="en-US" dirty="0" smtClean="0"/>
              <a:t> </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884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78850"/>
          <p:cNvSpPr txBox="1"/>
          <p:nvPr/>
        </p:nvSpPr>
        <p:spPr>
          <a:xfrm>
            <a:off x="815975" y="1565275"/>
            <a:ext cx="10471150" cy="372745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50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计算机安全风险分析是一个过程，由此来认识与评价计算机系统被攻击的风险以及数据、时间和人时的损失与防止这些损失的代价的比例。进行这一分析过程的目的不仅在于确定计算机系统的安全强度并且能够指出系统安全如何改进，而且有助于更好地理解一个系统和它的漏洞缺陷。在构建一个网络信息系统时，首先应该对该系统运行的内部与外部环境存在的威胁与风险进行评估，并且要针对各种威胁采取各种适当措施</a:t>
            </a:r>
            <a:r>
              <a:rPr lang="zh-CN" altLang="en-US" dirty="0" smtClean="0"/>
              <a:t> 。</a:t>
            </a:r>
            <a:endParaRPr lang="zh-CN" altLang="en-US" dirty="0"/>
          </a:p>
        </p:txBody>
      </p:sp>
      <p:grpSp>
        <p:nvGrpSpPr>
          <p:cNvPr id="4" name="组合 3"/>
          <p:cNvGrpSpPr/>
          <p:nvPr/>
        </p:nvGrpSpPr>
        <p:grpSpPr>
          <a:xfrm>
            <a:off x="2778211" y="191664"/>
            <a:ext cx="6635578" cy="1128671"/>
            <a:chOff x="3279913" y="488294"/>
            <a:chExt cx="6635578" cy="1128671"/>
          </a:xfrm>
        </p:grpSpPr>
        <p:grpSp>
          <p:nvGrpSpPr>
            <p:cNvPr id="5" name="组合 4"/>
            <p:cNvGrpSpPr/>
            <p:nvPr/>
          </p:nvGrpSpPr>
          <p:grpSpPr>
            <a:xfrm>
              <a:off x="3279913" y="909457"/>
              <a:ext cx="6635578" cy="707508"/>
              <a:chOff x="3279913" y="909457"/>
              <a:chExt cx="6635578" cy="707508"/>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5105885" cy="584775"/>
              </a:xfrm>
              <a:prstGeom prst="rect">
                <a:avLst/>
              </a:prstGeom>
              <a:noFill/>
            </p:spPr>
            <p:txBody>
              <a:bodyPr wrap="none" rtlCol="0" anchor="t">
                <a:spAutoFit/>
              </a:bodyPr>
              <a:lstStyle/>
              <a:p>
                <a:pPr fontAlgn="base"/>
                <a:r>
                  <a:rPr lang="en-US" altLang="zh-CN"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3.2.1 </a:t>
                </a:r>
                <a:r>
                  <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风险分析与安全规划 </a:t>
                </a:r>
                <a:endPar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987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dirty="0">
              <a:solidFill>
                <a:schemeClr val="bg1"/>
              </a:solidFill>
              <a:latin typeface="+mj-ea"/>
              <a:cs typeface="+mn-cs"/>
            </a:endParaRPr>
          </a:p>
        </p:txBody>
      </p:sp>
      <p:sp>
        <p:nvSpPr>
          <p:cNvPr id="3" name="文本占位符 79874"/>
          <p:cNvSpPr txBox="1"/>
          <p:nvPr/>
        </p:nvSpPr>
        <p:spPr>
          <a:xfrm>
            <a:off x="1009402" y="1296000"/>
            <a:ext cx="10284031"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风险评估的目标就是要找出被评估对象可能受到的各种安全威胁，和由风险带来的各种威胁。通过风险评估需要回答以下问题：</a:t>
            </a:r>
            <a:endParaRPr lang="zh-CN" altLang="en-US" dirty="0" smtClean="0">
              <a:latin typeface="宋体" panose="02010600030101010101" pitchFamily="2" charset="-122"/>
            </a:endParaRPr>
          </a:p>
          <a:p>
            <a:pPr algn="just">
              <a:buFont typeface="Arial" panose="020B0604020202020204" pitchFamily="34" charset="0"/>
              <a:buNone/>
            </a:pPr>
            <a:r>
              <a:rPr lang="en-US" altLang="zh-CN" sz="2400" dirty="0" smtClean="0"/>
              <a:t>1</a:t>
            </a:r>
            <a:r>
              <a:rPr lang="zh-CN" altLang="en-US" sz="2400" dirty="0" smtClean="0"/>
              <a:t>、系统中的信息可能会受到哪些威胁？</a:t>
            </a:r>
            <a:endParaRPr lang="zh-CN" altLang="en-US" sz="2400" dirty="0" smtClean="0"/>
          </a:p>
          <a:p>
            <a:pPr algn="just">
              <a:buFont typeface="Arial" panose="020B0604020202020204" pitchFamily="34" charset="0"/>
              <a:buNone/>
            </a:pPr>
            <a:r>
              <a:rPr lang="en-US" altLang="zh-CN" sz="2400" dirty="0" smtClean="0">
                <a:latin typeface="宋体" panose="02010600030101010101" pitchFamily="2" charset="-122"/>
              </a:rPr>
              <a:t>2</a:t>
            </a:r>
            <a:r>
              <a:rPr lang="zh-CN" altLang="en-US" sz="2400" dirty="0" smtClean="0">
                <a:latin typeface="宋体" panose="02010600030101010101" pitchFamily="2" charset="-122"/>
              </a:rPr>
              <a:t>、如果有威胁会发生，可能产生的最坏结果是什么？其单次损失值是多少？</a:t>
            </a:r>
            <a:endParaRPr lang="en-US" altLang="zh-CN" sz="2400" dirty="0" smtClean="0">
              <a:latin typeface="宋体" panose="02010600030101010101" pitchFamily="2" charset="-122"/>
            </a:endParaRPr>
          </a:p>
          <a:p>
            <a:pPr algn="just">
              <a:buNone/>
            </a:pPr>
            <a:r>
              <a:rPr lang="en-US" altLang="zh-CN" sz="2400" dirty="0"/>
              <a:t>3</a:t>
            </a:r>
            <a:r>
              <a:rPr lang="zh-CN" altLang="en-US" sz="2400" dirty="0"/>
              <a:t>、这种威胁发生的频率是多少？</a:t>
            </a:r>
            <a:endParaRPr lang="zh-CN" altLang="en-US" sz="2400" dirty="0"/>
          </a:p>
          <a:p>
            <a:pPr algn="just">
              <a:buNone/>
            </a:pPr>
            <a:r>
              <a:rPr lang="en-US" altLang="zh-CN" sz="2400" dirty="0"/>
              <a:t>4</a:t>
            </a:r>
            <a:r>
              <a:rPr lang="zh-CN" altLang="en-US" sz="2400" dirty="0"/>
              <a:t>、上述</a:t>
            </a:r>
            <a:r>
              <a:rPr lang="en-US" altLang="zh-CN" sz="2400" dirty="0"/>
              <a:t>3</a:t>
            </a:r>
            <a:r>
              <a:rPr lang="zh-CN" altLang="en-US" sz="2400" dirty="0"/>
              <a:t>个问题的答案的肯定性有多大？</a:t>
            </a:r>
            <a:endParaRPr lang="zh-CN" altLang="en-US" sz="2400" dirty="0"/>
          </a:p>
          <a:p>
            <a:pPr algn="just">
              <a:buNone/>
            </a:pPr>
            <a:r>
              <a:rPr lang="en-US" altLang="zh-CN" sz="2400" dirty="0"/>
              <a:t>5</a:t>
            </a:r>
            <a:r>
              <a:rPr lang="zh-CN" altLang="en-US" sz="2400" dirty="0"/>
              <a:t>、</a:t>
            </a:r>
            <a:r>
              <a:rPr lang="en-US" altLang="zh-CN" sz="2400" dirty="0"/>
              <a:t> </a:t>
            </a:r>
            <a:r>
              <a:rPr lang="zh-CN" altLang="en-US" sz="2400" dirty="0"/>
              <a:t>对这些威胁可以采取哪些措施消除、减轻或转移风险？</a:t>
            </a:r>
            <a:endParaRPr lang="zh-CN" altLang="en-US" sz="2400" dirty="0"/>
          </a:p>
          <a:p>
            <a:pPr algn="just">
              <a:buNone/>
            </a:pPr>
            <a:r>
              <a:rPr lang="en-US" altLang="zh-CN" sz="2400" dirty="0"/>
              <a:t>6</a:t>
            </a:r>
            <a:r>
              <a:rPr lang="zh-CN" altLang="en-US" sz="2400" dirty="0"/>
              <a:t>、</a:t>
            </a:r>
            <a:r>
              <a:rPr lang="en-US" altLang="zh-CN" sz="2400" dirty="0"/>
              <a:t> </a:t>
            </a:r>
            <a:r>
              <a:rPr lang="zh-CN" altLang="en-US" sz="2400" dirty="0"/>
              <a:t>采取这些措施的成本是多少？</a:t>
            </a:r>
            <a:endParaRPr lang="zh-CN" altLang="en-US" sz="2400" dirty="0"/>
          </a:p>
          <a:p>
            <a:pPr>
              <a:buNone/>
            </a:pPr>
            <a:r>
              <a:rPr lang="en-US" altLang="zh-CN" sz="2400" dirty="0">
                <a:latin typeface="宋体" panose="02010600030101010101" pitchFamily="2" charset="-122"/>
              </a:rPr>
              <a:t>7</a:t>
            </a:r>
            <a:r>
              <a:rPr lang="zh-CN" altLang="en-US" sz="2400" dirty="0">
                <a:latin typeface="宋体" panose="02010600030101010101" pitchFamily="2" charset="-122"/>
              </a:rPr>
              <a:t>、</a:t>
            </a:r>
            <a:r>
              <a:rPr lang="en-US" altLang="zh-CN" sz="2400" dirty="0">
                <a:latin typeface="宋体" panose="02010600030101010101" pitchFamily="2" charset="-122"/>
              </a:rPr>
              <a:t> </a:t>
            </a:r>
            <a:r>
              <a:rPr lang="zh-CN" altLang="en-US" sz="2400" dirty="0">
                <a:latin typeface="宋体" panose="02010600030101010101" pitchFamily="2" charset="-122"/>
              </a:rPr>
              <a:t>产生的效益有多大？</a:t>
            </a:r>
            <a:r>
              <a:rPr lang="zh-CN" altLang="en-US" sz="2400" dirty="0"/>
              <a:t> </a:t>
            </a:r>
            <a:endParaRPr lang="zh-CN" altLang="en-US" sz="2400" dirty="0"/>
          </a:p>
          <a:p>
            <a:pPr algn="just">
              <a:buFont typeface="Arial" panose="020B0604020202020204" pitchFamily="34" charset="0"/>
              <a:buNone/>
            </a:pPr>
            <a:r>
              <a:rPr lang="zh-CN" altLang="en-US" dirty="0" smtClean="0"/>
              <a:t> </a:t>
            </a:r>
            <a:endParaRPr lang="zh-CN" altLang="en-US" dirty="0"/>
          </a:p>
        </p:txBody>
      </p:sp>
      <p:grpSp>
        <p:nvGrpSpPr>
          <p:cNvPr id="4" name="组合 3"/>
          <p:cNvGrpSpPr/>
          <p:nvPr/>
        </p:nvGrpSpPr>
        <p:grpSpPr>
          <a:xfrm>
            <a:off x="1187533" y="433698"/>
            <a:ext cx="3822951" cy="791052"/>
            <a:chOff x="824071" y="1564267"/>
            <a:chExt cx="3822951" cy="791052"/>
          </a:xfrm>
        </p:grpSpPr>
        <p:sp>
          <p:nvSpPr>
            <p:cNvPr id="5" name="矩形: 圆角 16"/>
            <p:cNvSpPr/>
            <p:nvPr/>
          </p:nvSpPr>
          <p:spPr>
            <a:xfrm>
              <a:off x="824071" y="1740416"/>
              <a:ext cx="382295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698175" cy="523220"/>
            </a:xfrm>
            <a:prstGeom prst="rect">
              <a:avLst/>
            </a:prstGeom>
          </p:spPr>
          <p:txBody>
            <a:bodyPr wrap="none">
              <a:spAutoFit/>
            </a:bodyPr>
            <a:lstStyle/>
            <a:p>
              <a:pPr fontAlgn="base"/>
              <a:r>
                <a:rPr lang="zh-CN" altLang="en-US" sz="2800" dirty="0">
                  <a:solidFill>
                    <a:schemeClr val="bg1"/>
                  </a:solidFill>
                  <a:latin typeface="+mj-ea"/>
                </a:rPr>
                <a:t>一、问题与结果</a:t>
              </a:r>
              <a:endParaRPr lang="zh-CN" altLang="en-US" sz="2800" dirty="0">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3600" smtClean="0">
                <a:latin typeface="宋体" panose="02010600030101010101" pitchFamily="2" charset="-122"/>
              </a:rPr>
              <a:t>风险评估后所能够获得的信息：</a:t>
            </a:r>
            <a:r>
              <a:rPr lang="zh-CN" altLang="en-US" noProof="1" smtClean="0"/>
              <a:t> </a:t>
            </a:r>
            <a:endParaRPr lang="zh-CN" altLang="en-US" noProof="1"/>
          </a:p>
        </p:txBody>
      </p:sp>
      <p:sp>
        <p:nvSpPr>
          <p:cNvPr id="3" name="文本占位符 81922"/>
          <p:cNvSpPr txBox="1"/>
          <p:nvPr/>
        </p:nvSpPr>
        <p:spPr>
          <a:xfrm>
            <a:off x="669882" y="1296000"/>
            <a:ext cx="10852237"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smtClean="0"/>
              <a:t>1</a:t>
            </a:r>
            <a:r>
              <a:rPr lang="zh-CN" altLang="en-US" smtClean="0"/>
              <a:t>、精确地确定一个系统中的敏感部分。</a:t>
            </a:r>
            <a:endParaRPr lang="zh-CN" altLang="en-US" smtClean="0"/>
          </a:p>
          <a:p>
            <a:pPr algn="just">
              <a:buFont typeface="Arial" panose="020B0604020202020204" pitchFamily="34" charset="0"/>
              <a:buNone/>
            </a:pPr>
            <a:r>
              <a:rPr lang="en-US" altLang="zh-CN" smtClean="0"/>
              <a:t>2</a:t>
            </a:r>
            <a:r>
              <a:rPr lang="zh-CN" altLang="en-US" smtClean="0"/>
              <a:t>、确定对系统的威胁。</a:t>
            </a:r>
            <a:endParaRPr lang="zh-CN" altLang="en-US" smtClean="0"/>
          </a:p>
          <a:p>
            <a:pPr algn="just">
              <a:buFont typeface="Arial" panose="020B0604020202020204" pitchFamily="34" charset="0"/>
              <a:buNone/>
            </a:pPr>
            <a:r>
              <a:rPr lang="en-US" altLang="zh-CN" smtClean="0"/>
              <a:t>3</a:t>
            </a:r>
            <a:r>
              <a:rPr lang="zh-CN" altLang="en-US" smtClean="0"/>
              <a:t>、确定特定系统的脆弱性。</a:t>
            </a:r>
            <a:endParaRPr lang="zh-CN" altLang="en-US" smtClean="0"/>
          </a:p>
          <a:p>
            <a:pPr algn="just">
              <a:buFont typeface="Arial" panose="020B0604020202020204" pitchFamily="34" charset="0"/>
              <a:buNone/>
            </a:pPr>
            <a:r>
              <a:rPr lang="en-US" altLang="zh-CN" smtClean="0"/>
              <a:t>4</a:t>
            </a:r>
            <a:r>
              <a:rPr lang="zh-CN" altLang="en-US" smtClean="0"/>
              <a:t>、确定可能的损失。</a:t>
            </a:r>
            <a:endParaRPr lang="zh-CN" altLang="en-US" smtClean="0"/>
          </a:p>
          <a:p>
            <a:pPr algn="just">
              <a:buFont typeface="Arial" panose="020B0604020202020204" pitchFamily="34" charset="0"/>
              <a:buNone/>
            </a:pPr>
            <a:r>
              <a:rPr lang="en-US" altLang="zh-CN" smtClean="0"/>
              <a:t>5</a:t>
            </a:r>
            <a:r>
              <a:rPr lang="zh-CN" altLang="en-US" smtClean="0"/>
              <a:t>、确定损失发生的概率。</a:t>
            </a:r>
            <a:endParaRPr lang="zh-CN" altLang="en-US" smtClean="0"/>
          </a:p>
          <a:p>
            <a:pPr algn="just">
              <a:buFont typeface="Arial" panose="020B0604020202020204" pitchFamily="34" charset="0"/>
              <a:buNone/>
            </a:pPr>
            <a:r>
              <a:rPr lang="en-US" altLang="zh-CN" smtClean="0"/>
              <a:t>6</a:t>
            </a:r>
            <a:r>
              <a:rPr lang="zh-CN" altLang="en-US" smtClean="0"/>
              <a:t>、得出防止损失的有效对策。</a:t>
            </a:r>
            <a:endParaRPr lang="zh-CN" altLang="en-US" smtClean="0"/>
          </a:p>
          <a:p>
            <a:pPr algn="just">
              <a:buFont typeface="Arial" panose="020B0604020202020204" pitchFamily="34" charset="0"/>
              <a:buNone/>
            </a:pPr>
            <a:r>
              <a:rPr lang="en-US" altLang="zh-CN" smtClean="0"/>
              <a:t>7</a:t>
            </a:r>
            <a:r>
              <a:rPr lang="zh-CN" altLang="en-US" smtClean="0"/>
              <a:t>、确定可能的安全措施。</a:t>
            </a:r>
            <a:endParaRPr lang="zh-CN" altLang="en-US" smtClean="0"/>
          </a:p>
          <a:p>
            <a:pPr>
              <a:buFont typeface="Arial" panose="020B0604020202020204" pitchFamily="34" charset="0"/>
              <a:buNone/>
            </a:pPr>
            <a:r>
              <a:rPr lang="en-US" altLang="zh-CN" smtClean="0">
                <a:latin typeface="宋体" panose="02010600030101010101" pitchFamily="2" charset="-122"/>
              </a:rPr>
              <a:t>8</a:t>
            </a:r>
            <a:r>
              <a:rPr lang="zh-CN" altLang="en-US" smtClean="0">
                <a:latin typeface="宋体" panose="02010600030101010101" pitchFamily="2" charset="-122"/>
              </a:rPr>
              <a:t>、实现一个良好性能价格比的安全系统。</a:t>
            </a:r>
            <a:r>
              <a:rPr lang="zh-CN" altLang="en-US" smtClean="0"/>
              <a:t> </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294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82946"/>
          <p:cNvSpPr txBox="1"/>
          <p:nvPr/>
        </p:nvSpPr>
        <p:spPr>
          <a:xfrm>
            <a:off x="1068779" y="1296000"/>
            <a:ext cx="10058400"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风险分析并非是计算机安全领域中的独特问题，计算机安全中的风险分析只是将风险分析的通用概念应用于此，包括术语、风险标准和风险承受度等。风险评估过程需要专业技术人员和企业网络操作与管理人员参与，可以增加评估的结果确定性。</a:t>
            </a:r>
            <a:r>
              <a:rPr lang="zh-CN" altLang="en-US" dirty="0" smtClean="0"/>
              <a:t> </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3969"/>
          <p:cNvSpPr txBox="1"/>
          <p:nvPr/>
        </p:nvSpPr>
        <p:spPr>
          <a:xfrm>
            <a:off x="1176641" y="260350"/>
            <a:ext cx="9940250" cy="1143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dirty="0">
              <a:solidFill>
                <a:schemeClr val="bg1"/>
              </a:solidFill>
              <a:latin typeface="+mj-ea"/>
              <a:cs typeface="+mn-cs"/>
            </a:endParaRPr>
          </a:p>
        </p:txBody>
      </p:sp>
      <p:sp>
        <p:nvSpPr>
          <p:cNvPr id="4" name="圆角矩形 3"/>
          <p:cNvSpPr/>
          <p:nvPr/>
        </p:nvSpPr>
        <p:spPr>
          <a:xfrm>
            <a:off x="3657600" y="2612569"/>
            <a:ext cx="1460665" cy="5343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83970"/>
          <p:cNvSpPr txBox="1"/>
          <p:nvPr/>
        </p:nvSpPr>
        <p:spPr>
          <a:xfrm>
            <a:off x="1175054" y="1351539"/>
            <a:ext cx="9940250" cy="440372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t>           </a:t>
            </a:r>
            <a:r>
              <a:rPr lang="zh-CN" altLang="en-US" dirty="0" smtClean="0"/>
              <a:t>风险分析过程将防止损失或破坏的代价与造成损失或破坏的代价相比较。然而，防止损失的代价必须考虑损失发生的概率。下列是风险分析的基本公式：</a:t>
            </a:r>
            <a:endParaRPr lang="zh-CN" altLang="en-US" dirty="0" smtClean="0"/>
          </a:p>
          <a:p>
            <a:pPr algn="just">
              <a:buFont typeface="Arial" panose="020B0604020202020204" pitchFamily="34" charset="0"/>
              <a:buNone/>
            </a:pPr>
            <a:r>
              <a:rPr lang="zh-CN" altLang="en-US" dirty="0" smtClean="0"/>
              <a:t>                              </a:t>
            </a:r>
            <a:r>
              <a:rPr lang="en-US" altLang="zh-CN" b="1" dirty="0" smtClean="0">
                <a:solidFill>
                  <a:srgbClr val="FF0000"/>
                </a:solidFill>
              </a:rPr>
              <a:t>B&gt;P*L</a:t>
            </a:r>
            <a:endParaRPr lang="en-US" altLang="zh-CN" b="1" dirty="0" smtClean="0">
              <a:solidFill>
                <a:srgbClr val="FF0000"/>
              </a:solidFill>
            </a:endParaRPr>
          </a:p>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这个公式（简单地称为</a:t>
            </a:r>
            <a:r>
              <a:rPr lang="en-US" altLang="zh-CN" dirty="0" smtClean="0"/>
              <a:t>BPL</a:t>
            </a:r>
            <a:r>
              <a:rPr lang="zh-CN" altLang="en-US" dirty="0" smtClean="0">
                <a:latin typeface="宋体" panose="02010600030101010101" pitchFamily="2" charset="-122"/>
              </a:rPr>
              <a:t>公式）表明了在风险分析中各要素的关系。</a:t>
            </a:r>
            <a:endParaRPr lang="zh-CN" altLang="en-US" dirty="0" smtClean="0">
              <a:latin typeface="宋体" panose="02010600030101010101" pitchFamily="2" charset="-122"/>
            </a:endParaRPr>
          </a:p>
          <a:p>
            <a:pPr>
              <a:buFont typeface="Arial" panose="020B0604020202020204" pitchFamily="34" charset="0"/>
              <a:buNone/>
            </a:pPr>
            <a:r>
              <a:rPr lang="en-US" altLang="zh-CN" dirty="0" smtClean="0">
                <a:solidFill>
                  <a:srgbClr val="FF0000"/>
                </a:solidFill>
              </a:rPr>
              <a:t>B</a:t>
            </a:r>
            <a:r>
              <a:rPr lang="en-US" altLang="zh-CN" dirty="0" smtClean="0"/>
              <a:t> (Burden)</a:t>
            </a:r>
            <a:r>
              <a:rPr lang="zh-CN" altLang="en-US" dirty="0" smtClean="0">
                <a:latin typeface="宋体" panose="02010600030101010101" pitchFamily="2" charset="-122"/>
              </a:rPr>
              <a:t>是防止某一个特定损失的代价；</a:t>
            </a:r>
            <a:endParaRPr lang="zh-CN" altLang="en-US" dirty="0" smtClean="0">
              <a:latin typeface="宋体" panose="02010600030101010101" pitchFamily="2" charset="-122"/>
            </a:endParaRPr>
          </a:p>
          <a:p>
            <a:pPr>
              <a:buFont typeface="Arial" panose="020B0604020202020204" pitchFamily="34" charset="0"/>
              <a:buNone/>
            </a:pPr>
            <a:r>
              <a:rPr lang="en-US" altLang="zh-CN" dirty="0">
                <a:solidFill>
                  <a:srgbClr val="FF0000"/>
                </a:solidFill>
              </a:rPr>
              <a:t>P</a:t>
            </a:r>
            <a:r>
              <a:rPr lang="en-US" altLang="zh-CN" dirty="0" smtClean="0"/>
              <a:t> (Probability)</a:t>
            </a:r>
            <a:r>
              <a:rPr lang="zh-CN" altLang="en-US" dirty="0" smtClean="0"/>
              <a:t>是</a:t>
            </a:r>
            <a:r>
              <a:rPr lang="zh-CN" altLang="en-US" dirty="0" smtClean="0">
                <a:latin typeface="宋体" panose="02010600030101010101" pitchFamily="2" charset="-122"/>
              </a:rPr>
              <a:t>该特定损失发生的概率；</a:t>
            </a:r>
            <a:endParaRPr lang="zh-CN" altLang="en-US" dirty="0" smtClean="0">
              <a:latin typeface="宋体" panose="02010600030101010101" pitchFamily="2" charset="-122"/>
            </a:endParaRPr>
          </a:p>
          <a:p>
            <a:pPr>
              <a:buFont typeface="Arial" panose="020B0604020202020204" pitchFamily="34" charset="0"/>
              <a:buNone/>
            </a:pPr>
            <a:r>
              <a:rPr lang="en-US" altLang="zh-CN" dirty="0">
                <a:solidFill>
                  <a:srgbClr val="FF0000"/>
                </a:solidFill>
              </a:rPr>
              <a:t>L</a:t>
            </a:r>
            <a:r>
              <a:rPr lang="en-US" altLang="zh-CN" dirty="0" smtClean="0"/>
              <a:t> (Loss)</a:t>
            </a:r>
            <a:r>
              <a:rPr lang="zh-CN" altLang="en-US" dirty="0" smtClean="0">
                <a:latin typeface="宋体" panose="02010600030101010101" pitchFamily="2" charset="-122"/>
              </a:rPr>
              <a:t>是该特定损失造成的影响。</a:t>
            </a:r>
            <a:r>
              <a:rPr lang="zh-CN" altLang="en-US" dirty="0" smtClean="0"/>
              <a:t> </a:t>
            </a:r>
            <a:endParaRPr lang="zh-CN" altLang="en-US" dirty="0"/>
          </a:p>
        </p:txBody>
      </p:sp>
      <p:grpSp>
        <p:nvGrpSpPr>
          <p:cNvPr id="5" name="组合 4"/>
          <p:cNvGrpSpPr/>
          <p:nvPr/>
        </p:nvGrpSpPr>
        <p:grpSpPr>
          <a:xfrm>
            <a:off x="1175053" y="436324"/>
            <a:ext cx="3943211" cy="791052"/>
            <a:chOff x="824071" y="1564267"/>
            <a:chExt cx="3943211" cy="791052"/>
          </a:xfrm>
        </p:grpSpPr>
        <p:sp>
          <p:nvSpPr>
            <p:cNvPr id="6" name="矩形: 圆角 16"/>
            <p:cNvSpPr/>
            <p:nvPr/>
          </p:nvSpPr>
          <p:spPr>
            <a:xfrm>
              <a:off x="824071" y="1740416"/>
              <a:ext cx="394321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2778325" cy="523220"/>
            </a:xfrm>
            <a:prstGeom prst="rect">
              <a:avLst/>
            </a:prstGeom>
          </p:spPr>
          <p:txBody>
            <a:bodyPr wrap="none">
              <a:spAutoFit/>
            </a:bodyPr>
            <a:lstStyle/>
            <a:p>
              <a:pPr fontAlgn="base"/>
              <a:r>
                <a:rPr lang="zh-CN" altLang="en-US" sz="2800" dirty="0">
                  <a:solidFill>
                    <a:schemeClr val="bg1"/>
                  </a:solidFill>
                  <a:latin typeface="+mj-ea"/>
                </a:rPr>
                <a:t>二、理论与方法 </a:t>
              </a:r>
              <a:endParaRPr lang="zh-CN" altLang="en-US" sz="2800" dirty="0">
                <a:solidFill>
                  <a:schemeClr val="bg1"/>
                </a:solidFill>
                <a:latin typeface="+mj-ea"/>
              </a:endParaRPr>
            </a:p>
          </p:txBody>
        </p:sp>
        <p:pic>
          <p:nvPicPr>
            <p:cNvPr id="8" name="图片 7"/>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499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84994"/>
          <p:cNvSpPr txBox="1"/>
          <p:nvPr/>
        </p:nvSpPr>
        <p:spPr>
          <a:xfrm>
            <a:off x="1045028" y="1581463"/>
            <a:ext cx="10022774" cy="166050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使用这个公式，当损失发生的概率与损失本身造成的影响的乘积大于防止该损失的代价时（即</a:t>
            </a:r>
            <a:r>
              <a:rPr lang="en-US" altLang="zh-CN" dirty="0" smtClean="0">
                <a:solidFill>
                  <a:schemeClr val="hlink"/>
                </a:solidFill>
              </a:rPr>
              <a:t>B&lt;P*L</a:t>
            </a:r>
            <a:r>
              <a:rPr lang="zh-CN" altLang="en-US" dirty="0" smtClean="0">
                <a:latin typeface="宋体" panose="02010600030101010101" pitchFamily="2" charset="-122"/>
              </a:rPr>
              <a:t>），则就应该采用防止损失的策略；反之则不必。虽然这个公式是直观地体现出风险分析的概念，但是它仍然是一种抽象的评判。</a:t>
            </a:r>
            <a:r>
              <a:rPr lang="zh-CN" altLang="en-US" dirty="0" smtClean="0"/>
              <a:t> </a:t>
            </a:r>
            <a:endParaRPr lang="zh-CN" altLang="en-US" dirty="0"/>
          </a:p>
        </p:txBody>
      </p:sp>
      <p:sp>
        <p:nvSpPr>
          <p:cNvPr id="4" name="文本占位符 86018"/>
          <p:cNvSpPr txBox="1"/>
          <p:nvPr/>
        </p:nvSpPr>
        <p:spPr>
          <a:xfrm>
            <a:off x="1045028" y="3450282"/>
            <a:ext cx="10022774" cy="2771342"/>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在非极端情况下做风险分析时，公式中的各个要素估计的越精确，所做出的决定就越明智。读者也许已经直觉地意识到，因为这个公式的有效性并不需要精确的数值，公式中的各要素只要能够得出其正确的趋势就是可以接受的。这样，并不需要对一个损失做出的精确评估，只要公式中的各个要素的估值是合理的就行了。</a:t>
            </a:r>
            <a:r>
              <a:rPr lang="zh-CN" altLang="en-US" dirty="0" smtClean="0"/>
              <a:t> </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7041"/>
          <p:cNvSpPr txBox="1"/>
          <p:nvPr/>
        </p:nvSpPr>
        <p:spPr>
          <a:xfrm>
            <a:off x="1081645" y="597725"/>
            <a:ext cx="7772400" cy="762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87042"/>
          <p:cNvSpPr txBox="1"/>
          <p:nvPr/>
        </p:nvSpPr>
        <p:spPr>
          <a:xfrm>
            <a:off x="1164772" y="1447800"/>
            <a:ext cx="9950532" cy="49530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zh-CN" dirty="0" smtClean="0"/>
              <a:t>        BPL</a:t>
            </a:r>
            <a:r>
              <a:rPr lang="zh-CN" altLang="en-US" dirty="0" smtClean="0">
                <a:latin typeface="宋体" panose="02010600030101010101" pitchFamily="2" charset="-122"/>
              </a:rPr>
              <a:t>公式中的</a:t>
            </a:r>
            <a:r>
              <a:rPr lang="en-US" altLang="zh-CN" dirty="0" smtClean="0"/>
              <a:t>L</a:t>
            </a:r>
            <a:r>
              <a:rPr lang="zh-CN" altLang="en-US" dirty="0" smtClean="0">
                <a:latin typeface="宋体" panose="02010600030101010101" pitchFamily="2" charset="-122"/>
              </a:rPr>
              <a:t>是发生损失事情的估计，它包括信息和设备破坏的损失、系统修复代价的损失以及使用时间的损失等。其他包含在</a:t>
            </a:r>
            <a:r>
              <a:rPr lang="en-US" altLang="zh-CN" dirty="0" smtClean="0"/>
              <a:t>L</a:t>
            </a:r>
            <a:r>
              <a:rPr lang="zh-CN" altLang="en-US" dirty="0" smtClean="0">
                <a:latin typeface="宋体" panose="02010600030101010101" pitchFamily="2" charset="-122"/>
              </a:rPr>
              <a:t>估计中的隐形因素包括寿命的损失、引入安全措施的损失等。在客观估计这些因素时的最大问题是确定它们对某事所造成的综合损失。</a:t>
            </a:r>
            <a:endParaRPr lang="zh-CN" altLang="en-US" dirty="0" smtClean="0">
              <a:latin typeface="宋体" panose="02010600030101010101" pitchFamily="2" charset="-122"/>
            </a:endParaRPr>
          </a:p>
          <a:p>
            <a:pPr marL="0" indent="0" algn="just">
              <a:buNone/>
            </a:pPr>
            <a:r>
              <a:rPr lang="zh-CN" altLang="en-US" dirty="0" smtClean="0">
                <a:latin typeface="宋体" panose="02010600030101010101" pitchFamily="2" charset="-122"/>
              </a:rPr>
              <a:t>    为防止对</a:t>
            </a:r>
            <a:r>
              <a:rPr lang="en-US" altLang="zh-CN" dirty="0" smtClean="0"/>
              <a:t>L</a:t>
            </a:r>
            <a:r>
              <a:rPr lang="zh-CN" altLang="en-US" dirty="0" smtClean="0">
                <a:latin typeface="宋体" panose="02010600030101010101" pitchFamily="2" charset="-122"/>
              </a:rPr>
              <a:t>不精确的估计，一个组织必须选择经验丰富的评估人员和合理的评估过程。评估人员应该精通于评判各种可能损失的代价。</a:t>
            </a:r>
            <a:r>
              <a:rPr lang="zh-CN" altLang="en-US" dirty="0" smtClean="0"/>
              <a:t>  </a:t>
            </a:r>
            <a:endParaRPr lang="zh-CN" altLang="en-US" dirty="0"/>
          </a:p>
        </p:txBody>
      </p:sp>
      <p:grpSp>
        <p:nvGrpSpPr>
          <p:cNvPr id="4" name="组合 3"/>
          <p:cNvGrpSpPr/>
          <p:nvPr/>
        </p:nvGrpSpPr>
        <p:grpSpPr>
          <a:xfrm>
            <a:off x="1081645" y="373905"/>
            <a:ext cx="4113168" cy="840284"/>
            <a:chOff x="3135993" y="1051060"/>
            <a:chExt cx="4113168" cy="840284"/>
          </a:xfrm>
        </p:grpSpPr>
        <p:sp>
          <p:nvSpPr>
            <p:cNvPr id="5" name="矩形: 圆角 6"/>
            <p:cNvSpPr/>
            <p:nvPr/>
          </p:nvSpPr>
          <p:spPr>
            <a:xfrm>
              <a:off x="3839426" y="1280937"/>
              <a:ext cx="3409735"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276282"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可能</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的损失</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L(loss)</a:t>
              </a:r>
              <a:r>
                <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endPar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8065"/>
          <p:cNvSpPr txBox="1"/>
          <p:nvPr/>
        </p:nvSpPr>
        <p:spPr>
          <a:xfrm>
            <a:off x="1043049" y="527002"/>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88066"/>
          <p:cNvSpPr txBox="1"/>
          <p:nvPr/>
        </p:nvSpPr>
        <p:spPr>
          <a:xfrm>
            <a:off x="1043049" y="1296000"/>
            <a:ext cx="10105901"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zh-CN" dirty="0" smtClean="0"/>
              <a:t>        BPL</a:t>
            </a:r>
            <a:r>
              <a:rPr lang="zh-CN" altLang="en-US" dirty="0" smtClean="0">
                <a:latin typeface="宋体" panose="02010600030101010101" pitchFamily="2" charset="-122"/>
              </a:rPr>
              <a:t>公式的另一个要素是损失发生的概率</a:t>
            </a:r>
            <a:r>
              <a:rPr lang="en-US" altLang="zh-CN" dirty="0" smtClean="0"/>
              <a:t>P</a:t>
            </a:r>
            <a:r>
              <a:rPr lang="zh-CN" altLang="en-US" dirty="0" smtClean="0">
                <a:latin typeface="宋体" panose="02010600030101010101" pitchFamily="2" charset="-122"/>
              </a:rPr>
              <a:t>，它是任何实际发生的损失的概率。例如，在一个事件中，一个可能的损失是人的生命。而在每个事件中实际发生生命丧失的概率不是一样的。如果人不带降落伞在高空中从飞机上跳下去而丧命的概率几乎是</a:t>
            </a:r>
            <a:r>
              <a:rPr lang="en-US" altLang="zh-CN" dirty="0" smtClean="0"/>
              <a:t>1</a:t>
            </a:r>
            <a:r>
              <a:rPr lang="zh-CN" altLang="en-US" dirty="0" smtClean="0">
                <a:latin typeface="宋体" panose="02010600030101010101" pitchFamily="2" charset="-122"/>
              </a:rPr>
              <a:t>；而因为外出发送一个邮件而丧生的概率却极低。所以，在风险分析中必须考虑风险发生的概率的变化。</a:t>
            </a:r>
            <a:r>
              <a:rPr lang="zh-CN" altLang="en-US" dirty="0" smtClean="0"/>
              <a:t> </a:t>
            </a:r>
            <a:endParaRPr lang="zh-CN" altLang="en-US" dirty="0"/>
          </a:p>
        </p:txBody>
      </p:sp>
      <p:sp>
        <p:nvSpPr>
          <p:cNvPr id="4" name="文本占位符 89090"/>
          <p:cNvSpPr txBox="1"/>
          <p:nvPr/>
        </p:nvSpPr>
        <p:spPr>
          <a:xfrm>
            <a:off x="1043049" y="3757190"/>
            <a:ext cx="10105901" cy="2596738"/>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zh-CN" altLang="en-US" dirty="0" smtClean="0">
                <a:latin typeface="宋体" panose="02010600030101010101" pitchFamily="2" charset="-122"/>
              </a:rPr>
              <a:t>    同</a:t>
            </a:r>
            <a:r>
              <a:rPr lang="en-US" altLang="zh-CN" dirty="0" smtClean="0"/>
              <a:t>L</a:t>
            </a:r>
            <a:r>
              <a:rPr lang="zh-CN" altLang="en-US" dirty="0" smtClean="0">
                <a:latin typeface="宋体" panose="02010600030101010101" pitchFamily="2" charset="-122"/>
              </a:rPr>
              <a:t>估计一样，风险概率</a:t>
            </a:r>
            <a:r>
              <a:rPr lang="en-US" altLang="zh-CN" dirty="0" smtClean="0"/>
              <a:t>P</a:t>
            </a:r>
            <a:r>
              <a:rPr lang="zh-CN" altLang="en-US" dirty="0" smtClean="0">
                <a:latin typeface="宋体" panose="02010600030101010101" pitchFamily="2" charset="-122"/>
              </a:rPr>
              <a:t>的估计也是不精确的。试图估计任何事情发生的概率是非常困难的。通常，精确的估计是不必要的。同样，如</a:t>
            </a:r>
            <a:r>
              <a:rPr lang="en-US" altLang="zh-CN" dirty="0" smtClean="0"/>
              <a:t>L</a:t>
            </a:r>
            <a:r>
              <a:rPr lang="zh-CN" altLang="en-US" dirty="0" smtClean="0">
                <a:latin typeface="宋体" panose="02010600030101010101" pitchFamily="2" charset="-122"/>
              </a:rPr>
              <a:t>估计一样，正确的发生概率趋势就足以估计概率</a:t>
            </a:r>
            <a:r>
              <a:rPr lang="en-US" altLang="zh-CN" dirty="0" smtClean="0"/>
              <a:t>P</a:t>
            </a:r>
            <a:r>
              <a:rPr lang="zh-CN" altLang="en-US" dirty="0" smtClean="0">
                <a:latin typeface="宋体" panose="02010600030101010101" pitchFamily="2" charset="-122"/>
              </a:rPr>
              <a:t>。这并非确定</a:t>
            </a:r>
            <a:r>
              <a:rPr lang="en-US" altLang="zh-CN" dirty="0" smtClean="0"/>
              <a:t>P</a:t>
            </a:r>
            <a:r>
              <a:rPr lang="zh-CN" altLang="en-US" dirty="0" smtClean="0">
                <a:latin typeface="宋体" panose="02010600030101010101" pitchFamily="2" charset="-122"/>
              </a:rPr>
              <a:t>的最佳方法，但这也是可以理解的，因为评估就是对一个抽象、非量化目标的限定的过程。不管</a:t>
            </a:r>
            <a:r>
              <a:rPr lang="en-US" altLang="zh-CN" dirty="0" smtClean="0"/>
              <a:t>P</a:t>
            </a:r>
            <a:r>
              <a:rPr lang="zh-CN" altLang="en-US" dirty="0" smtClean="0">
                <a:latin typeface="宋体" panose="02010600030101010101" pitchFamily="2" charset="-122"/>
              </a:rPr>
              <a:t>是如何确定的，</a:t>
            </a:r>
            <a:r>
              <a:rPr lang="en-US" altLang="zh-CN" dirty="0" smtClean="0"/>
              <a:t>P</a:t>
            </a:r>
            <a:r>
              <a:rPr lang="zh-CN" altLang="en-US" dirty="0" smtClean="0">
                <a:latin typeface="宋体" panose="02010600030101010101" pitchFamily="2" charset="-122"/>
              </a:rPr>
              <a:t>都应该正确反映该事情发生的概率或趋势。</a:t>
            </a:r>
            <a:r>
              <a:rPr lang="zh-CN" altLang="en-US" dirty="0" smtClean="0"/>
              <a:t> </a:t>
            </a:r>
            <a:endParaRPr lang="zh-CN" altLang="en-US" dirty="0"/>
          </a:p>
        </p:txBody>
      </p:sp>
      <p:grpSp>
        <p:nvGrpSpPr>
          <p:cNvPr id="5" name="组合 4"/>
          <p:cNvGrpSpPr/>
          <p:nvPr/>
        </p:nvGrpSpPr>
        <p:grpSpPr>
          <a:xfrm>
            <a:off x="1043049" y="339206"/>
            <a:ext cx="3953918" cy="840284"/>
            <a:chOff x="3135993" y="1051060"/>
            <a:chExt cx="3953918" cy="840284"/>
          </a:xfrm>
        </p:grpSpPr>
        <p:sp>
          <p:nvSpPr>
            <p:cNvPr id="6" name="矩形: 圆角 6"/>
            <p:cNvSpPr/>
            <p:nvPr/>
          </p:nvSpPr>
          <p:spPr>
            <a:xfrm>
              <a:off x="3839427" y="1280937"/>
              <a:ext cx="325048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 name="矩形 6"/>
            <p:cNvSpPr/>
            <p:nvPr/>
          </p:nvSpPr>
          <p:spPr>
            <a:xfrm>
              <a:off x="3972879" y="1333399"/>
              <a:ext cx="3026791"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损失</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发生的概率</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P</a:t>
              </a:r>
              <a:r>
                <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endPar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8" name="矩形 7"/>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9" name="直接连接符 8"/>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ppt_w/2"/>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ppt_w</p:attrName>
                                        </p:attrNameLst>
                                      </p:cBhvr>
                                      <p:tavLst>
                                        <p:tav tm="0">
                                          <p:val>
                                            <p:fltVal val="0"/>
                                          </p:val>
                                        </p:tav>
                                        <p:tav tm="100000">
                                          <p:val>
                                            <p:strVal val="#ppt_w"/>
                                          </p:val>
                                        </p:tav>
                                      </p:tavLst>
                                    </p:anim>
                                    <p:anim calcmode="lin" valueType="num">
                                      <p:cBhvr>
                                        <p:cTn id="10"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0113"/>
          <p:cNvSpPr txBox="1"/>
          <p:nvPr/>
        </p:nvSpPr>
        <p:spPr>
          <a:xfrm>
            <a:off x="1080655" y="551924"/>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90114"/>
          <p:cNvSpPr txBox="1"/>
          <p:nvPr/>
        </p:nvSpPr>
        <p:spPr>
          <a:xfrm>
            <a:off x="1080655" y="1319750"/>
            <a:ext cx="10061454"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smtClean="0"/>
              <a:t>        BPL</a:t>
            </a:r>
            <a:r>
              <a:rPr lang="zh-CN" altLang="en-US" dirty="0" smtClean="0">
                <a:latin typeface="宋体" panose="02010600030101010101" pitchFamily="2" charset="-122"/>
              </a:rPr>
              <a:t>公式中的</a:t>
            </a:r>
            <a:r>
              <a:rPr lang="en-US" altLang="zh-CN" dirty="0" smtClean="0"/>
              <a:t>B</a:t>
            </a:r>
            <a:r>
              <a:rPr lang="zh-CN" altLang="en-US" dirty="0" smtClean="0">
                <a:latin typeface="宋体" panose="02010600030101010101" pitchFamily="2" charset="-122"/>
              </a:rPr>
              <a:t>要素反映了为防止损失发生应有什么举措及代价。例如，防止汽车耗尽汽油的代价是购买汽油的花费。代价也并非仅限于金钱。防止汽车耗尽汽油的代价中也包括向汽车油箱中加油的时间。显然，防止风险的代价的评估应包括每一项所的实施预防技术的代价。</a:t>
            </a:r>
            <a:r>
              <a:rPr lang="zh-CN" altLang="en-US" dirty="0" smtClean="0"/>
              <a:t> </a:t>
            </a:r>
            <a:endParaRPr lang="zh-CN" altLang="en-US" dirty="0"/>
          </a:p>
        </p:txBody>
      </p:sp>
      <p:sp>
        <p:nvSpPr>
          <p:cNvPr id="4" name="文本占位符 91138"/>
          <p:cNvSpPr txBox="1"/>
          <p:nvPr/>
        </p:nvSpPr>
        <p:spPr>
          <a:xfrm>
            <a:off x="1080655" y="3538458"/>
            <a:ext cx="10061454" cy="205482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smtClean="0">
                <a:latin typeface="宋体" panose="02010600030101010101" pitchFamily="2" charset="-122"/>
              </a:rPr>
              <a:t>    另一个必须要提到的问题是代价的形式，即可能有许多种防止风险的办法，但是决策者本人必须决定采用何种措施。再以锁住前门防止入室盗窃为例</a:t>
            </a:r>
            <a:r>
              <a:rPr lang="zh-CN" altLang="en-US" dirty="0" smtClean="0"/>
              <a:t> </a:t>
            </a:r>
            <a:r>
              <a:rPr lang="zh-CN" altLang="en-US" dirty="0" smtClean="0">
                <a:latin typeface="宋体" panose="02010600030101010101" pitchFamily="2" charset="-122"/>
              </a:rPr>
              <a:t>，这里可以有许多解决办法，例如可以是仅仅锁住前门、窗户上安置栅栏以及安装报警装置等，这取决于他情愿接受的代价。</a:t>
            </a:r>
            <a:r>
              <a:rPr lang="zh-CN" altLang="en-US" dirty="0" smtClean="0"/>
              <a:t> </a:t>
            </a:r>
            <a:endParaRPr lang="zh-CN" altLang="en-US" dirty="0"/>
          </a:p>
        </p:txBody>
      </p:sp>
      <p:grpSp>
        <p:nvGrpSpPr>
          <p:cNvPr id="5" name="组合 4"/>
          <p:cNvGrpSpPr/>
          <p:nvPr/>
        </p:nvGrpSpPr>
        <p:grpSpPr>
          <a:xfrm>
            <a:off x="1080655" y="359640"/>
            <a:ext cx="3894134" cy="840284"/>
            <a:chOff x="3135993" y="1051060"/>
            <a:chExt cx="3894134" cy="840284"/>
          </a:xfrm>
        </p:grpSpPr>
        <p:sp>
          <p:nvSpPr>
            <p:cNvPr id="6" name="矩形: 圆角 6"/>
            <p:cNvSpPr/>
            <p:nvPr/>
          </p:nvSpPr>
          <p:spPr>
            <a:xfrm>
              <a:off x="3839427" y="1280937"/>
              <a:ext cx="3190700"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 name="矩形 6"/>
            <p:cNvSpPr/>
            <p:nvPr/>
          </p:nvSpPr>
          <p:spPr>
            <a:xfrm>
              <a:off x="3972879" y="1333399"/>
              <a:ext cx="2779928"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防止</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损失的</a:t>
              </a: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代价</a:t>
              </a:r>
              <a:r>
                <a:rPr lang="en-US" altLang="zh-CN" sz="28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endPar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8" name="矩形 7"/>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9" name="直接连接符 8"/>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ppt_w/2"/>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ppt_w</p:attrName>
                                        </p:attrNameLst>
                                      </p:cBhvr>
                                      <p:tavLst>
                                        <p:tav tm="0">
                                          <p:val>
                                            <p:fltVal val="0"/>
                                          </p:val>
                                        </p:tav>
                                        <p:tav tm="100000">
                                          <p:val>
                                            <p:strVal val="#ppt_w"/>
                                          </p:val>
                                        </p:tav>
                                      </p:tavLst>
                                    </p:anim>
                                    <p:anim calcmode="lin" valueType="num">
                                      <p:cBhvr>
                                        <p:cTn id="10"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2161"/>
          <p:cNvSpPr txBox="1"/>
          <p:nvPr/>
        </p:nvSpPr>
        <p:spPr>
          <a:xfrm>
            <a:off x="1128155" y="573974"/>
            <a:ext cx="7772400" cy="762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92162"/>
          <p:cNvSpPr txBox="1"/>
          <p:nvPr/>
        </p:nvSpPr>
        <p:spPr>
          <a:xfrm>
            <a:off x="1128155" y="1524000"/>
            <a:ext cx="9999023" cy="48006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smtClean="0">
                <a:latin typeface="宋体" panose="02010600030101010101" pitchFamily="2" charset="-122"/>
              </a:rPr>
              <a:t>    一个例子：一个学生在期终考试前所要做出的决定的风险分析。学生必须回答的问题是：他是否应该学习以通过期终考试，还是去跳舞。他所冒的风险的损失</a:t>
            </a:r>
            <a:r>
              <a:rPr lang="en-US" altLang="zh-CN" dirty="0" smtClean="0"/>
              <a:t>L</a:t>
            </a:r>
            <a:r>
              <a:rPr lang="zh-CN" altLang="en-US" dirty="0" smtClean="0">
                <a:latin typeface="宋体" panose="02010600030101010101" pitchFamily="2" charset="-122"/>
              </a:rPr>
              <a:t>是考试不及格及留级等。他考试不及格的概率</a:t>
            </a:r>
            <a:r>
              <a:rPr lang="en-US" altLang="zh-CN" dirty="0" smtClean="0"/>
              <a:t>P</a:t>
            </a:r>
            <a:r>
              <a:rPr lang="zh-CN" altLang="en-US" dirty="0" smtClean="0">
                <a:latin typeface="宋体" panose="02010600030101010101" pitchFamily="2" charset="-122"/>
              </a:rPr>
              <a:t>取决于他对所学知识的掌握程度、考试的难易程度等。</a:t>
            </a:r>
            <a:r>
              <a:rPr lang="zh-CN" altLang="en-US" dirty="0" smtClean="0"/>
              <a:t> </a:t>
            </a:r>
            <a:endParaRPr lang="zh-CN" altLang="en-US" dirty="0" smtClean="0"/>
          </a:p>
          <a:p>
            <a:pPr marL="0" indent="0">
              <a:buNone/>
            </a:pPr>
            <a:r>
              <a:rPr lang="zh-CN" altLang="en-US" dirty="0" smtClean="0">
                <a:latin typeface="宋体" panose="02010600030101010101" pitchFamily="2" charset="-122"/>
              </a:rPr>
              <a:t>    如果他认为失败的概率很低且学习的代价太高，他就会去跳舞；否则就会选择学习准备考试。这就是风险分析并依此决定所采取的行动或措施。</a:t>
            </a:r>
            <a:r>
              <a:rPr lang="zh-CN" altLang="en-US" dirty="0" smtClean="0"/>
              <a:t> </a:t>
            </a:r>
            <a:endParaRPr lang="zh-CN" altLang="en-US" dirty="0"/>
          </a:p>
        </p:txBody>
      </p:sp>
      <p:grpSp>
        <p:nvGrpSpPr>
          <p:cNvPr id="4" name="组合 3"/>
          <p:cNvGrpSpPr/>
          <p:nvPr/>
        </p:nvGrpSpPr>
        <p:grpSpPr>
          <a:xfrm>
            <a:off x="1045028" y="385948"/>
            <a:ext cx="3359609" cy="840284"/>
            <a:chOff x="3135993" y="1051060"/>
            <a:chExt cx="3359609" cy="840284"/>
          </a:xfrm>
        </p:grpSpPr>
        <p:sp>
          <p:nvSpPr>
            <p:cNvPr id="5" name="矩形: 圆角 6"/>
            <p:cNvSpPr/>
            <p:nvPr/>
          </p:nvSpPr>
          <p:spPr>
            <a:xfrm>
              <a:off x="3839427" y="1280937"/>
              <a:ext cx="2656175"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414444"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应用</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BPL</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公式</a:t>
              </a: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420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94210"/>
          <p:cNvSpPr txBox="1"/>
          <p:nvPr/>
        </p:nvSpPr>
        <p:spPr>
          <a:xfrm>
            <a:off x="1092530" y="1296000"/>
            <a:ext cx="10034649"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smtClean="0">
                <a:latin typeface="宋体" panose="02010600030101010101" pitchFamily="2" charset="-122"/>
              </a:rPr>
              <a:t>    学生所遵循</a:t>
            </a:r>
            <a:r>
              <a:rPr lang="zh-CN" altLang="en-US" dirty="0">
                <a:latin typeface="宋体" panose="02010600030101010101" pitchFamily="2" charset="-122"/>
              </a:rPr>
              <a:t>的整个风险分析</a:t>
            </a:r>
            <a:r>
              <a:rPr lang="zh-CN" altLang="en-US" dirty="0" smtClean="0">
                <a:latin typeface="宋体" panose="02010600030101010101" pitchFamily="2" charset="-122"/>
              </a:rPr>
              <a:t>思路反映了实际的风险分析步骤。这个学生进行风险分析的第一步就是确定其行为所造成的可能损失。一旦这些确定后，他就应判断损失发生的概率。最后他应确定其行动的代价。图</a:t>
            </a:r>
            <a:r>
              <a:rPr lang="en-US" altLang="zh-CN" dirty="0" smtClean="0"/>
              <a:t>3-2</a:t>
            </a:r>
            <a:r>
              <a:rPr lang="zh-CN" altLang="en-US" dirty="0" smtClean="0">
                <a:latin typeface="宋体" panose="02010600030101010101" pitchFamily="2" charset="-122"/>
              </a:rPr>
              <a:t>表示的是进行风险分析的过程。</a:t>
            </a:r>
            <a:r>
              <a:rPr lang="zh-CN" altLang="en-US" dirty="0" smtClean="0"/>
              <a:t> </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3185"/>
          <p:cNvSpPr txBox="1"/>
          <p:nvPr/>
        </p:nvSpPr>
        <p:spPr>
          <a:xfrm>
            <a:off x="3467574" y="5151955"/>
            <a:ext cx="7772400" cy="1143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2400" dirty="0" smtClean="0">
                <a:latin typeface="宋体" panose="02010600030101010101" pitchFamily="2" charset="-122"/>
              </a:rPr>
              <a:t>图</a:t>
            </a:r>
            <a:r>
              <a:rPr lang="en-US" altLang="zh-CN" sz="2400" dirty="0" smtClean="0">
                <a:latin typeface="宋体" panose="02010600030101010101" pitchFamily="2" charset="-122"/>
              </a:rPr>
              <a:t>3-2  </a:t>
            </a:r>
            <a:r>
              <a:rPr lang="zh-CN" altLang="en-US" sz="2400" dirty="0" smtClean="0">
                <a:latin typeface="宋体" panose="02010600030101010101" pitchFamily="2" charset="-122"/>
              </a:rPr>
              <a:t>进行风险分析的步骤</a:t>
            </a:r>
            <a:r>
              <a:rPr lang="zh-CN" altLang="en-US" sz="2400" noProof="1" smtClean="0"/>
              <a:t> </a:t>
            </a:r>
            <a:endParaRPr lang="zh-CN" altLang="en-US" sz="2400" noProof="1"/>
          </a:p>
        </p:txBody>
      </p:sp>
      <p:sp>
        <p:nvSpPr>
          <p:cNvPr id="3" name="直接连接符 93186"/>
          <p:cNvSpPr/>
          <p:nvPr/>
        </p:nvSpPr>
        <p:spPr>
          <a:xfrm rot="5400000" flipV="1">
            <a:off x="5932406" y="3330081"/>
            <a:ext cx="0" cy="2409825"/>
          </a:xfrm>
          <a:prstGeom prst="line">
            <a:avLst/>
          </a:prstGeom>
          <a:ln w="28575" cap="flat" cmpd="sng">
            <a:solidFill>
              <a:schemeClr val="tx1"/>
            </a:solidFill>
            <a:prstDash val="solid"/>
            <a:round/>
            <a:headEnd type="none" w="med" len="med"/>
            <a:tailEnd type="triangle" w="med" len="med"/>
          </a:ln>
        </p:spPr>
      </p:sp>
      <p:sp>
        <p:nvSpPr>
          <p:cNvPr id="4" name="直接连接符 93187"/>
          <p:cNvSpPr/>
          <p:nvPr/>
        </p:nvSpPr>
        <p:spPr>
          <a:xfrm flipV="1">
            <a:off x="8062831" y="3231656"/>
            <a:ext cx="0" cy="746125"/>
          </a:xfrm>
          <a:prstGeom prst="line">
            <a:avLst/>
          </a:prstGeom>
          <a:ln w="28575" cap="flat" cmpd="sng">
            <a:solidFill>
              <a:schemeClr val="tx1"/>
            </a:solidFill>
            <a:prstDash val="solid"/>
            <a:round/>
            <a:headEnd type="none" w="med" len="med"/>
            <a:tailEnd type="triangle" w="med" len="med"/>
          </a:ln>
        </p:spPr>
      </p:sp>
      <p:sp>
        <p:nvSpPr>
          <p:cNvPr id="5" name="直接连接符 93188"/>
          <p:cNvSpPr/>
          <p:nvPr/>
        </p:nvSpPr>
        <p:spPr>
          <a:xfrm flipH="1">
            <a:off x="4727494" y="2487118"/>
            <a:ext cx="2409825" cy="0"/>
          </a:xfrm>
          <a:prstGeom prst="line">
            <a:avLst/>
          </a:prstGeom>
          <a:ln w="28575" cap="flat" cmpd="sng">
            <a:solidFill>
              <a:schemeClr val="tx1"/>
            </a:solidFill>
            <a:prstDash val="solid"/>
            <a:round/>
            <a:headEnd type="none" w="med" len="med"/>
            <a:tailEnd type="triangle" w="med" len="med"/>
          </a:ln>
        </p:spPr>
      </p:sp>
      <p:sp>
        <p:nvSpPr>
          <p:cNvPr id="6" name="直接连接符 93189"/>
          <p:cNvSpPr/>
          <p:nvPr/>
        </p:nvSpPr>
        <p:spPr>
          <a:xfrm>
            <a:off x="2317668" y="2301381"/>
            <a:ext cx="0" cy="2576513"/>
          </a:xfrm>
          <a:prstGeom prst="line">
            <a:avLst/>
          </a:prstGeom>
          <a:ln w="9525" cap="flat" cmpd="sng">
            <a:solidFill>
              <a:schemeClr val="tx1"/>
            </a:solidFill>
            <a:prstDash val="solid"/>
            <a:round/>
            <a:headEnd type="none" w="med" len="med"/>
            <a:tailEnd type="none" w="med" len="med"/>
          </a:ln>
        </p:spPr>
      </p:sp>
      <p:sp>
        <p:nvSpPr>
          <p:cNvPr id="7" name="直接连接符 93190"/>
          <p:cNvSpPr/>
          <p:nvPr/>
        </p:nvSpPr>
        <p:spPr>
          <a:xfrm>
            <a:off x="2317668" y="4877893"/>
            <a:ext cx="2355850" cy="30162"/>
          </a:xfrm>
          <a:prstGeom prst="line">
            <a:avLst/>
          </a:prstGeom>
          <a:ln w="9525" cap="flat" cmpd="sng">
            <a:solidFill>
              <a:schemeClr val="tx1"/>
            </a:solidFill>
            <a:prstDash val="solid"/>
            <a:round/>
            <a:headEnd type="none" w="med" len="med"/>
            <a:tailEnd type="none" w="med" len="med"/>
          </a:ln>
        </p:spPr>
      </p:sp>
      <p:sp>
        <p:nvSpPr>
          <p:cNvPr id="8" name="直接连接符 93191"/>
          <p:cNvSpPr/>
          <p:nvPr/>
        </p:nvSpPr>
        <p:spPr>
          <a:xfrm flipV="1">
            <a:off x="4673518" y="2331543"/>
            <a:ext cx="0" cy="2576512"/>
          </a:xfrm>
          <a:prstGeom prst="line">
            <a:avLst/>
          </a:prstGeom>
          <a:ln w="9525" cap="flat" cmpd="sng">
            <a:solidFill>
              <a:schemeClr val="tx1"/>
            </a:solidFill>
            <a:prstDash val="solid"/>
            <a:round/>
            <a:headEnd type="none" w="med" len="med"/>
            <a:tailEnd type="none" w="med" len="med"/>
          </a:ln>
        </p:spPr>
      </p:sp>
      <p:sp>
        <p:nvSpPr>
          <p:cNvPr id="9" name="直接连接符 93192"/>
          <p:cNvSpPr/>
          <p:nvPr/>
        </p:nvSpPr>
        <p:spPr>
          <a:xfrm>
            <a:off x="2317668" y="2301381"/>
            <a:ext cx="2355850" cy="30163"/>
          </a:xfrm>
          <a:prstGeom prst="line">
            <a:avLst/>
          </a:prstGeom>
          <a:ln w="9525" cap="flat" cmpd="sng">
            <a:solidFill>
              <a:schemeClr val="tx1"/>
            </a:solidFill>
            <a:prstDash val="solid"/>
            <a:round/>
            <a:headEnd type="none" w="med" len="med"/>
            <a:tailEnd type="none" w="med" len="med"/>
          </a:ln>
        </p:spPr>
      </p:sp>
      <p:sp>
        <p:nvSpPr>
          <p:cNvPr id="10" name="左弧形箭头 93193"/>
          <p:cNvSpPr/>
          <p:nvPr/>
        </p:nvSpPr>
        <p:spPr>
          <a:xfrm>
            <a:off x="2449431" y="3190380"/>
            <a:ext cx="317500" cy="1289050"/>
          </a:xfrm>
          <a:prstGeom prst="curvedRightArrow">
            <a:avLst>
              <a:gd name="adj1" fmla="val 81200"/>
              <a:gd name="adj2" fmla="val 162400"/>
              <a:gd name="adj3" fmla="val 33319"/>
            </a:avLst>
          </a:prstGeom>
          <a:solidFill>
            <a:schemeClr val="accent1"/>
          </a:solidFill>
          <a:ln w="9525"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1" name="左弧形箭头 93194"/>
          <p:cNvSpPr/>
          <p:nvPr/>
        </p:nvSpPr>
        <p:spPr>
          <a:xfrm rot="-10400424">
            <a:off x="3932157" y="3190380"/>
            <a:ext cx="371475" cy="1289050"/>
          </a:xfrm>
          <a:prstGeom prst="curvedRightArrow">
            <a:avLst>
              <a:gd name="adj1" fmla="val 69401"/>
              <a:gd name="adj2" fmla="val 138803"/>
              <a:gd name="adj3" fmla="val 33319"/>
            </a:avLst>
          </a:prstGeom>
          <a:solidFill>
            <a:schemeClr val="accent1"/>
          </a:solidFill>
          <a:ln w="9525"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2" name="文本框 93195"/>
          <p:cNvSpPr txBox="1"/>
          <p:nvPr/>
        </p:nvSpPr>
        <p:spPr>
          <a:xfrm>
            <a:off x="2749469" y="2515694"/>
            <a:ext cx="1622425" cy="2147887"/>
          </a:xfrm>
          <a:prstGeom prst="rect">
            <a:avLst/>
          </a:prstGeom>
          <a:noFill/>
          <a:ln w="9525">
            <a:noFill/>
          </a:ln>
        </p:spPr>
        <p:txBody>
          <a:bodyPr anchor="t"/>
          <a:lstStyle/>
          <a:p>
            <a:pPr algn="just" eaLnBrk="0" hangingPunct="0"/>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．确定可能</a:t>
            </a:r>
            <a:endParaRPr lang="zh-CN" altLang="en-US" sz="2000" dirty="0">
              <a:latin typeface="Times New Roman" panose="02020603050405020304" pitchFamily="18" charset="0"/>
              <a:ea typeface="宋体" panose="02010600030101010101" pitchFamily="2" charset="-122"/>
            </a:endParaRPr>
          </a:p>
          <a:p>
            <a:pPr algn="just" eaLnBrk="0" hangingPunct="0"/>
            <a:r>
              <a:rPr lang="zh-CN" altLang="en-US" sz="2000" dirty="0">
                <a:latin typeface="Times New Roman" panose="02020603050405020304" pitchFamily="18" charset="0"/>
                <a:ea typeface="宋体" panose="02010600030101010101" pitchFamily="2" charset="-122"/>
              </a:rPr>
              <a:t>的损失（</a:t>
            </a:r>
            <a:r>
              <a:rPr lang="en-US" altLang="zh-CN" sz="2000">
                <a:latin typeface="Times New Roman" panose="02020603050405020304" pitchFamily="18" charset="0"/>
                <a:ea typeface="宋体" panose="02010600030101010101" pitchFamily="2" charset="-122"/>
              </a:rPr>
              <a:t>L</a:t>
            </a:r>
            <a:r>
              <a:rPr lang="zh-CN" altLang="en-US" sz="2000">
                <a:latin typeface="Times New Roman" panose="02020603050405020304" pitchFamily="18" charset="0"/>
                <a:ea typeface="宋体" panose="02010600030101010101" pitchFamily="2" charset="-122"/>
              </a:rPr>
              <a:t>）</a:t>
            </a:r>
            <a:endParaRPr lang="zh-CN" altLang="en-US" sz="2000">
              <a:latin typeface="Times New Roman" panose="02020603050405020304" pitchFamily="18" charset="0"/>
              <a:ea typeface="宋体" panose="02010600030101010101" pitchFamily="2" charset="-122"/>
            </a:endParaRPr>
          </a:p>
          <a:p>
            <a:pPr algn="just" eaLnBrk="0" hangingPunct="0"/>
            <a:endParaRPr lang="zh-CN" altLang="en-US" sz="2000">
              <a:solidFill>
                <a:schemeClr val="bg2"/>
              </a:solidFill>
              <a:latin typeface="Times New Roman" panose="02020603050405020304" pitchFamily="18" charset="0"/>
              <a:ea typeface="宋体" panose="02010600030101010101" pitchFamily="2" charset="-122"/>
            </a:endParaRPr>
          </a:p>
          <a:p>
            <a:pPr algn="just" eaLnBrk="0" hangingPunct="0"/>
            <a:r>
              <a:rPr lang="zh-CN" altLang="en-US" sz="2000" dirty="0">
                <a:solidFill>
                  <a:schemeClr val="bg2"/>
                </a:solidFill>
                <a:latin typeface="Times New Roman" panose="02020603050405020304" pitchFamily="18" charset="0"/>
                <a:ea typeface="宋体" panose="02010600030101010101" pitchFamily="2" charset="-122"/>
              </a:rPr>
              <a:t> </a:t>
            </a:r>
            <a:endParaRPr lang="zh-CN" altLang="en-US" sz="2000" dirty="0">
              <a:solidFill>
                <a:schemeClr val="bg2"/>
              </a:solidFill>
              <a:latin typeface="Times New Roman" panose="02020603050405020304" pitchFamily="18" charset="0"/>
              <a:ea typeface="宋体" panose="02010600030101010101" pitchFamily="2" charset="-122"/>
            </a:endParaRPr>
          </a:p>
          <a:p>
            <a:pPr algn="just" eaLnBrk="0" hangingPunct="0"/>
            <a:endParaRPr lang="zh-CN" altLang="en-US" sz="2000" dirty="0">
              <a:solidFill>
                <a:schemeClr val="bg2"/>
              </a:solidFill>
              <a:latin typeface="Times New Roman" panose="02020603050405020304" pitchFamily="18" charset="0"/>
              <a:ea typeface="宋体" panose="02010600030101010101" pitchFamily="2" charset="-122"/>
            </a:endParaRPr>
          </a:p>
          <a:p>
            <a:pPr algn="just" eaLnBrk="0" hangingPunct="0"/>
            <a:r>
              <a:rPr lang="zh-CN" altLang="en-US" sz="2000" dirty="0">
                <a:latin typeface="Times New Roman" panose="02020603050405020304" pitchFamily="18" charset="0"/>
                <a:ea typeface="宋体" panose="02010600030101010101" pitchFamily="2" charset="-122"/>
              </a:rPr>
              <a:t>确定风险</a:t>
            </a:r>
            <a:endParaRPr lang="zh-CN" altLang="en-US" sz="2000" dirty="0">
              <a:latin typeface="Times New Roman" panose="02020603050405020304" pitchFamily="18" charset="0"/>
              <a:ea typeface="宋体" panose="02010600030101010101" pitchFamily="2" charset="-122"/>
            </a:endParaRPr>
          </a:p>
        </p:txBody>
      </p:sp>
      <p:sp>
        <p:nvSpPr>
          <p:cNvPr id="13" name="矩形 93196"/>
          <p:cNvSpPr/>
          <p:nvPr/>
        </p:nvSpPr>
        <p:spPr>
          <a:xfrm>
            <a:off x="7137318" y="2301381"/>
            <a:ext cx="2038350" cy="930275"/>
          </a:xfrm>
          <a:prstGeom prst="rect">
            <a:avLst/>
          </a:prstGeom>
          <a:solidFill>
            <a:schemeClr val="accent1"/>
          </a:solidFill>
          <a:ln w="9525" cap="flat" cmpd="sng">
            <a:solidFill>
              <a:schemeClr val="tx1"/>
            </a:solidFill>
            <a:prstDash val="solid"/>
            <a:miter/>
            <a:headEnd type="none" w="med" len="med"/>
            <a:tailEnd type="none" w="med" len="med"/>
          </a:ln>
        </p:spPr>
        <p:txBody>
          <a:bodyPr anchor="t"/>
          <a:lstStyle/>
          <a:p>
            <a:pPr algn="just" eaLnBrk="0" hangingPunct="0"/>
            <a:r>
              <a:rPr lang="en-US" altLang="zh-CN" sz="2000" dirty="0">
                <a:solidFill>
                  <a:schemeClr val="bg2"/>
                </a:solidFill>
                <a:latin typeface="Times New Roman" panose="02020603050405020304" pitchFamily="18" charset="0"/>
                <a:ea typeface="宋体" panose="02010600030101010101" pitchFamily="2" charset="-122"/>
              </a:rPr>
              <a:t>3</a:t>
            </a:r>
            <a:r>
              <a:rPr lang="zh-CN" altLang="en-US" sz="2000" dirty="0">
                <a:solidFill>
                  <a:schemeClr val="bg2"/>
                </a:solidFill>
                <a:latin typeface="Times New Roman" panose="02020603050405020304" pitchFamily="18" charset="0"/>
                <a:ea typeface="宋体" panose="02010600030101010101" pitchFamily="2" charset="-122"/>
              </a:rPr>
              <a:t>．确定可能的措施及其代价（</a:t>
            </a:r>
            <a:r>
              <a:rPr lang="en-US" altLang="zh-CN" sz="2000" dirty="0">
                <a:solidFill>
                  <a:schemeClr val="bg2"/>
                </a:solidFill>
                <a:latin typeface="Times New Roman" panose="02020603050405020304" pitchFamily="18" charset="0"/>
                <a:ea typeface="宋体" panose="02010600030101010101" pitchFamily="2" charset="-122"/>
              </a:rPr>
              <a:t>B</a:t>
            </a:r>
            <a:r>
              <a:rPr lang="zh-CN" altLang="en-US" sz="2000" dirty="0">
                <a:solidFill>
                  <a:schemeClr val="bg2"/>
                </a:solidFill>
                <a:latin typeface="Times New Roman" panose="02020603050405020304" pitchFamily="18" charset="0"/>
                <a:ea typeface="宋体" panose="02010600030101010101" pitchFamily="2" charset="-122"/>
              </a:rPr>
              <a:t>）</a:t>
            </a:r>
            <a:endParaRPr lang="zh-CN" altLang="en-US" sz="2000" dirty="0">
              <a:solidFill>
                <a:schemeClr val="bg2"/>
              </a:solidFill>
              <a:latin typeface="Times New Roman" panose="02020603050405020304" pitchFamily="18" charset="0"/>
              <a:ea typeface="宋体" panose="02010600030101010101" pitchFamily="2" charset="-122"/>
            </a:endParaRPr>
          </a:p>
        </p:txBody>
      </p:sp>
      <p:sp>
        <p:nvSpPr>
          <p:cNvPr id="14" name="矩形 93197"/>
          <p:cNvSpPr/>
          <p:nvPr/>
        </p:nvSpPr>
        <p:spPr>
          <a:xfrm>
            <a:off x="7137318" y="3977781"/>
            <a:ext cx="2038350" cy="930275"/>
          </a:xfrm>
          <a:prstGeom prst="rect">
            <a:avLst/>
          </a:prstGeom>
          <a:solidFill>
            <a:schemeClr val="accent1"/>
          </a:solidFill>
          <a:ln w="9525" cap="flat" cmpd="sng">
            <a:solidFill>
              <a:schemeClr val="tx1"/>
            </a:solidFill>
            <a:prstDash val="solid"/>
            <a:miter/>
            <a:headEnd type="none" w="med" len="med"/>
            <a:tailEnd type="none" w="med" len="med"/>
          </a:ln>
        </p:spPr>
        <p:txBody>
          <a:bodyPr anchor="t"/>
          <a:lstStyle/>
          <a:p>
            <a:pPr algn="just" eaLnBrk="0" hangingPunct="0"/>
            <a:r>
              <a:rPr lang="en-US" altLang="zh-CN" sz="2000" dirty="0">
                <a:solidFill>
                  <a:schemeClr val="bg2"/>
                </a:solidFill>
                <a:latin typeface="Times New Roman" panose="02020603050405020304" pitchFamily="18" charset="0"/>
                <a:ea typeface="宋体" panose="02010600030101010101" pitchFamily="2" charset="-122"/>
              </a:rPr>
              <a:t>2</a:t>
            </a:r>
            <a:r>
              <a:rPr lang="zh-CN" altLang="en-US" sz="2000" dirty="0">
                <a:solidFill>
                  <a:schemeClr val="bg2"/>
                </a:solidFill>
                <a:latin typeface="Times New Roman" panose="02020603050405020304" pitchFamily="18" charset="0"/>
                <a:ea typeface="宋体" panose="02010600030101010101" pitchFamily="2" charset="-122"/>
              </a:rPr>
              <a:t>．确定损失概率（</a:t>
            </a:r>
            <a:r>
              <a:rPr lang="en-US" altLang="zh-CN" sz="2000">
                <a:solidFill>
                  <a:schemeClr val="bg2"/>
                </a:solidFill>
                <a:latin typeface="Times New Roman" panose="02020603050405020304" pitchFamily="18" charset="0"/>
                <a:ea typeface="宋体" panose="02010600030101010101" pitchFamily="2" charset="-122"/>
              </a:rPr>
              <a:t>P</a:t>
            </a:r>
            <a:r>
              <a:rPr lang="zh-CN" altLang="en-US" sz="2000">
                <a:solidFill>
                  <a:schemeClr val="bg2"/>
                </a:solidFill>
                <a:latin typeface="Times New Roman" panose="02020603050405020304" pitchFamily="18" charset="0"/>
                <a:ea typeface="宋体" panose="02010600030101010101" pitchFamily="2" charset="-122"/>
              </a:rPr>
              <a:t>）</a:t>
            </a:r>
            <a:endParaRPr lang="zh-CN" altLang="en-US" sz="2000">
              <a:solidFill>
                <a:schemeClr val="bg2"/>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523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95234"/>
          <p:cNvSpPr txBox="1"/>
          <p:nvPr/>
        </p:nvSpPr>
        <p:spPr>
          <a:xfrm>
            <a:off x="1175657" y="1438503"/>
            <a:ext cx="9927772" cy="346600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zh-CN" altLang="en-US" dirty="0" smtClean="0">
                <a:solidFill>
                  <a:schemeClr val="tx2"/>
                </a:solidFill>
                <a:latin typeface="宋体" panose="02010600030101010101" pitchFamily="2" charset="-122"/>
              </a:rPr>
              <a:t>    常用的方法是“</a:t>
            </a:r>
            <a:r>
              <a:rPr lang="en-US" altLang="zh-CN" dirty="0" smtClean="0">
                <a:solidFill>
                  <a:schemeClr val="tx2"/>
                </a:solidFill>
              </a:rPr>
              <a:t>ad hoc</a:t>
            </a:r>
            <a:r>
              <a:rPr lang="en-US" altLang="zh-CN" dirty="0" smtClean="0">
                <a:solidFill>
                  <a:schemeClr val="tx2"/>
                </a:solidFill>
                <a:latin typeface="宋体" panose="02010600030101010101" pitchFamily="2" charset="-122"/>
              </a:rPr>
              <a:t>”</a:t>
            </a:r>
            <a:r>
              <a:rPr lang="zh-CN" altLang="en-US" dirty="0" smtClean="0">
                <a:solidFill>
                  <a:schemeClr val="tx2"/>
                </a:solidFill>
                <a:latin typeface="宋体" panose="02010600030101010101" pitchFamily="2" charset="-122"/>
              </a:rPr>
              <a:t>方法</a:t>
            </a:r>
            <a:r>
              <a:rPr lang="zh-CN" altLang="en-US" dirty="0" smtClean="0">
                <a:latin typeface="宋体" panose="02010600030101010101" pitchFamily="2" charset="-122"/>
              </a:rPr>
              <a:t>。这种方法的原理是在刚刚发生信息安全事件或发生某种新的威胁（如红色代码病毒开始流行）之后，向企业管理者宣传这种威胁的危害性，使他们相信这种威胁的存在性，进而向他们推荐针对这种风险的解决方案，虽然这种方案不很全面，有可能会忽略一些更重要的威胁，但也能发挥一定的作用</a:t>
            </a:r>
            <a:r>
              <a:rPr lang="zh-CN" altLang="en-US" dirty="0" smtClean="0"/>
              <a:t>。</a:t>
            </a:r>
            <a:endParaRPr lang="zh-CN" altLang="en-US" dirty="0"/>
          </a:p>
        </p:txBody>
      </p:sp>
      <p:grpSp>
        <p:nvGrpSpPr>
          <p:cNvPr id="4" name="组合 3"/>
          <p:cNvGrpSpPr/>
          <p:nvPr/>
        </p:nvGrpSpPr>
        <p:grpSpPr>
          <a:xfrm>
            <a:off x="3850529" y="396948"/>
            <a:ext cx="4490941" cy="791052"/>
            <a:chOff x="824071" y="1564267"/>
            <a:chExt cx="4490941" cy="791052"/>
          </a:xfrm>
        </p:grpSpPr>
        <p:sp>
          <p:nvSpPr>
            <p:cNvPr id="5" name="矩形: 圆角 16"/>
            <p:cNvSpPr/>
            <p:nvPr/>
          </p:nvSpPr>
          <p:spPr>
            <a:xfrm>
              <a:off x="824071" y="1740416"/>
              <a:ext cx="449094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613490" cy="523220"/>
            </a:xfrm>
            <a:prstGeom prst="rect">
              <a:avLst/>
            </a:prstGeom>
          </p:spPr>
          <p:txBody>
            <a:bodyPr wrap="none">
              <a:spAutoFit/>
            </a:bodyPr>
            <a:lstStyle/>
            <a:p>
              <a:pPr fontAlgn="base"/>
              <a:r>
                <a:rPr lang="zh-CN" altLang="en-US" sz="2800" noProof="1">
                  <a:solidFill>
                    <a:schemeClr val="bg1"/>
                  </a:solidFill>
                  <a:latin typeface="+mj-ea"/>
                </a:rPr>
                <a:t>风险评估的</a:t>
              </a:r>
              <a:r>
                <a:rPr lang="zh-CN" altLang="en-US" sz="2800" noProof="1" smtClean="0">
                  <a:solidFill>
                    <a:schemeClr val="bg1"/>
                  </a:solidFill>
                  <a:latin typeface="+mj-ea"/>
                </a:rPr>
                <a:t>方法（</a:t>
              </a:r>
              <a:r>
                <a:rPr lang="en-US" altLang="zh-CN" sz="2800" noProof="1" smtClean="0">
                  <a:solidFill>
                    <a:schemeClr val="bg1"/>
                  </a:solidFill>
                  <a:latin typeface="+mj-ea"/>
                </a:rPr>
                <a:t>1</a:t>
              </a:r>
              <a:r>
                <a:rPr lang="zh-CN" altLang="en-US" sz="2800" noProof="1" smtClean="0">
                  <a:solidFill>
                    <a:schemeClr val="bg1"/>
                  </a:solidFill>
                  <a:latin typeface="+mj-ea"/>
                </a:rPr>
                <a:t>）</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6257"/>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96258"/>
          <p:cNvSpPr txBox="1"/>
          <p:nvPr/>
        </p:nvSpPr>
        <p:spPr>
          <a:xfrm>
            <a:off x="1019298" y="1521631"/>
            <a:ext cx="10153403"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zh-CN" b="1" dirty="0" smtClean="0"/>
              <a:t>1)</a:t>
            </a:r>
            <a:r>
              <a:rPr lang="zh-CN" altLang="en-US" b="1" dirty="0"/>
              <a:t> </a:t>
            </a:r>
            <a:r>
              <a:rPr lang="zh-CN" altLang="en-US" b="1" dirty="0" smtClean="0"/>
              <a:t>树型分析法</a:t>
            </a:r>
            <a:r>
              <a:rPr lang="zh-CN" altLang="en-US" dirty="0" smtClean="0"/>
              <a:t>：把发生的威胁系统安全的事件按它们发生的先后顺序用树型结构表示出来，如事件树、攻击树、错误树等，然后依据这些结构树进行风险评估。</a:t>
            </a:r>
            <a:endParaRPr lang="zh-CN" altLang="en-US" dirty="0" smtClean="0"/>
          </a:p>
          <a:p>
            <a:pPr marL="0" indent="0">
              <a:buNone/>
            </a:pPr>
            <a:r>
              <a:rPr lang="en-US" altLang="zh-CN" b="1" dirty="0" smtClean="0">
                <a:latin typeface="宋体" panose="02010600030101010101" pitchFamily="2" charset="-122"/>
              </a:rPr>
              <a:t>2)</a:t>
            </a:r>
            <a:r>
              <a:rPr lang="zh-CN" altLang="en-US" b="1" dirty="0">
                <a:latin typeface="宋体" panose="02010600030101010101" pitchFamily="2" charset="-122"/>
              </a:rPr>
              <a:t> </a:t>
            </a:r>
            <a:r>
              <a:rPr lang="zh-CN" altLang="en-US" b="1" dirty="0" smtClean="0">
                <a:latin typeface="宋体" panose="02010600030101010101" pitchFamily="2" charset="-122"/>
              </a:rPr>
              <a:t>历史分析法</a:t>
            </a:r>
            <a:r>
              <a:rPr lang="zh-CN" altLang="en-US" dirty="0" smtClean="0">
                <a:latin typeface="宋体" panose="02010600030101010101" pitchFamily="2" charset="-122"/>
              </a:rPr>
              <a:t>：依据过去已发生的安全性事件，研究各类威胁发生的频率和造成损失的大小，并预测未来威胁可能发生的概率，然后根据这些分析结果进行风险评估。</a:t>
            </a:r>
            <a:r>
              <a:rPr lang="zh-CN" altLang="en-US" dirty="0" smtClean="0"/>
              <a:t> </a:t>
            </a:r>
            <a:endParaRPr lang="en-US" altLang="zh-CN" dirty="0" smtClean="0"/>
          </a:p>
          <a:p>
            <a:pPr marL="0" indent="0" algn="just">
              <a:buNone/>
            </a:pPr>
            <a:r>
              <a:rPr lang="en-US" altLang="zh-CN" b="1" dirty="0"/>
              <a:t>3) </a:t>
            </a:r>
            <a:r>
              <a:rPr lang="zh-CN" altLang="en-US" b="1" dirty="0"/>
              <a:t>风险概率评估法</a:t>
            </a:r>
            <a:r>
              <a:rPr lang="zh-CN" altLang="en-US" dirty="0"/>
              <a:t>：通过分析导致某一特定情况的事件组合发生概率的大小进行风险评估的一种方法。</a:t>
            </a:r>
            <a:endParaRPr lang="zh-CN" altLang="en-US" dirty="0"/>
          </a:p>
          <a:p>
            <a:pPr marL="0" indent="0">
              <a:buNone/>
            </a:pPr>
            <a:r>
              <a:rPr lang="en-US" altLang="zh-CN" b="1" dirty="0">
                <a:latin typeface="宋体" panose="02010600030101010101" pitchFamily="2" charset="-122"/>
              </a:rPr>
              <a:t>4) </a:t>
            </a:r>
            <a:r>
              <a:rPr lang="zh-CN" altLang="en-US" b="1" dirty="0">
                <a:latin typeface="宋体" panose="02010600030101010101" pitchFamily="2" charset="-122"/>
              </a:rPr>
              <a:t>失误模型及后果分析法</a:t>
            </a:r>
            <a:r>
              <a:rPr lang="zh-CN" altLang="en-US" dirty="0">
                <a:latin typeface="宋体" panose="02010600030101010101" pitchFamily="2" charset="-122"/>
              </a:rPr>
              <a:t>：对系统中每个环节上的每一种可能发生的失误条件及其可能造成的危害的大小进行分析，其结果作为对系统进行风险评估的依据。</a:t>
            </a:r>
            <a:r>
              <a:rPr lang="zh-CN" altLang="en-US" dirty="0"/>
              <a:t> </a:t>
            </a:r>
            <a:endParaRPr lang="zh-CN" altLang="en-US" dirty="0"/>
          </a:p>
        </p:txBody>
      </p:sp>
      <p:grpSp>
        <p:nvGrpSpPr>
          <p:cNvPr id="4" name="组合 3"/>
          <p:cNvGrpSpPr/>
          <p:nvPr/>
        </p:nvGrpSpPr>
        <p:grpSpPr>
          <a:xfrm>
            <a:off x="3850528" y="432000"/>
            <a:ext cx="4490941" cy="791052"/>
            <a:chOff x="824071" y="1564267"/>
            <a:chExt cx="4490941" cy="791052"/>
          </a:xfrm>
        </p:grpSpPr>
        <p:sp>
          <p:nvSpPr>
            <p:cNvPr id="5" name="矩形: 圆角 16"/>
            <p:cNvSpPr/>
            <p:nvPr/>
          </p:nvSpPr>
          <p:spPr>
            <a:xfrm>
              <a:off x="824071" y="1740416"/>
              <a:ext cx="449094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613490" cy="523220"/>
            </a:xfrm>
            <a:prstGeom prst="rect">
              <a:avLst/>
            </a:prstGeom>
          </p:spPr>
          <p:txBody>
            <a:bodyPr wrap="none">
              <a:spAutoFit/>
            </a:bodyPr>
            <a:lstStyle/>
            <a:p>
              <a:pPr fontAlgn="base"/>
              <a:r>
                <a:rPr lang="zh-CN" altLang="en-US" sz="2800" noProof="1">
                  <a:solidFill>
                    <a:schemeClr val="bg1"/>
                  </a:solidFill>
                  <a:latin typeface="+mj-ea"/>
                </a:rPr>
                <a:t>风险评估的</a:t>
              </a:r>
              <a:r>
                <a:rPr lang="zh-CN" altLang="en-US" sz="2800" noProof="1" smtClean="0">
                  <a:solidFill>
                    <a:schemeClr val="bg1"/>
                  </a:solidFill>
                  <a:latin typeface="+mj-ea"/>
                </a:rPr>
                <a:t>方法（</a:t>
              </a:r>
              <a:r>
                <a:rPr lang="en-US" altLang="zh-CN" sz="2800" noProof="1" smtClean="0">
                  <a:solidFill>
                    <a:schemeClr val="bg1"/>
                  </a:solidFill>
                  <a:latin typeface="+mj-ea"/>
                </a:rPr>
                <a:t>2</a:t>
              </a:r>
              <a:r>
                <a:rPr lang="zh-CN" altLang="en-US" sz="2800" noProof="1" smtClean="0">
                  <a:solidFill>
                    <a:schemeClr val="bg1"/>
                  </a:solidFill>
                  <a:latin typeface="+mj-ea"/>
                </a:rPr>
                <a:t>）</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830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98306"/>
          <p:cNvSpPr txBox="1"/>
          <p:nvPr/>
        </p:nvSpPr>
        <p:spPr>
          <a:xfrm>
            <a:off x="985653" y="1482868"/>
            <a:ext cx="10082150" cy="3667886"/>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许多机构和组织都使用风险分析以确定其计算机系统的安全需求。风险分析过程必须精确地实施才能针对系统安全的不足提出合理的、恰当的解决办法。而不正确的风险分析却能够导致采取不严格的、代价高昂的的措施，甚至可能造成新的损失。为防止这种情况发生，风险评估过程必须明确地定义，这包括所使用的术语和标准。</a:t>
            </a:r>
            <a:r>
              <a:rPr lang="zh-CN" altLang="en-US" dirty="0" smtClean="0"/>
              <a:t> </a:t>
            </a:r>
            <a:endParaRPr lang="zh-CN" altLang="en-US" dirty="0"/>
          </a:p>
        </p:txBody>
      </p:sp>
      <p:grpSp>
        <p:nvGrpSpPr>
          <p:cNvPr id="4" name="组合 3"/>
          <p:cNvGrpSpPr/>
          <p:nvPr/>
        </p:nvGrpSpPr>
        <p:grpSpPr>
          <a:xfrm>
            <a:off x="1152809" y="432000"/>
            <a:ext cx="5810212" cy="791052"/>
            <a:chOff x="824071" y="1564267"/>
            <a:chExt cx="5810212" cy="791052"/>
          </a:xfrm>
        </p:grpSpPr>
        <p:sp>
          <p:nvSpPr>
            <p:cNvPr id="5" name="矩形: 圆角 16"/>
            <p:cNvSpPr/>
            <p:nvPr/>
          </p:nvSpPr>
          <p:spPr>
            <a:xfrm>
              <a:off x="824071" y="1740416"/>
              <a:ext cx="581021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932761" cy="523220"/>
            </a:xfrm>
            <a:prstGeom prst="rect">
              <a:avLst/>
            </a:prstGeom>
          </p:spPr>
          <p:txBody>
            <a:bodyPr wrap="none">
              <a:spAutoFit/>
            </a:bodyPr>
            <a:lstStyle/>
            <a:p>
              <a:pPr fontAlgn="base"/>
              <a:r>
                <a:rPr lang="zh-CN" altLang="en-US" sz="2800" dirty="0">
                  <a:solidFill>
                    <a:schemeClr val="bg1"/>
                  </a:solidFill>
                  <a:latin typeface="+mj-ea"/>
                </a:rPr>
                <a:t>三、计算机安全中的风险分析</a:t>
              </a:r>
              <a:r>
                <a:rPr lang="zh-CN" altLang="en-US" sz="2800" noProof="1">
                  <a:solidFill>
                    <a:schemeClr val="bg1"/>
                  </a:solidFill>
                  <a:latin typeface="+mj-ea"/>
                </a:rPr>
                <a:t> </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99330"/>
          <p:cNvSpPr txBox="1"/>
          <p:nvPr/>
        </p:nvSpPr>
        <p:spPr>
          <a:xfrm>
            <a:off x="1068779" y="1981200"/>
            <a:ext cx="10105902" cy="3647704"/>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ct val="0"/>
              </a:spcBef>
              <a:buNone/>
            </a:pPr>
            <a:r>
              <a:rPr lang="en-US" altLang="zh-CN" sz="3600" dirty="0">
                <a:solidFill>
                  <a:srgbClr val="0F73EE"/>
                </a:solidFill>
                <a:latin typeface="+mj-lt"/>
                <a:ea typeface="+mj-ea"/>
                <a:cs typeface="+mj-cs"/>
              </a:rPr>
              <a:t>(1)</a:t>
            </a:r>
            <a:r>
              <a:rPr lang="zh-CN" altLang="en-US" sz="3600" dirty="0">
                <a:solidFill>
                  <a:srgbClr val="0F73EE"/>
                </a:solidFill>
                <a:latin typeface="+mj-lt"/>
                <a:ea typeface="+mj-ea"/>
                <a:cs typeface="+mj-cs"/>
              </a:rPr>
              <a:t>、术语</a:t>
            </a:r>
            <a:endParaRPr lang="zh-CN" altLang="en-US" sz="3600" dirty="0">
              <a:solidFill>
                <a:srgbClr val="0F73EE"/>
              </a:solidFill>
              <a:latin typeface="+mj-lt"/>
              <a:ea typeface="+mj-ea"/>
              <a:cs typeface="+mj-cs"/>
            </a:endParaRPr>
          </a:p>
          <a:p>
            <a:pPr>
              <a:buFont typeface="Arial" panose="020B0604020202020204" pitchFamily="34" charset="0"/>
              <a:buNone/>
            </a:pPr>
            <a:r>
              <a:rPr lang="zh-CN" altLang="en-US" dirty="0" smtClean="0">
                <a:latin typeface="宋体" panose="02010600030101010101" pitchFamily="2" charset="-122"/>
              </a:rPr>
              <a:t>     风险分析过程和计算机安全有关的术语必须首先明确，然后才能确定如何进行计算机安全风险分析。这些术语包括</a:t>
            </a:r>
            <a:r>
              <a:rPr lang="zh-CN" altLang="en-US" b="1" dirty="0" smtClean="0">
                <a:latin typeface="宋体" panose="02010600030101010101" pitchFamily="2" charset="-122"/>
              </a:rPr>
              <a:t>风险</a:t>
            </a:r>
            <a:r>
              <a:rPr lang="en-US" altLang="zh-CN" dirty="0" smtClean="0"/>
              <a:t>(risk)</a:t>
            </a:r>
            <a:r>
              <a:rPr lang="zh-CN" altLang="en-US" dirty="0" smtClean="0">
                <a:latin typeface="宋体" panose="02010600030101010101" pitchFamily="2" charset="-122"/>
              </a:rPr>
              <a:t>、</a:t>
            </a:r>
            <a:r>
              <a:rPr lang="zh-CN" altLang="en-US" b="1" dirty="0" smtClean="0">
                <a:latin typeface="宋体" panose="02010600030101010101" pitchFamily="2" charset="-122"/>
              </a:rPr>
              <a:t>脆弱性</a:t>
            </a:r>
            <a:r>
              <a:rPr lang="en-US" altLang="zh-CN" dirty="0" smtClean="0"/>
              <a:t>(vulnerability)</a:t>
            </a:r>
            <a:r>
              <a:rPr lang="zh-CN" altLang="en-US" dirty="0" smtClean="0">
                <a:latin typeface="宋体" panose="02010600030101010101" pitchFamily="2" charset="-122"/>
              </a:rPr>
              <a:t>、</a:t>
            </a:r>
            <a:r>
              <a:rPr lang="zh-CN" altLang="en-US" b="1" dirty="0" smtClean="0">
                <a:latin typeface="宋体" panose="02010600030101010101" pitchFamily="2" charset="-122"/>
              </a:rPr>
              <a:t>威胁</a:t>
            </a:r>
            <a:r>
              <a:rPr lang="en-US" altLang="zh-CN" dirty="0" smtClean="0"/>
              <a:t>(threat)</a:t>
            </a:r>
            <a:r>
              <a:rPr lang="zh-CN" altLang="en-US" dirty="0" smtClean="0">
                <a:latin typeface="宋体" panose="02010600030101010101" pitchFamily="2" charset="-122"/>
              </a:rPr>
              <a:t>、</a:t>
            </a:r>
            <a:r>
              <a:rPr lang="zh-CN" altLang="en-US" b="1" dirty="0" smtClean="0">
                <a:latin typeface="宋体" panose="02010600030101010101" pitchFamily="2" charset="-122"/>
              </a:rPr>
              <a:t>敏感性</a:t>
            </a:r>
            <a:r>
              <a:rPr lang="en-US" altLang="zh-CN" dirty="0" smtClean="0"/>
              <a:t>(susceptibility)</a:t>
            </a:r>
            <a:r>
              <a:rPr lang="zh-CN" altLang="en-US" dirty="0" smtClean="0">
                <a:latin typeface="宋体" panose="02010600030101010101" pitchFamily="2" charset="-122"/>
              </a:rPr>
              <a:t>、</a:t>
            </a:r>
            <a:r>
              <a:rPr lang="zh-CN" altLang="en-US" b="1" dirty="0" smtClean="0">
                <a:latin typeface="宋体" panose="02010600030101010101" pitchFamily="2" charset="-122"/>
              </a:rPr>
              <a:t>损失</a:t>
            </a:r>
            <a:r>
              <a:rPr lang="en-US" altLang="zh-CN" dirty="0" smtClean="0"/>
              <a:t>(loss)</a:t>
            </a:r>
            <a:r>
              <a:rPr lang="zh-CN" altLang="en-US" dirty="0" smtClean="0">
                <a:latin typeface="宋体" panose="02010600030101010101" pitchFamily="2" charset="-122"/>
              </a:rPr>
              <a:t>、</a:t>
            </a:r>
            <a:r>
              <a:rPr lang="zh-CN" altLang="en-US" b="1" dirty="0" smtClean="0">
                <a:latin typeface="宋体" panose="02010600030101010101" pitchFamily="2" charset="-122"/>
              </a:rPr>
              <a:t>代价</a:t>
            </a:r>
            <a:r>
              <a:rPr lang="en-US" altLang="zh-CN" dirty="0" smtClean="0"/>
              <a:t>(burden)</a:t>
            </a:r>
            <a:r>
              <a:rPr lang="zh-CN" altLang="en-US" dirty="0" smtClean="0">
                <a:latin typeface="宋体" panose="02010600030101010101" pitchFamily="2" charset="-122"/>
              </a:rPr>
              <a:t>和</a:t>
            </a:r>
            <a:r>
              <a:rPr lang="zh-CN" altLang="en-US" b="1" dirty="0" smtClean="0">
                <a:latin typeface="宋体" panose="02010600030101010101" pitchFamily="2" charset="-122"/>
              </a:rPr>
              <a:t>防护措施</a:t>
            </a:r>
            <a:r>
              <a:rPr lang="en-US" altLang="zh-CN" dirty="0" smtClean="0"/>
              <a:t>(safeguard)</a:t>
            </a:r>
            <a:r>
              <a:rPr lang="zh-CN" altLang="en-US" dirty="0" smtClean="0">
                <a:latin typeface="宋体" panose="02010600030101010101" pitchFamily="2" charset="-122"/>
              </a:rPr>
              <a:t>等。它们清楚地定义有助于更好地理解计算机安全风险分析过程。</a:t>
            </a:r>
            <a:r>
              <a:rPr lang="zh-CN" altLang="en-US" dirty="0" smtClean="0"/>
              <a:t> </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035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0354"/>
          <p:cNvSpPr txBox="1"/>
          <p:nvPr/>
        </p:nvSpPr>
        <p:spPr>
          <a:xfrm>
            <a:off x="1104405" y="1296000"/>
            <a:ext cx="10058400"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t>  </a:t>
            </a:r>
            <a:r>
              <a:rPr lang="zh-CN" altLang="en-US" dirty="0" smtClean="0"/>
              <a:t>计算机安全的一般目标是防止三种行为：</a:t>
            </a:r>
            <a:endParaRPr lang="zh-CN" altLang="en-US" dirty="0" smtClean="0"/>
          </a:p>
          <a:p>
            <a:pPr algn="just">
              <a:buFont typeface="Arial" panose="020B0604020202020204" pitchFamily="34" charset="0"/>
              <a:buNone/>
            </a:pPr>
            <a:r>
              <a:rPr lang="zh-CN" altLang="en-US" dirty="0" smtClean="0"/>
              <a:t>（</a:t>
            </a:r>
            <a:r>
              <a:rPr lang="en-US" altLang="zh-CN" dirty="0" smtClean="0"/>
              <a:t>1</a:t>
            </a:r>
            <a:r>
              <a:rPr lang="zh-CN" altLang="en-US" dirty="0" smtClean="0"/>
              <a:t>）计算机系统中信息的非法访问；</a:t>
            </a:r>
            <a:endParaRPr lang="zh-CN" altLang="en-US" dirty="0" smtClean="0"/>
          </a:p>
          <a:p>
            <a:pPr algn="just">
              <a:buFont typeface="Arial" panose="020B0604020202020204" pitchFamily="34" charset="0"/>
              <a:buNone/>
            </a:pPr>
            <a:r>
              <a:rPr lang="zh-CN" altLang="en-US" dirty="0" smtClean="0"/>
              <a:t>（</a:t>
            </a:r>
            <a:r>
              <a:rPr lang="en-US" altLang="zh-CN" dirty="0" smtClean="0"/>
              <a:t>2</a:t>
            </a:r>
            <a:r>
              <a:rPr lang="zh-CN" altLang="en-US" dirty="0" smtClean="0"/>
              <a:t>）计算机资源的非法使用；</a:t>
            </a:r>
            <a:endParaRPr lang="zh-CN" altLang="en-US" dirty="0" smtClean="0"/>
          </a:p>
          <a:p>
            <a:pPr algn="just">
              <a:buFont typeface="Arial" panose="020B0604020202020204" pitchFamily="34" charset="0"/>
              <a:buNone/>
            </a:pPr>
            <a:r>
              <a:rPr lang="zh-CN" altLang="en-US" dirty="0" smtClean="0"/>
              <a:t>（</a:t>
            </a:r>
            <a:r>
              <a:rPr lang="en-US" altLang="zh-CN" dirty="0" smtClean="0"/>
              <a:t>3</a:t>
            </a:r>
            <a:r>
              <a:rPr lang="zh-CN" altLang="en-US" dirty="0" smtClean="0"/>
              <a:t>）计算机及存储信息的非法破坏。</a:t>
            </a:r>
            <a:endParaRPr lang="zh-CN" altLang="en-US" dirty="0" smtClean="0"/>
          </a:p>
          <a:p>
            <a:pPr>
              <a:buFont typeface="Arial" panose="020B0604020202020204" pitchFamily="34" charset="0"/>
              <a:buNone/>
            </a:pPr>
            <a:r>
              <a:rPr lang="zh-CN" altLang="en-US" dirty="0" smtClean="0">
                <a:latin typeface="宋体" panose="02010600030101010101" pitchFamily="2" charset="-122"/>
              </a:rPr>
              <a:t>      为了达到这个目标，管理员必须明白他的计算机系统所面临的威胁以及可能遭到的破坏。</a:t>
            </a:r>
            <a:r>
              <a:rPr lang="zh-CN" altLang="en-US" dirty="0" smtClean="0"/>
              <a:t> </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1377"/>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1378"/>
          <p:cNvSpPr txBox="1"/>
          <p:nvPr/>
        </p:nvSpPr>
        <p:spPr>
          <a:xfrm>
            <a:off x="1080655" y="1296000"/>
            <a:ext cx="10046524"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风险并非只是一些未定义、未知的威胁的测度</a:t>
            </a:r>
            <a:r>
              <a:rPr lang="en-US" altLang="zh-CN" dirty="0" smtClean="0"/>
              <a:t>(measure)</a:t>
            </a:r>
            <a:r>
              <a:rPr lang="zh-CN" altLang="en-US" dirty="0" smtClean="0">
                <a:latin typeface="宋体" panose="02010600030101010101" pitchFamily="2" charset="-122"/>
              </a:rPr>
              <a:t>，它也将威胁发生的概率考虑在内。所以，风险就是不良的影响（威胁）发生的概率和严重性的测度。从</a:t>
            </a:r>
            <a:r>
              <a:rPr lang="en-US" altLang="zh-CN" dirty="0" smtClean="0"/>
              <a:t>BPL</a:t>
            </a:r>
            <a:r>
              <a:rPr lang="zh-CN" altLang="en-US" dirty="0" smtClean="0">
                <a:latin typeface="宋体" panose="02010600030101010101" pitchFamily="2" charset="-122"/>
              </a:rPr>
              <a:t>公式看，风险（不管与计算机安全有关与否）被定义为</a:t>
            </a:r>
            <a:r>
              <a:rPr lang="en-US" altLang="zh-CN" dirty="0" smtClean="0"/>
              <a:t>P*L</a:t>
            </a:r>
            <a:r>
              <a:rPr lang="zh-CN" altLang="en-US" dirty="0" smtClean="0">
                <a:latin typeface="宋体" panose="02010600030101010101" pitchFamily="2" charset="-122"/>
              </a:rPr>
              <a:t>。</a:t>
            </a:r>
            <a:r>
              <a:rPr lang="zh-CN" altLang="en-US" dirty="0" smtClean="0"/>
              <a:t> </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240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2402"/>
          <p:cNvSpPr txBox="1"/>
          <p:nvPr/>
        </p:nvSpPr>
        <p:spPr>
          <a:xfrm>
            <a:off x="1211283" y="1268413"/>
            <a:ext cx="9761517" cy="41148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对计算机安全的威胁并不仅限于来自内部的威胁，其他类型的威胁包括自然灾害、人为错误等。这些因素并非在任何系统中都要考虑到。因为对任何组织来说，对它可能的威胁是独特的，而且必须指明。因为还没有一个威胁的完整列表存在，风险分析人员应该知道从那里取寻找威胁信息。 </a:t>
            </a:r>
            <a:endParaRPr lang="zh-CN" altLang="en-US" dirty="0">
              <a:latin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3425"/>
          <p:cNvSpPr txBox="1"/>
          <p:nvPr/>
        </p:nvSpPr>
        <p:spPr>
          <a:xfrm>
            <a:off x="1781299" y="622005"/>
            <a:ext cx="9740820"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noProof="1" smtClean="0">
                <a:latin typeface="宋体" panose="02010600030101010101" pitchFamily="2" charset="-122"/>
              </a:rPr>
              <a:t>常用的确定威胁信息之处：</a:t>
            </a:r>
            <a:r>
              <a:rPr lang="zh-CN" altLang="en-US" noProof="1" smtClean="0"/>
              <a:t> </a:t>
            </a:r>
            <a:endParaRPr lang="zh-CN" altLang="en-US" noProof="1"/>
          </a:p>
        </p:txBody>
      </p:sp>
      <p:sp>
        <p:nvSpPr>
          <p:cNvPr id="3" name="文本占位符 103426"/>
          <p:cNvSpPr txBox="1"/>
          <p:nvPr/>
        </p:nvSpPr>
        <p:spPr>
          <a:xfrm>
            <a:off x="2225550" y="1533506"/>
            <a:ext cx="8082232"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indent="-533400" algn="just"/>
            <a:r>
              <a:rPr lang="zh-CN" altLang="en-US" dirty="0" smtClean="0"/>
              <a:t>系统安装记录</a:t>
            </a:r>
            <a:endParaRPr lang="zh-CN" altLang="en-US" dirty="0" smtClean="0"/>
          </a:p>
          <a:p>
            <a:pPr marL="533400" indent="-533400" algn="just"/>
            <a:r>
              <a:rPr lang="zh-CN" altLang="en-US" dirty="0" smtClean="0"/>
              <a:t> 计算机日志</a:t>
            </a:r>
            <a:endParaRPr lang="zh-CN" altLang="en-US" dirty="0" smtClean="0"/>
          </a:p>
          <a:p>
            <a:pPr marL="533400" indent="-533400" algn="just"/>
            <a:r>
              <a:rPr lang="zh-CN" altLang="en-US" dirty="0" smtClean="0"/>
              <a:t> 其他配置相似的计算机系统</a:t>
            </a:r>
            <a:endParaRPr lang="zh-CN" altLang="en-US" dirty="0" smtClean="0"/>
          </a:p>
          <a:p>
            <a:pPr marL="533400" indent="-533400" algn="just"/>
            <a:r>
              <a:rPr lang="zh-CN" altLang="en-US" dirty="0" smtClean="0"/>
              <a:t> 软件商</a:t>
            </a:r>
            <a:endParaRPr lang="zh-CN" altLang="en-US" dirty="0" smtClean="0"/>
          </a:p>
          <a:p>
            <a:pPr marL="533400" indent="-533400" algn="just"/>
            <a:r>
              <a:rPr lang="zh-CN" altLang="en-US" dirty="0" smtClean="0"/>
              <a:t> 专业计算机安全机构</a:t>
            </a:r>
            <a:endParaRPr lang="zh-CN" altLang="en-US" dirty="0" smtClean="0"/>
          </a:p>
          <a:p>
            <a:pPr marL="533400" indent="-533400" algn="just"/>
            <a:r>
              <a:rPr lang="zh-CN" altLang="en-US" dirty="0" smtClean="0"/>
              <a:t> 安全期刊</a:t>
            </a:r>
            <a:endParaRPr lang="zh-CN" altLang="en-US" dirty="0" smtClean="0"/>
          </a:p>
          <a:p>
            <a:pPr marL="533400" indent="-533400" algn="just"/>
            <a:r>
              <a:rPr lang="zh-CN" altLang="en-US" dirty="0" smtClean="0"/>
              <a:t> 邮件列表</a:t>
            </a:r>
            <a:endParaRPr lang="zh-CN" altLang="en-US" dirty="0" smtClean="0"/>
          </a:p>
          <a:p>
            <a:pPr marL="533400" indent="-533400" algn="just"/>
            <a:r>
              <a:rPr lang="zh-CN" altLang="en-US" dirty="0" smtClean="0"/>
              <a:t> 本地系统用户</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444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4450"/>
          <p:cNvSpPr txBox="1"/>
          <p:nvPr/>
        </p:nvSpPr>
        <p:spPr>
          <a:xfrm>
            <a:off x="1161802" y="2301196"/>
            <a:ext cx="9868395" cy="2900197"/>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在讨论风险分析时，</a:t>
            </a:r>
            <a:r>
              <a:rPr lang="en-US" altLang="zh-CN" dirty="0" smtClean="0"/>
              <a:t>P</a:t>
            </a:r>
            <a:r>
              <a:rPr lang="zh-CN" altLang="en-US" dirty="0" smtClean="0">
                <a:latin typeface="宋体" panose="02010600030101010101" pitchFamily="2" charset="-122"/>
              </a:rPr>
              <a:t>指的是损失发生的概率，它并不反映威胁存在的概率。例如，入侵者的威胁只是间接地与风险分析有关，因为这种威胁也许不会造成损失。当然，入侵者入侵造成损失的概率也是令人关注的。出现任何损失的概率取决于许多因素。一些因素包括系统管理员的知识和责任、损失预防措施、系统环境和对外发布的有关系统的情况等。</a:t>
            </a:r>
            <a:r>
              <a:rPr lang="zh-CN" altLang="en-US" dirty="0" smtClean="0"/>
              <a:t> </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547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5474"/>
          <p:cNvSpPr txBox="1"/>
          <p:nvPr/>
        </p:nvSpPr>
        <p:spPr>
          <a:xfrm>
            <a:off x="1108364" y="2117004"/>
            <a:ext cx="9975272" cy="3215017"/>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如果计算机没有联网，那么这台计算机受到网络入侵者的攻击的概率为</a:t>
            </a:r>
            <a:r>
              <a:rPr lang="en-US" altLang="zh-CN" dirty="0" smtClean="0"/>
              <a:t>0</a:t>
            </a:r>
            <a:r>
              <a:rPr lang="zh-CN" altLang="en-US" dirty="0" smtClean="0">
                <a:latin typeface="宋体" panose="02010600030101010101" pitchFamily="2" charset="-122"/>
              </a:rPr>
              <a:t>。这就是说，这台计算机不会受到网络攻击的威胁，在网络攻击威胁面前没有脆弱性。脆弱性可以进一步地推敲；一个系统对也许在远程入侵者使用口令攻击面前是脆弱的，但是在利用操作系统漏洞进行远程攻击面前却不显脆弱性。对脆弱性较为精确分类别由进行风险分析的人员确定。</a:t>
            </a:r>
            <a:r>
              <a:rPr lang="zh-CN" altLang="en-US" dirty="0" smtClean="0"/>
              <a:t> </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6497"/>
          <p:cNvSpPr txBox="1"/>
          <p:nvPr/>
        </p:nvSpPr>
        <p:spPr>
          <a:xfrm>
            <a:off x="2209800" y="304800"/>
            <a:ext cx="7772400" cy="762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6498"/>
          <p:cNvSpPr txBox="1"/>
          <p:nvPr/>
        </p:nvSpPr>
        <p:spPr>
          <a:xfrm>
            <a:off x="1102426" y="1667702"/>
            <a:ext cx="9987148" cy="437684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在</a:t>
            </a:r>
            <a:r>
              <a:rPr lang="en-US" altLang="zh-CN" dirty="0" smtClean="0"/>
              <a:t>BPL</a:t>
            </a:r>
            <a:r>
              <a:rPr lang="zh-CN" altLang="en-US" dirty="0" smtClean="0">
                <a:latin typeface="宋体" panose="02010600030101010101" pitchFamily="2" charset="-122"/>
              </a:rPr>
              <a:t>公式中，</a:t>
            </a:r>
            <a:r>
              <a:rPr lang="en-US" altLang="zh-CN" dirty="0" smtClean="0"/>
              <a:t>B</a:t>
            </a:r>
            <a:r>
              <a:rPr lang="zh-CN" altLang="en-US" dirty="0" smtClean="0">
                <a:latin typeface="宋体" panose="02010600030101010101" pitchFamily="2" charset="-122"/>
              </a:rPr>
              <a:t>要素代表防止某个损失（所采取的对策）的代价。这些代价并非仅仅限于金钱，也包括时间、资源和教育等。下列是代价的列表：</a:t>
            </a:r>
            <a:r>
              <a:rPr lang="zh-CN" altLang="en-US" dirty="0" smtClean="0"/>
              <a:t> </a:t>
            </a:r>
            <a:endParaRPr lang="zh-CN" altLang="en-US" dirty="0" smtClean="0"/>
          </a:p>
          <a:p>
            <a:pPr algn="just"/>
            <a:r>
              <a:rPr lang="zh-CN" altLang="en-US" dirty="0" smtClean="0"/>
              <a:t>防止损失的对策的设计、安装、测试和维护所需要的时间与费用；</a:t>
            </a:r>
            <a:endParaRPr lang="zh-CN" altLang="en-US" dirty="0" smtClean="0"/>
          </a:p>
          <a:p>
            <a:pPr algn="just"/>
            <a:r>
              <a:rPr lang="zh-CN" altLang="en-US" dirty="0" smtClean="0"/>
              <a:t>去除无效或过时的对策所需的时间和费用。</a:t>
            </a:r>
            <a:endParaRPr lang="zh-CN" altLang="en-US" dirty="0" smtClean="0"/>
          </a:p>
          <a:p>
            <a:pPr algn="just"/>
            <a:r>
              <a:rPr lang="zh-CN" altLang="en-US" dirty="0" smtClean="0"/>
              <a:t>安装对策的时间与损失的计算时间。</a:t>
            </a:r>
            <a:endParaRPr lang="zh-CN" altLang="en-US" dirty="0" smtClean="0"/>
          </a:p>
          <a:p>
            <a:pPr algn="just"/>
            <a:r>
              <a:rPr lang="zh-CN" altLang="en-US" dirty="0" smtClean="0"/>
              <a:t>购买对策的代价。</a:t>
            </a:r>
            <a:endParaRPr lang="zh-CN" altLang="en-US" dirty="0" smtClean="0"/>
          </a:p>
          <a:p>
            <a:r>
              <a:rPr lang="zh-CN" altLang="en-US" dirty="0" smtClean="0">
                <a:latin typeface="宋体" panose="02010600030101010101" pitchFamily="2" charset="-122"/>
              </a:rPr>
              <a:t>用户教育的时间代价。</a:t>
            </a:r>
            <a:r>
              <a:rPr lang="zh-CN" altLang="en-US" dirty="0" smtClean="0"/>
              <a:t> </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7521"/>
          <p:cNvSpPr txBox="1"/>
          <p:nvPr/>
        </p:nvSpPr>
        <p:spPr>
          <a:xfrm>
            <a:off x="2209800" y="381000"/>
            <a:ext cx="7772400" cy="5334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07522"/>
          <p:cNvSpPr txBox="1"/>
          <p:nvPr/>
        </p:nvSpPr>
        <p:spPr>
          <a:xfrm>
            <a:off x="1108364" y="2308969"/>
            <a:ext cx="9975272" cy="3984954"/>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buFont typeface="Arial" panose="020B0604020202020204" pitchFamily="34" charset="0"/>
              <a:buNone/>
            </a:pPr>
            <a:r>
              <a:rPr lang="en-US" altLang="zh-CN" noProof="1" smtClean="0">
                <a:latin typeface="宋体" panose="02010600030101010101" pitchFamily="2" charset="-122"/>
              </a:rPr>
              <a:t>     </a:t>
            </a:r>
            <a:r>
              <a:rPr lang="zh-CN" altLang="en-US" noProof="1" smtClean="0">
                <a:latin typeface="宋体" panose="02010600030101010101" pitchFamily="2" charset="-122"/>
              </a:rPr>
              <a:t>与代价密切相关的概念是</a:t>
            </a:r>
            <a:r>
              <a:rPr lang="zh-CN" altLang="en-US" noProof="1" smtClean="0">
                <a:solidFill>
                  <a:schemeClr val="accent1"/>
                </a:solidFill>
                <a:effectLst>
                  <a:outerShdw blurRad="38100" dist="25400" dir="5400000" algn="ctr" rotWithShape="0">
                    <a:srgbClr val="6E747A">
                      <a:alpha val="43000"/>
                    </a:srgbClr>
                  </a:outerShdw>
                </a:effectLst>
                <a:latin typeface="宋体" panose="02010600030101010101" pitchFamily="2" charset="-122"/>
              </a:rPr>
              <a:t>防护措施</a:t>
            </a:r>
            <a:r>
              <a:rPr lang="zh-CN" altLang="en-US" noProof="1" smtClean="0">
                <a:latin typeface="宋体" panose="02010600030101010101" pitchFamily="2" charset="-122"/>
              </a:rPr>
              <a:t>。防护措施是弥补一个系统脆弱性的具体行动。例如，磁盘备份措施在一定程度上能够保护系统免于数据丢失的损失。同样，</a:t>
            </a:r>
            <a:r>
              <a:rPr lang="en-US" altLang="zh-CN" noProof="1" smtClean="0"/>
              <a:t>UNIX</a:t>
            </a:r>
            <a:r>
              <a:rPr lang="zh-CN" altLang="en-US" noProof="1" smtClean="0">
                <a:latin typeface="宋体" panose="02010600030101010101" pitchFamily="2" charset="-122"/>
              </a:rPr>
              <a:t>操作系统中的口令隐含措施也是在一定程度上能够防止系统口令文件被盗取的的措施之一。类似这样的防护措施几乎不可能完全保证系统安全。就是说，即使采用诸如此类的防护措施，一个系统的脆弱性不能够得到完全地弥补，只是被入侵的可能性降低了。</a:t>
            </a:r>
            <a:r>
              <a:rPr lang="zh-CN" altLang="en-US" noProof="1" smtClean="0"/>
              <a:t> </a:t>
            </a:r>
            <a:endParaRPr lang="zh-CN" altLang="en-US" noProof="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8545"/>
          <p:cNvSpPr txBox="1"/>
          <p:nvPr/>
        </p:nvSpPr>
        <p:spPr>
          <a:xfrm>
            <a:off x="1080655" y="574500"/>
            <a:ext cx="10441464"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3600" dirty="0" smtClean="0">
                <a:solidFill>
                  <a:srgbClr val="0F73EE"/>
                </a:solidFill>
              </a:rPr>
              <a:t>（</a:t>
            </a:r>
            <a:r>
              <a:rPr lang="en-US" altLang="zh-CN" sz="3600" dirty="0" smtClean="0">
                <a:solidFill>
                  <a:srgbClr val="0F73EE"/>
                </a:solidFill>
              </a:rPr>
              <a:t>2</a:t>
            </a:r>
            <a:r>
              <a:rPr lang="zh-CN" altLang="en-US" sz="3600" dirty="0" smtClean="0">
                <a:solidFill>
                  <a:srgbClr val="0F73EE"/>
                </a:solidFill>
              </a:rPr>
              <a:t>）</a:t>
            </a:r>
            <a:r>
              <a:rPr lang="zh-CN" altLang="en-US" sz="3600" dirty="0" smtClean="0">
                <a:solidFill>
                  <a:srgbClr val="0F73EE"/>
                </a:solidFill>
                <a:latin typeface="宋体" panose="02010600030101010101" pitchFamily="2" charset="-122"/>
              </a:rPr>
              <a:t>风险分析应用举例</a:t>
            </a:r>
            <a:r>
              <a:rPr lang="zh-CN" altLang="en-US" noProof="1" smtClean="0">
                <a:solidFill>
                  <a:srgbClr val="0F73EE"/>
                </a:solidFill>
              </a:rPr>
              <a:t> </a:t>
            </a:r>
            <a:endParaRPr lang="zh-CN" altLang="en-US" noProof="1">
              <a:solidFill>
                <a:srgbClr val="0F73EE"/>
              </a:solidFill>
            </a:endParaRPr>
          </a:p>
        </p:txBody>
      </p:sp>
      <p:sp>
        <p:nvSpPr>
          <p:cNvPr id="3" name="文本占位符 108546"/>
          <p:cNvSpPr txBox="1"/>
          <p:nvPr/>
        </p:nvSpPr>
        <p:spPr>
          <a:xfrm>
            <a:off x="1080655" y="1510209"/>
            <a:ext cx="9963397" cy="4395787"/>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一旦确认和估计了计算机系统中的代价和概率趋势，就可以使用</a:t>
            </a:r>
            <a:r>
              <a:rPr lang="en-US" altLang="zh-CN" dirty="0" smtClean="0"/>
              <a:t>BPL</a:t>
            </a:r>
            <a:r>
              <a:rPr lang="zh-CN" altLang="en-US" dirty="0" smtClean="0">
                <a:latin typeface="宋体" panose="02010600030101010101" pitchFamily="2" charset="-122"/>
              </a:rPr>
              <a:t>公式对计算机系统进行风险分析。</a:t>
            </a:r>
            <a:r>
              <a:rPr lang="en-US" altLang="zh-CN" dirty="0" smtClean="0"/>
              <a:t>BPL</a:t>
            </a:r>
            <a:r>
              <a:rPr lang="zh-CN" altLang="en-US" dirty="0" smtClean="0">
                <a:latin typeface="宋体" panose="02010600030101010101" pitchFamily="2" charset="-122"/>
              </a:rPr>
              <a:t>公式中的</a:t>
            </a:r>
            <a:r>
              <a:rPr lang="en-US" altLang="zh-CN" dirty="0" smtClean="0"/>
              <a:t>L</a:t>
            </a:r>
            <a:r>
              <a:rPr lang="zh-CN" altLang="en-US" dirty="0" smtClean="0">
                <a:latin typeface="宋体" panose="02010600030101010101" pitchFamily="2" charset="-122"/>
              </a:rPr>
              <a:t>（损失）使用各种特定的损失的累计值；</a:t>
            </a:r>
            <a:r>
              <a:rPr lang="en-US" altLang="zh-CN" dirty="0" smtClean="0"/>
              <a:t>P</a:t>
            </a:r>
            <a:r>
              <a:rPr lang="zh-CN" altLang="en-US" dirty="0" smtClean="0">
                <a:latin typeface="宋体" panose="02010600030101010101" pitchFamily="2" charset="-122"/>
              </a:rPr>
              <a:t>（概率）就是一种损失发生的概率值；</a:t>
            </a:r>
            <a:r>
              <a:rPr lang="en-US" altLang="zh-CN" dirty="0" smtClean="0"/>
              <a:t>B</a:t>
            </a:r>
            <a:r>
              <a:rPr lang="zh-CN" altLang="en-US" dirty="0" smtClean="0">
                <a:latin typeface="宋体" panose="02010600030101010101" pitchFamily="2" charset="-122"/>
              </a:rPr>
              <a:t>（代价）是防止这种损失发生的总代价。一旦这些要素的数值确定后，就可以计算</a:t>
            </a:r>
            <a:r>
              <a:rPr lang="en-US" altLang="zh-CN" dirty="0" smtClean="0"/>
              <a:t>BPL</a:t>
            </a:r>
            <a:r>
              <a:rPr lang="zh-CN" altLang="en-US" dirty="0" smtClean="0">
                <a:latin typeface="宋体" panose="02010600030101010101" pitchFamily="2" charset="-122"/>
              </a:rPr>
              <a:t>公式。如果</a:t>
            </a:r>
            <a:r>
              <a:rPr lang="en-US" altLang="zh-CN" dirty="0" smtClean="0"/>
              <a:t>B</a:t>
            </a:r>
            <a:r>
              <a:rPr lang="zh-CN" altLang="en-US" dirty="0" smtClean="0">
                <a:latin typeface="宋体" panose="02010600030101010101" pitchFamily="2" charset="-122"/>
              </a:rPr>
              <a:t>大于</a:t>
            </a:r>
            <a:r>
              <a:rPr lang="en-US" altLang="zh-CN" dirty="0" smtClean="0"/>
              <a:t>P</a:t>
            </a:r>
            <a:r>
              <a:rPr lang="zh-CN" altLang="en-US" dirty="0" smtClean="0">
                <a:latin typeface="宋体" panose="02010600030101010101" pitchFamily="2" charset="-122"/>
              </a:rPr>
              <a:t>和</a:t>
            </a:r>
            <a:r>
              <a:rPr lang="en-US" altLang="zh-CN" dirty="0" smtClean="0"/>
              <a:t>L</a:t>
            </a:r>
            <a:r>
              <a:rPr lang="zh-CN" altLang="en-US" dirty="0" smtClean="0">
                <a:latin typeface="宋体" panose="02010600030101010101" pitchFamily="2" charset="-122"/>
              </a:rPr>
              <a:t>的乘积，那么防止这种损失所采用的代价就过于高昂了；反之，这种评估说明所采用的措施是合适的。</a:t>
            </a:r>
            <a:r>
              <a:rPr lang="zh-CN" altLang="en-US" dirty="0" smtClean="0"/>
              <a:t> </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0956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dirty="0">
              <a:solidFill>
                <a:schemeClr val="bg1"/>
              </a:solidFill>
              <a:latin typeface="+mj-ea"/>
              <a:cs typeface="+mn-cs"/>
            </a:endParaRPr>
          </a:p>
        </p:txBody>
      </p:sp>
      <p:sp>
        <p:nvSpPr>
          <p:cNvPr id="3" name="文本占位符 109570"/>
          <p:cNvSpPr txBox="1"/>
          <p:nvPr/>
        </p:nvSpPr>
        <p:spPr>
          <a:xfrm>
            <a:off x="1116281" y="1628776"/>
            <a:ext cx="9999023" cy="496887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某个组织希望改进它的计算机系统，因为网络的范围正逐步扩大，以及不断增多的莫名其妙的失败登录企图。安全管理员希望关闭系统中一些较为脆弱的网络服务。因为有</a:t>
            </a:r>
            <a:r>
              <a:rPr lang="en-US" altLang="zh-CN" dirty="0" smtClean="0"/>
              <a:t>300</a:t>
            </a:r>
            <a:r>
              <a:rPr lang="zh-CN" altLang="en-US" dirty="0" smtClean="0">
                <a:latin typeface="宋体" panose="02010600030101010101" pitchFamily="2" charset="-122"/>
              </a:rPr>
              <a:t>台计算机直接连接到网络上，安全管理员将必须修改所有</a:t>
            </a:r>
            <a:r>
              <a:rPr lang="en-US" altLang="zh-CN" dirty="0" smtClean="0"/>
              <a:t>300</a:t>
            </a:r>
            <a:r>
              <a:rPr lang="zh-CN" altLang="en-US" dirty="0" smtClean="0">
                <a:latin typeface="宋体" panose="02010600030101010101" pitchFamily="2" charset="-122"/>
              </a:rPr>
              <a:t>台机器上的文件。另一个管理员会编写一个自动完成所有机器上修改的程序。而且一旦完成所有的修改，所有的计算机必须重新启动，以确保修改的正确性。</a:t>
            </a:r>
            <a:r>
              <a:rPr lang="zh-CN" altLang="en-US" dirty="0" smtClean="0"/>
              <a:t> </a:t>
            </a:r>
            <a:endParaRPr lang="zh-CN" altLang="en-US" dirty="0"/>
          </a:p>
        </p:txBody>
      </p:sp>
      <p:grpSp>
        <p:nvGrpSpPr>
          <p:cNvPr id="4" name="组合 3"/>
          <p:cNvGrpSpPr/>
          <p:nvPr/>
        </p:nvGrpSpPr>
        <p:grpSpPr>
          <a:xfrm>
            <a:off x="4947540" y="432000"/>
            <a:ext cx="2336504" cy="791052"/>
            <a:chOff x="824072" y="1564267"/>
            <a:chExt cx="2336504" cy="791052"/>
          </a:xfrm>
        </p:grpSpPr>
        <p:sp>
          <p:nvSpPr>
            <p:cNvPr id="5" name="矩形: 圆角 16"/>
            <p:cNvSpPr/>
            <p:nvPr/>
          </p:nvSpPr>
          <p:spPr>
            <a:xfrm>
              <a:off x="824072" y="1740416"/>
              <a:ext cx="233650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459054" cy="523220"/>
            </a:xfrm>
            <a:prstGeom prst="rect">
              <a:avLst/>
            </a:prstGeom>
          </p:spPr>
          <p:txBody>
            <a:bodyPr wrap="none">
              <a:spAutoFit/>
            </a:bodyPr>
            <a:lstStyle/>
            <a:p>
              <a:pPr fontAlgn="base"/>
              <a:r>
                <a:rPr lang="zh-CN" altLang="en-US" sz="2800" dirty="0">
                  <a:solidFill>
                    <a:schemeClr val="bg1"/>
                  </a:solidFill>
                  <a:latin typeface="+mj-ea"/>
                </a:rPr>
                <a:t>案例</a:t>
              </a:r>
              <a:r>
                <a:rPr lang="en-US" altLang="zh-CN" sz="2800" dirty="0">
                  <a:solidFill>
                    <a:schemeClr val="bg1"/>
                  </a:solidFill>
                  <a:latin typeface="+mj-ea"/>
                </a:rPr>
                <a:t>1</a:t>
              </a:r>
              <a:r>
                <a:rPr lang="zh-CN" altLang="en-US" sz="2800" dirty="0">
                  <a:solidFill>
                    <a:schemeClr val="bg1"/>
                  </a:solidFill>
                  <a:latin typeface="+mj-ea"/>
                </a:rPr>
                <a:t>：</a:t>
              </a:r>
              <a:endParaRPr lang="zh-CN" altLang="en-US" sz="2800" dirty="0">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059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10594"/>
          <p:cNvSpPr txBox="1"/>
          <p:nvPr/>
        </p:nvSpPr>
        <p:spPr>
          <a:xfrm>
            <a:off x="1102426" y="2410402"/>
            <a:ext cx="9987148" cy="2826616"/>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在开始实施这项修改工作之前，他们必须首先确定所进行的修改是否值得。由于已经提到的两个原因，管理员认定由于遭到非法入侵而损失敏感数据的可能性很大。在收集处于同样情况下的其他组织遭受入侵的情况以及征求专业安全机构的咨询后，他们认定遭受攻击的损失</a:t>
            </a:r>
            <a:r>
              <a:rPr lang="zh-CN" altLang="en-US" dirty="0" smtClean="0">
                <a:solidFill>
                  <a:srgbClr val="FF0000"/>
                </a:solidFill>
                <a:latin typeface="宋体" panose="02010600030101010101" pitchFamily="2" charset="-122"/>
              </a:rPr>
              <a:t>概率大约为</a:t>
            </a:r>
            <a:r>
              <a:rPr lang="en-US" altLang="zh-CN" dirty="0" smtClean="0">
                <a:solidFill>
                  <a:srgbClr val="FF0000"/>
                </a:solidFill>
              </a:rPr>
              <a:t>10%</a:t>
            </a:r>
            <a:r>
              <a:rPr lang="zh-CN" altLang="en-US" dirty="0" smtClean="0">
                <a:latin typeface="宋体" panose="02010600030101010101" pitchFamily="2" charset="-122"/>
              </a:rPr>
              <a:t>。研发部在系统上的</a:t>
            </a:r>
            <a:r>
              <a:rPr lang="zh-CN" altLang="en-US" dirty="0" smtClean="0">
                <a:solidFill>
                  <a:srgbClr val="00B050"/>
                </a:solidFill>
                <a:latin typeface="宋体" panose="02010600030101010101" pitchFamily="2" charset="-122"/>
              </a:rPr>
              <a:t>信息价值大约为</a:t>
            </a:r>
            <a:r>
              <a:rPr lang="en-US" altLang="zh-CN" dirty="0" smtClean="0">
                <a:solidFill>
                  <a:srgbClr val="00B050"/>
                </a:solidFill>
              </a:rPr>
              <a:t>$850,000</a:t>
            </a:r>
            <a:r>
              <a:rPr lang="zh-CN" altLang="en-US" dirty="0" smtClean="0">
                <a:latin typeface="宋体" panose="02010600030101010101" pitchFamily="2" charset="-122"/>
              </a:rPr>
              <a:t>。</a:t>
            </a:r>
            <a:r>
              <a:rPr lang="zh-CN" altLang="en-US" dirty="0" smtClean="0"/>
              <a:t> </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1617"/>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11618"/>
          <p:cNvSpPr txBox="1"/>
          <p:nvPr/>
        </p:nvSpPr>
        <p:spPr>
          <a:xfrm>
            <a:off x="1009403" y="1923514"/>
            <a:ext cx="10129651" cy="41148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从被攻击后耽误的时间和恢复这段时间的代价大约</a:t>
            </a:r>
            <a:r>
              <a:rPr lang="en-US" altLang="zh-CN" dirty="0" smtClean="0">
                <a:solidFill>
                  <a:srgbClr val="00B050"/>
                </a:solidFill>
              </a:rPr>
              <a:t>$35,000</a:t>
            </a:r>
            <a:r>
              <a:rPr lang="zh-CN" altLang="en-US" dirty="0" smtClean="0">
                <a:latin typeface="宋体" panose="02010600030101010101" pitchFamily="2" charset="-122"/>
              </a:rPr>
              <a:t>。这样，如果系统遭到成功的攻击，管理员估计，系统恢复需要</a:t>
            </a:r>
            <a:r>
              <a:rPr lang="zh-CN" altLang="en-US" dirty="0" smtClean="0">
                <a:solidFill>
                  <a:srgbClr val="00B050"/>
                </a:solidFill>
                <a:latin typeface="宋体" panose="02010600030101010101" pitchFamily="2" charset="-122"/>
              </a:rPr>
              <a:t>花费</a:t>
            </a:r>
            <a:r>
              <a:rPr lang="en-US" altLang="zh-CN" dirty="0" smtClean="0">
                <a:solidFill>
                  <a:srgbClr val="00B050"/>
                </a:solidFill>
              </a:rPr>
              <a:t>$30,000</a:t>
            </a:r>
            <a:r>
              <a:rPr lang="zh-CN" altLang="en-US" dirty="0" smtClean="0">
                <a:latin typeface="宋体" panose="02010600030101010101" pitchFamily="2" charset="-122"/>
              </a:rPr>
              <a:t>。</a:t>
            </a:r>
            <a:endParaRPr lang="zh-CN" altLang="en-US" dirty="0" smtClean="0">
              <a:latin typeface="宋体" panose="02010600030101010101" pitchFamily="2" charset="-122"/>
            </a:endParaRPr>
          </a:p>
          <a:p>
            <a:pPr>
              <a:buFont typeface="Arial" panose="020B0604020202020204" pitchFamily="34" charset="0"/>
              <a:buNone/>
            </a:pPr>
            <a:r>
              <a:rPr lang="zh-CN" altLang="en-US" dirty="0" smtClean="0">
                <a:latin typeface="宋体" panose="02010600030101010101" pitchFamily="2" charset="-122"/>
              </a:rPr>
              <a:t>     如果进行系统的改进工作，编写修改程序的时间、重新启动机器的时间加上损失的系统计算时间将</a:t>
            </a:r>
            <a:r>
              <a:rPr lang="zh-CN" altLang="en-US" dirty="0" smtClean="0">
                <a:solidFill>
                  <a:schemeClr val="accent1"/>
                </a:solidFill>
                <a:latin typeface="宋体" panose="02010600030101010101" pitchFamily="2" charset="-122"/>
              </a:rPr>
              <a:t>花费</a:t>
            </a:r>
            <a:r>
              <a:rPr lang="en-US" altLang="zh-CN" dirty="0" smtClean="0">
                <a:solidFill>
                  <a:schemeClr val="accent1"/>
                </a:solidFill>
              </a:rPr>
              <a:t>$7,000</a:t>
            </a:r>
            <a:r>
              <a:rPr lang="zh-CN" altLang="en-US" dirty="0" smtClean="0">
                <a:latin typeface="宋体" panose="02010600030101010101" pitchFamily="2" charset="-122"/>
              </a:rPr>
              <a:t>。因为修改系统软件、帮助和教育用户而损失的网络服务</a:t>
            </a:r>
            <a:r>
              <a:rPr lang="zh-CN" altLang="en-US" dirty="0" smtClean="0">
                <a:solidFill>
                  <a:schemeClr val="accent1"/>
                </a:solidFill>
                <a:latin typeface="宋体" panose="02010600030101010101" pitchFamily="2" charset="-122"/>
              </a:rPr>
              <a:t>代价是大约</a:t>
            </a:r>
            <a:r>
              <a:rPr lang="en-US" altLang="zh-CN" dirty="0" smtClean="0">
                <a:solidFill>
                  <a:schemeClr val="accent1"/>
                </a:solidFill>
              </a:rPr>
              <a:t>$2,000</a:t>
            </a:r>
            <a:r>
              <a:rPr lang="zh-CN" altLang="en-US" dirty="0" smtClean="0">
                <a:latin typeface="宋体" panose="02010600030101010101" pitchFamily="2" charset="-122"/>
              </a:rPr>
              <a:t>。</a:t>
            </a:r>
            <a:r>
              <a:rPr lang="zh-CN" altLang="en-US" dirty="0" smtClean="0"/>
              <a:t> </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264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12642"/>
          <p:cNvSpPr txBox="1"/>
          <p:nvPr/>
        </p:nvSpPr>
        <p:spPr>
          <a:xfrm>
            <a:off x="1331025" y="903579"/>
            <a:ext cx="9831779" cy="5283466"/>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solidFill>
                  <a:srgbClr val="FF0000"/>
                </a:solidFill>
              </a:rPr>
              <a:t>P=10%</a:t>
            </a:r>
            <a:endParaRPr lang="en-US" altLang="zh-CN" dirty="0" smtClean="0">
              <a:solidFill>
                <a:srgbClr val="FF0000"/>
              </a:solidFill>
            </a:endParaRPr>
          </a:p>
          <a:p>
            <a:pPr algn="just">
              <a:buFont typeface="Arial" panose="020B0604020202020204" pitchFamily="34" charset="0"/>
              <a:buNone/>
            </a:pPr>
            <a:r>
              <a:rPr lang="en-US" altLang="zh-CN" dirty="0" smtClean="0">
                <a:solidFill>
                  <a:srgbClr val="00B050"/>
                </a:solidFill>
              </a:rPr>
              <a:t>L1=$850,000   L2=$35,000    L3=$30,000</a:t>
            </a:r>
            <a:endParaRPr lang="en-US" altLang="zh-CN" dirty="0" smtClean="0">
              <a:solidFill>
                <a:srgbClr val="00B050"/>
              </a:solidFill>
            </a:endParaRPr>
          </a:p>
          <a:p>
            <a:pPr algn="just">
              <a:buFont typeface="Arial" panose="020B0604020202020204" pitchFamily="34" charset="0"/>
              <a:buNone/>
            </a:pPr>
            <a:r>
              <a:rPr lang="en-US" altLang="zh-CN" dirty="0" smtClean="0">
                <a:solidFill>
                  <a:schemeClr val="accent1"/>
                </a:solidFill>
              </a:rPr>
              <a:t>B1=$7,000     B2=$2,000</a:t>
            </a:r>
            <a:endParaRPr lang="en-US" altLang="zh-CN" dirty="0" smtClean="0">
              <a:solidFill>
                <a:schemeClr val="accent1"/>
              </a:solidFill>
            </a:endParaRPr>
          </a:p>
          <a:p>
            <a:pPr algn="just">
              <a:buFont typeface="Arial" panose="020B0604020202020204" pitchFamily="34" charset="0"/>
              <a:buNone/>
            </a:pPr>
            <a:r>
              <a:rPr lang="zh-CN" altLang="en-US" dirty="0" smtClean="0"/>
              <a:t>使用</a:t>
            </a:r>
            <a:r>
              <a:rPr lang="en-US" altLang="zh-CN" dirty="0" smtClean="0"/>
              <a:t>BPL</a:t>
            </a:r>
            <a:r>
              <a:rPr lang="zh-CN" altLang="en-US" dirty="0" smtClean="0"/>
              <a:t>公式计算，</a:t>
            </a:r>
            <a:endParaRPr lang="zh-CN" altLang="en-US" dirty="0" smtClean="0"/>
          </a:p>
          <a:p>
            <a:pPr algn="just">
              <a:buFont typeface="Arial" panose="020B0604020202020204" pitchFamily="34" charset="0"/>
              <a:buNone/>
            </a:pPr>
            <a:r>
              <a:rPr lang="en-US" altLang="zh-CN" dirty="0" smtClean="0"/>
              <a:t>P*L=10%*</a:t>
            </a:r>
            <a:r>
              <a:rPr lang="zh-CN" altLang="en-US" dirty="0" smtClean="0"/>
              <a:t>（</a:t>
            </a:r>
            <a:r>
              <a:rPr lang="en-US" altLang="zh-CN" dirty="0" smtClean="0">
                <a:solidFill>
                  <a:srgbClr val="00B050"/>
                </a:solidFill>
              </a:rPr>
              <a:t>$850,000+$35,000+$30,000</a:t>
            </a:r>
            <a:r>
              <a:rPr lang="zh-CN" altLang="en-US" dirty="0" smtClean="0"/>
              <a:t>）</a:t>
            </a:r>
            <a:r>
              <a:rPr lang="en-US" altLang="zh-CN" dirty="0" smtClean="0"/>
              <a:t>=$91,500</a:t>
            </a:r>
            <a:endParaRPr lang="en-US" altLang="zh-CN" dirty="0" smtClean="0"/>
          </a:p>
          <a:p>
            <a:pPr>
              <a:buFont typeface="Arial" panose="020B0604020202020204" pitchFamily="34" charset="0"/>
              <a:buNone/>
            </a:pPr>
            <a:r>
              <a:rPr lang="en-US" altLang="zh-CN" dirty="0" smtClean="0"/>
              <a:t>B=</a:t>
            </a:r>
            <a:r>
              <a:rPr lang="en-US" altLang="zh-CN" dirty="0" smtClean="0">
                <a:solidFill>
                  <a:schemeClr val="accent1"/>
                </a:solidFill>
              </a:rPr>
              <a:t>$2,000+$7,000</a:t>
            </a:r>
            <a:r>
              <a:rPr lang="en-US" altLang="zh-CN" dirty="0" smtClean="0"/>
              <a:t>=$9,000 </a:t>
            </a:r>
            <a:endParaRPr lang="en-US" altLang="zh-CN" dirty="0" smtClean="0"/>
          </a:p>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因为</a:t>
            </a:r>
            <a:r>
              <a:rPr lang="en-US" altLang="zh-CN" dirty="0" smtClean="0"/>
              <a:t>B</a:t>
            </a:r>
            <a:r>
              <a:rPr lang="zh-CN" altLang="en-US" dirty="0" smtClean="0">
                <a:latin typeface="宋体" panose="02010600030101010101" pitchFamily="2" charset="-122"/>
              </a:rPr>
              <a:t>（即系统修改的代价）远小于</a:t>
            </a:r>
            <a:r>
              <a:rPr lang="en-US" altLang="zh-CN" dirty="0" smtClean="0"/>
              <a:t>L</a:t>
            </a:r>
            <a:r>
              <a:rPr lang="zh-CN" altLang="en-US" dirty="0" smtClean="0">
                <a:latin typeface="宋体" panose="02010600030101010101" pitchFamily="2" charset="-122"/>
              </a:rPr>
              <a:t>（损失的代价），该系统确实应该进行修改，并且要关闭一些不安全的网络服务。用户可以使用所提供的更安全的网络服务继续他们的工作。</a:t>
            </a:r>
            <a:endParaRPr lang="zh-CN" altLang="en-US" dirty="0">
              <a:latin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14690"/>
          <p:cNvSpPr txBox="1"/>
          <p:nvPr/>
        </p:nvSpPr>
        <p:spPr>
          <a:xfrm>
            <a:off x="1080655" y="1723511"/>
            <a:ext cx="10022774" cy="314537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一个公司的计算机管理员关注对其系统的远程访问问题，他认为系统在入侵者远程访问面前可能较为脆弱。如同上一个例子中的管理员一样，他要询问用户，如果发生了对系统的成功攻击且入侵者窃走信息将会造成的损失程度。虽然系统并不包含保密信息，而且信息每周备份一次，用户主要关注的是遭受攻击后的时间损失。系统恢复的费用大约需要花费</a:t>
            </a:r>
            <a:r>
              <a:rPr lang="en-US" altLang="zh-CN" dirty="0" smtClean="0">
                <a:solidFill>
                  <a:srgbClr val="00B050"/>
                </a:solidFill>
              </a:rPr>
              <a:t>$360,000</a:t>
            </a:r>
            <a:r>
              <a:rPr lang="zh-CN" altLang="en-US" dirty="0" smtClean="0">
                <a:latin typeface="宋体" panose="02010600030101010101" pitchFamily="2" charset="-122"/>
              </a:rPr>
              <a:t>。</a:t>
            </a:r>
            <a:r>
              <a:rPr lang="zh-CN" altLang="en-US" dirty="0" smtClean="0"/>
              <a:t> </a:t>
            </a:r>
            <a:endParaRPr lang="zh-CN" altLang="en-US" dirty="0"/>
          </a:p>
        </p:txBody>
      </p:sp>
      <p:grpSp>
        <p:nvGrpSpPr>
          <p:cNvPr id="8" name="组合 7"/>
          <p:cNvGrpSpPr/>
          <p:nvPr/>
        </p:nvGrpSpPr>
        <p:grpSpPr>
          <a:xfrm>
            <a:off x="4947540" y="432000"/>
            <a:ext cx="2336504" cy="791052"/>
            <a:chOff x="824072" y="1564267"/>
            <a:chExt cx="2336504" cy="791052"/>
          </a:xfrm>
        </p:grpSpPr>
        <p:sp>
          <p:nvSpPr>
            <p:cNvPr id="9" name="矩形: 圆角 16"/>
            <p:cNvSpPr/>
            <p:nvPr/>
          </p:nvSpPr>
          <p:spPr>
            <a:xfrm>
              <a:off x="824072" y="1740416"/>
              <a:ext cx="233650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701522" y="1828091"/>
              <a:ext cx="1459054" cy="523220"/>
            </a:xfrm>
            <a:prstGeom prst="rect">
              <a:avLst/>
            </a:prstGeom>
          </p:spPr>
          <p:txBody>
            <a:bodyPr wrap="none">
              <a:spAutoFit/>
            </a:bodyPr>
            <a:lstStyle/>
            <a:p>
              <a:pPr fontAlgn="base"/>
              <a:r>
                <a:rPr lang="zh-CN" altLang="en-US" sz="2800" dirty="0" smtClean="0">
                  <a:solidFill>
                    <a:schemeClr val="bg1"/>
                  </a:solidFill>
                  <a:latin typeface="+mj-ea"/>
                </a:rPr>
                <a:t>案例</a:t>
              </a:r>
              <a:r>
                <a:rPr lang="en-US" altLang="zh-CN" sz="2800" dirty="0" smtClean="0">
                  <a:solidFill>
                    <a:schemeClr val="bg1"/>
                  </a:solidFill>
                  <a:latin typeface="+mj-ea"/>
                </a:rPr>
                <a:t>2</a:t>
              </a:r>
              <a:r>
                <a:rPr lang="zh-CN" altLang="en-US" sz="2800" dirty="0" smtClean="0">
                  <a:solidFill>
                    <a:schemeClr val="bg1"/>
                  </a:solidFill>
                  <a:latin typeface="+mj-ea"/>
                </a:rPr>
                <a:t>：</a:t>
              </a:r>
              <a:endParaRPr lang="zh-CN" altLang="en-US" sz="2800" dirty="0">
                <a:solidFill>
                  <a:schemeClr val="bg1"/>
                </a:solidFill>
                <a:latin typeface="+mj-ea"/>
              </a:endParaRPr>
            </a:p>
          </p:txBody>
        </p:sp>
        <p:pic>
          <p:nvPicPr>
            <p:cNvPr id="11" name="图片 10"/>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5713"/>
          <p:cNvSpPr txBox="1"/>
          <p:nvPr/>
        </p:nvSpPr>
        <p:spPr>
          <a:xfrm>
            <a:off x="2209800" y="609600"/>
            <a:ext cx="7772400" cy="381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15714"/>
          <p:cNvSpPr txBox="1"/>
          <p:nvPr/>
        </p:nvSpPr>
        <p:spPr>
          <a:xfrm>
            <a:off x="1138547" y="2201884"/>
            <a:ext cx="9914906" cy="378328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在收集处于同样情况下的其他组织遭受入侵的情况以及征求专业安全机构的咨询后，他们认定遭受攻击的损失</a:t>
            </a:r>
            <a:r>
              <a:rPr lang="zh-CN" altLang="en-US" dirty="0" smtClean="0">
                <a:solidFill>
                  <a:srgbClr val="FF0000"/>
                </a:solidFill>
                <a:latin typeface="宋体" panose="02010600030101010101" pitchFamily="2" charset="-122"/>
              </a:rPr>
              <a:t>概率大约为</a:t>
            </a:r>
            <a:r>
              <a:rPr lang="en-US" altLang="zh-CN" dirty="0" smtClean="0">
                <a:solidFill>
                  <a:srgbClr val="FF0000"/>
                </a:solidFill>
              </a:rPr>
              <a:t>5%</a:t>
            </a:r>
            <a:r>
              <a:rPr lang="zh-CN" altLang="en-US" dirty="0" smtClean="0">
                <a:latin typeface="宋体" panose="02010600030101010101" pitchFamily="2" charset="-122"/>
              </a:rPr>
              <a:t>。他已经考虑到要关闭远程服务的可能性。虽然他不能确定每个用户为此将付出的代价，但他十分清楚，这样会引起用户的强烈不满。所考虑的更为合理的措施是使用软件认证机制如</a:t>
            </a:r>
            <a:r>
              <a:rPr lang="en-US" altLang="zh-CN" dirty="0" smtClean="0"/>
              <a:t>KERBOROS</a:t>
            </a:r>
            <a:r>
              <a:rPr lang="zh-CN" altLang="en-US" dirty="0" smtClean="0">
                <a:latin typeface="宋体" panose="02010600030101010101" pitchFamily="2" charset="-122"/>
              </a:rPr>
              <a:t>。与软件商联系后得知，购买该软件需花费</a:t>
            </a:r>
            <a:r>
              <a:rPr lang="en-US" altLang="zh-CN" dirty="0" smtClean="0">
                <a:solidFill>
                  <a:schemeClr val="accent1"/>
                </a:solidFill>
              </a:rPr>
              <a:t>$18,000~$20,000</a:t>
            </a:r>
            <a:r>
              <a:rPr lang="zh-CN" altLang="en-US" dirty="0" smtClean="0">
                <a:latin typeface="宋体" panose="02010600030101010101" pitchFamily="2" charset="-122"/>
              </a:rPr>
              <a:t>，另外软件的安装费用为</a:t>
            </a:r>
            <a:r>
              <a:rPr lang="en-US" altLang="zh-CN" dirty="0" smtClean="0">
                <a:solidFill>
                  <a:schemeClr val="accent1"/>
                </a:solidFill>
              </a:rPr>
              <a:t>$5,000</a:t>
            </a:r>
            <a:r>
              <a:rPr lang="zh-CN" altLang="en-US" dirty="0" smtClean="0">
                <a:solidFill>
                  <a:schemeClr val="accent1"/>
                </a:solidFill>
                <a:latin typeface="宋体" panose="02010600030101010101" pitchFamily="2" charset="-122"/>
              </a:rPr>
              <a:t>。</a:t>
            </a:r>
            <a:r>
              <a:rPr lang="zh-CN" altLang="en-US" dirty="0" smtClean="0"/>
              <a:t> </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6737"/>
          <p:cNvSpPr txBox="1"/>
          <p:nvPr/>
        </p:nvSpPr>
        <p:spPr>
          <a:xfrm>
            <a:off x="2209800" y="228600"/>
            <a:ext cx="7772400" cy="5334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16738"/>
          <p:cNvSpPr txBox="1"/>
          <p:nvPr/>
        </p:nvSpPr>
        <p:spPr>
          <a:xfrm>
            <a:off x="1662545" y="914400"/>
            <a:ext cx="9334006" cy="51816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solidFill>
                  <a:srgbClr val="FF0000"/>
                </a:solidFill>
              </a:rPr>
              <a:t>P=5%</a:t>
            </a:r>
            <a:endParaRPr lang="en-US" altLang="zh-CN" dirty="0" smtClean="0">
              <a:solidFill>
                <a:srgbClr val="FF0000"/>
              </a:solidFill>
            </a:endParaRPr>
          </a:p>
          <a:p>
            <a:pPr algn="just">
              <a:buFont typeface="Arial" panose="020B0604020202020204" pitchFamily="34" charset="0"/>
              <a:buNone/>
            </a:pPr>
            <a:r>
              <a:rPr lang="en-US" altLang="zh-CN" dirty="0" smtClean="0">
                <a:solidFill>
                  <a:srgbClr val="00B050"/>
                </a:solidFill>
              </a:rPr>
              <a:t>L=$360,000</a:t>
            </a:r>
            <a:endParaRPr lang="en-US" altLang="zh-CN" dirty="0" smtClean="0">
              <a:solidFill>
                <a:srgbClr val="00B050"/>
              </a:solidFill>
            </a:endParaRPr>
          </a:p>
          <a:p>
            <a:pPr algn="just">
              <a:buFont typeface="Arial" panose="020B0604020202020204" pitchFamily="34" charset="0"/>
              <a:buNone/>
            </a:pPr>
            <a:r>
              <a:rPr lang="en-US" altLang="zh-CN" dirty="0" smtClean="0">
                <a:solidFill>
                  <a:schemeClr val="accent1"/>
                </a:solidFill>
              </a:rPr>
              <a:t>B1=$18,000~$20,000    B2=5,000</a:t>
            </a:r>
            <a:endParaRPr lang="en-US" altLang="zh-CN" dirty="0" smtClean="0">
              <a:solidFill>
                <a:schemeClr val="accent1"/>
              </a:solidFill>
            </a:endParaRPr>
          </a:p>
          <a:p>
            <a:pPr algn="just">
              <a:buFont typeface="Arial" panose="020B0604020202020204" pitchFamily="34" charset="0"/>
              <a:buNone/>
            </a:pPr>
            <a:r>
              <a:rPr lang="zh-CN" altLang="en-US" dirty="0" smtClean="0"/>
              <a:t>这样</a:t>
            </a:r>
            <a:endParaRPr lang="zh-CN" altLang="en-US" dirty="0" smtClean="0"/>
          </a:p>
          <a:p>
            <a:pPr algn="just">
              <a:buFont typeface="Arial" panose="020B0604020202020204" pitchFamily="34" charset="0"/>
              <a:buNone/>
            </a:pPr>
            <a:r>
              <a:rPr lang="en-US" altLang="zh-CN" dirty="0" smtClean="0"/>
              <a:t>P*L=$360,000*5%=$18,000</a:t>
            </a:r>
            <a:endParaRPr lang="en-US" altLang="zh-CN" dirty="0" smtClean="0"/>
          </a:p>
          <a:p>
            <a:pPr algn="just">
              <a:buFont typeface="Arial" panose="020B0604020202020204" pitchFamily="34" charset="0"/>
              <a:buNone/>
            </a:pPr>
            <a:r>
              <a:rPr lang="en-US" altLang="zh-CN" dirty="0" smtClean="0"/>
              <a:t>B=($18,000+$5,000)~($20,000+$5,000)</a:t>
            </a:r>
            <a:endParaRPr lang="en-US" altLang="zh-CN" dirty="0" smtClean="0"/>
          </a:p>
          <a:p>
            <a:pPr algn="just">
              <a:buFont typeface="Arial" panose="020B0604020202020204" pitchFamily="34" charset="0"/>
              <a:buNone/>
            </a:pPr>
            <a:r>
              <a:rPr lang="en-US" altLang="zh-CN" dirty="0" smtClean="0"/>
              <a:t>   =$23,000~$25,000	</a:t>
            </a:r>
            <a:endParaRPr lang="en-US" altLang="zh-CN" dirty="0" smtClean="0"/>
          </a:p>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因为</a:t>
            </a:r>
            <a:r>
              <a:rPr lang="en-US" altLang="zh-CN" dirty="0" smtClean="0"/>
              <a:t>B</a:t>
            </a:r>
            <a:r>
              <a:rPr lang="zh-CN" altLang="en-US" dirty="0" smtClean="0">
                <a:latin typeface="宋体" panose="02010600030101010101" pitchFamily="2" charset="-122"/>
              </a:rPr>
              <a:t>略大于</a:t>
            </a:r>
            <a:r>
              <a:rPr lang="en-US" altLang="zh-CN" dirty="0" smtClean="0"/>
              <a:t>P*L</a:t>
            </a:r>
            <a:r>
              <a:rPr lang="zh-CN" altLang="en-US" dirty="0" smtClean="0">
                <a:latin typeface="宋体" panose="02010600030101010101" pitchFamily="2" charset="-122"/>
              </a:rPr>
              <a:t>，为了减少产生风险后所带来的损失与麻烦，所以采用软件安全措施是一种值得考虑的解决方案。</a:t>
            </a:r>
            <a:r>
              <a:rPr lang="zh-CN" altLang="en-US" dirty="0" smtClean="0"/>
              <a:t> </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776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117762"/>
          <p:cNvSpPr txBox="1"/>
          <p:nvPr/>
        </p:nvSpPr>
        <p:spPr>
          <a:xfrm>
            <a:off x="1043049" y="1260827"/>
            <a:ext cx="10105902" cy="475297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buNone/>
            </a:pPr>
            <a:r>
              <a:rPr lang="en-US" altLang="zh-CN" sz="2400" dirty="0" smtClean="0">
                <a:latin typeface="宋体" panose="02010600030101010101" pitchFamily="2" charset="-122"/>
              </a:rPr>
              <a:t>     </a:t>
            </a:r>
            <a:r>
              <a:rPr lang="zh-CN" altLang="en-US" sz="2400" dirty="0" smtClean="0">
                <a:latin typeface="宋体" panose="02010600030101010101" pitchFamily="2" charset="-122"/>
              </a:rPr>
              <a:t>下面以对一个公司的计算机网络系统的风险评估过程为例，说明风险评估过程的主要方法步骤。假设这家公司在世界范围内有销售点，这些销售点通过远程网络和公司网络交换信息，包括销量、财务报表，竞争策略、价格底线以及当地购买力及销售计划和预测等内容。其中许多信息是敏感的，假设这些数据通过远程网络直接存放到公司内部的数据库中。该公司还开设一个网站，对外提供广告服务和货运信息服务，</a:t>
            </a:r>
            <a:r>
              <a:rPr lang="zh-CN" altLang="en-US" sz="2400" dirty="0" smtClean="0"/>
              <a:t> </a:t>
            </a:r>
            <a:r>
              <a:rPr lang="en-US" altLang="zh-CN" sz="2400" dirty="0">
                <a:latin typeface="宋体" panose="02010600030101010101" pitchFamily="2" charset="-122"/>
              </a:rPr>
              <a:t> </a:t>
            </a:r>
            <a:r>
              <a:rPr lang="zh-CN" altLang="en-US" sz="2400" dirty="0">
                <a:latin typeface="宋体" panose="02010600030101010101" pitchFamily="2" charset="-122"/>
              </a:rPr>
              <a:t>货运信息提供供方的货运能力和需方的货运量的需求，做广告者或货运双方与公司之间通过网上付款方式交易。公司网络有一定的防护能力，安置了防火墙。公司希望能从外部网络获取信息资源，因此公司网络与外界保持电子邮件、</a:t>
            </a:r>
            <a:r>
              <a:rPr lang="en-US" altLang="zh-CN" sz="2400" dirty="0"/>
              <a:t>WWW</a:t>
            </a:r>
            <a:r>
              <a:rPr lang="zh-CN" altLang="en-US" sz="2400" dirty="0">
                <a:latin typeface="宋体" panose="02010600030101010101" pitchFamily="2" charset="-122"/>
              </a:rPr>
              <a:t>、</a:t>
            </a:r>
            <a:r>
              <a:rPr lang="en-US" altLang="zh-CN" sz="2400" dirty="0"/>
              <a:t>FTP</a:t>
            </a:r>
            <a:r>
              <a:rPr lang="zh-CN" altLang="en-US" sz="2400" dirty="0">
                <a:latin typeface="宋体" panose="02010600030101010101" pitchFamily="2" charset="-122"/>
              </a:rPr>
              <a:t>、</a:t>
            </a:r>
            <a:r>
              <a:rPr lang="en-US" altLang="zh-CN" sz="2400" dirty="0"/>
              <a:t>TELNET</a:t>
            </a:r>
            <a:r>
              <a:rPr lang="zh-CN" altLang="en-US" sz="2400" dirty="0">
                <a:latin typeface="宋体" panose="02010600030101010101" pitchFamily="2" charset="-122"/>
              </a:rPr>
              <a:t>联系。公司很担心网络中信息的安全，希望对其网络进行风险评估。</a:t>
            </a:r>
            <a:r>
              <a:rPr lang="zh-CN" altLang="en-US" sz="2400" dirty="0"/>
              <a:t> </a:t>
            </a:r>
            <a:endParaRPr lang="zh-CN" altLang="en-US" sz="2400" dirty="0"/>
          </a:p>
        </p:txBody>
      </p:sp>
      <p:grpSp>
        <p:nvGrpSpPr>
          <p:cNvPr id="4" name="组合 3"/>
          <p:cNvGrpSpPr/>
          <p:nvPr/>
        </p:nvGrpSpPr>
        <p:grpSpPr>
          <a:xfrm>
            <a:off x="3405982" y="72781"/>
            <a:ext cx="5380036" cy="1128671"/>
            <a:chOff x="3279913" y="488294"/>
            <a:chExt cx="5380036" cy="1128671"/>
          </a:xfrm>
        </p:grpSpPr>
        <p:grpSp>
          <p:nvGrpSpPr>
            <p:cNvPr id="5" name="组合 4"/>
            <p:cNvGrpSpPr/>
            <p:nvPr/>
          </p:nvGrpSpPr>
          <p:grpSpPr>
            <a:xfrm>
              <a:off x="3279913" y="909457"/>
              <a:ext cx="5380036" cy="707508"/>
              <a:chOff x="3279913" y="909457"/>
              <a:chExt cx="5380036" cy="707508"/>
            </a:xfrm>
          </p:grpSpPr>
          <p:sp>
            <p:nvSpPr>
              <p:cNvPr id="159" name="矩形: 圆角 9"/>
              <p:cNvSpPr/>
              <p:nvPr/>
            </p:nvSpPr>
            <p:spPr>
              <a:xfrm>
                <a:off x="3279913" y="909457"/>
                <a:ext cx="5380036"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874779" cy="584775"/>
              </a:xfrm>
              <a:prstGeom prst="rect">
                <a:avLst/>
              </a:prstGeom>
              <a:noFill/>
            </p:spPr>
            <p:txBody>
              <a:bodyPr wrap="none" rtlCol="0" anchor="t">
                <a:spAutoFit/>
              </a:bodyPr>
              <a:lstStyle/>
              <a:p>
                <a:pPr fontAlgn="base"/>
                <a:r>
                  <a:rPr lang="en-US" altLang="zh-CN"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3.2.2 </a:t>
                </a:r>
                <a:r>
                  <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风险评估步骤 </a:t>
                </a:r>
                <a:endPar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980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119810"/>
          <p:cNvSpPr txBox="1"/>
          <p:nvPr/>
        </p:nvSpPr>
        <p:spPr>
          <a:xfrm>
            <a:off x="1115380" y="1509757"/>
            <a:ext cx="9915896" cy="3739138"/>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zh-CN" altLang="en-US" dirty="0" smtClean="0"/>
              <a:t>第一步的关键是要确定以下主要内容：</a:t>
            </a:r>
            <a:endParaRPr lang="zh-CN" altLang="en-US" dirty="0" smtClean="0"/>
          </a:p>
          <a:p>
            <a:pPr algn="just">
              <a:buFont typeface="Arial" panose="020B0604020202020204" pitchFamily="34" charset="0"/>
              <a:buNone/>
            </a:pPr>
            <a:r>
              <a:rPr lang="en-US" altLang="zh-CN" dirty="0" smtClean="0"/>
              <a:t>1) </a:t>
            </a:r>
            <a:r>
              <a:rPr lang="zh-CN" altLang="en-US" dirty="0" smtClean="0"/>
              <a:t>公司网络中哪些信息与设备需要受到保护，它们的敏感程度有多大？</a:t>
            </a:r>
            <a:endParaRPr lang="zh-CN" altLang="en-US" dirty="0" smtClean="0"/>
          </a:p>
          <a:p>
            <a:pPr algn="just">
              <a:buFont typeface="Arial" panose="020B0604020202020204" pitchFamily="34" charset="0"/>
              <a:buNone/>
            </a:pPr>
            <a:r>
              <a:rPr lang="en-US" altLang="zh-CN" dirty="0" smtClean="0"/>
              <a:t>2) </a:t>
            </a:r>
            <a:r>
              <a:rPr lang="zh-CN" altLang="en-US" dirty="0" smtClean="0"/>
              <a:t>这些信息需要受到哪些用户的访问和访问方式（如只读、更新、附加等）？</a:t>
            </a:r>
            <a:endParaRPr lang="zh-CN" altLang="en-US" dirty="0" smtClean="0"/>
          </a:p>
          <a:p>
            <a:pPr>
              <a:buFont typeface="Arial" panose="020B0604020202020204" pitchFamily="34" charset="0"/>
              <a:buNone/>
            </a:pPr>
            <a:r>
              <a:rPr lang="en-US" altLang="zh-CN" dirty="0" smtClean="0">
                <a:latin typeface="宋体" panose="02010600030101010101" pitchFamily="2" charset="-122"/>
              </a:rPr>
              <a:t>3) </a:t>
            </a:r>
            <a:r>
              <a:rPr lang="zh-CN" altLang="en-US" dirty="0" smtClean="0">
                <a:latin typeface="宋体" panose="02010600030101010101" pitchFamily="2" charset="-122"/>
              </a:rPr>
              <a:t>如果这些信息和资源受到破坏会造成多大的损失？</a:t>
            </a:r>
            <a:r>
              <a:rPr lang="zh-CN" altLang="en-US" dirty="0" smtClean="0"/>
              <a:t> </a:t>
            </a:r>
            <a:endParaRPr lang="zh-CN" altLang="en-US" dirty="0"/>
          </a:p>
        </p:txBody>
      </p:sp>
      <p:grpSp>
        <p:nvGrpSpPr>
          <p:cNvPr id="4" name="组合 3"/>
          <p:cNvGrpSpPr/>
          <p:nvPr/>
        </p:nvGrpSpPr>
        <p:grpSpPr>
          <a:xfrm>
            <a:off x="1163783" y="433698"/>
            <a:ext cx="4535471" cy="791052"/>
            <a:chOff x="824071" y="1564267"/>
            <a:chExt cx="4535471" cy="791052"/>
          </a:xfrm>
        </p:grpSpPr>
        <p:sp>
          <p:nvSpPr>
            <p:cNvPr id="5" name="矩形: 圆角 16"/>
            <p:cNvSpPr/>
            <p:nvPr/>
          </p:nvSpPr>
          <p:spPr>
            <a:xfrm>
              <a:off x="824071" y="1740416"/>
              <a:ext cx="453547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496470" cy="523220"/>
            </a:xfrm>
            <a:prstGeom prst="rect">
              <a:avLst/>
            </a:prstGeom>
          </p:spPr>
          <p:txBody>
            <a:bodyPr wrap="none">
              <a:spAutoFit/>
            </a:bodyPr>
            <a:lstStyle/>
            <a:p>
              <a:pPr fontAlgn="base"/>
              <a:r>
                <a:rPr lang="zh-CN" altLang="en-US" sz="2800" dirty="0">
                  <a:solidFill>
                    <a:schemeClr val="bg1"/>
                  </a:solidFill>
                  <a:latin typeface="+mj-ea"/>
                </a:rPr>
                <a:t>一、确定受保护对象</a:t>
              </a:r>
              <a:r>
                <a:rPr lang="zh-CN" altLang="en-US" sz="2800" noProof="1">
                  <a:solidFill>
                    <a:schemeClr val="bg1"/>
                  </a:solidFill>
                  <a:latin typeface="+mj-ea"/>
                </a:rPr>
                <a:t> </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0833"/>
          <p:cNvSpPr txBox="1"/>
          <p:nvPr/>
        </p:nvSpPr>
        <p:spPr>
          <a:xfrm>
            <a:off x="3894763" y="377391"/>
            <a:ext cx="5422653" cy="5334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2800" dirty="0" smtClean="0">
                <a:latin typeface="宋体" panose="02010600030101010101" pitchFamily="2" charset="-122"/>
              </a:rPr>
              <a:t>表</a:t>
            </a:r>
            <a:r>
              <a:rPr lang="en-US" altLang="zh-CN" sz="2800" dirty="0" smtClean="0"/>
              <a:t>3-2  </a:t>
            </a:r>
            <a:r>
              <a:rPr lang="zh-CN" altLang="en-US" sz="2800" dirty="0" smtClean="0">
                <a:latin typeface="宋体" panose="02010600030101010101" pitchFamily="2" charset="-122"/>
              </a:rPr>
              <a:t>受保护对象情况表</a:t>
            </a:r>
            <a:r>
              <a:rPr lang="zh-CN" altLang="en-US" sz="2800" dirty="0" smtClean="0"/>
              <a:t> </a:t>
            </a:r>
            <a:endParaRPr lang="zh-CN" altLang="en-US" sz="2800" dirty="0"/>
          </a:p>
        </p:txBody>
      </p:sp>
      <p:grpSp>
        <p:nvGrpSpPr>
          <p:cNvPr id="3" name="组合 120834"/>
          <p:cNvGrpSpPr/>
          <p:nvPr/>
        </p:nvGrpSpPr>
        <p:grpSpPr>
          <a:xfrm>
            <a:off x="2063750" y="981075"/>
            <a:ext cx="7920038" cy="5543550"/>
            <a:chOff x="-3" y="-3"/>
            <a:chExt cx="3402" cy="5478"/>
          </a:xfrm>
        </p:grpSpPr>
        <p:grpSp>
          <p:nvGrpSpPr>
            <p:cNvPr id="4" name="组合 120835"/>
            <p:cNvGrpSpPr/>
            <p:nvPr/>
          </p:nvGrpSpPr>
          <p:grpSpPr>
            <a:xfrm>
              <a:off x="0" y="0"/>
              <a:ext cx="3396" cy="5472"/>
              <a:chOff x="0" y="0"/>
              <a:chExt cx="3396" cy="5472"/>
            </a:xfrm>
          </p:grpSpPr>
          <p:grpSp>
            <p:nvGrpSpPr>
              <p:cNvPr id="6" name="组合 120836"/>
              <p:cNvGrpSpPr/>
              <p:nvPr/>
            </p:nvGrpSpPr>
            <p:grpSpPr>
              <a:xfrm>
                <a:off x="0" y="0"/>
                <a:ext cx="374" cy="672"/>
                <a:chOff x="0" y="0"/>
                <a:chExt cx="374" cy="672"/>
              </a:xfrm>
            </p:grpSpPr>
            <p:sp>
              <p:nvSpPr>
                <p:cNvPr id="202" name="矩形 120837"/>
                <p:cNvSpPr/>
                <p:nvPr/>
              </p:nvSpPr>
              <p:spPr>
                <a:xfrm>
                  <a:off x="43" y="0"/>
                  <a:ext cx="288" cy="672"/>
                </a:xfrm>
                <a:prstGeom prst="rect">
                  <a:avLst/>
                </a:prstGeom>
                <a:noFill/>
                <a:ln w="9525">
                  <a:noFill/>
                </a:ln>
              </p:spPr>
              <p:txBody>
                <a:bodyPr anchor="t"/>
                <a:lstStyle/>
                <a:p>
                  <a:pPr algn="just"/>
                  <a:r>
                    <a:rPr lang="zh-CN" altLang="en-US" sz="2000" dirty="0"/>
                    <a:t>序号</a:t>
                  </a:r>
                  <a:endParaRPr lang="zh-CN" altLang="en-US" sz="2000" dirty="0"/>
                </a:p>
                <a:p>
                  <a:pPr algn="just" eaLnBrk="0" hangingPunct="0"/>
                  <a:endParaRPr lang="zh-CN" altLang="en-US" sz="4400" dirty="0"/>
                </a:p>
              </p:txBody>
            </p:sp>
            <p:sp>
              <p:nvSpPr>
                <p:cNvPr id="203" name="矩形 120838"/>
                <p:cNvSpPr/>
                <p:nvPr/>
              </p:nvSpPr>
              <p:spPr>
                <a:xfrm>
                  <a:off x="0" y="0"/>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7" name="组合 120839"/>
              <p:cNvGrpSpPr/>
              <p:nvPr/>
            </p:nvGrpSpPr>
            <p:grpSpPr>
              <a:xfrm>
                <a:off x="374" y="0"/>
                <a:ext cx="819" cy="672"/>
                <a:chOff x="374" y="0"/>
                <a:chExt cx="819" cy="672"/>
              </a:xfrm>
            </p:grpSpPr>
            <p:sp>
              <p:nvSpPr>
                <p:cNvPr id="200" name="矩形 120840"/>
                <p:cNvSpPr/>
                <p:nvPr/>
              </p:nvSpPr>
              <p:spPr>
                <a:xfrm>
                  <a:off x="417" y="0"/>
                  <a:ext cx="733" cy="672"/>
                </a:xfrm>
                <a:prstGeom prst="rect">
                  <a:avLst/>
                </a:prstGeom>
                <a:noFill/>
                <a:ln w="9525">
                  <a:noFill/>
                </a:ln>
              </p:spPr>
              <p:txBody>
                <a:bodyPr anchor="t"/>
                <a:lstStyle/>
                <a:p>
                  <a:pPr algn="just"/>
                  <a:r>
                    <a:rPr lang="zh-CN" altLang="en-US" sz="2000" dirty="0"/>
                    <a:t>保护对象</a:t>
                  </a:r>
                  <a:endParaRPr lang="zh-CN" altLang="en-US" sz="2000" dirty="0"/>
                </a:p>
                <a:p>
                  <a:pPr algn="just" eaLnBrk="0" hangingPunct="0"/>
                  <a:endParaRPr lang="zh-CN" altLang="en-US" sz="4400" dirty="0"/>
                </a:p>
              </p:txBody>
            </p:sp>
            <p:sp>
              <p:nvSpPr>
                <p:cNvPr id="201" name="矩形 120841"/>
                <p:cNvSpPr/>
                <p:nvPr/>
              </p:nvSpPr>
              <p:spPr>
                <a:xfrm>
                  <a:off x="374" y="0"/>
                  <a:ext cx="819"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8" name="组合 120842"/>
              <p:cNvGrpSpPr/>
              <p:nvPr/>
            </p:nvGrpSpPr>
            <p:grpSpPr>
              <a:xfrm>
                <a:off x="1193" y="0"/>
                <a:ext cx="433" cy="672"/>
                <a:chOff x="1193" y="0"/>
                <a:chExt cx="433" cy="672"/>
              </a:xfrm>
            </p:grpSpPr>
            <p:sp>
              <p:nvSpPr>
                <p:cNvPr id="198" name="矩形 120843"/>
                <p:cNvSpPr/>
                <p:nvPr/>
              </p:nvSpPr>
              <p:spPr>
                <a:xfrm>
                  <a:off x="1236" y="0"/>
                  <a:ext cx="347" cy="672"/>
                </a:xfrm>
                <a:prstGeom prst="rect">
                  <a:avLst/>
                </a:prstGeom>
                <a:noFill/>
                <a:ln w="9525">
                  <a:noFill/>
                </a:ln>
              </p:spPr>
              <p:txBody>
                <a:bodyPr anchor="t"/>
                <a:lstStyle/>
                <a:p>
                  <a:pPr indent="266700"/>
                  <a:r>
                    <a:rPr lang="zh-CN" altLang="en-US" sz="1600" dirty="0" smtClean="0"/>
                    <a:t>敏感级别</a:t>
                  </a:r>
                  <a:endParaRPr lang="zh-CN" altLang="en-US" sz="1600" dirty="0"/>
                </a:p>
              </p:txBody>
            </p:sp>
            <p:sp>
              <p:nvSpPr>
                <p:cNvPr id="199" name="矩形 120844"/>
                <p:cNvSpPr/>
                <p:nvPr/>
              </p:nvSpPr>
              <p:spPr>
                <a:xfrm>
                  <a:off x="1193" y="0"/>
                  <a:ext cx="433"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9" name="组合 120845"/>
              <p:cNvGrpSpPr/>
              <p:nvPr/>
            </p:nvGrpSpPr>
            <p:grpSpPr>
              <a:xfrm>
                <a:off x="1626" y="0"/>
                <a:ext cx="806" cy="672"/>
                <a:chOff x="1626" y="0"/>
                <a:chExt cx="806" cy="672"/>
              </a:xfrm>
            </p:grpSpPr>
            <p:sp>
              <p:nvSpPr>
                <p:cNvPr id="196" name="矩形 120846"/>
                <p:cNvSpPr/>
                <p:nvPr/>
              </p:nvSpPr>
              <p:spPr>
                <a:xfrm>
                  <a:off x="1669" y="0"/>
                  <a:ext cx="720" cy="672"/>
                </a:xfrm>
                <a:prstGeom prst="rect">
                  <a:avLst/>
                </a:prstGeom>
                <a:noFill/>
                <a:ln w="9525">
                  <a:noFill/>
                </a:ln>
              </p:spPr>
              <p:txBody>
                <a:bodyPr anchor="t"/>
                <a:lstStyle/>
                <a:p>
                  <a:pPr algn="just"/>
                  <a:r>
                    <a:rPr lang="zh-CN" altLang="en-US" sz="2000" dirty="0"/>
                    <a:t>合法访问者</a:t>
                  </a:r>
                  <a:endParaRPr lang="zh-CN" altLang="en-US" sz="2000" dirty="0"/>
                </a:p>
                <a:p>
                  <a:pPr algn="just" eaLnBrk="0" hangingPunct="0"/>
                  <a:endParaRPr lang="zh-CN" altLang="en-US" sz="4400" dirty="0"/>
                </a:p>
              </p:txBody>
            </p:sp>
            <p:sp>
              <p:nvSpPr>
                <p:cNvPr id="197" name="矩形 120847"/>
                <p:cNvSpPr/>
                <p:nvPr/>
              </p:nvSpPr>
              <p:spPr>
                <a:xfrm>
                  <a:off x="1626" y="0"/>
                  <a:ext cx="806"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0" name="组合 120848"/>
              <p:cNvGrpSpPr/>
              <p:nvPr/>
            </p:nvGrpSpPr>
            <p:grpSpPr>
              <a:xfrm>
                <a:off x="2432" y="0"/>
                <a:ext cx="518" cy="672"/>
                <a:chOff x="2432" y="0"/>
                <a:chExt cx="518" cy="672"/>
              </a:xfrm>
            </p:grpSpPr>
            <p:sp>
              <p:nvSpPr>
                <p:cNvPr id="194" name="矩形 120849"/>
                <p:cNvSpPr/>
                <p:nvPr/>
              </p:nvSpPr>
              <p:spPr>
                <a:xfrm>
                  <a:off x="2475" y="0"/>
                  <a:ext cx="432" cy="672"/>
                </a:xfrm>
                <a:prstGeom prst="rect">
                  <a:avLst/>
                </a:prstGeom>
                <a:noFill/>
                <a:ln w="9525">
                  <a:noFill/>
                </a:ln>
              </p:spPr>
              <p:txBody>
                <a:bodyPr anchor="t"/>
                <a:lstStyle/>
                <a:p>
                  <a:pPr algn="just"/>
                  <a:r>
                    <a:rPr lang="zh-CN" altLang="en-US" sz="2000" dirty="0" smtClean="0"/>
                    <a:t>访问</a:t>
                  </a:r>
                  <a:endParaRPr lang="en-US" altLang="zh-CN" sz="2000" dirty="0" smtClean="0"/>
                </a:p>
                <a:p>
                  <a:pPr algn="just"/>
                  <a:r>
                    <a:rPr lang="zh-CN" altLang="en-US" sz="2000" dirty="0" smtClean="0"/>
                    <a:t>权限</a:t>
                  </a:r>
                  <a:endParaRPr lang="zh-CN" altLang="en-US" sz="2000" dirty="0"/>
                </a:p>
                <a:p>
                  <a:pPr algn="just" eaLnBrk="0" hangingPunct="0"/>
                  <a:endParaRPr lang="zh-CN" altLang="en-US" sz="4400" dirty="0"/>
                </a:p>
              </p:txBody>
            </p:sp>
            <p:sp>
              <p:nvSpPr>
                <p:cNvPr id="195" name="矩形 120850"/>
                <p:cNvSpPr/>
                <p:nvPr/>
              </p:nvSpPr>
              <p:spPr>
                <a:xfrm>
                  <a:off x="2432" y="0"/>
                  <a:ext cx="518"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1" name="组合 120851"/>
              <p:cNvGrpSpPr/>
              <p:nvPr/>
            </p:nvGrpSpPr>
            <p:grpSpPr>
              <a:xfrm>
                <a:off x="2950" y="0"/>
                <a:ext cx="446" cy="672"/>
                <a:chOff x="2950" y="0"/>
                <a:chExt cx="446" cy="672"/>
              </a:xfrm>
            </p:grpSpPr>
            <p:sp>
              <p:nvSpPr>
                <p:cNvPr id="192" name="矩形 120852"/>
                <p:cNvSpPr/>
                <p:nvPr/>
              </p:nvSpPr>
              <p:spPr>
                <a:xfrm>
                  <a:off x="2993" y="0"/>
                  <a:ext cx="360" cy="672"/>
                </a:xfrm>
                <a:prstGeom prst="rect">
                  <a:avLst/>
                </a:prstGeom>
                <a:noFill/>
                <a:ln w="9525">
                  <a:noFill/>
                </a:ln>
              </p:spPr>
              <p:txBody>
                <a:bodyPr anchor="t"/>
                <a:lstStyle/>
                <a:p>
                  <a:pPr indent="266700" algn="ctr"/>
                  <a:r>
                    <a:rPr lang="zh-CN" altLang="en-US" sz="1200" dirty="0"/>
                    <a:t>损失</a:t>
                  </a:r>
                  <a:endParaRPr lang="zh-CN" altLang="en-US" sz="1200" dirty="0"/>
                </a:p>
                <a:p>
                  <a:pPr indent="266700" algn="ctr" eaLnBrk="0" hangingPunct="0"/>
                  <a:r>
                    <a:rPr lang="en-US" altLang="zh-CN" sz="1200" dirty="0"/>
                    <a:t>(</a:t>
                  </a:r>
                  <a:r>
                    <a:rPr lang="zh-CN" altLang="en-US" sz="1200" dirty="0"/>
                    <a:t>万元</a:t>
                  </a:r>
                  <a:r>
                    <a:rPr lang="en-US" altLang="zh-CN" sz="1200" dirty="0"/>
                    <a:t>)</a:t>
                  </a:r>
                  <a:endParaRPr lang="en-US" altLang="zh-CN" sz="1200" dirty="0"/>
                </a:p>
                <a:p>
                  <a:pPr indent="266700" algn="just" eaLnBrk="0" hangingPunct="0"/>
                  <a:endParaRPr lang="en-US" altLang="zh-CN" sz="4400" dirty="0"/>
                </a:p>
              </p:txBody>
            </p:sp>
            <p:sp>
              <p:nvSpPr>
                <p:cNvPr id="193" name="矩形 120853"/>
                <p:cNvSpPr/>
                <p:nvPr/>
              </p:nvSpPr>
              <p:spPr>
                <a:xfrm>
                  <a:off x="2950" y="0"/>
                  <a:ext cx="446"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2" name="组合 120854"/>
              <p:cNvGrpSpPr/>
              <p:nvPr/>
            </p:nvGrpSpPr>
            <p:grpSpPr>
              <a:xfrm>
                <a:off x="0" y="672"/>
                <a:ext cx="374" cy="480"/>
                <a:chOff x="0" y="672"/>
                <a:chExt cx="374" cy="480"/>
              </a:xfrm>
            </p:grpSpPr>
            <p:sp>
              <p:nvSpPr>
                <p:cNvPr id="190" name="矩形 120855"/>
                <p:cNvSpPr/>
                <p:nvPr/>
              </p:nvSpPr>
              <p:spPr>
                <a:xfrm>
                  <a:off x="43" y="672"/>
                  <a:ext cx="288"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91" name="矩形 120856"/>
                <p:cNvSpPr/>
                <p:nvPr/>
              </p:nvSpPr>
              <p:spPr>
                <a:xfrm>
                  <a:off x="0" y="67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3" name="组合 120857"/>
              <p:cNvGrpSpPr/>
              <p:nvPr/>
            </p:nvGrpSpPr>
            <p:grpSpPr>
              <a:xfrm>
                <a:off x="374" y="672"/>
                <a:ext cx="819" cy="480"/>
                <a:chOff x="374" y="672"/>
                <a:chExt cx="819" cy="480"/>
              </a:xfrm>
            </p:grpSpPr>
            <p:sp>
              <p:nvSpPr>
                <p:cNvPr id="188" name="矩形 120858"/>
                <p:cNvSpPr/>
                <p:nvPr/>
              </p:nvSpPr>
              <p:spPr>
                <a:xfrm>
                  <a:off x="417" y="672"/>
                  <a:ext cx="733" cy="480"/>
                </a:xfrm>
                <a:prstGeom prst="rect">
                  <a:avLst/>
                </a:prstGeom>
                <a:noFill/>
                <a:ln w="9525">
                  <a:noFill/>
                </a:ln>
              </p:spPr>
              <p:txBody>
                <a:bodyPr anchor="t"/>
                <a:lstStyle/>
                <a:p>
                  <a:pPr algn="just"/>
                  <a:r>
                    <a:rPr lang="zh-CN" altLang="en-US" dirty="0"/>
                    <a:t>数据库服务器</a:t>
                  </a:r>
                  <a:endParaRPr lang="zh-CN" altLang="en-US" dirty="0"/>
                </a:p>
                <a:p>
                  <a:pPr algn="just" eaLnBrk="0" hangingPunct="0"/>
                  <a:endParaRPr lang="zh-CN" altLang="en-US" sz="4400" dirty="0"/>
                </a:p>
              </p:txBody>
            </p:sp>
            <p:sp>
              <p:nvSpPr>
                <p:cNvPr id="189" name="矩形 120859"/>
                <p:cNvSpPr/>
                <p:nvPr/>
              </p:nvSpPr>
              <p:spPr>
                <a:xfrm>
                  <a:off x="374" y="67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4" name="组合 120860"/>
              <p:cNvGrpSpPr/>
              <p:nvPr/>
            </p:nvGrpSpPr>
            <p:grpSpPr>
              <a:xfrm>
                <a:off x="1193" y="672"/>
                <a:ext cx="433" cy="480"/>
                <a:chOff x="1193" y="672"/>
                <a:chExt cx="433" cy="480"/>
              </a:xfrm>
            </p:grpSpPr>
            <p:sp>
              <p:nvSpPr>
                <p:cNvPr id="186" name="矩形 120861"/>
                <p:cNvSpPr/>
                <p:nvPr/>
              </p:nvSpPr>
              <p:spPr>
                <a:xfrm>
                  <a:off x="1236" y="672"/>
                  <a:ext cx="347"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87" name="矩形 120862"/>
                <p:cNvSpPr/>
                <p:nvPr/>
              </p:nvSpPr>
              <p:spPr>
                <a:xfrm>
                  <a:off x="1193" y="67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5" name="组合 120863"/>
              <p:cNvGrpSpPr/>
              <p:nvPr/>
            </p:nvGrpSpPr>
            <p:grpSpPr>
              <a:xfrm>
                <a:off x="1626" y="672"/>
                <a:ext cx="806" cy="480"/>
                <a:chOff x="1626" y="672"/>
                <a:chExt cx="806" cy="480"/>
              </a:xfrm>
            </p:grpSpPr>
            <p:sp>
              <p:nvSpPr>
                <p:cNvPr id="184" name="矩形 120864"/>
                <p:cNvSpPr/>
                <p:nvPr/>
              </p:nvSpPr>
              <p:spPr>
                <a:xfrm>
                  <a:off x="1669" y="672"/>
                  <a:ext cx="720" cy="480"/>
                </a:xfrm>
                <a:prstGeom prst="rect">
                  <a:avLst/>
                </a:prstGeom>
                <a:noFill/>
                <a:ln w="9525">
                  <a:noFill/>
                </a:ln>
              </p:spPr>
              <p:txBody>
                <a:bodyPr anchor="t"/>
                <a:lstStyle/>
                <a:p>
                  <a:pPr algn="just"/>
                  <a:r>
                    <a:rPr lang="zh-CN" altLang="en-US" sz="2000" dirty="0"/>
                    <a:t>远程，内部</a:t>
                  </a:r>
                  <a:endParaRPr lang="zh-CN" altLang="en-US" sz="2000" dirty="0"/>
                </a:p>
                <a:p>
                  <a:pPr algn="just" eaLnBrk="0" hangingPunct="0"/>
                  <a:endParaRPr lang="zh-CN" altLang="en-US" sz="4400" dirty="0"/>
                </a:p>
              </p:txBody>
            </p:sp>
            <p:sp>
              <p:nvSpPr>
                <p:cNvPr id="185" name="矩形 120865"/>
                <p:cNvSpPr/>
                <p:nvPr/>
              </p:nvSpPr>
              <p:spPr>
                <a:xfrm>
                  <a:off x="1626" y="67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6" name="组合 120866"/>
              <p:cNvGrpSpPr/>
              <p:nvPr/>
            </p:nvGrpSpPr>
            <p:grpSpPr>
              <a:xfrm>
                <a:off x="2432" y="672"/>
                <a:ext cx="518" cy="480"/>
                <a:chOff x="2432" y="672"/>
                <a:chExt cx="518" cy="480"/>
              </a:xfrm>
            </p:grpSpPr>
            <p:sp>
              <p:nvSpPr>
                <p:cNvPr id="182" name="矩形 120867"/>
                <p:cNvSpPr/>
                <p:nvPr/>
              </p:nvSpPr>
              <p:spPr>
                <a:xfrm>
                  <a:off x="2475" y="672"/>
                  <a:ext cx="432" cy="480"/>
                </a:xfrm>
                <a:prstGeom prst="rect">
                  <a:avLst/>
                </a:prstGeom>
                <a:noFill/>
                <a:ln w="9525">
                  <a:noFill/>
                </a:ln>
              </p:spPr>
              <p:txBody>
                <a:bodyPr anchor="t"/>
                <a:lstStyle/>
                <a:p>
                  <a:pPr algn="just"/>
                  <a:r>
                    <a:rPr lang="zh-CN" altLang="en-US" sz="2000" dirty="0"/>
                    <a:t>读，写</a:t>
                  </a:r>
                  <a:endParaRPr lang="zh-CN" altLang="en-US" sz="2000" dirty="0"/>
                </a:p>
                <a:p>
                  <a:pPr algn="just" eaLnBrk="0" hangingPunct="0"/>
                  <a:endParaRPr lang="zh-CN" altLang="en-US" sz="4400" dirty="0"/>
                </a:p>
              </p:txBody>
            </p:sp>
            <p:sp>
              <p:nvSpPr>
                <p:cNvPr id="183" name="矩形 120868"/>
                <p:cNvSpPr/>
                <p:nvPr/>
              </p:nvSpPr>
              <p:spPr>
                <a:xfrm>
                  <a:off x="2432" y="67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7" name="组合 120869"/>
              <p:cNvGrpSpPr/>
              <p:nvPr/>
            </p:nvGrpSpPr>
            <p:grpSpPr>
              <a:xfrm>
                <a:off x="2950" y="672"/>
                <a:ext cx="446" cy="480"/>
                <a:chOff x="2950" y="672"/>
                <a:chExt cx="446" cy="480"/>
              </a:xfrm>
            </p:grpSpPr>
            <p:sp>
              <p:nvSpPr>
                <p:cNvPr id="180" name="矩形 120870"/>
                <p:cNvSpPr/>
                <p:nvPr/>
              </p:nvSpPr>
              <p:spPr>
                <a:xfrm>
                  <a:off x="2993" y="672"/>
                  <a:ext cx="360" cy="480"/>
                </a:xfrm>
                <a:prstGeom prst="rect">
                  <a:avLst/>
                </a:prstGeom>
                <a:noFill/>
                <a:ln w="9525">
                  <a:noFill/>
                </a:ln>
              </p:spPr>
              <p:txBody>
                <a:bodyPr anchor="t"/>
                <a:lstStyle/>
                <a:p>
                  <a:pPr algn="just"/>
                  <a:r>
                    <a:rPr lang="en-US" altLang="zh-CN" sz="2000"/>
                    <a:t>12</a:t>
                  </a:r>
                  <a:endParaRPr lang="en-US" altLang="zh-CN" sz="2000"/>
                </a:p>
                <a:p>
                  <a:pPr algn="just" eaLnBrk="0" hangingPunct="0"/>
                  <a:endParaRPr lang="en-US" altLang="zh-CN" sz="4400" dirty="0"/>
                </a:p>
              </p:txBody>
            </p:sp>
            <p:sp>
              <p:nvSpPr>
                <p:cNvPr id="181" name="矩形 120871"/>
                <p:cNvSpPr/>
                <p:nvPr/>
              </p:nvSpPr>
              <p:spPr>
                <a:xfrm>
                  <a:off x="2950" y="67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8" name="组合 120872"/>
              <p:cNvGrpSpPr/>
              <p:nvPr/>
            </p:nvGrpSpPr>
            <p:grpSpPr>
              <a:xfrm>
                <a:off x="0" y="1152"/>
                <a:ext cx="374" cy="480"/>
                <a:chOff x="0" y="1152"/>
                <a:chExt cx="374" cy="480"/>
              </a:xfrm>
            </p:grpSpPr>
            <p:sp>
              <p:nvSpPr>
                <p:cNvPr id="178" name="矩形 120873"/>
                <p:cNvSpPr/>
                <p:nvPr/>
              </p:nvSpPr>
              <p:spPr>
                <a:xfrm>
                  <a:off x="43" y="1152"/>
                  <a:ext cx="288" cy="480"/>
                </a:xfrm>
                <a:prstGeom prst="rect">
                  <a:avLst/>
                </a:prstGeom>
                <a:noFill/>
                <a:ln w="9525">
                  <a:noFill/>
                </a:ln>
              </p:spPr>
              <p:txBody>
                <a:bodyPr anchor="t"/>
                <a:lstStyle/>
                <a:p>
                  <a:pPr algn="just"/>
                  <a:r>
                    <a:rPr lang="en-US" altLang="zh-CN" sz="2000"/>
                    <a:t>2</a:t>
                  </a:r>
                  <a:endParaRPr lang="en-US" altLang="zh-CN" sz="2000"/>
                </a:p>
                <a:p>
                  <a:pPr algn="just" eaLnBrk="0" hangingPunct="0"/>
                  <a:endParaRPr lang="en-US" altLang="zh-CN" sz="4400" dirty="0"/>
                </a:p>
              </p:txBody>
            </p:sp>
            <p:sp>
              <p:nvSpPr>
                <p:cNvPr id="179" name="矩形 120874"/>
                <p:cNvSpPr/>
                <p:nvPr/>
              </p:nvSpPr>
              <p:spPr>
                <a:xfrm>
                  <a:off x="0" y="115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19" name="组合 120875"/>
              <p:cNvGrpSpPr/>
              <p:nvPr/>
            </p:nvGrpSpPr>
            <p:grpSpPr>
              <a:xfrm>
                <a:off x="374" y="1152"/>
                <a:ext cx="819" cy="480"/>
                <a:chOff x="374" y="1152"/>
                <a:chExt cx="819" cy="480"/>
              </a:xfrm>
            </p:grpSpPr>
            <p:sp>
              <p:nvSpPr>
                <p:cNvPr id="176" name="矩形 120876"/>
                <p:cNvSpPr/>
                <p:nvPr/>
              </p:nvSpPr>
              <p:spPr>
                <a:xfrm>
                  <a:off x="417" y="1152"/>
                  <a:ext cx="733" cy="480"/>
                </a:xfrm>
                <a:prstGeom prst="rect">
                  <a:avLst/>
                </a:prstGeom>
                <a:noFill/>
                <a:ln w="9525">
                  <a:noFill/>
                </a:ln>
              </p:spPr>
              <p:txBody>
                <a:bodyPr anchor="t"/>
                <a:lstStyle/>
                <a:p>
                  <a:pPr algn="just"/>
                  <a:r>
                    <a:rPr lang="zh-CN" altLang="en-US" sz="2000" dirty="0"/>
                    <a:t>服务网站</a:t>
                  </a:r>
                  <a:endParaRPr lang="zh-CN" altLang="en-US" sz="2000" dirty="0"/>
                </a:p>
                <a:p>
                  <a:pPr algn="just" eaLnBrk="0" hangingPunct="0"/>
                  <a:endParaRPr lang="zh-CN" altLang="en-US" sz="4400" dirty="0"/>
                </a:p>
              </p:txBody>
            </p:sp>
            <p:sp>
              <p:nvSpPr>
                <p:cNvPr id="177" name="矩形 120877"/>
                <p:cNvSpPr/>
                <p:nvPr/>
              </p:nvSpPr>
              <p:spPr>
                <a:xfrm>
                  <a:off x="374" y="115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0" name="组合 120878"/>
              <p:cNvGrpSpPr/>
              <p:nvPr/>
            </p:nvGrpSpPr>
            <p:grpSpPr>
              <a:xfrm>
                <a:off x="1193" y="1152"/>
                <a:ext cx="433" cy="480"/>
                <a:chOff x="1193" y="1152"/>
                <a:chExt cx="433" cy="480"/>
              </a:xfrm>
            </p:grpSpPr>
            <p:sp>
              <p:nvSpPr>
                <p:cNvPr id="174" name="矩形 120879"/>
                <p:cNvSpPr/>
                <p:nvPr/>
              </p:nvSpPr>
              <p:spPr>
                <a:xfrm>
                  <a:off x="1236" y="1152"/>
                  <a:ext cx="347" cy="480"/>
                </a:xfrm>
                <a:prstGeom prst="rect">
                  <a:avLst/>
                </a:prstGeom>
                <a:noFill/>
                <a:ln w="9525">
                  <a:noFill/>
                </a:ln>
              </p:spPr>
              <p:txBody>
                <a:bodyPr anchor="t"/>
                <a:lstStyle/>
                <a:p>
                  <a:pPr algn="just"/>
                  <a:r>
                    <a:rPr lang="en-US" altLang="zh-CN" sz="2000"/>
                    <a:t>2</a:t>
                  </a:r>
                  <a:endParaRPr lang="en-US" altLang="zh-CN" sz="2000"/>
                </a:p>
                <a:p>
                  <a:pPr algn="just" eaLnBrk="0" hangingPunct="0"/>
                  <a:endParaRPr lang="en-US" altLang="zh-CN" sz="4400" dirty="0"/>
                </a:p>
              </p:txBody>
            </p:sp>
            <p:sp>
              <p:nvSpPr>
                <p:cNvPr id="175" name="矩形 120880"/>
                <p:cNvSpPr/>
                <p:nvPr/>
              </p:nvSpPr>
              <p:spPr>
                <a:xfrm>
                  <a:off x="1193" y="115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1" name="组合 120881"/>
              <p:cNvGrpSpPr/>
              <p:nvPr/>
            </p:nvGrpSpPr>
            <p:grpSpPr>
              <a:xfrm>
                <a:off x="1626" y="1152"/>
                <a:ext cx="806" cy="480"/>
                <a:chOff x="1626" y="1152"/>
                <a:chExt cx="806" cy="480"/>
              </a:xfrm>
            </p:grpSpPr>
            <p:sp>
              <p:nvSpPr>
                <p:cNvPr id="172" name="矩形 120882"/>
                <p:cNvSpPr/>
                <p:nvPr/>
              </p:nvSpPr>
              <p:spPr>
                <a:xfrm>
                  <a:off x="1669" y="1152"/>
                  <a:ext cx="720" cy="480"/>
                </a:xfrm>
                <a:prstGeom prst="rect">
                  <a:avLst/>
                </a:prstGeom>
                <a:noFill/>
                <a:ln w="9525">
                  <a:noFill/>
                </a:ln>
              </p:spPr>
              <p:txBody>
                <a:bodyPr anchor="t"/>
                <a:lstStyle/>
                <a:p>
                  <a:pPr algn="just"/>
                  <a:r>
                    <a:rPr lang="zh-CN" altLang="en-US" sz="2000" dirty="0"/>
                    <a:t>因特网用户</a:t>
                  </a:r>
                  <a:endParaRPr lang="zh-CN" altLang="en-US" sz="2000" dirty="0"/>
                </a:p>
                <a:p>
                  <a:pPr algn="just" eaLnBrk="0" hangingPunct="0"/>
                  <a:endParaRPr lang="zh-CN" altLang="en-US" sz="4400" dirty="0"/>
                </a:p>
              </p:txBody>
            </p:sp>
            <p:sp>
              <p:nvSpPr>
                <p:cNvPr id="173" name="矩形 120883"/>
                <p:cNvSpPr/>
                <p:nvPr/>
              </p:nvSpPr>
              <p:spPr>
                <a:xfrm>
                  <a:off x="1626" y="115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2" name="组合 120884"/>
              <p:cNvGrpSpPr/>
              <p:nvPr/>
            </p:nvGrpSpPr>
            <p:grpSpPr>
              <a:xfrm>
                <a:off x="2432" y="1152"/>
                <a:ext cx="518" cy="480"/>
                <a:chOff x="2432" y="1152"/>
                <a:chExt cx="518" cy="480"/>
              </a:xfrm>
            </p:grpSpPr>
            <p:sp>
              <p:nvSpPr>
                <p:cNvPr id="170" name="矩形 120885"/>
                <p:cNvSpPr/>
                <p:nvPr/>
              </p:nvSpPr>
              <p:spPr>
                <a:xfrm>
                  <a:off x="2475" y="1152"/>
                  <a:ext cx="432" cy="480"/>
                </a:xfrm>
                <a:prstGeom prst="rect">
                  <a:avLst/>
                </a:prstGeom>
                <a:noFill/>
                <a:ln w="9525">
                  <a:noFill/>
                </a:ln>
              </p:spPr>
              <p:txBody>
                <a:bodyPr anchor="t"/>
                <a:lstStyle/>
                <a:p>
                  <a:pPr algn="just"/>
                  <a:r>
                    <a:rPr lang="zh-CN" altLang="en-US" sz="2000" dirty="0"/>
                    <a:t>只读</a:t>
                  </a:r>
                  <a:endParaRPr lang="zh-CN" altLang="en-US" sz="2000" dirty="0"/>
                </a:p>
                <a:p>
                  <a:pPr algn="just" eaLnBrk="0" hangingPunct="0"/>
                  <a:endParaRPr lang="zh-CN" altLang="en-US" sz="4400" dirty="0"/>
                </a:p>
              </p:txBody>
            </p:sp>
            <p:sp>
              <p:nvSpPr>
                <p:cNvPr id="171" name="矩形 120886"/>
                <p:cNvSpPr/>
                <p:nvPr/>
              </p:nvSpPr>
              <p:spPr>
                <a:xfrm>
                  <a:off x="2432" y="115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3" name="组合 120887"/>
              <p:cNvGrpSpPr/>
              <p:nvPr/>
            </p:nvGrpSpPr>
            <p:grpSpPr>
              <a:xfrm>
                <a:off x="2950" y="1152"/>
                <a:ext cx="446" cy="480"/>
                <a:chOff x="2950" y="1152"/>
                <a:chExt cx="446" cy="480"/>
              </a:xfrm>
            </p:grpSpPr>
            <p:sp>
              <p:nvSpPr>
                <p:cNvPr id="168" name="矩形 120888"/>
                <p:cNvSpPr/>
                <p:nvPr/>
              </p:nvSpPr>
              <p:spPr>
                <a:xfrm>
                  <a:off x="2993" y="1152"/>
                  <a:ext cx="360" cy="480"/>
                </a:xfrm>
                <a:prstGeom prst="rect">
                  <a:avLst/>
                </a:prstGeom>
                <a:noFill/>
                <a:ln w="9525">
                  <a:noFill/>
                </a:ln>
              </p:spPr>
              <p:txBody>
                <a:bodyPr anchor="t"/>
                <a:lstStyle/>
                <a:p>
                  <a:pPr algn="just"/>
                  <a:r>
                    <a:rPr lang="en-US" altLang="zh-CN" sz="2000"/>
                    <a:t>15 </a:t>
                  </a:r>
                  <a:endParaRPr lang="en-US" altLang="zh-CN" sz="2000"/>
                </a:p>
                <a:p>
                  <a:pPr algn="just" eaLnBrk="0" hangingPunct="0"/>
                  <a:endParaRPr lang="en-US" altLang="zh-CN" sz="4400" dirty="0"/>
                </a:p>
              </p:txBody>
            </p:sp>
            <p:sp>
              <p:nvSpPr>
                <p:cNvPr id="169" name="矩形 120889"/>
                <p:cNvSpPr/>
                <p:nvPr/>
              </p:nvSpPr>
              <p:spPr>
                <a:xfrm>
                  <a:off x="2950" y="115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4" name="组合 120890"/>
              <p:cNvGrpSpPr/>
              <p:nvPr/>
            </p:nvGrpSpPr>
            <p:grpSpPr>
              <a:xfrm>
                <a:off x="0" y="1632"/>
                <a:ext cx="374" cy="480"/>
                <a:chOff x="0" y="1632"/>
                <a:chExt cx="374" cy="480"/>
              </a:xfrm>
            </p:grpSpPr>
            <p:sp>
              <p:nvSpPr>
                <p:cNvPr id="166" name="矩形 120891"/>
                <p:cNvSpPr/>
                <p:nvPr/>
              </p:nvSpPr>
              <p:spPr>
                <a:xfrm>
                  <a:off x="43" y="1632"/>
                  <a:ext cx="288" cy="480"/>
                </a:xfrm>
                <a:prstGeom prst="rect">
                  <a:avLst/>
                </a:prstGeom>
                <a:noFill/>
                <a:ln w="9525">
                  <a:noFill/>
                </a:ln>
              </p:spPr>
              <p:txBody>
                <a:bodyPr anchor="t"/>
                <a:lstStyle/>
                <a:p>
                  <a:pPr algn="just"/>
                  <a:r>
                    <a:rPr lang="en-US" altLang="zh-CN" sz="2000"/>
                    <a:t>3</a:t>
                  </a:r>
                  <a:endParaRPr lang="en-US" altLang="zh-CN" sz="2000"/>
                </a:p>
                <a:p>
                  <a:pPr algn="just" eaLnBrk="0" hangingPunct="0"/>
                  <a:endParaRPr lang="en-US" altLang="zh-CN" sz="4400" dirty="0"/>
                </a:p>
              </p:txBody>
            </p:sp>
            <p:sp>
              <p:nvSpPr>
                <p:cNvPr id="167" name="矩形 120892"/>
                <p:cNvSpPr/>
                <p:nvPr/>
              </p:nvSpPr>
              <p:spPr>
                <a:xfrm>
                  <a:off x="0" y="163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5" name="组合 120893"/>
              <p:cNvGrpSpPr/>
              <p:nvPr/>
            </p:nvGrpSpPr>
            <p:grpSpPr>
              <a:xfrm>
                <a:off x="374" y="1632"/>
                <a:ext cx="819" cy="480"/>
                <a:chOff x="374" y="1632"/>
                <a:chExt cx="819" cy="480"/>
              </a:xfrm>
            </p:grpSpPr>
            <p:sp>
              <p:nvSpPr>
                <p:cNvPr id="164" name="矩形 120894"/>
                <p:cNvSpPr/>
                <p:nvPr/>
              </p:nvSpPr>
              <p:spPr>
                <a:xfrm>
                  <a:off x="417" y="1632"/>
                  <a:ext cx="733" cy="480"/>
                </a:xfrm>
                <a:prstGeom prst="rect">
                  <a:avLst/>
                </a:prstGeom>
                <a:noFill/>
                <a:ln w="9525">
                  <a:noFill/>
                </a:ln>
              </p:spPr>
              <p:txBody>
                <a:bodyPr anchor="t"/>
                <a:lstStyle/>
                <a:p>
                  <a:pPr algn="just"/>
                  <a:r>
                    <a:rPr lang="zh-CN" altLang="en-US" sz="2000" dirty="0"/>
                    <a:t>防火墙</a:t>
                  </a:r>
                  <a:endParaRPr lang="zh-CN" altLang="en-US" sz="2000" dirty="0"/>
                </a:p>
                <a:p>
                  <a:pPr algn="just" eaLnBrk="0" hangingPunct="0"/>
                  <a:endParaRPr lang="zh-CN" altLang="en-US" sz="4400" dirty="0"/>
                </a:p>
              </p:txBody>
            </p:sp>
            <p:sp>
              <p:nvSpPr>
                <p:cNvPr id="165" name="矩形 120895"/>
                <p:cNvSpPr/>
                <p:nvPr/>
              </p:nvSpPr>
              <p:spPr>
                <a:xfrm>
                  <a:off x="374" y="163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6" name="组合 120896"/>
              <p:cNvGrpSpPr/>
              <p:nvPr/>
            </p:nvGrpSpPr>
            <p:grpSpPr>
              <a:xfrm>
                <a:off x="1193" y="1632"/>
                <a:ext cx="433" cy="480"/>
                <a:chOff x="1193" y="1632"/>
                <a:chExt cx="433" cy="480"/>
              </a:xfrm>
            </p:grpSpPr>
            <p:sp>
              <p:nvSpPr>
                <p:cNvPr id="162" name="矩形 120897"/>
                <p:cNvSpPr/>
                <p:nvPr/>
              </p:nvSpPr>
              <p:spPr>
                <a:xfrm>
                  <a:off x="1236" y="1632"/>
                  <a:ext cx="347"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63" name="矩形 120898"/>
                <p:cNvSpPr/>
                <p:nvPr/>
              </p:nvSpPr>
              <p:spPr>
                <a:xfrm>
                  <a:off x="1193" y="163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7" name="组合 120899"/>
              <p:cNvGrpSpPr/>
              <p:nvPr/>
            </p:nvGrpSpPr>
            <p:grpSpPr>
              <a:xfrm>
                <a:off x="1626" y="1632"/>
                <a:ext cx="806" cy="480"/>
                <a:chOff x="1626" y="1632"/>
                <a:chExt cx="806" cy="480"/>
              </a:xfrm>
            </p:grpSpPr>
            <p:sp>
              <p:nvSpPr>
                <p:cNvPr id="160" name="矩形 120900"/>
                <p:cNvSpPr/>
                <p:nvPr/>
              </p:nvSpPr>
              <p:spPr>
                <a:xfrm>
                  <a:off x="1669" y="1632"/>
                  <a:ext cx="720" cy="480"/>
                </a:xfrm>
                <a:prstGeom prst="rect">
                  <a:avLst/>
                </a:prstGeom>
                <a:noFill/>
                <a:ln w="9525">
                  <a:noFill/>
                </a:ln>
              </p:spPr>
              <p:txBody>
                <a:bodyPr anchor="t"/>
                <a:lstStyle/>
                <a:p>
                  <a:pPr algn="just"/>
                  <a:r>
                    <a:rPr lang="zh-CN" altLang="en-US" sz="2000" dirty="0"/>
                    <a:t>管理员</a:t>
                  </a:r>
                  <a:endParaRPr lang="zh-CN" altLang="en-US" sz="2000" dirty="0"/>
                </a:p>
                <a:p>
                  <a:pPr algn="just" eaLnBrk="0" hangingPunct="0"/>
                  <a:endParaRPr lang="zh-CN" altLang="en-US" sz="4400" dirty="0"/>
                </a:p>
              </p:txBody>
            </p:sp>
            <p:sp>
              <p:nvSpPr>
                <p:cNvPr id="161" name="矩形 120901"/>
                <p:cNvSpPr/>
                <p:nvPr/>
              </p:nvSpPr>
              <p:spPr>
                <a:xfrm>
                  <a:off x="1626" y="163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8" name="组合 120902"/>
              <p:cNvGrpSpPr/>
              <p:nvPr/>
            </p:nvGrpSpPr>
            <p:grpSpPr>
              <a:xfrm>
                <a:off x="2432" y="1632"/>
                <a:ext cx="518" cy="480"/>
                <a:chOff x="2432" y="1632"/>
                <a:chExt cx="518" cy="480"/>
              </a:xfrm>
            </p:grpSpPr>
            <p:sp>
              <p:nvSpPr>
                <p:cNvPr id="158" name="矩形 120903"/>
                <p:cNvSpPr/>
                <p:nvPr/>
              </p:nvSpPr>
              <p:spPr>
                <a:xfrm>
                  <a:off x="2475" y="1632"/>
                  <a:ext cx="432" cy="480"/>
                </a:xfrm>
                <a:prstGeom prst="rect">
                  <a:avLst/>
                </a:prstGeom>
                <a:noFill/>
                <a:ln w="9525">
                  <a:noFill/>
                </a:ln>
              </p:spPr>
              <p:txBody>
                <a:bodyPr anchor="t"/>
                <a:lstStyle/>
                <a:p>
                  <a:pPr algn="just"/>
                  <a:r>
                    <a:rPr lang="en-US" altLang="zh-CN" sz="2000"/>
                    <a:t>ROOT</a:t>
                  </a:r>
                  <a:endParaRPr lang="en-US" altLang="zh-CN" sz="2000"/>
                </a:p>
                <a:p>
                  <a:pPr algn="just" eaLnBrk="0" hangingPunct="0"/>
                  <a:endParaRPr lang="en-US" altLang="zh-CN" sz="4400"/>
                </a:p>
              </p:txBody>
            </p:sp>
            <p:sp>
              <p:nvSpPr>
                <p:cNvPr id="159" name="矩形 120904"/>
                <p:cNvSpPr/>
                <p:nvPr/>
              </p:nvSpPr>
              <p:spPr>
                <a:xfrm>
                  <a:off x="2432" y="163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29" name="组合 120905"/>
              <p:cNvGrpSpPr/>
              <p:nvPr/>
            </p:nvGrpSpPr>
            <p:grpSpPr>
              <a:xfrm>
                <a:off x="2950" y="1632"/>
                <a:ext cx="446" cy="480"/>
                <a:chOff x="2950" y="1632"/>
                <a:chExt cx="446" cy="480"/>
              </a:xfrm>
            </p:grpSpPr>
            <p:sp>
              <p:nvSpPr>
                <p:cNvPr id="156" name="矩形 120906"/>
                <p:cNvSpPr/>
                <p:nvPr/>
              </p:nvSpPr>
              <p:spPr>
                <a:xfrm>
                  <a:off x="2993" y="1632"/>
                  <a:ext cx="360" cy="480"/>
                </a:xfrm>
                <a:prstGeom prst="rect">
                  <a:avLst/>
                </a:prstGeom>
                <a:noFill/>
                <a:ln w="9525">
                  <a:noFill/>
                </a:ln>
              </p:spPr>
              <p:txBody>
                <a:bodyPr anchor="t"/>
                <a:lstStyle/>
                <a:p>
                  <a:pPr algn="just"/>
                  <a:r>
                    <a:rPr lang="en-US" altLang="zh-CN" sz="2000"/>
                    <a:t>8</a:t>
                  </a:r>
                  <a:endParaRPr lang="en-US" altLang="zh-CN" sz="2000"/>
                </a:p>
                <a:p>
                  <a:pPr algn="just" eaLnBrk="0" hangingPunct="0"/>
                  <a:endParaRPr lang="en-US" altLang="zh-CN" sz="4400" dirty="0"/>
                </a:p>
              </p:txBody>
            </p:sp>
            <p:sp>
              <p:nvSpPr>
                <p:cNvPr id="157" name="矩形 120907"/>
                <p:cNvSpPr/>
                <p:nvPr/>
              </p:nvSpPr>
              <p:spPr>
                <a:xfrm>
                  <a:off x="2950" y="163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0" name="组合 120908"/>
              <p:cNvGrpSpPr/>
              <p:nvPr/>
            </p:nvGrpSpPr>
            <p:grpSpPr>
              <a:xfrm>
                <a:off x="0" y="2112"/>
                <a:ext cx="374" cy="480"/>
                <a:chOff x="0" y="2112"/>
                <a:chExt cx="374" cy="480"/>
              </a:xfrm>
            </p:grpSpPr>
            <p:sp>
              <p:nvSpPr>
                <p:cNvPr id="154" name="矩形 120909"/>
                <p:cNvSpPr/>
                <p:nvPr/>
              </p:nvSpPr>
              <p:spPr>
                <a:xfrm>
                  <a:off x="43" y="2112"/>
                  <a:ext cx="288" cy="480"/>
                </a:xfrm>
                <a:prstGeom prst="rect">
                  <a:avLst/>
                </a:prstGeom>
                <a:noFill/>
                <a:ln w="9525">
                  <a:noFill/>
                </a:ln>
              </p:spPr>
              <p:txBody>
                <a:bodyPr anchor="t"/>
                <a:lstStyle/>
                <a:p>
                  <a:pPr algn="just"/>
                  <a:r>
                    <a:rPr lang="en-US" altLang="zh-CN" sz="2000"/>
                    <a:t>4</a:t>
                  </a:r>
                  <a:endParaRPr lang="en-US" altLang="zh-CN" sz="2000"/>
                </a:p>
                <a:p>
                  <a:pPr algn="just" eaLnBrk="0" hangingPunct="0"/>
                  <a:endParaRPr lang="en-US" altLang="zh-CN" sz="4400" dirty="0"/>
                </a:p>
              </p:txBody>
            </p:sp>
            <p:sp>
              <p:nvSpPr>
                <p:cNvPr id="155" name="矩形 120910"/>
                <p:cNvSpPr/>
                <p:nvPr/>
              </p:nvSpPr>
              <p:spPr>
                <a:xfrm>
                  <a:off x="0" y="211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1" name="组合 120911"/>
              <p:cNvGrpSpPr/>
              <p:nvPr/>
            </p:nvGrpSpPr>
            <p:grpSpPr>
              <a:xfrm>
                <a:off x="374" y="2112"/>
                <a:ext cx="819" cy="480"/>
                <a:chOff x="374" y="2112"/>
                <a:chExt cx="819" cy="480"/>
              </a:xfrm>
            </p:grpSpPr>
            <p:sp>
              <p:nvSpPr>
                <p:cNvPr id="152" name="矩形 120912"/>
                <p:cNvSpPr/>
                <p:nvPr/>
              </p:nvSpPr>
              <p:spPr>
                <a:xfrm>
                  <a:off x="417" y="2112"/>
                  <a:ext cx="733" cy="480"/>
                </a:xfrm>
                <a:prstGeom prst="rect">
                  <a:avLst/>
                </a:prstGeom>
                <a:noFill/>
                <a:ln w="9525">
                  <a:noFill/>
                </a:ln>
              </p:spPr>
              <p:txBody>
                <a:bodyPr anchor="t"/>
                <a:lstStyle/>
                <a:p>
                  <a:pPr algn="just"/>
                  <a:r>
                    <a:rPr lang="zh-CN" altLang="en-US" sz="2000" dirty="0"/>
                    <a:t>路由器</a:t>
                  </a:r>
                  <a:endParaRPr lang="zh-CN" altLang="en-US" sz="2000" dirty="0"/>
                </a:p>
                <a:p>
                  <a:pPr algn="just" eaLnBrk="0" hangingPunct="0"/>
                  <a:endParaRPr lang="zh-CN" altLang="en-US" sz="4400" dirty="0"/>
                </a:p>
              </p:txBody>
            </p:sp>
            <p:sp>
              <p:nvSpPr>
                <p:cNvPr id="153" name="矩形 120913"/>
                <p:cNvSpPr/>
                <p:nvPr/>
              </p:nvSpPr>
              <p:spPr>
                <a:xfrm>
                  <a:off x="374" y="211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2" name="组合 120914"/>
              <p:cNvGrpSpPr/>
              <p:nvPr/>
            </p:nvGrpSpPr>
            <p:grpSpPr>
              <a:xfrm>
                <a:off x="1193" y="2112"/>
                <a:ext cx="433" cy="480"/>
                <a:chOff x="1193" y="2112"/>
                <a:chExt cx="433" cy="480"/>
              </a:xfrm>
            </p:grpSpPr>
            <p:sp>
              <p:nvSpPr>
                <p:cNvPr id="150" name="矩形 120915"/>
                <p:cNvSpPr/>
                <p:nvPr/>
              </p:nvSpPr>
              <p:spPr>
                <a:xfrm>
                  <a:off x="1236" y="2112"/>
                  <a:ext cx="347"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51" name="矩形 120916"/>
                <p:cNvSpPr/>
                <p:nvPr/>
              </p:nvSpPr>
              <p:spPr>
                <a:xfrm>
                  <a:off x="1193" y="211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3" name="组合 120917"/>
              <p:cNvGrpSpPr/>
              <p:nvPr/>
            </p:nvGrpSpPr>
            <p:grpSpPr>
              <a:xfrm>
                <a:off x="1626" y="2112"/>
                <a:ext cx="806" cy="480"/>
                <a:chOff x="1626" y="2112"/>
                <a:chExt cx="806" cy="480"/>
              </a:xfrm>
            </p:grpSpPr>
            <p:sp>
              <p:nvSpPr>
                <p:cNvPr id="148" name="矩形 120918"/>
                <p:cNvSpPr/>
                <p:nvPr/>
              </p:nvSpPr>
              <p:spPr>
                <a:xfrm>
                  <a:off x="1669" y="2112"/>
                  <a:ext cx="720" cy="480"/>
                </a:xfrm>
                <a:prstGeom prst="rect">
                  <a:avLst/>
                </a:prstGeom>
                <a:noFill/>
                <a:ln w="9525">
                  <a:noFill/>
                </a:ln>
              </p:spPr>
              <p:txBody>
                <a:bodyPr anchor="t"/>
                <a:lstStyle/>
                <a:p>
                  <a:pPr algn="just"/>
                  <a:r>
                    <a:rPr lang="zh-CN" altLang="en-US" sz="2000" dirty="0"/>
                    <a:t>管理员</a:t>
                  </a:r>
                  <a:endParaRPr lang="zh-CN" altLang="en-US" sz="2000" dirty="0"/>
                </a:p>
                <a:p>
                  <a:pPr algn="just" eaLnBrk="0" hangingPunct="0"/>
                  <a:endParaRPr lang="zh-CN" altLang="en-US" sz="4400" dirty="0"/>
                </a:p>
              </p:txBody>
            </p:sp>
            <p:sp>
              <p:nvSpPr>
                <p:cNvPr id="149" name="矩形 120919"/>
                <p:cNvSpPr/>
                <p:nvPr/>
              </p:nvSpPr>
              <p:spPr>
                <a:xfrm>
                  <a:off x="1626" y="211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4" name="组合 120920"/>
              <p:cNvGrpSpPr/>
              <p:nvPr/>
            </p:nvGrpSpPr>
            <p:grpSpPr>
              <a:xfrm>
                <a:off x="2432" y="2112"/>
                <a:ext cx="518" cy="480"/>
                <a:chOff x="2432" y="2112"/>
                <a:chExt cx="518" cy="480"/>
              </a:xfrm>
            </p:grpSpPr>
            <p:sp>
              <p:nvSpPr>
                <p:cNvPr id="146" name="矩形 120921"/>
                <p:cNvSpPr/>
                <p:nvPr/>
              </p:nvSpPr>
              <p:spPr>
                <a:xfrm>
                  <a:off x="2475" y="2112"/>
                  <a:ext cx="432" cy="480"/>
                </a:xfrm>
                <a:prstGeom prst="rect">
                  <a:avLst/>
                </a:prstGeom>
                <a:noFill/>
                <a:ln w="9525">
                  <a:noFill/>
                </a:ln>
              </p:spPr>
              <p:txBody>
                <a:bodyPr anchor="t"/>
                <a:lstStyle/>
                <a:p>
                  <a:pPr algn="just"/>
                  <a:r>
                    <a:rPr lang="en-US" altLang="zh-CN" sz="2000"/>
                    <a:t>ROOT</a:t>
                  </a:r>
                  <a:endParaRPr lang="en-US" altLang="zh-CN" sz="2000"/>
                </a:p>
                <a:p>
                  <a:pPr algn="just" eaLnBrk="0" hangingPunct="0"/>
                  <a:endParaRPr lang="en-US" altLang="zh-CN" sz="4400"/>
                </a:p>
              </p:txBody>
            </p:sp>
            <p:sp>
              <p:nvSpPr>
                <p:cNvPr id="147" name="矩形 120922"/>
                <p:cNvSpPr/>
                <p:nvPr/>
              </p:nvSpPr>
              <p:spPr>
                <a:xfrm>
                  <a:off x="2432" y="211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5" name="组合 120923"/>
              <p:cNvGrpSpPr/>
              <p:nvPr/>
            </p:nvGrpSpPr>
            <p:grpSpPr>
              <a:xfrm>
                <a:off x="2950" y="2112"/>
                <a:ext cx="446" cy="480"/>
                <a:chOff x="2950" y="2112"/>
                <a:chExt cx="446" cy="480"/>
              </a:xfrm>
            </p:grpSpPr>
            <p:sp>
              <p:nvSpPr>
                <p:cNvPr id="144" name="矩形 120924"/>
                <p:cNvSpPr/>
                <p:nvPr/>
              </p:nvSpPr>
              <p:spPr>
                <a:xfrm>
                  <a:off x="2993" y="2112"/>
                  <a:ext cx="360" cy="480"/>
                </a:xfrm>
                <a:prstGeom prst="rect">
                  <a:avLst/>
                </a:prstGeom>
                <a:noFill/>
                <a:ln w="9525">
                  <a:noFill/>
                </a:ln>
              </p:spPr>
              <p:txBody>
                <a:bodyPr anchor="t"/>
                <a:lstStyle/>
                <a:p>
                  <a:pPr algn="just"/>
                  <a:r>
                    <a:rPr lang="en-US" altLang="zh-CN" sz="2000"/>
                    <a:t>7</a:t>
                  </a:r>
                  <a:endParaRPr lang="en-US" altLang="zh-CN" sz="2000"/>
                </a:p>
                <a:p>
                  <a:pPr algn="just" eaLnBrk="0" hangingPunct="0"/>
                  <a:endParaRPr lang="en-US" altLang="zh-CN" sz="4400" dirty="0"/>
                </a:p>
              </p:txBody>
            </p:sp>
            <p:sp>
              <p:nvSpPr>
                <p:cNvPr id="145" name="矩形 120925"/>
                <p:cNvSpPr/>
                <p:nvPr/>
              </p:nvSpPr>
              <p:spPr>
                <a:xfrm>
                  <a:off x="2950" y="211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6" name="组合 120926"/>
              <p:cNvGrpSpPr/>
              <p:nvPr/>
            </p:nvGrpSpPr>
            <p:grpSpPr>
              <a:xfrm>
                <a:off x="0" y="2592"/>
                <a:ext cx="374" cy="480"/>
                <a:chOff x="0" y="2592"/>
                <a:chExt cx="374" cy="480"/>
              </a:xfrm>
            </p:grpSpPr>
            <p:sp>
              <p:nvSpPr>
                <p:cNvPr id="142" name="矩形 120927"/>
                <p:cNvSpPr/>
                <p:nvPr/>
              </p:nvSpPr>
              <p:spPr>
                <a:xfrm>
                  <a:off x="43" y="2592"/>
                  <a:ext cx="288" cy="480"/>
                </a:xfrm>
                <a:prstGeom prst="rect">
                  <a:avLst/>
                </a:prstGeom>
                <a:noFill/>
                <a:ln w="9525">
                  <a:noFill/>
                </a:ln>
              </p:spPr>
              <p:txBody>
                <a:bodyPr anchor="t"/>
                <a:lstStyle/>
                <a:p>
                  <a:pPr algn="just"/>
                  <a:r>
                    <a:rPr lang="en-US" altLang="zh-CN" sz="2000"/>
                    <a:t>5</a:t>
                  </a:r>
                  <a:endParaRPr lang="en-US" altLang="zh-CN" sz="2000"/>
                </a:p>
                <a:p>
                  <a:pPr algn="just" eaLnBrk="0" hangingPunct="0"/>
                  <a:endParaRPr lang="en-US" altLang="zh-CN" sz="4400" dirty="0"/>
                </a:p>
              </p:txBody>
            </p:sp>
            <p:sp>
              <p:nvSpPr>
                <p:cNvPr id="143" name="矩形 120928"/>
                <p:cNvSpPr/>
                <p:nvPr/>
              </p:nvSpPr>
              <p:spPr>
                <a:xfrm>
                  <a:off x="0" y="259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7" name="组合 120929"/>
              <p:cNvGrpSpPr/>
              <p:nvPr/>
            </p:nvGrpSpPr>
            <p:grpSpPr>
              <a:xfrm>
                <a:off x="374" y="2592"/>
                <a:ext cx="819" cy="480"/>
                <a:chOff x="374" y="2592"/>
                <a:chExt cx="819" cy="480"/>
              </a:xfrm>
            </p:grpSpPr>
            <p:sp>
              <p:nvSpPr>
                <p:cNvPr id="140" name="矩形 120930"/>
                <p:cNvSpPr/>
                <p:nvPr/>
              </p:nvSpPr>
              <p:spPr>
                <a:xfrm>
                  <a:off x="417" y="2592"/>
                  <a:ext cx="733" cy="480"/>
                </a:xfrm>
                <a:prstGeom prst="rect">
                  <a:avLst/>
                </a:prstGeom>
                <a:noFill/>
                <a:ln w="9525">
                  <a:noFill/>
                </a:ln>
              </p:spPr>
              <p:txBody>
                <a:bodyPr anchor="t"/>
                <a:lstStyle/>
                <a:p>
                  <a:pPr algn="just"/>
                  <a:r>
                    <a:rPr lang="zh-CN" altLang="en-US" sz="2000" dirty="0"/>
                    <a:t>远程终端</a:t>
                  </a:r>
                  <a:endParaRPr lang="zh-CN" altLang="en-US" sz="2000" dirty="0"/>
                </a:p>
                <a:p>
                  <a:pPr algn="just" eaLnBrk="0" hangingPunct="0"/>
                  <a:endParaRPr lang="zh-CN" altLang="en-US" sz="4400" dirty="0"/>
                </a:p>
              </p:txBody>
            </p:sp>
            <p:sp>
              <p:nvSpPr>
                <p:cNvPr id="141" name="矩形 120931"/>
                <p:cNvSpPr/>
                <p:nvPr/>
              </p:nvSpPr>
              <p:spPr>
                <a:xfrm>
                  <a:off x="374" y="259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8" name="组合 120932"/>
              <p:cNvGrpSpPr/>
              <p:nvPr/>
            </p:nvGrpSpPr>
            <p:grpSpPr>
              <a:xfrm>
                <a:off x="1193" y="2592"/>
                <a:ext cx="433" cy="480"/>
                <a:chOff x="1193" y="2592"/>
                <a:chExt cx="433" cy="480"/>
              </a:xfrm>
            </p:grpSpPr>
            <p:sp>
              <p:nvSpPr>
                <p:cNvPr id="138" name="矩形 120933"/>
                <p:cNvSpPr/>
                <p:nvPr/>
              </p:nvSpPr>
              <p:spPr>
                <a:xfrm>
                  <a:off x="1236" y="2592"/>
                  <a:ext cx="347" cy="480"/>
                </a:xfrm>
                <a:prstGeom prst="rect">
                  <a:avLst/>
                </a:prstGeom>
                <a:noFill/>
                <a:ln w="9525">
                  <a:noFill/>
                </a:ln>
              </p:spPr>
              <p:txBody>
                <a:bodyPr anchor="t"/>
                <a:lstStyle/>
                <a:p>
                  <a:pPr algn="just"/>
                  <a:r>
                    <a:rPr lang="en-US" altLang="zh-CN" sz="2000"/>
                    <a:t>2</a:t>
                  </a:r>
                  <a:endParaRPr lang="en-US" altLang="zh-CN" sz="2000"/>
                </a:p>
                <a:p>
                  <a:pPr algn="just" eaLnBrk="0" hangingPunct="0"/>
                  <a:endParaRPr lang="en-US" altLang="zh-CN" sz="4400" dirty="0"/>
                </a:p>
              </p:txBody>
            </p:sp>
            <p:sp>
              <p:nvSpPr>
                <p:cNvPr id="139" name="矩形 120934"/>
                <p:cNvSpPr/>
                <p:nvPr/>
              </p:nvSpPr>
              <p:spPr>
                <a:xfrm>
                  <a:off x="1193" y="259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39" name="组合 120935"/>
              <p:cNvGrpSpPr/>
              <p:nvPr/>
            </p:nvGrpSpPr>
            <p:grpSpPr>
              <a:xfrm>
                <a:off x="1626" y="2592"/>
                <a:ext cx="806" cy="480"/>
                <a:chOff x="1626" y="2592"/>
                <a:chExt cx="806" cy="480"/>
              </a:xfrm>
            </p:grpSpPr>
            <p:sp>
              <p:nvSpPr>
                <p:cNvPr id="136" name="矩形 120936"/>
                <p:cNvSpPr/>
                <p:nvPr/>
              </p:nvSpPr>
              <p:spPr>
                <a:xfrm>
                  <a:off x="1669" y="2592"/>
                  <a:ext cx="720" cy="480"/>
                </a:xfrm>
                <a:prstGeom prst="rect">
                  <a:avLst/>
                </a:prstGeom>
                <a:noFill/>
                <a:ln w="9525">
                  <a:noFill/>
                </a:ln>
              </p:spPr>
              <p:txBody>
                <a:bodyPr anchor="t"/>
                <a:lstStyle/>
                <a:p>
                  <a:pPr algn="just"/>
                  <a:r>
                    <a:rPr lang="zh-CN" altLang="en-US" sz="2000" dirty="0"/>
                    <a:t>远程职员</a:t>
                  </a:r>
                  <a:endParaRPr lang="zh-CN" altLang="en-US" sz="2000" dirty="0"/>
                </a:p>
                <a:p>
                  <a:pPr algn="just" eaLnBrk="0" hangingPunct="0"/>
                  <a:endParaRPr lang="zh-CN" altLang="en-US" sz="4400" dirty="0"/>
                </a:p>
              </p:txBody>
            </p:sp>
            <p:sp>
              <p:nvSpPr>
                <p:cNvPr id="137" name="矩形 120937"/>
                <p:cNvSpPr/>
                <p:nvPr/>
              </p:nvSpPr>
              <p:spPr>
                <a:xfrm>
                  <a:off x="1626" y="259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0" name="组合 120938"/>
              <p:cNvGrpSpPr/>
              <p:nvPr/>
            </p:nvGrpSpPr>
            <p:grpSpPr>
              <a:xfrm>
                <a:off x="2432" y="2592"/>
                <a:ext cx="518" cy="480"/>
                <a:chOff x="2432" y="2592"/>
                <a:chExt cx="518" cy="480"/>
              </a:xfrm>
            </p:grpSpPr>
            <p:sp>
              <p:nvSpPr>
                <p:cNvPr id="134" name="矩形 120939"/>
                <p:cNvSpPr/>
                <p:nvPr/>
              </p:nvSpPr>
              <p:spPr>
                <a:xfrm>
                  <a:off x="2475" y="2592"/>
                  <a:ext cx="432" cy="480"/>
                </a:xfrm>
                <a:prstGeom prst="rect">
                  <a:avLst/>
                </a:prstGeom>
                <a:noFill/>
                <a:ln w="9525">
                  <a:noFill/>
                </a:ln>
              </p:spPr>
              <p:txBody>
                <a:bodyPr anchor="t"/>
                <a:lstStyle/>
                <a:p>
                  <a:pPr algn="just"/>
                  <a:r>
                    <a:rPr lang="zh-CN" altLang="en-US" sz="2000" dirty="0"/>
                    <a:t>读，写</a:t>
                  </a:r>
                  <a:endParaRPr lang="zh-CN" altLang="en-US" sz="2000" dirty="0"/>
                </a:p>
                <a:p>
                  <a:pPr algn="just" eaLnBrk="0" hangingPunct="0"/>
                  <a:endParaRPr lang="zh-CN" altLang="en-US" sz="4400" dirty="0"/>
                </a:p>
              </p:txBody>
            </p:sp>
            <p:sp>
              <p:nvSpPr>
                <p:cNvPr id="135" name="矩形 120940"/>
                <p:cNvSpPr/>
                <p:nvPr/>
              </p:nvSpPr>
              <p:spPr>
                <a:xfrm>
                  <a:off x="2432" y="259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1" name="组合 120941"/>
              <p:cNvGrpSpPr/>
              <p:nvPr/>
            </p:nvGrpSpPr>
            <p:grpSpPr>
              <a:xfrm>
                <a:off x="2950" y="2592"/>
                <a:ext cx="446" cy="480"/>
                <a:chOff x="2950" y="2592"/>
                <a:chExt cx="446" cy="480"/>
              </a:xfrm>
            </p:grpSpPr>
            <p:sp>
              <p:nvSpPr>
                <p:cNvPr id="132" name="矩形 120942"/>
                <p:cNvSpPr/>
                <p:nvPr/>
              </p:nvSpPr>
              <p:spPr>
                <a:xfrm>
                  <a:off x="2993" y="2592"/>
                  <a:ext cx="360"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33" name="矩形 120943"/>
                <p:cNvSpPr/>
                <p:nvPr/>
              </p:nvSpPr>
              <p:spPr>
                <a:xfrm>
                  <a:off x="2950" y="259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2" name="组合 120944"/>
              <p:cNvGrpSpPr/>
              <p:nvPr/>
            </p:nvGrpSpPr>
            <p:grpSpPr>
              <a:xfrm>
                <a:off x="0" y="3072"/>
                <a:ext cx="374" cy="480"/>
                <a:chOff x="0" y="3072"/>
                <a:chExt cx="374" cy="480"/>
              </a:xfrm>
            </p:grpSpPr>
            <p:sp>
              <p:nvSpPr>
                <p:cNvPr id="130" name="矩形 120945"/>
                <p:cNvSpPr/>
                <p:nvPr/>
              </p:nvSpPr>
              <p:spPr>
                <a:xfrm>
                  <a:off x="43" y="3072"/>
                  <a:ext cx="288" cy="480"/>
                </a:xfrm>
                <a:prstGeom prst="rect">
                  <a:avLst/>
                </a:prstGeom>
                <a:noFill/>
                <a:ln w="9525">
                  <a:noFill/>
                </a:ln>
              </p:spPr>
              <p:txBody>
                <a:bodyPr anchor="t"/>
                <a:lstStyle/>
                <a:p>
                  <a:pPr algn="just"/>
                  <a:r>
                    <a:rPr lang="en-US" altLang="zh-CN" sz="2000"/>
                    <a:t>6</a:t>
                  </a:r>
                  <a:endParaRPr lang="en-US" altLang="zh-CN" sz="2000"/>
                </a:p>
                <a:p>
                  <a:pPr algn="just" eaLnBrk="0" hangingPunct="0"/>
                  <a:endParaRPr lang="en-US" altLang="zh-CN" sz="4400" dirty="0"/>
                </a:p>
              </p:txBody>
            </p:sp>
            <p:sp>
              <p:nvSpPr>
                <p:cNvPr id="131" name="矩形 120946"/>
                <p:cNvSpPr/>
                <p:nvPr/>
              </p:nvSpPr>
              <p:spPr>
                <a:xfrm>
                  <a:off x="0" y="307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3" name="组合 120947"/>
              <p:cNvGrpSpPr/>
              <p:nvPr/>
            </p:nvGrpSpPr>
            <p:grpSpPr>
              <a:xfrm>
                <a:off x="374" y="3072"/>
                <a:ext cx="819" cy="480"/>
                <a:chOff x="374" y="3072"/>
                <a:chExt cx="819" cy="480"/>
              </a:xfrm>
            </p:grpSpPr>
            <p:sp>
              <p:nvSpPr>
                <p:cNvPr id="128" name="矩形 120948"/>
                <p:cNvSpPr/>
                <p:nvPr/>
              </p:nvSpPr>
              <p:spPr>
                <a:xfrm>
                  <a:off x="417" y="3072"/>
                  <a:ext cx="733" cy="480"/>
                </a:xfrm>
                <a:prstGeom prst="rect">
                  <a:avLst/>
                </a:prstGeom>
                <a:noFill/>
                <a:ln w="9525">
                  <a:noFill/>
                </a:ln>
              </p:spPr>
              <p:txBody>
                <a:bodyPr anchor="t"/>
                <a:lstStyle/>
                <a:p>
                  <a:pPr algn="just"/>
                  <a:r>
                    <a:rPr lang="zh-CN" altLang="en-US" dirty="0"/>
                    <a:t>部分内部站点</a:t>
                  </a:r>
                  <a:endParaRPr lang="zh-CN" altLang="en-US" dirty="0"/>
                </a:p>
                <a:p>
                  <a:pPr algn="just" eaLnBrk="0" hangingPunct="0"/>
                  <a:endParaRPr lang="zh-CN" altLang="en-US" sz="4400" dirty="0"/>
                </a:p>
              </p:txBody>
            </p:sp>
            <p:sp>
              <p:nvSpPr>
                <p:cNvPr id="129" name="矩形 120949"/>
                <p:cNvSpPr/>
                <p:nvPr/>
              </p:nvSpPr>
              <p:spPr>
                <a:xfrm>
                  <a:off x="374" y="307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4" name="组合 120950"/>
              <p:cNvGrpSpPr/>
              <p:nvPr/>
            </p:nvGrpSpPr>
            <p:grpSpPr>
              <a:xfrm>
                <a:off x="1193" y="3072"/>
                <a:ext cx="433" cy="480"/>
                <a:chOff x="1193" y="3072"/>
                <a:chExt cx="433" cy="480"/>
              </a:xfrm>
            </p:grpSpPr>
            <p:sp>
              <p:nvSpPr>
                <p:cNvPr id="126" name="矩形 120951"/>
                <p:cNvSpPr/>
                <p:nvPr/>
              </p:nvSpPr>
              <p:spPr>
                <a:xfrm>
                  <a:off x="1236" y="3072"/>
                  <a:ext cx="347" cy="480"/>
                </a:xfrm>
                <a:prstGeom prst="rect">
                  <a:avLst/>
                </a:prstGeom>
                <a:noFill/>
                <a:ln w="9525">
                  <a:noFill/>
                </a:ln>
              </p:spPr>
              <p:txBody>
                <a:bodyPr anchor="t"/>
                <a:lstStyle/>
                <a:p>
                  <a:pPr algn="just"/>
                  <a:r>
                    <a:rPr lang="en-US" altLang="zh-CN" sz="2000"/>
                    <a:t>2~4</a:t>
                  </a:r>
                  <a:endParaRPr lang="en-US" altLang="zh-CN" sz="2000"/>
                </a:p>
                <a:p>
                  <a:pPr algn="just" eaLnBrk="0" hangingPunct="0"/>
                  <a:endParaRPr lang="en-US" altLang="zh-CN" sz="4400" dirty="0"/>
                </a:p>
              </p:txBody>
            </p:sp>
            <p:sp>
              <p:nvSpPr>
                <p:cNvPr id="127" name="矩形 120952"/>
                <p:cNvSpPr/>
                <p:nvPr/>
              </p:nvSpPr>
              <p:spPr>
                <a:xfrm>
                  <a:off x="1193" y="307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5" name="组合 120953"/>
              <p:cNvGrpSpPr/>
              <p:nvPr/>
            </p:nvGrpSpPr>
            <p:grpSpPr>
              <a:xfrm>
                <a:off x="1626" y="3072"/>
                <a:ext cx="806" cy="480"/>
                <a:chOff x="1626" y="3072"/>
                <a:chExt cx="806" cy="480"/>
              </a:xfrm>
            </p:grpSpPr>
            <p:sp>
              <p:nvSpPr>
                <p:cNvPr id="124" name="矩形 120954"/>
                <p:cNvSpPr/>
                <p:nvPr/>
              </p:nvSpPr>
              <p:spPr>
                <a:xfrm>
                  <a:off x="1669" y="3072"/>
                  <a:ext cx="720" cy="480"/>
                </a:xfrm>
                <a:prstGeom prst="rect">
                  <a:avLst/>
                </a:prstGeom>
                <a:noFill/>
                <a:ln w="9525">
                  <a:noFill/>
                </a:ln>
              </p:spPr>
              <p:txBody>
                <a:bodyPr anchor="t"/>
                <a:lstStyle/>
                <a:p>
                  <a:pPr algn="just"/>
                  <a:r>
                    <a:rPr lang="zh-CN" altLang="en-US" sz="2000" dirty="0"/>
                    <a:t>本地职员</a:t>
                  </a:r>
                  <a:endParaRPr lang="zh-CN" altLang="en-US" sz="2000" dirty="0"/>
                </a:p>
                <a:p>
                  <a:pPr algn="just" eaLnBrk="0" hangingPunct="0"/>
                  <a:endParaRPr lang="zh-CN" altLang="en-US" sz="4400" dirty="0"/>
                </a:p>
              </p:txBody>
            </p:sp>
            <p:sp>
              <p:nvSpPr>
                <p:cNvPr id="125" name="矩形 120955"/>
                <p:cNvSpPr/>
                <p:nvPr/>
              </p:nvSpPr>
              <p:spPr>
                <a:xfrm>
                  <a:off x="1626" y="307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6" name="组合 120956"/>
              <p:cNvGrpSpPr/>
              <p:nvPr/>
            </p:nvGrpSpPr>
            <p:grpSpPr>
              <a:xfrm>
                <a:off x="2432" y="3072"/>
                <a:ext cx="518" cy="480"/>
                <a:chOff x="2432" y="3072"/>
                <a:chExt cx="518" cy="480"/>
              </a:xfrm>
            </p:grpSpPr>
            <p:sp>
              <p:nvSpPr>
                <p:cNvPr id="122" name="矩形 120957"/>
                <p:cNvSpPr/>
                <p:nvPr/>
              </p:nvSpPr>
              <p:spPr>
                <a:xfrm>
                  <a:off x="2475" y="3072"/>
                  <a:ext cx="432" cy="480"/>
                </a:xfrm>
                <a:prstGeom prst="rect">
                  <a:avLst/>
                </a:prstGeom>
                <a:noFill/>
                <a:ln w="9525">
                  <a:noFill/>
                </a:ln>
              </p:spPr>
              <p:txBody>
                <a:bodyPr anchor="t"/>
                <a:lstStyle/>
                <a:p>
                  <a:pPr algn="just"/>
                  <a:r>
                    <a:rPr lang="zh-CN" altLang="en-US" sz="2000" dirty="0"/>
                    <a:t>读</a:t>
                  </a:r>
                  <a:endParaRPr lang="zh-CN" altLang="en-US" sz="2000" dirty="0"/>
                </a:p>
                <a:p>
                  <a:pPr algn="just" eaLnBrk="0" hangingPunct="0"/>
                  <a:endParaRPr lang="zh-CN" altLang="en-US" sz="4400" dirty="0"/>
                </a:p>
              </p:txBody>
            </p:sp>
            <p:sp>
              <p:nvSpPr>
                <p:cNvPr id="123" name="矩形 120958"/>
                <p:cNvSpPr/>
                <p:nvPr/>
              </p:nvSpPr>
              <p:spPr>
                <a:xfrm>
                  <a:off x="2432" y="307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7" name="组合 120959"/>
              <p:cNvGrpSpPr/>
              <p:nvPr/>
            </p:nvGrpSpPr>
            <p:grpSpPr>
              <a:xfrm>
                <a:off x="2950" y="3072"/>
                <a:ext cx="446" cy="480"/>
                <a:chOff x="2950" y="3072"/>
                <a:chExt cx="446" cy="480"/>
              </a:xfrm>
            </p:grpSpPr>
            <p:sp>
              <p:nvSpPr>
                <p:cNvPr id="120" name="矩形 120960"/>
                <p:cNvSpPr/>
                <p:nvPr/>
              </p:nvSpPr>
              <p:spPr>
                <a:xfrm>
                  <a:off x="2993" y="3072"/>
                  <a:ext cx="360" cy="480"/>
                </a:xfrm>
                <a:prstGeom prst="rect">
                  <a:avLst/>
                </a:prstGeom>
                <a:noFill/>
                <a:ln w="9525">
                  <a:noFill/>
                </a:ln>
              </p:spPr>
              <p:txBody>
                <a:bodyPr anchor="t"/>
                <a:lstStyle/>
                <a:p>
                  <a:pPr algn="just"/>
                  <a:r>
                    <a:rPr lang="en-US" altLang="zh-CN" sz="2000"/>
                    <a:t>n</a:t>
                  </a:r>
                  <a:endParaRPr lang="en-US" altLang="zh-CN" sz="2000"/>
                </a:p>
                <a:p>
                  <a:pPr algn="just" eaLnBrk="0" hangingPunct="0"/>
                  <a:endParaRPr lang="en-US" altLang="zh-CN" sz="4400"/>
                </a:p>
              </p:txBody>
            </p:sp>
            <p:sp>
              <p:nvSpPr>
                <p:cNvPr id="121" name="矩形 120961"/>
                <p:cNvSpPr/>
                <p:nvPr/>
              </p:nvSpPr>
              <p:spPr>
                <a:xfrm>
                  <a:off x="2950" y="307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8" name="组合 120962"/>
              <p:cNvGrpSpPr/>
              <p:nvPr/>
            </p:nvGrpSpPr>
            <p:grpSpPr>
              <a:xfrm>
                <a:off x="0" y="3552"/>
                <a:ext cx="374" cy="480"/>
                <a:chOff x="0" y="3552"/>
                <a:chExt cx="374" cy="480"/>
              </a:xfrm>
            </p:grpSpPr>
            <p:sp>
              <p:nvSpPr>
                <p:cNvPr id="118" name="矩形 120963"/>
                <p:cNvSpPr/>
                <p:nvPr/>
              </p:nvSpPr>
              <p:spPr>
                <a:xfrm>
                  <a:off x="43" y="3552"/>
                  <a:ext cx="288" cy="480"/>
                </a:xfrm>
                <a:prstGeom prst="rect">
                  <a:avLst/>
                </a:prstGeom>
                <a:noFill/>
                <a:ln w="9525">
                  <a:noFill/>
                </a:ln>
              </p:spPr>
              <p:txBody>
                <a:bodyPr anchor="t"/>
                <a:lstStyle/>
                <a:p>
                  <a:pPr algn="just"/>
                  <a:r>
                    <a:rPr lang="en-US" altLang="zh-CN" sz="2000"/>
                    <a:t>7</a:t>
                  </a:r>
                  <a:endParaRPr lang="en-US" altLang="zh-CN" sz="2000"/>
                </a:p>
                <a:p>
                  <a:pPr algn="just" eaLnBrk="0" hangingPunct="0"/>
                  <a:endParaRPr lang="en-US" altLang="zh-CN" sz="4400" dirty="0"/>
                </a:p>
              </p:txBody>
            </p:sp>
            <p:sp>
              <p:nvSpPr>
                <p:cNvPr id="119" name="矩形 120964"/>
                <p:cNvSpPr/>
                <p:nvPr/>
              </p:nvSpPr>
              <p:spPr>
                <a:xfrm>
                  <a:off x="0" y="355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49" name="组合 120965"/>
              <p:cNvGrpSpPr/>
              <p:nvPr/>
            </p:nvGrpSpPr>
            <p:grpSpPr>
              <a:xfrm>
                <a:off x="374" y="3552"/>
                <a:ext cx="819" cy="480"/>
                <a:chOff x="374" y="3552"/>
                <a:chExt cx="819" cy="480"/>
              </a:xfrm>
            </p:grpSpPr>
            <p:sp>
              <p:nvSpPr>
                <p:cNvPr id="116" name="矩形 120966"/>
                <p:cNvSpPr/>
                <p:nvPr/>
              </p:nvSpPr>
              <p:spPr>
                <a:xfrm>
                  <a:off x="417" y="3552"/>
                  <a:ext cx="733" cy="480"/>
                </a:xfrm>
                <a:prstGeom prst="rect">
                  <a:avLst/>
                </a:prstGeom>
                <a:noFill/>
                <a:ln w="9525">
                  <a:noFill/>
                </a:ln>
              </p:spPr>
              <p:txBody>
                <a:bodyPr anchor="t"/>
                <a:lstStyle/>
                <a:p>
                  <a:pPr algn="just"/>
                  <a:r>
                    <a:rPr lang="zh-CN" altLang="en-US" sz="2000" dirty="0"/>
                    <a:t>远程信道</a:t>
                  </a:r>
                  <a:endParaRPr lang="zh-CN" altLang="en-US" sz="2000" dirty="0"/>
                </a:p>
                <a:p>
                  <a:pPr algn="just" eaLnBrk="0" hangingPunct="0"/>
                  <a:endParaRPr lang="zh-CN" altLang="en-US" sz="4400" dirty="0"/>
                </a:p>
              </p:txBody>
            </p:sp>
            <p:sp>
              <p:nvSpPr>
                <p:cNvPr id="117" name="矩形 120967"/>
                <p:cNvSpPr/>
                <p:nvPr/>
              </p:nvSpPr>
              <p:spPr>
                <a:xfrm>
                  <a:off x="374" y="355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0" name="组合 120968"/>
              <p:cNvGrpSpPr/>
              <p:nvPr/>
            </p:nvGrpSpPr>
            <p:grpSpPr>
              <a:xfrm>
                <a:off x="1193" y="3552"/>
                <a:ext cx="433" cy="480"/>
                <a:chOff x="1193" y="3552"/>
                <a:chExt cx="433" cy="480"/>
              </a:xfrm>
            </p:grpSpPr>
            <p:sp>
              <p:nvSpPr>
                <p:cNvPr id="114" name="矩形 120969"/>
                <p:cNvSpPr/>
                <p:nvPr/>
              </p:nvSpPr>
              <p:spPr>
                <a:xfrm>
                  <a:off x="1236" y="3552"/>
                  <a:ext cx="347"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15" name="矩形 120970"/>
                <p:cNvSpPr/>
                <p:nvPr/>
              </p:nvSpPr>
              <p:spPr>
                <a:xfrm>
                  <a:off x="1193" y="355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1" name="组合 120971"/>
              <p:cNvGrpSpPr/>
              <p:nvPr/>
            </p:nvGrpSpPr>
            <p:grpSpPr>
              <a:xfrm>
                <a:off x="1626" y="3552"/>
                <a:ext cx="806" cy="480"/>
                <a:chOff x="1626" y="3552"/>
                <a:chExt cx="806" cy="480"/>
              </a:xfrm>
            </p:grpSpPr>
            <p:sp>
              <p:nvSpPr>
                <p:cNvPr id="112" name="矩形 120972"/>
                <p:cNvSpPr/>
                <p:nvPr/>
              </p:nvSpPr>
              <p:spPr>
                <a:xfrm>
                  <a:off x="1669" y="3552"/>
                  <a:ext cx="720" cy="480"/>
                </a:xfrm>
                <a:prstGeom prst="rect">
                  <a:avLst/>
                </a:prstGeom>
                <a:noFill/>
                <a:ln w="9525">
                  <a:noFill/>
                </a:ln>
              </p:spPr>
              <p:txBody>
                <a:bodyPr anchor="t"/>
                <a:lstStyle/>
                <a:p>
                  <a:pPr algn="just"/>
                  <a:r>
                    <a:rPr lang="zh-CN" altLang="en-US" sz="2000" dirty="0"/>
                    <a:t>远程职员</a:t>
                  </a:r>
                  <a:endParaRPr lang="zh-CN" altLang="en-US" sz="2000" dirty="0"/>
                </a:p>
                <a:p>
                  <a:pPr algn="just" eaLnBrk="0" hangingPunct="0"/>
                  <a:endParaRPr lang="zh-CN" altLang="en-US" sz="4400" dirty="0"/>
                </a:p>
              </p:txBody>
            </p:sp>
            <p:sp>
              <p:nvSpPr>
                <p:cNvPr id="113" name="矩形 120973"/>
                <p:cNvSpPr/>
                <p:nvPr/>
              </p:nvSpPr>
              <p:spPr>
                <a:xfrm>
                  <a:off x="1626" y="355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2" name="组合 120974"/>
              <p:cNvGrpSpPr/>
              <p:nvPr/>
            </p:nvGrpSpPr>
            <p:grpSpPr>
              <a:xfrm>
                <a:off x="2432" y="3552"/>
                <a:ext cx="518" cy="480"/>
                <a:chOff x="2432" y="3552"/>
                <a:chExt cx="518" cy="480"/>
              </a:xfrm>
            </p:grpSpPr>
            <p:sp>
              <p:nvSpPr>
                <p:cNvPr id="110" name="矩形 120975"/>
                <p:cNvSpPr/>
                <p:nvPr/>
              </p:nvSpPr>
              <p:spPr>
                <a:xfrm>
                  <a:off x="2475" y="3552"/>
                  <a:ext cx="432" cy="480"/>
                </a:xfrm>
                <a:prstGeom prst="rect">
                  <a:avLst/>
                </a:prstGeom>
                <a:noFill/>
                <a:ln w="9525">
                  <a:noFill/>
                </a:ln>
              </p:spPr>
              <p:txBody>
                <a:bodyPr anchor="t"/>
                <a:lstStyle/>
                <a:p>
                  <a:pPr algn="just"/>
                  <a:r>
                    <a:rPr lang="zh-CN" altLang="en-US" sz="2000" dirty="0"/>
                    <a:t>控制</a:t>
                  </a:r>
                  <a:endParaRPr lang="zh-CN" altLang="en-US" sz="2000" dirty="0"/>
                </a:p>
                <a:p>
                  <a:pPr algn="just" eaLnBrk="0" hangingPunct="0"/>
                  <a:endParaRPr lang="zh-CN" altLang="en-US" sz="4400" dirty="0"/>
                </a:p>
              </p:txBody>
            </p:sp>
            <p:sp>
              <p:nvSpPr>
                <p:cNvPr id="111" name="矩形 120976"/>
                <p:cNvSpPr/>
                <p:nvPr/>
              </p:nvSpPr>
              <p:spPr>
                <a:xfrm>
                  <a:off x="2432" y="355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3" name="组合 120977"/>
              <p:cNvGrpSpPr/>
              <p:nvPr/>
            </p:nvGrpSpPr>
            <p:grpSpPr>
              <a:xfrm>
                <a:off x="2950" y="3552"/>
                <a:ext cx="446" cy="480"/>
                <a:chOff x="2950" y="3552"/>
                <a:chExt cx="446" cy="480"/>
              </a:xfrm>
            </p:grpSpPr>
            <p:sp>
              <p:nvSpPr>
                <p:cNvPr id="108" name="矩形 120978"/>
                <p:cNvSpPr/>
                <p:nvPr/>
              </p:nvSpPr>
              <p:spPr>
                <a:xfrm>
                  <a:off x="2993" y="3552"/>
                  <a:ext cx="360" cy="480"/>
                </a:xfrm>
                <a:prstGeom prst="rect">
                  <a:avLst/>
                </a:prstGeom>
                <a:noFill/>
                <a:ln w="9525">
                  <a:noFill/>
                </a:ln>
              </p:spPr>
              <p:txBody>
                <a:bodyPr anchor="t"/>
                <a:lstStyle/>
                <a:p>
                  <a:pPr algn="just"/>
                  <a:r>
                    <a:rPr lang="en-US" altLang="zh-CN" sz="2000"/>
                    <a:t>5</a:t>
                  </a:r>
                  <a:endParaRPr lang="en-US" altLang="zh-CN" sz="2000"/>
                </a:p>
                <a:p>
                  <a:pPr algn="just" eaLnBrk="0" hangingPunct="0"/>
                  <a:endParaRPr lang="en-US" altLang="zh-CN" sz="4400" dirty="0"/>
                </a:p>
              </p:txBody>
            </p:sp>
            <p:sp>
              <p:nvSpPr>
                <p:cNvPr id="109" name="矩形 120979"/>
                <p:cNvSpPr/>
                <p:nvPr/>
              </p:nvSpPr>
              <p:spPr>
                <a:xfrm>
                  <a:off x="2950" y="355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4" name="组合 120980"/>
              <p:cNvGrpSpPr/>
              <p:nvPr/>
            </p:nvGrpSpPr>
            <p:grpSpPr>
              <a:xfrm>
                <a:off x="0" y="4032"/>
                <a:ext cx="374" cy="480"/>
                <a:chOff x="0" y="4032"/>
                <a:chExt cx="374" cy="480"/>
              </a:xfrm>
            </p:grpSpPr>
            <p:sp>
              <p:nvSpPr>
                <p:cNvPr id="106" name="矩形 120981"/>
                <p:cNvSpPr/>
                <p:nvPr/>
              </p:nvSpPr>
              <p:spPr>
                <a:xfrm>
                  <a:off x="43" y="4032"/>
                  <a:ext cx="288" cy="480"/>
                </a:xfrm>
                <a:prstGeom prst="rect">
                  <a:avLst/>
                </a:prstGeom>
                <a:noFill/>
                <a:ln w="9525">
                  <a:noFill/>
                </a:ln>
              </p:spPr>
              <p:txBody>
                <a:bodyPr anchor="t"/>
                <a:lstStyle/>
                <a:p>
                  <a:pPr algn="just"/>
                  <a:r>
                    <a:rPr lang="en-US" altLang="zh-CN" sz="2000"/>
                    <a:t>8</a:t>
                  </a:r>
                  <a:endParaRPr lang="en-US" altLang="zh-CN" sz="2000"/>
                </a:p>
                <a:p>
                  <a:pPr algn="just" eaLnBrk="0" hangingPunct="0"/>
                  <a:endParaRPr lang="en-US" altLang="zh-CN" sz="4400" dirty="0"/>
                </a:p>
              </p:txBody>
            </p:sp>
            <p:sp>
              <p:nvSpPr>
                <p:cNvPr id="107" name="矩形 120982"/>
                <p:cNvSpPr/>
                <p:nvPr/>
              </p:nvSpPr>
              <p:spPr>
                <a:xfrm>
                  <a:off x="0" y="403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5" name="组合 120983"/>
              <p:cNvGrpSpPr/>
              <p:nvPr/>
            </p:nvGrpSpPr>
            <p:grpSpPr>
              <a:xfrm>
                <a:off x="374" y="4032"/>
                <a:ext cx="819" cy="480"/>
                <a:chOff x="374" y="4032"/>
                <a:chExt cx="819" cy="480"/>
              </a:xfrm>
            </p:grpSpPr>
            <p:sp>
              <p:nvSpPr>
                <p:cNvPr id="104" name="矩形 120984"/>
                <p:cNvSpPr/>
                <p:nvPr/>
              </p:nvSpPr>
              <p:spPr>
                <a:xfrm>
                  <a:off x="417" y="4032"/>
                  <a:ext cx="733" cy="480"/>
                </a:xfrm>
                <a:prstGeom prst="rect">
                  <a:avLst/>
                </a:prstGeom>
                <a:noFill/>
                <a:ln w="9525">
                  <a:noFill/>
                </a:ln>
              </p:spPr>
              <p:txBody>
                <a:bodyPr anchor="t"/>
                <a:lstStyle/>
                <a:p>
                  <a:pPr algn="just"/>
                  <a:r>
                    <a:rPr lang="zh-CN" altLang="en-US" sz="2000" dirty="0"/>
                    <a:t>机密数据</a:t>
                  </a:r>
                  <a:endParaRPr lang="zh-CN" altLang="en-US" sz="2000" dirty="0"/>
                </a:p>
                <a:p>
                  <a:pPr algn="just" eaLnBrk="0" hangingPunct="0"/>
                  <a:endParaRPr lang="zh-CN" altLang="en-US" sz="4400" dirty="0"/>
                </a:p>
              </p:txBody>
            </p:sp>
            <p:sp>
              <p:nvSpPr>
                <p:cNvPr id="105" name="矩形 120985"/>
                <p:cNvSpPr/>
                <p:nvPr/>
              </p:nvSpPr>
              <p:spPr>
                <a:xfrm>
                  <a:off x="374" y="403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6" name="组合 120986"/>
              <p:cNvGrpSpPr/>
              <p:nvPr/>
            </p:nvGrpSpPr>
            <p:grpSpPr>
              <a:xfrm>
                <a:off x="1193" y="4032"/>
                <a:ext cx="433" cy="480"/>
                <a:chOff x="1193" y="4032"/>
                <a:chExt cx="433" cy="480"/>
              </a:xfrm>
            </p:grpSpPr>
            <p:sp>
              <p:nvSpPr>
                <p:cNvPr id="102" name="矩形 120987"/>
                <p:cNvSpPr/>
                <p:nvPr/>
              </p:nvSpPr>
              <p:spPr>
                <a:xfrm>
                  <a:off x="1236" y="4032"/>
                  <a:ext cx="347"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103" name="矩形 120988"/>
                <p:cNvSpPr/>
                <p:nvPr/>
              </p:nvSpPr>
              <p:spPr>
                <a:xfrm>
                  <a:off x="1193" y="403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7" name="组合 120989"/>
              <p:cNvGrpSpPr/>
              <p:nvPr/>
            </p:nvGrpSpPr>
            <p:grpSpPr>
              <a:xfrm>
                <a:off x="1626" y="4032"/>
                <a:ext cx="806" cy="480"/>
                <a:chOff x="1626" y="4032"/>
                <a:chExt cx="806" cy="480"/>
              </a:xfrm>
            </p:grpSpPr>
            <p:sp>
              <p:nvSpPr>
                <p:cNvPr id="100" name="矩形 120990"/>
                <p:cNvSpPr/>
                <p:nvPr/>
              </p:nvSpPr>
              <p:spPr>
                <a:xfrm>
                  <a:off x="1669" y="4032"/>
                  <a:ext cx="720" cy="480"/>
                </a:xfrm>
                <a:prstGeom prst="rect">
                  <a:avLst/>
                </a:prstGeom>
                <a:noFill/>
                <a:ln w="9525">
                  <a:noFill/>
                </a:ln>
              </p:spPr>
              <p:txBody>
                <a:bodyPr anchor="t"/>
                <a:lstStyle/>
                <a:p>
                  <a:pPr algn="just"/>
                  <a:r>
                    <a:rPr lang="zh-CN" altLang="en-US" sz="2000" dirty="0"/>
                    <a:t>决策者</a:t>
                  </a:r>
                  <a:endParaRPr lang="zh-CN" altLang="en-US" sz="2000" dirty="0"/>
                </a:p>
                <a:p>
                  <a:pPr algn="just" eaLnBrk="0" hangingPunct="0"/>
                  <a:endParaRPr lang="zh-CN" altLang="en-US" sz="4400" dirty="0"/>
                </a:p>
              </p:txBody>
            </p:sp>
            <p:sp>
              <p:nvSpPr>
                <p:cNvPr id="101" name="矩形 120991"/>
                <p:cNvSpPr/>
                <p:nvPr/>
              </p:nvSpPr>
              <p:spPr>
                <a:xfrm>
                  <a:off x="1626" y="403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8" name="组合 120992"/>
              <p:cNvGrpSpPr/>
              <p:nvPr/>
            </p:nvGrpSpPr>
            <p:grpSpPr>
              <a:xfrm>
                <a:off x="2432" y="4032"/>
                <a:ext cx="518" cy="480"/>
                <a:chOff x="2432" y="4032"/>
                <a:chExt cx="518" cy="480"/>
              </a:xfrm>
            </p:grpSpPr>
            <p:sp>
              <p:nvSpPr>
                <p:cNvPr id="98" name="矩形 120993"/>
                <p:cNvSpPr/>
                <p:nvPr/>
              </p:nvSpPr>
              <p:spPr>
                <a:xfrm>
                  <a:off x="2475" y="4032"/>
                  <a:ext cx="432" cy="480"/>
                </a:xfrm>
                <a:prstGeom prst="rect">
                  <a:avLst/>
                </a:prstGeom>
                <a:noFill/>
                <a:ln w="9525">
                  <a:noFill/>
                </a:ln>
              </p:spPr>
              <p:txBody>
                <a:bodyPr anchor="t"/>
                <a:lstStyle/>
                <a:p>
                  <a:pPr algn="just"/>
                  <a:r>
                    <a:rPr lang="zh-CN" altLang="en-US" sz="2000" dirty="0"/>
                    <a:t>读，写</a:t>
                  </a:r>
                  <a:endParaRPr lang="zh-CN" altLang="en-US" sz="2000" dirty="0"/>
                </a:p>
                <a:p>
                  <a:pPr algn="just" eaLnBrk="0" hangingPunct="0"/>
                  <a:endParaRPr lang="zh-CN" altLang="en-US" sz="4400" dirty="0"/>
                </a:p>
              </p:txBody>
            </p:sp>
            <p:sp>
              <p:nvSpPr>
                <p:cNvPr id="99" name="矩形 120994"/>
                <p:cNvSpPr/>
                <p:nvPr/>
              </p:nvSpPr>
              <p:spPr>
                <a:xfrm>
                  <a:off x="2432" y="403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59" name="组合 120995"/>
              <p:cNvGrpSpPr/>
              <p:nvPr/>
            </p:nvGrpSpPr>
            <p:grpSpPr>
              <a:xfrm>
                <a:off x="2950" y="4032"/>
                <a:ext cx="446" cy="480"/>
                <a:chOff x="2950" y="4032"/>
                <a:chExt cx="446" cy="480"/>
              </a:xfrm>
            </p:grpSpPr>
            <p:sp>
              <p:nvSpPr>
                <p:cNvPr id="96" name="矩形 120996"/>
                <p:cNvSpPr/>
                <p:nvPr/>
              </p:nvSpPr>
              <p:spPr>
                <a:xfrm>
                  <a:off x="2993" y="4032"/>
                  <a:ext cx="360" cy="480"/>
                </a:xfrm>
                <a:prstGeom prst="rect">
                  <a:avLst/>
                </a:prstGeom>
                <a:noFill/>
                <a:ln w="9525">
                  <a:noFill/>
                </a:ln>
              </p:spPr>
              <p:txBody>
                <a:bodyPr anchor="t"/>
                <a:lstStyle/>
                <a:p>
                  <a:pPr algn="just"/>
                  <a:r>
                    <a:rPr lang="en-US" altLang="zh-CN" sz="2000"/>
                    <a:t>8</a:t>
                  </a:r>
                  <a:endParaRPr lang="en-US" altLang="zh-CN" sz="2000"/>
                </a:p>
                <a:p>
                  <a:pPr algn="just" eaLnBrk="0" hangingPunct="0"/>
                  <a:endParaRPr lang="en-US" altLang="zh-CN" sz="4400" dirty="0"/>
                </a:p>
              </p:txBody>
            </p:sp>
            <p:sp>
              <p:nvSpPr>
                <p:cNvPr id="97" name="矩形 120997"/>
                <p:cNvSpPr/>
                <p:nvPr/>
              </p:nvSpPr>
              <p:spPr>
                <a:xfrm>
                  <a:off x="2950" y="403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0" name="组合 120998"/>
              <p:cNvGrpSpPr/>
              <p:nvPr/>
            </p:nvGrpSpPr>
            <p:grpSpPr>
              <a:xfrm>
                <a:off x="0" y="4512"/>
                <a:ext cx="374" cy="480"/>
                <a:chOff x="0" y="4512"/>
                <a:chExt cx="374" cy="480"/>
              </a:xfrm>
            </p:grpSpPr>
            <p:sp>
              <p:nvSpPr>
                <p:cNvPr id="94" name="矩形 120999"/>
                <p:cNvSpPr/>
                <p:nvPr/>
              </p:nvSpPr>
              <p:spPr>
                <a:xfrm>
                  <a:off x="43" y="4512"/>
                  <a:ext cx="288" cy="480"/>
                </a:xfrm>
                <a:prstGeom prst="rect">
                  <a:avLst/>
                </a:prstGeom>
                <a:noFill/>
                <a:ln w="9525">
                  <a:noFill/>
                </a:ln>
              </p:spPr>
              <p:txBody>
                <a:bodyPr anchor="t"/>
                <a:lstStyle/>
                <a:p>
                  <a:pPr algn="just"/>
                  <a:r>
                    <a:rPr lang="en-US" altLang="zh-CN" sz="2000"/>
                    <a:t>9</a:t>
                  </a:r>
                  <a:endParaRPr lang="en-US" altLang="zh-CN" sz="2000"/>
                </a:p>
                <a:p>
                  <a:pPr algn="just" eaLnBrk="0" hangingPunct="0"/>
                  <a:endParaRPr lang="en-US" altLang="zh-CN" sz="4400" dirty="0"/>
                </a:p>
              </p:txBody>
            </p:sp>
            <p:sp>
              <p:nvSpPr>
                <p:cNvPr id="95" name="矩形 121000"/>
                <p:cNvSpPr/>
                <p:nvPr/>
              </p:nvSpPr>
              <p:spPr>
                <a:xfrm>
                  <a:off x="0" y="451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1" name="组合 121001"/>
              <p:cNvGrpSpPr/>
              <p:nvPr/>
            </p:nvGrpSpPr>
            <p:grpSpPr>
              <a:xfrm>
                <a:off x="374" y="4512"/>
                <a:ext cx="819" cy="480"/>
                <a:chOff x="374" y="4512"/>
                <a:chExt cx="819" cy="480"/>
              </a:xfrm>
            </p:grpSpPr>
            <p:sp>
              <p:nvSpPr>
                <p:cNvPr id="92" name="矩形 121002"/>
                <p:cNvSpPr/>
                <p:nvPr/>
              </p:nvSpPr>
              <p:spPr>
                <a:xfrm>
                  <a:off x="417" y="4512"/>
                  <a:ext cx="733" cy="480"/>
                </a:xfrm>
                <a:prstGeom prst="rect">
                  <a:avLst/>
                </a:prstGeom>
                <a:noFill/>
                <a:ln w="9525">
                  <a:noFill/>
                </a:ln>
              </p:spPr>
              <p:txBody>
                <a:bodyPr anchor="t"/>
                <a:lstStyle/>
                <a:p>
                  <a:pPr algn="just"/>
                  <a:r>
                    <a:rPr lang="zh-CN" altLang="en-US" sz="2000" dirty="0"/>
                    <a:t>非机密数据</a:t>
                  </a:r>
                  <a:endParaRPr lang="zh-CN" altLang="en-US" sz="2000" dirty="0"/>
                </a:p>
                <a:p>
                  <a:pPr algn="just" eaLnBrk="0" hangingPunct="0"/>
                  <a:endParaRPr lang="zh-CN" altLang="en-US" sz="4400" dirty="0"/>
                </a:p>
              </p:txBody>
            </p:sp>
            <p:sp>
              <p:nvSpPr>
                <p:cNvPr id="93" name="矩形 121003"/>
                <p:cNvSpPr/>
                <p:nvPr/>
              </p:nvSpPr>
              <p:spPr>
                <a:xfrm>
                  <a:off x="374" y="451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2" name="组合 121004"/>
              <p:cNvGrpSpPr/>
              <p:nvPr/>
            </p:nvGrpSpPr>
            <p:grpSpPr>
              <a:xfrm>
                <a:off x="1193" y="4512"/>
                <a:ext cx="433" cy="480"/>
                <a:chOff x="1193" y="4512"/>
                <a:chExt cx="433" cy="480"/>
              </a:xfrm>
            </p:grpSpPr>
            <p:sp>
              <p:nvSpPr>
                <p:cNvPr id="90" name="矩形 121005"/>
                <p:cNvSpPr/>
                <p:nvPr/>
              </p:nvSpPr>
              <p:spPr>
                <a:xfrm>
                  <a:off x="1236" y="4512"/>
                  <a:ext cx="347" cy="480"/>
                </a:xfrm>
                <a:prstGeom prst="rect">
                  <a:avLst/>
                </a:prstGeom>
                <a:noFill/>
                <a:ln w="9525">
                  <a:noFill/>
                </a:ln>
              </p:spPr>
              <p:txBody>
                <a:bodyPr anchor="t"/>
                <a:lstStyle/>
                <a:p>
                  <a:pPr algn="just"/>
                  <a:r>
                    <a:rPr lang="en-US" altLang="zh-CN" sz="2000"/>
                    <a:t>4</a:t>
                  </a:r>
                  <a:endParaRPr lang="en-US" altLang="zh-CN" sz="2000"/>
                </a:p>
                <a:p>
                  <a:pPr algn="just" eaLnBrk="0" hangingPunct="0"/>
                  <a:endParaRPr lang="en-US" altLang="zh-CN" sz="4400" dirty="0"/>
                </a:p>
              </p:txBody>
            </p:sp>
            <p:sp>
              <p:nvSpPr>
                <p:cNvPr id="91" name="矩形 121006"/>
                <p:cNvSpPr/>
                <p:nvPr/>
              </p:nvSpPr>
              <p:spPr>
                <a:xfrm>
                  <a:off x="1193" y="451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3" name="组合 121007"/>
              <p:cNvGrpSpPr/>
              <p:nvPr/>
            </p:nvGrpSpPr>
            <p:grpSpPr>
              <a:xfrm>
                <a:off x="1626" y="4512"/>
                <a:ext cx="806" cy="480"/>
                <a:chOff x="1626" y="4512"/>
                <a:chExt cx="806" cy="480"/>
              </a:xfrm>
            </p:grpSpPr>
            <p:sp>
              <p:nvSpPr>
                <p:cNvPr id="88" name="矩形 121008"/>
                <p:cNvSpPr/>
                <p:nvPr/>
              </p:nvSpPr>
              <p:spPr>
                <a:xfrm>
                  <a:off x="1669" y="4512"/>
                  <a:ext cx="720" cy="480"/>
                </a:xfrm>
                <a:prstGeom prst="rect">
                  <a:avLst/>
                </a:prstGeom>
                <a:noFill/>
                <a:ln w="9525">
                  <a:noFill/>
                </a:ln>
              </p:spPr>
              <p:txBody>
                <a:bodyPr anchor="t"/>
                <a:lstStyle/>
                <a:p>
                  <a:pPr algn="just"/>
                  <a:r>
                    <a:rPr lang="zh-CN" altLang="en-US" sz="2000" dirty="0"/>
                    <a:t>所有职员</a:t>
                  </a:r>
                  <a:endParaRPr lang="zh-CN" altLang="en-US" sz="2000" dirty="0"/>
                </a:p>
                <a:p>
                  <a:pPr algn="just" eaLnBrk="0" hangingPunct="0"/>
                  <a:endParaRPr lang="zh-CN" altLang="en-US" sz="4400" dirty="0"/>
                </a:p>
              </p:txBody>
            </p:sp>
            <p:sp>
              <p:nvSpPr>
                <p:cNvPr id="89" name="矩形 121009"/>
                <p:cNvSpPr/>
                <p:nvPr/>
              </p:nvSpPr>
              <p:spPr>
                <a:xfrm>
                  <a:off x="1626" y="451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4" name="组合 121010"/>
              <p:cNvGrpSpPr/>
              <p:nvPr/>
            </p:nvGrpSpPr>
            <p:grpSpPr>
              <a:xfrm>
                <a:off x="2432" y="4512"/>
                <a:ext cx="518" cy="480"/>
                <a:chOff x="2432" y="4512"/>
                <a:chExt cx="518" cy="480"/>
              </a:xfrm>
            </p:grpSpPr>
            <p:sp>
              <p:nvSpPr>
                <p:cNvPr id="86" name="矩形 121011"/>
                <p:cNvSpPr/>
                <p:nvPr/>
              </p:nvSpPr>
              <p:spPr>
                <a:xfrm>
                  <a:off x="2475" y="4512"/>
                  <a:ext cx="432" cy="480"/>
                </a:xfrm>
                <a:prstGeom prst="rect">
                  <a:avLst/>
                </a:prstGeom>
                <a:noFill/>
                <a:ln w="9525">
                  <a:noFill/>
                </a:ln>
              </p:spPr>
              <p:txBody>
                <a:bodyPr anchor="t"/>
                <a:lstStyle/>
                <a:p>
                  <a:pPr algn="just"/>
                  <a:r>
                    <a:rPr lang="zh-CN" altLang="en-US" sz="2000" dirty="0"/>
                    <a:t>读，写</a:t>
                  </a:r>
                  <a:endParaRPr lang="zh-CN" altLang="en-US" sz="2000" dirty="0"/>
                </a:p>
                <a:p>
                  <a:pPr algn="just" eaLnBrk="0" hangingPunct="0"/>
                  <a:endParaRPr lang="zh-CN" altLang="en-US" sz="4400" dirty="0"/>
                </a:p>
              </p:txBody>
            </p:sp>
            <p:sp>
              <p:nvSpPr>
                <p:cNvPr id="87" name="矩形 121012"/>
                <p:cNvSpPr/>
                <p:nvPr/>
              </p:nvSpPr>
              <p:spPr>
                <a:xfrm>
                  <a:off x="2432" y="451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5" name="组合 121013"/>
              <p:cNvGrpSpPr/>
              <p:nvPr/>
            </p:nvGrpSpPr>
            <p:grpSpPr>
              <a:xfrm>
                <a:off x="2950" y="4512"/>
                <a:ext cx="446" cy="480"/>
                <a:chOff x="2950" y="4512"/>
                <a:chExt cx="446" cy="480"/>
              </a:xfrm>
            </p:grpSpPr>
            <p:sp>
              <p:nvSpPr>
                <p:cNvPr id="84" name="矩形 121014"/>
                <p:cNvSpPr/>
                <p:nvPr/>
              </p:nvSpPr>
              <p:spPr>
                <a:xfrm>
                  <a:off x="2993" y="4512"/>
                  <a:ext cx="360" cy="480"/>
                </a:xfrm>
                <a:prstGeom prst="rect">
                  <a:avLst/>
                </a:prstGeom>
                <a:noFill/>
                <a:ln w="9525">
                  <a:noFill/>
                </a:ln>
              </p:spPr>
              <p:txBody>
                <a:bodyPr anchor="t"/>
                <a:lstStyle/>
                <a:p>
                  <a:pPr algn="just"/>
                  <a:r>
                    <a:rPr lang="en-US" altLang="zh-CN" sz="2000"/>
                    <a:t>1</a:t>
                  </a:r>
                  <a:endParaRPr lang="en-US" altLang="zh-CN" sz="2000"/>
                </a:p>
                <a:p>
                  <a:pPr algn="just" eaLnBrk="0" hangingPunct="0"/>
                  <a:endParaRPr lang="en-US" altLang="zh-CN" sz="4400" dirty="0"/>
                </a:p>
              </p:txBody>
            </p:sp>
            <p:sp>
              <p:nvSpPr>
                <p:cNvPr id="85" name="矩形 121015"/>
                <p:cNvSpPr/>
                <p:nvPr/>
              </p:nvSpPr>
              <p:spPr>
                <a:xfrm>
                  <a:off x="2950" y="451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6" name="组合 121016"/>
              <p:cNvGrpSpPr/>
              <p:nvPr/>
            </p:nvGrpSpPr>
            <p:grpSpPr>
              <a:xfrm>
                <a:off x="0" y="4992"/>
                <a:ext cx="374" cy="480"/>
                <a:chOff x="0" y="4992"/>
                <a:chExt cx="374" cy="480"/>
              </a:xfrm>
            </p:grpSpPr>
            <p:sp>
              <p:nvSpPr>
                <p:cNvPr id="82" name="矩形 121017"/>
                <p:cNvSpPr/>
                <p:nvPr/>
              </p:nvSpPr>
              <p:spPr>
                <a:xfrm>
                  <a:off x="43" y="4992"/>
                  <a:ext cx="288" cy="480"/>
                </a:xfrm>
                <a:prstGeom prst="rect">
                  <a:avLst/>
                </a:prstGeom>
                <a:noFill/>
                <a:ln w="9525">
                  <a:noFill/>
                </a:ln>
              </p:spPr>
              <p:txBody>
                <a:bodyPr anchor="t"/>
                <a:lstStyle/>
                <a:p>
                  <a:pPr algn="just"/>
                  <a:r>
                    <a:rPr lang="en-US" altLang="zh-CN" sz="2000"/>
                    <a:t>10</a:t>
                  </a:r>
                  <a:endParaRPr lang="en-US" altLang="zh-CN" sz="2000"/>
                </a:p>
                <a:p>
                  <a:pPr algn="just" eaLnBrk="0" hangingPunct="0"/>
                  <a:endParaRPr lang="en-US" altLang="zh-CN" sz="4400" dirty="0"/>
                </a:p>
              </p:txBody>
            </p:sp>
            <p:sp>
              <p:nvSpPr>
                <p:cNvPr id="83" name="矩形 121018"/>
                <p:cNvSpPr/>
                <p:nvPr/>
              </p:nvSpPr>
              <p:spPr>
                <a:xfrm>
                  <a:off x="0" y="499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7" name="组合 121019"/>
              <p:cNvGrpSpPr/>
              <p:nvPr/>
            </p:nvGrpSpPr>
            <p:grpSpPr>
              <a:xfrm>
                <a:off x="374" y="4992"/>
                <a:ext cx="819" cy="480"/>
                <a:chOff x="374" y="4992"/>
                <a:chExt cx="819" cy="480"/>
              </a:xfrm>
            </p:grpSpPr>
            <p:sp>
              <p:nvSpPr>
                <p:cNvPr id="80" name="矩形 121020"/>
                <p:cNvSpPr/>
                <p:nvPr/>
              </p:nvSpPr>
              <p:spPr>
                <a:xfrm>
                  <a:off x="417" y="4992"/>
                  <a:ext cx="733" cy="480"/>
                </a:xfrm>
                <a:prstGeom prst="rect">
                  <a:avLst/>
                </a:prstGeom>
                <a:noFill/>
                <a:ln w="9525">
                  <a:noFill/>
                </a:ln>
              </p:spPr>
              <p:txBody>
                <a:bodyPr anchor="t"/>
                <a:lstStyle/>
                <a:p>
                  <a:pPr algn="just"/>
                  <a:r>
                    <a:rPr lang="zh-CN" altLang="en-US" sz="2000" dirty="0"/>
                    <a:t>服务信息</a:t>
                  </a:r>
                  <a:endParaRPr lang="zh-CN" altLang="en-US" sz="2000" dirty="0"/>
                </a:p>
                <a:p>
                  <a:pPr algn="just" eaLnBrk="0" hangingPunct="0"/>
                  <a:endParaRPr lang="zh-CN" altLang="en-US" sz="4400" dirty="0"/>
                </a:p>
              </p:txBody>
            </p:sp>
            <p:sp>
              <p:nvSpPr>
                <p:cNvPr id="81" name="矩形 121021"/>
                <p:cNvSpPr/>
                <p:nvPr/>
              </p:nvSpPr>
              <p:spPr>
                <a:xfrm>
                  <a:off x="374" y="4992"/>
                  <a:ext cx="819"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8" name="组合 121022"/>
              <p:cNvGrpSpPr/>
              <p:nvPr/>
            </p:nvGrpSpPr>
            <p:grpSpPr>
              <a:xfrm>
                <a:off x="1193" y="4992"/>
                <a:ext cx="433" cy="480"/>
                <a:chOff x="1193" y="4992"/>
                <a:chExt cx="433" cy="480"/>
              </a:xfrm>
            </p:grpSpPr>
            <p:sp>
              <p:nvSpPr>
                <p:cNvPr id="78" name="矩形 121023"/>
                <p:cNvSpPr/>
                <p:nvPr/>
              </p:nvSpPr>
              <p:spPr>
                <a:xfrm>
                  <a:off x="1236" y="4992"/>
                  <a:ext cx="347" cy="480"/>
                </a:xfrm>
                <a:prstGeom prst="rect">
                  <a:avLst/>
                </a:prstGeom>
                <a:noFill/>
                <a:ln w="9525">
                  <a:noFill/>
                </a:ln>
              </p:spPr>
              <p:txBody>
                <a:bodyPr anchor="t"/>
                <a:lstStyle/>
                <a:p>
                  <a:pPr algn="just"/>
                  <a:r>
                    <a:rPr lang="en-US" altLang="zh-CN" sz="2000"/>
                    <a:t>2</a:t>
                  </a:r>
                  <a:endParaRPr lang="en-US" altLang="zh-CN" sz="2000"/>
                </a:p>
                <a:p>
                  <a:pPr algn="just" eaLnBrk="0" hangingPunct="0"/>
                  <a:endParaRPr lang="en-US" altLang="zh-CN" sz="4400" dirty="0"/>
                </a:p>
              </p:txBody>
            </p:sp>
            <p:sp>
              <p:nvSpPr>
                <p:cNvPr id="79" name="矩形 121024"/>
                <p:cNvSpPr/>
                <p:nvPr/>
              </p:nvSpPr>
              <p:spPr>
                <a:xfrm>
                  <a:off x="1193" y="4992"/>
                  <a:ext cx="433"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69" name="组合 121025"/>
              <p:cNvGrpSpPr/>
              <p:nvPr/>
            </p:nvGrpSpPr>
            <p:grpSpPr>
              <a:xfrm>
                <a:off x="1626" y="4992"/>
                <a:ext cx="806" cy="480"/>
                <a:chOff x="1626" y="4992"/>
                <a:chExt cx="806" cy="480"/>
              </a:xfrm>
            </p:grpSpPr>
            <p:sp>
              <p:nvSpPr>
                <p:cNvPr id="76" name="矩形 121026"/>
                <p:cNvSpPr/>
                <p:nvPr/>
              </p:nvSpPr>
              <p:spPr>
                <a:xfrm>
                  <a:off x="1669" y="4992"/>
                  <a:ext cx="720" cy="480"/>
                </a:xfrm>
                <a:prstGeom prst="rect">
                  <a:avLst/>
                </a:prstGeom>
                <a:noFill/>
                <a:ln w="9525">
                  <a:noFill/>
                </a:ln>
              </p:spPr>
              <p:txBody>
                <a:bodyPr anchor="t"/>
                <a:lstStyle/>
                <a:p>
                  <a:pPr algn="just"/>
                  <a:r>
                    <a:rPr lang="zh-CN" altLang="en-US" sz="2000" dirty="0"/>
                    <a:t>因特网用户</a:t>
                  </a:r>
                  <a:endParaRPr lang="zh-CN" altLang="en-US" sz="2000" dirty="0"/>
                </a:p>
                <a:p>
                  <a:pPr algn="just" eaLnBrk="0" hangingPunct="0"/>
                  <a:endParaRPr lang="zh-CN" altLang="en-US" sz="4400" dirty="0"/>
                </a:p>
              </p:txBody>
            </p:sp>
            <p:sp>
              <p:nvSpPr>
                <p:cNvPr id="77" name="矩形 121027"/>
                <p:cNvSpPr/>
                <p:nvPr/>
              </p:nvSpPr>
              <p:spPr>
                <a:xfrm>
                  <a:off x="1626" y="4992"/>
                  <a:ext cx="80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70" name="组合 121028"/>
              <p:cNvGrpSpPr/>
              <p:nvPr/>
            </p:nvGrpSpPr>
            <p:grpSpPr>
              <a:xfrm>
                <a:off x="2432" y="4992"/>
                <a:ext cx="518" cy="480"/>
                <a:chOff x="2432" y="4992"/>
                <a:chExt cx="518" cy="480"/>
              </a:xfrm>
            </p:grpSpPr>
            <p:sp>
              <p:nvSpPr>
                <p:cNvPr id="74" name="矩形 121029"/>
                <p:cNvSpPr/>
                <p:nvPr/>
              </p:nvSpPr>
              <p:spPr>
                <a:xfrm>
                  <a:off x="2475" y="4992"/>
                  <a:ext cx="432" cy="480"/>
                </a:xfrm>
                <a:prstGeom prst="rect">
                  <a:avLst/>
                </a:prstGeom>
                <a:noFill/>
                <a:ln w="9525">
                  <a:noFill/>
                </a:ln>
              </p:spPr>
              <p:txBody>
                <a:bodyPr anchor="t"/>
                <a:lstStyle/>
                <a:p>
                  <a:pPr algn="just"/>
                  <a:r>
                    <a:rPr lang="zh-CN" altLang="en-US" sz="2000" dirty="0"/>
                    <a:t>读</a:t>
                  </a:r>
                  <a:endParaRPr lang="zh-CN" altLang="en-US" sz="2000" dirty="0"/>
                </a:p>
                <a:p>
                  <a:pPr algn="just" eaLnBrk="0" hangingPunct="0"/>
                  <a:endParaRPr lang="zh-CN" altLang="en-US" sz="4400" dirty="0"/>
                </a:p>
              </p:txBody>
            </p:sp>
            <p:sp>
              <p:nvSpPr>
                <p:cNvPr id="75" name="矩形 121030"/>
                <p:cNvSpPr/>
                <p:nvPr/>
              </p:nvSpPr>
              <p:spPr>
                <a:xfrm>
                  <a:off x="2432" y="4992"/>
                  <a:ext cx="518"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nvGrpSpPr>
              <p:cNvPr id="71" name="组合 121031"/>
              <p:cNvGrpSpPr/>
              <p:nvPr/>
            </p:nvGrpSpPr>
            <p:grpSpPr>
              <a:xfrm>
                <a:off x="2950" y="4992"/>
                <a:ext cx="446" cy="480"/>
                <a:chOff x="2950" y="4992"/>
                <a:chExt cx="446" cy="480"/>
              </a:xfrm>
            </p:grpSpPr>
            <p:sp>
              <p:nvSpPr>
                <p:cNvPr id="72" name="矩形 121032"/>
                <p:cNvSpPr/>
                <p:nvPr/>
              </p:nvSpPr>
              <p:spPr>
                <a:xfrm>
                  <a:off x="2993" y="4992"/>
                  <a:ext cx="360" cy="480"/>
                </a:xfrm>
                <a:prstGeom prst="rect">
                  <a:avLst/>
                </a:prstGeom>
                <a:noFill/>
                <a:ln w="9525">
                  <a:noFill/>
                </a:ln>
              </p:spPr>
              <p:txBody>
                <a:bodyPr anchor="t"/>
                <a:lstStyle/>
                <a:p>
                  <a:pPr algn="just"/>
                  <a:r>
                    <a:rPr lang="en-US" altLang="zh-CN" sz="2000"/>
                    <a:t>3</a:t>
                  </a:r>
                  <a:endParaRPr lang="en-US" altLang="zh-CN" sz="2000"/>
                </a:p>
                <a:p>
                  <a:pPr algn="just" eaLnBrk="0" hangingPunct="0"/>
                  <a:endParaRPr lang="en-US" altLang="zh-CN" sz="4400" dirty="0"/>
                </a:p>
              </p:txBody>
            </p:sp>
            <p:sp>
              <p:nvSpPr>
                <p:cNvPr id="73" name="矩形 121033"/>
                <p:cNvSpPr/>
                <p:nvPr/>
              </p:nvSpPr>
              <p:spPr>
                <a:xfrm>
                  <a:off x="2950" y="4992"/>
                  <a:ext cx="446"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sz="4400"/>
                </a:p>
              </p:txBody>
            </p:sp>
          </p:grpSp>
        </p:grpSp>
        <p:sp>
          <p:nvSpPr>
            <p:cNvPr id="5" name="矩形 121034"/>
            <p:cNvSpPr/>
            <p:nvPr/>
          </p:nvSpPr>
          <p:spPr>
            <a:xfrm>
              <a:off x="-3" y="-3"/>
              <a:ext cx="3402" cy="5478"/>
            </a:xfrm>
            <a:prstGeom prst="rect">
              <a:avLst/>
            </a:prstGeom>
            <a:noFill/>
            <a:ln w="9525" cap="flat" cmpd="sng">
              <a:solidFill>
                <a:srgbClr val="A0A0A0"/>
              </a:solidFill>
              <a:prstDash val="solid"/>
              <a:miter/>
              <a:headEnd type="none" w="med" len="med"/>
              <a:tailEnd type="none" w="med" len="med"/>
            </a:ln>
          </p:spPr>
          <p:txBody>
            <a:bodyPr anchor="t"/>
            <a:lstStyle/>
            <a:p>
              <a:endParaRPr lang="zh-CN" altLang="en-US" sz="44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1857"/>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121858"/>
          <p:cNvSpPr txBox="1"/>
          <p:nvPr/>
        </p:nvSpPr>
        <p:spPr>
          <a:xfrm>
            <a:off x="985652" y="1545383"/>
            <a:ext cx="10046525" cy="365601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t>           </a:t>
            </a:r>
            <a:r>
              <a:rPr lang="zh-CN" altLang="en-US" dirty="0" smtClean="0"/>
              <a:t>在确定了受保护对象之后，接下来的任务就是要确定每个对象可能受到的威胁，及其发生的频率。完成这个阶段的任务需要借助经验和历史资料，如果缺少经验，需要向信息安全专家咨询。历史资料包括系统中的数据库审计日志和各主机操作系统的审计日志，也包括其他公司同类系统受攻击的历史资料。 </a:t>
            </a:r>
            <a:endParaRPr lang="zh-CN" altLang="en-US" dirty="0"/>
          </a:p>
        </p:txBody>
      </p:sp>
      <p:grpSp>
        <p:nvGrpSpPr>
          <p:cNvPr id="4" name="组合 3"/>
          <p:cNvGrpSpPr/>
          <p:nvPr/>
        </p:nvGrpSpPr>
        <p:grpSpPr>
          <a:xfrm>
            <a:off x="1151905" y="396948"/>
            <a:ext cx="3478567" cy="791052"/>
            <a:chOff x="824072" y="1564267"/>
            <a:chExt cx="3478567" cy="791052"/>
          </a:xfrm>
        </p:grpSpPr>
        <p:sp>
          <p:nvSpPr>
            <p:cNvPr id="5" name="矩形: 圆角 16"/>
            <p:cNvSpPr/>
            <p:nvPr/>
          </p:nvSpPr>
          <p:spPr>
            <a:xfrm>
              <a:off x="824072" y="1740416"/>
              <a:ext cx="347856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419252" cy="523220"/>
            </a:xfrm>
            <a:prstGeom prst="rect">
              <a:avLst/>
            </a:prstGeom>
          </p:spPr>
          <p:txBody>
            <a:bodyPr wrap="none">
              <a:spAutoFit/>
            </a:bodyPr>
            <a:lstStyle/>
            <a:p>
              <a:pPr fontAlgn="base"/>
              <a:r>
                <a:rPr lang="zh-CN" altLang="en-US" sz="2800" noProof="1">
                  <a:solidFill>
                    <a:schemeClr val="bg1"/>
                  </a:solidFill>
                  <a:latin typeface="+mj-ea"/>
                </a:rPr>
                <a:t>二、确定威胁 </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2881"/>
          <p:cNvSpPr txBox="1"/>
          <p:nvPr/>
        </p:nvSpPr>
        <p:spPr>
          <a:xfrm>
            <a:off x="3895479" y="5408614"/>
            <a:ext cx="5085009" cy="6858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2400" dirty="0" smtClean="0">
                <a:latin typeface="宋体" panose="02010600030101010101" pitchFamily="2" charset="-122"/>
              </a:rPr>
              <a:t>图</a:t>
            </a:r>
            <a:r>
              <a:rPr lang="en-US" altLang="zh-CN" sz="2400" dirty="0" smtClean="0">
                <a:latin typeface="宋体" panose="02010600030101010101" pitchFamily="2" charset="-122"/>
              </a:rPr>
              <a:t>3-3  </a:t>
            </a:r>
            <a:r>
              <a:rPr lang="zh-CN" altLang="en-US" sz="2400" dirty="0" smtClean="0">
                <a:latin typeface="宋体" panose="02010600030101010101" pitchFamily="2" charset="-122"/>
              </a:rPr>
              <a:t>某公司网络结构示意图</a:t>
            </a:r>
            <a:endParaRPr lang="zh-CN" altLang="en-US" sz="2400" dirty="0">
              <a:latin typeface="宋体" panose="02010600030101010101" pitchFamily="2" charset="-122"/>
            </a:endParaRPr>
          </a:p>
        </p:txBody>
      </p:sp>
      <p:sp>
        <p:nvSpPr>
          <p:cNvPr id="3" name="文本框 122882"/>
          <p:cNvSpPr txBox="1"/>
          <p:nvPr/>
        </p:nvSpPr>
        <p:spPr>
          <a:xfrm>
            <a:off x="2438401" y="1052514"/>
            <a:ext cx="1154113" cy="650875"/>
          </a:xfrm>
          <a:prstGeom prst="rect">
            <a:avLst/>
          </a:prstGeom>
          <a:noFill/>
          <a:ln w="9525">
            <a:noFill/>
          </a:ln>
        </p:spPr>
        <p:txBody>
          <a:bodyPr anchor="t"/>
          <a:lstStyle/>
          <a:p>
            <a:pPr algn="just" eaLnBrk="0" hangingPunct="0"/>
            <a:r>
              <a:rPr lang="zh-CN" altLang="en-US" dirty="0">
                <a:latin typeface="Times New Roman" panose="02020603050405020304" pitchFamily="18" charset="0"/>
                <a:ea typeface="宋体" panose="02010600030101010101" pitchFamily="2" charset="-122"/>
              </a:rPr>
              <a:t>数据库</a:t>
            </a:r>
            <a:endParaRPr lang="zh-CN" altLang="en-US" dirty="0">
              <a:latin typeface="Times New Roman" panose="02020603050405020304" pitchFamily="18" charset="0"/>
              <a:ea typeface="宋体" panose="02010600030101010101" pitchFamily="2" charset="-122"/>
            </a:endParaRPr>
          </a:p>
        </p:txBody>
      </p:sp>
      <p:sp>
        <p:nvSpPr>
          <p:cNvPr id="4" name="文本框 122883"/>
          <p:cNvSpPr txBox="1"/>
          <p:nvPr/>
        </p:nvSpPr>
        <p:spPr>
          <a:xfrm>
            <a:off x="5715000" y="1509714"/>
            <a:ext cx="1155700" cy="650875"/>
          </a:xfrm>
          <a:prstGeom prst="rect">
            <a:avLst/>
          </a:prstGeom>
          <a:noFill/>
          <a:ln w="9525">
            <a:noFill/>
          </a:ln>
        </p:spPr>
        <p:txBody>
          <a:bodyPr anchor="t"/>
          <a:lstStyle/>
          <a:p>
            <a:pPr algn="just" eaLnBrk="0" hangingPunct="0"/>
            <a:r>
              <a:rPr lang="zh-CN" altLang="en-US" dirty="0">
                <a:latin typeface="Times New Roman" panose="02020603050405020304" pitchFamily="18" charset="0"/>
                <a:ea typeface="宋体" panose="02010600030101010101" pitchFamily="2" charset="-122"/>
              </a:rPr>
              <a:t>路由器</a:t>
            </a:r>
            <a:endParaRPr lang="zh-CN" altLang="en-US" dirty="0">
              <a:latin typeface="Times New Roman" panose="02020603050405020304" pitchFamily="18" charset="0"/>
              <a:ea typeface="宋体" panose="02010600030101010101" pitchFamily="2" charset="-122"/>
            </a:endParaRPr>
          </a:p>
        </p:txBody>
      </p:sp>
      <p:sp>
        <p:nvSpPr>
          <p:cNvPr id="5" name="文本框 122884"/>
          <p:cNvSpPr txBox="1"/>
          <p:nvPr/>
        </p:nvSpPr>
        <p:spPr>
          <a:xfrm>
            <a:off x="5708651" y="4092576"/>
            <a:ext cx="962025" cy="652463"/>
          </a:xfrm>
          <a:prstGeom prst="rect">
            <a:avLst/>
          </a:prstGeom>
          <a:noFill/>
          <a:ln w="9525">
            <a:noFill/>
          </a:ln>
        </p:spPr>
        <p:txBody>
          <a:bodyPr anchor="t"/>
          <a:lstStyle/>
          <a:p>
            <a:pPr algn="just" eaLnBrk="0" hangingPunct="0"/>
            <a:r>
              <a:rPr lang="zh-CN" altLang="en-US" dirty="0">
                <a:latin typeface="Times New Roman" panose="02020603050405020304" pitchFamily="18" charset="0"/>
                <a:ea typeface="宋体" panose="02010600030101010101" pitchFamily="2" charset="-122"/>
              </a:rPr>
              <a:t>网站</a:t>
            </a:r>
            <a:endParaRPr lang="zh-CN" altLang="en-US" dirty="0">
              <a:latin typeface="Times New Roman" panose="02020603050405020304" pitchFamily="18" charset="0"/>
              <a:ea typeface="宋体" panose="02010600030101010101" pitchFamily="2" charset="-122"/>
            </a:endParaRPr>
          </a:p>
        </p:txBody>
      </p:sp>
      <p:sp>
        <p:nvSpPr>
          <p:cNvPr id="6" name="直接连接符 122885"/>
          <p:cNvSpPr/>
          <p:nvPr/>
        </p:nvSpPr>
        <p:spPr>
          <a:xfrm>
            <a:off x="5516563" y="1270001"/>
            <a:ext cx="0" cy="3040063"/>
          </a:xfrm>
          <a:prstGeom prst="line">
            <a:avLst/>
          </a:prstGeom>
          <a:ln w="28575" cap="flat" cmpd="sng">
            <a:solidFill>
              <a:schemeClr val="tx1"/>
            </a:solidFill>
            <a:prstDash val="solid"/>
            <a:round/>
            <a:headEnd type="none" w="med" len="med"/>
            <a:tailEnd type="none" w="med" len="med"/>
          </a:ln>
        </p:spPr>
      </p:sp>
      <p:sp>
        <p:nvSpPr>
          <p:cNvPr id="7" name="直接连接符 122886"/>
          <p:cNvSpPr/>
          <p:nvPr/>
        </p:nvSpPr>
        <p:spPr>
          <a:xfrm>
            <a:off x="3978275" y="1270001"/>
            <a:ext cx="0" cy="3040063"/>
          </a:xfrm>
          <a:prstGeom prst="line">
            <a:avLst/>
          </a:prstGeom>
          <a:ln w="28575" cap="flat" cmpd="sng">
            <a:solidFill>
              <a:schemeClr val="tx1"/>
            </a:solidFill>
            <a:prstDash val="solid"/>
            <a:round/>
            <a:headEnd type="none" w="med" len="med"/>
            <a:tailEnd type="none" w="med" len="med"/>
          </a:ln>
        </p:spPr>
      </p:sp>
      <p:sp>
        <p:nvSpPr>
          <p:cNvPr id="8" name="椭圆 122887"/>
          <p:cNvSpPr/>
          <p:nvPr/>
        </p:nvSpPr>
        <p:spPr>
          <a:xfrm>
            <a:off x="5902326" y="1920876"/>
            <a:ext cx="576263" cy="868363"/>
          </a:xfrm>
          <a:prstGeom prst="ellipse">
            <a:avLst/>
          </a:prstGeom>
          <a:solidFill>
            <a:schemeClr val="accent1"/>
          </a:solidFill>
          <a:ln w="9525"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9" name="云形标注 122888"/>
          <p:cNvSpPr/>
          <p:nvPr/>
        </p:nvSpPr>
        <p:spPr>
          <a:xfrm>
            <a:off x="6864350" y="1873250"/>
            <a:ext cx="1538288" cy="1085850"/>
          </a:xfrm>
          <a:prstGeom prst="cloudCallout">
            <a:avLst>
              <a:gd name="adj1" fmla="val -36171"/>
              <a:gd name="adj2" fmla="val 39329"/>
            </a:avLst>
          </a:prstGeom>
          <a:solidFill>
            <a:schemeClr val="accent1"/>
          </a:solidFill>
          <a:ln w="9525" cap="flat" cmpd="sng">
            <a:solidFill>
              <a:schemeClr val="tx1"/>
            </a:solidFill>
            <a:prstDash val="solid"/>
            <a:round/>
            <a:headEnd type="none" w="med" len="med"/>
            <a:tailEnd type="none" w="med" len="med"/>
          </a:ln>
        </p:spPr>
        <p:txBody>
          <a:bodyPr anchor="t"/>
          <a:lstStyle/>
          <a:p>
            <a:pPr algn="just" eaLnBrk="0" hangingPunct="0"/>
            <a:r>
              <a:rPr lang="zh-CN" altLang="en-US" sz="2000" dirty="0">
                <a:solidFill>
                  <a:schemeClr val="bg2"/>
                </a:solidFill>
                <a:latin typeface="Times New Roman" panose="02020603050405020304" pitchFamily="18" charset="0"/>
                <a:ea typeface="宋体" panose="02010600030101010101" pitchFamily="2" charset="-122"/>
              </a:rPr>
              <a:t>因特网</a:t>
            </a:r>
            <a:endParaRPr lang="zh-CN" altLang="en-US" sz="2000" dirty="0">
              <a:solidFill>
                <a:schemeClr val="bg2"/>
              </a:solidFill>
              <a:latin typeface="Times New Roman" panose="02020603050405020304" pitchFamily="18" charset="0"/>
              <a:ea typeface="宋体" panose="02010600030101010101" pitchFamily="2" charset="-122"/>
            </a:endParaRPr>
          </a:p>
        </p:txBody>
      </p:sp>
      <p:sp>
        <p:nvSpPr>
          <p:cNvPr id="10" name="流程图: 磁盘 122889"/>
          <p:cNvSpPr/>
          <p:nvPr/>
        </p:nvSpPr>
        <p:spPr>
          <a:xfrm>
            <a:off x="2438400" y="1487488"/>
            <a:ext cx="769938" cy="868362"/>
          </a:xfrm>
          <a:prstGeom prst="flowChartMagneticDisk">
            <a:avLst/>
          </a:prstGeom>
          <a:solidFill>
            <a:schemeClr val="accent1"/>
          </a:solidFill>
          <a:ln w="9525"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1" name="流程图: 磁盘 122890"/>
          <p:cNvSpPr/>
          <p:nvPr/>
        </p:nvSpPr>
        <p:spPr>
          <a:xfrm>
            <a:off x="5708650" y="3224213"/>
            <a:ext cx="844550" cy="868362"/>
          </a:xfrm>
          <a:prstGeom prst="flowChartMagneticDisk">
            <a:avLst/>
          </a:prstGeom>
          <a:solidFill>
            <a:schemeClr val="accent1"/>
          </a:solidFill>
          <a:ln w="9525"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2" name="矩形 122891"/>
          <p:cNvSpPr/>
          <p:nvPr/>
        </p:nvSpPr>
        <p:spPr>
          <a:xfrm>
            <a:off x="2822575" y="3441701"/>
            <a:ext cx="577850" cy="650875"/>
          </a:xfrm>
          <a:prstGeom prst="rect">
            <a:avLst/>
          </a:prstGeom>
          <a:solidFill>
            <a:schemeClr val="accent1"/>
          </a:solidFill>
          <a:ln w="9525"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3" name="矩形 122892"/>
          <p:cNvSpPr/>
          <p:nvPr/>
        </p:nvSpPr>
        <p:spPr>
          <a:xfrm>
            <a:off x="9172575" y="1222376"/>
            <a:ext cx="577850" cy="650875"/>
          </a:xfrm>
          <a:prstGeom prst="rect">
            <a:avLst/>
          </a:prstGeom>
          <a:solidFill>
            <a:schemeClr val="accent1"/>
          </a:solidFill>
          <a:ln w="9525"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4" name="矩形 122893"/>
          <p:cNvSpPr/>
          <p:nvPr/>
        </p:nvSpPr>
        <p:spPr>
          <a:xfrm>
            <a:off x="8980488" y="2743201"/>
            <a:ext cx="576262" cy="650875"/>
          </a:xfrm>
          <a:prstGeom prst="rect">
            <a:avLst/>
          </a:prstGeom>
          <a:solidFill>
            <a:schemeClr val="accent1"/>
          </a:solidFill>
          <a:ln w="9525"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15" name="直接连接符 122894"/>
          <p:cNvSpPr/>
          <p:nvPr/>
        </p:nvSpPr>
        <p:spPr>
          <a:xfrm flipV="1">
            <a:off x="8210551" y="1657351"/>
            <a:ext cx="962025" cy="263525"/>
          </a:xfrm>
          <a:prstGeom prst="line">
            <a:avLst/>
          </a:prstGeom>
          <a:ln w="9525" cap="flat" cmpd="sng">
            <a:solidFill>
              <a:schemeClr val="tx1"/>
            </a:solidFill>
            <a:prstDash val="solid"/>
            <a:round/>
            <a:headEnd type="none" w="med" len="med"/>
            <a:tailEnd type="none" w="med" len="med"/>
          </a:ln>
        </p:spPr>
      </p:sp>
      <p:sp>
        <p:nvSpPr>
          <p:cNvPr id="16" name="直接连接符 122895"/>
          <p:cNvSpPr/>
          <p:nvPr/>
        </p:nvSpPr>
        <p:spPr>
          <a:xfrm>
            <a:off x="8210550" y="2525714"/>
            <a:ext cx="769938" cy="433387"/>
          </a:xfrm>
          <a:prstGeom prst="line">
            <a:avLst/>
          </a:prstGeom>
          <a:ln w="9525" cap="flat" cmpd="sng">
            <a:solidFill>
              <a:schemeClr val="tx1"/>
            </a:solidFill>
            <a:prstDash val="solid"/>
            <a:round/>
            <a:headEnd type="none" w="med" len="med"/>
            <a:tailEnd type="none" w="med" len="med"/>
          </a:ln>
        </p:spPr>
      </p:sp>
      <p:sp>
        <p:nvSpPr>
          <p:cNvPr id="17" name="直接连接符 122896"/>
          <p:cNvSpPr/>
          <p:nvPr/>
        </p:nvSpPr>
        <p:spPr>
          <a:xfrm flipH="1">
            <a:off x="6478588" y="2308225"/>
            <a:ext cx="385762" cy="0"/>
          </a:xfrm>
          <a:prstGeom prst="line">
            <a:avLst/>
          </a:prstGeom>
          <a:ln w="9525" cap="flat" cmpd="sng">
            <a:solidFill>
              <a:schemeClr val="tx1"/>
            </a:solidFill>
            <a:prstDash val="solid"/>
            <a:round/>
            <a:headEnd type="none" w="med" len="med"/>
            <a:tailEnd type="none" w="med" len="med"/>
          </a:ln>
        </p:spPr>
      </p:sp>
      <p:sp>
        <p:nvSpPr>
          <p:cNvPr id="18" name="直接连接符 122897"/>
          <p:cNvSpPr/>
          <p:nvPr/>
        </p:nvSpPr>
        <p:spPr>
          <a:xfrm>
            <a:off x="5516564" y="3659188"/>
            <a:ext cx="192087" cy="0"/>
          </a:xfrm>
          <a:prstGeom prst="line">
            <a:avLst/>
          </a:prstGeom>
          <a:ln w="9525" cap="flat" cmpd="sng">
            <a:solidFill>
              <a:schemeClr val="tx1"/>
            </a:solidFill>
            <a:prstDash val="solid"/>
            <a:round/>
            <a:headEnd type="none" w="med" len="med"/>
            <a:tailEnd type="none" w="med" len="med"/>
          </a:ln>
        </p:spPr>
      </p:sp>
      <p:sp>
        <p:nvSpPr>
          <p:cNvPr id="19" name="直接连接符 122898"/>
          <p:cNvSpPr/>
          <p:nvPr/>
        </p:nvSpPr>
        <p:spPr>
          <a:xfrm>
            <a:off x="4940301" y="2573338"/>
            <a:ext cx="576263" cy="0"/>
          </a:xfrm>
          <a:prstGeom prst="line">
            <a:avLst/>
          </a:prstGeom>
          <a:ln w="9525" cap="flat" cmpd="sng">
            <a:solidFill>
              <a:schemeClr val="tx1"/>
            </a:solidFill>
            <a:prstDash val="solid"/>
            <a:round/>
            <a:headEnd type="none" w="med" len="med"/>
            <a:tailEnd type="none" w="med" len="med"/>
          </a:ln>
        </p:spPr>
      </p:sp>
      <p:sp>
        <p:nvSpPr>
          <p:cNvPr id="20" name="文本框 122899"/>
          <p:cNvSpPr txBox="1"/>
          <p:nvPr/>
        </p:nvSpPr>
        <p:spPr>
          <a:xfrm>
            <a:off x="4554538" y="1920875"/>
            <a:ext cx="577850" cy="1303338"/>
          </a:xfrm>
          <a:prstGeom prst="rect">
            <a:avLst/>
          </a:prstGeom>
          <a:solidFill>
            <a:schemeClr val="accent1"/>
          </a:solidFill>
          <a:ln w="9525" cap="flat" cmpd="sng">
            <a:solidFill>
              <a:schemeClr val="tx1"/>
            </a:solidFill>
            <a:prstDash val="solid"/>
            <a:miter/>
            <a:headEnd type="none" w="med" len="med"/>
            <a:tailEnd type="none" w="med" len="med"/>
          </a:ln>
        </p:spPr>
        <p:txBody>
          <a:bodyPr vert="eaVert" anchor="t"/>
          <a:lstStyle/>
          <a:p>
            <a:pPr algn="just" eaLnBrk="0" hangingPunct="0"/>
            <a:r>
              <a:rPr lang="zh-CN" altLang="en-US" dirty="0">
                <a:solidFill>
                  <a:schemeClr val="bg2"/>
                </a:solidFill>
                <a:latin typeface="Times New Roman" panose="02020603050405020304" pitchFamily="18" charset="0"/>
                <a:ea typeface="宋体" panose="02010600030101010101" pitchFamily="2" charset="-122"/>
              </a:rPr>
              <a:t>防火墙</a:t>
            </a:r>
            <a:endParaRPr lang="zh-CN" altLang="en-US" dirty="0">
              <a:solidFill>
                <a:schemeClr val="bg2"/>
              </a:solidFill>
              <a:latin typeface="Times New Roman" panose="02020603050405020304" pitchFamily="18" charset="0"/>
              <a:ea typeface="宋体" panose="02010600030101010101" pitchFamily="2" charset="-122"/>
            </a:endParaRPr>
          </a:p>
        </p:txBody>
      </p:sp>
      <p:sp>
        <p:nvSpPr>
          <p:cNvPr id="21" name="直接连接符 122900"/>
          <p:cNvSpPr/>
          <p:nvPr/>
        </p:nvSpPr>
        <p:spPr>
          <a:xfrm>
            <a:off x="3208339" y="1920875"/>
            <a:ext cx="769937" cy="0"/>
          </a:xfrm>
          <a:prstGeom prst="line">
            <a:avLst/>
          </a:prstGeom>
          <a:ln w="9525" cap="flat" cmpd="sng">
            <a:solidFill>
              <a:schemeClr val="tx1"/>
            </a:solidFill>
            <a:prstDash val="solid"/>
            <a:round/>
            <a:headEnd type="none" w="med" len="med"/>
            <a:tailEnd type="none" w="med" len="med"/>
          </a:ln>
        </p:spPr>
      </p:sp>
      <p:sp>
        <p:nvSpPr>
          <p:cNvPr id="22" name="直接连接符 122901"/>
          <p:cNvSpPr/>
          <p:nvPr/>
        </p:nvSpPr>
        <p:spPr>
          <a:xfrm>
            <a:off x="3400425" y="3875088"/>
            <a:ext cx="577850" cy="0"/>
          </a:xfrm>
          <a:prstGeom prst="line">
            <a:avLst/>
          </a:prstGeom>
          <a:ln w="9525" cap="flat" cmpd="sng">
            <a:solidFill>
              <a:schemeClr val="tx1"/>
            </a:solidFill>
            <a:prstDash val="solid"/>
            <a:round/>
            <a:headEnd type="none" w="med" len="med"/>
            <a:tailEnd type="none" w="med" len="med"/>
          </a:ln>
        </p:spPr>
      </p:sp>
      <p:sp>
        <p:nvSpPr>
          <p:cNvPr id="23" name="直接连接符 122902"/>
          <p:cNvSpPr/>
          <p:nvPr/>
        </p:nvSpPr>
        <p:spPr>
          <a:xfrm>
            <a:off x="5516563" y="2355850"/>
            <a:ext cx="385762" cy="0"/>
          </a:xfrm>
          <a:prstGeom prst="line">
            <a:avLst/>
          </a:prstGeom>
          <a:ln w="9525" cap="flat" cmpd="sng">
            <a:solidFill>
              <a:schemeClr val="tx1"/>
            </a:solidFill>
            <a:prstDash val="solid"/>
            <a:round/>
            <a:headEnd type="none" w="med" len="med"/>
            <a:tailEnd type="none" w="med" len="med"/>
          </a:ln>
        </p:spPr>
      </p:sp>
      <p:sp>
        <p:nvSpPr>
          <p:cNvPr id="24" name="直接连接符 122903"/>
          <p:cNvSpPr/>
          <p:nvPr/>
        </p:nvSpPr>
        <p:spPr>
          <a:xfrm>
            <a:off x="3978276" y="2573338"/>
            <a:ext cx="576263" cy="0"/>
          </a:xfrm>
          <a:prstGeom prst="line">
            <a:avLst/>
          </a:prstGeom>
          <a:ln w="9525" cap="flat" cmpd="sng">
            <a:solidFill>
              <a:schemeClr val="tx1"/>
            </a:solidFill>
            <a:prstDash val="solid"/>
            <a:round/>
            <a:headEnd type="none" w="med" len="med"/>
            <a:tailEnd type="none" w="med" len="med"/>
          </a:ln>
        </p:spPr>
      </p:sp>
      <p:sp>
        <p:nvSpPr>
          <p:cNvPr id="25" name="文本框 122904"/>
          <p:cNvSpPr txBox="1"/>
          <p:nvPr/>
        </p:nvSpPr>
        <p:spPr>
          <a:xfrm>
            <a:off x="8788400" y="1873251"/>
            <a:ext cx="1346200" cy="652463"/>
          </a:xfrm>
          <a:prstGeom prst="rect">
            <a:avLst/>
          </a:prstGeom>
          <a:noFill/>
          <a:ln w="9525">
            <a:noFill/>
          </a:ln>
        </p:spPr>
        <p:txBody>
          <a:bodyPr anchor="t"/>
          <a:lstStyle/>
          <a:p>
            <a:pPr algn="just" eaLnBrk="0" hangingPunct="0"/>
            <a:r>
              <a:rPr lang="zh-CN" altLang="en-US" sz="2000" dirty="0">
                <a:latin typeface="Times New Roman" panose="02020603050405020304" pitchFamily="18" charset="0"/>
                <a:ea typeface="宋体" panose="02010600030101010101" pitchFamily="2" charset="-122"/>
              </a:rPr>
              <a:t>远程站点</a:t>
            </a:r>
            <a:endParaRPr lang="zh-CN" altLang="en-US" sz="2000" dirty="0">
              <a:latin typeface="Times New Roman" panose="02020603050405020304" pitchFamily="18" charset="0"/>
              <a:ea typeface="宋体" panose="02010600030101010101" pitchFamily="2" charset="-122"/>
            </a:endParaRPr>
          </a:p>
        </p:txBody>
      </p:sp>
      <p:grpSp>
        <p:nvGrpSpPr>
          <p:cNvPr id="26" name="组合 122905"/>
          <p:cNvGrpSpPr/>
          <p:nvPr/>
        </p:nvGrpSpPr>
        <p:grpSpPr>
          <a:xfrm>
            <a:off x="3208339" y="4527551"/>
            <a:ext cx="769937" cy="868363"/>
            <a:chOff x="6840" y="13608"/>
            <a:chExt cx="720" cy="624"/>
          </a:xfrm>
        </p:grpSpPr>
        <p:sp>
          <p:nvSpPr>
            <p:cNvPr id="27" name="任意多边形 122906"/>
            <p:cNvSpPr/>
            <p:nvPr/>
          </p:nvSpPr>
          <p:spPr>
            <a:xfrm>
              <a:off x="6840" y="13608"/>
              <a:ext cx="720" cy="624"/>
            </a:xfrm>
            <a:custGeom>
              <a:avLst/>
              <a:gdLst/>
              <a:ahLst/>
              <a:cxnLst>
                <a:cxn ang="270">
                  <a:pos x="10800" y="0"/>
                </a:cxn>
                <a:cxn ang="180">
                  <a:pos x="2700" y="10800"/>
                </a:cxn>
                <a:cxn ang="270">
                  <a:pos x="10800" y="5400"/>
                </a:cxn>
                <a:cxn ang="0">
                  <a:pos x="18900" y="10800"/>
                </a:cxn>
              </a:cxnLst>
              <a:rect l="0" t="0" r="0" b="0"/>
              <a:pathLst>
                <a:path w="21600" h="21600">
                  <a:moveTo>
                    <a:pt x="5400" y="10800"/>
                  </a:moveTo>
                  <a:cubicBezTo>
                    <a:pt x="5400" y="7818"/>
                    <a:pt x="7818" y="5400"/>
                    <a:pt x="10800" y="5400"/>
                  </a:cubicBezTo>
                  <a:cubicBezTo>
                    <a:pt x="13782" y="5400"/>
                    <a:pt x="16200" y="7818"/>
                    <a:pt x="16200" y="10800"/>
                  </a:cubicBezTo>
                  <a:lnTo>
                    <a:pt x="21600" y="10800"/>
                  </a:lnTo>
                  <a:cubicBezTo>
                    <a:pt x="21600" y="4835"/>
                    <a:pt x="16765" y="0"/>
                    <a:pt x="10800" y="0"/>
                  </a:cubicBezTo>
                  <a:cubicBezTo>
                    <a:pt x="4835" y="0"/>
                    <a:pt x="0" y="4835"/>
                    <a:pt x="0" y="10800"/>
                  </a:cubicBezTo>
                  <a:close/>
                </a:path>
              </a:pathLst>
            </a:cu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28" name="等腰三角形 122907"/>
            <p:cNvSpPr/>
            <p:nvPr/>
          </p:nvSpPr>
          <p:spPr>
            <a:xfrm>
              <a:off x="7020" y="13764"/>
              <a:ext cx="360" cy="312"/>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18" charset="0"/>
                <a:ea typeface="宋体" panose="02010600030101010101" pitchFamily="2" charset="-122"/>
              </a:endParaRPr>
            </a:p>
          </p:txBody>
        </p:sp>
      </p:grpSp>
      <p:sp>
        <p:nvSpPr>
          <p:cNvPr id="29" name="直接连接符 122908"/>
          <p:cNvSpPr/>
          <p:nvPr/>
        </p:nvSpPr>
        <p:spPr>
          <a:xfrm>
            <a:off x="3208339" y="4092576"/>
            <a:ext cx="192087" cy="434975"/>
          </a:xfrm>
          <a:prstGeom prst="line">
            <a:avLst/>
          </a:prstGeom>
          <a:ln w="9525" cap="flat" cmpd="sng">
            <a:solidFill>
              <a:schemeClr val="tx1"/>
            </a:solidFill>
            <a:prstDash val="solid"/>
            <a:round/>
            <a:headEnd type="none" w="med" len="med"/>
            <a:tailEnd type="none" w="med" len="med"/>
          </a:ln>
        </p:spPr>
      </p:sp>
      <p:sp>
        <p:nvSpPr>
          <p:cNvPr id="30" name="文本框 122909"/>
          <p:cNvSpPr txBox="1"/>
          <p:nvPr/>
        </p:nvSpPr>
        <p:spPr>
          <a:xfrm>
            <a:off x="2514600" y="3033713"/>
            <a:ext cx="1347788" cy="652462"/>
          </a:xfrm>
          <a:prstGeom prst="rect">
            <a:avLst/>
          </a:prstGeom>
          <a:noFill/>
          <a:ln w="9525">
            <a:noFill/>
          </a:ln>
        </p:spPr>
        <p:txBody>
          <a:bodyPr anchor="t"/>
          <a:lstStyle/>
          <a:p>
            <a:pPr algn="just" eaLnBrk="0" hangingPunct="0"/>
            <a:r>
              <a:rPr lang="zh-CN" altLang="en-US" sz="2000" dirty="0">
                <a:latin typeface="Times New Roman" panose="02020603050405020304" pitchFamily="18" charset="0"/>
                <a:ea typeface="宋体" panose="02010600030101010101" pitchFamily="2" charset="-122"/>
              </a:rPr>
              <a:t>内部站点</a:t>
            </a:r>
            <a:endParaRPr lang="zh-CN" altLang="en-US" sz="2000" dirty="0">
              <a:latin typeface="Times New Roman" panose="02020603050405020304" pitchFamily="18"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3905"/>
          <p:cNvSpPr txBox="1"/>
          <p:nvPr/>
        </p:nvSpPr>
        <p:spPr>
          <a:xfrm>
            <a:off x="1092529" y="622005"/>
            <a:ext cx="10429590"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3200" dirty="0" smtClean="0">
                <a:latin typeface="Times New Roman" panose="02020603050405020304" pitchFamily="18" charset="0"/>
              </a:rPr>
              <a:t>对象受可能威胁的评估步骤：</a:t>
            </a:r>
            <a:endParaRPr lang="zh-CN" altLang="en-US" sz="3200" dirty="0">
              <a:latin typeface="Times New Roman" panose="02020603050405020304" pitchFamily="18" charset="0"/>
            </a:endParaRPr>
          </a:p>
        </p:txBody>
      </p:sp>
      <p:sp>
        <p:nvSpPr>
          <p:cNvPr id="3" name="文本占位符 123906"/>
          <p:cNvSpPr txBox="1"/>
          <p:nvPr/>
        </p:nvSpPr>
        <p:spPr>
          <a:xfrm>
            <a:off x="1092529" y="1773238"/>
            <a:ext cx="9915897" cy="467995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t>    1</a:t>
            </a:r>
            <a:r>
              <a:rPr lang="zh-CN" altLang="en-US" dirty="0" smtClean="0">
                <a:latin typeface="宋体" panose="02010600030101010101" pitchFamily="2" charset="-122"/>
              </a:rPr>
              <a:t>、首先画出评估对象的总体结构图，尤其是要画出内部网络和外部网络的连接关系。在总体结构图中应该包括每个受保护对象。例如，前述公司网络系统的总体结构如图</a:t>
            </a:r>
            <a:r>
              <a:rPr lang="en-US" altLang="zh-CN" dirty="0" smtClean="0"/>
              <a:t>3-3</a:t>
            </a:r>
            <a:r>
              <a:rPr lang="zh-CN" altLang="en-US" dirty="0" smtClean="0">
                <a:latin typeface="宋体" panose="02010600030101010101" pitchFamily="2" charset="-122"/>
              </a:rPr>
              <a:t>所示。利用该图可以直观地确定公司网络系统可能受到的威胁。</a:t>
            </a:r>
            <a:r>
              <a:rPr lang="zh-CN" altLang="en-US" dirty="0" smtClean="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492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24930"/>
          <p:cNvSpPr txBox="1"/>
          <p:nvPr/>
        </p:nvSpPr>
        <p:spPr>
          <a:xfrm>
            <a:off x="767939" y="888988"/>
            <a:ext cx="10754180" cy="5222132"/>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t>    2</a:t>
            </a:r>
            <a:r>
              <a:rPr lang="zh-CN" altLang="en-US" dirty="0" smtClean="0">
                <a:latin typeface="宋体" panose="02010600030101010101" pitchFamily="2" charset="-122"/>
              </a:rPr>
              <a:t>、逐个列出该公司网络信息系统可能受到的威胁及其发生频率。下面对公司网络</a:t>
            </a:r>
            <a:r>
              <a:rPr lang="zh-CN" altLang="en-US" smtClean="0">
                <a:latin typeface="宋体" panose="02010600030101010101" pitchFamily="2" charset="-122"/>
              </a:rPr>
              <a:t>与</a:t>
            </a:r>
            <a:r>
              <a:rPr lang="zh-CN" altLang="en-US" smtClean="0">
                <a:latin typeface="宋体" panose="02010600030101010101" pitchFamily="2" charset="-122"/>
              </a:rPr>
              <a:t>信息可能</a:t>
            </a:r>
            <a:r>
              <a:rPr lang="zh-CN" altLang="en-US" dirty="0" smtClean="0">
                <a:latin typeface="宋体" panose="02010600030101010101" pitchFamily="2" charset="-122"/>
              </a:rPr>
              <a:t>受到的威胁进行分析。</a:t>
            </a:r>
            <a:endParaRPr lang="zh-CN" altLang="en-US" dirty="0" smtClean="0">
              <a:latin typeface="宋体" panose="02010600030101010101" pitchFamily="2" charset="-122"/>
            </a:endParaRPr>
          </a:p>
          <a:p>
            <a:pPr>
              <a:buFont typeface="Arial" panose="020B0604020202020204" pitchFamily="34" charset="0"/>
              <a:buNone/>
            </a:pPr>
            <a:r>
              <a:rPr lang="zh-CN" altLang="en-US" sz="2400" dirty="0" smtClean="0">
                <a:latin typeface="宋体" panose="02010600030101010101" pitchFamily="2" charset="-122"/>
              </a:rPr>
              <a:t>（</a:t>
            </a:r>
            <a:r>
              <a:rPr lang="en-US" altLang="zh-CN" sz="2400" dirty="0" smtClean="0"/>
              <a:t>1</a:t>
            </a:r>
            <a:r>
              <a:rPr lang="zh-CN" altLang="en-US" sz="2400" dirty="0" smtClean="0">
                <a:latin typeface="宋体" panose="02010600030101010101" pitchFamily="2" charset="-122"/>
              </a:rPr>
              <a:t>）分析外部的可能威胁源。</a:t>
            </a:r>
            <a:endParaRPr lang="zh-CN" altLang="en-US" sz="2400" dirty="0" smtClean="0">
              <a:latin typeface="宋体" panose="02010600030101010101" pitchFamily="2" charset="-122"/>
            </a:endParaRPr>
          </a:p>
          <a:p>
            <a:pPr>
              <a:buFont typeface="Arial" panose="020B0604020202020204" pitchFamily="34" charset="0"/>
              <a:buNone/>
            </a:pPr>
            <a:r>
              <a:rPr lang="zh-CN" altLang="en-US" sz="2400" dirty="0" smtClean="0">
                <a:latin typeface="宋体" panose="02010600030101010101" pitchFamily="2" charset="-122"/>
              </a:rPr>
              <a:t>（</a:t>
            </a:r>
            <a:r>
              <a:rPr lang="en-US" altLang="zh-CN" sz="2400" dirty="0" smtClean="0"/>
              <a:t>2</a:t>
            </a:r>
            <a:r>
              <a:rPr lang="zh-CN" altLang="en-US" sz="2400" dirty="0" smtClean="0">
                <a:latin typeface="宋体" panose="02010600030101010101" pitchFamily="2" charset="-122"/>
              </a:rPr>
              <a:t>）检测内部网络系统的漏洞。</a:t>
            </a:r>
            <a:r>
              <a:rPr lang="zh-CN" altLang="en-US" sz="2400" dirty="0" smtClean="0"/>
              <a:t> </a:t>
            </a:r>
            <a:endParaRPr lang="zh-CN" altLang="en-US" sz="2400" dirty="0" smtClean="0"/>
          </a:p>
          <a:p>
            <a:pPr>
              <a:buFont typeface="Arial" panose="020B0604020202020204" pitchFamily="34" charset="0"/>
              <a:buNone/>
            </a:pPr>
            <a:r>
              <a:rPr lang="zh-CN" altLang="en-US" sz="2400" dirty="0" smtClean="0">
                <a:latin typeface="宋体" panose="02010600030101010101" pitchFamily="2" charset="-122"/>
              </a:rPr>
              <a:t>（</a:t>
            </a:r>
            <a:r>
              <a:rPr lang="en-US" altLang="zh-CN" sz="2400" dirty="0" smtClean="0"/>
              <a:t>3</a:t>
            </a:r>
            <a:r>
              <a:rPr lang="zh-CN" altLang="en-US" sz="2400" dirty="0" smtClean="0">
                <a:latin typeface="宋体" panose="02010600030101010101" pitchFamily="2" charset="-122"/>
              </a:rPr>
              <a:t>）分析公司的总体安全策略的完整性，网络安全框架的缺陷。</a:t>
            </a:r>
            <a:endParaRPr lang="en-US" altLang="zh-CN" sz="2400" dirty="0" smtClean="0">
              <a:latin typeface="宋体" panose="02010600030101010101" pitchFamily="2" charset="-122"/>
            </a:endParaRPr>
          </a:p>
          <a:p>
            <a:pPr>
              <a:buNone/>
            </a:pPr>
            <a:r>
              <a:rPr lang="zh-CN" altLang="en-US" sz="2400" dirty="0">
                <a:latin typeface="宋体" panose="02010600030101010101" pitchFamily="2" charset="-122"/>
              </a:rPr>
              <a:t>（</a:t>
            </a:r>
            <a:r>
              <a:rPr lang="en-US" altLang="zh-CN" sz="2400" dirty="0"/>
              <a:t>4</a:t>
            </a:r>
            <a:r>
              <a:rPr lang="zh-CN" altLang="en-US" sz="2400" dirty="0">
                <a:latin typeface="宋体" panose="02010600030101010101" pitchFamily="2" charset="-122"/>
              </a:rPr>
              <a:t>）检查路由器、防火墙的过滤控制机制的配置是否合理。许多公司的路由器产品都提供安全过滤功能，防火墙则具有应用代理功能，可在应用层上实现安全过滤功能。如果能够把这些功能很好地利用起来，可以有效地减少网络攻击事件的发生。</a:t>
            </a:r>
            <a:r>
              <a:rPr lang="zh-CN" altLang="en-US" sz="2400" dirty="0"/>
              <a:t> </a:t>
            </a:r>
            <a:endParaRPr lang="en-US" altLang="zh-CN" sz="2400" dirty="0"/>
          </a:p>
          <a:p>
            <a:pPr>
              <a:buNone/>
            </a:pPr>
            <a:r>
              <a:rPr lang="zh-CN" altLang="en-US" sz="2400" dirty="0">
                <a:latin typeface="宋体" panose="02010600030101010101" pitchFamily="2" charset="-122"/>
              </a:rPr>
              <a:t>（</a:t>
            </a:r>
            <a:r>
              <a:rPr lang="en-US" altLang="zh-CN" sz="2400" dirty="0"/>
              <a:t>5</a:t>
            </a:r>
            <a:r>
              <a:rPr lang="zh-CN" altLang="en-US" sz="2400" dirty="0">
                <a:latin typeface="宋体" panose="02010600030101010101" pitchFamily="2" charset="-122"/>
              </a:rPr>
              <a:t>）评测公司安全人员的素质与管理制度方面的缺陷。行政管理措施对信息安全所起的作用往往被忽视，实际上起的作用很大，对信息安全有一种“七分管理，三分技术”之说。在进行安全评估时，应该认真评估公司有关信息安全的管理措施的全面性，分析措施的缺陷可能对信息安全所产生的威胁。</a:t>
            </a:r>
            <a:r>
              <a:rPr lang="zh-CN" altLang="en-US" sz="2400" dirty="0"/>
              <a:t> </a:t>
            </a:r>
            <a:endParaRPr lang="zh-CN" altLang="en-US" sz="2400" dirty="0"/>
          </a:p>
          <a:p>
            <a:pPr>
              <a:buFont typeface="Arial" panose="020B0604020202020204" pitchFamily="34" charset="0"/>
              <a:buNone/>
            </a:pPr>
            <a:r>
              <a:rPr lang="zh-CN" altLang="en-US" dirty="0" smtClean="0"/>
              <a:t>   </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8001"/>
          <p:cNvSpPr txBox="1"/>
          <p:nvPr/>
        </p:nvSpPr>
        <p:spPr>
          <a:xfrm>
            <a:off x="2858036" y="655759"/>
            <a:ext cx="7772400" cy="6858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2400" dirty="0" smtClean="0">
                <a:latin typeface="宋体" panose="02010600030101010101" pitchFamily="2" charset="-122"/>
              </a:rPr>
              <a:t>表</a:t>
            </a:r>
            <a:r>
              <a:rPr lang="en-US" altLang="zh-CN" sz="2400" dirty="0" smtClean="0"/>
              <a:t>3-3  </a:t>
            </a:r>
            <a:r>
              <a:rPr lang="zh-CN" altLang="en-US" sz="2400" dirty="0" smtClean="0">
                <a:latin typeface="宋体" panose="02010600030101010101" pitchFamily="2" charset="-122"/>
              </a:rPr>
              <a:t>某公司网络与信息可能受到的威胁</a:t>
            </a:r>
            <a:r>
              <a:rPr lang="zh-CN" altLang="en-US" sz="3600" noProof="1" smtClean="0"/>
              <a:t> </a:t>
            </a:r>
            <a:endParaRPr lang="zh-CN" altLang="en-US" sz="3600" noProof="1"/>
          </a:p>
        </p:txBody>
      </p:sp>
      <p:grpSp>
        <p:nvGrpSpPr>
          <p:cNvPr id="3" name="组合 128002"/>
          <p:cNvGrpSpPr/>
          <p:nvPr/>
        </p:nvGrpSpPr>
        <p:grpSpPr>
          <a:xfrm>
            <a:off x="1524000" y="1355642"/>
            <a:ext cx="9144000" cy="5105400"/>
            <a:chOff x="-3" y="-3"/>
            <a:chExt cx="3258" cy="4902"/>
          </a:xfrm>
        </p:grpSpPr>
        <p:grpSp>
          <p:nvGrpSpPr>
            <p:cNvPr id="4" name="组合 128003"/>
            <p:cNvGrpSpPr/>
            <p:nvPr/>
          </p:nvGrpSpPr>
          <p:grpSpPr>
            <a:xfrm>
              <a:off x="0" y="0"/>
              <a:ext cx="3252" cy="4896"/>
              <a:chOff x="0" y="0"/>
              <a:chExt cx="3252" cy="4896"/>
            </a:xfrm>
          </p:grpSpPr>
          <p:grpSp>
            <p:nvGrpSpPr>
              <p:cNvPr id="6" name="组合 128004"/>
              <p:cNvGrpSpPr/>
              <p:nvPr/>
            </p:nvGrpSpPr>
            <p:grpSpPr>
              <a:xfrm>
                <a:off x="0" y="0"/>
                <a:ext cx="302" cy="672"/>
                <a:chOff x="0" y="0"/>
                <a:chExt cx="302" cy="672"/>
              </a:xfrm>
            </p:grpSpPr>
            <p:sp>
              <p:nvSpPr>
                <p:cNvPr id="166" name="矩形 128005"/>
                <p:cNvSpPr/>
                <p:nvPr/>
              </p:nvSpPr>
              <p:spPr>
                <a:xfrm>
                  <a:off x="43" y="0"/>
                  <a:ext cx="216" cy="672"/>
                </a:xfrm>
                <a:prstGeom prst="rect">
                  <a:avLst/>
                </a:prstGeom>
                <a:noFill/>
                <a:ln w="9525">
                  <a:noFill/>
                </a:ln>
              </p:spPr>
              <p:txBody>
                <a:bodyPr anchor="ctr"/>
                <a:lstStyle/>
                <a:p>
                  <a:pPr algn="ctr"/>
                  <a:r>
                    <a:rPr lang="zh-CN" altLang="en-US" sz="2000" dirty="0"/>
                    <a:t>序号</a:t>
                  </a:r>
                  <a:endParaRPr lang="zh-CN" altLang="en-US" sz="2000" dirty="0"/>
                </a:p>
              </p:txBody>
            </p:sp>
            <p:sp>
              <p:nvSpPr>
                <p:cNvPr id="167" name="矩形 128006"/>
                <p:cNvSpPr/>
                <p:nvPr/>
              </p:nvSpPr>
              <p:spPr>
                <a:xfrm>
                  <a:off x="0" y="0"/>
                  <a:ext cx="302"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 name="组合 128007"/>
              <p:cNvGrpSpPr/>
              <p:nvPr/>
            </p:nvGrpSpPr>
            <p:grpSpPr>
              <a:xfrm>
                <a:off x="302" y="0"/>
                <a:ext cx="662" cy="672"/>
                <a:chOff x="302" y="0"/>
                <a:chExt cx="662" cy="672"/>
              </a:xfrm>
            </p:grpSpPr>
            <p:sp>
              <p:nvSpPr>
                <p:cNvPr id="164" name="矩形 128008"/>
                <p:cNvSpPr/>
                <p:nvPr/>
              </p:nvSpPr>
              <p:spPr>
                <a:xfrm>
                  <a:off x="345" y="0"/>
                  <a:ext cx="576" cy="672"/>
                </a:xfrm>
                <a:prstGeom prst="rect">
                  <a:avLst/>
                </a:prstGeom>
                <a:noFill/>
                <a:ln w="9525">
                  <a:noFill/>
                </a:ln>
              </p:spPr>
              <p:txBody>
                <a:bodyPr anchor="ctr"/>
                <a:lstStyle/>
                <a:p>
                  <a:pPr indent="266700" algn="ctr"/>
                  <a:r>
                    <a:rPr lang="zh-CN" altLang="en-US" sz="2000" dirty="0"/>
                    <a:t>受威胁</a:t>
                  </a:r>
                  <a:endParaRPr lang="zh-CN" altLang="en-US" sz="2000" dirty="0"/>
                </a:p>
                <a:p>
                  <a:pPr indent="266700" algn="ctr" eaLnBrk="0" hangingPunct="0"/>
                  <a:r>
                    <a:rPr lang="zh-CN" altLang="en-US" sz="2000" dirty="0"/>
                    <a:t>对  象</a:t>
                  </a:r>
                  <a:endParaRPr lang="zh-CN" altLang="en-US" sz="2000" dirty="0"/>
                </a:p>
              </p:txBody>
            </p:sp>
            <p:sp>
              <p:nvSpPr>
                <p:cNvPr id="165" name="矩形 128009"/>
                <p:cNvSpPr/>
                <p:nvPr/>
              </p:nvSpPr>
              <p:spPr>
                <a:xfrm>
                  <a:off x="302" y="0"/>
                  <a:ext cx="662"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8" name="组合 128010"/>
              <p:cNvGrpSpPr/>
              <p:nvPr/>
            </p:nvGrpSpPr>
            <p:grpSpPr>
              <a:xfrm>
                <a:off x="964" y="0"/>
                <a:ext cx="590" cy="672"/>
                <a:chOff x="964" y="0"/>
                <a:chExt cx="590" cy="672"/>
              </a:xfrm>
            </p:grpSpPr>
            <p:sp>
              <p:nvSpPr>
                <p:cNvPr id="162" name="矩形 128011"/>
                <p:cNvSpPr/>
                <p:nvPr/>
              </p:nvSpPr>
              <p:spPr>
                <a:xfrm>
                  <a:off x="1007" y="0"/>
                  <a:ext cx="504" cy="672"/>
                </a:xfrm>
                <a:prstGeom prst="rect">
                  <a:avLst/>
                </a:prstGeom>
                <a:noFill/>
                <a:ln w="9525">
                  <a:noFill/>
                </a:ln>
              </p:spPr>
              <p:txBody>
                <a:bodyPr anchor="ctr"/>
                <a:lstStyle/>
                <a:p>
                  <a:pPr indent="266700" algn="ctr"/>
                  <a:r>
                    <a:rPr lang="zh-CN" altLang="en-US" sz="2000" dirty="0"/>
                    <a:t>可能的</a:t>
                  </a:r>
                  <a:endParaRPr lang="zh-CN" altLang="en-US" sz="2000" dirty="0"/>
                </a:p>
                <a:p>
                  <a:pPr indent="266700" algn="ctr" eaLnBrk="0" hangingPunct="0"/>
                  <a:r>
                    <a:rPr lang="zh-CN" altLang="en-US" sz="2000" dirty="0"/>
                    <a:t>威胁</a:t>
                  </a:r>
                  <a:endParaRPr lang="zh-CN" altLang="en-US" sz="2000" dirty="0"/>
                </a:p>
              </p:txBody>
            </p:sp>
            <p:sp>
              <p:nvSpPr>
                <p:cNvPr id="163" name="矩形 128012"/>
                <p:cNvSpPr/>
                <p:nvPr/>
              </p:nvSpPr>
              <p:spPr>
                <a:xfrm>
                  <a:off x="964" y="0"/>
                  <a:ext cx="590"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9" name="组合 128013"/>
              <p:cNvGrpSpPr/>
              <p:nvPr/>
            </p:nvGrpSpPr>
            <p:grpSpPr>
              <a:xfrm>
                <a:off x="1554" y="0"/>
                <a:ext cx="374" cy="672"/>
                <a:chOff x="1554" y="0"/>
                <a:chExt cx="374" cy="672"/>
              </a:xfrm>
            </p:grpSpPr>
            <p:sp>
              <p:nvSpPr>
                <p:cNvPr id="160" name="矩形 128014"/>
                <p:cNvSpPr/>
                <p:nvPr/>
              </p:nvSpPr>
              <p:spPr>
                <a:xfrm>
                  <a:off x="1597" y="0"/>
                  <a:ext cx="288" cy="672"/>
                </a:xfrm>
                <a:prstGeom prst="rect">
                  <a:avLst/>
                </a:prstGeom>
                <a:noFill/>
                <a:ln w="9525">
                  <a:noFill/>
                </a:ln>
              </p:spPr>
              <p:txBody>
                <a:bodyPr anchor="ctr"/>
                <a:lstStyle/>
                <a:p>
                  <a:pPr algn="ctr"/>
                  <a:r>
                    <a:rPr lang="zh-CN" altLang="en-US" sz="1600" dirty="0"/>
                    <a:t>威胁严重性</a:t>
                  </a:r>
                  <a:endParaRPr lang="zh-CN" altLang="en-US" sz="1600" dirty="0"/>
                </a:p>
              </p:txBody>
            </p:sp>
            <p:sp>
              <p:nvSpPr>
                <p:cNvPr id="161" name="矩形 128015"/>
                <p:cNvSpPr/>
                <p:nvPr/>
              </p:nvSpPr>
              <p:spPr>
                <a:xfrm>
                  <a:off x="1554" y="0"/>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0" name="组合 128016"/>
              <p:cNvGrpSpPr/>
              <p:nvPr/>
            </p:nvGrpSpPr>
            <p:grpSpPr>
              <a:xfrm>
                <a:off x="1928" y="0"/>
                <a:ext cx="950" cy="672"/>
                <a:chOff x="1928" y="0"/>
                <a:chExt cx="950" cy="672"/>
              </a:xfrm>
            </p:grpSpPr>
            <p:sp>
              <p:nvSpPr>
                <p:cNvPr id="158" name="矩形 128017"/>
                <p:cNvSpPr/>
                <p:nvPr/>
              </p:nvSpPr>
              <p:spPr>
                <a:xfrm>
                  <a:off x="1971" y="0"/>
                  <a:ext cx="864" cy="672"/>
                </a:xfrm>
                <a:prstGeom prst="rect">
                  <a:avLst/>
                </a:prstGeom>
                <a:noFill/>
                <a:ln w="9525">
                  <a:noFill/>
                </a:ln>
              </p:spPr>
              <p:txBody>
                <a:bodyPr anchor="ctr"/>
                <a:lstStyle/>
                <a:p>
                  <a:pPr algn="ctr"/>
                  <a:r>
                    <a:rPr lang="zh-CN" altLang="en-US" sz="2000" dirty="0"/>
                    <a:t>威胁原因</a:t>
                  </a:r>
                  <a:endParaRPr lang="zh-CN" altLang="en-US" sz="2000" dirty="0"/>
                </a:p>
              </p:txBody>
            </p:sp>
            <p:sp>
              <p:nvSpPr>
                <p:cNvPr id="159" name="矩形 128018"/>
                <p:cNvSpPr/>
                <p:nvPr/>
              </p:nvSpPr>
              <p:spPr>
                <a:xfrm>
                  <a:off x="1928" y="0"/>
                  <a:ext cx="950"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1" name="组合 128019"/>
              <p:cNvGrpSpPr/>
              <p:nvPr/>
            </p:nvGrpSpPr>
            <p:grpSpPr>
              <a:xfrm>
                <a:off x="2878" y="0"/>
                <a:ext cx="374" cy="672"/>
                <a:chOff x="2878" y="0"/>
                <a:chExt cx="374" cy="672"/>
              </a:xfrm>
            </p:grpSpPr>
            <p:sp>
              <p:nvSpPr>
                <p:cNvPr id="156" name="矩形 128020"/>
                <p:cNvSpPr/>
                <p:nvPr/>
              </p:nvSpPr>
              <p:spPr>
                <a:xfrm>
                  <a:off x="2921" y="0"/>
                  <a:ext cx="288" cy="672"/>
                </a:xfrm>
                <a:prstGeom prst="rect">
                  <a:avLst/>
                </a:prstGeom>
                <a:noFill/>
                <a:ln w="9525">
                  <a:noFill/>
                </a:ln>
              </p:spPr>
              <p:txBody>
                <a:bodyPr anchor="ctr"/>
                <a:lstStyle/>
                <a:p>
                  <a:pPr algn="ctr"/>
                  <a:r>
                    <a:rPr lang="zh-CN" altLang="en-US" sz="1600" dirty="0"/>
                    <a:t>威胁发生频率</a:t>
                  </a:r>
                  <a:endParaRPr lang="zh-CN" altLang="en-US" sz="1600" dirty="0"/>
                </a:p>
              </p:txBody>
            </p:sp>
            <p:sp>
              <p:nvSpPr>
                <p:cNvPr id="157" name="矩形 128021"/>
                <p:cNvSpPr/>
                <p:nvPr/>
              </p:nvSpPr>
              <p:spPr>
                <a:xfrm>
                  <a:off x="2878" y="0"/>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2" name="组合 128022"/>
              <p:cNvGrpSpPr/>
              <p:nvPr/>
            </p:nvGrpSpPr>
            <p:grpSpPr>
              <a:xfrm>
                <a:off x="0" y="672"/>
                <a:ext cx="302" cy="480"/>
                <a:chOff x="0" y="672"/>
                <a:chExt cx="302" cy="480"/>
              </a:xfrm>
            </p:grpSpPr>
            <p:sp>
              <p:nvSpPr>
                <p:cNvPr id="154" name="矩形 128023"/>
                <p:cNvSpPr/>
                <p:nvPr/>
              </p:nvSpPr>
              <p:spPr>
                <a:xfrm>
                  <a:off x="43" y="672"/>
                  <a:ext cx="216" cy="480"/>
                </a:xfrm>
                <a:prstGeom prst="rect">
                  <a:avLst/>
                </a:prstGeom>
                <a:noFill/>
                <a:ln w="9525">
                  <a:noFill/>
                </a:ln>
              </p:spPr>
              <p:txBody>
                <a:bodyPr anchor="ctr"/>
                <a:lstStyle/>
                <a:p>
                  <a:pPr algn="ctr"/>
                  <a:r>
                    <a:rPr lang="en-US" altLang="zh-CN" sz="2000"/>
                    <a:t>1</a:t>
                  </a:r>
                  <a:endParaRPr lang="en-US" altLang="zh-CN" sz="2000"/>
                </a:p>
              </p:txBody>
            </p:sp>
            <p:sp>
              <p:nvSpPr>
                <p:cNvPr id="155" name="矩形 128024"/>
                <p:cNvSpPr/>
                <p:nvPr/>
              </p:nvSpPr>
              <p:spPr>
                <a:xfrm>
                  <a:off x="0" y="672"/>
                  <a:ext cx="30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3" name="组合 128025"/>
              <p:cNvGrpSpPr/>
              <p:nvPr/>
            </p:nvGrpSpPr>
            <p:grpSpPr>
              <a:xfrm>
                <a:off x="302" y="672"/>
                <a:ext cx="662" cy="480"/>
                <a:chOff x="302" y="672"/>
                <a:chExt cx="662" cy="480"/>
              </a:xfrm>
            </p:grpSpPr>
            <p:sp>
              <p:nvSpPr>
                <p:cNvPr id="152" name="矩形 128026"/>
                <p:cNvSpPr/>
                <p:nvPr/>
              </p:nvSpPr>
              <p:spPr>
                <a:xfrm>
                  <a:off x="345" y="672"/>
                  <a:ext cx="576" cy="480"/>
                </a:xfrm>
                <a:prstGeom prst="rect">
                  <a:avLst/>
                </a:prstGeom>
                <a:noFill/>
                <a:ln w="9525">
                  <a:noFill/>
                </a:ln>
              </p:spPr>
              <p:txBody>
                <a:bodyPr anchor="ctr"/>
                <a:lstStyle/>
                <a:p>
                  <a:pPr algn="just"/>
                  <a:r>
                    <a:rPr lang="zh-CN" altLang="en-US" dirty="0"/>
                    <a:t>各硬件设备</a:t>
                  </a:r>
                  <a:endParaRPr lang="zh-CN" altLang="en-US" dirty="0"/>
                </a:p>
              </p:txBody>
            </p:sp>
            <p:sp>
              <p:nvSpPr>
                <p:cNvPr id="153" name="矩形 128027"/>
                <p:cNvSpPr/>
                <p:nvPr/>
              </p:nvSpPr>
              <p:spPr>
                <a:xfrm>
                  <a:off x="302" y="672"/>
                  <a:ext cx="66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4" name="组合 128028"/>
              <p:cNvGrpSpPr/>
              <p:nvPr/>
            </p:nvGrpSpPr>
            <p:grpSpPr>
              <a:xfrm>
                <a:off x="964" y="672"/>
                <a:ext cx="590" cy="480"/>
                <a:chOff x="964" y="672"/>
                <a:chExt cx="590" cy="480"/>
              </a:xfrm>
            </p:grpSpPr>
            <p:sp>
              <p:nvSpPr>
                <p:cNvPr id="150" name="矩形 128029"/>
                <p:cNvSpPr/>
                <p:nvPr/>
              </p:nvSpPr>
              <p:spPr>
                <a:xfrm>
                  <a:off x="964" y="672"/>
                  <a:ext cx="587" cy="480"/>
                </a:xfrm>
                <a:prstGeom prst="rect">
                  <a:avLst/>
                </a:prstGeom>
                <a:noFill/>
                <a:ln w="9525">
                  <a:noFill/>
                </a:ln>
              </p:spPr>
              <p:txBody>
                <a:bodyPr anchor="ctr"/>
                <a:lstStyle/>
                <a:p>
                  <a:pPr algn="just"/>
                  <a:r>
                    <a:rPr lang="zh-CN" altLang="en-US" sz="1600" dirty="0"/>
                    <a:t>人为、自然灾害</a:t>
                  </a:r>
                  <a:endParaRPr lang="zh-CN" altLang="en-US" sz="1600" dirty="0"/>
                </a:p>
              </p:txBody>
            </p:sp>
            <p:sp>
              <p:nvSpPr>
                <p:cNvPr id="151" name="矩形 128030"/>
                <p:cNvSpPr/>
                <p:nvPr/>
              </p:nvSpPr>
              <p:spPr>
                <a:xfrm>
                  <a:off x="964" y="672"/>
                  <a:ext cx="59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5" name="组合 128031"/>
              <p:cNvGrpSpPr/>
              <p:nvPr/>
            </p:nvGrpSpPr>
            <p:grpSpPr>
              <a:xfrm>
                <a:off x="1554" y="672"/>
                <a:ext cx="374" cy="480"/>
                <a:chOff x="1554" y="672"/>
                <a:chExt cx="374" cy="480"/>
              </a:xfrm>
            </p:grpSpPr>
            <p:sp>
              <p:nvSpPr>
                <p:cNvPr id="148" name="矩形 128032"/>
                <p:cNvSpPr/>
                <p:nvPr/>
              </p:nvSpPr>
              <p:spPr>
                <a:xfrm>
                  <a:off x="1597" y="672"/>
                  <a:ext cx="288" cy="480"/>
                </a:xfrm>
                <a:prstGeom prst="rect">
                  <a:avLst/>
                </a:prstGeom>
                <a:noFill/>
                <a:ln w="9525">
                  <a:noFill/>
                </a:ln>
              </p:spPr>
              <p:txBody>
                <a:bodyPr anchor="ctr"/>
                <a:lstStyle/>
                <a:p>
                  <a:pPr algn="just"/>
                  <a:r>
                    <a:rPr lang="zh-CN" altLang="en-US" sz="2000" dirty="0"/>
                    <a:t>高</a:t>
                  </a:r>
                  <a:endParaRPr lang="zh-CN" altLang="en-US" sz="2000" dirty="0"/>
                </a:p>
              </p:txBody>
            </p:sp>
            <p:sp>
              <p:nvSpPr>
                <p:cNvPr id="149" name="矩形 128033"/>
                <p:cNvSpPr/>
                <p:nvPr/>
              </p:nvSpPr>
              <p:spPr>
                <a:xfrm>
                  <a:off x="1554" y="67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6" name="组合 128034"/>
              <p:cNvGrpSpPr/>
              <p:nvPr/>
            </p:nvGrpSpPr>
            <p:grpSpPr>
              <a:xfrm>
                <a:off x="1928" y="672"/>
                <a:ext cx="950" cy="480"/>
                <a:chOff x="1928" y="672"/>
                <a:chExt cx="950" cy="480"/>
              </a:xfrm>
            </p:grpSpPr>
            <p:sp>
              <p:nvSpPr>
                <p:cNvPr id="146" name="矩形 128035"/>
                <p:cNvSpPr/>
                <p:nvPr/>
              </p:nvSpPr>
              <p:spPr>
                <a:xfrm>
                  <a:off x="1971" y="672"/>
                  <a:ext cx="864" cy="480"/>
                </a:xfrm>
                <a:prstGeom prst="rect">
                  <a:avLst/>
                </a:prstGeom>
                <a:noFill/>
                <a:ln w="9525">
                  <a:noFill/>
                </a:ln>
              </p:spPr>
              <p:txBody>
                <a:bodyPr anchor="ctr"/>
                <a:lstStyle/>
                <a:p>
                  <a:pPr algn="just"/>
                  <a:r>
                    <a:rPr lang="zh-CN" altLang="en-US" sz="1600" dirty="0"/>
                    <a:t>机房设计、管理有漏洞</a:t>
                  </a:r>
                  <a:endParaRPr lang="zh-CN" altLang="en-US" sz="1600" dirty="0"/>
                </a:p>
              </p:txBody>
            </p:sp>
            <p:sp>
              <p:nvSpPr>
                <p:cNvPr id="147" name="矩形 128036"/>
                <p:cNvSpPr/>
                <p:nvPr/>
              </p:nvSpPr>
              <p:spPr>
                <a:xfrm>
                  <a:off x="1928" y="672"/>
                  <a:ext cx="95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7" name="组合 128037"/>
              <p:cNvGrpSpPr/>
              <p:nvPr/>
            </p:nvGrpSpPr>
            <p:grpSpPr>
              <a:xfrm>
                <a:off x="2878" y="672"/>
                <a:ext cx="374" cy="480"/>
                <a:chOff x="2878" y="672"/>
                <a:chExt cx="374" cy="480"/>
              </a:xfrm>
            </p:grpSpPr>
            <p:sp>
              <p:nvSpPr>
                <p:cNvPr id="144" name="矩形 128038"/>
                <p:cNvSpPr/>
                <p:nvPr/>
              </p:nvSpPr>
              <p:spPr>
                <a:xfrm>
                  <a:off x="2921" y="672"/>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45" name="矩形 128039"/>
                <p:cNvSpPr/>
                <p:nvPr/>
              </p:nvSpPr>
              <p:spPr>
                <a:xfrm>
                  <a:off x="2878" y="67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8" name="组合 128040"/>
              <p:cNvGrpSpPr/>
              <p:nvPr/>
            </p:nvGrpSpPr>
            <p:grpSpPr>
              <a:xfrm>
                <a:off x="0" y="1152"/>
                <a:ext cx="302" cy="480"/>
                <a:chOff x="0" y="1152"/>
                <a:chExt cx="302" cy="480"/>
              </a:xfrm>
            </p:grpSpPr>
            <p:sp>
              <p:nvSpPr>
                <p:cNvPr id="142" name="矩形 128041"/>
                <p:cNvSpPr/>
                <p:nvPr/>
              </p:nvSpPr>
              <p:spPr>
                <a:xfrm>
                  <a:off x="43" y="1152"/>
                  <a:ext cx="216" cy="480"/>
                </a:xfrm>
                <a:prstGeom prst="rect">
                  <a:avLst/>
                </a:prstGeom>
                <a:noFill/>
                <a:ln w="9525">
                  <a:noFill/>
                </a:ln>
              </p:spPr>
              <p:txBody>
                <a:bodyPr anchor="ctr"/>
                <a:lstStyle/>
                <a:p>
                  <a:pPr algn="ctr"/>
                  <a:r>
                    <a:rPr lang="en-US" altLang="zh-CN" sz="2000"/>
                    <a:t>2</a:t>
                  </a:r>
                  <a:endParaRPr lang="en-US" altLang="zh-CN" sz="2000"/>
                </a:p>
              </p:txBody>
            </p:sp>
            <p:sp>
              <p:nvSpPr>
                <p:cNvPr id="143" name="矩形 128042"/>
                <p:cNvSpPr/>
                <p:nvPr/>
              </p:nvSpPr>
              <p:spPr>
                <a:xfrm>
                  <a:off x="0" y="1152"/>
                  <a:ext cx="30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19" name="组合 128043"/>
              <p:cNvGrpSpPr/>
              <p:nvPr/>
            </p:nvGrpSpPr>
            <p:grpSpPr>
              <a:xfrm>
                <a:off x="302" y="1152"/>
                <a:ext cx="662" cy="480"/>
                <a:chOff x="302" y="1152"/>
                <a:chExt cx="662" cy="480"/>
              </a:xfrm>
            </p:grpSpPr>
            <p:sp>
              <p:nvSpPr>
                <p:cNvPr id="140" name="矩形 128044"/>
                <p:cNvSpPr/>
                <p:nvPr/>
              </p:nvSpPr>
              <p:spPr>
                <a:xfrm>
                  <a:off x="345" y="1152"/>
                  <a:ext cx="576" cy="480"/>
                </a:xfrm>
                <a:prstGeom prst="rect">
                  <a:avLst/>
                </a:prstGeom>
                <a:noFill/>
                <a:ln w="9525">
                  <a:noFill/>
                </a:ln>
              </p:spPr>
              <p:txBody>
                <a:bodyPr anchor="ctr"/>
                <a:lstStyle/>
                <a:p>
                  <a:pPr algn="just"/>
                  <a:r>
                    <a:rPr lang="zh-CN" altLang="en-US" sz="2000" dirty="0"/>
                    <a:t>操作系统</a:t>
                  </a:r>
                  <a:endParaRPr lang="zh-CN" altLang="en-US" sz="2000" dirty="0"/>
                </a:p>
              </p:txBody>
            </p:sp>
            <p:sp>
              <p:nvSpPr>
                <p:cNvPr id="141" name="矩形 128045"/>
                <p:cNvSpPr/>
                <p:nvPr/>
              </p:nvSpPr>
              <p:spPr>
                <a:xfrm>
                  <a:off x="302" y="1152"/>
                  <a:ext cx="66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0" name="组合 128046"/>
              <p:cNvGrpSpPr/>
              <p:nvPr/>
            </p:nvGrpSpPr>
            <p:grpSpPr>
              <a:xfrm>
                <a:off x="964" y="1152"/>
                <a:ext cx="590" cy="480"/>
                <a:chOff x="964" y="1152"/>
                <a:chExt cx="590" cy="480"/>
              </a:xfrm>
            </p:grpSpPr>
            <p:sp>
              <p:nvSpPr>
                <p:cNvPr id="138" name="矩形 128047"/>
                <p:cNvSpPr/>
                <p:nvPr/>
              </p:nvSpPr>
              <p:spPr>
                <a:xfrm>
                  <a:off x="1007" y="1152"/>
                  <a:ext cx="504"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39" name="矩形 128048"/>
                <p:cNvSpPr/>
                <p:nvPr/>
              </p:nvSpPr>
              <p:spPr>
                <a:xfrm>
                  <a:off x="964" y="1152"/>
                  <a:ext cx="59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1" name="组合 128049"/>
              <p:cNvGrpSpPr/>
              <p:nvPr/>
            </p:nvGrpSpPr>
            <p:grpSpPr>
              <a:xfrm>
                <a:off x="1554" y="1152"/>
                <a:ext cx="374" cy="480"/>
                <a:chOff x="1554" y="1152"/>
                <a:chExt cx="374" cy="480"/>
              </a:xfrm>
            </p:grpSpPr>
            <p:sp>
              <p:nvSpPr>
                <p:cNvPr id="136" name="矩形 128050"/>
                <p:cNvSpPr/>
                <p:nvPr/>
              </p:nvSpPr>
              <p:spPr>
                <a:xfrm>
                  <a:off x="1597" y="1152"/>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37" name="矩形 128051"/>
                <p:cNvSpPr/>
                <p:nvPr/>
              </p:nvSpPr>
              <p:spPr>
                <a:xfrm>
                  <a:off x="1554" y="115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2" name="组合 128052"/>
              <p:cNvGrpSpPr/>
              <p:nvPr/>
            </p:nvGrpSpPr>
            <p:grpSpPr>
              <a:xfrm>
                <a:off x="1928" y="1152"/>
                <a:ext cx="950" cy="480"/>
                <a:chOff x="1928" y="1152"/>
                <a:chExt cx="950" cy="480"/>
              </a:xfrm>
            </p:grpSpPr>
            <p:sp>
              <p:nvSpPr>
                <p:cNvPr id="134" name="矩形 128053"/>
                <p:cNvSpPr/>
                <p:nvPr/>
              </p:nvSpPr>
              <p:spPr>
                <a:xfrm>
                  <a:off x="1971" y="1152"/>
                  <a:ext cx="864"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35" name="矩形 128054"/>
                <p:cNvSpPr/>
                <p:nvPr/>
              </p:nvSpPr>
              <p:spPr>
                <a:xfrm>
                  <a:off x="1928" y="1152"/>
                  <a:ext cx="95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3" name="组合 128055"/>
              <p:cNvGrpSpPr/>
              <p:nvPr/>
            </p:nvGrpSpPr>
            <p:grpSpPr>
              <a:xfrm>
                <a:off x="2878" y="1152"/>
                <a:ext cx="374" cy="480"/>
                <a:chOff x="2878" y="1152"/>
                <a:chExt cx="374" cy="480"/>
              </a:xfrm>
            </p:grpSpPr>
            <p:sp>
              <p:nvSpPr>
                <p:cNvPr id="132" name="矩形 128056"/>
                <p:cNvSpPr/>
                <p:nvPr/>
              </p:nvSpPr>
              <p:spPr>
                <a:xfrm>
                  <a:off x="2921" y="1152"/>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33" name="矩形 128057"/>
                <p:cNvSpPr/>
                <p:nvPr/>
              </p:nvSpPr>
              <p:spPr>
                <a:xfrm>
                  <a:off x="2878" y="1152"/>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4" name="组合 128058"/>
              <p:cNvGrpSpPr/>
              <p:nvPr/>
            </p:nvGrpSpPr>
            <p:grpSpPr>
              <a:xfrm>
                <a:off x="0" y="1632"/>
                <a:ext cx="302" cy="672"/>
                <a:chOff x="0" y="1632"/>
                <a:chExt cx="302" cy="672"/>
              </a:xfrm>
            </p:grpSpPr>
            <p:sp>
              <p:nvSpPr>
                <p:cNvPr id="130" name="矩形 128059"/>
                <p:cNvSpPr/>
                <p:nvPr/>
              </p:nvSpPr>
              <p:spPr>
                <a:xfrm>
                  <a:off x="43" y="1632"/>
                  <a:ext cx="216" cy="672"/>
                </a:xfrm>
                <a:prstGeom prst="rect">
                  <a:avLst/>
                </a:prstGeom>
                <a:noFill/>
                <a:ln w="9525">
                  <a:noFill/>
                </a:ln>
              </p:spPr>
              <p:txBody>
                <a:bodyPr anchor="ctr"/>
                <a:lstStyle/>
                <a:p>
                  <a:pPr algn="ctr"/>
                  <a:r>
                    <a:rPr lang="en-US" altLang="zh-CN" sz="2000"/>
                    <a:t>3</a:t>
                  </a:r>
                  <a:endParaRPr lang="en-US" altLang="zh-CN" sz="2000"/>
                </a:p>
              </p:txBody>
            </p:sp>
            <p:sp>
              <p:nvSpPr>
                <p:cNvPr id="131" name="矩形 128060"/>
                <p:cNvSpPr/>
                <p:nvPr/>
              </p:nvSpPr>
              <p:spPr>
                <a:xfrm>
                  <a:off x="0" y="1632"/>
                  <a:ext cx="302"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5" name="组合 128061"/>
              <p:cNvGrpSpPr/>
              <p:nvPr/>
            </p:nvGrpSpPr>
            <p:grpSpPr>
              <a:xfrm>
                <a:off x="302" y="1632"/>
                <a:ext cx="662" cy="672"/>
                <a:chOff x="302" y="1632"/>
                <a:chExt cx="662" cy="672"/>
              </a:xfrm>
            </p:grpSpPr>
            <p:sp>
              <p:nvSpPr>
                <p:cNvPr id="128" name="矩形 128062"/>
                <p:cNvSpPr/>
                <p:nvPr/>
              </p:nvSpPr>
              <p:spPr>
                <a:xfrm>
                  <a:off x="345" y="1632"/>
                  <a:ext cx="576" cy="672"/>
                </a:xfrm>
                <a:prstGeom prst="rect">
                  <a:avLst/>
                </a:prstGeom>
                <a:noFill/>
                <a:ln w="9525">
                  <a:noFill/>
                </a:ln>
              </p:spPr>
              <p:txBody>
                <a:bodyPr anchor="ctr"/>
                <a:lstStyle/>
                <a:p>
                  <a:pPr algn="just"/>
                  <a:r>
                    <a:rPr lang="zh-CN" altLang="en-US" sz="1600" dirty="0"/>
                    <a:t>数据库中涉密信息</a:t>
                  </a:r>
                  <a:endParaRPr lang="zh-CN" altLang="en-US" sz="1600" dirty="0"/>
                </a:p>
              </p:txBody>
            </p:sp>
            <p:sp>
              <p:nvSpPr>
                <p:cNvPr id="129" name="矩形 128063"/>
                <p:cNvSpPr/>
                <p:nvPr/>
              </p:nvSpPr>
              <p:spPr>
                <a:xfrm>
                  <a:off x="302" y="1632"/>
                  <a:ext cx="662"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6" name="组合 128064"/>
              <p:cNvGrpSpPr/>
              <p:nvPr/>
            </p:nvGrpSpPr>
            <p:grpSpPr>
              <a:xfrm>
                <a:off x="964" y="1632"/>
                <a:ext cx="590" cy="672"/>
                <a:chOff x="964" y="1632"/>
                <a:chExt cx="590" cy="672"/>
              </a:xfrm>
            </p:grpSpPr>
            <p:sp>
              <p:nvSpPr>
                <p:cNvPr id="126" name="矩形 128065"/>
                <p:cNvSpPr/>
                <p:nvPr/>
              </p:nvSpPr>
              <p:spPr>
                <a:xfrm>
                  <a:off x="1007" y="1632"/>
                  <a:ext cx="504" cy="672"/>
                </a:xfrm>
                <a:prstGeom prst="rect">
                  <a:avLst/>
                </a:prstGeom>
                <a:noFill/>
                <a:ln w="9525">
                  <a:noFill/>
                </a:ln>
              </p:spPr>
              <p:txBody>
                <a:bodyPr anchor="ctr"/>
                <a:lstStyle/>
                <a:p>
                  <a:pPr indent="266700" algn="just"/>
                  <a:r>
                    <a:rPr lang="zh-CN" altLang="en-US" sz="1400" dirty="0"/>
                    <a:t>外部网络黑客，内部人员</a:t>
                  </a:r>
                  <a:endParaRPr lang="zh-CN" altLang="en-US" sz="1400" dirty="0"/>
                </a:p>
              </p:txBody>
            </p:sp>
            <p:sp>
              <p:nvSpPr>
                <p:cNvPr id="127" name="矩形 128066"/>
                <p:cNvSpPr/>
                <p:nvPr/>
              </p:nvSpPr>
              <p:spPr>
                <a:xfrm>
                  <a:off x="964" y="1632"/>
                  <a:ext cx="590"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7" name="组合 128067"/>
              <p:cNvGrpSpPr/>
              <p:nvPr/>
            </p:nvGrpSpPr>
            <p:grpSpPr>
              <a:xfrm>
                <a:off x="1554" y="1632"/>
                <a:ext cx="374" cy="672"/>
                <a:chOff x="1554" y="1632"/>
                <a:chExt cx="374" cy="672"/>
              </a:xfrm>
            </p:grpSpPr>
            <p:sp>
              <p:nvSpPr>
                <p:cNvPr id="124" name="矩形 128068"/>
                <p:cNvSpPr/>
                <p:nvPr/>
              </p:nvSpPr>
              <p:spPr>
                <a:xfrm>
                  <a:off x="1597" y="1632"/>
                  <a:ext cx="288" cy="672"/>
                </a:xfrm>
                <a:prstGeom prst="rect">
                  <a:avLst/>
                </a:prstGeom>
                <a:noFill/>
                <a:ln w="9525">
                  <a:noFill/>
                </a:ln>
              </p:spPr>
              <p:txBody>
                <a:bodyPr anchor="ctr"/>
                <a:lstStyle/>
                <a:p>
                  <a:pPr algn="just"/>
                  <a:r>
                    <a:rPr lang="zh-CN" altLang="en-US" sz="2000" dirty="0"/>
                    <a:t>高</a:t>
                  </a:r>
                  <a:endParaRPr lang="zh-CN" altLang="en-US" sz="2000" dirty="0"/>
                </a:p>
              </p:txBody>
            </p:sp>
            <p:sp>
              <p:nvSpPr>
                <p:cNvPr id="125" name="矩形 128069"/>
                <p:cNvSpPr/>
                <p:nvPr/>
              </p:nvSpPr>
              <p:spPr>
                <a:xfrm>
                  <a:off x="1554" y="1632"/>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8" name="组合 128070"/>
              <p:cNvGrpSpPr/>
              <p:nvPr/>
            </p:nvGrpSpPr>
            <p:grpSpPr>
              <a:xfrm>
                <a:off x="1928" y="1632"/>
                <a:ext cx="950" cy="672"/>
                <a:chOff x="1928" y="1632"/>
                <a:chExt cx="950" cy="672"/>
              </a:xfrm>
            </p:grpSpPr>
            <p:sp>
              <p:nvSpPr>
                <p:cNvPr id="122" name="矩形 128071"/>
                <p:cNvSpPr/>
                <p:nvPr/>
              </p:nvSpPr>
              <p:spPr>
                <a:xfrm>
                  <a:off x="1971" y="1632"/>
                  <a:ext cx="864" cy="672"/>
                </a:xfrm>
                <a:prstGeom prst="rect">
                  <a:avLst/>
                </a:prstGeom>
                <a:noFill/>
                <a:ln w="9525">
                  <a:noFill/>
                </a:ln>
              </p:spPr>
              <p:txBody>
                <a:bodyPr anchor="ctr"/>
                <a:lstStyle/>
                <a:p>
                  <a:pPr algn="just"/>
                  <a:r>
                    <a:rPr lang="zh-CN" altLang="en-US" sz="1600" dirty="0"/>
                    <a:t>对外开放了服务，访问控制机制的缺陷</a:t>
                  </a:r>
                  <a:endParaRPr lang="zh-CN" altLang="en-US" sz="1600" dirty="0"/>
                </a:p>
              </p:txBody>
            </p:sp>
            <p:sp>
              <p:nvSpPr>
                <p:cNvPr id="123" name="矩形 128072"/>
                <p:cNvSpPr/>
                <p:nvPr/>
              </p:nvSpPr>
              <p:spPr>
                <a:xfrm>
                  <a:off x="1928" y="1632"/>
                  <a:ext cx="950"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29" name="组合 128073"/>
              <p:cNvGrpSpPr/>
              <p:nvPr/>
            </p:nvGrpSpPr>
            <p:grpSpPr>
              <a:xfrm>
                <a:off x="2878" y="1632"/>
                <a:ext cx="374" cy="672"/>
                <a:chOff x="2878" y="1632"/>
                <a:chExt cx="374" cy="672"/>
              </a:xfrm>
            </p:grpSpPr>
            <p:sp>
              <p:nvSpPr>
                <p:cNvPr id="120" name="矩形 128074"/>
                <p:cNvSpPr/>
                <p:nvPr/>
              </p:nvSpPr>
              <p:spPr>
                <a:xfrm>
                  <a:off x="2921" y="1632"/>
                  <a:ext cx="288" cy="672"/>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21" name="矩形 128075"/>
                <p:cNvSpPr/>
                <p:nvPr/>
              </p:nvSpPr>
              <p:spPr>
                <a:xfrm>
                  <a:off x="2878" y="1632"/>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0" name="组合 128076"/>
              <p:cNvGrpSpPr/>
              <p:nvPr/>
            </p:nvGrpSpPr>
            <p:grpSpPr>
              <a:xfrm>
                <a:off x="0" y="2304"/>
                <a:ext cx="302" cy="480"/>
                <a:chOff x="0" y="2304"/>
                <a:chExt cx="302" cy="480"/>
              </a:xfrm>
            </p:grpSpPr>
            <p:sp>
              <p:nvSpPr>
                <p:cNvPr id="118" name="矩形 128077"/>
                <p:cNvSpPr/>
                <p:nvPr/>
              </p:nvSpPr>
              <p:spPr>
                <a:xfrm>
                  <a:off x="43" y="2304"/>
                  <a:ext cx="216" cy="480"/>
                </a:xfrm>
                <a:prstGeom prst="rect">
                  <a:avLst/>
                </a:prstGeom>
                <a:noFill/>
                <a:ln w="9525">
                  <a:noFill/>
                </a:ln>
              </p:spPr>
              <p:txBody>
                <a:bodyPr anchor="ctr"/>
                <a:lstStyle/>
                <a:p>
                  <a:pPr algn="ctr"/>
                  <a:r>
                    <a:rPr lang="en-US" altLang="zh-CN" sz="2000"/>
                    <a:t>4</a:t>
                  </a:r>
                  <a:endParaRPr lang="en-US" altLang="zh-CN" sz="2000"/>
                </a:p>
              </p:txBody>
            </p:sp>
            <p:sp>
              <p:nvSpPr>
                <p:cNvPr id="119" name="矩形 128078"/>
                <p:cNvSpPr/>
                <p:nvPr/>
              </p:nvSpPr>
              <p:spPr>
                <a:xfrm>
                  <a:off x="0" y="2304"/>
                  <a:ext cx="30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1" name="组合 128079"/>
              <p:cNvGrpSpPr/>
              <p:nvPr/>
            </p:nvGrpSpPr>
            <p:grpSpPr>
              <a:xfrm>
                <a:off x="302" y="2304"/>
                <a:ext cx="662" cy="480"/>
                <a:chOff x="302" y="2304"/>
                <a:chExt cx="662" cy="480"/>
              </a:xfrm>
            </p:grpSpPr>
            <p:sp>
              <p:nvSpPr>
                <p:cNvPr id="116" name="矩形 128080"/>
                <p:cNvSpPr/>
                <p:nvPr/>
              </p:nvSpPr>
              <p:spPr>
                <a:xfrm>
                  <a:off x="345" y="2304"/>
                  <a:ext cx="576" cy="480"/>
                </a:xfrm>
                <a:prstGeom prst="rect">
                  <a:avLst/>
                </a:prstGeom>
                <a:noFill/>
                <a:ln w="9525">
                  <a:noFill/>
                </a:ln>
              </p:spPr>
              <p:txBody>
                <a:bodyPr anchor="ctr"/>
                <a:lstStyle/>
                <a:p>
                  <a:pPr algn="just"/>
                  <a:r>
                    <a:rPr lang="zh-CN" altLang="en-US" dirty="0"/>
                    <a:t>防火墙系统</a:t>
                  </a:r>
                  <a:endParaRPr lang="zh-CN" altLang="en-US" dirty="0"/>
                </a:p>
              </p:txBody>
            </p:sp>
            <p:sp>
              <p:nvSpPr>
                <p:cNvPr id="117" name="矩形 128081"/>
                <p:cNvSpPr/>
                <p:nvPr/>
              </p:nvSpPr>
              <p:spPr>
                <a:xfrm>
                  <a:off x="302" y="2304"/>
                  <a:ext cx="66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2" name="组合 128082"/>
              <p:cNvGrpSpPr/>
              <p:nvPr/>
            </p:nvGrpSpPr>
            <p:grpSpPr>
              <a:xfrm>
                <a:off x="964" y="2304"/>
                <a:ext cx="590" cy="480"/>
                <a:chOff x="964" y="2304"/>
                <a:chExt cx="590" cy="480"/>
              </a:xfrm>
            </p:grpSpPr>
            <p:sp>
              <p:nvSpPr>
                <p:cNvPr id="114" name="矩形 128083"/>
                <p:cNvSpPr/>
                <p:nvPr/>
              </p:nvSpPr>
              <p:spPr>
                <a:xfrm>
                  <a:off x="1007" y="2304"/>
                  <a:ext cx="504" cy="480"/>
                </a:xfrm>
                <a:prstGeom prst="rect">
                  <a:avLst/>
                </a:prstGeom>
                <a:noFill/>
                <a:ln w="9525">
                  <a:noFill/>
                </a:ln>
              </p:spPr>
              <p:txBody>
                <a:bodyPr anchor="ctr"/>
                <a:lstStyle/>
                <a:p>
                  <a:pPr algn="just"/>
                  <a:r>
                    <a:rPr lang="zh-CN" altLang="en-US" sz="1600" dirty="0"/>
                    <a:t>外部黑客</a:t>
                  </a:r>
                  <a:endParaRPr lang="zh-CN" altLang="en-US" sz="1600" dirty="0"/>
                </a:p>
              </p:txBody>
            </p:sp>
            <p:sp>
              <p:nvSpPr>
                <p:cNvPr id="115" name="矩形 128084"/>
                <p:cNvSpPr/>
                <p:nvPr/>
              </p:nvSpPr>
              <p:spPr>
                <a:xfrm>
                  <a:off x="964" y="2304"/>
                  <a:ext cx="59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3" name="组合 128085"/>
              <p:cNvGrpSpPr/>
              <p:nvPr/>
            </p:nvGrpSpPr>
            <p:grpSpPr>
              <a:xfrm>
                <a:off x="1554" y="2304"/>
                <a:ext cx="374" cy="480"/>
                <a:chOff x="1554" y="2304"/>
                <a:chExt cx="374" cy="480"/>
              </a:xfrm>
            </p:grpSpPr>
            <p:sp>
              <p:nvSpPr>
                <p:cNvPr id="112" name="矩形 128086"/>
                <p:cNvSpPr/>
                <p:nvPr/>
              </p:nvSpPr>
              <p:spPr>
                <a:xfrm>
                  <a:off x="1597" y="2304"/>
                  <a:ext cx="288" cy="480"/>
                </a:xfrm>
                <a:prstGeom prst="rect">
                  <a:avLst/>
                </a:prstGeom>
                <a:noFill/>
                <a:ln w="9525">
                  <a:noFill/>
                </a:ln>
              </p:spPr>
              <p:txBody>
                <a:bodyPr anchor="ctr"/>
                <a:lstStyle/>
                <a:p>
                  <a:pPr algn="just"/>
                  <a:r>
                    <a:rPr lang="zh-CN" altLang="en-US" sz="2000" dirty="0"/>
                    <a:t>高</a:t>
                  </a:r>
                  <a:endParaRPr lang="zh-CN" altLang="en-US" sz="2000" dirty="0"/>
                </a:p>
              </p:txBody>
            </p:sp>
            <p:sp>
              <p:nvSpPr>
                <p:cNvPr id="113" name="矩形 128087"/>
                <p:cNvSpPr/>
                <p:nvPr/>
              </p:nvSpPr>
              <p:spPr>
                <a:xfrm>
                  <a:off x="1554" y="230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4" name="组合 128088"/>
              <p:cNvGrpSpPr/>
              <p:nvPr/>
            </p:nvGrpSpPr>
            <p:grpSpPr>
              <a:xfrm>
                <a:off x="1928" y="2304"/>
                <a:ext cx="950" cy="480"/>
                <a:chOff x="1928" y="2304"/>
                <a:chExt cx="950" cy="480"/>
              </a:xfrm>
            </p:grpSpPr>
            <p:sp>
              <p:nvSpPr>
                <p:cNvPr id="110" name="矩形 128089"/>
                <p:cNvSpPr/>
                <p:nvPr/>
              </p:nvSpPr>
              <p:spPr>
                <a:xfrm>
                  <a:off x="1971" y="2304"/>
                  <a:ext cx="864" cy="480"/>
                </a:xfrm>
                <a:prstGeom prst="rect">
                  <a:avLst/>
                </a:prstGeom>
                <a:noFill/>
                <a:ln w="9525">
                  <a:noFill/>
                </a:ln>
              </p:spPr>
              <p:txBody>
                <a:bodyPr anchor="ctr"/>
                <a:lstStyle/>
                <a:p>
                  <a:pPr algn="just"/>
                  <a:r>
                    <a:rPr lang="zh-CN" altLang="en-US" sz="1600" dirty="0"/>
                    <a:t>本身的抗攻击性弱，过滤机制被旁路</a:t>
                  </a:r>
                  <a:endParaRPr lang="zh-CN" altLang="en-US" sz="1600" dirty="0"/>
                </a:p>
              </p:txBody>
            </p:sp>
            <p:sp>
              <p:nvSpPr>
                <p:cNvPr id="111" name="矩形 128090"/>
                <p:cNvSpPr/>
                <p:nvPr/>
              </p:nvSpPr>
              <p:spPr>
                <a:xfrm>
                  <a:off x="1928" y="2304"/>
                  <a:ext cx="95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5" name="组合 128091"/>
              <p:cNvGrpSpPr/>
              <p:nvPr/>
            </p:nvGrpSpPr>
            <p:grpSpPr>
              <a:xfrm>
                <a:off x="2878" y="2304"/>
                <a:ext cx="374" cy="480"/>
                <a:chOff x="2878" y="2304"/>
                <a:chExt cx="374" cy="480"/>
              </a:xfrm>
            </p:grpSpPr>
            <p:sp>
              <p:nvSpPr>
                <p:cNvPr id="108" name="矩形 128092"/>
                <p:cNvSpPr/>
                <p:nvPr/>
              </p:nvSpPr>
              <p:spPr>
                <a:xfrm>
                  <a:off x="2921" y="2304"/>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109" name="矩形 128093"/>
                <p:cNvSpPr/>
                <p:nvPr/>
              </p:nvSpPr>
              <p:spPr>
                <a:xfrm>
                  <a:off x="2878" y="230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6" name="组合 128094"/>
              <p:cNvGrpSpPr/>
              <p:nvPr/>
            </p:nvGrpSpPr>
            <p:grpSpPr>
              <a:xfrm>
                <a:off x="0" y="2784"/>
                <a:ext cx="302" cy="480"/>
                <a:chOff x="0" y="2784"/>
                <a:chExt cx="302" cy="480"/>
              </a:xfrm>
            </p:grpSpPr>
            <p:sp>
              <p:nvSpPr>
                <p:cNvPr id="106" name="矩形 128095"/>
                <p:cNvSpPr/>
                <p:nvPr/>
              </p:nvSpPr>
              <p:spPr>
                <a:xfrm>
                  <a:off x="43" y="2784"/>
                  <a:ext cx="216" cy="480"/>
                </a:xfrm>
                <a:prstGeom prst="rect">
                  <a:avLst/>
                </a:prstGeom>
                <a:noFill/>
                <a:ln w="9525">
                  <a:noFill/>
                </a:ln>
              </p:spPr>
              <p:txBody>
                <a:bodyPr anchor="ctr"/>
                <a:lstStyle/>
                <a:p>
                  <a:pPr algn="ctr"/>
                  <a:r>
                    <a:rPr lang="en-US" altLang="zh-CN" sz="2000"/>
                    <a:t>5</a:t>
                  </a:r>
                  <a:endParaRPr lang="en-US" altLang="zh-CN" sz="2000"/>
                </a:p>
              </p:txBody>
            </p:sp>
            <p:sp>
              <p:nvSpPr>
                <p:cNvPr id="107" name="矩形 128096"/>
                <p:cNvSpPr/>
                <p:nvPr/>
              </p:nvSpPr>
              <p:spPr>
                <a:xfrm>
                  <a:off x="0" y="2784"/>
                  <a:ext cx="30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7" name="组合 128097"/>
              <p:cNvGrpSpPr/>
              <p:nvPr/>
            </p:nvGrpSpPr>
            <p:grpSpPr>
              <a:xfrm>
                <a:off x="302" y="2784"/>
                <a:ext cx="662" cy="480"/>
                <a:chOff x="302" y="2784"/>
                <a:chExt cx="662" cy="480"/>
              </a:xfrm>
            </p:grpSpPr>
            <p:sp>
              <p:nvSpPr>
                <p:cNvPr id="104" name="矩形 128098"/>
                <p:cNvSpPr/>
                <p:nvPr/>
              </p:nvSpPr>
              <p:spPr>
                <a:xfrm>
                  <a:off x="345" y="2784"/>
                  <a:ext cx="576" cy="480"/>
                </a:xfrm>
                <a:prstGeom prst="rect">
                  <a:avLst/>
                </a:prstGeom>
                <a:noFill/>
                <a:ln w="9525">
                  <a:noFill/>
                </a:ln>
              </p:spPr>
              <p:txBody>
                <a:bodyPr anchor="ctr"/>
                <a:lstStyle/>
                <a:p>
                  <a:pPr algn="just"/>
                  <a:r>
                    <a:rPr lang="zh-CN" altLang="en-US" sz="1600" dirty="0"/>
                    <a:t>路由器系统</a:t>
                  </a:r>
                  <a:endParaRPr lang="zh-CN" altLang="en-US" sz="1600" dirty="0"/>
                </a:p>
              </p:txBody>
            </p:sp>
            <p:sp>
              <p:nvSpPr>
                <p:cNvPr id="105" name="矩形 128099"/>
                <p:cNvSpPr/>
                <p:nvPr/>
              </p:nvSpPr>
              <p:spPr>
                <a:xfrm>
                  <a:off x="302" y="2784"/>
                  <a:ext cx="66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8" name="组合 128100"/>
              <p:cNvGrpSpPr/>
              <p:nvPr/>
            </p:nvGrpSpPr>
            <p:grpSpPr>
              <a:xfrm>
                <a:off x="964" y="2784"/>
                <a:ext cx="590" cy="480"/>
                <a:chOff x="964" y="2784"/>
                <a:chExt cx="590" cy="480"/>
              </a:xfrm>
            </p:grpSpPr>
            <p:sp>
              <p:nvSpPr>
                <p:cNvPr id="102" name="矩形 128101"/>
                <p:cNvSpPr/>
                <p:nvPr/>
              </p:nvSpPr>
              <p:spPr>
                <a:xfrm>
                  <a:off x="1007" y="2784"/>
                  <a:ext cx="504" cy="480"/>
                </a:xfrm>
                <a:prstGeom prst="rect">
                  <a:avLst/>
                </a:prstGeom>
                <a:noFill/>
                <a:ln w="9525">
                  <a:noFill/>
                </a:ln>
              </p:spPr>
              <p:txBody>
                <a:bodyPr anchor="ctr"/>
                <a:lstStyle/>
                <a:p>
                  <a:pPr algn="just"/>
                  <a:r>
                    <a:rPr lang="zh-CN" altLang="en-US" sz="1600" dirty="0"/>
                    <a:t>外部黑客</a:t>
                  </a:r>
                  <a:endParaRPr lang="zh-CN" altLang="en-US" sz="1600" dirty="0"/>
                </a:p>
              </p:txBody>
            </p:sp>
            <p:sp>
              <p:nvSpPr>
                <p:cNvPr id="103" name="矩形 128102"/>
                <p:cNvSpPr/>
                <p:nvPr/>
              </p:nvSpPr>
              <p:spPr>
                <a:xfrm>
                  <a:off x="964" y="2784"/>
                  <a:ext cx="59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39" name="组合 128103"/>
              <p:cNvGrpSpPr/>
              <p:nvPr/>
            </p:nvGrpSpPr>
            <p:grpSpPr>
              <a:xfrm>
                <a:off x="1554" y="2784"/>
                <a:ext cx="374" cy="480"/>
                <a:chOff x="1554" y="2784"/>
                <a:chExt cx="374" cy="480"/>
              </a:xfrm>
            </p:grpSpPr>
            <p:sp>
              <p:nvSpPr>
                <p:cNvPr id="100" name="矩形 128104"/>
                <p:cNvSpPr/>
                <p:nvPr/>
              </p:nvSpPr>
              <p:spPr>
                <a:xfrm>
                  <a:off x="1597" y="2784"/>
                  <a:ext cx="288" cy="480"/>
                </a:xfrm>
                <a:prstGeom prst="rect">
                  <a:avLst/>
                </a:prstGeom>
                <a:noFill/>
                <a:ln w="9525">
                  <a:noFill/>
                </a:ln>
              </p:spPr>
              <p:txBody>
                <a:bodyPr anchor="ctr"/>
                <a:lstStyle/>
                <a:p>
                  <a:pPr algn="just"/>
                  <a:r>
                    <a:rPr lang="zh-CN" altLang="en-US" sz="2000" dirty="0"/>
                    <a:t>中</a:t>
                  </a:r>
                  <a:endParaRPr lang="zh-CN" altLang="en-US" sz="2000" dirty="0"/>
                </a:p>
              </p:txBody>
            </p:sp>
            <p:sp>
              <p:nvSpPr>
                <p:cNvPr id="101" name="矩形 128105"/>
                <p:cNvSpPr/>
                <p:nvPr/>
              </p:nvSpPr>
              <p:spPr>
                <a:xfrm>
                  <a:off x="1554" y="278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0" name="组合 128106"/>
              <p:cNvGrpSpPr/>
              <p:nvPr/>
            </p:nvGrpSpPr>
            <p:grpSpPr>
              <a:xfrm>
                <a:off x="1928" y="2784"/>
                <a:ext cx="950" cy="480"/>
                <a:chOff x="1928" y="2784"/>
                <a:chExt cx="950" cy="480"/>
              </a:xfrm>
            </p:grpSpPr>
            <p:sp>
              <p:nvSpPr>
                <p:cNvPr id="98" name="矩形 128107"/>
                <p:cNvSpPr/>
                <p:nvPr/>
              </p:nvSpPr>
              <p:spPr>
                <a:xfrm>
                  <a:off x="1971" y="2784"/>
                  <a:ext cx="864" cy="480"/>
                </a:xfrm>
                <a:prstGeom prst="rect">
                  <a:avLst/>
                </a:prstGeom>
                <a:noFill/>
                <a:ln w="9525">
                  <a:noFill/>
                </a:ln>
              </p:spPr>
              <p:txBody>
                <a:bodyPr anchor="ctr"/>
                <a:lstStyle/>
                <a:p>
                  <a:pPr algn="just"/>
                  <a:r>
                    <a:rPr lang="zh-CN" altLang="en-US" sz="2000" dirty="0"/>
                    <a:t>拒绝服务攻击</a:t>
                  </a:r>
                  <a:endParaRPr lang="zh-CN" altLang="en-US" sz="2000" dirty="0"/>
                </a:p>
              </p:txBody>
            </p:sp>
            <p:sp>
              <p:nvSpPr>
                <p:cNvPr id="99" name="矩形 128108"/>
                <p:cNvSpPr/>
                <p:nvPr/>
              </p:nvSpPr>
              <p:spPr>
                <a:xfrm>
                  <a:off x="1928" y="2784"/>
                  <a:ext cx="95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1" name="组合 128109"/>
              <p:cNvGrpSpPr/>
              <p:nvPr/>
            </p:nvGrpSpPr>
            <p:grpSpPr>
              <a:xfrm>
                <a:off x="2878" y="2784"/>
                <a:ext cx="374" cy="480"/>
                <a:chOff x="2878" y="2784"/>
                <a:chExt cx="374" cy="480"/>
              </a:xfrm>
            </p:grpSpPr>
            <p:sp>
              <p:nvSpPr>
                <p:cNvPr id="96" name="矩形 128110"/>
                <p:cNvSpPr/>
                <p:nvPr/>
              </p:nvSpPr>
              <p:spPr>
                <a:xfrm>
                  <a:off x="2921" y="2784"/>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97" name="矩形 128111"/>
                <p:cNvSpPr/>
                <p:nvPr/>
              </p:nvSpPr>
              <p:spPr>
                <a:xfrm>
                  <a:off x="2878" y="278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2" name="组合 128112"/>
              <p:cNvGrpSpPr/>
              <p:nvPr/>
            </p:nvGrpSpPr>
            <p:grpSpPr>
              <a:xfrm>
                <a:off x="0" y="3264"/>
                <a:ext cx="302" cy="480"/>
                <a:chOff x="0" y="3264"/>
                <a:chExt cx="302" cy="480"/>
              </a:xfrm>
            </p:grpSpPr>
            <p:sp>
              <p:nvSpPr>
                <p:cNvPr id="94" name="矩形 128113"/>
                <p:cNvSpPr/>
                <p:nvPr/>
              </p:nvSpPr>
              <p:spPr>
                <a:xfrm>
                  <a:off x="43" y="3264"/>
                  <a:ext cx="216" cy="480"/>
                </a:xfrm>
                <a:prstGeom prst="rect">
                  <a:avLst/>
                </a:prstGeom>
                <a:noFill/>
                <a:ln w="9525">
                  <a:noFill/>
                </a:ln>
              </p:spPr>
              <p:txBody>
                <a:bodyPr anchor="ctr"/>
                <a:lstStyle/>
                <a:p>
                  <a:pPr algn="ctr"/>
                  <a:r>
                    <a:rPr lang="en-US" altLang="zh-CN" sz="2000"/>
                    <a:t>6</a:t>
                  </a:r>
                  <a:endParaRPr lang="en-US" altLang="zh-CN" sz="2000"/>
                </a:p>
              </p:txBody>
            </p:sp>
            <p:sp>
              <p:nvSpPr>
                <p:cNvPr id="95" name="矩形 128114"/>
                <p:cNvSpPr/>
                <p:nvPr/>
              </p:nvSpPr>
              <p:spPr>
                <a:xfrm>
                  <a:off x="0" y="3264"/>
                  <a:ext cx="30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3" name="组合 128115"/>
              <p:cNvGrpSpPr/>
              <p:nvPr/>
            </p:nvGrpSpPr>
            <p:grpSpPr>
              <a:xfrm>
                <a:off x="302" y="3264"/>
                <a:ext cx="662" cy="480"/>
                <a:chOff x="302" y="3264"/>
                <a:chExt cx="662" cy="480"/>
              </a:xfrm>
            </p:grpSpPr>
            <p:sp>
              <p:nvSpPr>
                <p:cNvPr id="92" name="矩形 128116"/>
                <p:cNvSpPr/>
                <p:nvPr/>
              </p:nvSpPr>
              <p:spPr>
                <a:xfrm>
                  <a:off x="345" y="3264"/>
                  <a:ext cx="576" cy="480"/>
                </a:xfrm>
                <a:prstGeom prst="rect">
                  <a:avLst/>
                </a:prstGeom>
                <a:noFill/>
                <a:ln w="9525">
                  <a:noFill/>
                </a:ln>
              </p:spPr>
              <p:txBody>
                <a:bodyPr anchor="ctr"/>
                <a:lstStyle/>
                <a:p>
                  <a:pPr algn="just"/>
                  <a:r>
                    <a:rPr lang="zh-CN" altLang="en-US" sz="2000" dirty="0"/>
                    <a:t>远程信道</a:t>
                  </a:r>
                  <a:endParaRPr lang="zh-CN" altLang="en-US" sz="2000" dirty="0"/>
                </a:p>
              </p:txBody>
            </p:sp>
            <p:sp>
              <p:nvSpPr>
                <p:cNvPr id="93" name="矩形 128117"/>
                <p:cNvSpPr/>
                <p:nvPr/>
              </p:nvSpPr>
              <p:spPr>
                <a:xfrm>
                  <a:off x="302" y="3264"/>
                  <a:ext cx="66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4" name="组合 128118"/>
              <p:cNvGrpSpPr/>
              <p:nvPr/>
            </p:nvGrpSpPr>
            <p:grpSpPr>
              <a:xfrm>
                <a:off x="964" y="3264"/>
                <a:ext cx="590" cy="480"/>
                <a:chOff x="964" y="3264"/>
                <a:chExt cx="590" cy="480"/>
              </a:xfrm>
            </p:grpSpPr>
            <p:sp>
              <p:nvSpPr>
                <p:cNvPr id="90" name="矩形 128119"/>
                <p:cNvSpPr/>
                <p:nvPr/>
              </p:nvSpPr>
              <p:spPr>
                <a:xfrm>
                  <a:off x="1007" y="3264"/>
                  <a:ext cx="504" cy="480"/>
                </a:xfrm>
                <a:prstGeom prst="rect">
                  <a:avLst/>
                </a:prstGeom>
                <a:noFill/>
                <a:ln w="9525">
                  <a:noFill/>
                </a:ln>
              </p:spPr>
              <p:txBody>
                <a:bodyPr anchor="ctr"/>
                <a:lstStyle/>
                <a:p>
                  <a:pPr algn="just"/>
                  <a:r>
                    <a:rPr lang="zh-CN" altLang="en-US" dirty="0"/>
                    <a:t>外部黑客</a:t>
                  </a:r>
                  <a:endParaRPr lang="zh-CN" altLang="en-US" dirty="0"/>
                </a:p>
              </p:txBody>
            </p:sp>
            <p:sp>
              <p:nvSpPr>
                <p:cNvPr id="91" name="矩形 128120"/>
                <p:cNvSpPr/>
                <p:nvPr/>
              </p:nvSpPr>
              <p:spPr>
                <a:xfrm>
                  <a:off x="964" y="3264"/>
                  <a:ext cx="59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5" name="组合 128121"/>
              <p:cNvGrpSpPr/>
              <p:nvPr/>
            </p:nvGrpSpPr>
            <p:grpSpPr>
              <a:xfrm>
                <a:off x="1554" y="3264"/>
                <a:ext cx="374" cy="480"/>
                <a:chOff x="1554" y="3264"/>
                <a:chExt cx="374" cy="480"/>
              </a:xfrm>
            </p:grpSpPr>
            <p:sp>
              <p:nvSpPr>
                <p:cNvPr id="88" name="矩形 128122"/>
                <p:cNvSpPr/>
                <p:nvPr/>
              </p:nvSpPr>
              <p:spPr>
                <a:xfrm>
                  <a:off x="1597" y="3264"/>
                  <a:ext cx="288" cy="480"/>
                </a:xfrm>
                <a:prstGeom prst="rect">
                  <a:avLst/>
                </a:prstGeom>
                <a:noFill/>
                <a:ln w="9525">
                  <a:noFill/>
                </a:ln>
              </p:spPr>
              <p:txBody>
                <a:bodyPr anchor="ctr"/>
                <a:lstStyle/>
                <a:p>
                  <a:pPr algn="just"/>
                  <a:r>
                    <a:rPr lang="zh-CN" altLang="en-US" sz="2000" dirty="0"/>
                    <a:t>中</a:t>
                  </a:r>
                  <a:endParaRPr lang="zh-CN" altLang="en-US" sz="2000" dirty="0"/>
                </a:p>
              </p:txBody>
            </p:sp>
            <p:sp>
              <p:nvSpPr>
                <p:cNvPr id="89" name="矩形 128123"/>
                <p:cNvSpPr/>
                <p:nvPr/>
              </p:nvSpPr>
              <p:spPr>
                <a:xfrm>
                  <a:off x="1554" y="326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6" name="组合 128124"/>
              <p:cNvGrpSpPr/>
              <p:nvPr/>
            </p:nvGrpSpPr>
            <p:grpSpPr>
              <a:xfrm>
                <a:off x="1928" y="3264"/>
                <a:ext cx="950" cy="480"/>
                <a:chOff x="1928" y="3264"/>
                <a:chExt cx="950" cy="480"/>
              </a:xfrm>
            </p:grpSpPr>
            <p:sp>
              <p:nvSpPr>
                <p:cNvPr id="86" name="矩形 128125"/>
                <p:cNvSpPr/>
                <p:nvPr/>
              </p:nvSpPr>
              <p:spPr>
                <a:xfrm>
                  <a:off x="1971" y="3264"/>
                  <a:ext cx="864" cy="480"/>
                </a:xfrm>
                <a:prstGeom prst="rect">
                  <a:avLst/>
                </a:prstGeom>
                <a:noFill/>
                <a:ln w="9525">
                  <a:noFill/>
                </a:ln>
              </p:spPr>
              <p:txBody>
                <a:bodyPr anchor="ctr"/>
                <a:lstStyle/>
                <a:p>
                  <a:pPr algn="just"/>
                  <a:r>
                    <a:rPr lang="zh-CN" altLang="en-US" dirty="0"/>
                    <a:t>信道可能被窃听</a:t>
                  </a:r>
                  <a:endParaRPr lang="zh-CN" altLang="en-US" dirty="0"/>
                </a:p>
              </p:txBody>
            </p:sp>
            <p:sp>
              <p:nvSpPr>
                <p:cNvPr id="87" name="矩形 128126"/>
                <p:cNvSpPr/>
                <p:nvPr/>
              </p:nvSpPr>
              <p:spPr>
                <a:xfrm>
                  <a:off x="1928" y="3264"/>
                  <a:ext cx="95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7" name="组合 128127"/>
              <p:cNvGrpSpPr/>
              <p:nvPr/>
            </p:nvGrpSpPr>
            <p:grpSpPr>
              <a:xfrm>
                <a:off x="2878" y="3264"/>
                <a:ext cx="374" cy="480"/>
                <a:chOff x="2878" y="3264"/>
                <a:chExt cx="374" cy="480"/>
              </a:xfrm>
            </p:grpSpPr>
            <p:sp>
              <p:nvSpPr>
                <p:cNvPr id="84" name="矩形 128128"/>
                <p:cNvSpPr/>
                <p:nvPr/>
              </p:nvSpPr>
              <p:spPr>
                <a:xfrm>
                  <a:off x="2921" y="3264"/>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85" name="矩形 128129"/>
                <p:cNvSpPr/>
                <p:nvPr/>
              </p:nvSpPr>
              <p:spPr>
                <a:xfrm>
                  <a:off x="2878" y="326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8" name="组合 128130"/>
              <p:cNvGrpSpPr/>
              <p:nvPr/>
            </p:nvGrpSpPr>
            <p:grpSpPr>
              <a:xfrm>
                <a:off x="0" y="3744"/>
                <a:ext cx="302" cy="480"/>
                <a:chOff x="0" y="3744"/>
                <a:chExt cx="302" cy="480"/>
              </a:xfrm>
            </p:grpSpPr>
            <p:sp>
              <p:nvSpPr>
                <p:cNvPr id="82" name="矩形 128131"/>
                <p:cNvSpPr/>
                <p:nvPr/>
              </p:nvSpPr>
              <p:spPr>
                <a:xfrm>
                  <a:off x="43" y="3744"/>
                  <a:ext cx="216" cy="480"/>
                </a:xfrm>
                <a:prstGeom prst="rect">
                  <a:avLst/>
                </a:prstGeom>
                <a:noFill/>
                <a:ln w="9525">
                  <a:noFill/>
                </a:ln>
              </p:spPr>
              <p:txBody>
                <a:bodyPr anchor="ctr"/>
                <a:lstStyle/>
                <a:p>
                  <a:pPr algn="ctr"/>
                  <a:r>
                    <a:rPr lang="en-US" altLang="zh-CN" sz="2000"/>
                    <a:t>7</a:t>
                  </a:r>
                  <a:endParaRPr lang="en-US" altLang="zh-CN" sz="2000"/>
                </a:p>
              </p:txBody>
            </p:sp>
            <p:sp>
              <p:nvSpPr>
                <p:cNvPr id="83" name="矩形 128132"/>
                <p:cNvSpPr/>
                <p:nvPr/>
              </p:nvSpPr>
              <p:spPr>
                <a:xfrm>
                  <a:off x="0" y="3744"/>
                  <a:ext cx="30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49" name="组合 128133"/>
              <p:cNvGrpSpPr/>
              <p:nvPr/>
            </p:nvGrpSpPr>
            <p:grpSpPr>
              <a:xfrm>
                <a:off x="302" y="3744"/>
                <a:ext cx="662" cy="480"/>
                <a:chOff x="302" y="3744"/>
                <a:chExt cx="662" cy="480"/>
              </a:xfrm>
            </p:grpSpPr>
            <p:sp>
              <p:nvSpPr>
                <p:cNvPr id="80" name="矩形 128134"/>
                <p:cNvSpPr/>
                <p:nvPr/>
              </p:nvSpPr>
              <p:spPr>
                <a:xfrm>
                  <a:off x="345" y="3744"/>
                  <a:ext cx="576" cy="480"/>
                </a:xfrm>
                <a:prstGeom prst="rect">
                  <a:avLst/>
                </a:prstGeom>
                <a:noFill/>
                <a:ln w="9525">
                  <a:noFill/>
                </a:ln>
              </p:spPr>
              <p:txBody>
                <a:bodyPr anchor="ctr"/>
                <a:lstStyle/>
                <a:p>
                  <a:pPr algn="just"/>
                  <a:r>
                    <a:rPr lang="zh-CN" altLang="en-US" sz="2000" dirty="0"/>
                    <a:t>网站信息</a:t>
                  </a:r>
                  <a:endParaRPr lang="zh-CN" altLang="en-US" sz="2000" dirty="0"/>
                </a:p>
              </p:txBody>
            </p:sp>
            <p:sp>
              <p:nvSpPr>
                <p:cNvPr id="81" name="矩形 128135"/>
                <p:cNvSpPr/>
                <p:nvPr/>
              </p:nvSpPr>
              <p:spPr>
                <a:xfrm>
                  <a:off x="302" y="3744"/>
                  <a:ext cx="662"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0" name="组合 128136"/>
              <p:cNvGrpSpPr/>
              <p:nvPr/>
            </p:nvGrpSpPr>
            <p:grpSpPr>
              <a:xfrm>
                <a:off x="964" y="3744"/>
                <a:ext cx="590" cy="480"/>
                <a:chOff x="964" y="3744"/>
                <a:chExt cx="590" cy="480"/>
              </a:xfrm>
            </p:grpSpPr>
            <p:sp>
              <p:nvSpPr>
                <p:cNvPr id="78" name="矩形 128137"/>
                <p:cNvSpPr/>
                <p:nvPr/>
              </p:nvSpPr>
              <p:spPr>
                <a:xfrm>
                  <a:off x="1007" y="3744"/>
                  <a:ext cx="504" cy="480"/>
                </a:xfrm>
                <a:prstGeom prst="rect">
                  <a:avLst/>
                </a:prstGeom>
                <a:noFill/>
                <a:ln w="9525">
                  <a:noFill/>
                </a:ln>
              </p:spPr>
              <p:txBody>
                <a:bodyPr anchor="ctr"/>
                <a:lstStyle/>
                <a:p>
                  <a:pPr algn="just"/>
                  <a:r>
                    <a:rPr lang="zh-CN" altLang="en-US" dirty="0"/>
                    <a:t>外部黑客</a:t>
                  </a:r>
                  <a:endParaRPr lang="zh-CN" altLang="en-US" dirty="0"/>
                </a:p>
              </p:txBody>
            </p:sp>
            <p:sp>
              <p:nvSpPr>
                <p:cNvPr id="79" name="矩形 128138"/>
                <p:cNvSpPr/>
                <p:nvPr/>
              </p:nvSpPr>
              <p:spPr>
                <a:xfrm>
                  <a:off x="964" y="3744"/>
                  <a:ext cx="59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1" name="组合 128139"/>
              <p:cNvGrpSpPr/>
              <p:nvPr/>
            </p:nvGrpSpPr>
            <p:grpSpPr>
              <a:xfrm>
                <a:off x="1554" y="3744"/>
                <a:ext cx="374" cy="480"/>
                <a:chOff x="1554" y="3744"/>
                <a:chExt cx="374" cy="480"/>
              </a:xfrm>
            </p:grpSpPr>
            <p:sp>
              <p:nvSpPr>
                <p:cNvPr id="76" name="矩形 128140"/>
                <p:cNvSpPr/>
                <p:nvPr/>
              </p:nvSpPr>
              <p:spPr>
                <a:xfrm>
                  <a:off x="1597" y="3744"/>
                  <a:ext cx="288" cy="480"/>
                </a:xfrm>
                <a:prstGeom prst="rect">
                  <a:avLst/>
                </a:prstGeom>
                <a:noFill/>
                <a:ln w="9525">
                  <a:noFill/>
                </a:ln>
              </p:spPr>
              <p:txBody>
                <a:bodyPr anchor="ctr"/>
                <a:lstStyle/>
                <a:p>
                  <a:pPr algn="just"/>
                  <a:r>
                    <a:rPr lang="zh-CN" altLang="en-US" dirty="0"/>
                    <a:t>高</a:t>
                  </a:r>
                  <a:endParaRPr lang="zh-CN" altLang="en-US" dirty="0"/>
                </a:p>
              </p:txBody>
            </p:sp>
            <p:sp>
              <p:nvSpPr>
                <p:cNvPr id="77" name="矩形 128141"/>
                <p:cNvSpPr/>
                <p:nvPr/>
              </p:nvSpPr>
              <p:spPr>
                <a:xfrm>
                  <a:off x="1554" y="374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2" name="组合 128142"/>
              <p:cNvGrpSpPr/>
              <p:nvPr/>
            </p:nvGrpSpPr>
            <p:grpSpPr>
              <a:xfrm>
                <a:off x="1928" y="3744"/>
                <a:ext cx="950" cy="480"/>
                <a:chOff x="1928" y="3744"/>
                <a:chExt cx="950" cy="480"/>
              </a:xfrm>
            </p:grpSpPr>
            <p:sp>
              <p:nvSpPr>
                <p:cNvPr id="74" name="矩形 128143"/>
                <p:cNvSpPr/>
                <p:nvPr/>
              </p:nvSpPr>
              <p:spPr>
                <a:xfrm>
                  <a:off x="1971" y="3744"/>
                  <a:ext cx="864" cy="480"/>
                </a:xfrm>
                <a:prstGeom prst="rect">
                  <a:avLst/>
                </a:prstGeom>
                <a:noFill/>
                <a:ln w="9525">
                  <a:noFill/>
                </a:ln>
              </p:spPr>
              <p:txBody>
                <a:bodyPr anchor="ctr"/>
                <a:lstStyle/>
                <a:p>
                  <a:pPr algn="just"/>
                  <a:r>
                    <a:rPr lang="zh-CN" altLang="en-US" dirty="0"/>
                    <a:t>缺少防护措施</a:t>
                  </a:r>
                  <a:endParaRPr lang="zh-CN" altLang="en-US" dirty="0"/>
                </a:p>
              </p:txBody>
            </p:sp>
            <p:sp>
              <p:nvSpPr>
                <p:cNvPr id="75" name="矩形 128144"/>
                <p:cNvSpPr/>
                <p:nvPr/>
              </p:nvSpPr>
              <p:spPr>
                <a:xfrm>
                  <a:off x="1928" y="3744"/>
                  <a:ext cx="950"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3" name="组合 128145"/>
              <p:cNvGrpSpPr/>
              <p:nvPr/>
            </p:nvGrpSpPr>
            <p:grpSpPr>
              <a:xfrm>
                <a:off x="2878" y="3744"/>
                <a:ext cx="374" cy="480"/>
                <a:chOff x="2878" y="3744"/>
                <a:chExt cx="374" cy="480"/>
              </a:xfrm>
            </p:grpSpPr>
            <p:sp>
              <p:nvSpPr>
                <p:cNvPr id="72" name="矩形 128146"/>
                <p:cNvSpPr/>
                <p:nvPr/>
              </p:nvSpPr>
              <p:spPr>
                <a:xfrm>
                  <a:off x="2921" y="3744"/>
                  <a:ext cx="288" cy="480"/>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73" name="矩形 128147"/>
                <p:cNvSpPr/>
                <p:nvPr/>
              </p:nvSpPr>
              <p:spPr>
                <a:xfrm>
                  <a:off x="2878" y="3744"/>
                  <a:ext cx="374" cy="480"/>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4" name="组合 128148"/>
              <p:cNvGrpSpPr/>
              <p:nvPr/>
            </p:nvGrpSpPr>
            <p:grpSpPr>
              <a:xfrm>
                <a:off x="0" y="4224"/>
                <a:ext cx="302" cy="672"/>
                <a:chOff x="0" y="4224"/>
                <a:chExt cx="302" cy="672"/>
              </a:xfrm>
            </p:grpSpPr>
            <p:sp>
              <p:nvSpPr>
                <p:cNvPr id="70" name="矩形 128149"/>
                <p:cNvSpPr/>
                <p:nvPr/>
              </p:nvSpPr>
              <p:spPr>
                <a:xfrm>
                  <a:off x="43" y="4224"/>
                  <a:ext cx="216" cy="672"/>
                </a:xfrm>
                <a:prstGeom prst="rect">
                  <a:avLst/>
                </a:prstGeom>
                <a:noFill/>
                <a:ln w="9525">
                  <a:noFill/>
                </a:ln>
              </p:spPr>
              <p:txBody>
                <a:bodyPr anchor="ctr"/>
                <a:lstStyle/>
                <a:p>
                  <a:pPr algn="ctr"/>
                  <a:r>
                    <a:rPr lang="en-US" altLang="zh-CN" sz="2000"/>
                    <a:t>8</a:t>
                  </a:r>
                  <a:endParaRPr lang="en-US" altLang="zh-CN" sz="2000"/>
                </a:p>
              </p:txBody>
            </p:sp>
            <p:sp>
              <p:nvSpPr>
                <p:cNvPr id="71" name="矩形 128150"/>
                <p:cNvSpPr/>
                <p:nvPr/>
              </p:nvSpPr>
              <p:spPr>
                <a:xfrm>
                  <a:off x="0" y="4224"/>
                  <a:ext cx="302"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5" name="组合 128151"/>
              <p:cNvGrpSpPr/>
              <p:nvPr/>
            </p:nvGrpSpPr>
            <p:grpSpPr>
              <a:xfrm>
                <a:off x="302" y="4224"/>
                <a:ext cx="662" cy="672"/>
                <a:chOff x="302" y="4224"/>
                <a:chExt cx="662" cy="672"/>
              </a:xfrm>
            </p:grpSpPr>
            <p:sp>
              <p:nvSpPr>
                <p:cNvPr id="68" name="矩形 128152"/>
                <p:cNvSpPr/>
                <p:nvPr/>
              </p:nvSpPr>
              <p:spPr>
                <a:xfrm>
                  <a:off x="345" y="4224"/>
                  <a:ext cx="576" cy="672"/>
                </a:xfrm>
                <a:prstGeom prst="rect">
                  <a:avLst/>
                </a:prstGeom>
                <a:noFill/>
                <a:ln w="9525">
                  <a:noFill/>
                </a:ln>
              </p:spPr>
              <p:txBody>
                <a:bodyPr anchor="ctr"/>
                <a:lstStyle/>
                <a:p>
                  <a:pPr algn="just"/>
                  <a:r>
                    <a:rPr lang="zh-CN" altLang="en-US" sz="2000" dirty="0"/>
                    <a:t>内部站点</a:t>
                  </a:r>
                  <a:endParaRPr lang="zh-CN" altLang="en-US" sz="2000" dirty="0"/>
                </a:p>
              </p:txBody>
            </p:sp>
            <p:sp>
              <p:nvSpPr>
                <p:cNvPr id="69" name="矩形 128153"/>
                <p:cNvSpPr/>
                <p:nvPr/>
              </p:nvSpPr>
              <p:spPr>
                <a:xfrm>
                  <a:off x="302" y="4224"/>
                  <a:ext cx="662"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6" name="组合 128154"/>
              <p:cNvGrpSpPr/>
              <p:nvPr/>
            </p:nvGrpSpPr>
            <p:grpSpPr>
              <a:xfrm>
                <a:off x="964" y="4224"/>
                <a:ext cx="590" cy="672"/>
                <a:chOff x="964" y="4224"/>
                <a:chExt cx="590" cy="672"/>
              </a:xfrm>
            </p:grpSpPr>
            <p:sp>
              <p:nvSpPr>
                <p:cNvPr id="66" name="矩形 128155"/>
                <p:cNvSpPr/>
                <p:nvPr/>
              </p:nvSpPr>
              <p:spPr>
                <a:xfrm>
                  <a:off x="1007" y="4224"/>
                  <a:ext cx="504" cy="672"/>
                </a:xfrm>
                <a:prstGeom prst="rect">
                  <a:avLst/>
                </a:prstGeom>
                <a:noFill/>
                <a:ln w="9525">
                  <a:noFill/>
                </a:ln>
              </p:spPr>
              <p:txBody>
                <a:bodyPr anchor="ctr"/>
                <a:lstStyle/>
                <a:p>
                  <a:pPr indent="266700" algn="ctr"/>
                  <a:r>
                    <a:rPr lang="zh-CN" altLang="en-US" dirty="0"/>
                    <a:t>外部黑客，</a:t>
                  </a:r>
                  <a:endParaRPr lang="zh-CN" altLang="en-US" dirty="0"/>
                </a:p>
                <a:p>
                  <a:pPr indent="266700" algn="ctr"/>
                  <a:r>
                    <a:rPr lang="zh-CN" altLang="en-US" dirty="0"/>
                    <a:t>内部人员</a:t>
                  </a:r>
                  <a:endParaRPr lang="zh-CN" altLang="en-US" dirty="0"/>
                </a:p>
              </p:txBody>
            </p:sp>
            <p:sp>
              <p:nvSpPr>
                <p:cNvPr id="67" name="矩形 128156"/>
                <p:cNvSpPr/>
                <p:nvPr/>
              </p:nvSpPr>
              <p:spPr>
                <a:xfrm>
                  <a:off x="964" y="4224"/>
                  <a:ext cx="590"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7" name="组合 128157"/>
              <p:cNvGrpSpPr/>
              <p:nvPr/>
            </p:nvGrpSpPr>
            <p:grpSpPr>
              <a:xfrm>
                <a:off x="1554" y="4224"/>
                <a:ext cx="374" cy="672"/>
                <a:chOff x="1554" y="4224"/>
                <a:chExt cx="374" cy="672"/>
              </a:xfrm>
            </p:grpSpPr>
            <p:sp>
              <p:nvSpPr>
                <p:cNvPr id="64" name="矩形 128158"/>
                <p:cNvSpPr/>
                <p:nvPr/>
              </p:nvSpPr>
              <p:spPr>
                <a:xfrm>
                  <a:off x="1597" y="4224"/>
                  <a:ext cx="288" cy="672"/>
                </a:xfrm>
                <a:prstGeom prst="rect">
                  <a:avLst/>
                </a:prstGeom>
                <a:noFill/>
                <a:ln w="9525">
                  <a:noFill/>
                </a:ln>
              </p:spPr>
              <p:txBody>
                <a:bodyPr anchor="ctr"/>
                <a:lstStyle/>
                <a:p>
                  <a:pPr algn="just"/>
                  <a:r>
                    <a:rPr lang="zh-CN" altLang="en-US" sz="2000" dirty="0"/>
                    <a:t>高</a:t>
                  </a:r>
                  <a:endParaRPr lang="zh-CN" altLang="en-US" sz="2000" dirty="0"/>
                </a:p>
              </p:txBody>
            </p:sp>
            <p:sp>
              <p:nvSpPr>
                <p:cNvPr id="65" name="矩形 128159"/>
                <p:cNvSpPr/>
                <p:nvPr/>
              </p:nvSpPr>
              <p:spPr>
                <a:xfrm>
                  <a:off x="1554" y="4224"/>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8" name="组合 128160"/>
              <p:cNvGrpSpPr/>
              <p:nvPr/>
            </p:nvGrpSpPr>
            <p:grpSpPr>
              <a:xfrm>
                <a:off x="1928" y="4224"/>
                <a:ext cx="950" cy="672"/>
                <a:chOff x="1928" y="4224"/>
                <a:chExt cx="950" cy="672"/>
              </a:xfrm>
            </p:grpSpPr>
            <p:sp>
              <p:nvSpPr>
                <p:cNvPr id="62" name="矩形 128161"/>
                <p:cNvSpPr/>
                <p:nvPr/>
              </p:nvSpPr>
              <p:spPr>
                <a:xfrm>
                  <a:off x="1971" y="4224"/>
                  <a:ext cx="864" cy="672"/>
                </a:xfrm>
                <a:prstGeom prst="rect">
                  <a:avLst/>
                </a:prstGeom>
                <a:noFill/>
                <a:ln w="9525">
                  <a:noFill/>
                </a:ln>
              </p:spPr>
              <p:txBody>
                <a:bodyPr anchor="ctr"/>
                <a:lstStyle/>
                <a:p>
                  <a:pPr algn="just"/>
                  <a:r>
                    <a:rPr lang="zh-CN" altLang="en-US" dirty="0"/>
                    <a:t>防护较弱，内部制度松懈</a:t>
                  </a:r>
                  <a:endParaRPr lang="zh-CN" altLang="en-US" dirty="0"/>
                </a:p>
              </p:txBody>
            </p:sp>
            <p:sp>
              <p:nvSpPr>
                <p:cNvPr id="63" name="矩形 128162"/>
                <p:cNvSpPr/>
                <p:nvPr/>
              </p:nvSpPr>
              <p:spPr>
                <a:xfrm>
                  <a:off x="1928" y="4224"/>
                  <a:ext cx="950"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59" name="组合 128163"/>
              <p:cNvGrpSpPr/>
              <p:nvPr/>
            </p:nvGrpSpPr>
            <p:grpSpPr>
              <a:xfrm>
                <a:off x="2878" y="4224"/>
                <a:ext cx="374" cy="672"/>
                <a:chOff x="2878" y="4224"/>
                <a:chExt cx="374" cy="672"/>
              </a:xfrm>
            </p:grpSpPr>
            <p:sp>
              <p:nvSpPr>
                <p:cNvPr id="60" name="矩形 128164"/>
                <p:cNvSpPr/>
                <p:nvPr/>
              </p:nvSpPr>
              <p:spPr>
                <a:xfrm>
                  <a:off x="2921" y="4224"/>
                  <a:ext cx="288" cy="672"/>
                </a:xfrm>
                <a:prstGeom prst="rect">
                  <a:avLst/>
                </a:prstGeom>
                <a:noFill/>
                <a:ln w="9525">
                  <a:noFill/>
                </a:ln>
              </p:spPr>
              <p:txBody>
                <a:bodyPr anchor="ctr"/>
                <a:lstStyle/>
                <a:p>
                  <a:pPr algn="just"/>
                  <a:r>
                    <a:rPr lang="en-US" altLang="zh-CN" sz="1000" dirty="0"/>
                    <a:t> </a:t>
                  </a:r>
                  <a:endParaRPr lang="en-US" altLang="zh-CN" sz="1000" dirty="0"/>
                </a:p>
                <a:p>
                  <a:pPr algn="just" eaLnBrk="0" hangingPunct="0"/>
                  <a:endParaRPr lang="en-US" altLang="zh-CN" dirty="0"/>
                </a:p>
              </p:txBody>
            </p:sp>
            <p:sp>
              <p:nvSpPr>
                <p:cNvPr id="61" name="矩形 128165"/>
                <p:cNvSpPr/>
                <p:nvPr/>
              </p:nvSpPr>
              <p:spPr>
                <a:xfrm>
                  <a:off x="2878" y="4224"/>
                  <a:ext cx="374" cy="67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p>
              </p:txBody>
            </p:sp>
          </p:grpSp>
        </p:grpSp>
        <p:sp>
          <p:nvSpPr>
            <p:cNvPr id="5" name="矩形 128166"/>
            <p:cNvSpPr/>
            <p:nvPr/>
          </p:nvSpPr>
          <p:spPr>
            <a:xfrm>
              <a:off x="-3" y="-3"/>
              <a:ext cx="3258" cy="4902"/>
            </a:xfrm>
            <a:prstGeom prst="rect">
              <a:avLst/>
            </a:prstGeom>
            <a:noFill/>
            <a:ln w="9525" cap="flat" cmpd="sng">
              <a:solidFill>
                <a:srgbClr val="A0A0A0"/>
              </a:solidFill>
              <a:prstDash val="solid"/>
              <a:miter/>
              <a:headEnd type="none" w="med" len="med"/>
              <a:tailEnd type="none" w="med" len="med"/>
            </a:ln>
          </p:spPr>
          <p:txBody>
            <a:bodyPr anchor="t"/>
            <a:lstStyle/>
            <a:p>
              <a:endParaRPr lang="zh-CN" altLang="en-US"/>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902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129026"/>
          <p:cNvSpPr txBox="1"/>
          <p:nvPr/>
        </p:nvSpPr>
        <p:spPr>
          <a:xfrm>
            <a:off x="1056904" y="1296000"/>
            <a:ext cx="10082151"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在分析了公司受保护对象可能受到的各种威胁之后，可以考虑针对这些威胁的防护措施，包括对系统的安全性进行完善性的修改。保护措施设计必须能够有效地阻止这些威胁的发生，同时还需要根据被保护对象的价值，衡量保护措施的投入是否值得。针对表</a:t>
            </a:r>
            <a:r>
              <a:rPr lang="en-US" altLang="zh-CN" dirty="0" smtClean="0"/>
              <a:t>3-3</a:t>
            </a:r>
            <a:r>
              <a:rPr lang="zh-CN" altLang="en-US" dirty="0" smtClean="0">
                <a:latin typeface="宋体" panose="02010600030101010101" pitchFamily="2" charset="-122"/>
              </a:rPr>
              <a:t>中所列的各种威胁，可以采用以下安全防护措施。</a:t>
            </a:r>
            <a:r>
              <a:rPr lang="zh-CN" altLang="en-US" dirty="0" smtClean="0"/>
              <a:t> </a:t>
            </a:r>
            <a:endParaRPr lang="zh-CN" altLang="en-US" dirty="0"/>
          </a:p>
        </p:txBody>
      </p:sp>
      <p:grpSp>
        <p:nvGrpSpPr>
          <p:cNvPr id="4" name="组合 3"/>
          <p:cNvGrpSpPr/>
          <p:nvPr/>
        </p:nvGrpSpPr>
        <p:grpSpPr>
          <a:xfrm>
            <a:off x="1176560" y="433698"/>
            <a:ext cx="4077920" cy="791052"/>
            <a:chOff x="824072" y="1564267"/>
            <a:chExt cx="4077920" cy="791052"/>
          </a:xfrm>
        </p:grpSpPr>
        <p:sp>
          <p:nvSpPr>
            <p:cNvPr id="5" name="矩形: 圆角 16"/>
            <p:cNvSpPr/>
            <p:nvPr/>
          </p:nvSpPr>
          <p:spPr>
            <a:xfrm>
              <a:off x="824072" y="1740416"/>
              <a:ext cx="4077920"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04341"/>
              <a:ext cx="3137397" cy="523220"/>
            </a:xfrm>
            <a:prstGeom prst="rect">
              <a:avLst/>
            </a:prstGeom>
          </p:spPr>
          <p:txBody>
            <a:bodyPr wrap="none">
              <a:spAutoFit/>
            </a:bodyPr>
            <a:lstStyle/>
            <a:p>
              <a:pPr fontAlgn="base"/>
              <a:r>
                <a:rPr lang="zh-CN" altLang="en-US" sz="2800" dirty="0">
                  <a:solidFill>
                    <a:schemeClr val="bg1"/>
                  </a:solidFill>
                  <a:latin typeface="+mj-ea"/>
                </a:rPr>
                <a:t>三、确定保护措施</a:t>
              </a:r>
              <a:r>
                <a:rPr lang="zh-CN" altLang="en-US" sz="2800" noProof="1">
                  <a:solidFill>
                    <a:schemeClr val="bg1"/>
                  </a:solidFill>
                  <a:latin typeface="+mj-ea"/>
                </a:rPr>
                <a:t> </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0049"/>
          <p:cNvSpPr txBox="1"/>
          <p:nvPr/>
        </p:nvSpPr>
        <p:spPr>
          <a:xfrm>
            <a:off x="1056905" y="467626"/>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130050"/>
          <p:cNvSpPr txBox="1"/>
          <p:nvPr/>
        </p:nvSpPr>
        <p:spPr>
          <a:xfrm>
            <a:off x="1056905" y="1296000"/>
            <a:ext cx="10058400"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网络硬件设备包括服务器、路由器、防火墙、交换机与网线等设施，它们的安全主要与机房环境与设计有关，如与防火（包括防电失火）、防潮、防盗、防电磁干扰等方面的防护能力有关。此外还与机房的管理制度有密切关系。因此这类威胁的消除要通过重点加强机房的安全防护能力和严格管理制度等方面加以实现。</a:t>
            </a:r>
            <a:r>
              <a:rPr lang="zh-CN" altLang="en-US" dirty="0" smtClean="0"/>
              <a:t> </a:t>
            </a:r>
            <a:endParaRPr lang="zh-CN" altLang="en-US" dirty="0"/>
          </a:p>
        </p:txBody>
      </p:sp>
      <p:grpSp>
        <p:nvGrpSpPr>
          <p:cNvPr id="4" name="组合 3"/>
          <p:cNvGrpSpPr/>
          <p:nvPr/>
        </p:nvGrpSpPr>
        <p:grpSpPr>
          <a:xfrm>
            <a:off x="1056905" y="372626"/>
            <a:ext cx="5142014" cy="840284"/>
            <a:chOff x="3135993" y="1051060"/>
            <a:chExt cx="5142014" cy="840284"/>
          </a:xfrm>
        </p:grpSpPr>
        <p:sp>
          <p:nvSpPr>
            <p:cNvPr id="5" name="矩形: 圆角 6"/>
            <p:cNvSpPr/>
            <p:nvPr/>
          </p:nvSpPr>
          <p:spPr>
            <a:xfrm>
              <a:off x="3839427" y="1280937"/>
              <a:ext cx="4438580"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134465"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网络</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各种硬件设备的</a:t>
              </a: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安全</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1073"/>
          <p:cNvSpPr txBox="1"/>
          <p:nvPr/>
        </p:nvSpPr>
        <p:spPr>
          <a:xfrm>
            <a:off x="1033153" y="479501"/>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131074"/>
          <p:cNvSpPr txBox="1"/>
          <p:nvPr/>
        </p:nvSpPr>
        <p:spPr>
          <a:xfrm>
            <a:off x="1033153" y="1296000"/>
            <a:ext cx="10094026"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这类信息的防护手段主要是加密与访问控制。用户的访问权限应该满足军用安全模型中的最小特权原则和知其所需原则的要求，对数据库中的信息应该根据敏感程度划分安全等级。用户对数据库的访问经由</a:t>
            </a:r>
            <a:r>
              <a:rPr lang="en-US" altLang="zh-CN" dirty="0" smtClean="0"/>
              <a:t>DBMS</a:t>
            </a:r>
            <a:r>
              <a:rPr lang="zh-CN" altLang="en-US" dirty="0" smtClean="0">
                <a:latin typeface="宋体" panose="02010600030101010101" pitchFamily="2" charset="-122"/>
              </a:rPr>
              <a:t>和应用程序两级控制。要充分利用</a:t>
            </a:r>
            <a:r>
              <a:rPr lang="en-US" altLang="zh-CN" dirty="0" smtClean="0"/>
              <a:t>DBMS</a:t>
            </a:r>
            <a:r>
              <a:rPr lang="zh-CN" altLang="en-US" dirty="0" smtClean="0">
                <a:latin typeface="宋体" panose="02010600030101010101" pitchFamily="2" charset="-122"/>
              </a:rPr>
              <a:t>的安全机制，确定允许用户访问库内容的访问与权限；在应用程序中，也应该增加访问控制机制，限制每个用户只能访问与他自己有关信息。</a:t>
            </a:r>
            <a:r>
              <a:rPr lang="zh-CN" altLang="en-US" dirty="0" smtClean="0"/>
              <a:t> </a:t>
            </a:r>
            <a:endParaRPr lang="zh-CN" altLang="en-US" dirty="0"/>
          </a:p>
        </p:txBody>
      </p:sp>
      <p:grpSp>
        <p:nvGrpSpPr>
          <p:cNvPr id="4" name="组合 3"/>
          <p:cNvGrpSpPr/>
          <p:nvPr/>
        </p:nvGrpSpPr>
        <p:grpSpPr>
          <a:xfrm>
            <a:off x="1033153" y="372626"/>
            <a:ext cx="4253206" cy="840284"/>
            <a:chOff x="3135993" y="1051060"/>
            <a:chExt cx="4253206" cy="840284"/>
          </a:xfrm>
        </p:grpSpPr>
        <p:sp>
          <p:nvSpPr>
            <p:cNvPr id="5" name="矩形: 圆角 6"/>
            <p:cNvSpPr/>
            <p:nvPr/>
          </p:nvSpPr>
          <p:spPr>
            <a:xfrm>
              <a:off x="3839427" y="1280937"/>
              <a:ext cx="3549772"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416320"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数据库</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中的涉密</a:t>
              </a: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2097"/>
          <p:cNvSpPr txBox="1"/>
          <p:nvPr/>
        </p:nvSpPr>
        <p:spPr>
          <a:xfrm>
            <a:off x="1068779" y="621475"/>
            <a:ext cx="7772400" cy="6858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3600" dirty="0">
              <a:latin typeface="宋体" panose="02010600030101010101" pitchFamily="2" charset="-122"/>
            </a:endParaRPr>
          </a:p>
        </p:txBody>
      </p:sp>
      <p:sp>
        <p:nvSpPr>
          <p:cNvPr id="3" name="文本占位符 132098"/>
          <p:cNvSpPr txBox="1"/>
          <p:nvPr/>
        </p:nvSpPr>
        <p:spPr>
          <a:xfrm>
            <a:off x="1068779" y="1600200"/>
            <a:ext cx="10105902" cy="44958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这里的防火墙系统是指操作系统及其上的防火墙软件。防火墙操作系统的抗攻击能力直接影响防火墙的安全性，如果攻击者获取了操作系统的根权限，就可以使防火墙功能失效。为了防止受到攻击，应该最大限度地裁减防火墙操作系统的功能，去掉所有不必要的服务。防火墙系统还有一个安全规则配置的完整性问题，如果配置不完整，安全过滤表就有漏洞，防火墙就有可能被旁路。</a:t>
            </a:r>
            <a:r>
              <a:rPr lang="zh-CN" altLang="en-US" dirty="0" smtClean="0"/>
              <a:t> </a:t>
            </a:r>
            <a:endParaRPr lang="zh-CN" altLang="en-US" dirty="0"/>
          </a:p>
        </p:txBody>
      </p:sp>
      <p:grpSp>
        <p:nvGrpSpPr>
          <p:cNvPr id="4" name="组合 3"/>
          <p:cNvGrpSpPr/>
          <p:nvPr/>
        </p:nvGrpSpPr>
        <p:grpSpPr>
          <a:xfrm>
            <a:off x="1068779" y="371991"/>
            <a:ext cx="3015767" cy="840284"/>
            <a:chOff x="3135993" y="1051060"/>
            <a:chExt cx="3015767" cy="840284"/>
          </a:xfrm>
        </p:grpSpPr>
        <p:sp>
          <p:nvSpPr>
            <p:cNvPr id="5" name="矩形: 圆角 6"/>
            <p:cNvSpPr/>
            <p:nvPr/>
          </p:nvSpPr>
          <p:spPr>
            <a:xfrm>
              <a:off x="3839427" y="1280937"/>
              <a:ext cx="2312333"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980029" cy="523220"/>
            </a:xfrm>
            <a:prstGeom prst="rect">
              <a:avLst/>
            </a:prstGeom>
          </p:spPr>
          <p:txBody>
            <a:bodyPr wrap="none">
              <a:spAutoFit/>
            </a:bodyPr>
            <a:lstStyle/>
            <a:p>
              <a:pPr fontAlgn="base">
                <a:spcAft>
                  <a:spcPct val="0"/>
                </a:spcAft>
                <a:defRPr/>
              </a:pP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防火墙</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系统</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3121"/>
          <p:cNvSpPr txBox="1"/>
          <p:nvPr/>
        </p:nvSpPr>
        <p:spPr>
          <a:xfrm>
            <a:off x="1080655" y="467626"/>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133122"/>
          <p:cNvSpPr txBox="1"/>
          <p:nvPr/>
        </p:nvSpPr>
        <p:spPr>
          <a:xfrm>
            <a:off x="1080655" y="1296000"/>
            <a:ext cx="10046524"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路由器虽小，但内部包含小型实时操作系统，路由控制和安全过滤等软件模块。为了便于远程维护管理，路由器也提供远程访问功能，如</a:t>
            </a:r>
            <a:r>
              <a:rPr lang="en-US" altLang="zh-CN" dirty="0" smtClean="0"/>
              <a:t>TELNET</a:t>
            </a:r>
            <a:r>
              <a:rPr lang="zh-CN" altLang="en-US" dirty="0" smtClean="0">
                <a:latin typeface="宋体" panose="02010600030101010101" pitchFamily="2" charset="-122"/>
              </a:rPr>
              <a:t>、</a:t>
            </a:r>
            <a:r>
              <a:rPr lang="en-US" altLang="zh-CN" dirty="0" smtClean="0"/>
              <a:t>TFTP</a:t>
            </a:r>
            <a:r>
              <a:rPr lang="zh-CN" altLang="en-US" dirty="0" smtClean="0">
                <a:latin typeface="宋体" panose="02010600030101010101" pitchFamily="2" charset="-122"/>
              </a:rPr>
              <a:t>等服务功能。路由器可能会遭受：</a:t>
            </a:r>
            <a:endParaRPr lang="zh-CN" altLang="en-US" dirty="0" smtClean="0">
              <a:latin typeface="宋体" panose="02010600030101010101" pitchFamily="2" charset="-122"/>
            </a:endParaRPr>
          </a:p>
          <a:p>
            <a:pPr algn="just">
              <a:buNone/>
            </a:pPr>
            <a:r>
              <a:rPr lang="en-US" altLang="zh-CN" dirty="0"/>
              <a:t>(1) </a:t>
            </a:r>
            <a:r>
              <a:rPr lang="zh-CN" altLang="en-US" dirty="0" smtClean="0">
                <a:latin typeface="宋体" panose="02010600030101010101" pitchFamily="2" charset="-122"/>
              </a:rPr>
              <a:t>拒绝服务攻击：影响甚至中断路由器对分组的转发能力。</a:t>
            </a:r>
            <a:r>
              <a:rPr lang="zh-CN" altLang="en-US" dirty="0" smtClean="0"/>
              <a:t> </a:t>
            </a:r>
            <a:endParaRPr lang="en-US" altLang="zh-CN" dirty="0" smtClean="0"/>
          </a:p>
          <a:p>
            <a:pPr algn="just">
              <a:buNone/>
            </a:pPr>
            <a:r>
              <a:rPr lang="en-US" altLang="zh-CN" dirty="0" smtClean="0"/>
              <a:t>(2</a:t>
            </a:r>
            <a:r>
              <a:rPr lang="en-US" altLang="zh-CN" dirty="0"/>
              <a:t>) </a:t>
            </a:r>
            <a:r>
              <a:rPr lang="zh-CN" altLang="en-US" dirty="0"/>
              <a:t>干扰路由协议的正常执行：例如，干扰路由协议的同步信标，修改路由广播信息等。</a:t>
            </a:r>
            <a:endParaRPr lang="zh-CN" altLang="en-US" dirty="0"/>
          </a:p>
          <a:p>
            <a:pPr algn="just">
              <a:buNone/>
            </a:pPr>
            <a:r>
              <a:rPr lang="en-US" altLang="zh-CN" dirty="0"/>
              <a:t>(3) </a:t>
            </a:r>
            <a:r>
              <a:rPr lang="zh-CN" altLang="en-US" dirty="0"/>
              <a:t>通过远程访问获取路由器的控制权：一旦路由器管理者账户及其口令失窃，攻击者就可以通过</a:t>
            </a:r>
            <a:r>
              <a:rPr lang="en-US" altLang="zh-CN" dirty="0"/>
              <a:t>TELNET</a:t>
            </a:r>
            <a:r>
              <a:rPr lang="zh-CN" altLang="en-US" dirty="0"/>
              <a:t>远程控制该路由器。</a:t>
            </a:r>
            <a:endParaRPr lang="zh-CN" altLang="en-US" dirty="0"/>
          </a:p>
          <a:p>
            <a:pPr>
              <a:buNone/>
            </a:pPr>
            <a:r>
              <a:rPr lang="en-US" altLang="zh-CN" dirty="0">
                <a:latin typeface="宋体" panose="02010600030101010101" pitchFamily="2" charset="-122"/>
              </a:rPr>
              <a:t>(4) </a:t>
            </a:r>
            <a:r>
              <a:rPr lang="zh-CN" altLang="en-US" dirty="0">
                <a:latin typeface="宋体" panose="02010600030101010101" pitchFamily="2" charset="-122"/>
              </a:rPr>
              <a:t>路由器中访问过滤表不完整或不合理，容易被穿透。</a:t>
            </a:r>
            <a:r>
              <a:rPr lang="zh-CN" altLang="en-US" dirty="0"/>
              <a:t> </a:t>
            </a:r>
            <a:endParaRPr lang="zh-CN" altLang="en-US" dirty="0"/>
          </a:p>
          <a:p>
            <a:pPr>
              <a:buFont typeface="Arial" panose="020B0604020202020204" pitchFamily="34" charset="0"/>
              <a:buNone/>
            </a:pPr>
            <a:endParaRPr lang="zh-CN" altLang="en-US" dirty="0"/>
          </a:p>
        </p:txBody>
      </p:sp>
      <p:grpSp>
        <p:nvGrpSpPr>
          <p:cNvPr id="4" name="组合 3"/>
          <p:cNvGrpSpPr/>
          <p:nvPr/>
        </p:nvGrpSpPr>
        <p:grpSpPr>
          <a:xfrm>
            <a:off x="1080655" y="378393"/>
            <a:ext cx="2944515" cy="840284"/>
            <a:chOff x="3135993" y="1051060"/>
            <a:chExt cx="2944515" cy="840284"/>
          </a:xfrm>
        </p:grpSpPr>
        <p:sp>
          <p:nvSpPr>
            <p:cNvPr id="5" name="矩形: 圆角 6"/>
            <p:cNvSpPr/>
            <p:nvPr/>
          </p:nvSpPr>
          <p:spPr>
            <a:xfrm>
              <a:off x="3839427" y="1280937"/>
              <a:ext cx="224108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980029" cy="523220"/>
            </a:xfrm>
            <a:prstGeom prst="rect">
              <a:avLst/>
            </a:prstGeom>
          </p:spPr>
          <p:txBody>
            <a:bodyPr wrap="none">
              <a:spAutoFit/>
            </a:bodyPr>
            <a:lstStyle/>
            <a:p>
              <a:pPr fontAlgn="base"/>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路由器系统</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516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35170"/>
          <p:cNvSpPr txBox="1"/>
          <p:nvPr/>
        </p:nvSpPr>
        <p:spPr>
          <a:xfrm>
            <a:off x="1090550" y="2000580"/>
            <a:ext cx="10010899" cy="41148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路由器系统的安全防范措施主要有：如果路由器比较陈旧，建议购置新型安全路由器。使用安全路由器可以有效缓解上述前三种威胁。对于最后一种威胁，需要请技术专家审查路由器的访问控制表的合理性与完整性，判断其是否符合网络的整体安全策略。</a:t>
            </a:r>
            <a:r>
              <a:rPr lang="zh-CN" altLang="en-US" dirty="0" smtClean="0"/>
              <a:t>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6193"/>
          <p:cNvSpPr txBox="1"/>
          <p:nvPr/>
        </p:nvSpPr>
        <p:spPr>
          <a:xfrm>
            <a:off x="1092529" y="515127"/>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136194"/>
          <p:cNvSpPr txBox="1"/>
          <p:nvPr/>
        </p:nvSpPr>
        <p:spPr>
          <a:xfrm>
            <a:off x="1092529" y="1628776"/>
            <a:ext cx="10034649" cy="496887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远程信道是指公司在外地或外国的远程终端与公司网络的通信信道。由于专用信道的租用费用十分昂贵，大多数公司都利用</a:t>
            </a:r>
            <a:r>
              <a:rPr lang="en-US" altLang="zh-CN" dirty="0" smtClean="0"/>
              <a:t>Internet</a:t>
            </a:r>
            <a:r>
              <a:rPr lang="zh-CN" altLang="en-US" dirty="0" smtClean="0">
                <a:latin typeface="宋体" panose="02010600030101010101" pitchFamily="2" charset="-122"/>
              </a:rPr>
              <a:t>网络的信道实现远程通信。这种信道没有防护措施，很容易被黑客或竞争对手监控、窃听、插入或冒充利用。解决的办法是采用</a:t>
            </a:r>
            <a:r>
              <a:rPr lang="en-US" altLang="zh-CN" dirty="0" smtClean="0"/>
              <a:t>VPN</a:t>
            </a:r>
            <a:r>
              <a:rPr lang="zh-CN" altLang="en-US" dirty="0" smtClean="0">
                <a:latin typeface="宋体" panose="02010600030101010101" pitchFamily="2" charset="-122"/>
              </a:rPr>
              <a:t>技术，在远程站点与公司防火墙（或路由器）之间架设一条虚拟管路，采用加密方式在其中传输信息，使攻击者无法利用远程信道实施攻击。</a:t>
            </a:r>
            <a:r>
              <a:rPr lang="zh-CN" altLang="en-US" dirty="0" smtClean="0"/>
              <a:t> </a:t>
            </a:r>
            <a:endParaRPr lang="zh-CN" altLang="en-US" dirty="0"/>
          </a:p>
        </p:txBody>
      </p:sp>
      <p:grpSp>
        <p:nvGrpSpPr>
          <p:cNvPr id="4" name="组合 3"/>
          <p:cNvGrpSpPr/>
          <p:nvPr/>
        </p:nvGrpSpPr>
        <p:grpSpPr>
          <a:xfrm>
            <a:off x="1092529" y="371485"/>
            <a:ext cx="2588255" cy="840284"/>
            <a:chOff x="3135993" y="1051060"/>
            <a:chExt cx="2588255" cy="840284"/>
          </a:xfrm>
        </p:grpSpPr>
        <p:sp>
          <p:nvSpPr>
            <p:cNvPr id="5" name="矩形: 圆角 6"/>
            <p:cNvSpPr/>
            <p:nvPr/>
          </p:nvSpPr>
          <p:spPr>
            <a:xfrm>
              <a:off x="3839427" y="1280937"/>
              <a:ext cx="188482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r>
                <a:rPr lang="zh-CN" altLang="en-US" sz="28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远程</a:t>
              </a: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信道</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5</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37218"/>
          <p:cNvSpPr txBox="1"/>
          <p:nvPr/>
        </p:nvSpPr>
        <p:spPr>
          <a:xfrm>
            <a:off x="1056905" y="1296000"/>
            <a:ext cx="10094026"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网站信息本身是不保密的，但怕被恶意修改或者站点被攻瘫，造成对外服务的中断，影响公司的业务收入。由于网站对外是公开的，遭受攻击的可能性极大，主要的防护措施是选择安全性比较高的操作系统和选择安全性高的网络服务软件，使黑客无法攻破网站。</a:t>
            </a:r>
            <a:r>
              <a:rPr lang="zh-CN" altLang="en-US" dirty="0" smtClean="0"/>
              <a:t> </a:t>
            </a:r>
            <a:endParaRPr lang="zh-CN" altLang="en-US" dirty="0"/>
          </a:p>
        </p:txBody>
      </p:sp>
      <p:grpSp>
        <p:nvGrpSpPr>
          <p:cNvPr id="4" name="组合 3"/>
          <p:cNvGrpSpPr/>
          <p:nvPr/>
        </p:nvGrpSpPr>
        <p:grpSpPr>
          <a:xfrm>
            <a:off x="1056905" y="370731"/>
            <a:ext cx="2623881" cy="840284"/>
            <a:chOff x="3135993" y="1051060"/>
            <a:chExt cx="2623881" cy="840284"/>
          </a:xfrm>
        </p:grpSpPr>
        <p:sp>
          <p:nvSpPr>
            <p:cNvPr id="5" name="矩形: 圆角 6"/>
            <p:cNvSpPr/>
            <p:nvPr/>
          </p:nvSpPr>
          <p:spPr>
            <a:xfrm>
              <a:off x="3839427" y="1280937"/>
              <a:ext cx="192044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网站信息</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6</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38242"/>
          <p:cNvSpPr txBox="1"/>
          <p:nvPr/>
        </p:nvSpPr>
        <p:spPr>
          <a:xfrm>
            <a:off x="1045029" y="1296000"/>
            <a:ext cx="10105901"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公司内部站点也有一些涉及敏感信息，如公司总经理的站点上就可能存储着公司的敏感信息。如果防火墙被攻破，这些站点上的信息的安全就会受到威胁。可以采取以下一些安全防护措施：</a:t>
            </a:r>
            <a:endParaRPr lang="en-US" altLang="zh-CN" dirty="0" smtClean="0">
              <a:latin typeface="宋体" panose="02010600030101010101" pitchFamily="2" charset="-122"/>
            </a:endParaRPr>
          </a:p>
          <a:p>
            <a:pPr algn="just"/>
            <a:r>
              <a:rPr lang="zh-CN" altLang="en-US" dirty="0"/>
              <a:t>增强敏感站点操作系统的安全性。</a:t>
            </a:r>
            <a:endParaRPr lang="zh-CN" altLang="en-US" dirty="0"/>
          </a:p>
          <a:p>
            <a:pPr algn="just"/>
            <a:r>
              <a:rPr lang="zh-CN" altLang="en-US" dirty="0"/>
              <a:t>在站点上设置个人防火墙，增加防护能力。</a:t>
            </a:r>
            <a:endParaRPr lang="zh-CN" altLang="en-US" dirty="0"/>
          </a:p>
          <a:p>
            <a:pPr algn="just"/>
            <a:r>
              <a:rPr lang="zh-CN" altLang="en-US" dirty="0"/>
              <a:t>进一步提高内网防火墙的防护能力。</a:t>
            </a:r>
            <a:endParaRPr lang="zh-CN" altLang="en-US" dirty="0"/>
          </a:p>
          <a:p>
            <a:r>
              <a:rPr lang="zh-CN" altLang="en-US" dirty="0">
                <a:latin typeface="宋体" panose="02010600030101010101" pitchFamily="2" charset="-122"/>
              </a:rPr>
              <a:t>加强站点的安全管理制度，不要把敏感信息存储在机器内，减少被窃的可能。</a:t>
            </a:r>
            <a:r>
              <a:rPr lang="zh-CN" altLang="en-US" dirty="0"/>
              <a:t> </a:t>
            </a:r>
            <a:endParaRPr lang="zh-CN" altLang="en-US" dirty="0"/>
          </a:p>
          <a:p>
            <a:pPr>
              <a:buFont typeface="Arial" panose="020B0604020202020204" pitchFamily="34" charset="0"/>
              <a:buNone/>
            </a:pPr>
            <a:r>
              <a:rPr lang="zh-CN" altLang="en-US" dirty="0" smtClean="0"/>
              <a:t> </a:t>
            </a:r>
            <a:endParaRPr lang="zh-CN" altLang="en-US" dirty="0"/>
          </a:p>
        </p:txBody>
      </p:sp>
      <p:grpSp>
        <p:nvGrpSpPr>
          <p:cNvPr id="4" name="组合 3"/>
          <p:cNvGrpSpPr/>
          <p:nvPr/>
        </p:nvGrpSpPr>
        <p:grpSpPr>
          <a:xfrm>
            <a:off x="1045029" y="372591"/>
            <a:ext cx="2576945" cy="840284"/>
            <a:chOff x="3135993" y="1051060"/>
            <a:chExt cx="2576945" cy="840284"/>
          </a:xfrm>
        </p:grpSpPr>
        <p:sp>
          <p:nvSpPr>
            <p:cNvPr id="5" name="矩形: 圆角 6"/>
            <p:cNvSpPr/>
            <p:nvPr/>
          </p:nvSpPr>
          <p:spPr>
            <a:xfrm>
              <a:off x="3839427" y="1280937"/>
              <a:ext cx="187351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内部站点</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7</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40290"/>
          <p:cNvSpPr txBox="1"/>
          <p:nvPr/>
        </p:nvSpPr>
        <p:spPr>
          <a:xfrm>
            <a:off x="1092530" y="2263796"/>
            <a:ext cx="10046525" cy="289009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以上介绍的防护措施中，有些措施只要求对现有系统（如操作系统，防火墙系统等）的配置进行审查与修改就可以了，最多需要支付专家咨询费用。而有些防护措施需要增添新设备或更新软件，因而投入相应的经费。因此，在确定了安全防护措施后，所需要的投资费用是不难计算的。再根据</a:t>
            </a:r>
            <a:r>
              <a:rPr lang="en-US" altLang="zh-CN" dirty="0" smtClean="0"/>
              <a:t>BPL</a:t>
            </a:r>
            <a:r>
              <a:rPr lang="zh-CN" altLang="en-US" dirty="0" smtClean="0">
                <a:latin typeface="宋体" panose="02010600030101010101" pitchFamily="2" charset="-122"/>
              </a:rPr>
              <a:t>公式，可以决定是否对现有网络系统增加安全防护措施。</a:t>
            </a:r>
            <a:r>
              <a:rPr lang="zh-CN" altLang="en-US" dirty="0" smtClean="0"/>
              <a:t> </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4131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141314"/>
          <p:cNvSpPr txBox="1"/>
          <p:nvPr/>
        </p:nvSpPr>
        <p:spPr>
          <a:xfrm>
            <a:off x="1116280" y="1676010"/>
            <a:ext cx="9987148" cy="329975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t>           </a:t>
            </a:r>
            <a:r>
              <a:rPr lang="zh-CN" altLang="en-US" dirty="0" smtClean="0"/>
              <a:t>本节主要介绍网络信息系统风险评估的有关概念、理论与方法。</a:t>
            </a:r>
            <a:endParaRPr lang="zh-CN" altLang="en-US" dirty="0" smtClean="0"/>
          </a:p>
          <a:p>
            <a:pPr>
              <a:buFont typeface="Arial" panose="020B0604020202020204" pitchFamily="34" charset="0"/>
              <a:buNone/>
            </a:pPr>
            <a:r>
              <a:rPr lang="zh-CN" altLang="en-US" dirty="0" smtClean="0"/>
              <a:t>           给出了一种常用的</a:t>
            </a:r>
            <a:r>
              <a:rPr lang="en-US" altLang="zh-CN" dirty="0" smtClean="0"/>
              <a:t>BPL</a:t>
            </a:r>
            <a:r>
              <a:rPr lang="zh-CN" altLang="en-US" dirty="0" smtClean="0"/>
              <a:t>评估方法和应用举例。</a:t>
            </a:r>
            <a:endParaRPr lang="zh-CN" altLang="en-US" dirty="0" smtClean="0"/>
          </a:p>
          <a:p>
            <a:pPr>
              <a:buFont typeface="Arial" panose="020B0604020202020204" pitchFamily="34" charset="0"/>
              <a:buNone/>
            </a:pPr>
            <a:r>
              <a:rPr lang="zh-CN" altLang="en-US" dirty="0" smtClean="0"/>
              <a:t>           以一个企业的网络系统为评估对象，说明如何考虑所受到的威胁和为了防护而必须采取的措施与代价。</a:t>
            </a:r>
            <a:endParaRPr lang="zh-CN" altLang="en-US" dirty="0"/>
          </a:p>
        </p:txBody>
      </p:sp>
      <p:grpSp>
        <p:nvGrpSpPr>
          <p:cNvPr id="4" name="组合 3"/>
          <p:cNvGrpSpPr/>
          <p:nvPr/>
        </p:nvGrpSpPr>
        <p:grpSpPr>
          <a:xfrm>
            <a:off x="4731544" y="432000"/>
            <a:ext cx="2728912" cy="791052"/>
            <a:chOff x="824072" y="1564267"/>
            <a:chExt cx="2728912" cy="791052"/>
          </a:xfrm>
        </p:grpSpPr>
        <p:sp>
          <p:nvSpPr>
            <p:cNvPr id="5" name="矩形: 圆角 16"/>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620957" cy="523220"/>
            </a:xfrm>
            <a:prstGeom prst="rect">
              <a:avLst/>
            </a:prstGeom>
          </p:spPr>
          <p:txBody>
            <a:bodyPr wrap="none">
              <a:spAutoFit/>
            </a:bodyPr>
            <a:lstStyle/>
            <a:p>
              <a:pPr fontAlgn="base"/>
              <a:r>
                <a:rPr lang="zh-CN" altLang="en-US" sz="2800" noProof="1">
                  <a:solidFill>
                    <a:schemeClr val="bg1"/>
                  </a:solidFill>
                  <a:latin typeface="+mj-ea"/>
                </a:rPr>
                <a:t>本讲小结</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ISLIDE.VECTOR" val="28b0fd0e-7ece-4f48-881a-83c93b08799b"/>
</p:tagLst>
</file>

<file path=ppt/tags/tag2.xml><?xml version="1.0" encoding="utf-8"?>
<p:tagLst xmlns:p="http://schemas.openxmlformats.org/presentationml/2006/main">
  <p:tag name="ISLIDE.VECTOR" val="28b0fd0e-7ece-4f48-881a-83c93b08799b"/>
</p:tagLst>
</file>

<file path=ppt/tags/tag3.xml><?xml version="1.0" encoding="utf-8"?>
<p:tagLst xmlns:p="http://schemas.openxmlformats.org/presentationml/2006/main">
  <p:tag name="COMMONDATA" val="eyJoZGlkIjoiMzA1MzljY2Y4ZTIwNzk1OWIzMzdhZjMwODJlM2M5MWEifQ=="/>
  <p:tag name="KSO_WPP_MARK_KEY" val="f0e57086-3d34-41e2-a486-2c59c93e7c5a"/>
  <p:tag name="commondata" val="eyJoZGlkIjoiODVjMzBjMjkyM2FmNTZlZjhmZmMxZWVhN2I1ZDYwZ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9721</Words>
  <Application>WPS 演示</Application>
  <PresentationFormat>宽屏</PresentationFormat>
  <Paragraphs>682</Paragraphs>
  <Slides>57</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57</vt:i4>
      </vt:variant>
    </vt:vector>
  </HeadingPairs>
  <TitlesOfParts>
    <vt:vector size="71" baseType="lpstr">
      <vt:lpstr>Arial</vt:lpstr>
      <vt:lpstr>宋体</vt:lpstr>
      <vt:lpstr>Wingdings</vt:lpstr>
      <vt:lpstr>Times New Roman</vt:lpstr>
      <vt:lpstr>黑体</vt:lpstr>
      <vt:lpstr>隶书</vt:lpstr>
      <vt:lpstr>华文行楷</vt:lpstr>
      <vt:lpstr>思源黑体 CN Heavy</vt:lpstr>
      <vt:lpstr>微软雅黑 Light</vt:lpstr>
      <vt:lpstr>微软雅黑</vt:lpstr>
      <vt:lpstr>Arial Unicode MS</vt:lpstr>
      <vt:lpstr>等线</vt:lpstr>
      <vt:lpstr>思源黑体 CN Normal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193</cp:revision>
  <dcterms:created xsi:type="dcterms:W3CDTF">2019-09-27T01:23:00Z</dcterms:created>
  <dcterms:modified xsi:type="dcterms:W3CDTF">2026-04-21T15:31:21Z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F3082197EBE9414EA23D1EAC4292631D</vt:lpwstr>
  </property>
</Properties>
</file>