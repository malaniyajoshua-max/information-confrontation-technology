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81" r:id="rId3"/>
    <p:sldId id="425" r:id="rId4"/>
    <p:sldId id="338" r:id="rId6"/>
    <p:sldId id="339" r:id="rId7"/>
    <p:sldId id="340" r:id="rId8"/>
    <p:sldId id="341" r:id="rId9"/>
    <p:sldId id="342" r:id="rId10"/>
    <p:sldId id="343" r:id="rId11"/>
    <p:sldId id="344" r:id="rId12"/>
    <p:sldId id="346" r:id="rId13"/>
    <p:sldId id="347" r:id="rId14"/>
    <p:sldId id="348" r:id="rId15"/>
    <p:sldId id="349" r:id="rId16"/>
    <p:sldId id="426" r:id="rId17"/>
    <p:sldId id="427" r:id="rId18"/>
    <p:sldId id="428" r:id="rId19"/>
  </p:sldIdLst>
  <p:sldSz cx="12192000" cy="6858000"/>
  <p:notesSz cx="6858000" cy="9144000"/>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9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73EE"/>
    <a:srgbClr val="1F4E79"/>
    <a:srgbClr val="881DB3"/>
    <a:srgbClr val="E3C9F7"/>
    <a:srgbClr val="6E0876"/>
    <a:srgbClr val="731AB6"/>
    <a:srgbClr val="740A47"/>
    <a:srgbClr val="720C4E"/>
    <a:srgbClr val="700E54"/>
    <a:srgbClr val="FEE4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796" autoAdjust="0"/>
    <p:restoredTop sz="77608" autoAdjust="0"/>
  </p:normalViewPr>
  <p:slideViewPr>
    <p:cSldViewPr snapToGrid="0" showGuides="1">
      <p:cViewPr varScale="1">
        <p:scale>
          <a:sx n="87" d="100"/>
          <a:sy n="87" d="100"/>
        </p:scale>
        <p:origin x="408" y="84"/>
      </p:cViewPr>
      <p:guideLst>
        <p:guide orient="horz" pos="2137"/>
        <p:guide pos="3931"/>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gs" Target="tags/tag29.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D13D94-3B84-4F7C-A457-BAB026D08DB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04C284-C97B-4A78-9B6C-3354FD79A64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04C284-C97B-4A78-9B6C-3354FD79A64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14" y="0"/>
            <a:ext cx="12181172"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dirty="0"/>
              <a:t>单击此处编辑母版标题样式</a:t>
            </a:r>
            <a:endParaRPr lang="zh-CN" altLang="en-US" dirty="0"/>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3"/>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4"/>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showMasterPhAnim="0">
  <p:cSld name="1_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7173" name="标题 7172"/>
          <p:cNvSpPr>
            <a:spLocks noGrp="1"/>
          </p:cNvSpPr>
          <p:nvPr>
            <p:ph type="ctrTitle" sz="quarter"/>
          </p:nvPr>
        </p:nvSpPr>
        <p:spPr>
          <a:xfrm>
            <a:off x="1725084" y="762000"/>
            <a:ext cx="10363200" cy="1143000"/>
          </a:xfrm>
          <a:prstGeom prst="rect">
            <a:avLst/>
          </a:prstGeom>
          <a:noFill/>
          <a:ln w="9525">
            <a:noFill/>
          </a:ln>
        </p:spPr>
        <p:txBody>
          <a:bodyPr anchor="b"/>
          <a:lstStyle>
            <a:lvl1pPr lvl="0">
              <a:defRPr/>
            </a:lvl1pPr>
          </a:lstStyle>
          <a:p>
            <a:pPr lvl="0"/>
            <a:r>
              <a:rPr lang="zh-CN" altLang="en-US" noProof="1"/>
              <a:t>单击此处编辑母版标题样式</a:t>
            </a:r>
            <a:endParaRPr lang="zh-CN" altLang="en-US" noProof="1"/>
          </a:p>
        </p:txBody>
      </p:sp>
      <p:sp>
        <p:nvSpPr>
          <p:cNvPr id="7174" name="副标题 7173"/>
          <p:cNvSpPr>
            <a:spLocks noGrp="1"/>
          </p:cNvSpPr>
          <p:nvPr>
            <p:ph type="subTitle" sz="quarter" idx="1"/>
          </p:nvPr>
        </p:nvSpPr>
        <p:spPr>
          <a:xfrm>
            <a:off x="914400" y="3429000"/>
            <a:ext cx="8534400" cy="1752600"/>
          </a:xfrm>
          <a:prstGeom prst="rect">
            <a:avLst/>
          </a:prstGeom>
          <a:noFill/>
          <a:ln w="9525">
            <a:noFill/>
          </a:ln>
        </p:spPr>
        <p:txBody>
          <a:bodyPr lIns="92075" tIns="46038" rIns="92075" bIns="46038" anchor="ctr"/>
          <a:lstStyle>
            <a:lvl1pPr marL="0" lvl="0" indent="0" algn="ctr">
              <a:buNone/>
              <a:defRPr>
                <a:latin typeface="+mn-ea"/>
                <a:ea typeface="+mn-ea"/>
              </a:defRPr>
            </a:lvl1pPr>
            <a:lvl2pPr marL="457200" lvl="1" indent="0" algn="ctr">
              <a:buNone/>
              <a:defRPr/>
            </a:lvl2pPr>
            <a:lvl3pPr marL="914400" lvl="2" indent="0" algn="ctr">
              <a:buNone/>
              <a:defRPr/>
            </a:lvl3pPr>
            <a:lvl4pPr marL="1371600" lvl="3" indent="0" algn="ctr">
              <a:buNone/>
              <a:defRPr/>
            </a:lvl4pPr>
            <a:lvl5pPr marL="1828800" lvl="4" indent="0" algn="ctr">
              <a:buNone/>
              <a:defRPr/>
            </a:lvl5pPr>
          </a:lstStyle>
          <a:p>
            <a:pPr lvl="0"/>
            <a:r>
              <a:rPr lang="zh-CN" altLang="en-US" noProof="1"/>
              <a:t>单击此处编辑母版副标题样式</a:t>
            </a:r>
            <a:endParaRPr lang="zh-CN" altLang="en-US" noProof="1"/>
          </a:p>
        </p:txBody>
      </p:sp>
      <p:sp>
        <p:nvSpPr>
          <p:cNvPr id="7" name="日期占位符 7174"/>
          <p:cNvSpPr>
            <a:spLocks noGrp="1"/>
          </p:cNvSpPr>
          <p:nvPr>
            <p:ph type="dt" sz="quarter" idx="2"/>
          </p:nvPr>
        </p:nvSpPr>
        <p:spPr>
          <a:xfrm>
            <a:off x="914400" y="6248400"/>
            <a:ext cx="2540000" cy="457200"/>
          </a:xfrm>
          <a:prstGeom prst="rect">
            <a:avLst/>
          </a:prstGeom>
        </p:spPr>
        <p:txBody>
          <a:bodyPr lIns="92075" tIns="46038" rIns="92075" bIns="46038" anchor="ctr"/>
          <a:lstStyle>
            <a:lvl1pPr>
              <a:defRPr sz="1400" dirty="0"/>
            </a:lvl1pPr>
          </a:lstStyle>
          <a:p>
            <a:pPr fontAlgn="base">
              <a:spcBef>
                <a:spcPct val="0"/>
              </a:spcBef>
              <a:spcAft>
                <a:spcPct val="0"/>
              </a:spcAft>
              <a:defRPr/>
            </a:pPr>
            <a:endParaRPr lang="zh-CN" altLang="en-US" noProof="1">
              <a:ea typeface="宋体" panose="02010600030101010101" pitchFamily="2" charset="-122"/>
            </a:endParaRPr>
          </a:p>
        </p:txBody>
      </p:sp>
      <p:sp>
        <p:nvSpPr>
          <p:cNvPr id="8" name="页脚占位符 7175"/>
          <p:cNvSpPr>
            <a:spLocks noGrp="1"/>
          </p:cNvSpPr>
          <p:nvPr>
            <p:ph type="ftr" sz="quarter" idx="3"/>
          </p:nvPr>
        </p:nvSpPr>
        <p:spPr>
          <a:xfrm>
            <a:off x="4165600" y="6248400"/>
            <a:ext cx="3860800" cy="457200"/>
          </a:xfrm>
          <a:prstGeom prst="rect">
            <a:avLst/>
          </a:prstGeom>
        </p:spPr>
        <p:txBody>
          <a:bodyPr lIns="92075" tIns="46038" rIns="92075" bIns="46038" anchor="ctr"/>
          <a:lstStyle>
            <a:lvl1pPr algn="ctr">
              <a:defRPr sz="1400" dirty="0"/>
            </a:lvl1pPr>
          </a:lstStyle>
          <a:p>
            <a:pPr fontAlgn="base">
              <a:spcBef>
                <a:spcPct val="0"/>
              </a:spcBef>
              <a:spcAft>
                <a:spcPct val="0"/>
              </a:spcAft>
              <a:defRPr/>
            </a:pPr>
            <a:endParaRPr lang="zh-CN" altLang="en-US" noProof="1">
              <a:ea typeface="宋体" panose="02010600030101010101" pitchFamily="2" charset="-122"/>
            </a:endParaRPr>
          </a:p>
        </p:txBody>
      </p:sp>
      <p:sp>
        <p:nvSpPr>
          <p:cNvPr id="9" name="灯片编号占位符 7176"/>
          <p:cNvSpPr>
            <a:spLocks noGrp="1"/>
          </p:cNvSpPr>
          <p:nvPr>
            <p:ph type="sldNum" sz="quarter" idx="4"/>
          </p:nvPr>
        </p:nvSpPr>
        <p:spPr>
          <a:xfrm>
            <a:off x="8737600" y="6248400"/>
            <a:ext cx="2540000" cy="457200"/>
          </a:xfrm>
          <a:prstGeom prst="rect">
            <a:avLst/>
          </a:prstGeom>
        </p:spPr>
        <p:txBody>
          <a:bodyPr vert="horz" wrap="square" lIns="92075" tIns="46038" rIns="92075" bIns="46038" numCol="1" anchor="ctr" anchorCtr="0" compatLnSpc="1"/>
          <a:lstStyle/>
          <a:p>
            <a:pPr algn="r"/>
            <a:fld id="{9A0DB2DC-4C9A-4742-B13C-FB6460FD3503}" type="slidenum">
              <a:rPr lang="zh-CN" altLang="en-US" dirty="0"/>
            </a:fld>
            <a:endParaRPr lang="zh-CN" altLang="en-US" dirty="0"/>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6.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2" Type="http://schemas.openxmlformats.org/officeDocument/2006/relationships/slideLayout" Target="../slideLayouts/slideLayout7.xml"/><Relationship Id="rId11" Type="http://schemas.openxmlformats.org/officeDocument/2006/relationships/tags" Target="../tags/tag18.xml"/><Relationship Id="rId10" Type="http://schemas.openxmlformats.org/officeDocument/2006/relationships/image" Target="../media/image7.png"/><Relationship Id="rId1" Type="http://schemas.openxmlformats.org/officeDocument/2006/relationships/tags" Target="../tags/tag9.xml"/></Relationships>
</file>

<file path=ppt/slides/_rels/slide15.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2" Type="http://schemas.openxmlformats.org/officeDocument/2006/relationships/slideLayout" Target="../slideLayouts/slideLayout7.xml"/><Relationship Id="rId11" Type="http://schemas.openxmlformats.org/officeDocument/2006/relationships/tags" Target="../tags/tag28.xml"/><Relationship Id="rId10" Type="http://schemas.openxmlformats.org/officeDocument/2006/relationships/image" Target="../media/image7.png"/><Relationship Id="rId1" Type="http://schemas.openxmlformats.org/officeDocument/2006/relationships/tags" Target="../tags/tag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标题 2049"/>
          <p:cNvSpPr>
            <a:spLocks noGrp="1"/>
          </p:cNvSpPr>
          <p:nvPr>
            <p:ph type="ctrTitle" sz="quarter" idx="4294967295"/>
          </p:nvPr>
        </p:nvSpPr>
        <p:spPr>
          <a:xfrm>
            <a:off x="2751931" y="1742169"/>
            <a:ext cx="6783387" cy="1154113"/>
          </a:xfrm>
          <a:prstGeom prst="rect">
            <a:avLst/>
          </a:prstGeom>
          <a:effectLst>
            <a:outerShdw blurRad="50800" dist="38100" dir="2700000" algn="tl" rotWithShape="0">
              <a:prstClr val="black">
                <a:alpha val="40000"/>
              </a:prstClr>
            </a:outerShdw>
          </a:effectLst>
        </p:spPr>
        <p:txBody>
          <a:bodyPr vert="horz" wrap="square" lIns="92075" tIns="46038" rIns="92075" bIns="46038" numCol="1" anchor="b" anchorCtr="0" compatLnSpc="1"/>
          <a:lstStyle/>
          <a:p>
            <a:pPr algn="ctr" fontAlgn="base">
              <a:lnSpc>
                <a:spcPct val="100000"/>
              </a:lnSpc>
              <a:spcAft>
                <a:spcPct val="0"/>
              </a:spcAft>
              <a:defRPr/>
            </a:pPr>
            <a:r>
              <a:rPr lang="en-US" altLang="zh-CN" sz="6000" b="1" dirty="0">
                <a:solidFill>
                  <a:srgbClr val="881DB3"/>
                </a:solidFill>
                <a:effectLst>
                  <a:outerShdw blurRad="38100" dist="38100" dir="2700000" algn="tl">
                    <a:srgbClr val="000000"/>
                  </a:outerShdw>
                </a:effectLst>
                <a:latin typeface="+mj-ea"/>
              </a:rPr>
              <a:t>《</a:t>
            </a:r>
            <a:r>
              <a:rPr lang="zh-CN" altLang="en-US" sz="6000" b="1" dirty="0">
                <a:solidFill>
                  <a:srgbClr val="881DB3"/>
                </a:solidFill>
                <a:effectLst>
                  <a:outerShdw blurRad="38100" dist="38100" dir="2700000" algn="tl">
                    <a:srgbClr val="000000"/>
                  </a:outerShdw>
                </a:effectLst>
                <a:latin typeface="+mj-ea"/>
              </a:rPr>
              <a:t>信息对抗技术</a:t>
            </a:r>
            <a:r>
              <a:rPr lang="en-US" altLang="zh-CN" sz="6000" b="1" dirty="0">
                <a:solidFill>
                  <a:srgbClr val="881DB3"/>
                </a:solidFill>
                <a:effectLst>
                  <a:outerShdw blurRad="38100" dist="38100" dir="2700000" algn="tl">
                    <a:srgbClr val="000000"/>
                  </a:outerShdw>
                </a:effectLst>
                <a:latin typeface="+mj-ea"/>
              </a:rPr>
              <a:t>》</a:t>
            </a:r>
            <a:br>
              <a:rPr lang="en-US" altLang="zh-CN" sz="6000" b="1" dirty="0">
                <a:solidFill>
                  <a:srgbClr val="FFFF00"/>
                </a:solidFill>
                <a:effectLst>
                  <a:outerShdw blurRad="38100" dist="38100" dir="2700000" algn="tl">
                    <a:srgbClr val="000000"/>
                  </a:outerShdw>
                </a:effectLst>
              </a:rPr>
            </a:br>
            <a:r>
              <a:rPr lang="zh-CN" altLang="en-US" sz="4000" dirty="0">
                <a:solidFill>
                  <a:schemeClr val="bg1"/>
                </a:solidFill>
                <a:effectLst>
                  <a:outerShdw blurRad="38100" dist="38100" dir="2700000" algn="tl">
                    <a:srgbClr val="000000"/>
                  </a:outerShdw>
                </a:effectLst>
                <a:ea typeface="隶书" panose="02010509060101010101" pitchFamily="49" charset="-122"/>
              </a:rPr>
              <a:t>电子讲稿</a:t>
            </a:r>
            <a:endParaRPr lang="zh-CN" altLang="en-US" sz="4000" dirty="0">
              <a:solidFill>
                <a:schemeClr val="bg1"/>
              </a:solidFill>
              <a:effectLst>
                <a:outerShdw blurRad="38100" dist="38100" dir="2700000" algn="tl">
                  <a:srgbClr val="000000"/>
                </a:outerShdw>
              </a:effectLst>
              <a:ea typeface="隶书" panose="02010509060101010101" pitchFamily="49" charset="-122"/>
            </a:endParaRPr>
          </a:p>
        </p:txBody>
      </p:sp>
      <p:sp>
        <p:nvSpPr>
          <p:cNvPr id="3075" name="文本框 2053"/>
          <p:cNvSpPr txBox="1"/>
          <p:nvPr/>
        </p:nvSpPr>
        <p:spPr>
          <a:xfrm>
            <a:off x="4622801" y="3739684"/>
            <a:ext cx="3041650" cy="2430145"/>
          </a:xfrm>
          <a:prstGeom prst="rect">
            <a:avLst/>
          </a:prstGeom>
          <a:noFill/>
          <a:ln w="9525">
            <a:noFill/>
          </a:ln>
        </p:spPr>
        <p:txBody>
          <a:bodyPr wrap="none">
            <a:spAutoFit/>
          </a:bodyPr>
          <a:lstStyle/>
          <a:p>
            <a:pPr algn="ctr"/>
            <a:r>
              <a:rPr lang="zh-CN" altLang="en-US" sz="3200" dirty="0">
                <a:latin typeface="Times New Roman" panose="02020603050405020304" pitchFamily="18" charset="0"/>
                <a:ea typeface="华文行楷" panose="02010800040101010101" pitchFamily="2" charset="-122"/>
              </a:rPr>
              <a:t>李朝晖</a:t>
            </a:r>
            <a:endParaRPr lang="zh-CN" altLang="en-US" sz="3200" dirty="0">
              <a:latin typeface="Times New Roman" panose="02020603050405020304" pitchFamily="18" charset="0"/>
              <a:ea typeface="华文行楷" panose="02010800040101010101" pitchFamily="2" charset="-122"/>
            </a:endParaRPr>
          </a:p>
          <a:p>
            <a:pPr algn="ctr"/>
            <a:endParaRPr lang="zh-CN" altLang="en-US" sz="2400" dirty="0">
              <a:latin typeface="Times New Roman" panose="02020603050405020304" pitchFamily="18" charset="0"/>
            </a:endParaRPr>
          </a:p>
          <a:p>
            <a:pPr algn="ctr"/>
            <a:r>
              <a:rPr lang="zh-CN" altLang="en-US" sz="2400" dirty="0">
                <a:latin typeface="+mn-ea"/>
              </a:rPr>
              <a:t>南开大学 网安学院</a:t>
            </a:r>
            <a:endParaRPr lang="zh-CN" altLang="en-US" sz="2400" dirty="0">
              <a:latin typeface="+mn-ea"/>
            </a:endParaRPr>
          </a:p>
          <a:p>
            <a:pPr algn="ctr"/>
            <a:r>
              <a:rPr lang="en-US" altLang="zh-CN" sz="2400" smtClean="0">
                <a:latin typeface="Times New Roman" panose="02020603050405020304" pitchFamily="18" charset="0"/>
              </a:rPr>
              <a:t>2026</a:t>
            </a:r>
            <a:endParaRPr lang="en-US" altLang="zh-CN" sz="2400" dirty="0" smtClean="0">
              <a:latin typeface="Times New Roman" panose="02020603050405020304" pitchFamily="18" charset="0"/>
            </a:endParaRPr>
          </a:p>
          <a:p>
            <a:pPr algn="ctr"/>
            <a:endParaRPr lang="en-US" altLang="zh-CN" sz="2400" dirty="0">
              <a:latin typeface="Times New Roman" panose="02020603050405020304" pitchFamily="18" charset="0"/>
            </a:endParaRPr>
          </a:p>
          <a:p>
            <a:pPr algn="ctr"/>
            <a:r>
              <a:rPr lang="en-US" altLang="zh-CN" sz="2400" dirty="0" smtClean="0">
                <a:solidFill>
                  <a:schemeClr val="bg2">
                    <a:lumMod val="75000"/>
                  </a:schemeClr>
                </a:solidFill>
                <a:latin typeface="Times New Roman" panose="02020603050405020304" pitchFamily="18" charset="0"/>
              </a:rPr>
              <a:t>&lt;</a:t>
            </a:r>
            <a:r>
              <a:rPr lang="zh-CN" altLang="en-US" sz="2400" dirty="0" smtClean="0">
                <a:solidFill>
                  <a:schemeClr val="bg2">
                    <a:lumMod val="75000"/>
                  </a:schemeClr>
                </a:solidFill>
                <a:latin typeface="Times New Roman" panose="02020603050405020304" pitchFamily="18" charset="0"/>
              </a:rPr>
              <a:t>长江雨课堂 专用版</a:t>
            </a:r>
            <a:r>
              <a:rPr lang="en-US" altLang="zh-CN" sz="2400" dirty="0" smtClean="0">
                <a:solidFill>
                  <a:schemeClr val="bg2">
                    <a:lumMod val="75000"/>
                  </a:schemeClr>
                </a:solidFill>
                <a:latin typeface="Times New Roman" panose="02020603050405020304" pitchFamily="18" charset="0"/>
              </a:rPr>
              <a:t>&gt;</a:t>
            </a:r>
            <a:endParaRPr lang="zh-CN" altLang="en-US" sz="2400" dirty="0">
              <a:solidFill>
                <a:schemeClr val="bg2">
                  <a:lumMod val="75000"/>
                </a:schemeClr>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924121" y="1333981"/>
            <a:ext cx="4047891" cy="2373118"/>
          </a:xfrm>
          <a:prstGeom prst="rect">
            <a:avLst/>
          </a:prstGeom>
        </p:spPr>
      </p:pic>
      <p:sp>
        <p:nvSpPr>
          <p:cNvPr id="4" name="矩形: 圆角 3"/>
          <p:cNvSpPr/>
          <p:nvPr/>
        </p:nvSpPr>
        <p:spPr>
          <a:xfrm>
            <a:off x="4828859" y="3308866"/>
            <a:ext cx="5403904" cy="1097459"/>
          </a:xfrm>
          <a:prstGeom prst="roundRect">
            <a:avLst/>
          </a:prstGeom>
          <a:noFill/>
          <a:ln w="254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4000" dirty="0">
                <a:solidFill>
                  <a:srgbClr val="002060"/>
                </a:solidFill>
                <a:latin typeface="思源黑体 CN Heavy" panose="020B0A00000000000000" pitchFamily="34" charset="-122"/>
                <a:ea typeface="思源黑体 CN Heavy" panose="020B0A00000000000000" pitchFamily="34" charset="-122"/>
                <a:cs typeface="+mn-ea"/>
              </a:rPr>
              <a:t>信息对抗的主要</a:t>
            </a:r>
            <a:r>
              <a:rPr lang="zh-CN" altLang="en-US" sz="4000" dirty="0" smtClean="0">
                <a:solidFill>
                  <a:srgbClr val="002060"/>
                </a:solidFill>
                <a:latin typeface="思源黑体 CN Heavy" panose="020B0A00000000000000" pitchFamily="34" charset="-122"/>
                <a:ea typeface="思源黑体 CN Heavy" panose="020B0A00000000000000" pitchFamily="34" charset="-122"/>
                <a:cs typeface="+mn-ea"/>
              </a:rPr>
              <a:t>能力</a:t>
            </a:r>
            <a:endParaRPr lang="zh-CN" altLang="en-US" sz="4000" dirty="0">
              <a:solidFill>
                <a:srgbClr val="002060"/>
              </a:solidFill>
              <a:effectLst/>
              <a:latin typeface="思源黑体 CN Heavy" panose="020B0A00000000000000" pitchFamily="34" charset="-122"/>
              <a:ea typeface="思源黑体 CN Heavy" panose="020B0A00000000000000" pitchFamily="34" charset="-122"/>
              <a:cs typeface="+mn-ea"/>
              <a:sym typeface="+mn-lt"/>
            </a:endParaRPr>
          </a:p>
        </p:txBody>
      </p:sp>
      <p:grpSp>
        <p:nvGrpSpPr>
          <p:cNvPr id="7" name="组合 6"/>
          <p:cNvGrpSpPr/>
          <p:nvPr/>
        </p:nvGrpSpPr>
        <p:grpSpPr>
          <a:xfrm flipH="1">
            <a:off x="1645005" y="3787822"/>
            <a:ext cx="3183854" cy="139546"/>
            <a:chOff x="5803418" y="4388994"/>
            <a:chExt cx="3183854" cy="139546"/>
          </a:xfrm>
        </p:grpSpPr>
        <p:cxnSp>
          <p:nvCxnSpPr>
            <p:cNvPr id="5" name="直接连接符 4"/>
            <p:cNvCxnSpPr>
              <a:endCxn id="6" idx="2"/>
            </p:cNvCxnSpPr>
            <p:nvPr/>
          </p:nvCxnSpPr>
          <p:spPr>
            <a:xfrm>
              <a:off x="5803418" y="4458767"/>
              <a:ext cx="3044308" cy="0"/>
            </a:xfrm>
            <a:prstGeom prst="line">
              <a:avLst/>
            </a:prstGeom>
            <a:ln w="12700">
              <a:solidFill>
                <a:srgbClr val="0F73EE"/>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8847726" y="4388994"/>
              <a:ext cx="139546" cy="139546"/>
            </a:xfrm>
            <a:prstGeom prst="ellipse">
              <a:avLst/>
            </a:prstGeom>
            <a:solidFill>
              <a:srgbClr val="0F73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right)">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文本占位符 50178"/>
          <p:cNvSpPr>
            <a:spLocks noGrp="1"/>
          </p:cNvSpPr>
          <p:nvPr>
            <p:ph idx="1"/>
          </p:nvPr>
        </p:nvSpPr>
        <p:spPr>
          <a:xfrm>
            <a:off x="1054156" y="1848010"/>
            <a:ext cx="10034649" cy="4616450"/>
          </a:xfrm>
        </p:spPr>
        <p:txBody>
          <a:bodyPr vert="horz" wrap="square" lIns="91440" tIns="45720" rIns="91440" bIns="45720" rtlCol="0" anchor="t">
            <a:noAutofit/>
          </a:bodyPr>
          <a:lstStyle/>
          <a:p>
            <a:pPr eaLnBrk="1" hangingPunct="1">
              <a:buClr>
                <a:srgbClr val="CCFFCC"/>
              </a:buClr>
              <a:buFont typeface="Wingdings" panose="05000000000000000000" pitchFamily="2" charset="2"/>
              <a:buChar char="u"/>
            </a:pPr>
            <a:r>
              <a:rPr lang="zh-CN" altLang="en-US" sz="2800" dirty="0" smtClean="0">
                <a:solidFill>
                  <a:schemeClr val="folHlink"/>
                </a:solidFill>
                <a:latin typeface="宋体" panose="02010600030101010101" pitchFamily="2" charset="-122"/>
              </a:rPr>
              <a:t>进攻型</a:t>
            </a:r>
            <a:r>
              <a:rPr lang="zh-CN" altLang="en-US" sz="2800" dirty="0">
                <a:solidFill>
                  <a:schemeClr val="folHlink"/>
                </a:solidFill>
                <a:latin typeface="宋体" panose="02010600030101010101" pitchFamily="2" charset="-122"/>
              </a:rPr>
              <a:t>的信息对抗</a:t>
            </a:r>
            <a:r>
              <a:rPr lang="zh-CN" altLang="en-US" sz="2800" dirty="0">
                <a:latin typeface="宋体" panose="02010600030101010101" pitchFamily="2" charset="-122"/>
              </a:rPr>
              <a:t>是综合利用各种攻击手段，对敌方的信息和信息系统实施摧毁、瓦解、侵入、扰乱和终止信息传输的各种行动。</a:t>
            </a:r>
            <a:endParaRPr lang="zh-CN" altLang="en-US" sz="2800" dirty="0">
              <a:latin typeface="宋体" panose="02010600030101010101" pitchFamily="2" charset="-122"/>
            </a:endParaRPr>
          </a:p>
          <a:p>
            <a:pPr eaLnBrk="1" hangingPunct="1">
              <a:buClr>
                <a:srgbClr val="CCFFCC"/>
              </a:buClr>
              <a:buFont typeface="Wingdings" panose="05000000000000000000" pitchFamily="2" charset="2"/>
              <a:buChar char="u"/>
            </a:pPr>
            <a:r>
              <a:rPr lang="zh-CN" altLang="en-US" sz="2800" dirty="0">
                <a:solidFill>
                  <a:schemeClr val="folHlink"/>
                </a:solidFill>
                <a:latin typeface="宋体" panose="02010600030101010101" pitchFamily="2" charset="-122"/>
              </a:rPr>
              <a:t>防御型的信息对抗</a:t>
            </a:r>
            <a:r>
              <a:rPr lang="zh-CN" altLang="en-US" sz="2800" dirty="0">
                <a:latin typeface="宋体" panose="02010600030101010101" pitchFamily="2" charset="-122"/>
              </a:rPr>
              <a:t>是将政策、法规、情报、行动和技术在内的多种手段综合与协调起来，对信息与信息系统实施保护的过程；</a:t>
            </a:r>
            <a:endParaRPr lang="zh-CN" altLang="en-US" sz="2800" dirty="0">
              <a:latin typeface="宋体" panose="02010600030101010101" pitchFamily="2" charset="-122"/>
            </a:endParaRPr>
          </a:p>
          <a:p>
            <a:pPr eaLnBrk="1" hangingPunct="1">
              <a:buClr>
                <a:srgbClr val="CCFFCC"/>
              </a:buClr>
              <a:buNone/>
            </a:pPr>
            <a:r>
              <a:rPr lang="zh-CN" altLang="en-US" sz="2800" dirty="0">
                <a:latin typeface="宋体" panose="02010600030101010101" pitchFamily="2" charset="-122"/>
              </a:rPr>
              <a:t>     </a:t>
            </a:r>
            <a:r>
              <a:rPr lang="zh-CN" altLang="en-US" sz="2800" dirty="0" smtClean="0">
                <a:latin typeface="宋体" panose="02010600030101010101" pitchFamily="2" charset="-122"/>
              </a:rPr>
              <a:t>这些</a:t>
            </a:r>
            <a:r>
              <a:rPr lang="zh-CN" altLang="en-US" sz="2800" dirty="0">
                <a:latin typeface="宋体" panose="02010600030101010101" pitchFamily="2" charset="-122"/>
              </a:rPr>
              <a:t>能力的实现需要靠信息技术的支持才能实现。</a:t>
            </a:r>
            <a:r>
              <a:rPr lang="zh-CN" altLang="en-US" sz="2800" dirty="0"/>
              <a:t> </a:t>
            </a:r>
            <a:endParaRPr lang="zh-CN" altLang="en-US" sz="2800" dirty="0"/>
          </a:p>
        </p:txBody>
      </p:sp>
      <p:sp>
        <p:nvSpPr>
          <p:cNvPr id="4" name="椭圆 3"/>
          <p:cNvSpPr/>
          <p:nvPr/>
        </p:nvSpPr>
        <p:spPr>
          <a:xfrm>
            <a:off x="1249680" y="816453"/>
            <a:ext cx="689821" cy="689821"/>
          </a:xfrm>
          <a:prstGeom prst="ellipse">
            <a:avLst/>
          </a:prstGeom>
          <a:solidFill>
            <a:srgbClr val="0F73EE"/>
          </a:solidFill>
          <a:ln w="127000">
            <a:solidFill>
              <a:srgbClr val="0F73EE">
                <a:alpha val="25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2800" dirty="0">
              <a:latin typeface="微软雅黑 Light" panose="020B0502040204020203" pitchFamily="34" charset="-122"/>
              <a:ea typeface="微软雅黑 Light" panose="020B0502040204020203" pitchFamily="34" charset="-122"/>
              <a:cs typeface="+mn-ea"/>
              <a:sym typeface="+mn-lt"/>
            </a:endParaRPr>
          </a:p>
        </p:txBody>
      </p:sp>
      <p:cxnSp>
        <p:nvCxnSpPr>
          <p:cNvPr id="5" name="直接箭头连接符 4"/>
          <p:cNvCxnSpPr/>
          <p:nvPr/>
        </p:nvCxnSpPr>
        <p:spPr>
          <a:xfrm>
            <a:off x="1857260" y="1158189"/>
            <a:ext cx="619240" cy="0"/>
          </a:xfrm>
          <a:prstGeom prst="straightConnector1">
            <a:avLst/>
          </a:prstGeom>
          <a:ln w="25400">
            <a:solidFill>
              <a:srgbClr val="0F73EE"/>
            </a:solidFill>
            <a:prstDash val="sysDot"/>
            <a:tailEnd type="arrow"/>
          </a:ln>
        </p:spPr>
        <p:style>
          <a:lnRef idx="1">
            <a:schemeClr val="accent1"/>
          </a:lnRef>
          <a:fillRef idx="0">
            <a:schemeClr val="accent1"/>
          </a:fillRef>
          <a:effectRef idx="0">
            <a:schemeClr val="accent1"/>
          </a:effectRef>
          <a:fontRef idx="minor">
            <a:schemeClr val="tx1"/>
          </a:fontRef>
        </p:style>
      </p:cxnSp>
      <p:sp>
        <p:nvSpPr>
          <p:cNvPr id="6" name="atom_192635"/>
          <p:cNvSpPr>
            <a:spLocks noChangeAspect="1"/>
          </p:cNvSpPr>
          <p:nvPr/>
        </p:nvSpPr>
        <p:spPr bwMode="auto">
          <a:xfrm>
            <a:off x="1406608" y="961747"/>
            <a:ext cx="375964" cy="399232"/>
          </a:xfrm>
          <a:custGeom>
            <a:avLst/>
            <a:gdLst>
              <a:gd name="connsiteX0" fmla="*/ 285671 w 571362"/>
              <a:gd name="connsiteY0" fmla="*/ 470107 h 606722"/>
              <a:gd name="connsiteX1" fmla="*/ 374169 w 571362"/>
              <a:gd name="connsiteY1" fmla="*/ 512238 h 606722"/>
              <a:gd name="connsiteX2" fmla="*/ 369717 w 571362"/>
              <a:gd name="connsiteY2" fmla="*/ 522815 h 606722"/>
              <a:gd name="connsiteX3" fmla="*/ 285671 w 571362"/>
              <a:gd name="connsiteY3" fmla="*/ 606722 h 606722"/>
              <a:gd name="connsiteX4" fmla="*/ 201625 w 571362"/>
              <a:gd name="connsiteY4" fmla="*/ 522815 h 606722"/>
              <a:gd name="connsiteX5" fmla="*/ 197262 w 571362"/>
              <a:gd name="connsiteY5" fmla="*/ 512238 h 606722"/>
              <a:gd name="connsiteX6" fmla="*/ 285671 w 571362"/>
              <a:gd name="connsiteY6" fmla="*/ 470107 h 606722"/>
              <a:gd name="connsiteX7" fmla="*/ 403524 w 571362"/>
              <a:gd name="connsiteY7" fmla="*/ 393967 h 606722"/>
              <a:gd name="connsiteX8" fmla="*/ 384914 w 571362"/>
              <a:gd name="connsiteY8" fmla="*/ 481539 h 606722"/>
              <a:gd name="connsiteX9" fmla="*/ 318846 w 571362"/>
              <a:gd name="connsiteY9" fmla="*/ 451044 h 606722"/>
              <a:gd name="connsiteX10" fmla="*/ 388387 w 571362"/>
              <a:gd name="connsiteY10" fmla="*/ 405169 h 606722"/>
              <a:gd name="connsiteX11" fmla="*/ 403524 w 571362"/>
              <a:gd name="connsiteY11" fmla="*/ 393967 h 606722"/>
              <a:gd name="connsiteX12" fmla="*/ 167906 w 571362"/>
              <a:gd name="connsiteY12" fmla="*/ 393967 h 606722"/>
              <a:gd name="connsiteX13" fmla="*/ 183034 w 571362"/>
              <a:gd name="connsiteY13" fmla="*/ 405169 h 606722"/>
              <a:gd name="connsiteX14" fmla="*/ 252443 w 571362"/>
              <a:gd name="connsiteY14" fmla="*/ 451044 h 606722"/>
              <a:gd name="connsiteX15" fmla="*/ 186504 w 571362"/>
              <a:gd name="connsiteY15" fmla="*/ 481539 h 606722"/>
              <a:gd name="connsiteX16" fmla="*/ 167906 w 571362"/>
              <a:gd name="connsiteY16" fmla="*/ 393967 h 606722"/>
              <a:gd name="connsiteX17" fmla="*/ 483987 w 571362"/>
              <a:gd name="connsiteY17" fmla="*/ 326436 h 606722"/>
              <a:gd name="connsiteX18" fmla="*/ 571215 w 571362"/>
              <a:gd name="connsiteY18" fmla="*/ 468871 h 606722"/>
              <a:gd name="connsiteX19" fmla="*/ 561602 w 571362"/>
              <a:gd name="connsiteY19" fmla="*/ 498549 h 606722"/>
              <a:gd name="connsiteX20" fmla="*/ 427733 w 571362"/>
              <a:gd name="connsiteY20" fmla="*/ 496860 h 606722"/>
              <a:gd name="connsiteX21" fmla="*/ 415450 w 571362"/>
              <a:gd name="connsiteY21" fmla="*/ 492862 h 606722"/>
              <a:gd name="connsiteX22" fmla="*/ 439304 w 571362"/>
              <a:gd name="connsiteY22" fmla="*/ 365888 h 606722"/>
              <a:gd name="connsiteX23" fmla="*/ 483987 w 571362"/>
              <a:gd name="connsiteY23" fmla="*/ 326436 h 606722"/>
              <a:gd name="connsiteX24" fmla="*/ 87462 w 571362"/>
              <a:gd name="connsiteY24" fmla="*/ 326436 h 606722"/>
              <a:gd name="connsiteX25" fmla="*/ 132145 w 571362"/>
              <a:gd name="connsiteY25" fmla="*/ 365899 h 606722"/>
              <a:gd name="connsiteX26" fmla="*/ 155910 w 571362"/>
              <a:gd name="connsiteY26" fmla="*/ 492907 h 606722"/>
              <a:gd name="connsiteX27" fmla="*/ 143716 w 571362"/>
              <a:gd name="connsiteY27" fmla="*/ 496907 h 606722"/>
              <a:gd name="connsiteX28" fmla="*/ 9758 w 571362"/>
              <a:gd name="connsiteY28" fmla="*/ 498596 h 606722"/>
              <a:gd name="connsiteX29" fmla="*/ 145 w 571362"/>
              <a:gd name="connsiteY29" fmla="*/ 468910 h 606722"/>
              <a:gd name="connsiteX30" fmla="*/ 87462 w 571362"/>
              <a:gd name="connsiteY30" fmla="*/ 326436 h 606722"/>
              <a:gd name="connsiteX31" fmla="*/ 441700 w 571362"/>
              <a:gd name="connsiteY31" fmla="*/ 285931 h 606722"/>
              <a:gd name="connsiteX32" fmla="*/ 460682 w 571362"/>
              <a:gd name="connsiteY32" fmla="*/ 303352 h 606722"/>
              <a:gd name="connsiteX33" fmla="*/ 441700 w 571362"/>
              <a:gd name="connsiteY33" fmla="*/ 320861 h 606722"/>
              <a:gd name="connsiteX34" fmla="*/ 441878 w 571362"/>
              <a:gd name="connsiteY34" fmla="*/ 303352 h 606722"/>
              <a:gd name="connsiteX35" fmla="*/ 441700 w 571362"/>
              <a:gd name="connsiteY35" fmla="*/ 285931 h 606722"/>
              <a:gd name="connsiteX36" fmla="*/ 129660 w 571362"/>
              <a:gd name="connsiteY36" fmla="*/ 285931 h 606722"/>
              <a:gd name="connsiteX37" fmla="*/ 129482 w 571362"/>
              <a:gd name="connsiteY37" fmla="*/ 303352 h 606722"/>
              <a:gd name="connsiteX38" fmla="*/ 129660 w 571362"/>
              <a:gd name="connsiteY38" fmla="*/ 320861 h 606722"/>
              <a:gd name="connsiteX39" fmla="*/ 110678 w 571362"/>
              <a:gd name="connsiteY39" fmla="*/ 303352 h 606722"/>
              <a:gd name="connsiteX40" fmla="*/ 129660 w 571362"/>
              <a:gd name="connsiteY40" fmla="*/ 285931 h 606722"/>
              <a:gd name="connsiteX41" fmla="*/ 285715 w 571362"/>
              <a:gd name="connsiteY41" fmla="*/ 279439 h 606722"/>
              <a:gd name="connsiteX42" fmla="*/ 309672 w 571362"/>
              <a:gd name="connsiteY42" fmla="*/ 303396 h 606722"/>
              <a:gd name="connsiteX43" fmla="*/ 285715 w 571362"/>
              <a:gd name="connsiteY43" fmla="*/ 327353 h 606722"/>
              <a:gd name="connsiteX44" fmla="*/ 261758 w 571362"/>
              <a:gd name="connsiteY44" fmla="*/ 303396 h 606722"/>
              <a:gd name="connsiteX45" fmla="*/ 285715 w 571362"/>
              <a:gd name="connsiteY45" fmla="*/ 279439 h 606722"/>
              <a:gd name="connsiteX46" fmla="*/ 285680 w 571362"/>
              <a:gd name="connsiteY46" fmla="*/ 246856 h 606722"/>
              <a:gd name="connsiteX47" fmla="*/ 229160 w 571362"/>
              <a:gd name="connsiteY47" fmla="*/ 303291 h 606722"/>
              <a:gd name="connsiteX48" fmla="*/ 285680 w 571362"/>
              <a:gd name="connsiteY48" fmla="*/ 359814 h 606722"/>
              <a:gd name="connsiteX49" fmla="*/ 342288 w 571362"/>
              <a:gd name="connsiteY49" fmla="*/ 303291 h 606722"/>
              <a:gd name="connsiteX50" fmla="*/ 285680 w 571362"/>
              <a:gd name="connsiteY50" fmla="*/ 246856 h 606722"/>
              <a:gd name="connsiteX51" fmla="*/ 285680 w 571362"/>
              <a:gd name="connsiteY51" fmla="*/ 173803 h 606722"/>
              <a:gd name="connsiteX52" fmla="*/ 369346 w 571362"/>
              <a:gd name="connsiteY52" fmla="*/ 227926 h 606722"/>
              <a:gd name="connsiteX53" fmla="*/ 407886 w 571362"/>
              <a:gd name="connsiteY53" fmla="*/ 257254 h 606722"/>
              <a:gd name="connsiteX54" fmla="*/ 409310 w 571362"/>
              <a:gd name="connsiteY54" fmla="*/ 303291 h 606722"/>
              <a:gd name="connsiteX55" fmla="*/ 407886 w 571362"/>
              <a:gd name="connsiteY55" fmla="*/ 349327 h 606722"/>
              <a:gd name="connsiteX56" fmla="*/ 369346 w 571362"/>
              <a:gd name="connsiteY56" fmla="*/ 378743 h 606722"/>
              <a:gd name="connsiteX57" fmla="*/ 285680 w 571362"/>
              <a:gd name="connsiteY57" fmla="*/ 432778 h 606722"/>
              <a:gd name="connsiteX58" fmla="*/ 202102 w 571362"/>
              <a:gd name="connsiteY58" fmla="*/ 378743 h 606722"/>
              <a:gd name="connsiteX59" fmla="*/ 163562 w 571362"/>
              <a:gd name="connsiteY59" fmla="*/ 349327 h 606722"/>
              <a:gd name="connsiteX60" fmla="*/ 162049 w 571362"/>
              <a:gd name="connsiteY60" fmla="*/ 303291 h 606722"/>
              <a:gd name="connsiteX61" fmla="*/ 163562 w 571362"/>
              <a:gd name="connsiteY61" fmla="*/ 257254 h 606722"/>
              <a:gd name="connsiteX62" fmla="*/ 202102 w 571362"/>
              <a:gd name="connsiteY62" fmla="*/ 227926 h 606722"/>
              <a:gd name="connsiteX63" fmla="*/ 285680 w 571362"/>
              <a:gd name="connsiteY63" fmla="*/ 173803 h 606722"/>
              <a:gd name="connsiteX64" fmla="*/ 384914 w 571362"/>
              <a:gd name="connsiteY64" fmla="*/ 125113 h 606722"/>
              <a:gd name="connsiteX65" fmla="*/ 403524 w 571362"/>
              <a:gd name="connsiteY65" fmla="*/ 212685 h 606722"/>
              <a:gd name="connsiteX66" fmla="*/ 388387 w 571362"/>
              <a:gd name="connsiteY66" fmla="*/ 201572 h 606722"/>
              <a:gd name="connsiteX67" fmla="*/ 318846 w 571362"/>
              <a:gd name="connsiteY67" fmla="*/ 155608 h 606722"/>
              <a:gd name="connsiteX68" fmla="*/ 384914 w 571362"/>
              <a:gd name="connsiteY68" fmla="*/ 125113 h 606722"/>
              <a:gd name="connsiteX69" fmla="*/ 186504 w 571362"/>
              <a:gd name="connsiteY69" fmla="*/ 125113 h 606722"/>
              <a:gd name="connsiteX70" fmla="*/ 252443 w 571362"/>
              <a:gd name="connsiteY70" fmla="*/ 155608 h 606722"/>
              <a:gd name="connsiteX71" fmla="*/ 183034 w 571362"/>
              <a:gd name="connsiteY71" fmla="*/ 201572 h 606722"/>
              <a:gd name="connsiteX72" fmla="*/ 167906 w 571362"/>
              <a:gd name="connsiteY72" fmla="*/ 212685 h 606722"/>
              <a:gd name="connsiteX73" fmla="*/ 186504 w 571362"/>
              <a:gd name="connsiteY73" fmla="*/ 125113 h 606722"/>
              <a:gd name="connsiteX74" fmla="*/ 513359 w 571362"/>
              <a:gd name="connsiteY74" fmla="*/ 94417 h 606722"/>
              <a:gd name="connsiteX75" fmla="*/ 561602 w 571362"/>
              <a:gd name="connsiteY75" fmla="*/ 108100 h 606722"/>
              <a:gd name="connsiteX76" fmla="*/ 571215 w 571362"/>
              <a:gd name="connsiteY76" fmla="*/ 137863 h 606722"/>
              <a:gd name="connsiteX77" fmla="*/ 483987 w 571362"/>
              <a:gd name="connsiteY77" fmla="*/ 280286 h 606722"/>
              <a:gd name="connsiteX78" fmla="*/ 439304 w 571362"/>
              <a:gd name="connsiteY78" fmla="*/ 240838 h 606722"/>
              <a:gd name="connsiteX79" fmla="*/ 415450 w 571362"/>
              <a:gd name="connsiteY79" fmla="*/ 113875 h 606722"/>
              <a:gd name="connsiteX80" fmla="*/ 427733 w 571362"/>
              <a:gd name="connsiteY80" fmla="*/ 109876 h 606722"/>
              <a:gd name="connsiteX81" fmla="*/ 513359 w 571362"/>
              <a:gd name="connsiteY81" fmla="*/ 94417 h 606722"/>
              <a:gd name="connsiteX82" fmla="*/ 57990 w 571362"/>
              <a:gd name="connsiteY82" fmla="*/ 94417 h 606722"/>
              <a:gd name="connsiteX83" fmla="*/ 143715 w 571362"/>
              <a:gd name="connsiteY83" fmla="*/ 109876 h 606722"/>
              <a:gd name="connsiteX84" fmla="*/ 155911 w 571362"/>
              <a:gd name="connsiteY84" fmla="*/ 113875 h 606722"/>
              <a:gd name="connsiteX85" fmla="*/ 132143 w 571362"/>
              <a:gd name="connsiteY85" fmla="*/ 240838 h 606722"/>
              <a:gd name="connsiteX86" fmla="*/ 87455 w 571362"/>
              <a:gd name="connsiteY86" fmla="*/ 280286 h 606722"/>
              <a:gd name="connsiteX87" fmla="*/ 127 w 571362"/>
              <a:gd name="connsiteY87" fmla="*/ 137863 h 606722"/>
              <a:gd name="connsiteX88" fmla="*/ 9741 w 571362"/>
              <a:gd name="connsiteY88" fmla="*/ 108100 h 606722"/>
              <a:gd name="connsiteX89" fmla="*/ 57990 w 571362"/>
              <a:gd name="connsiteY89" fmla="*/ 94417 h 606722"/>
              <a:gd name="connsiteX90" fmla="*/ 285671 w 571362"/>
              <a:gd name="connsiteY90" fmla="*/ 0 h 606722"/>
              <a:gd name="connsiteX91" fmla="*/ 369717 w 571362"/>
              <a:gd name="connsiteY91" fmla="*/ 83918 h 606722"/>
              <a:gd name="connsiteX92" fmla="*/ 374169 w 571362"/>
              <a:gd name="connsiteY92" fmla="*/ 94496 h 606722"/>
              <a:gd name="connsiteX93" fmla="*/ 285671 w 571362"/>
              <a:gd name="connsiteY93" fmla="*/ 136544 h 606722"/>
              <a:gd name="connsiteX94" fmla="*/ 197262 w 571362"/>
              <a:gd name="connsiteY94" fmla="*/ 94496 h 606722"/>
              <a:gd name="connsiteX95" fmla="*/ 201625 w 571362"/>
              <a:gd name="connsiteY95" fmla="*/ 83918 h 606722"/>
              <a:gd name="connsiteX96" fmla="*/ 285671 w 571362"/>
              <a:gd name="connsiteY96"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571362" h="606722">
                <a:moveTo>
                  <a:pt x="285671" y="470107"/>
                </a:moveTo>
                <a:cubicBezTo>
                  <a:pt x="315586" y="486551"/>
                  <a:pt x="345412" y="500772"/>
                  <a:pt x="374169" y="512238"/>
                </a:cubicBezTo>
                <a:cubicBezTo>
                  <a:pt x="372744" y="515793"/>
                  <a:pt x="371231" y="519349"/>
                  <a:pt x="369717" y="522815"/>
                </a:cubicBezTo>
                <a:cubicBezTo>
                  <a:pt x="346391" y="576146"/>
                  <a:pt x="315764" y="606722"/>
                  <a:pt x="285671" y="606722"/>
                </a:cubicBezTo>
                <a:cubicBezTo>
                  <a:pt x="255667" y="606722"/>
                  <a:pt x="225040" y="576146"/>
                  <a:pt x="201625" y="522815"/>
                </a:cubicBezTo>
                <a:cubicBezTo>
                  <a:pt x="200111" y="519349"/>
                  <a:pt x="198687" y="515793"/>
                  <a:pt x="197262" y="512238"/>
                </a:cubicBezTo>
                <a:cubicBezTo>
                  <a:pt x="226019" y="500772"/>
                  <a:pt x="255756" y="486551"/>
                  <a:pt x="285671" y="470107"/>
                </a:cubicBezTo>
                <a:close/>
                <a:moveTo>
                  <a:pt x="403524" y="393967"/>
                </a:moveTo>
                <a:cubicBezTo>
                  <a:pt x="399428" y="425262"/>
                  <a:pt x="393106" y="454778"/>
                  <a:pt x="384914" y="481539"/>
                </a:cubicBezTo>
                <a:cubicBezTo>
                  <a:pt x="363367" y="472915"/>
                  <a:pt x="341284" y="462691"/>
                  <a:pt x="318846" y="451044"/>
                </a:cubicBezTo>
                <a:cubicBezTo>
                  <a:pt x="342264" y="436997"/>
                  <a:pt x="365593" y="421617"/>
                  <a:pt x="388387" y="405169"/>
                </a:cubicBezTo>
                <a:cubicBezTo>
                  <a:pt x="393462" y="401435"/>
                  <a:pt x="398538" y="397701"/>
                  <a:pt x="403524" y="393967"/>
                </a:cubicBezTo>
                <a:close/>
                <a:moveTo>
                  <a:pt x="167906" y="393967"/>
                </a:moveTo>
                <a:cubicBezTo>
                  <a:pt x="172800" y="397701"/>
                  <a:pt x="177872" y="401435"/>
                  <a:pt x="183034" y="405169"/>
                </a:cubicBezTo>
                <a:cubicBezTo>
                  <a:pt x="205814" y="421617"/>
                  <a:pt x="229129" y="436997"/>
                  <a:pt x="252443" y="451044"/>
                </a:cubicBezTo>
                <a:cubicBezTo>
                  <a:pt x="230107" y="462691"/>
                  <a:pt x="208039" y="472915"/>
                  <a:pt x="186504" y="481539"/>
                </a:cubicBezTo>
                <a:cubicBezTo>
                  <a:pt x="178228" y="454778"/>
                  <a:pt x="171999" y="425262"/>
                  <a:pt x="167906" y="393967"/>
                </a:cubicBezTo>
                <a:close/>
                <a:moveTo>
                  <a:pt x="483987" y="326436"/>
                </a:moveTo>
                <a:cubicBezTo>
                  <a:pt x="535879" y="380371"/>
                  <a:pt x="568723" y="432263"/>
                  <a:pt x="571215" y="468871"/>
                </a:cubicBezTo>
                <a:cubicBezTo>
                  <a:pt x="572105" y="481844"/>
                  <a:pt x="568990" y="491618"/>
                  <a:pt x="561602" y="498549"/>
                </a:cubicBezTo>
                <a:cubicBezTo>
                  <a:pt x="541842" y="517386"/>
                  <a:pt x="491730" y="516764"/>
                  <a:pt x="427733" y="496860"/>
                </a:cubicBezTo>
                <a:cubicBezTo>
                  <a:pt x="423728" y="495616"/>
                  <a:pt x="419633" y="494284"/>
                  <a:pt x="415450" y="492862"/>
                </a:cubicBezTo>
                <a:cubicBezTo>
                  <a:pt x="427377" y="454654"/>
                  <a:pt x="435477" y="411559"/>
                  <a:pt x="439304" y="365888"/>
                </a:cubicBezTo>
                <a:cubicBezTo>
                  <a:pt x="455148" y="352826"/>
                  <a:pt x="470101" y="339587"/>
                  <a:pt x="483987" y="326436"/>
                </a:cubicBezTo>
                <a:close/>
                <a:moveTo>
                  <a:pt x="87462" y="326436"/>
                </a:moveTo>
                <a:cubicBezTo>
                  <a:pt x="101348" y="339590"/>
                  <a:pt x="116301" y="352833"/>
                  <a:pt x="132145" y="365899"/>
                </a:cubicBezTo>
                <a:cubicBezTo>
                  <a:pt x="135972" y="411583"/>
                  <a:pt x="144072" y="454689"/>
                  <a:pt x="155910" y="492907"/>
                </a:cubicBezTo>
                <a:cubicBezTo>
                  <a:pt x="151816" y="494329"/>
                  <a:pt x="147721" y="495663"/>
                  <a:pt x="143716" y="496907"/>
                </a:cubicBezTo>
                <a:cubicBezTo>
                  <a:pt x="79630" y="516816"/>
                  <a:pt x="29607" y="517527"/>
                  <a:pt x="9758" y="498596"/>
                </a:cubicBezTo>
                <a:cubicBezTo>
                  <a:pt x="2459" y="491663"/>
                  <a:pt x="-745" y="481886"/>
                  <a:pt x="145" y="468910"/>
                </a:cubicBezTo>
                <a:cubicBezTo>
                  <a:pt x="2637" y="432292"/>
                  <a:pt x="35481" y="380386"/>
                  <a:pt x="87462" y="326436"/>
                </a:cubicBezTo>
                <a:close/>
                <a:moveTo>
                  <a:pt x="441700" y="285931"/>
                </a:moveTo>
                <a:cubicBezTo>
                  <a:pt x="448206" y="291708"/>
                  <a:pt x="454622" y="297574"/>
                  <a:pt x="460682" y="303352"/>
                </a:cubicBezTo>
                <a:cubicBezTo>
                  <a:pt x="454622" y="309218"/>
                  <a:pt x="448206" y="314995"/>
                  <a:pt x="441700" y="320861"/>
                </a:cubicBezTo>
                <a:cubicBezTo>
                  <a:pt x="441878" y="314995"/>
                  <a:pt x="441878" y="309218"/>
                  <a:pt x="441878" y="303352"/>
                </a:cubicBezTo>
                <a:cubicBezTo>
                  <a:pt x="441878" y="297574"/>
                  <a:pt x="441878" y="291708"/>
                  <a:pt x="441700" y="285931"/>
                </a:cubicBezTo>
                <a:close/>
                <a:moveTo>
                  <a:pt x="129660" y="285931"/>
                </a:moveTo>
                <a:cubicBezTo>
                  <a:pt x="129571" y="291708"/>
                  <a:pt x="129482" y="297574"/>
                  <a:pt x="129482" y="303352"/>
                </a:cubicBezTo>
                <a:cubicBezTo>
                  <a:pt x="129482" y="309218"/>
                  <a:pt x="129571" y="314995"/>
                  <a:pt x="129660" y="320861"/>
                </a:cubicBezTo>
                <a:cubicBezTo>
                  <a:pt x="123154" y="314995"/>
                  <a:pt x="116827" y="309218"/>
                  <a:pt x="110678" y="303352"/>
                </a:cubicBezTo>
                <a:cubicBezTo>
                  <a:pt x="116827" y="297574"/>
                  <a:pt x="123154" y="291708"/>
                  <a:pt x="129660" y="285931"/>
                </a:cubicBezTo>
                <a:close/>
                <a:moveTo>
                  <a:pt x="285715" y="279439"/>
                </a:moveTo>
                <a:cubicBezTo>
                  <a:pt x="298946" y="279439"/>
                  <a:pt x="309672" y="290165"/>
                  <a:pt x="309672" y="303396"/>
                </a:cubicBezTo>
                <a:cubicBezTo>
                  <a:pt x="309672" y="316627"/>
                  <a:pt x="298946" y="327353"/>
                  <a:pt x="285715" y="327353"/>
                </a:cubicBezTo>
                <a:cubicBezTo>
                  <a:pt x="272484" y="327353"/>
                  <a:pt x="261758" y="316627"/>
                  <a:pt x="261758" y="303396"/>
                </a:cubicBezTo>
                <a:cubicBezTo>
                  <a:pt x="261758" y="290165"/>
                  <a:pt x="272484" y="279439"/>
                  <a:pt x="285715" y="279439"/>
                </a:cubicBezTo>
                <a:close/>
                <a:moveTo>
                  <a:pt x="285680" y="246856"/>
                </a:moveTo>
                <a:cubicBezTo>
                  <a:pt x="254527" y="246856"/>
                  <a:pt x="229160" y="272185"/>
                  <a:pt x="229160" y="303291"/>
                </a:cubicBezTo>
                <a:cubicBezTo>
                  <a:pt x="229160" y="334485"/>
                  <a:pt x="254527" y="359814"/>
                  <a:pt x="285680" y="359814"/>
                </a:cubicBezTo>
                <a:cubicBezTo>
                  <a:pt x="316921" y="359814"/>
                  <a:pt x="342288" y="334485"/>
                  <a:pt x="342288" y="303291"/>
                </a:cubicBezTo>
                <a:cubicBezTo>
                  <a:pt x="342288" y="272185"/>
                  <a:pt x="316921" y="246856"/>
                  <a:pt x="285680" y="246856"/>
                </a:cubicBezTo>
                <a:close/>
                <a:moveTo>
                  <a:pt x="285680" y="173803"/>
                </a:moveTo>
                <a:cubicBezTo>
                  <a:pt x="313717" y="189978"/>
                  <a:pt x="341843" y="208108"/>
                  <a:pt x="369346" y="227926"/>
                </a:cubicBezTo>
                <a:cubicBezTo>
                  <a:pt x="382608" y="237525"/>
                  <a:pt x="395514" y="247301"/>
                  <a:pt x="407886" y="257254"/>
                </a:cubicBezTo>
                <a:cubicBezTo>
                  <a:pt x="408865" y="272363"/>
                  <a:pt x="409310" y="287738"/>
                  <a:pt x="409310" y="303291"/>
                </a:cubicBezTo>
                <a:cubicBezTo>
                  <a:pt x="409310" y="318843"/>
                  <a:pt x="408865" y="334218"/>
                  <a:pt x="407886" y="349327"/>
                </a:cubicBezTo>
                <a:cubicBezTo>
                  <a:pt x="395514" y="359280"/>
                  <a:pt x="382608" y="369145"/>
                  <a:pt x="369346" y="378743"/>
                </a:cubicBezTo>
                <a:cubicBezTo>
                  <a:pt x="341843" y="398562"/>
                  <a:pt x="313717" y="416692"/>
                  <a:pt x="285680" y="432778"/>
                </a:cubicBezTo>
                <a:cubicBezTo>
                  <a:pt x="257642" y="416692"/>
                  <a:pt x="229605" y="398562"/>
                  <a:pt x="202102" y="378743"/>
                </a:cubicBezTo>
                <a:cubicBezTo>
                  <a:pt x="188840" y="369145"/>
                  <a:pt x="175934" y="359280"/>
                  <a:pt x="163562" y="349327"/>
                </a:cubicBezTo>
                <a:cubicBezTo>
                  <a:pt x="162583" y="334218"/>
                  <a:pt x="162049" y="318843"/>
                  <a:pt x="162049" y="303291"/>
                </a:cubicBezTo>
                <a:cubicBezTo>
                  <a:pt x="162049" y="287738"/>
                  <a:pt x="162583" y="272363"/>
                  <a:pt x="163562" y="257254"/>
                </a:cubicBezTo>
                <a:cubicBezTo>
                  <a:pt x="175934" y="247301"/>
                  <a:pt x="188840" y="237525"/>
                  <a:pt x="202102" y="227926"/>
                </a:cubicBezTo>
                <a:cubicBezTo>
                  <a:pt x="229605" y="208108"/>
                  <a:pt x="257642" y="189978"/>
                  <a:pt x="285680" y="173803"/>
                </a:cubicBezTo>
                <a:close/>
                <a:moveTo>
                  <a:pt x="384914" y="125113"/>
                </a:moveTo>
                <a:cubicBezTo>
                  <a:pt x="393106" y="151962"/>
                  <a:pt x="399428" y="181479"/>
                  <a:pt x="403524" y="212685"/>
                </a:cubicBezTo>
                <a:cubicBezTo>
                  <a:pt x="398538" y="208951"/>
                  <a:pt x="393462" y="205306"/>
                  <a:pt x="388387" y="201572"/>
                </a:cubicBezTo>
                <a:cubicBezTo>
                  <a:pt x="365503" y="185124"/>
                  <a:pt x="342264" y="169744"/>
                  <a:pt x="318846" y="155608"/>
                </a:cubicBezTo>
                <a:cubicBezTo>
                  <a:pt x="341284" y="144050"/>
                  <a:pt x="363367" y="133826"/>
                  <a:pt x="384914" y="125113"/>
                </a:cubicBezTo>
                <a:close/>
                <a:moveTo>
                  <a:pt x="186504" y="125113"/>
                </a:moveTo>
                <a:cubicBezTo>
                  <a:pt x="208039" y="133826"/>
                  <a:pt x="230107" y="144050"/>
                  <a:pt x="252443" y="155608"/>
                </a:cubicBezTo>
                <a:cubicBezTo>
                  <a:pt x="229129" y="169744"/>
                  <a:pt x="205814" y="185124"/>
                  <a:pt x="183034" y="201572"/>
                </a:cubicBezTo>
                <a:cubicBezTo>
                  <a:pt x="177872" y="205306"/>
                  <a:pt x="172800" y="208951"/>
                  <a:pt x="167906" y="212685"/>
                </a:cubicBezTo>
                <a:cubicBezTo>
                  <a:pt x="171999" y="181479"/>
                  <a:pt x="178228" y="151962"/>
                  <a:pt x="186504" y="125113"/>
                </a:cubicBezTo>
                <a:close/>
                <a:moveTo>
                  <a:pt x="513359" y="94417"/>
                </a:moveTo>
                <a:cubicBezTo>
                  <a:pt x="535344" y="94417"/>
                  <a:pt x="551989" y="98948"/>
                  <a:pt x="561602" y="108100"/>
                </a:cubicBezTo>
                <a:cubicBezTo>
                  <a:pt x="568990" y="115118"/>
                  <a:pt x="572105" y="124803"/>
                  <a:pt x="571215" y="137863"/>
                </a:cubicBezTo>
                <a:cubicBezTo>
                  <a:pt x="568723" y="174380"/>
                  <a:pt x="535879" y="226356"/>
                  <a:pt x="483987" y="280286"/>
                </a:cubicBezTo>
                <a:cubicBezTo>
                  <a:pt x="470101" y="267048"/>
                  <a:pt x="455148" y="253898"/>
                  <a:pt x="439304" y="240838"/>
                </a:cubicBezTo>
                <a:cubicBezTo>
                  <a:pt x="435477" y="195170"/>
                  <a:pt x="427377" y="151990"/>
                  <a:pt x="415450" y="113875"/>
                </a:cubicBezTo>
                <a:cubicBezTo>
                  <a:pt x="419633" y="112453"/>
                  <a:pt x="423728" y="111120"/>
                  <a:pt x="427733" y="109876"/>
                </a:cubicBezTo>
                <a:cubicBezTo>
                  <a:pt x="460755" y="99570"/>
                  <a:pt x="490039" y="94417"/>
                  <a:pt x="513359" y="94417"/>
                </a:cubicBezTo>
                <a:close/>
                <a:moveTo>
                  <a:pt x="57990" y="94417"/>
                </a:moveTo>
                <a:cubicBezTo>
                  <a:pt x="81402" y="94417"/>
                  <a:pt x="110689" y="99570"/>
                  <a:pt x="143715" y="109876"/>
                </a:cubicBezTo>
                <a:cubicBezTo>
                  <a:pt x="147721" y="111120"/>
                  <a:pt x="151816" y="112453"/>
                  <a:pt x="155911" y="113875"/>
                </a:cubicBezTo>
                <a:cubicBezTo>
                  <a:pt x="144071" y="151990"/>
                  <a:pt x="135971" y="195170"/>
                  <a:pt x="132143" y="240838"/>
                </a:cubicBezTo>
                <a:cubicBezTo>
                  <a:pt x="116297" y="253898"/>
                  <a:pt x="101342" y="267048"/>
                  <a:pt x="87455" y="280286"/>
                </a:cubicBezTo>
                <a:cubicBezTo>
                  <a:pt x="35468" y="226356"/>
                  <a:pt x="2620" y="174380"/>
                  <a:pt x="127" y="137863"/>
                </a:cubicBezTo>
                <a:cubicBezTo>
                  <a:pt x="-674" y="124803"/>
                  <a:pt x="2442" y="115118"/>
                  <a:pt x="9741" y="108100"/>
                </a:cubicBezTo>
                <a:cubicBezTo>
                  <a:pt x="19355" y="98948"/>
                  <a:pt x="36091" y="94417"/>
                  <a:pt x="57990" y="94417"/>
                </a:cubicBezTo>
                <a:close/>
                <a:moveTo>
                  <a:pt x="285671" y="0"/>
                </a:moveTo>
                <a:cubicBezTo>
                  <a:pt x="315764" y="0"/>
                  <a:pt x="346391" y="30580"/>
                  <a:pt x="369717" y="83918"/>
                </a:cubicBezTo>
                <a:cubicBezTo>
                  <a:pt x="371231" y="87385"/>
                  <a:pt x="372744" y="90852"/>
                  <a:pt x="374169" y="94496"/>
                </a:cubicBezTo>
                <a:cubicBezTo>
                  <a:pt x="345412" y="105964"/>
                  <a:pt x="315586" y="120098"/>
                  <a:pt x="285671" y="136544"/>
                </a:cubicBezTo>
                <a:cubicBezTo>
                  <a:pt x="255756" y="120098"/>
                  <a:pt x="226019" y="105964"/>
                  <a:pt x="197262" y="94496"/>
                </a:cubicBezTo>
                <a:cubicBezTo>
                  <a:pt x="198687" y="90852"/>
                  <a:pt x="200111" y="87296"/>
                  <a:pt x="201625" y="83918"/>
                </a:cubicBezTo>
                <a:cubicBezTo>
                  <a:pt x="225040" y="30580"/>
                  <a:pt x="255667" y="0"/>
                  <a:pt x="285671"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 name="矩形 6"/>
          <p:cNvSpPr/>
          <p:nvPr/>
        </p:nvSpPr>
        <p:spPr>
          <a:xfrm>
            <a:off x="2491014" y="881138"/>
            <a:ext cx="7160935" cy="584775"/>
          </a:xfrm>
          <a:prstGeom prst="rect">
            <a:avLst/>
          </a:prstGeom>
        </p:spPr>
        <p:txBody>
          <a:bodyPr wrap="none">
            <a:spAutoFit/>
          </a:bodyPr>
          <a:lstStyle/>
          <a:p>
            <a:r>
              <a:rPr lang="zh-CN" altLang="en-US" sz="3200" dirty="0">
                <a:latin typeface="宋体" panose="02010600030101010101" pitchFamily="2" charset="-122"/>
              </a:rPr>
              <a:t>信息对抗的能力包括</a:t>
            </a:r>
            <a:r>
              <a:rPr lang="zh-CN" altLang="en-US" sz="3200" dirty="0">
                <a:solidFill>
                  <a:schemeClr val="folHlink"/>
                </a:solidFill>
                <a:latin typeface="宋体" panose="02010600030101010101" pitchFamily="2" charset="-122"/>
              </a:rPr>
              <a:t>进攻</a:t>
            </a:r>
            <a:r>
              <a:rPr lang="zh-CN" altLang="en-US" sz="3200" dirty="0">
                <a:latin typeface="宋体" panose="02010600030101010101" pitchFamily="2" charset="-122"/>
              </a:rPr>
              <a:t>与</a:t>
            </a:r>
            <a:r>
              <a:rPr lang="zh-CN" altLang="en-US" sz="3200" dirty="0">
                <a:solidFill>
                  <a:schemeClr val="folHlink"/>
                </a:solidFill>
                <a:latin typeface="宋体" panose="02010600030101010101" pitchFamily="2" charset="-122"/>
              </a:rPr>
              <a:t>防御</a:t>
            </a:r>
            <a:r>
              <a:rPr lang="zh-CN" altLang="en-US" sz="3200" dirty="0">
                <a:latin typeface="宋体" panose="02010600030101010101" pitchFamily="2" charset="-122"/>
              </a:rPr>
              <a:t>两种：</a:t>
            </a:r>
            <a:endParaRPr lang="zh-CN" altLang="en-US" sz="3200" dirty="0">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 calcmode="lin" valueType="num">
                                      <p:cBhvr>
                                        <p:cTn id="9" dur="500" fill="hold"/>
                                        <p:tgtEl>
                                          <p:spTgt spid="4"/>
                                        </p:tgtEl>
                                        <p:attrNameLst>
                                          <p:attrName>style.rotation</p:attrName>
                                        </p:attrNameLst>
                                      </p:cBhvr>
                                      <p:tavLst>
                                        <p:tav tm="0">
                                          <p:val>
                                            <p:fltVal val="90"/>
                                          </p:val>
                                        </p:tav>
                                        <p:tav tm="100000">
                                          <p:val>
                                            <p:fltVal val="0"/>
                                          </p:val>
                                        </p:tav>
                                      </p:tavLst>
                                    </p:anim>
                                    <p:animEffect transition="in" filter="fade">
                                      <p:cBhvr>
                                        <p:cTn id="10" dur="500"/>
                                        <p:tgtEl>
                                          <p:spTgt spid="4"/>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 calcmode="lin" valueType="num">
                                      <p:cBhvr>
                                        <p:cTn id="15" dur="500" fill="hold"/>
                                        <p:tgtEl>
                                          <p:spTgt spid="6"/>
                                        </p:tgtEl>
                                        <p:attrNameLst>
                                          <p:attrName>style.rotation</p:attrName>
                                        </p:attrNameLst>
                                      </p:cBhvr>
                                      <p:tavLst>
                                        <p:tav tm="0">
                                          <p:val>
                                            <p:fltVal val="90"/>
                                          </p:val>
                                        </p:tav>
                                        <p:tav tm="100000">
                                          <p:val>
                                            <p:fltVal val="0"/>
                                          </p:val>
                                        </p:tav>
                                      </p:tavLst>
                                    </p:anim>
                                    <p:animEffect transition="in" filter="fade">
                                      <p:cBhvr>
                                        <p:cTn id="16" dur="500"/>
                                        <p:tgtEl>
                                          <p:spTgt spid="6"/>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500"/>
                                        <p:tgtEl>
                                          <p:spTgt spid="5"/>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文本占位符 51202"/>
          <p:cNvSpPr>
            <a:spLocks noGrp="1"/>
          </p:cNvSpPr>
          <p:nvPr>
            <p:ph idx="1"/>
          </p:nvPr>
        </p:nvSpPr>
        <p:spPr>
          <a:xfrm>
            <a:off x="1401287" y="1495425"/>
            <a:ext cx="9619013" cy="4395788"/>
          </a:xfrm>
        </p:spPr>
        <p:txBody>
          <a:bodyPr vert="horz" wrap="square" lIns="91440" tIns="45720" rIns="91440" bIns="45720" rtlCol="0" anchor="t">
            <a:noAutofit/>
          </a:bodyPr>
          <a:lstStyle/>
          <a:p>
            <a:pPr eaLnBrk="1" hangingPunct="1">
              <a:buNone/>
            </a:pPr>
            <a:r>
              <a:rPr lang="en-US" altLang="zh-CN" sz="2800" dirty="0">
                <a:latin typeface="宋体" panose="02010600030101010101" pitchFamily="2" charset="-122"/>
              </a:rPr>
              <a:t>     </a:t>
            </a:r>
            <a:r>
              <a:rPr lang="zh-CN" altLang="en-US" sz="2800" dirty="0" smtClean="0">
                <a:latin typeface="宋体" panose="02010600030101010101" pitchFamily="2" charset="-122"/>
              </a:rPr>
              <a:t>信息</a:t>
            </a:r>
            <a:r>
              <a:rPr lang="zh-CN" altLang="en-US" sz="2800" dirty="0">
                <a:latin typeface="宋体" panose="02010600030101010101" pitchFamily="2" charset="-122"/>
              </a:rPr>
              <a:t>对抗的防御包括</a:t>
            </a:r>
            <a:r>
              <a:rPr lang="zh-CN" altLang="en-US" sz="2800" dirty="0">
                <a:solidFill>
                  <a:schemeClr val="folHlink"/>
                </a:solidFill>
                <a:latin typeface="宋体" panose="02010600030101010101" pitchFamily="2" charset="-122"/>
              </a:rPr>
              <a:t>保护、发现与监控攻击</a:t>
            </a:r>
            <a:r>
              <a:rPr lang="zh-CN" altLang="en-US" sz="2800" dirty="0">
                <a:latin typeface="宋体" panose="02010600030101010101" pitchFamily="2" charset="-122"/>
              </a:rPr>
              <a:t>和</a:t>
            </a:r>
            <a:r>
              <a:rPr lang="zh-CN" altLang="en-US" sz="2800" dirty="0">
                <a:solidFill>
                  <a:schemeClr val="folHlink"/>
                </a:solidFill>
                <a:latin typeface="宋体" panose="02010600030101010101" pitchFamily="2" charset="-122"/>
              </a:rPr>
              <a:t>恢复</a:t>
            </a:r>
            <a:r>
              <a:rPr lang="zh-CN" altLang="en-US" sz="2800" dirty="0">
                <a:latin typeface="宋体" panose="02010600030101010101" pitchFamily="2" charset="-122"/>
              </a:rPr>
              <a:t>三种能力。</a:t>
            </a:r>
            <a:endParaRPr lang="zh-CN" altLang="en-US" sz="2800" dirty="0">
              <a:latin typeface="宋体" panose="02010600030101010101" pitchFamily="2" charset="-122"/>
            </a:endParaRPr>
          </a:p>
          <a:p>
            <a:pPr eaLnBrk="1" hangingPunct="1">
              <a:buClr>
                <a:srgbClr val="CCFFCC"/>
              </a:buClr>
              <a:buFont typeface="Wingdings" panose="05000000000000000000" pitchFamily="2" charset="2"/>
              <a:buChar char="n"/>
            </a:pPr>
            <a:r>
              <a:rPr lang="zh-CN" altLang="en-US" sz="2800" dirty="0">
                <a:solidFill>
                  <a:schemeClr val="folHlink"/>
                </a:solidFill>
                <a:latin typeface="宋体" panose="02010600030101010101" pitchFamily="2" charset="-122"/>
              </a:rPr>
              <a:t>保护能力</a:t>
            </a:r>
            <a:r>
              <a:rPr lang="zh-CN" altLang="en-US" sz="2800" dirty="0">
                <a:latin typeface="宋体" panose="02010600030101010101" pitchFamily="2" charset="-122"/>
              </a:rPr>
              <a:t>是为了实现</a:t>
            </a:r>
            <a:r>
              <a:rPr lang="zh-CN" altLang="en-US" sz="2800" dirty="0">
                <a:solidFill>
                  <a:srgbClr val="00B0F0"/>
                </a:solidFill>
                <a:latin typeface="宋体" panose="02010600030101010101" pitchFamily="2" charset="-122"/>
              </a:rPr>
              <a:t>信息安全、作战安全和信息完整性</a:t>
            </a:r>
            <a:r>
              <a:rPr lang="zh-CN" altLang="en-US" sz="2800" dirty="0">
                <a:latin typeface="宋体" panose="02010600030101010101" pitchFamily="2" charset="-122"/>
              </a:rPr>
              <a:t>。</a:t>
            </a:r>
            <a:endParaRPr lang="zh-CN" altLang="en-US" sz="2800" dirty="0">
              <a:latin typeface="宋体" panose="02010600030101010101" pitchFamily="2" charset="-122"/>
            </a:endParaRPr>
          </a:p>
          <a:p>
            <a:pPr lvl="1" eaLnBrk="1" hangingPunct="1">
              <a:buClr>
                <a:srgbClr val="CCFFCC"/>
              </a:buClr>
              <a:buFont typeface="Wingdings" panose="05000000000000000000" pitchFamily="2" charset="2"/>
              <a:buChar char="ü"/>
            </a:pPr>
            <a:r>
              <a:rPr lang="zh-CN" altLang="en-US" sz="2400" dirty="0">
                <a:solidFill>
                  <a:srgbClr val="00B0F0"/>
                </a:solidFill>
                <a:latin typeface="宋体" panose="02010600030101010101" pitchFamily="2" charset="-122"/>
              </a:rPr>
              <a:t>信息安全的目标</a:t>
            </a:r>
            <a:r>
              <a:rPr lang="zh-CN" altLang="en-US" sz="2400" dirty="0">
                <a:latin typeface="宋体" panose="02010600030101010101" pitchFamily="2" charset="-122"/>
              </a:rPr>
              <a:t>是在多种复杂的安全策略下，对有意和无意的未经授权的泄漏、访问、操作和更改提供保护；</a:t>
            </a:r>
            <a:endParaRPr lang="zh-CN" altLang="en-US" sz="2400" dirty="0">
              <a:latin typeface="宋体" panose="02010600030101010101" pitchFamily="2" charset="-122"/>
            </a:endParaRPr>
          </a:p>
          <a:p>
            <a:pPr lvl="1" eaLnBrk="1" hangingPunct="1">
              <a:buClr>
                <a:srgbClr val="CCFFCC"/>
              </a:buClr>
              <a:buFont typeface="Wingdings" panose="05000000000000000000" pitchFamily="2" charset="2"/>
              <a:buChar char="ü"/>
            </a:pPr>
            <a:r>
              <a:rPr lang="zh-CN" altLang="en-US" sz="2400" dirty="0">
                <a:solidFill>
                  <a:srgbClr val="00B0F0"/>
                </a:solidFill>
                <a:latin typeface="宋体" panose="02010600030101010101" pitchFamily="2" charset="-122"/>
              </a:rPr>
              <a:t>作战安全的目标</a:t>
            </a:r>
            <a:r>
              <a:rPr lang="zh-CN" altLang="en-US" sz="2400" dirty="0">
                <a:latin typeface="宋体" panose="02010600030101010101" pitchFamily="2" charset="-122"/>
              </a:rPr>
              <a:t>是消除由于己方能力的局限性和有关意图的信息被敌方利用而造成的脆弱性，或将其降低到可接受程度；</a:t>
            </a:r>
            <a:endParaRPr lang="zh-CN" altLang="en-US" sz="2400" dirty="0">
              <a:latin typeface="宋体" panose="02010600030101010101" pitchFamily="2" charset="-122"/>
            </a:endParaRPr>
          </a:p>
          <a:p>
            <a:pPr lvl="1" eaLnBrk="1" hangingPunct="1">
              <a:buClr>
                <a:srgbClr val="CCFFCC"/>
              </a:buClr>
              <a:buFont typeface="Wingdings" panose="05000000000000000000" pitchFamily="2" charset="2"/>
              <a:buChar char="ü"/>
            </a:pPr>
            <a:r>
              <a:rPr lang="zh-CN" altLang="en-US" sz="2400" dirty="0">
                <a:solidFill>
                  <a:srgbClr val="00B0F0"/>
                </a:solidFill>
                <a:latin typeface="宋体" panose="02010600030101010101" pitchFamily="2" charset="-122"/>
              </a:rPr>
              <a:t>信息完整性的目标</a:t>
            </a:r>
            <a:r>
              <a:rPr lang="zh-CN" altLang="en-US" sz="2400" dirty="0">
                <a:latin typeface="宋体" panose="02010600030101010101" pitchFamily="2" charset="-122"/>
              </a:rPr>
              <a:t>是确保信息的真实性与完整性不受损害。</a:t>
            </a:r>
            <a:r>
              <a:rPr lang="zh-CN" altLang="en-US" sz="2400" dirty="0"/>
              <a:t> </a:t>
            </a:r>
            <a:endParaRPr lang="zh-CN" altLang="en-US" sz="2400" dirty="0"/>
          </a:p>
        </p:txBody>
      </p:sp>
      <p:grpSp>
        <p:nvGrpSpPr>
          <p:cNvPr id="4" name="组合 3"/>
          <p:cNvGrpSpPr/>
          <p:nvPr/>
        </p:nvGrpSpPr>
        <p:grpSpPr>
          <a:xfrm>
            <a:off x="2778211" y="135003"/>
            <a:ext cx="6635578" cy="1109044"/>
            <a:chOff x="3279913" y="488294"/>
            <a:chExt cx="6635578" cy="1109044"/>
          </a:xfrm>
        </p:grpSpPr>
        <p:grpSp>
          <p:nvGrpSpPr>
            <p:cNvPr id="5" name="组合 4"/>
            <p:cNvGrpSpPr/>
            <p:nvPr/>
          </p:nvGrpSpPr>
          <p:grpSpPr>
            <a:xfrm>
              <a:off x="3279913" y="909457"/>
              <a:ext cx="6635578" cy="687881"/>
              <a:chOff x="3279913" y="909457"/>
              <a:chExt cx="6635578" cy="687881"/>
            </a:xfrm>
          </p:grpSpPr>
          <p:sp>
            <p:nvSpPr>
              <p:cNvPr id="159" name="矩形: 圆角 9"/>
              <p:cNvSpPr/>
              <p:nvPr/>
            </p:nvSpPr>
            <p:spPr>
              <a:xfrm>
                <a:off x="3279913" y="909457"/>
                <a:ext cx="6635578"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60" name="文本框 159"/>
              <p:cNvSpPr txBox="1"/>
              <p:nvPr/>
            </p:nvSpPr>
            <p:spPr>
              <a:xfrm>
                <a:off x="4648956" y="1032190"/>
                <a:ext cx="3972562" cy="535531"/>
              </a:xfrm>
              <a:prstGeom prst="rect">
                <a:avLst/>
              </a:prstGeom>
              <a:noFill/>
            </p:spPr>
            <p:txBody>
              <a:bodyPr wrap="none" rtlCol="0" anchor="t">
                <a:spAutoFit/>
              </a:bodyPr>
              <a:lstStyle/>
              <a:p>
                <a:pPr lvl="0" fontAlgn="base">
                  <a:lnSpc>
                    <a:spcPct val="90000"/>
                  </a:lnSpc>
                  <a:spcBef>
                    <a:spcPts val="1000"/>
                  </a:spcBef>
                  <a:spcAft>
                    <a:spcPct val="0"/>
                  </a:spcAft>
                  <a:defRPr/>
                </a:pPr>
                <a:r>
                  <a:rPr lang="zh-CN" altLang="en-US" sz="32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信息</a:t>
                </a:r>
                <a:r>
                  <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对抗的防御能力 </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6"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7"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7"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p:cTn id="8" dur="650" fill="hold"/>
                                        <p:tgtEl>
                                          <p:spTgt spid="4"/>
                                        </p:tgtEl>
                                        <p:attrNameLst>
                                          <p:attrName>ppt_x</p:attrName>
                                        </p:attrNameLst>
                                      </p:cBhvr>
                                      <p:tavLst>
                                        <p:tav tm="0">
                                          <p:val>
                                            <p:strVal val="#ppt_x"/>
                                          </p:val>
                                        </p:tav>
                                        <p:tav tm="100000">
                                          <p:val>
                                            <p:strVal val="#ppt_x"/>
                                          </p:val>
                                        </p:tav>
                                      </p:tavLst>
                                    </p:anim>
                                    <p:anim calcmode="lin" valueType="num">
                                      <p:cBhvr>
                                        <p:cTn id="9" dur="6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52225"/>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63491" name="文本占位符 52226"/>
          <p:cNvSpPr>
            <a:spLocks noGrp="1"/>
          </p:cNvSpPr>
          <p:nvPr>
            <p:ph idx="1"/>
          </p:nvPr>
        </p:nvSpPr>
        <p:spPr>
          <a:xfrm>
            <a:off x="1056905" y="1471317"/>
            <a:ext cx="10082150" cy="3941018"/>
          </a:xfrm>
        </p:spPr>
        <p:txBody>
          <a:bodyPr vert="horz" wrap="square" lIns="91440" tIns="45720" rIns="91440" bIns="45720" rtlCol="0" anchor="t">
            <a:noAutofit/>
          </a:bodyPr>
          <a:lstStyle/>
          <a:p>
            <a:pPr eaLnBrk="1" hangingPunct="1">
              <a:buClr>
                <a:srgbClr val="CCFFCC"/>
              </a:buClr>
              <a:buFont typeface="Wingdings" panose="05000000000000000000" pitchFamily="2" charset="2"/>
              <a:buChar char="n"/>
            </a:pPr>
            <a:r>
              <a:rPr lang="zh-CN" altLang="en-US" sz="2800" dirty="0">
                <a:solidFill>
                  <a:schemeClr val="folHlink"/>
                </a:solidFill>
                <a:latin typeface="宋体" panose="02010600030101010101" pitchFamily="2" charset="-122"/>
              </a:rPr>
              <a:t>发现与监控攻击能力</a:t>
            </a:r>
            <a:r>
              <a:rPr lang="zh-CN" altLang="en-US" sz="2800" dirty="0">
                <a:latin typeface="宋体" panose="02010600030101010101" pitchFamily="2" charset="-122"/>
              </a:rPr>
              <a:t>是为了能够</a:t>
            </a:r>
            <a:r>
              <a:rPr lang="zh-CN" altLang="en-US" sz="2800" dirty="0">
                <a:solidFill>
                  <a:srgbClr val="00B0F0"/>
                </a:solidFill>
                <a:latin typeface="宋体" panose="02010600030101010101" pitchFamily="2" charset="-122"/>
              </a:rPr>
              <a:t>及时发现</a:t>
            </a:r>
            <a:r>
              <a:rPr lang="zh-CN" altLang="en-US" sz="2800" dirty="0">
                <a:latin typeface="宋体" panose="02010600030101010101" pitchFamily="2" charset="-122"/>
              </a:rPr>
              <a:t>敌方对己方信息系统与网络的攻击，并对其攻击过程</a:t>
            </a:r>
            <a:r>
              <a:rPr lang="zh-CN" altLang="en-US" sz="2800" dirty="0">
                <a:solidFill>
                  <a:srgbClr val="00B0F0"/>
                </a:solidFill>
                <a:latin typeface="宋体" panose="02010600030101010101" pitchFamily="2" charset="-122"/>
              </a:rPr>
              <a:t>实施监控</a:t>
            </a:r>
            <a:r>
              <a:rPr lang="zh-CN" altLang="en-US" sz="2800" dirty="0">
                <a:latin typeface="宋体" panose="02010600030101010101" pitchFamily="2" charset="-122"/>
              </a:rPr>
              <a:t>，防止破坏蔓延。</a:t>
            </a:r>
            <a:endParaRPr lang="zh-CN" altLang="en-US" sz="2800" dirty="0">
              <a:latin typeface="宋体" panose="02010600030101010101" pitchFamily="2" charset="-122"/>
            </a:endParaRPr>
          </a:p>
          <a:p>
            <a:pPr eaLnBrk="1" hangingPunct="1">
              <a:buClr>
                <a:srgbClr val="CCFFCC"/>
              </a:buClr>
              <a:buFont typeface="Wingdings" panose="05000000000000000000" pitchFamily="2" charset="2"/>
              <a:buChar char="n"/>
            </a:pPr>
            <a:r>
              <a:rPr lang="zh-CN" altLang="en-US" sz="2800" dirty="0">
                <a:solidFill>
                  <a:schemeClr val="folHlink"/>
                </a:solidFill>
                <a:latin typeface="宋体" panose="02010600030101010101" pitchFamily="2" charset="-122"/>
              </a:rPr>
              <a:t>恢复能力</a:t>
            </a:r>
            <a:r>
              <a:rPr lang="zh-CN" altLang="en-US" sz="2800" dirty="0">
                <a:latin typeface="宋体" panose="02010600030101010101" pitchFamily="2" charset="-122"/>
              </a:rPr>
              <a:t>则是为了在己方信息系统的正常运行遭到破坏，甚至被瘫痪的情况下能够</a:t>
            </a:r>
            <a:r>
              <a:rPr lang="zh-CN" altLang="en-US" sz="2800" dirty="0">
                <a:solidFill>
                  <a:srgbClr val="00B0F0"/>
                </a:solidFill>
                <a:latin typeface="宋体" panose="02010600030101010101" pitchFamily="2" charset="-122"/>
              </a:rPr>
              <a:t>迅速恢复</a:t>
            </a:r>
            <a:r>
              <a:rPr lang="zh-CN" altLang="en-US" sz="2800" dirty="0">
                <a:latin typeface="宋体" panose="02010600030101010101" pitchFamily="2" charset="-122"/>
              </a:rPr>
              <a:t>到正常运行状态。</a:t>
            </a:r>
            <a:r>
              <a:rPr lang="zh-CN" altLang="en-US" dirty="0"/>
              <a:t> </a:t>
            </a:r>
            <a:endParaRPr lang="zh-CN" altLang="en-US" dirty="0"/>
          </a:p>
        </p:txBody>
      </p:sp>
      <p:grpSp>
        <p:nvGrpSpPr>
          <p:cNvPr id="4" name="组合 3"/>
          <p:cNvGrpSpPr/>
          <p:nvPr/>
        </p:nvGrpSpPr>
        <p:grpSpPr>
          <a:xfrm>
            <a:off x="2778211" y="135003"/>
            <a:ext cx="6635578" cy="1109044"/>
            <a:chOff x="3279913" y="488294"/>
            <a:chExt cx="6635578" cy="1109044"/>
          </a:xfrm>
        </p:grpSpPr>
        <p:grpSp>
          <p:nvGrpSpPr>
            <p:cNvPr id="5" name="组合 4"/>
            <p:cNvGrpSpPr/>
            <p:nvPr/>
          </p:nvGrpSpPr>
          <p:grpSpPr>
            <a:xfrm>
              <a:off x="3279913" y="909457"/>
              <a:ext cx="6635578" cy="687881"/>
              <a:chOff x="3279913" y="909457"/>
              <a:chExt cx="6635578" cy="687881"/>
            </a:xfrm>
          </p:grpSpPr>
          <p:sp>
            <p:nvSpPr>
              <p:cNvPr id="159" name="矩形: 圆角 9"/>
              <p:cNvSpPr/>
              <p:nvPr/>
            </p:nvSpPr>
            <p:spPr>
              <a:xfrm>
                <a:off x="3279913" y="909457"/>
                <a:ext cx="6635578"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60" name="文本框 159"/>
              <p:cNvSpPr txBox="1"/>
              <p:nvPr/>
            </p:nvSpPr>
            <p:spPr>
              <a:xfrm>
                <a:off x="4648956" y="1032190"/>
                <a:ext cx="5203669" cy="535531"/>
              </a:xfrm>
              <a:prstGeom prst="rect">
                <a:avLst/>
              </a:prstGeom>
              <a:noFill/>
            </p:spPr>
            <p:txBody>
              <a:bodyPr wrap="none" rtlCol="0" anchor="t">
                <a:spAutoFit/>
              </a:bodyPr>
              <a:lstStyle/>
              <a:p>
                <a:pPr lvl="0" fontAlgn="base">
                  <a:lnSpc>
                    <a:spcPct val="90000"/>
                  </a:lnSpc>
                  <a:spcBef>
                    <a:spcPts val="1000"/>
                  </a:spcBef>
                  <a:spcAft>
                    <a:spcPct val="0"/>
                  </a:spcAft>
                  <a:defRPr/>
                </a:pPr>
                <a:r>
                  <a:rPr lang="zh-CN" altLang="en-US" sz="32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信息</a:t>
                </a:r>
                <a:r>
                  <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对抗的防御</a:t>
                </a:r>
                <a:r>
                  <a:rPr lang="zh-CN" altLang="en-US" sz="32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能力（续） </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6"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7"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7"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p:cTn id="8" dur="650" fill="hold"/>
                                        <p:tgtEl>
                                          <p:spTgt spid="4"/>
                                        </p:tgtEl>
                                        <p:attrNameLst>
                                          <p:attrName>ppt_x</p:attrName>
                                        </p:attrNameLst>
                                      </p:cBhvr>
                                      <p:tavLst>
                                        <p:tav tm="0">
                                          <p:val>
                                            <p:strVal val="#ppt_x"/>
                                          </p:val>
                                        </p:tav>
                                        <p:tav tm="100000">
                                          <p:val>
                                            <p:strVal val="#ppt_x"/>
                                          </p:val>
                                        </p:tav>
                                      </p:tavLst>
                                    </p:anim>
                                    <p:anim calcmode="lin" valueType="num">
                                      <p:cBhvr>
                                        <p:cTn id="9" dur="6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文本占位符 53250"/>
          <p:cNvSpPr>
            <a:spLocks noGrp="1"/>
          </p:cNvSpPr>
          <p:nvPr>
            <p:ph idx="1"/>
          </p:nvPr>
        </p:nvSpPr>
        <p:spPr>
          <a:xfrm>
            <a:off x="1080655" y="1759140"/>
            <a:ext cx="10058400" cy="4178525"/>
          </a:xfrm>
        </p:spPr>
        <p:txBody>
          <a:bodyPr vert="horz" wrap="square" lIns="91440" tIns="45720" rIns="91440" bIns="45720" rtlCol="0" anchor="t">
            <a:noAutofit/>
          </a:bodyPr>
          <a:lstStyle/>
          <a:p>
            <a:pPr algn="just" eaLnBrk="1" hangingPunct="1">
              <a:lnSpc>
                <a:spcPct val="90000"/>
              </a:lnSpc>
              <a:buNone/>
            </a:pPr>
            <a:r>
              <a:rPr lang="en-US" altLang="zh-CN" sz="2800" dirty="0"/>
              <a:t>1</a:t>
            </a:r>
            <a:r>
              <a:rPr lang="zh-CN" altLang="en-US" sz="2800" dirty="0"/>
              <a:t>、</a:t>
            </a:r>
            <a:r>
              <a:rPr lang="zh-CN" altLang="en-US" sz="2800" dirty="0">
                <a:solidFill>
                  <a:schemeClr val="folHlink"/>
                </a:solidFill>
              </a:rPr>
              <a:t>信息抗毁功能</a:t>
            </a:r>
            <a:r>
              <a:rPr lang="zh-CN" altLang="en-US" sz="2800" dirty="0"/>
              <a:t>：通过合理分布、适当重复、完整备份、恰当隐蔽等手段实现信息的抗毁功能有助于提供保护能力，确保信息、信息系统的安全与完善。</a:t>
            </a:r>
            <a:endParaRPr lang="zh-CN" altLang="en-US" sz="2800" dirty="0"/>
          </a:p>
          <a:p>
            <a:pPr algn="just" eaLnBrk="1" hangingPunct="1">
              <a:lnSpc>
                <a:spcPct val="90000"/>
              </a:lnSpc>
              <a:buNone/>
            </a:pPr>
            <a:r>
              <a:rPr lang="en-US" altLang="zh-CN" sz="2800" dirty="0"/>
              <a:t>2</a:t>
            </a:r>
            <a:r>
              <a:rPr lang="zh-CN" altLang="en-US" sz="2800" dirty="0"/>
              <a:t>、</a:t>
            </a:r>
            <a:r>
              <a:rPr lang="zh-CN" altLang="en-US" sz="2800" dirty="0">
                <a:solidFill>
                  <a:schemeClr val="folHlink"/>
                </a:solidFill>
              </a:rPr>
              <a:t>预警功能</a:t>
            </a:r>
            <a:r>
              <a:rPr lang="zh-CN" altLang="en-US" sz="2800" dirty="0"/>
              <a:t>：用于为己方信息系统和子系统提供即将发生的信息攻击提供预警信息。</a:t>
            </a:r>
            <a:endParaRPr lang="zh-CN" altLang="en-US" sz="2800" dirty="0"/>
          </a:p>
          <a:p>
            <a:pPr eaLnBrk="1" hangingPunct="1">
              <a:lnSpc>
                <a:spcPct val="90000"/>
              </a:lnSpc>
              <a:buNone/>
            </a:pPr>
            <a:r>
              <a:rPr lang="en-US" altLang="zh-CN" sz="2800" dirty="0"/>
              <a:t>3</a:t>
            </a:r>
            <a:r>
              <a:rPr lang="zh-CN" altLang="en-US" sz="2800" dirty="0">
                <a:latin typeface="宋体" panose="02010600030101010101" pitchFamily="2" charset="-122"/>
              </a:rPr>
              <a:t>、</a:t>
            </a:r>
            <a:r>
              <a:rPr lang="zh-CN" altLang="en-US" sz="2800" dirty="0">
                <a:solidFill>
                  <a:schemeClr val="folHlink"/>
                </a:solidFill>
                <a:latin typeface="宋体" panose="02010600030101010101" pitchFamily="2" charset="-122"/>
              </a:rPr>
              <a:t>脆弱性评估与规划功能</a:t>
            </a:r>
            <a:r>
              <a:rPr lang="zh-CN" altLang="en-US" sz="2800" dirty="0">
                <a:latin typeface="宋体" panose="02010600030101010101" pitchFamily="2" charset="-122"/>
              </a:rPr>
              <a:t>：提供真实评估对抗双方信息系统与信息流程。对己方系统的评估有利于风险管理和脆弱性分析；对敌方系统的评估可为攻击提供准备与基础。</a:t>
            </a:r>
            <a:r>
              <a:rPr lang="zh-CN" altLang="en-US" sz="2800" dirty="0"/>
              <a:t> </a:t>
            </a:r>
            <a:endParaRPr lang="zh-CN" altLang="en-US" sz="2800" dirty="0"/>
          </a:p>
        </p:txBody>
      </p:sp>
      <p:grpSp>
        <p:nvGrpSpPr>
          <p:cNvPr id="4" name="组合 3"/>
          <p:cNvGrpSpPr/>
          <p:nvPr/>
        </p:nvGrpSpPr>
        <p:grpSpPr>
          <a:xfrm>
            <a:off x="1627821" y="504948"/>
            <a:ext cx="7741809" cy="791052"/>
            <a:chOff x="824071" y="1564267"/>
            <a:chExt cx="7741809" cy="791052"/>
          </a:xfrm>
        </p:grpSpPr>
        <p:sp>
          <p:nvSpPr>
            <p:cNvPr id="5" name="矩形: 圆角 16"/>
            <p:cNvSpPr/>
            <p:nvPr/>
          </p:nvSpPr>
          <p:spPr>
            <a:xfrm>
              <a:off x="824071" y="1740416"/>
              <a:ext cx="7741809"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6728124" cy="480131"/>
            </a:xfrm>
            <a:prstGeom prst="rect">
              <a:avLst/>
            </a:prstGeom>
          </p:spPr>
          <p:txBody>
            <a:bodyPr wrap="none">
              <a:spAutoFit/>
            </a:bodyPr>
            <a:lstStyle/>
            <a:p>
              <a:pPr>
                <a:lnSpc>
                  <a:spcPct val="90000"/>
                </a:lnSpc>
              </a:pPr>
              <a:r>
                <a:rPr lang="zh-CN" altLang="en-US" sz="2800" dirty="0">
                  <a:solidFill>
                    <a:schemeClr val="bg1"/>
                  </a:solidFill>
                  <a:latin typeface="+mj-ea"/>
                </a:rPr>
                <a:t>信息对抗的防御能力需要以下功能实现： </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文本占位符 54274"/>
          <p:cNvSpPr>
            <a:spLocks noGrp="1"/>
          </p:cNvSpPr>
          <p:nvPr>
            <p:ph idx="1"/>
          </p:nvPr>
        </p:nvSpPr>
        <p:spPr>
          <a:xfrm>
            <a:off x="1056904" y="1545772"/>
            <a:ext cx="10058400" cy="4558145"/>
          </a:xfrm>
        </p:spPr>
        <p:txBody>
          <a:bodyPr vert="horz" wrap="square" lIns="91440" tIns="45720" rIns="91440" bIns="45720" rtlCol="0" anchor="t">
            <a:noAutofit/>
          </a:bodyPr>
          <a:lstStyle/>
          <a:p>
            <a:pPr algn="just" eaLnBrk="1" hangingPunct="1">
              <a:lnSpc>
                <a:spcPts val="3600"/>
              </a:lnSpc>
              <a:buNone/>
            </a:pPr>
            <a:r>
              <a:rPr lang="en-US" altLang="zh-CN" sz="2800" dirty="0"/>
              <a:t>4</a:t>
            </a:r>
            <a:r>
              <a:rPr lang="zh-CN" altLang="en-US" sz="2800" dirty="0"/>
              <a:t>、</a:t>
            </a:r>
            <a:r>
              <a:rPr lang="zh-CN" altLang="en-US" sz="2800" dirty="0">
                <a:solidFill>
                  <a:schemeClr val="folHlink"/>
                </a:solidFill>
              </a:rPr>
              <a:t>入侵检测与威胁告警功能</a:t>
            </a:r>
            <a:r>
              <a:rPr lang="zh-CN" altLang="en-US" sz="2800" dirty="0"/>
              <a:t>：用其探测各类人员的入侵企图和已成功的入侵。</a:t>
            </a:r>
            <a:endParaRPr lang="zh-CN" altLang="en-US" sz="2800" dirty="0"/>
          </a:p>
          <a:p>
            <a:pPr algn="just" eaLnBrk="1" hangingPunct="1">
              <a:lnSpc>
                <a:spcPts val="3600"/>
              </a:lnSpc>
              <a:buNone/>
            </a:pPr>
            <a:r>
              <a:rPr lang="en-US" altLang="zh-CN" sz="2800" dirty="0"/>
              <a:t>5</a:t>
            </a:r>
            <a:r>
              <a:rPr lang="zh-CN" altLang="en-US" sz="2800" dirty="0"/>
              <a:t>、</a:t>
            </a:r>
            <a:r>
              <a:rPr lang="zh-CN" altLang="en-US" sz="2800" dirty="0">
                <a:solidFill>
                  <a:schemeClr val="folHlink"/>
                </a:solidFill>
              </a:rPr>
              <a:t>访问控制和服务的安全性功能</a:t>
            </a:r>
            <a:r>
              <a:rPr lang="zh-CN" altLang="en-US" sz="2800" dirty="0"/>
              <a:t>：在确证用户身份的条件下，根据事先制定的安全策略，只允许授权的人员访问信息系统，拒绝任何非授权访问，以确保信息系统的安全。</a:t>
            </a:r>
            <a:endParaRPr lang="zh-CN" altLang="en-US" sz="2800" dirty="0"/>
          </a:p>
          <a:p>
            <a:pPr algn="just" eaLnBrk="1" hangingPunct="1">
              <a:lnSpc>
                <a:spcPts val="3600"/>
              </a:lnSpc>
              <a:buNone/>
            </a:pPr>
            <a:r>
              <a:rPr lang="en-US" altLang="zh-CN" sz="2800" dirty="0"/>
              <a:t>6</a:t>
            </a:r>
            <a:r>
              <a:rPr lang="zh-CN" altLang="en-US" sz="2800" dirty="0"/>
              <a:t>、</a:t>
            </a:r>
            <a:r>
              <a:rPr lang="zh-CN" altLang="en-US" sz="2800" dirty="0">
                <a:solidFill>
                  <a:schemeClr val="folHlink"/>
                </a:solidFill>
              </a:rPr>
              <a:t>服务的可用性功能</a:t>
            </a:r>
            <a:r>
              <a:rPr lang="zh-CN" altLang="en-US" sz="2800" dirty="0"/>
              <a:t>：依靠支持分布式计算机通信来确保信息在需要时的可用性</a:t>
            </a:r>
            <a:r>
              <a:rPr lang="zh-CN" altLang="en-US" sz="2800" dirty="0" smtClean="0"/>
              <a:t>。</a:t>
            </a:r>
            <a:endParaRPr lang="zh-CN" altLang="en-US" sz="2800" dirty="0"/>
          </a:p>
        </p:txBody>
      </p:sp>
      <p:grpSp>
        <p:nvGrpSpPr>
          <p:cNvPr id="3" name="组合 2"/>
          <p:cNvGrpSpPr/>
          <p:nvPr/>
        </p:nvGrpSpPr>
        <p:grpSpPr>
          <a:xfrm>
            <a:off x="1627821" y="504948"/>
            <a:ext cx="8682793" cy="791052"/>
            <a:chOff x="824071" y="1564267"/>
            <a:chExt cx="8682793" cy="791052"/>
          </a:xfrm>
        </p:grpSpPr>
        <p:sp>
          <p:nvSpPr>
            <p:cNvPr id="4" name="矩形: 圆角 16"/>
            <p:cNvSpPr/>
            <p:nvPr/>
          </p:nvSpPr>
          <p:spPr>
            <a:xfrm>
              <a:off x="824071" y="1740416"/>
              <a:ext cx="8573083"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1701522" y="1828091"/>
              <a:ext cx="7805342" cy="480131"/>
            </a:xfrm>
            <a:prstGeom prst="rect">
              <a:avLst/>
            </a:prstGeom>
          </p:spPr>
          <p:txBody>
            <a:bodyPr wrap="none">
              <a:spAutoFit/>
            </a:bodyPr>
            <a:lstStyle/>
            <a:p>
              <a:pPr>
                <a:lnSpc>
                  <a:spcPct val="90000"/>
                </a:lnSpc>
              </a:pPr>
              <a:r>
                <a:rPr lang="zh-CN" altLang="en-US" sz="2800" dirty="0">
                  <a:solidFill>
                    <a:schemeClr val="bg1"/>
                  </a:solidFill>
                  <a:latin typeface="+mj-ea"/>
                </a:rPr>
                <a:t>信息对抗的防御能力需要以下功能实现</a:t>
              </a:r>
              <a:r>
                <a:rPr lang="zh-CN" altLang="en-US" sz="2800" dirty="0" smtClean="0">
                  <a:solidFill>
                    <a:schemeClr val="bg1"/>
                  </a:solidFill>
                  <a:latin typeface="+mj-ea"/>
                </a:rPr>
                <a:t>：（续）</a:t>
              </a:r>
              <a:endParaRPr lang="zh-CN" altLang="en-US" sz="2800" dirty="0">
                <a:solidFill>
                  <a:schemeClr val="bg1"/>
                </a:solidFill>
                <a:latin typeface="+mj-ea"/>
                <a:ea typeface="+mj-ea"/>
              </a:endParaRPr>
            </a:p>
          </p:txBody>
        </p:sp>
        <p:pic>
          <p:nvPicPr>
            <p:cNvPr id="6" name="图片 5"/>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55297"/>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66563" name="文本占位符 55298"/>
          <p:cNvSpPr>
            <a:spLocks noGrp="1"/>
          </p:cNvSpPr>
          <p:nvPr>
            <p:ph idx="1"/>
          </p:nvPr>
        </p:nvSpPr>
        <p:spPr>
          <a:xfrm>
            <a:off x="1048987" y="1567254"/>
            <a:ext cx="10094026" cy="4114800"/>
          </a:xfrm>
        </p:spPr>
        <p:txBody>
          <a:bodyPr vert="horz" wrap="square" lIns="91440" tIns="45720" rIns="91440" bIns="45720" rtlCol="0" anchor="t">
            <a:noAutofit/>
          </a:bodyPr>
          <a:lstStyle/>
          <a:p>
            <a:pPr algn="just">
              <a:lnSpc>
                <a:spcPts val="3600"/>
              </a:lnSpc>
              <a:buNone/>
            </a:pPr>
            <a:r>
              <a:rPr lang="en-US" altLang="zh-CN" sz="2800" dirty="0"/>
              <a:t>7</a:t>
            </a:r>
            <a:r>
              <a:rPr lang="zh-CN" altLang="en-US" sz="2800" dirty="0">
                <a:latin typeface="宋体" panose="02010600030101010101" pitchFamily="2" charset="-122"/>
              </a:rPr>
              <a:t>、</a:t>
            </a:r>
            <a:r>
              <a:rPr lang="zh-CN" altLang="en-US" sz="2800" dirty="0">
                <a:solidFill>
                  <a:schemeClr val="folHlink"/>
                </a:solidFill>
                <a:latin typeface="宋体" panose="02010600030101010101" pitchFamily="2" charset="-122"/>
              </a:rPr>
              <a:t>网络管理和控制功能</a:t>
            </a:r>
            <a:r>
              <a:rPr lang="zh-CN" altLang="en-US" sz="2800" dirty="0">
                <a:latin typeface="宋体" panose="02010600030101010101" pitchFamily="2" charset="-122"/>
              </a:rPr>
              <a:t>：运用可重新配置的、抗破坏的协议和控制算法，实现自我修复并管理在不同种类平台与网络上的分布计算。</a:t>
            </a:r>
            <a:r>
              <a:rPr lang="zh-CN" altLang="en-US" sz="2800" dirty="0"/>
              <a:t> </a:t>
            </a:r>
            <a:endParaRPr lang="en-US" altLang="zh-CN" sz="2800" dirty="0" smtClean="0"/>
          </a:p>
          <a:p>
            <a:pPr algn="just" eaLnBrk="1" hangingPunct="1">
              <a:lnSpc>
                <a:spcPts val="3600"/>
              </a:lnSpc>
              <a:buNone/>
            </a:pPr>
            <a:r>
              <a:rPr lang="en-US" altLang="zh-CN" sz="2800" dirty="0" smtClean="0"/>
              <a:t>8</a:t>
            </a:r>
            <a:r>
              <a:rPr lang="zh-CN" altLang="en-US" sz="2800" dirty="0"/>
              <a:t>、</a:t>
            </a:r>
            <a:r>
              <a:rPr lang="zh-CN" altLang="en-US" sz="2800" dirty="0">
                <a:solidFill>
                  <a:schemeClr val="folHlink"/>
                </a:solidFill>
              </a:rPr>
              <a:t>损害评估功能</a:t>
            </a:r>
            <a:r>
              <a:rPr lang="zh-CN" altLang="en-US" sz="2800" dirty="0"/>
              <a:t>：用于确定攻击（或被攻击）的效果，既可以用于防御信息战，也可以用于进攻信息战。</a:t>
            </a:r>
            <a:endParaRPr lang="zh-CN" altLang="en-US" sz="2800" dirty="0"/>
          </a:p>
          <a:p>
            <a:pPr eaLnBrk="1" hangingPunct="1">
              <a:lnSpc>
                <a:spcPts val="3600"/>
              </a:lnSpc>
              <a:buNone/>
            </a:pPr>
            <a:r>
              <a:rPr lang="en-US" altLang="zh-CN" sz="2800" dirty="0"/>
              <a:t>9</a:t>
            </a:r>
            <a:r>
              <a:rPr lang="zh-CN" altLang="en-US" sz="2800" dirty="0">
                <a:latin typeface="宋体" panose="02010600030101010101" pitchFamily="2" charset="-122"/>
              </a:rPr>
              <a:t>、</a:t>
            </a:r>
            <a:r>
              <a:rPr lang="zh-CN" altLang="en-US" sz="2800" dirty="0">
                <a:solidFill>
                  <a:schemeClr val="folHlink"/>
                </a:solidFill>
                <a:latin typeface="宋体" panose="02010600030101010101" pitchFamily="2" charset="-122"/>
              </a:rPr>
              <a:t>应急响应功能</a:t>
            </a:r>
            <a:r>
              <a:rPr lang="zh-CN" altLang="en-US" sz="2800" dirty="0">
                <a:latin typeface="宋体" panose="02010600030101010101" pitchFamily="2" charset="-122"/>
              </a:rPr>
              <a:t>：可以隔离入侵者对网络与系统的威胁与干扰，使决策者具备隔离、控制和纠错等能力，其中纠错能力还包括系统的恢复、资源的重新配置与重建等能力。</a:t>
            </a:r>
            <a:r>
              <a:rPr lang="zh-CN" altLang="en-US" sz="2800" dirty="0"/>
              <a:t> </a:t>
            </a:r>
            <a:endParaRPr lang="zh-CN" altLang="en-US" sz="2800" dirty="0"/>
          </a:p>
        </p:txBody>
      </p:sp>
      <p:grpSp>
        <p:nvGrpSpPr>
          <p:cNvPr id="4" name="组合 3"/>
          <p:cNvGrpSpPr/>
          <p:nvPr/>
        </p:nvGrpSpPr>
        <p:grpSpPr>
          <a:xfrm>
            <a:off x="1627821" y="504948"/>
            <a:ext cx="8323720" cy="791052"/>
            <a:chOff x="824071" y="1564267"/>
            <a:chExt cx="8323720" cy="791052"/>
          </a:xfrm>
        </p:grpSpPr>
        <p:sp>
          <p:nvSpPr>
            <p:cNvPr id="5" name="矩形: 圆角 16"/>
            <p:cNvSpPr/>
            <p:nvPr/>
          </p:nvSpPr>
          <p:spPr>
            <a:xfrm>
              <a:off x="824071" y="1740416"/>
              <a:ext cx="8204948"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7446269" cy="480131"/>
            </a:xfrm>
            <a:prstGeom prst="rect">
              <a:avLst/>
            </a:prstGeom>
          </p:spPr>
          <p:txBody>
            <a:bodyPr wrap="none">
              <a:spAutoFit/>
            </a:bodyPr>
            <a:lstStyle/>
            <a:p>
              <a:pPr>
                <a:lnSpc>
                  <a:spcPct val="90000"/>
                </a:lnSpc>
              </a:pPr>
              <a:r>
                <a:rPr lang="zh-CN" altLang="en-US" sz="2800" dirty="0">
                  <a:solidFill>
                    <a:schemeClr val="bg1"/>
                  </a:solidFill>
                  <a:latin typeface="+mj-ea"/>
                </a:rPr>
                <a:t>信息对抗的防御能力需要以下功能</a:t>
              </a:r>
              <a:r>
                <a:rPr lang="zh-CN" altLang="en-US" sz="2800" dirty="0" smtClean="0">
                  <a:solidFill>
                    <a:schemeClr val="bg1"/>
                  </a:solidFill>
                  <a:latin typeface="+mj-ea"/>
                </a:rPr>
                <a:t>实现</a:t>
              </a:r>
              <a:r>
                <a:rPr lang="zh-CN" altLang="en-US" sz="2800" dirty="0" smtClean="0">
                  <a:solidFill>
                    <a:schemeClr val="bg1"/>
                  </a:solidFill>
                  <a:latin typeface="+mj-ea"/>
                  <a:sym typeface="Wingdings" panose="05000000000000000000" pitchFamily="2" charset="2"/>
                </a:rPr>
                <a:t>（续）</a:t>
              </a:r>
              <a:r>
                <a:rPr lang="zh-CN" altLang="en-US" sz="2800" dirty="0" smtClean="0">
                  <a:solidFill>
                    <a:schemeClr val="bg1"/>
                  </a:solidFill>
                  <a:latin typeface="+mj-ea"/>
                </a:rPr>
                <a:t> </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文本占位符 56322"/>
          <p:cNvSpPr>
            <a:spLocks noGrp="1"/>
          </p:cNvSpPr>
          <p:nvPr>
            <p:ph idx="1"/>
          </p:nvPr>
        </p:nvSpPr>
        <p:spPr>
          <a:xfrm>
            <a:off x="669882" y="1462250"/>
            <a:ext cx="10852237" cy="5041355"/>
          </a:xfrm>
        </p:spPr>
        <p:txBody>
          <a:bodyPr vert="horz" wrap="square" lIns="91440" tIns="45720" rIns="91440" bIns="45720" rtlCol="0" anchor="t">
            <a:noAutofit/>
          </a:bodyPr>
          <a:lstStyle/>
          <a:p>
            <a:pPr eaLnBrk="1" hangingPunct="1">
              <a:buNone/>
            </a:pPr>
            <a:r>
              <a:rPr lang="en-US" altLang="zh-CN" sz="2800" dirty="0">
                <a:latin typeface="宋体" panose="02010600030101010101" pitchFamily="2" charset="-122"/>
              </a:rPr>
              <a:t>    </a:t>
            </a:r>
            <a:r>
              <a:rPr lang="zh-CN" altLang="en-US" sz="2800" dirty="0" smtClean="0">
                <a:latin typeface="宋体" panose="02010600030101010101" pitchFamily="2" charset="-122"/>
              </a:rPr>
              <a:t>信息</a:t>
            </a:r>
            <a:r>
              <a:rPr lang="zh-CN" altLang="en-US" sz="2800" dirty="0">
                <a:latin typeface="宋体" panose="02010600030101010101" pitchFamily="2" charset="-122"/>
              </a:rPr>
              <a:t>战的攻击包括</a:t>
            </a:r>
            <a:r>
              <a:rPr lang="zh-CN" altLang="en-US" sz="2800" dirty="0">
                <a:solidFill>
                  <a:schemeClr val="folHlink"/>
                </a:solidFill>
                <a:latin typeface="宋体" panose="02010600030101010101" pitchFamily="2" charset="-122"/>
              </a:rPr>
              <a:t>控制、欺骗和摧毁</a:t>
            </a:r>
            <a:r>
              <a:rPr lang="zh-CN" altLang="en-US" sz="2800" dirty="0">
                <a:latin typeface="宋体" panose="02010600030101010101" pitchFamily="2" charset="-122"/>
              </a:rPr>
              <a:t>等三种能力。其中：</a:t>
            </a:r>
            <a:endParaRPr lang="zh-CN" altLang="en-US" sz="2800" dirty="0">
              <a:latin typeface="宋体" panose="02010600030101010101" pitchFamily="2" charset="-122"/>
            </a:endParaRPr>
          </a:p>
          <a:p>
            <a:pPr eaLnBrk="1" hangingPunct="1">
              <a:buClr>
                <a:srgbClr val="CCFFCC"/>
              </a:buClr>
              <a:buFont typeface="Wingdings" panose="05000000000000000000" pitchFamily="2" charset="2"/>
              <a:buChar char="n"/>
            </a:pPr>
            <a:r>
              <a:rPr lang="zh-CN" altLang="en-US" sz="2400" dirty="0">
                <a:solidFill>
                  <a:schemeClr val="folHlink"/>
                </a:solidFill>
                <a:latin typeface="宋体" panose="02010600030101010101" pitchFamily="2" charset="-122"/>
              </a:rPr>
              <a:t>控制能力</a:t>
            </a:r>
            <a:r>
              <a:rPr lang="zh-CN" altLang="en-US" sz="2400" dirty="0">
                <a:latin typeface="宋体" panose="02010600030101010101" pitchFamily="2" charset="-122"/>
              </a:rPr>
              <a:t>包括阻止、破坏、削弱和利用能力，其目的是通过阻止对信息的访问与利用，以及对操作能力的破坏，或有选择地降低服务水平等进攻手段来控制对方对信息、信息系统的使用</a:t>
            </a:r>
            <a:r>
              <a:rPr lang="zh-CN" altLang="en-US" sz="2400" dirty="0" smtClean="0">
                <a:latin typeface="宋体" panose="02010600030101010101" pitchFamily="2" charset="-122"/>
              </a:rPr>
              <a:t>；</a:t>
            </a:r>
            <a:endParaRPr lang="en-US" altLang="zh-CN" sz="2400" dirty="0" smtClean="0">
              <a:latin typeface="宋体" panose="02010600030101010101" pitchFamily="2" charset="-122"/>
            </a:endParaRPr>
          </a:p>
          <a:p>
            <a:pPr>
              <a:buClr>
                <a:srgbClr val="CCFFCC"/>
              </a:buClr>
              <a:buFont typeface="Wingdings" panose="05000000000000000000" pitchFamily="2" charset="2"/>
              <a:buChar char="n"/>
            </a:pPr>
            <a:r>
              <a:rPr lang="zh-CN" altLang="en-US" sz="2400" dirty="0">
                <a:solidFill>
                  <a:schemeClr val="folHlink"/>
                </a:solidFill>
                <a:latin typeface="宋体" panose="02010600030101010101" pitchFamily="2" charset="-122"/>
              </a:rPr>
              <a:t>欺骗能力</a:t>
            </a:r>
            <a:r>
              <a:rPr lang="zh-CN" altLang="en-US" sz="2400" dirty="0">
                <a:latin typeface="宋体" panose="02010600030101010101" pitchFamily="2" charset="-122"/>
              </a:rPr>
              <a:t>的目的是对对方依赖的信息、信息源进行欺骗性攻击，有选择地影响对方对信息、信息流、信息系统和计算机网络的使用或使用的可靠性；</a:t>
            </a:r>
            <a:endParaRPr lang="zh-CN" altLang="en-US" sz="2400" dirty="0">
              <a:latin typeface="宋体" panose="02010600030101010101" pitchFamily="2" charset="-122"/>
            </a:endParaRPr>
          </a:p>
          <a:p>
            <a:pPr>
              <a:buClr>
                <a:srgbClr val="CCFFCC"/>
              </a:buClr>
              <a:buFont typeface="Wingdings" panose="05000000000000000000" pitchFamily="2" charset="2"/>
              <a:buChar char="n"/>
            </a:pPr>
            <a:r>
              <a:rPr lang="zh-CN" altLang="en-US" sz="2400" dirty="0">
                <a:solidFill>
                  <a:schemeClr val="folHlink"/>
                </a:solidFill>
                <a:latin typeface="宋体" panose="02010600030101010101" pitchFamily="2" charset="-122"/>
              </a:rPr>
              <a:t>摧毁能力</a:t>
            </a:r>
            <a:r>
              <a:rPr lang="zh-CN" altLang="en-US" sz="2400" dirty="0">
                <a:latin typeface="宋体" panose="02010600030101010101" pitchFamily="2" charset="-122"/>
              </a:rPr>
              <a:t>的目的是采用信息攻击武器，破坏对方信息的收集、传输和访问与使用的能力，对对方信息、信息流、信息系统和计算机网络进行有选择性的破坏。</a:t>
            </a:r>
            <a:r>
              <a:rPr lang="zh-CN" altLang="en-US" sz="2400" dirty="0"/>
              <a:t> </a:t>
            </a:r>
            <a:r>
              <a:rPr lang="zh-CN" altLang="en-US" sz="2800" dirty="0" smtClean="0"/>
              <a:t> </a:t>
            </a:r>
            <a:endParaRPr lang="zh-CN" altLang="en-US" sz="2800" dirty="0"/>
          </a:p>
        </p:txBody>
      </p:sp>
      <p:grpSp>
        <p:nvGrpSpPr>
          <p:cNvPr id="4" name="组合 3"/>
          <p:cNvGrpSpPr/>
          <p:nvPr/>
        </p:nvGrpSpPr>
        <p:grpSpPr>
          <a:xfrm>
            <a:off x="3210039" y="189751"/>
            <a:ext cx="5771922" cy="1109044"/>
            <a:chOff x="3279913" y="488294"/>
            <a:chExt cx="5771922" cy="1109044"/>
          </a:xfrm>
        </p:grpSpPr>
        <p:grpSp>
          <p:nvGrpSpPr>
            <p:cNvPr id="5" name="组合 4"/>
            <p:cNvGrpSpPr/>
            <p:nvPr/>
          </p:nvGrpSpPr>
          <p:grpSpPr>
            <a:xfrm>
              <a:off x="3279913" y="909457"/>
              <a:ext cx="5771922" cy="687881"/>
              <a:chOff x="3279913" y="909457"/>
              <a:chExt cx="5771922" cy="687881"/>
            </a:xfrm>
          </p:grpSpPr>
          <p:sp>
            <p:nvSpPr>
              <p:cNvPr id="159" name="矩形: 圆角 9"/>
              <p:cNvSpPr/>
              <p:nvPr/>
            </p:nvSpPr>
            <p:spPr>
              <a:xfrm>
                <a:off x="3279913" y="909457"/>
                <a:ext cx="5771922"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60" name="文本框 159"/>
              <p:cNvSpPr txBox="1"/>
              <p:nvPr/>
            </p:nvSpPr>
            <p:spPr>
              <a:xfrm>
                <a:off x="4838956" y="1032190"/>
                <a:ext cx="3972562" cy="535531"/>
              </a:xfrm>
              <a:prstGeom prst="rect">
                <a:avLst/>
              </a:prstGeom>
              <a:noFill/>
            </p:spPr>
            <p:txBody>
              <a:bodyPr wrap="none" rtlCol="0" anchor="t">
                <a:spAutoFit/>
              </a:bodyPr>
              <a:lstStyle/>
              <a:p>
                <a:pPr lvl="0" fontAlgn="base">
                  <a:lnSpc>
                    <a:spcPct val="90000"/>
                  </a:lnSpc>
                  <a:spcBef>
                    <a:spcPts val="1000"/>
                  </a:spcBef>
                  <a:spcAft>
                    <a:spcPct val="0"/>
                  </a:spcAft>
                  <a:defRPr/>
                </a:pPr>
                <a:r>
                  <a:rPr lang="zh-CN" altLang="en-US" sz="32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信息</a:t>
                </a:r>
                <a:r>
                  <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对抗的进攻能力 </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6"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7"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7"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p:cTn id="8" dur="650" fill="hold"/>
                                        <p:tgtEl>
                                          <p:spTgt spid="4"/>
                                        </p:tgtEl>
                                        <p:attrNameLst>
                                          <p:attrName>ppt_x</p:attrName>
                                        </p:attrNameLst>
                                      </p:cBhvr>
                                      <p:tavLst>
                                        <p:tav tm="0">
                                          <p:val>
                                            <p:strVal val="#ppt_x"/>
                                          </p:val>
                                        </p:tav>
                                        <p:tav tm="100000">
                                          <p:val>
                                            <p:strVal val="#ppt_x"/>
                                          </p:val>
                                        </p:tav>
                                      </p:tavLst>
                                    </p:anim>
                                    <p:anim calcmode="lin" valueType="num">
                                      <p:cBhvr>
                                        <p:cTn id="9" dur="6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文本占位符 58370"/>
          <p:cNvSpPr>
            <a:spLocks noGrp="1"/>
          </p:cNvSpPr>
          <p:nvPr>
            <p:ph idx="1"/>
          </p:nvPr>
        </p:nvSpPr>
        <p:spPr>
          <a:xfrm>
            <a:off x="1056904" y="1640385"/>
            <a:ext cx="10094026" cy="3216623"/>
          </a:xfrm>
        </p:spPr>
        <p:txBody>
          <a:bodyPr vert="horz" wrap="square" lIns="91440" tIns="45720" rIns="91440" bIns="45720" rtlCol="0" anchor="t">
            <a:noAutofit/>
          </a:bodyPr>
          <a:lstStyle/>
          <a:p>
            <a:pPr eaLnBrk="1" hangingPunct="1">
              <a:buClr>
                <a:srgbClr val="CCFFCC"/>
              </a:buClr>
              <a:buNone/>
            </a:pPr>
            <a:r>
              <a:rPr lang="en-US" altLang="zh-CN" sz="2800" dirty="0">
                <a:latin typeface="宋体" panose="02010600030101010101" pitchFamily="2" charset="-122"/>
              </a:rPr>
              <a:t>     </a:t>
            </a:r>
            <a:r>
              <a:rPr lang="zh-CN" altLang="en-US" sz="2800" dirty="0" smtClean="0">
                <a:latin typeface="宋体" panose="02010600030101010101" pitchFamily="2" charset="-122"/>
              </a:rPr>
              <a:t>拒绝</a:t>
            </a:r>
            <a:r>
              <a:rPr lang="zh-CN" altLang="en-US" sz="2800" dirty="0">
                <a:latin typeface="宋体" panose="02010600030101010101" pitchFamily="2" charset="-122"/>
              </a:rPr>
              <a:t>服务、病毒、控制对方计算机系统，或向对方数据库置入假信息进行欺骗，误导对方业务活动，如使后勤混乱、关闭电网使空中交通控制混乱等。</a:t>
            </a:r>
            <a:r>
              <a:rPr lang="zh-CN" altLang="en-US" sz="2800" dirty="0"/>
              <a:t> </a:t>
            </a:r>
            <a:endParaRPr lang="zh-CN" altLang="en-US" sz="2800" dirty="0"/>
          </a:p>
        </p:txBody>
      </p:sp>
      <p:grpSp>
        <p:nvGrpSpPr>
          <p:cNvPr id="4" name="组合 3"/>
          <p:cNvGrpSpPr/>
          <p:nvPr/>
        </p:nvGrpSpPr>
        <p:grpSpPr>
          <a:xfrm>
            <a:off x="3103869" y="504948"/>
            <a:ext cx="5984261" cy="791052"/>
            <a:chOff x="824071" y="1564267"/>
            <a:chExt cx="5984261" cy="791052"/>
          </a:xfrm>
        </p:grpSpPr>
        <p:sp>
          <p:nvSpPr>
            <p:cNvPr id="5" name="矩形: 圆角 16"/>
            <p:cNvSpPr/>
            <p:nvPr/>
          </p:nvSpPr>
          <p:spPr>
            <a:xfrm>
              <a:off x="824071" y="1740416"/>
              <a:ext cx="5984261"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5028941" cy="480131"/>
            </a:xfrm>
            <a:prstGeom prst="rect">
              <a:avLst/>
            </a:prstGeom>
          </p:spPr>
          <p:txBody>
            <a:bodyPr wrap="none">
              <a:spAutoFit/>
            </a:bodyPr>
            <a:lstStyle/>
            <a:p>
              <a:pPr>
                <a:lnSpc>
                  <a:spcPct val="90000"/>
                </a:lnSpc>
              </a:pPr>
              <a:r>
                <a:rPr lang="zh-CN" altLang="en-US" sz="2800" dirty="0">
                  <a:solidFill>
                    <a:schemeClr val="bg1"/>
                  </a:solidFill>
                  <a:latin typeface="+mj-ea"/>
                </a:rPr>
                <a:t>信息攻击武器有以下一些</a:t>
              </a:r>
              <a:r>
                <a:rPr lang="zh-CN" altLang="en-US" sz="2800" dirty="0" smtClean="0">
                  <a:solidFill>
                    <a:schemeClr val="bg1"/>
                  </a:solidFill>
                  <a:latin typeface="+mj-ea"/>
                </a:rPr>
                <a:t>类型</a:t>
              </a:r>
              <a:r>
                <a:rPr lang="en-US" altLang="zh-CN" sz="2800" dirty="0" smtClean="0">
                  <a:solidFill>
                    <a:schemeClr val="bg1"/>
                  </a:solidFill>
                  <a:latin typeface="+mj-ea"/>
                </a:rPr>
                <a:t>: </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文本占位符 59394"/>
          <p:cNvSpPr>
            <a:spLocks noGrp="1"/>
          </p:cNvSpPr>
          <p:nvPr>
            <p:ph idx="1"/>
          </p:nvPr>
        </p:nvSpPr>
        <p:spPr>
          <a:xfrm>
            <a:off x="1163781" y="1530288"/>
            <a:ext cx="10058400" cy="4261652"/>
          </a:xfrm>
        </p:spPr>
        <p:txBody>
          <a:bodyPr vert="horz" wrap="square" lIns="91440" tIns="45720" rIns="91440" bIns="45720" rtlCol="0" anchor="t">
            <a:noAutofit/>
          </a:bodyPr>
          <a:lstStyle/>
          <a:p>
            <a:pPr algn="just" eaLnBrk="1" hangingPunct="1">
              <a:buNone/>
            </a:pPr>
            <a:r>
              <a:rPr lang="en-US" altLang="zh-CN" sz="2800" b="1" dirty="0">
                <a:solidFill>
                  <a:schemeClr val="folHlink"/>
                </a:solidFill>
              </a:rPr>
              <a:t>1</a:t>
            </a:r>
            <a:r>
              <a:rPr lang="zh-CN" altLang="en-US" sz="2800" b="1" dirty="0">
                <a:solidFill>
                  <a:schemeClr val="folHlink"/>
                </a:solidFill>
              </a:rPr>
              <a:t>、破坏对方信息和信息系统的功能</a:t>
            </a:r>
            <a:r>
              <a:rPr lang="zh-CN" altLang="en-US" sz="2800" b="1" dirty="0" smtClean="0"/>
              <a:t>。</a:t>
            </a:r>
            <a:endParaRPr lang="en-US" altLang="zh-CN" sz="2800" b="1" dirty="0" smtClean="0"/>
          </a:p>
          <a:p>
            <a:pPr algn="just" eaLnBrk="1" hangingPunct="1">
              <a:buNone/>
            </a:pPr>
            <a:r>
              <a:rPr lang="en-US" altLang="zh-CN" sz="2400" dirty="0"/>
              <a:t> </a:t>
            </a:r>
            <a:r>
              <a:rPr lang="en-US" altLang="zh-CN" sz="2400" dirty="0" smtClean="0"/>
              <a:t>        </a:t>
            </a:r>
            <a:r>
              <a:rPr lang="zh-CN" altLang="en-US" sz="2400" dirty="0" smtClean="0"/>
              <a:t>瘫痪</a:t>
            </a:r>
            <a:r>
              <a:rPr lang="zh-CN" altLang="en-US" sz="2400" dirty="0"/>
              <a:t>对方信息系统，或降低对方信息系统的运行效率，或破坏对方信息的真实性。可以在进入对方信息系统前后采取行动。</a:t>
            </a:r>
            <a:endParaRPr lang="zh-CN" altLang="en-US" sz="2400" dirty="0"/>
          </a:p>
          <a:p>
            <a:pPr algn="just">
              <a:buNone/>
            </a:pPr>
            <a:r>
              <a:rPr lang="en-US" altLang="zh-CN" sz="2800" b="1" dirty="0">
                <a:solidFill>
                  <a:schemeClr val="folHlink"/>
                </a:solidFill>
              </a:rPr>
              <a:t>2</a:t>
            </a:r>
            <a:r>
              <a:rPr lang="zh-CN" altLang="en-US" sz="2800" b="1" dirty="0">
                <a:solidFill>
                  <a:schemeClr val="folHlink"/>
                </a:solidFill>
              </a:rPr>
              <a:t>、破解对方信息系统的保护功能。</a:t>
            </a:r>
            <a:endParaRPr lang="en-US" altLang="zh-CN" sz="2800" b="1" dirty="0">
              <a:solidFill>
                <a:schemeClr val="folHlink"/>
              </a:solidFill>
            </a:endParaRPr>
          </a:p>
          <a:p>
            <a:pPr eaLnBrk="1" hangingPunct="1">
              <a:buNone/>
            </a:pPr>
            <a:r>
              <a:rPr lang="en-US" altLang="zh-CN" sz="2400" dirty="0">
                <a:latin typeface="宋体" panose="02010600030101010101" pitchFamily="2" charset="-122"/>
              </a:rPr>
              <a:t> </a:t>
            </a:r>
            <a:r>
              <a:rPr lang="en-US" altLang="zh-CN" sz="2400" dirty="0" smtClean="0">
                <a:latin typeface="宋体" panose="02010600030101010101" pitchFamily="2" charset="-122"/>
              </a:rPr>
              <a:t>    </a:t>
            </a:r>
            <a:r>
              <a:rPr lang="zh-CN" altLang="en-US" sz="2400" dirty="0" smtClean="0">
                <a:latin typeface="宋体" panose="02010600030101010101" pitchFamily="2" charset="-122"/>
              </a:rPr>
              <a:t>破解</a:t>
            </a:r>
            <a:r>
              <a:rPr lang="zh-CN" altLang="en-US" sz="2400" dirty="0">
                <a:latin typeface="宋体" panose="02010600030101010101" pitchFamily="2" charset="-122"/>
              </a:rPr>
              <a:t>对方信息系统中，对硬件、信息、软件、信息系统及其支撑系统的保护机制。利用对方系统中的各种漏洞破坏对方信息系统的保护机制是有效的方法之一。</a:t>
            </a:r>
            <a:r>
              <a:rPr lang="zh-CN" altLang="en-US" sz="2400" dirty="0"/>
              <a:t> </a:t>
            </a:r>
            <a:endParaRPr lang="zh-CN" altLang="en-US" sz="2400" dirty="0"/>
          </a:p>
        </p:txBody>
      </p:sp>
      <p:grpSp>
        <p:nvGrpSpPr>
          <p:cNvPr id="4" name="组合 3"/>
          <p:cNvGrpSpPr/>
          <p:nvPr/>
        </p:nvGrpSpPr>
        <p:grpSpPr>
          <a:xfrm>
            <a:off x="3271846" y="421125"/>
            <a:ext cx="5648308" cy="791052"/>
            <a:chOff x="824072" y="1564267"/>
            <a:chExt cx="5648308" cy="791052"/>
          </a:xfrm>
        </p:grpSpPr>
        <p:sp>
          <p:nvSpPr>
            <p:cNvPr id="5" name="矩形: 圆角 16"/>
            <p:cNvSpPr/>
            <p:nvPr/>
          </p:nvSpPr>
          <p:spPr>
            <a:xfrm>
              <a:off x="824072" y="1740416"/>
              <a:ext cx="5648308"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4770858" cy="480131"/>
            </a:xfrm>
            <a:prstGeom prst="rect">
              <a:avLst/>
            </a:prstGeom>
          </p:spPr>
          <p:txBody>
            <a:bodyPr wrap="none">
              <a:spAutoFit/>
            </a:bodyPr>
            <a:lstStyle/>
            <a:p>
              <a:pPr>
                <a:lnSpc>
                  <a:spcPct val="90000"/>
                </a:lnSpc>
              </a:pPr>
              <a:r>
                <a:rPr lang="zh-CN" altLang="en-US" sz="2800" dirty="0">
                  <a:solidFill>
                    <a:schemeClr val="bg1"/>
                  </a:solidFill>
                  <a:latin typeface="+mj-ea"/>
                </a:rPr>
                <a:t>实现信息进攻的的</a:t>
              </a:r>
              <a:r>
                <a:rPr lang="en-US" altLang="zh-CN" sz="2800" dirty="0">
                  <a:solidFill>
                    <a:schemeClr val="bg1"/>
                  </a:solidFill>
                  <a:latin typeface="+mj-ea"/>
                </a:rPr>
                <a:t>7</a:t>
              </a:r>
              <a:r>
                <a:rPr lang="zh-CN" altLang="en-US" sz="2800" dirty="0">
                  <a:solidFill>
                    <a:schemeClr val="bg1"/>
                  </a:solidFill>
                  <a:latin typeface="+mj-ea"/>
                </a:rPr>
                <a:t>种功能： </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60417"/>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71683" name="文本占位符 60418"/>
          <p:cNvSpPr>
            <a:spLocks noGrp="1"/>
          </p:cNvSpPr>
          <p:nvPr>
            <p:ph idx="1"/>
          </p:nvPr>
        </p:nvSpPr>
        <p:spPr>
          <a:xfrm>
            <a:off x="1078675" y="1543322"/>
            <a:ext cx="10034649" cy="4754562"/>
          </a:xfrm>
        </p:spPr>
        <p:txBody>
          <a:bodyPr vert="horz" wrap="square" lIns="91440" tIns="45720" rIns="91440" bIns="45720" rtlCol="0" anchor="t">
            <a:noAutofit/>
          </a:bodyPr>
          <a:lstStyle/>
          <a:p>
            <a:pPr algn="just" eaLnBrk="1" hangingPunct="1">
              <a:buNone/>
            </a:pPr>
            <a:r>
              <a:rPr lang="en-US" altLang="zh-CN" sz="2800" b="1" dirty="0">
                <a:solidFill>
                  <a:schemeClr val="folHlink"/>
                </a:solidFill>
              </a:rPr>
              <a:t>3</a:t>
            </a:r>
            <a:r>
              <a:rPr lang="zh-CN" altLang="en-US" sz="2800" b="1" dirty="0">
                <a:solidFill>
                  <a:schemeClr val="folHlink"/>
                </a:solidFill>
              </a:rPr>
              <a:t>、侵入对方信息系统的功能。</a:t>
            </a:r>
            <a:endParaRPr lang="zh-CN" altLang="en-US" sz="2800" b="1" dirty="0">
              <a:solidFill>
                <a:schemeClr val="folHlink"/>
              </a:solidFill>
            </a:endParaRPr>
          </a:p>
          <a:p>
            <a:pPr algn="just" eaLnBrk="1" hangingPunct="1">
              <a:buNone/>
            </a:pPr>
            <a:r>
              <a:rPr lang="zh-CN" altLang="en-US" sz="2400" dirty="0"/>
              <a:t>         </a:t>
            </a:r>
            <a:r>
              <a:rPr lang="zh-CN" altLang="en-US" sz="2400" dirty="0" smtClean="0">
                <a:latin typeface="宋体" panose="02010600030101010101" pitchFamily="2" charset="-122"/>
              </a:rPr>
              <a:t>提供</a:t>
            </a:r>
            <a:r>
              <a:rPr lang="zh-CN" altLang="en-US" sz="2400" dirty="0">
                <a:latin typeface="宋体" panose="02010600030101010101" pitchFamily="2" charset="-122"/>
              </a:rPr>
              <a:t>强行侵入对方信息系统、网络和信息库并注入虚假信息的能力，与此同时还要包括隐蔽入侵踪迹的能力。</a:t>
            </a:r>
            <a:endParaRPr lang="zh-CN" altLang="en-US" sz="2400" dirty="0">
              <a:latin typeface="宋体" panose="02010600030101010101" pitchFamily="2" charset="-122"/>
            </a:endParaRPr>
          </a:p>
          <a:p>
            <a:pPr eaLnBrk="1" hangingPunct="1">
              <a:buNone/>
            </a:pPr>
            <a:r>
              <a:rPr lang="en-US" altLang="zh-CN" sz="2800" b="1" dirty="0">
                <a:solidFill>
                  <a:schemeClr val="folHlink"/>
                </a:solidFill>
              </a:rPr>
              <a:t>4</a:t>
            </a:r>
            <a:r>
              <a:rPr lang="zh-CN" altLang="en-US" sz="2800" b="1" dirty="0">
                <a:solidFill>
                  <a:schemeClr val="folHlink"/>
                </a:solidFill>
              </a:rPr>
              <a:t>、对对方信息与信息系统的实体的软破坏与硬毁伤的功能。</a:t>
            </a:r>
            <a:endParaRPr lang="zh-CN" altLang="en-US" sz="2800" b="1" dirty="0">
              <a:solidFill>
                <a:schemeClr val="folHlink"/>
              </a:solidFill>
            </a:endParaRPr>
          </a:p>
          <a:p>
            <a:pPr eaLnBrk="1" hangingPunct="1">
              <a:buNone/>
            </a:pPr>
            <a:r>
              <a:rPr lang="zh-CN" altLang="en-US" sz="2400" dirty="0">
                <a:latin typeface="宋体" panose="02010600030101010101" pitchFamily="2" charset="-122"/>
              </a:rPr>
              <a:t>     </a:t>
            </a:r>
            <a:r>
              <a:rPr lang="zh-CN" altLang="en-US" sz="2400" dirty="0" smtClean="0">
                <a:latin typeface="宋体" panose="02010600030101010101" pitchFamily="2" charset="-122"/>
              </a:rPr>
              <a:t>软</a:t>
            </a:r>
            <a:r>
              <a:rPr lang="zh-CN" altLang="en-US" sz="2400" dirty="0">
                <a:latin typeface="宋体" panose="02010600030101010101" pitchFamily="2" charset="-122"/>
              </a:rPr>
              <a:t>破坏包括释放病毒、拒绝服务等攻击手段；硬毁伤包括使用电磁炸弹、火力毁伤等破坏手段。</a:t>
            </a:r>
            <a:r>
              <a:rPr lang="zh-CN" altLang="en-US" sz="2400" dirty="0"/>
              <a:t> </a:t>
            </a:r>
            <a:endParaRPr lang="zh-CN" altLang="en-US" sz="2400" dirty="0"/>
          </a:p>
        </p:txBody>
      </p:sp>
      <p:grpSp>
        <p:nvGrpSpPr>
          <p:cNvPr id="4" name="组合 3"/>
          <p:cNvGrpSpPr/>
          <p:nvPr/>
        </p:nvGrpSpPr>
        <p:grpSpPr>
          <a:xfrm>
            <a:off x="2770842" y="432000"/>
            <a:ext cx="6725526" cy="791052"/>
            <a:chOff x="824072" y="1564267"/>
            <a:chExt cx="6725526" cy="791052"/>
          </a:xfrm>
        </p:grpSpPr>
        <p:sp>
          <p:nvSpPr>
            <p:cNvPr id="5" name="矩形: 圆角 16"/>
            <p:cNvSpPr/>
            <p:nvPr/>
          </p:nvSpPr>
          <p:spPr>
            <a:xfrm>
              <a:off x="824072" y="1740416"/>
              <a:ext cx="6537172"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5848076" cy="480131"/>
            </a:xfrm>
            <a:prstGeom prst="rect">
              <a:avLst/>
            </a:prstGeom>
          </p:spPr>
          <p:txBody>
            <a:bodyPr wrap="none">
              <a:spAutoFit/>
            </a:bodyPr>
            <a:lstStyle/>
            <a:p>
              <a:pPr>
                <a:lnSpc>
                  <a:spcPct val="90000"/>
                </a:lnSpc>
              </a:pPr>
              <a:r>
                <a:rPr lang="zh-CN" altLang="en-US" sz="2800" dirty="0">
                  <a:solidFill>
                    <a:schemeClr val="bg1"/>
                  </a:solidFill>
                  <a:latin typeface="+mj-ea"/>
                </a:rPr>
                <a:t>实现信息进攻的的</a:t>
              </a:r>
              <a:r>
                <a:rPr lang="en-US" altLang="zh-CN" sz="2800" dirty="0">
                  <a:solidFill>
                    <a:schemeClr val="bg1"/>
                  </a:solidFill>
                  <a:latin typeface="+mj-ea"/>
                </a:rPr>
                <a:t>7</a:t>
              </a:r>
              <a:r>
                <a:rPr lang="zh-CN" altLang="en-US" sz="2800" dirty="0">
                  <a:solidFill>
                    <a:schemeClr val="bg1"/>
                  </a:solidFill>
                  <a:latin typeface="+mj-ea"/>
                </a:rPr>
                <a:t>种</a:t>
              </a:r>
              <a:r>
                <a:rPr lang="zh-CN" altLang="en-US" sz="2800" dirty="0" smtClean="0">
                  <a:solidFill>
                    <a:schemeClr val="bg1"/>
                  </a:solidFill>
                  <a:latin typeface="+mj-ea"/>
                </a:rPr>
                <a:t>功能：</a:t>
              </a:r>
              <a:r>
                <a:rPr lang="zh-CN" altLang="en-US" sz="2800" dirty="0" smtClean="0">
                  <a:solidFill>
                    <a:schemeClr val="bg1"/>
                  </a:solidFill>
                  <a:latin typeface="+mj-ea"/>
                  <a:sym typeface="Wingdings" panose="05000000000000000000" pitchFamily="2" charset="2"/>
                </a:rPr>
                <a:t>（续）</a:t>
              </a:r>
              <a:r>
                <a:rPr lang="zh-CN" altLang="en-US" sz="2800" dirty="0" smtClean="0">
                  <a:solidFill>
                    <a:schemeClr val="bg1"/>
                  </a:solidFill>
                  <a:latin typeface="+mj-ea"/>
                </a:rPr>
                <a:t> </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61441"/>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72707" name="文本占位符 61442"/>
          <p:cNvSpPr>
            <a:spLocks noGrp="1"/>
          </p:cNvSpPr>
          <p:nvPr>
            <p:ph idx="1"/>
          </p:nvPr>
        </p:nvSpPr>
        <p:spPr>
          <a:xfrm>
            <a:off x="1167740" y="1573068"/>
            <a:ext cx="10030691" cy="4685228"/>
          </a:xfrm>
        </p:spPr>
        <p:txBody>
          <a:bodyPr vert="horz" wrap="square" lIns="91440" tIns="45720" rIns="91440" bIns="45720" rtlCol="0" anchor="t">
            <a:noAutofit/>
          </a:bodyPr>
          <a:lstStyle/>
          <a:p>
            <a:pPr algn="just" eaLnBrk="1" hangingPunct="1">
              <a:lnSpc>
                <a:spcPts val="3600"/>
              </a:lnSpc>
              <a:buNone/>
            </a:pPr>
            <a:r>
              <a:rPr lang="en-US" altLang="zh-CN" sz="2800" b="1" dirty="0">
                <a:solidFill>
                  <a:schemeClr val="folHlink"/>
                </a:solidFill>
              </a:rPr>
              <a:t>5</a:t>
            </a:r>
            <a:r>
              <a:rPr lang="zh-CN" altLang="en-US" sz="2800" b="1" dirty="0">
                <a:solidFill>
                  <a:schemeClr val="folHlink"/>
                </a:solidFill>
              </a:rPr>
              <a:t>、切断敌方信息传输功能</a:t>
            </a:r>
            <a:r>
              <a:rPr lang="zh-CN" altLang="en-US" sz="2800" b="1" dirty="0" smtClean="0">
                <a:solidFill>
                  <a:schemeClr val="folHlink"/>
                </a:solidFill>
              </a:rPr>
              <a:t>。</a:t>
            </a:r>
            <a:endParaRPr lang="en-US" altLang="zh-CN" sz="2800" b="1" dirty="0" smtClean="0">
              <a:solidFill>
                <a:schemeClr val="folHlink"/>
              </a:solidFill>
            </a:endParaRPr>
          </a:p>
          <a:p>
            <a:pPr algn="just" eaLnBrk="1" hangingPunct="1">
              <a:lnSpc>
                <a:spcPts val="3600"/>
              </a:lnSpc>
              <a:buNone/>
            </a:pPr>
            <a:r>
              <a:rPr lang="zh-CN" altLang="en-US" sz="2400" dirty="0" smtClean="0"/>
              <a:t>         破坏</a:t>
            </a:r>
            <a:r>
              <a:rPr lang="zh-CN" altLang="en-US" sz="2400" dirty="0"/>
              <a:t>信息流入对方信息系统或其内部信息流动的任何途径，包括各种有线的或无线的信息传输手段。</a:t>
            </a:r>
            <a:endParaRPr lang="zh-CN" altLang="en-US" sz="2400" dirty="0"/>
          </a:p>
          <a:p>
            <a:pPr algn="just" eaLnBrk="1" hangingPunct="1">
              <a:lnSpc>
                <a:spcPts val="3600"/>
              </a:lnSpc>
              <a:buNone/>
            </a:pPr>
            <a:r>
              <a:rPr lang="en-US" altLang="zh-CN" sz="2800" b="1" dirty="0">
                <a:solidFill>
                  <a:schemeClr val="folHlink"/>
                </a:solidFill>
              </a:rPr>
              <a:t>6</a:t>
            </a:r>
            <a:r>
              <a:rPr lang="zh-CN" altLang="en-US" sz="2800" b="1" dirty="0">
                <a:solidFill>
                  <a:schemeClr val="folHlink"/>
                </a:solidFill>
              </a:rPr>
              <a:t>、向对方信息系统实施“间谍战”</a:t>
            </a:r>
            <a:r>
              <a:rPr lang="zh-CN" altLang="en-US" sz="2800" b="1" dirty="0" smtClean="0">
                <a:solidFill>
                  <a:schemeClr val="folHlink"/>
                </a:solidFill>
              </a:rPr>
              <a:t>。</a:t>
            </a:r>
            <a:endParaRPr lang="en-US" altLang="zh-CN" sz="2800" b="1" dirty="0" smtClean="0">
              <a:solidFill>
                <a:schemeClr val="folHlink"/>
              </a:solidFill>
            </a:endParaRPr>
          </a:p>
          <a:p>
            <a:pPr algn="just" eaLnBrk="1" hangingPunct="1">
              <a:lnSpc>
                <a:spcPts val="3600"/>
              </a:lnSpc>
              <a:buNone/>
            </a:pPr>
            <a:r>
              <a:rPr lang="zh-CN" altLang="en-US" sz="2400" dirty="0" smtClean="0"/>
              <a:t>         向</a:t>
            </a:r>
            <a:r>
              <a:rPr lang="zh-CN" altLang="en-US" sz="2400" dirty="0"/>
              <a:t>对方信息系统安插己方人员，或收买对方信息系统操作人员，通过他们获取对方信息系统中的信息，或向其中注入错误信息。</a:t>
            </a:r>
            <a:endParaRPr lang="zh-CN" altLang="en-US" sz="2400" dirty="0"/>
          </a:p>
          <a:p>
            <a:pPr eaLnBrk="1" hangingPunct="1">
              <a:lnSpc>
                <a:spcPts val="3600"/>
              </a:lnSpc>
              <a:buNone/>
            </a:pPr>
            <a:r>
              <a:rPr lang="en-US" altLang="zh-CN" sz="2800" b="1" dirty="0">
                <a:solidFill>
                  <a:schemeClr val="folHlink"/>
                </a:solidFill>
              </a:rPr>
              <a:t>7</a:t>
            </a:r>
            <a:r>
              <a:rPr lang="zh-CN" altLang="en-US" sz="2800" b="1" dirty="0">
                <a:solidFill>
                  <a:schemeClr val="folHlink"/>
                </a:solidFill>
              </a:rPr>
              <a:t>、伪装攻击源的功能</a:t>
            </a:r>
            <a:r>
              <a:rPr lang="zh-CN" altLang="en-US" sz="2800" b="1" dirty="0" smtClean="0">
                <a:solidFill>
                  <a:schemeClr val="folHlink"/>
                </a:solidFill>
              </a:rPr>
              <a:t>。</a:t>
            </a:r>
            <a:endParaRPr lang="en-US" altLang="zh-CN" sz="2800" b="1" dirty="0" smtClean="0">
              <a:solidFill>
                <a:schemeClr val="folHlink"/>
              </a:solidFill>
            </a:endParaRPr>
          </a:p>
          <a:p>
            <a:pPr eaLnBrk="1" hangingPunct="1">
              <a:lnSpc>
                <a:spcPts val="3600"/>
              </a:lnSpc>
              <a:buNone/>
            </a:pPr>
            <a:r>
              <a:rPr lang="zh-CN" altLang="en-US" sz="2400" dirty="0" smtClean="0">
                <a:latin typeface="宋体" panose="02010600030101010101" pitchFamily="2" charset="-122"/>
              </a:rPr>
              <a:t>     采用</a:t>
            </a:r>
            <a:r>
              <a:rPr lang="zh-CN" altLang="en-US" sz="2400" dirty="0">
                <a:latin typeface="宋体" panose="02010600030101010101" pitchFamily="2" charset="-122"/>
              </a:rPr>
              <a:t>“跳板”或代理等手段伪装己方的攻击源，阻止对方了解己方的攻击行动，使对方无法找到反击的目标。</a:t>
            </a:r>
            <a:r>
              <a:rPr lang="zh-CN" altLang="en-US" sz="2400" dirty="0"/>
              <a:t> </a:t>
            </a:r>
            <a:endParaRPr lang="zh-CN" altLang="en-US" sz="2400" dirty="0"/>
          </a:p>
        </p:txBody>
      </p:sp>
      <p:grpSp>
        <p:nvGrpSpPr>
          <p:cNvPr id="4" name="组合 3"/>
          <p:cNvGrpSpPr/>
          <p:nvPr/>
        </p:nvGrpSpPr>
        <p:grpSpPr>
          <a:xfrm>
            <a:off x="2770842" y="432000"/>
            <a:ext cx="6725526" cy="791052"/>
            <a:chOff x="824072" y="1564267"/>
            <a:chExt cx="6725526" cy="791052"/>
          </a:xfrm>
        </p:grpSpPr>
        <p:sp>
          <p:nvSpPr>
            <p:cNvPr id="5" name="矩形: 圆角 16"/>
            <p:cNvSpPr/>
            <p:nvPr/>
          </p:nvSpPr>
          <p:spPr>
            <a:xfrm>
              <a:off x="824072" y="1740416"/>
              <a:ext cx="6537172"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5848076" cy="480131"/>
            </a:xfrm>
            <a:prstGeom prst="rect">
              <a:avLst/>
            </a:prstGeom>
          </p:spPr>
          <p:txBody>
            <a:bodyPr wrap="none">
              <a:spAutoFit/>
            </a:bodyPr>
            <a:lstStyle/>
            <a:p>
              <a:pPr>
                <a:lnSpc>
                  <a:spcPct val="90000"/>
                </a:lnSpc>
              </a:pPr>
              <a:r>
                <a:rPr lang="zh-CN" altLang="en-US" sz="2800" dirty="0">
                  <a:solidFill>
                    <a:schemeClr val="bg1"/>
                  </a:solidFill>
                  <a:latin typeface="+mj-ea"/>
                </a:rPr>
                <a:t>实现信息进攻的的</a:t>
              </a:r>
              <a:r>
                <a:rPr lang="en-US" altLang="zh-CN" sz="2800" dirty="0">
                  <a:solidFill>
                    <a:schemeClr val="bg1"/>
                  </a:solidFill>
                  <a:latin typeface="+mj-ea"/>
                </a:rPr>
                <a:t>7</a:t>
              </a:r>
              <a:r>
                <a:rPr lang="zh-CN" altLang="en-US" sz="2800" dirty="0">
                  <a:solidFill>
                    <a:schemeClr val="bg1"/>
                  </a:solidFill>
                  <a:latin typeface="+mj-ea"/>
                </a:rPr>
                <a:t>种</a:t>
              </a:r>
              <a:r>
                <a:rPr lang="zh-CN" altLang="en-US" sz="2800" dirty="0" smtClean="0">
                  <a:solidFill>
                    <a:schemeClr val="bg1"/>
                  </a:solidFill>
                  <a:latin typeface="+mj-ea"/>
                </a:rPr>
                <a:t>功能：</a:t>
              </a:r>
              <a:r>
                <a:rPr lang="zh-CN" altLang="en-US" sz="2800" dirty="0" smtClean="0">
                  <a:solidFill>
                    <a:schemeClr val="bg1"/>
                  </a:solidFill>
                  <a:latin typeface="+mj-ea"/>
                  <a:sym typeface="Wingdings" panose="05000000000000000000" pitchFamily="2" charset="2"/>
                </a:rPr>
                <a:t>（续）</a:t>
              </a:r>
              <a:r>
                <a:rPr lang="zh-CN" altLang="en-US" sz="2800" dirty="0" smtClean="0">
                  <a:solidFill>
                    <a:schemeClr val="bg1"/>
                  </a:solidFill>
                  <a:latin typeface="+mj-ea"/>
                </a:rPr>
                <a:t> </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sz="2400" dirty="0">
                <a:latin typeface="宋体" panose="02010600030101010101" pitchFamily="2" charset="-122"/>
              </a:rPr>
              <a:t>信息对抗的防御</a:t>
            </a:r>
            <a:r>
              <a:rPr lang="zh-CN" altLang="en-US" sz="2400" dirty="0" smtClean="0">
                <a:latin typeface="宋体" panose="02010600030101010101" pitchFamily="2" charset="-122"/>
              </a:rPr>
              <a:t>包括</a:t>
            </a:r>
            <a:r>
              <a:rPr lang="zh-CN" altLang="en-US" sz="2400" dirty="0" smtClean="0">
                <a:solidFill>
                  <a:srgbClr val="639EF4"/>
                </a:solidFill>
                <a:latin typeface="宋体" panose="02010600030101010101" pitchFamily="2" charset="-122"/>
              </a:rPr>
              <a:t> </a:t>
            </a:r>
            <a:r>
              <a:rPr lang="en-US" altLang="zh-CN" sz="2400" dirty="0" smtClean="0">
                <a:solidFill>
                  <a:srgbClr val="639EF4"/>
                </a:solidFill>
                <a:latin typeface="宋体" panose="02010600030101010101" pitchFamily="2" charset="-122"/>
              </a:rPr>
              <a:t>[</a:t>
            </a:r>
            <a:r>
              <a:rPr lang="zh-CN" altLang="en-US" sz="2400" dirty="0" smtClean="0">
                <a:solidFill>
                  <a:srgbClr val="639EF4"/>
                </a:solidFill>
                <a:latin typeface="宋体" panose="02010600030101010101" pitchFamily="2" charset="-122"/>
              </a:rPr>
              <a:t>填空</a:t>
            </a:r>
            <a:r>
              <a:rPr lang="en-US" altLang="zh-CN" sz="2400" dirty="0" smtClean="0">
                <a:solidFill>
                  <a:srgbClr val="639EF4"/>
                </a:solidFill>
                <a:latin typeface="宋体" panose="02010600030101010101" pitchFamily="2" charset="-122"/>
              </a:rPr>
              <a:t>1]</a:t>
            </a:r>
            <a:r>
              <a:rPr lang="en-US" altLang="zh-CN" sz="2400" dirty="0" smtClean="0">
                <a:solidFill>
                  <a:srgbClr val="000000"/>
                </a:solidFill>
                <a:latin typeface="宋体" panose="02010600030101010101" pitchFamily="2" charset="-122"/>
              </a:rPr>
              <a:t> </a:t>
            </a:r>
            <a:r>
              <a:rPr lang="zh-CN" altLang="en-US" sz="2400" dirty="0" smtClean="0">
                <a:solidFill>
                  <a:schemeClr val="folHlink"/>
                </a:solidFill>
                <a:latin typeface="宋体" panose="02010600030101010101" pitchFamily="2" charset="-122"/>
              </a:rPr>
              <a:t>、</a:t>
            </a:r>
            <a:r>
              <a:rPr lang="zh-CN" altLang="en-US" sz="2400" dirty="0" smtClean="0">
                <a:solidFill>
                  <a:srgbClr val="639EF4"/>
                </a:solidFill>
                <a:latin typeface="宋体" panose="02010600030101010101" pitchFamily="2" charset="-122"/>
              </a:rPr>
              <a:t> </a:t>
            </a:r>
            <a:r>
              <a:rPr lang="en-US" altLang="zh-CN" sz="2400" dirty="0" smtClean="0">
                <a:solidFill>
                  <a:srgbClr val="639EF4"/>
                </a:solidFill>
                <a:latin typeface="宋体" panose="02010600030101010101" pitchFamily="2" charset="-122"/>
              </a:rPr>
              <a:t>[</a:t>
            </a:r>
            <a:r>
              <a:rPr lang="zh-CN" altLang="en-US" sz="2400" dirty="0" smtClean="0">
                <a:solidFill>
                  <a:srgbClr val="639EF4"/>
                </a:solidFill>
                <a:latin typeface="宋体" panose="02010600030101010101" pitchFamily="2" charset="-122"/>
              </a:rPr>
              <a:t>填空</a:t>
            </a:r>
            <a:r>
              <a:rPr lang="en-US" altLang="zh-CN" sz="2400" dirty="0" smtClean="0">
                <a:solidFill>
                  <a:srgbClr val="639EF4"/>
                </a:solidFill>
                <a:latin typeface="宋体" panose="02010600030101010101" pitchFamily="2" charset="-122"/>
              </a:rPr>
              <a:t>2]</a:t>
            </a:r>
            <a:r>
              <a:rPr lang="en-US" altLang="zh-CN" sz="2400" dirty="0" smtClean="0">
                <a:solidFill>
                  <a:srgbClr val="000000"/>
                </a:solidFill>
                <a:latin typeface="宋体" panose="02010600030101010101" pitchFamily="2" charset="-122"/>
              </a:rPr>
              <a:t> </a:t>
            </a:r>
            <a:r>
              <a:rPr lang="zh-CN" altLang="en-US" sz="2400" dirty="0" smtClean="0">
                <a:latin typeface="宋体" panose="02010600030101010101" pitchFamily="2" charset="-122"/>
              </a:rPr>
              <a:t>和</a:t>
            </a:r>
            <a:r>
              <a:rPr lang="zh-CN" altLang="en-US" sz="2400" dirty="0" smtClean="0">
                <a:solidFill>
                  <a:srgbClr val="639EF4"/>
                </a:solidFill>
                <a:latin typeface="宋体" panose="02010600030101010101" pitchFamily="2" charset="-122"/>
              </a:rPr>
              <a:t> </a:t>
            </a:r>
            <a:r>
              <a:rPr lang="en-US" altLang="zh-CN" sz="2400" dirty="0" smtClean="0">
                <a:solidFill>
                  <a:srgbClr val="639EF4"/>
                </a:solidFill>
                <a:latin typeface="宋体" panose="02010600030101010101" pitchFamily="2" charset="-122"/>
              </a:rPr>
              <a:t>[</a:t>
            </a:r>
            <a:r>
              <a:rPr lang="zh-CN" altLang="en-US" sz="2400" dirty="0" smtClean="0">
                <a:solidFill>
                  <a:srgbClr val="639EF4"/>
                </a:solidFill>
                <a:latin typeface="宋体" panose="02010600030101010101" pitchFamily="2" charset="-122"/>
              </a:rPr>
              <a:t>填空</a:t>
            </a:r>
            <a:r>
              <a:rPr lang="en-US" altLang="zh-CN" sz="2400" dirty="0" smtClean="0">
                <a:solidFill>
                  <a:srgbClr val="639EF4"/>
                </a:solidFill>
                <a:latin typeface="宋体" panose="02010600030101010101" pitchFamily="2" charset="-122"/>
              </a:rPr>
              <a:t>3]</a:t>
            </a:r>
            <a:r>
              <a:rPr lang="en-US" altLang="zh-CN" sz="2400" dirty="0" smtClean="0">
                <a:solidFill>
                  <a:srgbClr val="000000"/>
                </a:solidFill>
                <a:latin typeface="宋体" panose="02010600030101010101" pitchFamily="2" charset="-122"/>
              </a:rPr>
              <a:t> </a:t>
            </a:r>
            <a:r>
              <a:rPr lang="zh-CN" altLang="en-US" sz="2400" dirty="0" smtClean="0">
                <a:latin typeface="宋体" panose="02010600030101010101" pitchFamily="2" charset="-122"/>
              </a:rPr>
              <a:t>三</a:t>
            </a:r>
            <a:r>
              <a:rPr lang="zh-CN" altLang="en-US" sz="2400" dirty="0">
                <a:latin typeface="宋体" panose="02010600030101010101" pitchFamily="2" charset="-122"/>
              </a:rPr>
              <a:t>种能力。</a:t>
            </a:r>
            <a:endParaRPr lang="zh-CN" altLang="en-US" sz="2400" dirty="0">
              <a:latin typeface="宋体" panose="02010600030101010101" pitchFamily="2" charset="-122"/>
            </a:endParaRPr>
          </a:p>
        </p:txBody>
      </p:sp>
      <p:sp>
        <p:nvSpPr>
          <p:cNvPr id="6" name="圆角矩形 5"/>
          <p:cNvSpPr/>
          <p:nvPr>
            <p:custDataLst>
              <p:tags r:id="rId2"/>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矩形 11"/>
          <p:cNvSpPr/>
          <p:nvPr>
            <p:custDataLst>
              <p:tags r:id="rId3"/>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正常使用填空题需</a:t>
            </a:r>
            <a:r>
              <a:rPr lang="en-US" altLang="zh-CN"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endPar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1" name="组合 10"/>
          <p:cNvGrpSpPr/>
          <p:nvPr>
            <p:custDataLst>
              <p:tags r:id="rId4"/>
            </p:custDataLst>
          </p:nvPr>
        </p:nvGrpSpPr>
        <p:grpSpPr>
          <a:xfrm>
            <a:off x="0" y="0"/>
            <a:ext cx="12192000" cy="635000"/>
            <a:chOff x="0" y="0"/>
            <a:chExt cx="12192000" cy="635000"/>
          </a:xfrm>
        </p:grpSpPr>
        <p:sp>
          <p:nvSpPr>
            <p:cNvPr id="7" name="TitleBackground"/>
            <p:cNvSpPr/>
            <p:nvPr>
              <p:custDataLst>
                <p:tags r:id="rId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lorBlock"/>
            <p:cNvSpPr/>
            <p:nvPr>
              <p:custDataLst>
                <p:tags r:id="rId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ypeText"/>
            <p:cNvSpPr txBox="1"/>
            <p:nvPr>
              <p:custDataLst>
                <p:tags r:id="rId7"/>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填空题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TipText"/>
            <p:cNvSpPr txBox="1"/>
            <p:nvPr>
              <p:custDataLst>
                <p:tags r:id="rId8"/>
              </p:custDataLst>
            </p:nvPr>
          </p:nvSpPr>
          <p:spPr>
            <a:xfrm>
              <a:off x="1427480"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4" name="图片 3"/>
          <p:cNvPicPr/>
          <p:nvPr>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06500" y="635000"/>
            <a:ext cx="9753600" cy="2143125"/>
          </a:xfrm>
          <a:prstGeom prst="rect">
            <a:avLst/>
          </a:prstGeom>
          <a:noFill/>
        </p:spPr>
        <p:txBody>
          <a:bodyPr vert="horz" wrap="square" rtlCol="0" anchor="ctr" anchorCtr="0">
            <a:noAutofit/>
          </a:bodyPr>
          <a:lstStyle/>
          <a:p>
            <a:r>
              <a:rPr lang="zh-CN" altLang="en-US" sz="2600" dirty="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信息战的攻击包括 </a:t>
            </a:r>
            <a:r>
              <a:rPr lang="en-US" altLang="zh-CN" sz="2600" dirty="0" smtClean="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600" dirty="0" smtClean="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填空</a:t>
            </a:r>
            <a:r>
              <a:rPr lang="en-US" altLang="zh-CN" sz="2600" dirty="0" smtClean="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600" dirty="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600" dirty="0" smtClean="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2600" dirty="0" smtClean="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600" dirty="0" smtClean="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填空</a:t>
            </a:r>
            <a:r>
              <a:rPr lang="en-US" altLang="zh-CN" sz="2600" dirty="0" smtClean="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2]</a:t>
            </a:r>
            <a:r>
              <a:rPr lang="en-US" altLang="zh-CN" sz="2600" dirty="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600" dirty="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和</a:t>
            </a:r>
            <a:r>
              <a:rPr lang="zh-CN" altLang="en-US" sz="2600" dirty="0" smtClean="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2600" dirty="0" smtClean="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600" dirty="0" smtClean="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填空</a:t>
            </a:r>
            <a:r>
              <a:rPr lang="en-US" altLang="zh-CN" sz="2600" dirty="0" smtClean="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3]</a:t>
            </a:r>
            <a:r>
              <a:rPr lang="en-US" altLang="zh-CN" sz="2600" dirty="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600" dirty="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等三种能力。</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圆角矩形 3"/>
          <p:cNvSpPr/>
          <p:nvPr>
            <p:custDataLst>
              <p:tags r:id="rId2"/>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矩形 9"/>
          <p:cNvSpPr/>
          <p:nvPr>
            <p:custDataLst>
              <p:tags r:id="rId3"/>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正常使用填空题需</a:t>
            </a:r>
            <a:r>
              <a:rPr lang="en-US" altLang="zh-CN"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endPar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9" name="组合 8"/>
          <p:cNvGrpSpPr/>
          <p:nvPr>
            <p:custDataLst>
              <p:tags r:id="rId4"/>
            </p:custDataLst>
          </p:nvPr>
        </p:nvGrpSpPr>
        <p:grpSpPr>
          <a:xfrm>
            <a:off x="0" y="0"/>
            <a:ext cx="12192000" cy="635000"/>
            <a:chOff x="0" y="0"/>
            <a:chExt cx="12192000" cy="635000"/>
          </a:xfrm>
        </p:grpSpPr>
        <p:sp>
          <p:nvSpPr>
            <p:cNvPr id="5" name="TitleBackground"/>
            <p:cNvSpPr/>
            <p:nvPr>
              <p:custDataLst>
                <p:tags r:id="rId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olorBlock"/>
            <p:cNvSpPr/>
            <p:nvPr>
              <p:custDataLst>
                <p:tags r:id="rId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ypeText"/>
            <p:cNvSpPr txBox="1"/>
            <p:nvPr>
              <p:custDataLst>
                <p:tags r:id="rId7"/>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填空题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TipText"/>
            <p:cNvSpPr txBox="1"/>
            <p:nvPr>
              <p:custDataLst>
                <p:tags r:id="rId8"/>
              </p:custDataLst>
            </p:nvPr>
          </p:nvSpPr>
          <p:spPr>
            <a:xfrm>
              <a:off x="1427480"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804304" y="1771794"/>
            <a:ext cx="6417142" cy="2585323"/>
          </a:xfrm>
          <a:prstGeom prst="rect">
            <a:avLst/>
          </a:prstGeom>
        </p:spPr>
        <p:txBody>
          <a:bodyPr wrap="none">
            <a:spAutoFit/>
          </a:bodyPr>
          <a:lstStyle/>
          <a:p>
            <a:pPr algn="ctr"/>
            <a:r>
              <a:rPr lang="zh-CN" altLang="en-US" sz="5400" dirty="0">
                <a:solidFill>
                  <a:schemeClr val="bg2">
                    <a:lumMod val="90000"/>
                  </a:schemeClr>
                </a:solidFill>
                <a:latin typeface="思源黑体 CN Heavy" panose="020B0A00000000000000" pitchFamily="34" charset="-122"/>
                <a:ea typeface="思源黑体 CN Heavy" panose="020B0A00000000000000" pitchFamily="34" charset="-122"/>
                <a:cs typeface="+mn-ea"/>
              </a:rPr>
              <a:t>信息对抗的主要</a:t>
            </a:r>
            <a:r>
              <a:rPr lang="zh-CN" altLang="en-US" sz="5400" dirty="0" smtClean="0">
                <a:solidFill>
                  <a:schemeClr val="bg2">
                    <a:lumMod val="90000"/>
                  </a:schemeClr>
                </a:solidFill>
                <a:latin typeface="思源黑体 CN Heavy" panose="020B0A00000000000000" pitchFamily="34" charset="-122"/>
                <a:ea typeface="思源黑体 CN Heavy" panose="020B0A00000000000000" pitchFamily="34" charset="-122"/>
                <a:cs typeface="+mn-ea"/>
              </a:rPr>
              <a:t>能力</a:t>
            </a:r>
            <a:endParaRPr lang="en-US" altLang="zh-CN" sz="5400" dirty="0" smtClean="0">
              <a:solidFill>
                <a:schemeClr val="bg2">
                  <a:lumMod val="90000"/>
                </a:schemeClr>
              </a:solidFill>
              <a:latin typeface="思源黑体 CN Heavy" panose="020B0A00000000000000" pitchFamily="34" charset="-122"/>
              <a:ea typeface="思源黑体 CN Heavy" panose="020B0A00000000000000" pitchFamily="34" charset="-122"/>
              <a:cs typeface="+mn-ea"/>
            </a:endParaRPr>
          </a:p>
          <a:p>
            <a:pPr algn="ctr"/>
            <a:endParaRPr lang="en-US" altLang="zh-CN" sz="5400" dirty="0">
              <a:solidFill>
                <a:srgbClr val="002060"/>
              </a:solidFill>
              <a:latin typeface="思源黑体 CN Heavy" panose="020B0A00000000000000" pitchFamily="34" charset="-122"/>
              <a:ea typeface="思源黑体 CN Heavy" panose="020B0A00000000000000" pitchFamily="34" charset="-122"/>
              <a:cs typeface="+mn-ea"/>
              <a:sym typeface="+mn-lt"/>
            </a:endParaRPr>
          </a:p>
          <a:p>
            <a:pPr algn="ctr"/>
            <a:r>
              <a:rPr lang="en-US" altLang="zh-CN" sz="5400" dirty="0" smtClean="0">
                <a:solidFill>
                  <a:srgbClr val="002060"/>
                </a:solidFill>
                <a:latin typeface="思源黑体 CN Heavy" panose="020B0A00000000000000" pitchFamily="34" charset="-122"/>
                <a:ea typeface="思源黑体 CN Heavy" panose="020B0A00000000000000" pitchFamily="34" charset="-122"/>
                <a:cs typeface="+mn-ea"/>
                <a:sym typeface="+mn-lt"/>
              </a:rPr>
              <a:t>end</a:t>
            </a:r>
            <a:endParaRPr lang="zh-CN" altLang="en-US" sz="5400" dirty="0">
              <a:solidFill>
                <a:srgbClr val="002060"/>
              </a:solidFill>
              <a:latin typeface="思源黑体 CN Heavy" panose="020B0A00000000000000" pitchFamily="34" charset="-122"/>
              <a:ea typeface="思源黑体 CN Heavy" panose="020B0A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ISLIDE.VECTOR" val="28b0fd0e-7ece-4f48-881a-83c93b08799b"/>
</p:tagLst>
</file>

<file path=ppt/tags/tag7.xml><?xml version="1.0" encoding="utf-8"?>
<p:tagLst xmlns:p="http://schemas.openxmlformats.org/presentationml/2006/main">
  <p:tag name="ISLIDE.VECTOR" val="28b0fd0e-7ece-4f48-881a-83c93b08799b"/>
</p:tagLst>
</file>

<file path=ppt/tags/tag8.xml><?xml version="1.0" encoding="utf-8"?>
<p:tagLst xmlns:p="http://schemas.openxmlformats.org/presentationml/2006/main">
  <p:tag name="ISLIDE.VECTOR" val="28b0fd0e-7ece-4f48-881a-83c93b08799b"/>
</p:tagLst>
</file>

<file path=ppt/tags/tag9.xml><?xml version="1.0" encoding="utf-8"?>
<p:tagLst xmlns:p="http://schemas.openxmlformats.org/presentationml/2006/main">
  <p:tag name="RAINPROBLEM" val="ProblemBody"/>
</p:tagLst>
</file>

<file path=ppt/tags/tag10.xml><?xml version="1.0" encoding="utf-8"?>
<p:tagLst xmlns:p="http://schemas.openxmlformats.org/presentationml/2006/main">
  <p:tag name="RAINPROBLEM" val="ProblemSubmit"/>
  <p:tag name="RAINPROBLEMTYPE" val="FillBlank"/>
</p:tagLst>
</file>

<file path=ppt/tags/tag11.xml><?xml version="1.0" encoding="utf-8"?>
<p:tagLst xmlns:p="http://schemas.openxmlformats.org/presentationml/2006/main">
  <p:tag name="PRODUCTVERSIONTIP3" val="PRODUCTVERSIONTIP3"/>
</p:tagLst>
</file>

<file path=ppt/tags/tag12.xml><?xml version="1.0" encoding="utf-8"?>
<p:tagLst xmlns:p="http://schemas.openxmlformats.org/presentationml/2006/main">
  <p:tag name="RAINPROBLEMTYPE" val="ProblemTypeMarker"/>
</p:tagLst>
</file>

<file path=ppt/tags/tag13.xml><?xml version="1.0" encoding="utf-8"?>
<p:tagLst xmlns:p="http://schemas.openxmlformats.org/presentationml/2006/main">
  <p:tag name="RAINPROBLEMTYPE" val="ProblemTypeMarker"/>
</p:tagLst>
</file>

<file path=ppt/tags/tag14.xml><?xml version="1.0" encoding="utf-8"?>
<p:tagLst xmlns:p="http://schemas.openxmlformats.org/presentationml/2006/main">
  <p:tag name="RAINPROBLEMTYPE" val="ProblemTypeMarker"/>
</p:tagLst>
</file>

<file path=ppt/tags/tag15.xml><?xml version="1.0" encoding="utf-8"?>
<p:tagLst xmlns:p="http://schemas.openxmlformats.org/presentationml/2006/main">
  <p:tag name="RAINPROBLEMTYPE" val="ProblemTypeMarker"/>
</p:tagLst>
</file>

<file path=ppt/tags/tag16.xml><?xml version="1.0" encoding="utf-8"?>
<p:tagLst xmlns:p="http://schemas.openxmlformats.org/presentationml/2006/main">
  <p:tag name="RAINPROBLEMTYPE" val="ProblemTypeMarker"/>
</p:tagLst>
</file>

<file path=ppt/tags/tag17.xml><?xml version="1.0" encoding="utf-8"?>
<p:tagLst xmlns:p="http://schemas.openxmlformats.org/presentationml/2006/main">
  <p:tag name="RAINPROBLEM" val="ProblemSetting"/>
  <p:tag name="RAINPROBLEMTYPE" val="FillBlank"/>
</p:tagLst>
</file>

<file path=ppt/tags/tag18.xml><?xml version="1.0" encoding="utf-8"?>
<p:tagLst xmlns:p="http://schemas.openxmlformats.org/presentationml/2006/main">
  <p:tag name="RAINPROBLEM" val="FillBlank"/>
  <p:tag name="PROBLEMBLANKKEYWORD" val="填空"/>
  <p:tag name="PROBLEMSCORE" val="3.0"/>
  <p:tag name="PROBLEMBLANK" val="[{&quot;num&quot;:1,&quot;caseSensitive&quot;:false,&quot;fuzzyMatch&quot;:false,&quot;Score&quot;:1.0,&quot;answers&quot;:[&quot;保护&quot;]},{&quot;num&quot;:2,&quot;caseSensitive&quot;:false,&quot;fuzzyMatch&quot;:false,&quot;Score&quot;:1.0,&quot;answers&quot;:[&quot;发现与监控攻击&quot;]},{&quot;num&quot;:3,&quot;caseSensitive&quot;:false,&quot;fuzzyMatch&quot;:false,&quot;Score&quot;:1.0,&quot;answers&quot;:[&quot;恢复&quot;]}]"/>
</p:tagLst>
</file>

<file path=ppt/tags/tag19.xml><?xml version="1.0" encoding="utf-8"?>
<p:tagLst xmlns:p="http://schemas.openxmlformats.org/presentationml/2006/main">
  <p:tag name="RAINPROBLEM" val="ProblemBody"/>
</p:tagLst>
</file>

<file path=ppt/tags/tag20.xml><?xml version="1.0" encoding="utf-8"?>
<p:tagLst xmlns:p="http://schemas.openxmlformats.org/presentationml/2006/main">
  <p:tag name="RAINPROBLEM" val="ProblemSubmit"/>
  <p:tag name="RAINPROBLEMTYPE" val="FillBlank"/>
</p:tagLst>
</file>

<file path=ppt/tags/tag21.xml><?xml version="1.0" encoding="utf-8"?>
<p:tagLst xmlns:p="http://schemas.openxmlformats.org/presentationml/2006/main">
  <p:tag name="PRODUCTVERSIONTIP3" val="PRODUCTVERSIONTIP3"/>
</p:tagLst>
</file>

<file path=ppt/tags/tag22.xml><?xml version="1.0" encoding="utf-8"?>
<p:tagLst xmlns:p="http://schemas.openxmlformats.org/presentationml/2006/main">
  <p:tag name="RAINPROBLEMTYPE" val="ProblemTypeMarker"/>
</p:tagLst>
</file>

<file path=ppt/tags/tag23.xml><?xml version="1.0" encoding="utf-8"?>
<p:tagLst xmlns:p="http://schemas.openxmlformats.org/presentationml/2006/main">
  <p:tag name="RAINPROBLEMTYPE" val="ProblemTypeMarker"/>
</p:tagLst>
</file>

<file path=ppt/tags/tag24.xml><?xml version="1.0" encoding="utf-8"?>
<p:tagLst xmlns:p="http://schemas.openxmlformats.org/presentationml/2006/main">
  <p:tag name="RAINPROBLEMTYPE" val="ProblemTypeMarker"/>
</p:tagLst>
</file>

<file path=ppt/tags/tag25.xml><?xml version="1.0" encoding="utf-8"?>
<p:tagLst xmlns:p="http://schemas.openxmlformats.org/presentationml/2006/main">
  <p:tag name="RAINPROBLEMTYPE" val="ProblemTypeMarker"/>
</p:tagLst>
</file>

<file path=ppt/tags/tag26.xml><?xml version="1.0" encoding="utf-8"?>
<p:tagLst xmlns:p="http://schemas.openxmlformats.org/presentationml/2006/main">
  <p:tag name="RAINPROBLEMTYPE" val="ProblemTypeMarker"/>
</p:tagLst>
</file>

<file path=ppt/tags/tag27.xml><?xml version="1.0" encoding="utf-8"?>
<p:tagLst xmlns:p="http://schemas.openxmlformats.org/presentationml/2006/main">
  <p:tag name="RAINPROBLEM" val="ProblemSetting"/>
  <p:tag name="RAINPROBLEMTYPE" val="FillBlank"/>
</p:tagLst>
</file>

<file path=ppt/tags/tag28.xml><?xml version="1.0" encoding="utf-8"?>
<p:tagLst xmlns:p="http://schemas.openxmlformats.org/presentationml/2006/main">
  <p:tag name="RAINPROBLEM" val="FillBlank"/>
  <p:tag name="PROBLEMBLANKKEYWORD" val="填空"/>
  <p:tag name="PROBLEMSCORE" val="3.0"/>
  <p:tag name="PROBLEMBLANK" val="[{&quot;num&quot;:1,&quot;caseSensitive&quot;:false,&quot;fuzzyMatch&quot;:false,&quot;Score&quot;:1.0,&quot;answers&quot;:[&quot;控制&quot;]},{&quot;num&quot;:2,&quot;caseSensitive&quot;:false,&quot;fuzzyMatch&quot;:false,&quot;Score&quot;:1.0,&quot;answers&quot;:[&quot;欺骗&quot;]},{&quot;num&quot;:3,&quot;caseSensitive&quot;:false,&quot;fuzzyMatch&quot;:false,&quot;Score&quot;:1.0,&quot;answers&quot;:[&quot;摧毁&quot;]}]"/>
</p:tagLst>
</file>

<file path=ppt/tags/tag29.xml><?xml version="1.0" encoding="utf-8"?>
<p:tagLst xmlns:p="http://schemas.openxmlformats.org/presentationml/2006/main">
  <p:tag name="KSO_WPP_MARK_KEY" val="225e5dfa-c082-4d67-b7b9-21f283dec575"/>
  <p:tag name="COMMONDATA" val="eyJoZGlkIjoiMTY4NmFkYTA3ZTlhYTgyNTAzMzU4ODkzYjM1N2UzNDYifQ=="/>
  <p:tag name="commondata" val="eyJoZGlkIjoiODVjMzBjMjkyM2FmNTZlZjhmZmMxZWVhN2I1ZDYwZmE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思源黑体 CN Heavy"/>
        <a:ea typeface="思源黑体 CN Normal"/>
        <a:cs typeface=""/>
      </a:majorFont>
      <a:minorFont>
        <a:latin typeface="Times New Roman"/>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2154</Words>
  <Application>WPS 演示</Application>
  <PresentationFormat>宽屏</PresentationFormat>
  <Paragraphs>114</Paragraphs>
  <Slides>16</Slides>
  <Notes>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16</vt:i4>
      </vt:variant>
    </vt:vector>
  </HeadingPairs>
  <TitlesOfParts>
    <vt:vector size="30" baseType="lpstr">
      <vt:lpstr>Arial</vt:lpstr>
      <vt:lpstr>宋体</vt:lpstr>
      <vt:lpstr>Wingdings</vt:lpstr>
      <vt:lpstr>隶书</vt:lpstr>
      <vt:lpstr>Times New Roman</vt:lpstr>
      <vt:lpstr>华文行楷</vt:lpstr>
      <vt:lpstr>思源黑体 CN Heavy</vt:lpstr>
      <vt:lpstr>黑体</vt:lpstr>
      <vt:lpstr>微软雅黑 Light</vt:lpstr>
      <vt:lpstr>微软雅黑</vt:lpstr>
      <vt:lpstr>思源黑体 CN Normal</vt:lpstr>
      <vt:lpstr>Arial Unicode MS</vt:lpstr>
      <vt:lpstr>等线</vt:lpstr>
      <vt:lpstr>Office 主题​​</vt:lpstr>
      <vt:lpstr>《信息对抗技术》 电子讲稿</vt:lpstr>
      <vt:lpstr>PowerPoint 演示文稿</vt:lpstr>
      <vt:lpstr>PowerPoint 演示文稿</vt:lpstr>
      <vt:lpstr>PowerPoint 演示文稿</vt:lpstr>
      <vt:lpstr> </vt:lpstr>
      <vt:lpstr>PowerPoint 演示文稿</vt:lpstr>
      <vt:lpstr>PowerPoint 演示文稿</vt:lpstr>
      <vt:lpstr> </vt:lpstr>
      <vt:lpstr>PowerPoint 演示文稿</vt:lpstr>
      <vt:lpstr>PowerPoint 演示文稿</vt:lpstr>
      <vt:lpstr>PowerPoint 演示文稿</vt:lpstr>
      <vt:lpstr> </vt:lpstr>
      <vt:lpstr> </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Li安全</cp:lastModifiedBy>
  <cp:revision>173</cp:revision>
  <dcterms:created xsi:type="dcterms:W3CDTF">2019-09-27T01:23:00Z</dcterms:created>
  <dcterms:modified xsi:type="dcterms:W3CDTF">2026-03-31T22:43:06Z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4216D14EEB2148579C71D9A571FF5236</vt:lpwstr>
  </property>
</Properties>
</file>