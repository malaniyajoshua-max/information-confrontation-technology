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33"/>
  </p:notesMasterIdLst>
  <p:sldIdLst>
    <p:sldId id="281" r:id="rId4"/>
    <p:sldId id="282" r:id="rId5"/>
    <p:sldId id="283" r:id="rId6"/>
    <p:sldId id="284" r:id="rId7"/>
    <p:sldId id="285" r:id="rId8"/>
    <p:sldId id="438" r:id="rId9"/>
    <p:sldId id="286" r:id="rId10"/>
    <p:sldId id="287" r:id="rId11"/>
    <p:sldId id="425" r:id="rId12"/>
    <p:sldId id="429" r:id="rId13"/>
    <p:sldId id="426" r:id="rId14"/>
    <p:sldId id="288" r:id="rId15"/>
    <p:sldId id="289" r:id="rId16"/>
    <p:sldId id="290" r:id="rId17"/>
    <p:sldId id="430" r:id="rId18"/>
    <p:sldId id="291" r:id="rId19"/>
    <p:sldId id="292" r:id="rId20"/>
    <p:sldId id="293" r:id="rId21"/>
    <p:sldId id="431" r:id="rId22"/>
    <p:sldId id="432" r:id="rId23"/>
    <p:sldId id="294" r:id="rId24"/>
    <p:sldId id="295" r:id="rId25"/>
    <p:sldId id="296" r:id="rId26"/>
    <p:sldId id="297" r:id="rId27"/>
    <p:sldId id="427" r:id="rId28"/>
    <p:sldId id="298" r:id="rId29"/>
    <p:sldId id="299" r:id="rId30"/>
    <p:sldId id="300" r:id="rId31"/>
    <p:sldId id="301" r:id="rId32"/>
    <p:sldId id="433" r:id="rId34"/>
    <p:sldId id="302" r:id="rId35"/>
    <p:sldId id="304" r:id="rId36"/>
    <p:sldId id="303" r:id="rId37"/>
    <p:sldId id="305" r:id="rId38"/>
    <p:sldId id="434" r:id="rId39"/>
    <p:sldId id="306" r:id="rId40"/>
    <p:sldId id="437" r:id="rId41"/>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3EE"/>
    <a:srgbClr val="1F4E79"/>
    <a:srgbClr val="881DB3"/>
    <a:srgbClr val="E3C9F7"/>
    <a:srgbClr val="6E0876"/>
    <a:srgbClr val="731AB6"/>
    <a:srgbClr val="740A47"/>
    <a:srgbClr val="720C4E"/>
    <a:srgbClr val="700E54"/>
    <a:srgbClr val="FEE4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96" autoAdjust="0"/>
    <p:restoredTop sz="77608" autoAdjust="0"/>
  </p:normalViewPr>
  <p:slideViewPr>
    <p:cSldViewPr snapToGrid="0" showGuides="1">
      <p:cViewPr varScale="1">
        <p:scale>
          <a:sx n="52" d="100"/>
          <a:sy n="52" d="100"/>
        </p:scale>
        <p:origin x="108" y="66"/>
      </p:cViewPr>
      <p:guideLst>
        <p:guide orient="horz" pos="2137"/>
        <p:guide pos="3931"/>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98.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notesMaster" Target="notesMasters/notes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13D94-3B84-4F7C-A457-BAB026D08DB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04C284-C97B-4A78-9B6C-3354FD79A64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04C284-C97B-4A78-9B6C-3354FD79A64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900F3B7-776C-4126-B62B-37D992D390E8}"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D592D589-A361-4801-A43C-9A7A53CA31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7173" name="标题 7172"/>
          <p:cNvSpPr>
            <a:spLocks noGrp="1"/>
          </p:cNvSpPr>
          <p:nvPr>
            <p:ph type="ctrTitle" sz="quarter"/>
          </p:nvPr>
        </p:nvSpPr>
        <p:spPr>
          <a:xfrm>
            <a:off x="1725084" y="762000"/>
            <a:ext cx="10363200" cy="1143000"/>
          </a:xfrm>
          <a:prstGeom prst="rect">
            <a:avLst/>
          </a:prstGeom>
          <a:noFill/>
          <a:ln w="9525">
            <a:noFill/>
          </a:ln>
        </p:spPr>
        <p:txBody>
          <a:bodyPr anchor="b"/>
          <a:lstStyle>
            <a:lvl1pPr lvl="0">
              <a:defRPr/>
            </a:lvl1pPr>
          </a:lstStyle>
          <a:p>
            <a:pPr lvl="0"/>
            <a:r>
              <a:rPr lang="zh-CN" altLang="en-US" noProof="1"/>
              <a:t>单击此处编辑母版标题样式</a:t>
            </a:r>
            <a:endParaRPr lang="zh-CN" altLang="en-US" noProof="1"/>
          </a:p>
        </p:txBody>
      </p:sp>
      <p:sp>
        <p:nvSpPr>
          <p:cNvPr id="7174" name="副标题 7173"/>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atin typeface="+mn-ea"/>
                <a:ea typeface="+mn-ea"/>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noProof="1"/>
              <a:t>单击此处编辑母版副标题样式</a:t>
            </a:r>
            <a:endParaRPr lang="zh-CN" altLang="en-US" noProof="1"/>
          </a:p>
        </p:txBody>
      </p:sp>
      <p:sp>
        <p:nvSpPr>
          <p:cNvPr id="7" name="日期占位符 7174"/>
          <p:cNvSpPr>
            <a:spLocks noGrp="1"/>
          </p:cNvSpPr>
          <p:nvPr>
            <p:ph type="dt" sz="quarter" idx="2"/>
          </p:nvPr>
        </p:nvSpPr>
        <p:spPr>
          <a:xfrm>
            <a:off x="914400" y="6248400"/>
            <a:ext cx="2540000" cy="457200"/>
          </a:xfrm>
          <a:prstGeom prst="rect">
            <a:avLst/>
          </a:prstGeom>
        </p:spPr>
        <p:txBody>
          <a:bodyPr lIns="92075" tIns="46038" rIns="92075" bIns="46038" anchor="ctr"/>
          <a:lstStyle>
            <a:lvl1pP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8" name="页脚占位符 7175"/>
          <p:cNvSpPr>
            <a:spLocks noGrp="1"/>
          </p:cNvSpPr>
          <p:nvPr>
            <p:ph type="ftr" sz="quarter" idx="3"/>
          </p:nvPr>
        </p:nvSpPr>
        <p:spPr>
          <a:xfrm>
            <a:off x="4165600" y="6248400"/>
            <a:ext cx="3860800" cy="457200"/>
          </a:xfrm>
          <a:prstGeom prst="rect">
            <a:avLst/>
          </a:prstGeom>
        </p:spPr>
        <p:txBody>
          <a:bodyPr lIns="92075" tIns="46038" rIns="92075" bIns="46038" anchor="ctr"/>
          <a:lstStyle>
            <a:lvl1pPr algn="ctr">
              <a:defRPr sz="1400" dirty="0"/>
            </a:lvl1pPr>
          </a:lstStyle>
          <a:p>
            <a:pPr fontAlgn="base">
              <a:spcBef>
                <a:spcPct val="0"/>
              </a:spcBef>
              <a:spcAft>
                <a:spcPct val="0"/>
              </a:spcAft>
              <a:defRPr/>
            </a:pPr>
            <a:endParaRPr lang="zh-CN" altLang="en-US" noProof="1">
              <a:ea typeface="宋体" panose="02010600030101010101" pitchFamily="2" charset="-122"/>
            </a:endParaRPr>
          </a:p>
        </p:txBody>
      </p:sp>
      <p:sp>
        <p:nvSpPr>
          <p:cNvPr id="9" name="灯片编号占位符 7176"/>
          <p:cNvSpPr>
            <a:spLocks noGrp="1"/>
          </p:cNvSpPr>
          <p:nvPr>
            <p:ph type="sldNum" sz="quarter" idx="4"/>
          </p:nvPr>
        </p:nvSpPr>
        <p:spPr>
          <a:xfrm>
            <a:off x="8737600" y="6248400"/>
            <a:ext cx="2540000" cy="457200"/>
          </a:xfrm>
          <a:prstGeom prst="rect">
            <a:avLst/>
          </a:prstGeom>
        </p:spPr>
        <p:txBody>
          <a:bodyPr vert="horz" wrap="square" lIns="92075" tIns="46038" rIns="92075" bIns="46038" numCol="1" anchor="ctr" anchorCtr="0" compatLnSpc="1"/>
          <a:lstStyle/>
          <a:p>
            <a:pPr algn="r"/>
            <a:fld id="{9A0DB2DC-4C9A-4742-B13C-FB6460FD3503}" type="slidenum">
              <a:rPr lang="zh-CN" altLang="en-US" dirty="0"/>
            </a:fld>
            <a:endParaRPr lang="zh-CN" altLang="en-US" dirty="0"/>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12191999"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showMasterPhAnim="0">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101" name="标题 4100"/>
          <p:cNvSpPr>
            <a:spLocks noGrp="1"/>
          </p:cNvSpPr>
          <p:nvPr>
            <p:ph type="ctrTitle" sz="quarter"/>
          </p:nvPr>
        </p:nvSpPr>
        <p:spPr>
          <a:xfrm>
            <a:off x="1725084" y="762000"/>
            <a:ext cx="10363200" cy="1143000"/>
          </a:xfrm>
          <a:prstGeom prst="rect">
            <a:avLst/>
          </a:prstGeom>
          <a:noFill/>
          <a:ln w="9525">
            <a:noFill/>
          </a:ln>
        </p:spPr>
        <p:txBody>
          <a:bodyPr lIns="92075" tIns="46038" rIns="92075" bIns="46038" anchor="b"/>
          <a:lstStyle>
            <a:lvl1pPr lvl="0">
              <a:defRPr/>
            </a:lvl1pPr>
          </a:lstStyle>
          <a:p>
            <a:pPr lvl="0" fontAlgn="base"/>
            <a:r>
              <a:rPr lang="zh-CN" altLang="en-US" strike="noStrike" noProof="1"/>
              <a:t>单击此处编辑母版标题样式</a:t>
            </a:r>
            <a:endParaRPr lang="zh-CN" altLang="en-US" strike="noStrike" noProof="1"/>
          </a:p>
        </p:txBody>
      </p:sp>
      <p:sp>
        <p:nvSpPr>
          <p:cNvPr id="4102" name="副标题 4101"/>
          <p:cNvSpPr>
            <a:spLocks noGrp="1"/>
          </p:cNvSpPr>
          <p:nvPr>
            <p:ph type="subTitle" sz="quarter" idx="1"/>
          </p:nvPr>
        </p:nvSpPr>
        <p:spPr>
          <a:xfrm>
            <a:off x="914400" y="3429000"/>
            <a:ext cx="8534400" cy="1752600"/>
          </a:xfrm>
          <a:prstGeom prst="rect">
            <a:avLst/>
          </a:prstGeom>
          <a:noFill/>
          <a:ln w="9525">
            <a:noFill/>
          </a:ln>
        </p:spPr>
        <p:txBody>
          <a:bodyPr lIns="92075" tIns="46038" rIns="92075" bIns="46038" anchor="ctr"/>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fontAlgn="base"/>
            <a:r>
              <a:rPr lang="zh-CN" altLang="en-US" strike="noStrike" noProof="1"/>
              <a:t>单击此处编辑母版副标题样式</a:t>
            </a:r>
            <a:endParaRPr lang="zh-CN" altLang="en-US" strike="noStrike" noProof="1"/>
          </a:p>
        </p:txBody>
      </p:sp>
      <p:sp>
        <p:nvSpPr>
          <p:cNvPr id="4103" name="日期占位符 4102"/>
          <p:cNvSpPr>
            <a:spLocks noGrp="1"/>
          </p:cNvSpPr>
          <p:nvPr>
            <p:ph type="dt" sz="quarter" idx="2"/>
          </p:nvPr>
        </p:nvSpPr>
        <p:spPr>
          <a:xfrm>
            <a:off x="914400" y="6248400"/>
            <a:ext cx="2540000" cy="457200"/>
          </a:xfrm>
          <a:prstGeom prst="rect">
            <a:avLst/>
          </a:prstGeom>
          <a:noFill/>
          <a:ln w="9525">
            <a:noFill/>
          </a:ln>
        </p:spPr>
        <p:txBody>
          <a:bodyPr lIns="92075" tIns="46038" rIns="92075" bIns="46038" anchor="ctr"/>
          <a:lstStyle/>
          <a:p>
            <a:pPr fontAlgn="base"/>
            <a:fld id="{BB962C8B-B14F-4D97-AF65-F5344CB8AC3E}" type="datetime1">
              <a:rPr lang="zh-CN" altLang="en-US" noProof="1" dirty="0">
                <a:solidFill>
                  <a:prstClr val="black"/>
                </a:solidFill>
                <a:ea typeface="宋体" panose="02010600030101010101" pitchFamily="2" charset="-122"/>
                <a:cs typeface="+mn-ea"/>
              </a:rPr>
            </a:fld>
            <a:endParaRPr lang="zh-CN" altLang="en-US" noProof="1">
              <a:solidFill>
                <a:prstClr val="black"/>
              </a:solidFill>
            </a:endParaRPr>
          </a:p>
        </p:txBody>
      </p:sp>
      <p:sp>
        <p:nvSpPr>
          <p:cNvPr id="4104" name="页脚占位符 4103"/>
          <p:cNvSpPr>
            <a:spLocks noGrp="1"/>
          </p:cNvSpPr>
          <p:nvPr>
            <p:ph type="ftr" sz="quarter" idx="3"/>
          </p:nvPr>
        </p:nvSpPr>
        <p:spPr>
          <a:xfrm>
            <a:off x="4165600" y="6248400"/>
            <a:ext cx="3860800" cy="457200"/>
          </a:xfrm>
          <a:prstGeom prst="rect">
            <a:avLst/>
          </a:prstGeom>
          <a:noFill/>
          <a:ln w="9525">
            <a:noFill/>
          </a:ln>
        </p:spPr>
        <p:txBody>
          <a:bodyPr lIns="92075" tIns="46038" rIns="92075" bIns="46038" anchor="ctr"/>
          <a:lstStyle/>
          <a:p>
            <a:pPr fontAlgn="base"/>
            <a:endParaRPr lang="zh-CN" altLang="en-US" noProof="1">
              <a:solidFill>
                <a:prstClr val="black"/>
              </a:solidFill>
            </a:endParaRPr>
          </a:p>
        </p:txBody>
      </p:sp>
      <p:sp>
        <p:nvSpPr>
          <p:cNvPr id="4105" name="灯片编号占位符 4104"/>
          <p:cNvSpPr>
            <a:spLocks noGrp="1"/>
          </p:cNvSpPr>
          <p:nvPr>
            <p:ph type="sldNum" sz="quarter" idx="4"/>
          </p:nvPr>
        </p:nvSpPr>
        <p:spPr>
          <a:xfrm>
            <a:off x="8737600" y="6248400"/>
            <a:ext cx="2540000" cy="457200"/>
          </a:xfrm>
          <a:prstGeom prst="rect">
            <a:avLst/>
          </a:prstGeom>
          <a:noFill/>
          <a:ln w="9525">
            <a:noFill/>
          </a:ln>
        </p:spPr>
        <p:txBody>
          <a:bodyPr lIns="92075" tIns="46038" rIns="92075" bIns="46038" anchor="ctr"/>
          <a:lstStyle/>
          <a:p>
            <a:pPr fontAlgn="base"/>
            <a:fld id="{9A0DB2DC-4C9A-4742-B13C-FB6460FD3503}" type="slidenum">
              <a:rPr lang="en-US" altLang="zh-CN" noProof="1" dirty="0">
                <a:solidFill>
                  <a:prstClr val="black"/>
                </a:solidFill>
                <a:ea typeface="宋体" panose="02010600030101010101" pitchFamily="2" charset="-122"/>
                <a:cs typeface="+mn-ea"/>
              </a:rPr>
            </a:fld>
            <a:endParaRPr lang="zh-CN" altLang="en-US" noProof="1">
              <a:solidFill>
                <a:prstClr val="black"/>
              </a:solidFill>
            </a:endParaRPr>
          </a:p>
        </p:txBody>
      </p:sp>
    </p:spTree>
  </p:cSld>
  <p:clrMapOvr>
    <a:masterClrMapping/>
  </p:clrMapOvr>
  <p:timing>
    <p:tnLst>
      <p:par>
        <p:cTn id="1" dur="indefinite" restart="never" nodeType="tmRoot"/>
      </p:par>
    </p:tnLst>
  </p:timing>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lvl1pPr>
              <a:defRPr sz="36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914400" y="6248400"/>
            <a:ext cx="2540000" cy="457200"/>
          </a:xfrm>
          <a:prstGeom prst="rect">
            <a:avLst/>
          </a:prstGeom>
          <a:noFill/>
          <a:ln w="9525">
            <a:noFill/>
          </a:ln>
        </p:spPr>
        <p:txBody>
          <a:bodyPr lIns="92075" tIns="46038" rIns="92075" bIns="46038" anchor="ctr"/>
          <a:lstStyle/>
          <a:p>
            <a:pPr fontAlgn="base"/>
            <a:endParaRPr lang="zh-CN" altLang="en-US" noProof="1">
              <a:solidFill>
                <a:prstClr val="black"/>
              </a:solidFill>
            </a:endParaRPr>
          </a:p>
        </p:txBody>
      </p:sp>
      <p:sp>
        <p:nvSpPr>
          <p:cNvPr id="5" name="页脚占位符 4"/>
          <p:cNvSpPr>
            <a:spLocks noGrp="1"/>
          </p:cNvSpPr>
          <p:nvPr>
            <p:ph type="ftr" sz="quarter" idx="11"/>
          </p:nvPr>
        </p:nvSpPr>
        <p:spPr>
          <a:xfrm>
            <a:off x="4165600" y="6248400"/>
            <a:ext cx="3860800" cy="457200"/>
          </a:xfrm>
          <a:prstGeom prst="rect">
            <a:avLst/>
          </a:prstGeom>
          <a:noFill/>
          <a:ln w="9525">
            <a:noFill/>
          </a:ln>
        </p:spPr>
        <p:txBody>
          <a:bodyPr lIns="92075" tIns="46038" rIns="92075" bIns="46038" anchor="ctr"/>
          <a:lstStyle/>
          <a:p>
            <a:pPr fontAlgn="base"/>
            <a:endParaRPr lang="zh-CN" altLang="en-US" noProof="1">
              <a:solidFill>
                <a:prstClr val="black"/>
              </a:solidFill>
            </a:endParaRPr>
          </a:p>
        </p:txBody>
      </p:sp>
      <p:sp>
        <p:nvSpPr>
          <p:cNvPr id="6" name="灯片编号占位符 5"/>
          <p:cNvSpPr>
            <a:spLocks noGrp="1"/>
          </p:cNvSpPr>
          <p:nvPr>
            <p:ph type="sldNum" sz="quarter" idx="12"/>
          </p:nvPr>
        </p:nvSpPr>
        <p:spPr>
          <a:xfrm>
            <a:off x="8737600" y="6248400"/>
            <a:ext cx="2540000" cy="457200"/>
          </a:xfrm>
          <a:prstGeom prst="rect">
            <a:avLst/>
          </a:prstGeom>
          <a:noFill/>
          <a:ln w="9525">
            <a:noFill/>
          </a:ln>
        </p:spPr>
        <p:txBody>
          <a:bodyPr lIns="92075" tIns="46038" rIns="92075" bIns="46038" anchor="ctr"/>
          <a:lstStyle/>
          <a:p>
            <a:pPr fontAlgn="base"/>
            <a:fld id="{9A0DB2DC-4C9A-4742-B13C-FB6460FD3503}" type="slidenum">
              <a:rPr lang="en-US" altLang="zh-CN" noProof="1" dirty="0">
                <a:solidFill>
                  <a:prstClr val="black"/>
                </a:solidFill>
                <a:ea typeface="宋体" panose="02010600030101010101" pitchFamily="2" charset="-122"/>
                <a:cs typeface="+mn-ea"/>
              </a:rPr>
            </a:fld>
            <a:endParaRPr lang="zh-CN" altLang="en-US" noProof="1">
              <a:solidFill>
                <a:prstClr val="black"/>
              </a:solidFill>
            </a:endParaRPr>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914400" y="1981200"/>
            <a:ext cx="10363200" cy="4114800"/>
          </a:xfrm>
          <a:prstGeom prst="rect">
            <a:avLst/>
          </a:prstGeo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a:xfrm>
            <a:off x="914400" y="6248400"/>
            <a:ext cx="2540000" cy="457200"/>
          </a:xfrm>
          <a:prstGeom prst="rect">
            <a:avLst/>
          </a:prstGeom>
        </p:spPr>
        <p:txBody>
          <a:bodyPr/>
          <a:lstStyle/>
          <a:p>
            <a:pPr fontAlgn="base">
              <a:spcBef>
                <a:spcPct val="0"/>
              </a:spcBef>
              <a:spcAft>
                <a:spcPct val="0"/>
              </a:spcAft>
              <a:defRPr/>
            </a:pPr>
            <a:endParaRPr lang="en-US" altLang="zh-CN" sz="1400">
              <a:solidFill>
                <a:prstClr val="black"/>
              </a:solidFill>
            </a:endParaRPr>
          </a:p>
        </p:txBody>
      </p:sp>
      <p:sp>
        <p:nvSpPr>
          <p:cNvPr id="5" name="页脚占位符 4"/>
          <p:cNvSpPr>
            <a:spLocks noGrp="1"/>
          </p:cNvSpPr>
          <p:nvPr>
            <p:ph type="ftr" sz="quarter" idx="11"/>
          </p:nvPr>
        </p:nvSpPr>
        <p:spPr>
          <a:xfrm>
            <a:off x="4165600" y="6248400"/>
            <a:ext cx="3860800" cy="457200"/>
          </a:xfrm>
          <a:prstGeom prst="rect">
            <a:avLst/>
          </a:prstGeom>
        </p:spPr>
        <p:txBody>
          <a:bodyPr/>
          <a:lstStyle/>
          <a:p>
            <a:pPr algn="ctr" fontAlgn="base">
              <a:spcBef>
                <a:spcPct val="0"/>
              </a:spcBef>
              <a:spcAft>
                <a:spcPct val="0"/>
              </a:spcAft>
              <a:defRPr/>
            </a:pPr>
            <a:endParaRPr lang="en-US" altLang="zh-CN" sz="1400">
              <a:solidFill>
                <a:prstClr val="black"/>
              </a:solidFill>
            </a:endParaRPr>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p>
            <a:pPr fontAlgn="base"/>
            <a:fld id="{9A0DB2DC-4C9A-4742-B13C-FB6460FD3503}" type="slidenum">
              <a:rPr lang="en-US" altLang="zh-CN" noProof="1" dirty="0">
                <a:solidFill>
                  <a:prstClr val="black"/>
                </a:solidFill>
                <a:ea typeface="黑体" panose="02010609060101010101" pitchFamily="49" charset="-122"/>
              </a:rPr>
            </a:fld>
            <a:endParaRPr lang="en-US" altLang="zh-CN" noProof="1">
              <a:solidFill>
                <a:prstClr val="black"/>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2" Type="http://schemas.openxmlformats.org/officeDocument/2006/relationships/slideLayout" Target="../slideLayouts/slideLayout7.xml"/><Relationship Id="rId11" Type="http://schemas.openxmlformats.org/officeDocument/2006/relationships/tags" Target="../tags/tag15.xml"/><Relationship Id="rId10" Type="http://schemas.openxmlformats.org/officeDocument/2006/relationships/image" Target="../media/image10.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2" Type="http://schemas.openxmlformats.org/officeDocument/2006/relationships/slideLayout" Target="../slideLayouts/slideLayout7.xml"/><Relationship Id="rId11" Type="http://schemas.openxmlformats.org/officeDocument/2006/relationships/tags" Target="../tags/tag25.xml"/><Relationship Id="rId10" Type="http://schemas.openxmlformats.org/officeDocument/2006/relationships/image" Target="../media/image10.png"/><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12.jpeg"/><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6" Type="http://schemas.openxmlformats.org/officeDocument/2006/relationships/slideLayout" Target="../slideLayouts/slideLayout7.xml"/><Relationship Id="rId25" Type="http://schemas.openxmlformats.org/officeDocument/2006/relationships/tags" Target="../tags/tag49.xml"/><Relationship Id="rId24" Type="http://schemas.openxmlformats.org/officeDocument/2006/relationships/image" Target="../media/image10.png"/><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20.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7" Type="http://schemas.openxmlformats.org/officeDocument/2006/relationships/slideLayout" Target="../slideLayouts/slideLayout7.xml"/><Relationship Id="rId16" Type="http://schemas.openxmlformats.org/officeDocument/2006/relationships/tags" Target="../tags/tag64.xml"/><Relationship Id="rId15" Type="http://schemas.openxmlformats.org/officeDocument/2006/relationships/image" Target="../media/image10.png"/><Relationship Id="rId14" Type="http://schemas.openxmlformats.org/officeDocument/2006/relationships/tags" Target="../tags/tag63.xml"/><Relationship Id="rId13" Type="http://schemas.openxmlformats.org/officeDocument/2006/relationships/tags" Target="../tags/tag62.xml"/><Relationship Id="rId12" Type="http://schemas.openxmlformats.org/officeDocument/2006/relationships/tags" Target="../tags/tag61.xml"/><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tags" Target="../tags/tag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slideLayout" Target="../slideLayouts/slideLayout7.xml"/><Relationship Id="rId11" Type="http://schemas.openxmlformats.org/officeDocument/2006/relationships/tags" Target="../tags/tag74.xml"/><Relationship Id="rId10" Type="http://schemas.openxmlformats.org/officeDocument/2006/relationships/image" Target="../media/image10.png"/><Relationship Id="rId1" Type="http://schemas.openxmlformats.org/officeDocument/2006/relationships/tags" Target="../tags/tag6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5" Type="http://schemas.openxmlformats.org/officeDocument/2006/relationships/slideLayout" Target="../slideLayouts/slideLayout7.xml"/><Relationship Id="rId24" Type="http://schemas.openxmlformats.org/officeDocument/2006/relationships/tags" Target="../tags/tag97.xml"/><Relationship Id="rId23" Type="http://schemas.openxmlformats.org/officeDocument/2006/relationships/image" Target="../media/image10.png"/><Relationship Id="rId22" Type="http://schemas.openxmlformats.org/officeDocument/2006/relationships/tags" Target="../tags/tag96.xml"/><Relationship Id="rId21" Type="http://schemas.openxmlformats.org/officeDocument/2006/relationships/tags" Target="../tags/tag95.xml"/><Relationship Id="rId20" Type="http://schemas.openxmlformats.org/officeDocument/2006/relationships/tags" Target="../tags/tag94.xml"/><Relationship Id="rId2" Type="http://schemas.openxmlformats.org/officeDocument/2006/relationships/tags" Target="../tags/tag76.xml"/><Relationship Id="rId19" Type="http://schemas.openxmlformats.org/officeDocument/2006/relationships/tags" Target="../tags/tag93.xml"/><Relationship Id="rId18" Type="http://schemas.openxmlformats.org/officeDocument/2006/relationships/tags" Target="../tags/tag92.xml"/><Relationship Id="rId17" Type="http://schemas.openxmlformats.org/officeDocument/2006/relationships/tags" Target="../tags/tag91.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2049"/>
          <p:cNvSpPr>
            <a:spLocks noGrp="1"/>
          </p:cNvSpPr>
          <p:nvPr>
            <p:ph type="ctrTitle" sz="quarter" idx="4294967295"/>
          </p:nvPr>
        </p:nvSpPr>
        <p:spPr>
          <a:xfrm>
            <a:off x="2751931" y="1742169"/>
            <a:ext cx="6783387" cy="1154113"/>
          </a:xfrm>
          <a:prstGeom prst="rect">
            <a:avLst/>
          </a:prstGeom>
          <a:effectLst>
            <a:outerShdw blurRad="50800" dist="38100" dir="2700000" algn="tl" rotWithShape="0">
              <a:prstClr val="black">
                <a:alpha val="40000"/>
              </a:prstClr>
            </a:outerShdw>
          </a:effectLst>
        </p:spPr>
        <p:txBody>
          <a:bodyPr vert="horz" wrap="square" lIns="92075" tIns="46038" rIns="92075" bIns="46038" numCol="1" anchor="b" anchorCtr="0" compatLnSpc="1"/>
          <a:lstStyle/>
          <a:p>
            <a:pPr algn="ctr" fontAlgn="base">
              <a:lnSpc>
                <a:spcPct val="100000"/>
              </a:lnSpc>
              <a:spcAft>
                <a:spcPct val="0"/>
              </a:spcAft>
              <a:defRPr/>
            </a:pPr>
            <a:r>
              <a:rPr lang="en-US" altLang="zh-CN" sz="6000" b="1" dirty="0">
                <a:solidFill>
                  <a:srgbClr val="881DB3"/>
                </a:solidFill>
                <a:effectLst>
                  <a:outerShdw blurRad="38100" dist="38100" dir="2700000" algn="tl">
                    <a:srgbClr val="000000"/>
                  </a:outerShdw>
                </a:effectLst>
                <a:latin typeface="+mj-ea"/>
              </a:rPr>
              <a:t>《</a:t>
            </a:r>
            <a:r>
              <a:rPr lang="zh-CN" altLang="en-US" sz="6000" b="1" dirty="0">
                <a:solidFill>
                  <a:srgbClr val="881DB3"/>
                </a:solidFill>
                <a:effectLst>
                  <a:outerShdw blurRad="38100" dist="38100" dir="2700000" algn="tl">
                    <a:srgbClr val="000000"/>
                  </a:outerShdw>
                </a:effectLst>
                <a:latin typeface="+mj-ea"/>
              </a:rPr>
              <a:t>信息对抗技术</a:t>
            </a:r>
            <a:r>
              <a:rPr lang="en-US" altLang="zh-CN" sz="6000" b="1" dirty="0">
                <a:solidFill>
                  <a:srgbClr val="881DB3"/>
                </a:solidFill>
                <a:effectLst>
                  <a:outerShdw blurRad="38100" dist="38100" dir="2700000" algn="tl">
                    <a:srgbClr val="000000"/>
                  </a:outerShdw>
                </a:effectLst>
                <a:latin typeface="+mj-ea"/>
              </a:rPr>
              <a:t>》</a:t>
            </a:r>
            <a:br>
              <a:rPr lang="en-US" altLang="zh-CN" sz="6000" b="1" dirty="0">
                <a:solidFill>
                  <a:srgbClr val="FFFF00"/>
                </a:solidFill>
                <a:effectLst>
                  <a:outerShdw blurRad="38100" dist="38100" dir="2700000" algn="tl">
                    <a:srgbClr val="000000"/>
                  </a:outerShdw>
                </a:effectLst>
              </a:rPr>
            </a:br>
            <a:r>
              <a:rPr lang="zh-CN" altLang="en-US" sz="4000" dirty="0">
                <a:solidFill>
                  <a:schemeClr val="bg1"/>
                </a:solidFill>
                <a:effectLst>
                  <a:outerShdw blurRad="38100" dist="38100" dir="2700000" algn="tl">
                    <a:srgbClr val="000000"/>
                  </a:outerShdw>
                </a:effectLst>
                <a:ea typeface="隶书" panose="02010509060101010101" pitchFamily="49" charset="-122"/>
              </a:rPr>
              <a:t>电子讲稿</a:t>
            </a:r>
            <a:endParaRPr lang="zh-CN" altLang="en-US" sz="4000" dirty="0">
              <a:solidFill>
                <a:schemeClr val="bg1"/>
              </a:solidFill>
              <a:effectLst>
                <a:outerShdw blurRad="38100" dist="38100" dir="2700000" algn="tl">
                  <a:srgbClr val="000000"/>
                </a:outerShdw>
              </a:effectLst>
              <a:ea typeface="隶书" panose="02010509060101010101" pitchFamily="49" charset="-122"/>
            </a:endParaRPr>
          </a:p>
        </p:txBody>
      </p:sp>
      <p:sp>
        <p:nvSpPr>
          <p:cNvPr id="3075" name="文本框 2053"/>
          <p:cNvSpPr txBox="1"/>
          <p:nvPr/>
        </p:nvSpPr>
        <p:spPr>
          <a:xfrm>
            <a:off x="4622801" y="3739684"/>
            <a:ext cx="3041650" cy="2061210"/>
          </a:xfrm>
          <a:prstGeom prst="rect">
            <a:avLst/>
          </a:prstGeom>
          <a:noFill/>
          <a:ln w="9525">
            <a:noFill/>
          </a:ln>
        </p:spPr>
        <p:txBody>
          <a:bodyPr wrap="none">
            <a:spAutoFit/>
          </a:bodyPr>
          <a:lstStyle/>
          <a:p>
            <a:pPr algn="ctr"/>
            <a:r>
              <a:rPr lang="zh-CN" altLang="en-US" sz="3200" dirty="0">
                <a:latin typeface="Times New Roman" panose="02020603050405020304" pitchFamily="18" charset="0"/>
                <a:ea typeface="华文行楷" panose="02010800040101010101" pitchFamily="2" charset="-122"/>
              </a:rPr>
              <a:t>李朝晖</a:t>
            </a:r>
            <a:endParaRPr lang="zh-CN" altLang="en-US" sz="3200" dirty="0">
              <a:latin typeface="Times New Roman" panose="02020603050405020304" pitchFamily="18" charset="0"/>
              <a:ea typeface="华文行楷" panose="02010800040101010101" pitchFamily="2" charset="-122"/>
            </a:endParaRPr>
          </a:p>
          <a:p>
            <a:pPr algn="ctr"/>
            <a:endParaRPr lang="zh-CN" altLang="en-US" sz="2400" dirty="0">
              <a:latin typeface="Times New Roman" panose="02020603050405020304" pitchFamily="18" charset="0"/>
            </a:endParaRPr>
          </a:p>
          <a:p>
            <a:pPr algn="ctr"/>
            <a:r>
              <a:rPr lang="zh-CN" altLang="en-US" sz="2400" dirty="0">
                <a:latin typeface="+mn-ea"/>
              </a:rPr>
              <a:t>南开大学 网安学院</a:t>
            </a:r>
            <a:endParaRPr lang="zh-CN" altLang="en-US" sz="2400" dirty="0">
              <a:latin typeface="+mn-ea"/>
            </a:endParaRPr>
          </a:p>
          <a:p>
            <a:pPr algn="ctr"/>
            <a:r>
              <a:rPr lang="en-US" altLang="zh-CN" sz="2400" dirty="0" smtClean="0">
                <a:latin typeface="Times New Roman" panose="02020603050405020304" pitchFamily="18" charset="0"/>
              </a:rPr>
              <a:t>2026</a:t>
            </a:r>
            <a:endParaRPr lang="en-US" altLang="zh-CN" sz="2400" dirty="0">
              <a:latin typeface="Times New Roman" panose="02020603050405020304" pitchFamily="18" charset="0"/>
            </a:endParaRPr>
          </a:p>
          <a:p>
            <a:pPr algn="ctr"/>
            <a:r>
              <a:rPr lang="en-US" altLang="zh-CN" sz="2400" dirty="0" smtClean="0">
                <a:solidFill>
                  <a:schemeClr val="bg2">
                    <a:lumMod val="75000"/>
                  </a:schemeClr>
                </a:solidFill>
                <a:latin typeface="Times New Roman" panose="02020603050405020304" pitchFamily="18" charset="0"/>
              </a:rPr>
              <a:t>&lt;</a:t>
            </a:r>
            <a:r>
              <a:rPr lang="zh-CN" altLang="en-US" sz="2400" dirty="0" smtClean="0">
                <a:solidFill>
                  <a:schemeClr val="bg2">
                    <a:lumMod val="75000"/>
                  </a:schemeClr>
                </a:solidFill>
                <a:latin typeface="Times New Roman" panose="02020603050405020304" pitchFamily="18" charset="0"/>
              </a:rPr>
              <a:t>长江雨课堂 专用版</a:t>
            </a:r>
            <a:r>
              <a:rPr lang="en-US" altLang="zh-CN" sz="2400" dirty="0" smtClean="0">
                <a:solidFill>
                  <a:schemeClr val="bg2">
                    <a:lumMod val="75000"/>
                  </a:schemeClr>
                </a:solidFill>
                <a:latin typeface="Times New Roman" panose="02020603050405020304" pitchFamily="18" charset="0"/>
              </a:rPr>
              <a:t>&gt;</a:t>
            </a:r>
            <a:endParaRPr lang="zh-CN" altLang="en-US" sz="2400" dirty="0">
              <a:solidFill>
                <a:schemeClr val="bg2">
                  <a:lumMod val="75000"/>
                </a:schemeClr>
              </a:solidFill>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1116106" y="2605066"/>
            <a:ext cx="9950823" cy="3989295"/>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2125857" y="1320642"/>
            <a:ext cx="8015670" cy="1131209"/>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690" name="标题 114689"/>
          <p:cNvSpPr>
            <a:spLocks noGrp="1"/>
          </p:cNvSpPr>
          <p:nvPr>
            <p:ph type="title" idx="4294967295"/>
          </p:nvPr>
        </p:nvSpPr>
        <p:spPr>
          <a:xfrm>
            <a:off x="2521940" y="1370530"/>
            <a:ext cx="7273229" cy="1067876"/>
          </a:xfrm>
        </p:spPr>
        <p:txBody>
          <a:bodyPr vert="horz" lIns="92075" tIns="46038" rIns="92075" bIns="46038" rtlCol="0" anchor="ctr" anchorCtr="0">
            <a:noAutofit/>
          </a:bodyPr>
          <a:lstStyle/>
          <a:p>
            <a:pPr algn="ctr" fontAlgn="base">
              <a:spcAft>
                <a:spcPct val="0"/>
              </a:spcAft>
              <a:defRPr/>
            </a:pPr>
            <a:r>
              <a:rPr lang="en-US" altLang="zh-CN" sz="3200" b="0" spc="0" dirty="0" smtClean="0">
                <a:solidFill>
                  <a:schemeClr val="bg1"/>
                </a:solidFill>
                <a:effectLst>
                  <a:outerShdw blurRad="38100" dist="38100" dir="2700000">
                    <a:srgbClr val="000000"/>
                  </a:outerShdw>
                </a:effectLst>
              </a:rPr>
              <a:t>《</a:t>
            </a:r>
            <a:r>
              <a:rPr lang="zh-CN" altLang="en-US" sz="3200" b="0" spc="0" dirty="0">
                <a:solidFill>
                  <a:schemeClr val="bg1"/>
                </a:solidFill>
                <a:effectLst>
                  <a:outerShdw blurRad="38100" dist="38100" dir="2700000">
                    <a:srgbClr val="000000"/>
                  </a:outerShdw>
                </a:effectLst>
              </a:rPr>
              <a:t>网络信息对抗</a:t>
            </a:r>
            <a:r>
              <a:rPr lang="en-US" altLang="zh-CN" sz="3200" b="0" spc="0" dirty="0">
                <a:solidFill>
                  <a:schemeClr val="bg1"/>
                </a:solidFill>
                <a:effectLst>
                  <a:outerShdw blurRad="38100" dist="38100" dir="2700000">
                    <a:srgbClr val="000000"/>
                  </a:outerShdw>
                </a:effectLst>
              </a:rPr>
              <a:t>》</a:t>
            </a:r>
            <a:r>
              <a:rPr lang="zh-CN" altLang="en-US" sz="3200" b="0" spc="0" dirty="0">
                <a:solidFill>
                  <a:schemeClr val="bg1"/>
                </a:solidFill>
                <a:effectLst>
                  <a:outerShdw blurRad="38100" dist="38100" dir="2700000">
                    <a:srgbClr val="000000"/>
                  </a:outerShdw>
                </a:effectLst>
              </a:rPr>
              <a:t>（第</a:t>
            </a:r>
            <a:r>
              <a:rPr lang="en-US" altLang="zh-CN" sz="3200" b="0" spc="0" dirty="0">
                <a:solidFill>
                  <a:schemeClr val="bg1"/>
                </a:solidFill>
                <a:effectLst>
                  <a:outerShdw blurRad="38100" dist="38100" dir="2700000">
                    <a:srgbClr val="000000"/>
                  </a:outerShdw>
                </a:effectLst>
              </a:rPr>
              <a:t>2</a:t>
            </a:r>
            <a:r>
              <a:rPr lang="zh-CN" altLang="en-US" sz="3200" b="0" spc="0" dirty="0">
                <a:solidFill>
                  <a:schemeClr val="bg1"/>
                </a:solidFill>
                <a:effectLst>
                  <a:outerShdw blurRad="38100" dist="38100" dir="2700000">
                    <a:srgbClr val="000000"/>
                  </a:outerShdw>
                </a:effectLst>
              </a:rPr>
              <a:t>版）肖军模 </a:t>
            </a:r>
            <a:r>
              <a:rPr lang="zh-CN" altLang="en-US" sz="3200" b="0" spc="0" dirty="0" smtClean="0">
                <a:solidFill>
                  <a:schemeClr val="bg1"/>
                </a:solidFill>
                <a:effectLst>
                  <a:outerShdw blurRad="38100" dist="38100" dir="2700000">
                    <a:srgbClr val="000000"/>
                  </a:outerShdw>
                </a:effectLst>
              </a:rPr>
              <a:t>，</a:t>
            </a:r>
            <a:br>
              <a:rPr lang="en-US" altLang="zh-CN" sz="3200" dirty="0">
                <a:solidFill>
                  <a:schemeClr val="bg1"/>
                </a:solidFill>
                <a:effectLst>
                  <a:outerShdw blurRad="38100" dist="38100" dir="2700000">
                    <a:srgbClr val="000000"/>
                  </a:outerShdw>
                </a:effectLst>
              </a:rPr>
            </a:br>
            <a:r>
              <a:rPr lang="zh-CN" altLang="en-US" sz="2400" b="0" spc="0" dirty="0" smtClean="0">
                <a:solidFill>
                  <a:schemeClr val="bg1"/>
                </a:solidFill>
                <a:effectLst>
                  <a:outerShdw blurRad="38100" dist="38100" dir="2700000">
                    <a:srgbClr val="000000"/>
                  </a:outerShdw>
                </a:effectLst>
              </a:rPr>
              <a:t>机械</a:t>
            </a:r>
            <a:r>
              <a:rPr lang="zh-CN" altLang="en-US" sz="2400" b="0" spc="0" dirty="0">
                <a:solidFill>
                  <a:schemeClr val="bg1"/>
                </a:solidFill>
                <a:effectLst>
                  <a:outerShdw blurRad="38100" dist="38100" dir="2700000">
                    <a:srgbClr val="000000"/>
                  </a:outerShdw>
                </a:effectLst>
              </a:rPr>
              <a:t>工业出版社，北京，</a:t>
            </a:r>
            <a:r>
              <a:rPr lang="en-US" altLang="zh-CN" sz="2400" b="0" spc="0" dirty="0">
                <a:solidFill>
                  <a:schemeClr val="bg1"/>
                </a:solidFill>
                <a:effectLst>
                  <a:outerShdw blurRad="38100" dist="38100" dir="2700000">
                    <a:srgbClr val="000000"/>
                  </a:outerShdw>
                </a:effectLst>
              </a:rPr>
              <a:t>2011.5 </a:t>
            </a:r>
            <a:r>
              <a:rPr lang="zh-CN" altLang="en-US" sz="2400" b="0" spc="0" dirty="0">
                <a:solidFill>
                  <a:schemeClr val="bg1"/>
                </a:solidFill>
                <a:effectLst>
                  <a:outerShdw blurRad="38100" dist="38100" dir="2700000">
                    <a:srgbClr val="000000"/>
                  </a:outerShdw>
                </a:effectLst>
              </a:rPr>
              <a:t>。</a:t>
            </a:r>
            <a:endParaRPr lang="zh-CN" altLang="en-US" sz="2400" b="0" spc="0" dirty="0">
              <a:solidFill>
                <a:schemeClr val="bg1"/>
              </a:solidFill>
              <a:effectLst>
                <a:outerShdw blurRad="38100" dist="38100" dir="2700000">
                  <a:srgbClr val="000000"/>
                </a:outerShdw>
              </a:effectLst>
            </a:endParaRPr>
          </a:p>
        </p:txBody>
      </p:sp>
      <p:sp>
        <p:nvSpPr>
          <p:cNvPr id="4099" name="文本占位符 114690"/>
          <p:cNvSpPr>
            <a:spLocks noGrp="1"/>
          </p:cNvSpPr>
          <p:nvPr>
            <p:ph idx="4294967295"/>
          </p:nvPr>
        </p:nvSpPr>
        <p:spPr>
          <a:xfrm>
            <a:off x="1510557" y="2748153"/>
            <a:ext cx="9641541" cy="3671887"/>
          </a:xfrm>
          <a:solidFill>
            <a:schemeClr val="accent2">
              <a:lumMod val="40000"/>
              <a:lumOff val="60000"/>
            </a:schemeClr>
          </a:solidFill>
        </p:spPr>
        <p:txBody>
          <a:bodyPr vert="horz" wrap="square" lIns="91440" tIns="45720" rIns="91440" bIns="45720" rtlCol="0" anchor="t">
            <a:noAutofit/>
          </a:bodyPr>
          <a:lstStyle/>
          <a:p>
            <a:pPr eaLnBrk="1" hangingPunct="1">
              <a:lnSpc>
                <a:spcPct val="80000"/>
              </a:lnSpc>
              <a:buNone/>
            </a:pPr>
            <a:r>
              <a:rPr lang="zh-CN" altLang="en-US" sz="2200" dirty="0"/>
              <a:t>参考书：</a:t>
            </a:r>
            <a:endParaRPr lang="zh-CN" altLang="en-US" sz="2200" dirty="0"/>
          </a:p>
          <a:p>
            <a:pPr marL="0" indent="0" eaLnBrk="1" hangingPunct="1">
              <a:lnSpc>
                <a:spcPct val="80000"/>
              </a:lnSpc>
              <a:buNone/>
            </a:pPr>
            <a:r>
              <a:rPr lang="en-US" altLang="zh-CN" sz="2000" dirty="0" smtClean="0"/>
              <a:t>1</a:t>
            </a:r>
            <a:r>
              <a:rPr lang="zh-CN" altLang="en-US" sz="2000" dirty="0" smtClean="0"/>
              <a:t>、</a:t>
            </a:r>
            <a:r>
              <a:rPr lang="zh-CN" altLang="en-US" sz="2000" dirty="0"/>
              <a:t>《网络信息安全与对抗（第</a:t>
            </a:r>
            <a:r>
              <a:rPr lang="zh-CN" altLang="zh-CN" sz="2000" dirty="0"/>
              <a:t>2</a:t>
            </a:r>
            <a:r>
              <a:rPr lang="zh-CN" altLang="en-US" sz="2000" dirty="0"/>
              <a:t>版）</a:t>
            </a:r>
            <a:r>
              <a:rPr lang="zh-CN" altLang="zh-CN" sz="2000" dirty="0"/>
              <a:t>》</a:t>
            </a:r>
            <a:r>
              <a:rPr lang="zh-CN" altLang="en-US" sz="2000" dirty="0"/>
              <a:t>罗森林</a:t>
            </a:r>
            <a:r>
              <a:rPr lang="zh-CN" altLang="zh-CN" sz="2000" dirty="0"/>
              <a:t>，</a:t>
            </a:r>
            <a:r>
              <a:rPr lang="zh-CN" altLang="en-US" sz="2000" dirty="0"/>
              <a:t>国防工业出版社</a:t>
            </a:r>
            <a:r>
              <a:rPr lang="zh-CN" altLang="zh-CN" sz="2000" dirty="0"/>
              <a:t>，2016</a:t>
            </a:r>
            <a:r>
              <a:rPr lang="en-US" altLang="zh-CN" sz="2000" dirty="0"/>
              <a:t>.</a:t>
            </a:r>
            <a:r>
              <a:rPr lang="zh-CN" altLang="zh-CN" sz="2000" dirty="0"/>
              <a:t>1</a:t>
            </a:r>
            <a:r>
              <a:rPr lang="en-US" altLang="zh-CN" sz="2000" dirty="0" smtClean="0"/>
              <a:t>;</a:t>
            </a:r>
            <a:endParaRPr lang="en-US" altLang="zh-CN" sz="2000" dirty="0" smtClean="0"/>
          </a:p>
          <a:p>
            <a:pPr marL="0" indent="0" eaLnBrk="1" hangingPunct="1">
              <a:lnSpc>
                <a:spcPct val="80000"/>
              </a:lnSpc>
              <a:buNone/>
            </a:pPr>
            <a:r>
              <a:rPr lang="en-US" altLang="zh-CN" sz="2000" dirty="0" smtClean="0"/>
              <a:t>2</a:t>
            </a:r>
            <a:r>
              <a:rPr lang="zh-CN" altLang="en-US" sz="2000" dirty="0" smtClean="0"/>
              <a:t>、</a:t>
            </a:r>
            <a:r>
              <a:rPr lang="en-US" altLang="zh-CN" sz="2000" dirty="0" smtClean="0"/>
              <a:t>《</a:t>
            </a:r>
            <a:r>
              <a:rPr lang="zh-CN" altLang="en-US" sz="2000" dirty="0" smtClean="0"/>
              <a:t>信息对抗技术原理与应用</a:t>
            </a:r>
            <a:r>
              <a:rPr lang="en-US" altLang="zh-CN" sz="2000" dirty="0" smtClean="0"/>
              <a:t>》</a:t>
            </a:r>
            <a:r>
              <a:rPr lang="zh-CN" altLang="en-US" sz="2000" dirty="0" smtClean="0"/>
              <a:t>侯煜冠，哈尔滨工业大学出版社，</a:t>
            </a:r>
            <a:r>
              <a:rPr lang="en-US" altLang="zh-CN" sz="2000" dirty="0" smtClean="0"/>
              <a:t>2020.6.</a:t>
            </a:r>
            <a:r>
              <a:rPr lang="zh-CN" altLang="en-US" sz="2000" dirty="0" smtClean="0"/>
              <a:t>；</a:t>
            </a:r>
            <a:endParaRPr lang="zh-CN" altLang="zh-CN" sz="2000" dirty="0"/>
          </a:p>
          <a:p>
            <a:pPr marL="0" indent="0" eaLnBrk="1" hangingPunct="1">
              <a:lnSpc>
                <a:spcPct val="80000"/>
              </a:lnSpc>
              <a:buNone/>
            </a:pPr>
            <a:r>
              <a:rPr lang="en-US" altLang="zh-CN" sz="2000" dirty="0" smtClean="0"/>
              <a:t>3</a:t>
            </a:r>
            <a:r>
              <a:rPr lang="zh-CN" altLang="zh-CN" sz="2000" dirty="0" smtClean="0"/>
              <a:t>、</a:t>
            </a:r>
            <a:r>
              <a:rPr lang="zh-CN" altLang="zh-CN" sz="2000" dirty="0" smtClean="0"/>
              <a:t>《</a:t>
            </a:r>
            <a:r>
              <a:rPr lang="zh-CN" altLang="en-US" sz="2000" dirty="0" smtClean="0"/>
              <a:t>信息对抗理论与方法（第</a:t>
            </a:r>
            <a:r>
              <a:rPr lang="en-US" altLang="zh-CN" sz="2000" dirty="0" smtClean="0"/>
              <a:t>2</a:t>
            </a:r>
            <a:r>
              <a:rPr lang="zh-CN" altLang="en-US" sz="2000" dirty="0" smtClean="0"/>
              <a:t>版）</a:t>
            </a:r>
            <a:r>
              <a:rPr lang="zh-CN" altLang="zh-CN" sz="2000" dirty="0" smtClean="0"/>
              <a:t>》</a:t>
            </a:r>
            <a:r>
              <a:rPr lang="zh-CN" altLang="en-US" sz="2000" dirty="0"/>
              <a:t>付钰、吴晓平</a:t>
            </a:r>
            <a:r>
              <a:rPr lang="zh-CN" altLang="zh-CN" sz="2000" dirty="0"/>
              <a:t>等，</a:t>
            </a:r>
            <a:r>
              <a:rPr lang="zh-CN" altLang="en-US" sz="2000" dirty="0"/>
              <a:t>武汉大学出版社</a:t>
            </a:r>
            <a:r>
              <a:rPr lang="zh-CN" altLang="zh-CN" sz="2000" dirty="0" smtClean="0"/>
              <a:t>，</a:t>
            </a:r>
            <a:r>
              <a:rPr lang="en-US" altLang="zh-CN" sz="2000" dirty="0" smtClean="0"/>
              <a:t>   </a:t>
            </a:r>
            <a:endParaRPr lang="en-US" altLang="zh-CN" sz="2000" dirty="0" smtClean="0"/>
          </a:p>
          <a:p>
            <a:pPr marL="0" indent="0" eaLnBrk="1" hangingPunct="1">
              <a:lnSpc>
                <a:spcPct val="80000"/>
              </a:lnSpc>
              <a:buNone/>
            </a:pPr>
            <a:r>
              <a:rPr lang="en-US" altLang="zh-CN" sz="2000" dirty="0"/>
              <a:t> </a:t>
            </a:r>
            <a:r>
              <a:rPr lang="en-US" altLang="zh-CN" sz="2000" dirty="0" smtClean="0"/>
              <a:t>       </a:t>
            </a:r>
            <a:r>
              <a:rPr lang="zh-CN" altLang="zh-CN" sz="2000" dirty="0" smtClean="0"/>
              <a:t>2016</a:t>
            </a:r>
            <a:r>
              <a:rPr lang="en-US" altLang="zh-CN" sz="2000" dirty="0"/>
              <a:t>.</a:t>
            </a:r>
            <a:r>
              <a:rPr lang="zh-CN" altLang="zh-CN" sz="2000" dirty="0"/>
              <a:t>7</a:t>
            </a:r>
            <a:r>
              <a:rPr lang="en-US" altLang="zh-CN" sz="2000" dirty="0" smtClean="0"/>
              <a:t>;</a:t>
            </a:r>
            <a:endParaRPr lang="en-US" altLang="zh-CN" sz="2000" dirty="0" smtClean="0"/>
          </a:p>
          <a:p>
            <a:pPr marL="0" indent="0" eaLnBrk="1" hangingPunct="1">
              <a:lnSpc>
                <a:spcPct val="80000"/>
              </a:lnSpc>
              <a:buNone/>
            </a:pPr>
            <a:r>
              <a:rPr lang="en-US" altLang="zh-CN" sz="2000" dirty="0" smtClean="0"/>
              <a:t>4</a:t>
            </a:r>
            <a:r>
              <a:rPr lang="zh-CN" altLang="en-US" sz="2000" dirty="0"/>
              <a:t>、</a:t>
            </a:r>
            <a:r>
              <a:rPr lang="en-US" altLang="zh-CN" sz="2000" dirty="0"/>
              <a:t>《Information Warfare Principles and Operations》Edward Waltz</a:t>
            </a:r>
            <a:r>
              <a:rPr lang="zh-CN" altLang="en-US" sz="2000" dirty="0"/>
              <a:t>，</a:t>
            </a:r>
            <a:r>
              <a:rPr lang="en-US" altLang="zh-CN" sz="2000" dirty="0" err="1"/>
              <a:t>Artech</a:t>
            </a:r>
            <a:r>
              <a:rPr lang="en-US" altLang="zh-CN" sz="2000" dirty="0"/>
              <a:t> </a:t>
            </a:r>
            <a:endParaRPr lang="en-US" altLang="zh-CN" sz="2000" dirty="0" smtClean="0"/>
          </a:p>
          <a:p>
            <a:pPr marL="0" indent="0" eaLnBrk="1" hangingPunct="1">
              <a:lnSpc>
                <a:spcPct val="80000"/>
              </a:lnSpc>
              <a:buNone/>
            </a:pPr>
            <a:r>
              <a:rPr lang="en-US" altLang="zh-CN" sz="2000" dirty="0"/>
              <a:t> </a:t>
            </a:r>
            <a:r>
              <a:rPr lang="en-US" altLang="zh-CN" sz="2000" dirty="0" smtClean="0"/>
              <a:t>       House</a:t>
            </a:r>
            <a:r>
              <a:rPr lang="zh-CN" altLang="en-US" sz="2000" dirty="0"/>
              <a:t>，</a:t>
            </a:r>
            <a:r>
              <a:rPr lang="en-US" altLang="zh-CN" sz="2000" dirty="0"/>
              <a:t>1998</a:t>
            </a:r>
            <a:r>
              <a:rPr lang="zh-CN" altLang="en-US" sz="2000" dirty="0"/>
              <a:t>；</a:t>
            </a:r>
            <a:endParaRPr lang="zh-CN" altLang="en-US" sz="2000" dirty="0"/>
          </a:p>
          <a:p>
            <a:pPr marL="0" indent="0" eaLnBrk="1" hangingPunct="1">
              <a:lnSpc>
                <a:spcPct val="80000"/>
              </a:lnSpc>
              <a:buNone/>
            </a:pPr>
            <a:r>
              <a:rPr lang="en-US" altLang="zh-CN" sz="2000" dirty="0" smtClean="0">
                <a:sym typeface="黑体" panose="02010609060101010101" pitchFamily="49" charset="-122"/>
              </a:rPr>
              <a:t>5</a:t>
            </a:r>
            <a:r>
              <a:rPr lang="zh-CN" altLang="en-US" sz="2000" dirty="0" smtClean="0">
                <a:sym typeface="黑体" panose="02010609060101010101" pitchFamily="49" charset="-122"/>
              </a:rPr>
              <a:t>、</a:t>
            </a:r>
            <a:r>
              <a:rPr lang="en-US" altLang="zh-CN" sz="2000" dirty="0">
                <a:sym typeface="黑体" panose="02010609060101010101" pitchFamily="49" charset="-122"/>
              </a:rPr>
              <a:t>《</a:t>
            </a:r>
            <a:r>
              <a:rPr lang="zh-CN" altLang="en-US" sz="2000" dirty="0">
                <a:sym typeface="黑体" panose="02010609060101010101" pitchFamily="49" charset="-122"/>
              </a:rPr>
              <a:t>信息系统与安全对抗理论</a:t>
            </a:r>
            <a:r>
              <a:rPr lang="en-US" altLang="zh-CN" sz="2000" dirty="0">
                <a:sym typeface="黑体" panose="02010609060101010101" pitchFamily="49" charset="-122"/>
              </a:rPr>
              <a:t>》</a:t>
            </a:r>
            <a:r>
              <a:rPr lang="zh-CN" altLang="en-US" sz="2000" dirty="0">
                <a:sym typeface="黑体" panose="02010609060101010101" pitchFamily="49" charset="-122"/>
              </a:rPr>
              <a:t>王越等</a:t>
            </a:r>
            <a:r>
              <a:rPr lang="zh-CN" altLang="en-US" sz="2000" dirty="0" smtClean="0">
                <a:sym typeface="黑体" panose="02010609060101010101" pitchFamily="49" charset="-122"/>
              </a:rPr>
              <a:t>，北京理工大学出版社</a:t>
            </a:r>
            <a:r>
              <a:rPr lang="zh-CN" altLang="en-US" sz="2000" dirty="0">
                <a:sym typeface="黑体" panose="02010609060101010101" pitchFamily="49" charset="-122"/>
              </a:rPr>
              <a:t>，北京，</a:t>
            </a:r>
            <a:r>
              <a:rPr lang="en-US" altLang="zh-CN" sz="2000" dirty="0">
                <a:sym typeface="黑体" panose="02010609060101010101" pitchFamily="49" charset="-122"/>
              </a:rPr>
              <a:t>2006.1</a:t>
            </a:r>
            <a:r>
              <a:rPr lang="zh-CN" altLang="en-US" sz="2000" dirty="0">
                <a:sym typeface="黑体" panose="02010609060101010101" pitchFamily="49" charset="-122"/>
              </a:rPr>
              <a:t>；</a:t>
            </a:r>
            <a:endParaRPr lang="zh-CN" altLang="en-US" sz="2000" dirty="0"/>
          </a:p>
          <a:p>
            <a:pPr eaLnBrk="1" hangingPunct="1">
              <a:lnSpc>
                <a:spcPct val="80000"/>
              </a:lnSpc>
            </a:pPr>
            <a:endParaRPr lang="en-US" altLang="zh-CN" sz="2200" dirty="0"/>
          </a:p>
        </p:txBody>
      </p:sp>
      <p:grpSp>
        <p:nvGrpSpPr>
          <p:cNvPr id="6" name="组合 5"/>
          <p:cNvGrpSpPr/>
          <p:nvPr/>
        </p:nvGrpSpPr>
        <p:grpSpPr>
          <a:xfrm>
            <a:off x="4321469" y="336607"/>
            <a:ext cx="2716640" cy="791052"/>
            <a:chOff x="824072" y="1564267"/>
            <a:chExt cx="2716640" cy="791052"/>
          </a:xfrm>
        </p:grpSpPr>
        <p:sp>
          <p:nvSpPr>
            <p:cNvPr id="7" name="矩形: 圆角 28"/>
            <p:cNvSpPr/>
            <p:nvPr/>
          </p:nvSpPr>
          <p:spPr>
            <a:xfrm>
              <a:off x="824072" y="1740416"/>
              <a:ext cx="2716640"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701522" y="1800381"/>
              <a:ext cx="1518364" cy="535531"/>
            </a:xfrm>
            <a:prstGeom prst="rect">
              <a:avLst/>
            </a:prstGeom>
          </p:spPr>
          <p:txBody>
            <a:bodyPr wrap="none">
              <a:spAutoFit/>
            </a:bodyPr>
            <a:lstStyle/>
            <a:p>
              <a:pPr>
                <a:lnSpc>
                  <a:spcPct val="90000"/>
                </a:lnSpc>
              </a:pPr>
              <a:r>
                <a:rPr lang="zh-CN" altLang="en-US" sz="3200" dirty="0" smtClean="0">
                  <a:solidFill>
                    <a:schemeClr val="bg1"/>
                  </a:solidFill>
                  <a:effectLst>
                    <a:outerShdw blurRad="38100" dist="38100" dir="2700000">
                      <a:srgbClr val="000000"/>
                    </a:outerShdw>
                  </a:effectLst>
                </a:rPr>
                <a:t>  教   材</a:t>
              </a:r>
              <a:endParaRPr lang="zh-CN" altLang="en-US" sz="3200" dirty="0">
                <a:solidFill>
                  <a:schemeClr val="bg1"/>
                </a:solidFill>
                <a:latin typeface="+mj-ea"/>
                <a:ea typeface="+mj-ea"/>
              </a:endParaRPr>
            </a:p>
          </p:txBody>
        </p:sp>
        <p:pic>
          <p:nvPicPr>
            <p:cNvPr id="9" name="图片 8"/>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图片 121863"/>
          <p:cNvPicPr>
            <a:picLocks noChangeAspect="1"/>
          </p:cNvPicPr>
          <p:nvPr/>
        </p:nvPicPr>
        <p:blipFill rotWithShape="1">
          <a:blip r:embed="rId1"/>
          <a:srcRect l="12943" t="23674" r="12945" b="11742"/>
          <a:stretch>
            <a:fillRect/>
          </a:stretch>
        </p:blipFill>
        <p:spPr>
          <a:xfrm>
            <a:off x="1108364" y="1454733"/>
            <a:ext cx="9642763" cy="4724400"/>
          </a:xfrm>
          <a:prstGeom prst="rect">
            <a:avLst/>
          </a:prstGeom>
          <a:noFill/>
          <a:ln w="9525">
            <a:noFill/>
          </a:ln>
        </p:spPr>
      </p:pic>
      <p:grpSp>
        <p:nvGrpSpPr>
          <p:cNvPr id="4" name="组合 3"/>
          <p:cNvGrpSpPr/>
          <p:nvPr/>
        </p:nvGrpSpPr>
        <p:grpSpPr>
          <a:xfrm>
            <a:off x="4321469" y="336607"/>
            <a:ext cx="3216552" cy="791052"/>
            <a:chOff x="824072" y="1564267"/>
            <a:chExt cx="3216552" cy="791052"/>
          </a:xfrm>
        </p:grpSpPr>
        <p:sp>
          <p:nvSpPr>
            <p:cNvPr id="5" name="矩形: 圆角 28"/>
            <p:cNvSpPr/>
            <p:nvPr/>
          </p:nvSpPr>
          <p:spPr>
            <a:xfrm>
              <a:off x="824072" y="1740416"/>
              <a:ext cx="321655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339102" cy="480131"/>
            </a:xfrm>
            <a:prstGeom prst="rect">
              <a:avLst/>
            </a:prstGeom>
          </p:spPr>
          <p:txBody>
            <a:bodyPr wrap="none">
              <a:spAutoFit/>
            </a:bodyPr>
            <a:lstStyle/>
            <a:p>
              <a:pPr>
                <a:lnSpc>
                  <a:spcPct val="90000"/>
                </a:lnSpc>
              </a:pPr>
              <a:r>
                <a:rPr lang="zh-CN" altLang="en-US" sz="2800" dirty="0">
                  <a:solidFill>
                    <a:schemeClr val="bg1"/>
                  </a:solidFill>
                  <a:latin typeface="+mj-ea"/>
                  <a:ea typeface="+mj-ea"/>
                </a:rPr>
                <a:t>破解邮箱</a:t>
              </a:r>
              <a:r>
                <a:rPr lang="zh-CN" altLang="en-US" sz="2800" dirty="0" smtClean="0">
                  <a:solidFill>
                    <a:schemeClr val="bg1"/>
                  </a:solidFill>
                  <a:latin typeface="+mj-ea"/>
                  <a:ea typeface="+mj-ea"/>
                </a:rPr>
                <a:t>密码</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3073"/>
          <p:cNvSpPr>
            <a:spLocks noGrp="1"/>
          </p:cNvSpPr>
          <p:nvPr>
            <p:ph type="title" idx="4294967295"/>
          </p:nvPr>
        </p:nvSpPr>
        <p:spPr>
          <a:xfrm>
            <a:off x="-134471" y="956235"/>
            <a:ext cx="10852150" cy="647700"/>
          </a:xfrm>
        </p:spPr>
        <p:txBody>
          <a:bodyPr vert="horz" lIns="92075" tIns="46038" rIns="92075" bIns="46038" rtlCol="0" anchor="ctr" anchorCtr="0">
            <a:noAutofit/>
          </a:bodyPr>
          <a:lstStyle/>
          <a:p>
            <a:pPr algn="ctr" fontAlgn="base">
              <a:spcAft>
                <a:spcPct val="0"/>
              </a:spcAft>
              <a:defRPr/>
            </a:pPr>
            <a:r>
              <a:rPr lang="zh-CN" altLang="en-US" sz="4400" b="0" spc="0" dirty="0">
                <a:solidFill>
                  <a:schemeClr val="tx2"/>
                </a:solidFill>
                <a:effectLst>
                  <a:outerShdw blurRad="38100" dist="38100" dir="2700000">
                    <a:srgbClr val="000000"/>
                  </a:outerShdw>
                </a:effectLst>
              </a:rPr>
              <a:t>本书内容安排</a:t>
            </a:r>
            <a:endParaRPr lang="zh-CN" altLang="en-US" sz="4400" b="0" spc="0" dirty="0">
              <a:solidFill>
                <a:schemeClr val="tx2"/>
              </a:solidFill>
              <a:effectLst>
                <a:outerShdw blurRad="38100" dist="38100" dir="2700000">
                  <a:srgbClr val="000000"/>
                </a:outerShdw>
              </a:effectLst>
            </a:endParaRPr>
          </a:p>
        </p:txBody>
      </p:sp>
      <p:sp>
        <p:nvSpPr>
          <p:cNvPr id="6147" name="文本占位符 3074"/>
          <p:cNvSpPr>
            <a:spLocks noGrp="1"/>
          </p:cNvSpPr>
          <p:nvPr>
            <p:ph idx="4294967295"/>
          </p:nvPr>
        </p:nvSpPr>
        <p:spPr>
          <a:xfrm>
            <a:off x="3388659" y="1954305"/>
            <a:ext cx="6877559" cy="3384177"/>
          </a:xfrm>
        </p:spPr>
        <p:txBody>
          <a:bodyPr vert="horz" wrap="square" lIns="91440" tIns="45720" rIns="91440" bIns="45720" rtlCol="0" anchor="t">
            <a:noAutofit/>
          </a:bodyPr>
          <a:lstStyle/>
          <a:p>
            <a:pPr eaLnBrk="1" hangingPunct="1"/>
            <a:r>
              <a:rPr lang="zh-CN" altLang="en-US" dirty="0"/>
              <a:t>第</a:t>
            </a:r>
            <a:r>
              <a:rPr lang="en-US" altLang="zh-CN" dirty="0"/>
              <a:t>1</a:t>
            </a:r>
            <a:r>
              <a:rPr lang="zh-CN" altLang="en-US" dirty="0"/>
              <a:t>章  概述 </a:t>
            </a:r>
            <a:endParaRPr lang="zh-CN" altLang="en-US" dirty="0"/>
          </a:p>
          <a:p>
            <a:pPr eaLnBrk="1" hangingPunct="1"/>
            <a:r>
              <a:rPr lang="zh-CN" altLang="en-US" dirty="0"/>
              <a:t>第</a:t>
            </a:r>
            <a:r>
              <a:rPr lang="en-US" altLang="zh-CN" dirty="0"/>
              <a:t>2</a:t>
            </a:r>
            <a:r>
              <a:rPr lang="zh-CN" altLang="en-US" dirty="0"/>
              <a:t>章  理解</a:t>
            </a:r>
            <a:r>
              <a:rPr lang="en-US" altLang="zh-CN" dirty="0"/>
              <a:t>TCP/IP </a:t>
            </a:r>
            <a:endParaRPr lang="en-US" altLang="zh-CN" dirty="0"/>
          </a:p>
          <a:p>
            <a:pPr eaLnBrk="1" hangingPunct="1"/>
            <a:r>
              <a:rPr lang="zh-CN" altLang="en-US" dirty="0"/>
              <a:t>第</a:t>
            </a:r>
            <a:r>
              <a:rPr lang="en-US" altLang="zh-CN" dirty="0"/>
              <a:t>3</a:t>
            </a:r>
            <a:r>
              <a:rPr lang="zh-CN" altLang="en-US" dirty="0"/>
              <a:t>章  安全性分析与风险评估 </a:t>
            </a:r>
            <a:endParaRPr lang="zh-CN" altLang="en-US" dirty="0"/>
          </a:p>
          <a:p>
            <a:pPr eaLnBrk="1" hangingPunct="1"/>
            <a:r>
              <a:rPr lang="zh-CN" altLang="en-US" dirty="0"/>
              <a:t>第</a:t>
            </a:r>
            <a:r>
              <a:rPr lang="en-US" altLang="zh-CN" dirty="0" smtClean="0"/>
              <a:t>4</a:t>
            </a:r>
            <a:r>
              <a:rPr lang="zh-CN" altLang="en-US" dirty="0" smtClean="0"/>
              <a:t>章  </a:t>
            </a:r>
            <a:r>
              <a:rPr lang="zh-CN" altLang="en-US" dirty="0"/>
              <a:t>网络</a:t>
            </a:r>
            <a:r>
              <a:rPr lang="zh-CN" altLang="en-US" dirty="0" smtClean="0"/>
              <a:t>攻击</a:t>
            </a:r>
            <a:endParaRPr lang="zh-CN" altLang="en-US" dirty="0"/>
          </a:p>
          <a:p>
            <a:pPr eaLnBrk="1" hangingPunct="1"/>
            <a:r>
              <a:rPr lang="zh-CN" altLang="en-US" dirty="0" smtClean="0"/>
              <a:t>第</a:t>
            </a:r>
            <a:r>
              <a:rPr lang="en-US" altLang="zh-CN" dirty="0" smtClean="0"/>
              <a:t>5</a:t>
            </a:r>
            <a:r>
              <a:rPr lang="zh-CN" altLang="en-US" dirty="0" smtClean="0"/>
              <a:t>章  </a:t>
            </a:r>
            <a:r>
              <a:rPr lang="zh-CN" altLang="en-US" dirty="0"/>
              <a:t>网络</a:t>
            </a:r>
            <a:r>
              <a:rPr lang="zh-CN" altLang="en-US" dirty="0" smtClean="0"/>
              <a:t>防护</a:t>
            </a:r>
            <a:endParaRPr lang="zh-CN" altLang="en-US" dirty="0"/>
          </a:p>
          <a:p>
            <a:pPr eaLnBrk="1" hangingPunct="1"/>
            <a:r>
              <a:rPr lang="zh-CN" altLang="en-US" dirty="0" smtClean="0"/>
              <a:t>第</a:t>
            </a:r>
            <a:r>
              <a:rPr lang="en-US" altLang="zh-CN" dirty="0" smtClean="0"/>
              <a:t>6</a:t>
            </a:r>
            <a:r>
              <a:rPr lang="zh-CN" altLang="en-US" dirty="0" smtClean="0"/>
              <a:t>章  基于无线局域网的对抗技术</a:t>
            </a:r>
            <a:endParaRPr lang="en-US" altLang="zh-CN" dirty="0" smtClean="0"/>
          </a:p>
          <a:p>
            <a:pPr eaLnBrk="1" hangingPunct="1"/>
            <a:r>
              <a:rPr lang="zh-CN" altLang="en-US" dirty="0" smtClean="0"/>
              <a:t>第</a:t>
            </a:r>
            <a:r>
              <a:rPr lang="en-US" altLang="zh-CN" dirty="0" smtClean="0"/>
              <a:t>7</a:t>
            </a:r>
            <a:r>
              <a:rPr lang="zh-CN" altLang="en-US" dirty="0" smtClean="0"/>
              <a:t>章  网络安全基础</a:t>
            </a:r>
            <a:r>
              <a:rPr lang="zh-CN" altLang="en-US" dirty="0"/>
              <a:t>设施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669882" y="648000"/>
            <a:ext cx="10852237" cy="648000"/>
          </a:xfrm>
        </p:spPr>
        <p:txBody>
          <a:bodyPr vert="horz" lIns="92075" tIns="46038" rIns="92075" bIns="46038" rtlCol="0" anchor="ctr" anchorCtr="0">
            <a:noAutofit/>
          </a:bodyPr>
          <a:lstStyle/>
          <a:p>
            <a:pPr algn="ctr" fontAlgn="base">
              <a:spcAft>
                <a:spcPct val="0"/>
              </a:spcAft>
              <a:defRPr/>
            </a:pPr>
            <a:r>
              <a:rPr lang="zh-CN" altLang="en-US" sz="4000" spc="0" dirty="0">
                <a:solidFill>
                  <a:schemeClr val="tx2"/>
                </a:solidFill>
                <a:effectLst>
                  <a:outerShdw blurRad="38100" dist="38100" dir="2700000">
                    <a:srgbClr val="000000"/>
                  </a:outerShdw>
                </a:effectLst>
              </a:rPr>
              <a:t>第</a:t>
            </a:r>
            <a:r>
              <a:rPr lang="en-US" altLang="zh-CN" sz="4000" spc="0" dirty="0">
                <a:solidFill>
                  <a:schemeClr val="tx2"/>
                </a:solidFill>
                <a:effectLst>
                  <a:outerShdw blurRad="38100" dist="38100" dir="2700000">
                    <a:srgbClr val="000000"/>
                  </a:outerShdw>
                </a:effectLst>
              </a:rPr>
              <a:t>1</a:t>
            </a:r>
            <a:r>
              <a:rPr lang="zh-CN" altLang="en-US" sz="4000" spc="0" dirty="0">
                <a:solidFill>
                  <a:schemeClr val="tx2"/>
                </a:solidFill>
                <a:effectLst>
                  <a:outerShdw blurRad="38100" dist="38100" dir="2700000">
                    <a:srgbClr val="000000"/>
                  </a:outerShdw>
                </a:effectLst>
              </a:rPr>
              <a:t>章  概述 </a:t>
            </a:r>
            <a:endParaRPr lang="zh-CN" altLang="en-US" sz="4000" spc="0" dirty="0">
              <a:solidFill>
                <a:schemeClr val="tx2"/>
              </a:solidFill>
              <a:effectLst>
                <a:outerShdw blurRad="38100" dist="38100" dir="2700000">
                  <a:srgbClr val="000000"/>
                </a:outerShdw>
              </a:effectLst>
            </a:endParaRPr>
          </a:p>
        </p:txBody>
      </p:sp>
      <p:sp>
        <p:nvSpPr>
          <p:cNvPr id="7171" name="文本占位符 8194"/>
          <p:cNvSpPr>
            <a:spLocks noGrp="1"/>
          </p:cNvSpPr>
          <p:nvPr>
            <p:ph idx="1"/>
          </p:nvPr>
        </p:nvSpPr>
        <p:spPr>
          <a:xfrm>
            <a:off x="1035425" y="1506071"/>
            <a:ext cx="10165976" cy="4831284"/>
          </a:xfrm>
        </p:spPr>
        <p:txBody>
          <a:bodyPr vert="horz" wrap="square" lIns="91440" tIns="45720" rIns="91440" bIns="45720" rtlCol="0" anchor="t">
            <a:noAutofit/>
          </a:bodyPr>
          <a:lstStyle/>
          <a:p>
            <a:pPr eaLnBrk="1" hangingPunct="1">
              <a:buNone/>
            </a:pPr>
            <a:r>
              <a:rPr lang="en-US" altLang="zh-CN" sz="2400" dirty="0"/>
              <a:t>         </a:t>
            </a:r>
            <a:r>
              <a:rPr lang="zh-CN" altLang="en-US" sz="2400" dirty="0" smtClean="0"/>
              <a:t>信息</a:t>
            </a:r>
            <a:r>
              <a:rPr lang="zh-CN" altLang="en-US" sz="2400" dirty="0"/>
              <a:t>对抗的内容包括甚广，除了</a:t>
            </a:r>
            <a:r>
              <a:rPr lang="zh-CN" altLang="en-US" sz="2400" dirty="0">
                <a:solidFill>
                  <a:schemeClr val="folHlink"/>
                </a:solidFill>
              </a:rPr>
              <a:t>电子对抗、网络对抗</a:t>
            </a:r>
            <a:r>
              <a:rPr lang="zh-CN" altLang="en-US" sz="2400" dirty="0"/>
              <a:t>等样式外，实际上还包括</a:t>
            </a:r>
            <a:r>
              <a:rPr lang="zh-CN" altLang="en-US" sz="2400" dirty="0">
                <a:solidFill>
                  <a:schemeClr val="folHlink"/>
                </a:solidFill>
              </a:rPr>
              <a:t>心理、认知等层次上的对抗</a:t>
            </a:r>
            <a:r>
              <a:rPr lang="zh-CN" altLang="en-US" sz="2400" dirty="0"/>
              <a:t>，所有这些对抗对决定战争胜负都发挥着互相不可替代的作用。由于篇幅原因，本书中我们将重点介绍</a:t>
            </a:r>
            <a:r>
              <a:rPr lang="zh-CN" altLang="en-US" sz="2400" dirty="0">
                <a:solidFill>
                  <a:srgbClr val="FF66FF"/>
                </a:solidFill>
              </a:rPr>
              <a:t>网络信息对抗</a:t>
            </a:r>
            <a:r>
              <a:rPr lang="zh-CN" altLang="en-US" sz="2400" dirty="0"/>
              <a:t>的原理、技术与手段，简要介绍一些电子对抗的历史与知识。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vert="horz" wrap="square" lIns="92075" tIns="46038" rIns="92075" bIns="46038" numCol="1" anchor="ctr" anchorCtr="0" compatLnSpc="1"/>
          <a:lstStyle/>
          <a:p>
            <a:pPr algn="ctr" fontAlgn="base">
              <a:lnSpc>
                <a:spcPct val="100000"/>
              </a:lnSpc>
              <a:spcAft>
                <a:spcPct val="0"/>
              </a:spcAft>
              <a:defRPr/>
            </a:pPr>
            <a:r>
              <a:rPr kumimoji="1" lang="zh-CN" altLang="en-US" sz="4400" kern="0" dirty="0" smtClean="0">
                <a:solidFill>
                  <a:schemeClr val="tx2"/>
                </a:solidFill>
                <a:effectLst>
                  <a:outerShdw blurRad="38100" dist="38100" dir="2700000" algn="tl">
                    <a:srgbClr val="000000"/>
                  </a:outerShdw>
                </a:effectLst>
              </a:rPr>
              <a:t>特洛伊木马</a:t>
            </a:r>
            <a:r>
              <a:rPr kumimoji="1" lang="en-US" altLang="zh-CN" sz="4400" kern="0" dirty="0">
                <a:solidFill>
                  <a:schemeClr val="tx2"/>
                </a:solidFill>
                <a:effectLst>
                  <a:outerShdw blurRad="38100" dist="38100" dir="2700000" algn="tl">
                    <a:srgbClr val="000000"/>
                  </a:outerShdw>
                </a:effectLst>
              </a:rPr>
              <a:t>——</a:t>
            </a:r>
            <a:r>
              <a:rPr kumimoji="1" lang="zh-CN" altLang="en-US" sz="4400" kern="0" dirty="0" smtClean="0">
                <a:solidFill>
                  <a:schemeClr val="tx2"/>
                </a:solidFill>
                <a:effectLst>
                  <a:outerShdw blurRad="38100" dist="38100" dir="2700000" algn="tl">
                    <a:srgbClr val="000000"/>
                  </a:outerShdw>
                </a:effectLst>
              </a:rPr>
              <a:t>战争</a:t>
            </a:r>
            <a:r>
              <a:rPr kumimoji="1" lang="zh-CN" altLang="en-US" sz="4400" kern="0" dirty="0">
                <a:solidFill>
                  <a:schemeClr val="tx2"/>
                </a:solidFill>
                <a:effectLst>
                  <a:outerShdw blurRad="38100" dist="38100" dir="2700000" algn="tl">
                    <a:srgbClr val="000000"/>
                  </a:outerShdw>
                </a:effectLst>
              </a:rPr>
              <a:t>经过</a:t>
            </a:r>
            <a:endParaRPr kumimoji="1" lang="zh-CN" altLang="en-US" sz="4400" kern="0" dirty="0">
              <a:solidFill>
                <a:schemeClr val="tx2"/>
              </a:solidFill>
              <a:effectLst>
                <a:outerShdw blurRad="38100" dist="38100" dir="2700000" algn="tl">
                  <a:srgbClr val="000000"/>
                </a:outerShdw>
              </a:effectLst>
            </a:endParaRPr>
          </a:p>
        </p:txBody>
      </p:sp>
      <p:sp>
        <p:nvSpPr>
          <p:cNvPr id="10242" name="Rectangle 3"/>
          <p:cNvSpPr>
            <a:spLocks noGrp="1"/>
          </p:cNvSpPr>
          <p:nvPr>
            <p:ph idx="1"/>
          </p:nvPr>
        </p:nvSpPr>
        <p:spPr>
          <a:xfrm>
            <a:off x="789140" y="4020854"/>
            <a:ext cx="10584493" cy="2555311"/>
          </a:xfrm>
        </p:spPr>
        <p:txBody>
          <a:bodyPr vert="horz" wrap="square" lIns="91440" tIns="45720" rIns="91440" bIns="45720" anchor="t"/>
          <a:lstStyle/>
          <a:p>
            <a:pPr eaLnBrk="1" hangingPunct="1">
              <a:lnSpc>
                <a:spcPct val="90000"/>
              </a:lnSpc>
            </a:pPr>
            <a:r>
              <a:rPr lang="en-US" altLang="zh-CN" sz="2400" dirty="0"/>
              <a:t>        </a:t>
            </a:r>
            <a:r>
              <a:rPr lang="zh-CN" altLang="en-US" sz="2400" dirty="0"/>
              <a:t>斯巴达国王美内劳斯因为其太太海伦被帕里斯所带走，因此向希腊各城邦求助，共同出兵特洛伊。但特洛伊因为有亚马逊女战士和黎明女神儿子梅农的帮忙，与维纳斯暗中协助，所以能抵抗希腊联军。但因为雅典娜得不到金苹果，所以不愿放过特洛伊，而且指示奥德修斯向希腊联军献上</a:t>
            </a:r>
            <a:r>
              <a:rPr lang="zh-CN" altLang="en-US" sz="2400" dirty="0">
                <a:solidFill>
                  <a:schemeClr val="tx2"/>
                </a:solidFill>
              </a:rPr>
              <a:t>木马屠城之计</a:t>
            </a:r>
            <a:r>
              <a:rPr lang="zh-CN" altLang="en-US" sz="2400" dirty="0"/>
              <a:t>。 </a:t>
            </a:r>
            <a:r>
              <a:rPr lang="zh-CN" altLang="en-US" sz="2400" dirty="0">
                <a:solidFill>
                  <a:schemeClr val="folHlink"/>
                </a:solidFill>
              </a:rPr>
              <a:t>有一天，希腊联军突然撤退，并留下一只木马，特洛伊人将其当作战利品带回城内。在当天晚上，当特洛伊士兵为胜利而庆祝时，藏匿在木马中的希腊兵悄悄打开城门，将城外的军舰迎进，在一夜间消灭特洛伊城，城内男丁悉数被杀。</a:t>
            </a:r>
            <a:r>
              <a:rPr lang="zh-CN" altLang="en-US" sz="2400" dirty="0"/>
              <a:t> </a:t>
            </a:r>
            <a:endParaRPr lang="en-US" altLang="zh-CN" sz="24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43237" y="1586303"/>
            <a:ext cx="6105525" cy="225742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1237129" y="1882588"/>
            <a:ext cx="9977718" cy="4034118"/>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218" name="标题 9217"/>
          <p:cNvSpPr>
            <a:spLocks noGrp="1"/>
          </p:cNvSpPr>
          <p:nvPr>
            <p:ph type="title"/>
          </p:nvPr>
        </p:nvSpPr>
        <p:spPr>
          <a:xfrm>
            <a:off x="725910" y="902647"/>
            <a:ext cx="10852237" cy="648000"/>
          </a:xfrm>
          <a:solidFill>
            <a:schemeClr val="accent2"/>
          </a:solidFill>
          <a:ln>
            <a:solidFill>
              <a:schemeClr val="accent1"/>
            </a:solidFill>
          </a:ln>
        </p:spPr>
        <p:txBody>
          <a:bodyPr vert="horz" lIns="92075" tIns="46038" rIns="92075" bIns="46038" rtlCol="0" anchor="ctr" anchorCtr="0">
            <a:noAutofit/>
          </a:bodyPr>
          <a:lstStyle/>
          <a:p>
            <a:pPr algn="ctr" fontAlgn="base">
              <a:spcAft>
                <a:spcPct val="0"/>
              </a:spcAft>
              <a:defRPr/>
            </a:pPr>
            <a:r>
              <a:rPr lang="en-US" altLang="zh-CN" sz="4000" spc="0" dirty="0">
                <a:solidFill>
                  <a:schemeClr val="tx1">
                    <a:lumMod val="85000"/>
                    <a:lumOff val="15000"/>
                  </a:schemeClr>
                </a:solidFill>
                <a:effectLst>
                  <a:outerShdw blurRad="38100" dist="38100" dir="2700000">
                    <a:srgbClr val="000000"/>
                  </a:outerShdw>
                </a:effectLst>
              </a:rPr>
              <a:t>1.1 </a:t>
            </a:r>
            <a:r>
              <a:rPr lang="zh-CN" altLang="en-US" sz="4000" spc="0" dirty="0">
                <a:solidFill>
                  <a:schemeClr val="tx1">
                    <a:lumMod val="85000"/>
                    <a:lumOff val="15000"/>
                  </a:schemeClr>
                </a:solidFill>
                <a:effectLst>
                  <a:outerShdw blurRad="38100" dist="38100" dir="2700000">
                    <a:srgbClr val="000000"/>
                  </a:outerShdw>
                </a:effectLst>
              </a:rPr>
              <a:t>信息对抗的产生与发展 </a:t>
            </a:r>
            <a:endParaRPr lang="zh-CN" altLang="en-US" sz="4000" spc="0" dirty="0">
              <a:solidFill>
                <a:schemeClr val="tx1">
                  <a:lumMod val="85000"/>
                  <a:lumOff val="15000"/>
                </a:schemeClr>
              </a:solidFill>
              <a:effectLst>
                <a:outerShdw blurRad="38100" dist="38100" dir="2700000">
                  <a:srgbClr val="000000"/>
                </a:outerShdw>
              </a:effectLst>
            </a:endParaRPr>
          </a:p>
        </p:txBody>
      </p:sp>
      <p:sp>
        <p:nvSpPr>
          <p:cNvPr id="8195" name="文本占位符 9218"/>
          <p:cNvSpPr>
            <a:spLocks noGrp="1"/>
          </p:cNvSpPr>
          <p:nvPr>
            <p:ph idx="1"/>
          </p:nvPr>
        </p:nvSpPr>
        <p:spPr>
          <a:xfrm>
            <a:off x="1411941" y="1981200"/>
            <a:ext cx="9480177" cy="4616450"/>
          </a:xfrm>
        </p:spPr>
        <p:txBody>
          <a:bodyPr vert="horz" wrap="square" lIns="91440" tIns="45720" rIns="91440" bIns="45720" rtlCol="0" anchor="t">
            <a:noAutofit/>
          </a:bodyPr>
          <a:lstStyle/>
          <a:p>
            <a:pPr eaLnBrk="1" hangingPunct="1">
              <a:buNone/>
            </a:pPr>
            <a:r>
              <a:rPr lang="zh-CN" altLang="en-US" sz="2400" dirty="0"/>
              <a:t>在信息对抗过程中：</a:t>
            </a:r>
            <a:endParaRPr lang="zh-CN" altLang="en-US" sz="2400" dirty="0"/>
          </a:p>
          <a:p>
            <a:pPr eaLnBrk="1" hangingPunct="1"/>
            <a:r>
              <a:rPr lang="zh-CN" altLang="en-US" sz="2400" dirty="0">
                <a:solidFill>
                  <a:schemeClr val="accent1"/>
                </a:solidFill>
              </a:rPr>
              <a:t>对抗的一方</a:t>
            </a:r>
            <a:r>
              <a:rPr lang="zh-CN" altLang="en-US" sz="2400" dirty="0"/>
              <a:t>会采取各种机制（方法、技术、手段与措施）来确保己方的信息的安全，</a:t>
            </a:r>
            <a:endParaRPr lang="zh-CN" altLang="en-US" sz="2400" dirty="0"/>
          </a:p>
          <a:p>
            <a:pPr eaLnBrk="1" hangingPunct="1"/>
            <a:r>
              <a:rPr lang="zh-CN" altLang="en-US" sz="2400" dirty="0">
                <a:solidFill>
                  <a:schemeClr val="accent1"/>
                </a:solidFill>
              </a:rPr>
              <a:t>对抗的另一方</a:t>
            </a:r>
            <a:r>
              <a:rPr lang="zh-CN" altLang="en-US" sz="2400" dirty="0"/>
              <a:t>则是通过破解对方的机制获取对方的秘密信息。</a:t>
            </a:r>
            <a:endParaRPr lang="zh-CN" altLang="en-US" sz="2400" dirty="0"/>
          </a:p>
          <a:p>
            <a:pPr eaLnBrk="1" hangingPunct="1">
              <a:buNone/>
            </a:pPr>
            <a:r>
              <a:rPr lang="zh-CN" altLang="en-US" sz="2400" dirty="0"/>
              <a:t>         </a:t>
            </a:r>
            <a:r>
              <a:rPr lang="zh-CN" altLang="en-US" sz="2400" dirty="0" smtClean="0">
                <a:solidFill>
                  <a:schemeClr val="folHlink"/>
                </a:solidFill>
              </a:rPr>
              <a:t>信息</a:t>
            </a:r>
            <a:r>
              <a:rPr lang="zh-CN" altLang="en-US" sz="2400" dirty="0">
                <a:solidFill>
                  <a:schemeClr val="folHlink"/>
                </a:solidFill>
              </a:rPr>
              <a:t>对抗的目的</a:t>
            </a:r>
            <a:r>
              <a:rPr lang="zh-CN" altLang="en-US" sz="2400" dirty="0"/>
              <a:t>则是确保己方信息的保密性、完整性和对信息利用的能力，获取信息的优势，达到对抗胜利的目的，同时设法不让对手拥有同样的能力。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9219" name="文本占位符 10242"/>
          <p:cNvSpPr>
            <a:spLocks noGrp="1"/>
          </p:cNvSpPr>
          <p:nvPr>
            <p:ph idx="1"/>
          </p:nvPr>
        </p:nvSpPr>
        <p:spPr>
          <a:xfrm>
            <a:off x="1376082" y="2318616"/>
            <a:ext cx="9439836" cy="3289447"/>
          </a:xfrm>
        </p:spPr>
        <p:txBody>
          <a:bodyPr vert="horz" wrap="square" lIns="91440" tIns="45720" rIns="91440" bIns="45720" rtlCol="0" anchor="t">
            <a:noAutofit/>
          </a:bodyPr>
          <a:lstStyle/>
          <a:p>
            <a:pPr eaLnBrk="1" hangingPunct="1">
              <a:buNone/>
            </a:pPr>
            <a:r>
              <a:rPr lang="en-US" altLang="zh-CN" sz="2400" dirty="0"/>
              <a:t>          </a:t>
            </a:r>
            <a:r>
              <a:rPr lang="zh-CN" altLang="en-US" sz="2400" dirty="0" smtClean="0"/>
              <a:t>随着</a:t>
            </a:r>
            <a:r>
              <a:rPr lang="zh-CN" altLang="en-US" sz="2400" dirty="0">
                <a:solidFill>
                  <a:schemeClr val="folHlink"/>
                </a:solidFill>
              </a:rPr>
              <a:t>电子技术、计算机技术、通信技术</a:t>
            </a:r>
            <a:r>
              <a:rPr lang="zh-CN" altLang="en-US" sz="2400" dirty="0"/>
              <a:t>和</a:t>
            </a:r>
            <a:r>
              <a:rPr lang="zh-CN" altLang="en-US" sz="2400" dirty="0">
                <a:solidFill>
                  <a:schemeClr val="folHlink"/>
                </a:solidFill>
              </a:rPr>
              <a:t>网络</a:t>
            </a:r>
            <a:r>
              <a:rPr lang="zh-CN" altLang="en-US" sz="2400" dirty="0" smtClean="0">
                <a:solidFill>
                  <a:schemeClr val="folHlink"/>
                </a:solidFill>
              </a:rPr>
              <a:t>信息技术</a:t>
            </a:r>
            <a:r>
              <a:rPr lang="zh-CN" altLang="en-US" sz="2400" dirty="0" smtClean="0"/>
              <a:t>的飞速</a:t>
            </a:r>
            <a:r>
              <a:rPr lang="zh-CN" altLang="en-US" sz="2400" dirty="0"/>
              <a:t>发展，信息对抗技术得到了广泛的发展与应用，信息对抗的形式发生了革命性的变化，成为促成当前正在进行的新军事变革的发生与发展的重要原因之一。 </a:t>
            </a:r>
            <a:endParaRPr lang="en-US" altLang="zh-CN" sz="2400" dirty="0" smtClean="0"/>
          </a:p>
          <a:p>
            <a:pPr eaLnBrk="1" hangingPunct="1">
              <a:buNone/>
            </a:pPr>
            <a:r>
              <a:rPr lang="en-US" altLang="zh-CN" sz="2400" dirty="0"/>
              <a:t> </a:t>
            </a:r>
            <a:r>
              <a:rPr lang="en-US" altLang="zh-CN" sz="2400" dirty="0" smtClean="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962782" y="867663"/>
            <a:ext cx="3665131" cy="610407"/>
            <a:chOff x="3839425" y="1280937"/>
            <a:chExt cx="3665131" cy="610407"/>
          </a:xfrm>
        </p:grpSpPr>
        <p:sp>
          <p:nvSpPr>
            <p:cNvPr id="7" name="矩形: 圆角 6"/>
            <p:cNvSpPr/>
            <p:nvPr/>
          </p:nvSpPr>
          <p:spPr>
            <a:xfrm>
              <a:off x="3839425" y="1280937"/>
              <a:ext cx="3665131" cy="610407"/>
            </a:xfrm>
            <a:prstGeom prst="roundRect">
              <a:avLst>
                <a:gd name="adj" fmla="val 13726"/>
              </a:avLst>
            </a:prstGeom>
            <a:solidFill>
              <a:srgbClr val="0F73EE"/>
            </a:solidFill>
            <a:ln w="19050">
              <a:solidFill>
                <a:schemeClr val="bg1"/>
              </a:solidFill>
              <a:prstDash val="sysDot"/>
              <a:headEnd type="oval" w="lg" len="lg"/>
              <a:tailEnd type="oval"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8" name="矩形 7"/>
            <p:cNvSpPr/>
            <p:nvPr/>
          </p:nvSpPr>
          <p:spPr>
            <a:xfrm>
              <a:off x="3972879" y="1333399"/>
              <a:ext cx="3416320" cy="523220"/>
            </a:xfrm>
            <a:prstGeom prst="rect">
              <a:avLst/>
            </a:prstGeom>
          </p:spPr>
          <p:txBody>
            <a:bodyPr wrap="none">
              <a:spAutoFit/>
            </a:bodyPr>
            <a:lstStyle/>
            <a:p>
              <a:pPr fontAlgn="base">
                <a:spcAft>
                  <a:spcPct val="0"/>
                </a:spcAft>
                <a:defRPr/>
              </a:pPr>
              <a:r>
                <a:rPr lang="zh-CN" altLang="en-US" sz="2800" dirty="0" smtClean="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rPr>
                <a:t>信息对抗的三个时期</a:t>
              </a:r>
              <a:endParaRPr lang="zh-CN" altLang="en-US" sz="2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grpSp>
      <p:sp>
        <p:nvSpPr>
          <p:cNvPr id="2" name="矩形 1"/>
          <p:cNvSpPr/>
          <p:nvPr/>
        </p:nvSpPr>
        <p:spPr>
          <a:xfrm>
            <a:off x="1259350" y="1867603"/>
            <a:ext cx="9568188" cy="829945"/>
          </a:xfrm>
          <a:prstGeom prst="rect">
            <a:avLst/>
          </a:prstGeom>
        </p:spPr>
        <p:txBody>
          <a:bodyPr wrap="square">
            <a:spAutoFit/>
          </a:bodyPr>
          <a:lstStyle/>
          <a:p>
            <a:pPr fontAlgn="base">
              <a:spcAft>
                <a:spcPct val="0"/>
              </a:spcAft>
              <a:defRPr/>
            </a:pPr>
            <a:r>
              <a:rPr lang="zh-CN" altLang="en-US" sz="2400" dirty="0"/>
              <a:t>从信息对抗的发展过程来看，可以大致分为三个时期：</a:t>
            </a:r>
            <a:endParaRPr lang="en-US" altLang="zh-CN" sz="2400" dirty="0"/>
          </a:p>
          <a:p>
            <a:pPr fontAlgn="base">
              <a:spcAft>
                <a:spcPct val="0"/>
              </a:spcAft>
              <a:defRPr/>
            </a:pPr>
            <a:endParaRPr lang="zh-CN" altLang="en-US" sz="2400" dirty="0">
              <a:solidFill>
                <a:schemeClr val="tx1">
                  <a:lumMod val="85000"/>
                  <a:lumOff val="15000"/>
                </a:schemeClr>
              </a:solidFill>
              <a:latin typeface="+mn-ea"/>
            </a:endParaRPr>
          </a:p>
        </p:txBody>
      </p:sp>
      <p:grpSp>
        <p:nvGrpSpPr>
          <p:cNvPr id="16" name="组合 15"/>
          <p:cNvGrpSpPr/>
          <p:nvPr/>
        </p:nvGrpSpPr>
        <p:grpSpPr>
          <a:xfrm>
            <a:off x="1114333" y="2449291"/>
            <a:ext cx="2762671" cy="2898129"/>
            <a:chOff x="1419126" y="2735782"/>
            <a:chExt cx="3318781" cy="3637587"/>
          </a:xfrm>
        </p:grpSpPr>
        <p:grpSp>
          <p:nvGrpSpPr>
            <p:cNvPr id="15" name="组合 14"/>
            <p:cNvGrpSpPr/>
            <p:nvPr/>
          </p:nvGrpSpPr>
          <p:grpSpPr>
            <a:xfrm>
              <a:off x="1419126" y="2735782"/>
              <a:ext cx="3318781" cy="3637587"/>
              <a:chOff x="1980913" y="3125907"/>
              <a:chExt cx="3318781" cy="3637587"/>
            </a:xfrm>
          </p:grpSpPr>
          <p:sp>
            <p:nvSpPr>
              <p:cNvPr id="3" name="椭圆 2"/>
              <p:cNvSpPr/>
              <p:nvPr/>
            </p:nvSpPr>
            <p:spPr>
              <a:xfrm>
                <a:off x="1980913" y="3125907"/>
                <a:ext cx="3318781" cy="3318781"/>
              </a:xfrm>
              <a:prstGeom prst="ellipse">
                <a:avLst/>
              </a:prstGeom>
              <a:solidFill>
                <a:schemeClr val="bg1">
                  <a:lumMod val="95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14" name="图片 13"/>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11" name="矩形 10"/>
            <p:cNvSpPr/>
            <p:nvPr/>
          </p:nvSpPr>
          <p:spPr>
            <a:xfrm>
              <a:off x="2025470" y="3777488"/>
              <a:ext cx="2067562" cy="888503"/>
            </a:xfrm>
            <a:prstGeom prst="rect">
              <a:avLst/>
            </a:prstGeom>
          </p:spPr>
          <p:txBody>
            <a:bodyPr wrap="square">
              <a:spAutoFit/>
            </a:bodyPr>
            <a:lstStyle/>
            <a:p>
              <a:r>
                <a:rPr lang="zh-CN" altLang="en-US" sz="2000" dirty="0">
                  <a:solidFill>
                    <a:srgbClr val="FF0000"/>
                  </a:solidFill>
                </a:rPr>
                <a:t>古代信息</a:t>
              </a:r>
              <a:r>
                <a:rPr lang="zh-CN" altLang="en-US" sz="2000" dirty="0" smtClean="0">
                  <a:solidFill>
                    <a:srgbClr val="FF0000"/>
                  </a:solidFill>
                </a:rPr>
                <a:t>对抗</a:t>
              </a:r>
              <a:endParaRPr lang="en-US" altLang="zh-CN" sz="2000" dirty="0" smtClean="0">
                <a:solidFill>
                  <a:srgbClr val="FF0000"/>
                </a:solidFill>
              </a:endParaRPr>
            </a:p>
            <a:p>
              <a:pPr algn="ctr"/>
              <a:r>
                <a:rPr lang="zh-CN" altLang="en-US" sz="2000" dirty="0" smtClean="0">
                  <a:solidFill>
                    <a:srgbClr val="FF0000"/>
                  </a:solidFill>
                </a:rPr>
                <a:t>时期</a:t>
              </a:r>
              <a:endParaRPr lang="zh-CN" altLang="en-US" sz="2000" dirty="0"/>
            </a:p>
          </p:txBody>
        </p:sp>
      </p:grpSp>
      <p:grpSp>
        <p:nvGrpSpPr>
          <p:cNvPr id="19" name="组合 18"/>
          <p:cNvGrpSpPr/>
          <p:nvPr/>
        </p:nvGrpSpPr>
        <p:grpSpPr>
          <a:xfrm>
            <a:off x="4706976" y="2473950"/>
            <a:ext cx="2762671" cy="2898129"/>
            <a:chOff x="1419126" y="2735782"/>
            <a:chExt cx="3318781" cy="3637587"/>
          </a:xfrm>
        </p:grpSpPr>
        <p:grpSp>
          <p:nvGrpSpPr>
            <p:cNvPr id="20" name="组合 19"/>
            <p:cNvGrpSpPr/>
            <p:nvPr/>
          </p:nvGrpSpPr>
          <p:grpSpPr>
            <a:xfrm>
              <a:off x="1419126" y="2735782"/>
              <a:ext cx="3318781" cy="3637587"/>
              <a:chOff x="1980913" y="3125907"/>
              <a:chExt cx="3318781" cy="3637587"/>
            </a:xfrm>
          </p:grpSpPr>
          <p:sp>
            <p:nvSpPr>
              <p:cNvPr id="22" name="椭圆 21"/>
              <p:cNvSpPr/>
              <p:nvPr/>
            </p:nvSpPr>
            <p:spPr>
              <a:xfrm>
                <a:off x="1980913" y="3125907"/>
                <a:ext cx="3318781" cy="3318781"/>
              </a:xfrm>
              <a:prstGeom prst="ellipse">
                <a:avLst/>
              </a:prstGeom>
              <a:solidFill>
                <a:schemeClr val="accent5">
                  <a:lumMod val="40000"/>
                  <a:lumOff val="6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23" name="图片 22"/>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21" name="矩形 20"/>
            <p:cNvSpPr/>
            <p:nvPr/>
          </p:nvSpPr>
          <p:spPr>
            <a:xfrm>
              <a:off x="2334064" y="3746537"/>
              <a:ext cx="1483368" cy="888503"/>
            </a:xfrm>
            <a:prstGeom prst="rect">
              <a:avLst/>
            </a:prstGeom>
          </p:spPr>
          <p:txBody>
            <a:bodyPr wrap="square">
              <a:spAutoFit/>
            </a:bodyPr>
            <a:lstStyle/>
            <a:p>
              <a:pPr fontAlgn="base">
                <a:spcAft>
                  <a:spcPct val="0"/>
                </a:spcAft>
                <a:defRPr/>
              </a:pPr>
              <a:r>
                <a:rPr lang="zh-CN" altLang="en-US" sz="2000" dirty="0" smtClean="0">
                  <a:solidFill>
                    <a:srgbClr val="FF0000"/>
                  </a:solidFill>
                </a:rPr>
                <a:t>电子对抗</a:t>
              </a:r>
              <a:endParaRPr lang="en-US" altLang="zh-CN" sz="2000" dirty="0" smtClean="0">
                <a:solidFill>
                  <a:srgbClr val="FF0000"/>
                </a:solidFill>
              </a:endParaRPr>
            </a:p>
            <a:p>
              <a:pPr algn="ctr" fontAlgn="base">
                <a:spcAft>
                  <a:spcPct val="0"/>
                </a:spcAft>
                <a:defRPr/>
              </a:pPr>
              <a:r>
                <a:rPr lang="zh-CN" altLang="en-US" sz="2000" dirty="0" smtClean="0">
                  <a:solidFill>
                    <a:srgbClr val="FF0000"/>
                  </a:solidFill>
                </a:rPr>
                <a:t>时期</a:t>
              </a:r>
              <a:endParaRPr lang="zh-CN" altLang="en-US" sz="2000" dirty="0">
                <a:solidFill>
                  <a:schemeClr val="tx1">
                    <a:lumMod val="85000"/>
                    <a:lumOff val="15000"/>
                  </a:schemeClr>
                </a:solidFill>
                <a:latin typeface="+mn-ea"/>
              </a:endParaRPr>
            </a:p>
          </p:txBody>
        </p:sp>
      </p:grpSp>
      <p:grpSp>
        <p:nvGrpSpPr>
          <p:cNvPr id="24" name="组合 23"/>
          <p:cNvGrpSpPr/>
          <p:nvPr/>
        </p:nvGrpSpPr>
        <p:grpSpPr>
          <a:xfrm>
            <a:off x="8331695" y="2449291"/>
            <a:ext cx="2762671" cy="2898129"/>
            <a:chOff x="1419126" y="2735782"/>
            <a:chExt cx="3318781" cy="3637587"/>
          </a:xfrm>
        </p:grpSpPr>
        <p:grpSp>
          <p:nvGrpSpPr>
            <p:cNvPr id="25" name="组合 24"/>
            <p:cNvGrpSpPr/>
            <p:nvPr/>
          </p:nvGrpSpPr>
          <p:grpSpPr>
            <a:xfrm>
              <a:off x="1419126" y="2735782"/>
              <a:ext cx="3318781" cy="3637587"/>
              <a:chOff x="1980913" y="3125907"/>
              <a:chExt cx="3318781" cy="3637587"/>
            </a:xfrm>
          </p:grpSpPr>
          <p:sp>
            <p:nvSpPr>
              <p:cNvPr id="27" name="椭圆 26"/>
              <p:cNvSpPr/>
              <p:nvPr/>
            </p:nvSpPr>
            <p:spPr>
              <a:xfrm>
                <a:off x="1980913" y="3125907"/>
                <a:ext cx="3318781" cy="3318781"/>
              </a:xfrm>
              <a:prstGeom prst="ellipse">
                <a:avLst/>
              </a:prstGeom>
              <a:solidFill>
                <a:schemeClr val="bg1">
                  <a:lumMod val="95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pic>
            <p:nvPicPr>
              <p:cNvPr id="28" name="图片 27"/>
              <p:cNvPicPr>
                <a:picLocks noChangeAspect="1"/>
              </p:cNvPicPr>
              <p:nvPr/>
            </p:nvPicPr>
            <p:blipFill>
              <a:blip r:embed="rId1" cstate="print">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2843150" y="5174724"/>
                <a:ext cx="1588770" cy="1588770"/>
              </a:xfrm>
              <a:prstGeom prst="rect">
                <a:avLst/>
              </a:prstGeom>
            </p:spPr>
          </p:pic>
        </p:grpSp>
        <p:sp>
          <p:nvSpPr>
            <p:cNvPr id="26" name="矩形 25"/>
            <p:cNvSpPr/>
            <p:nvPr/>
          </p:nvSpPr>
          <p:spPr>
            <a:xfrm>
              <a:off x="2031919" y="3777488"/>
              <a:ext cx="2087656" cy="888503"/>
            </a:xfrm>
            <a:prstGeom prst="rect">
              <a:avLst/>
            </a:prstGeom>
          </p:spPr>
          <p:txBody>
            <a:bodyPr wrap="square">
              <a:spAutoFit/>
            </a:bodyPr>
            <a:lstStyle/>
            <a:p>
              <a:pPr fontAlgn="base">
                <a:spcAft>
                  <a:spcPct val="0"/>
                </a:spcAft>
                <a:defRPr/>
              </a:pPr>
              <a:r>
                <a:rPr lang="zh-CN" altLang="en-US" sz="2000" dirty="0" smtClean="0">
                  <a:solidFill>
                    <a:srgbClr val="FF0000"/>
                  </a:solidFill>
                </a:rPr>
                <a:t>综合</a:t>
              </a:r>
              <a:r>
                <a:rPr lang="zh-CN" altLang="en-US" sz="2000" dirty="0">
                  <a:solidFill>
                    <a:srgbClr val="FF0000"/>
                  </a:solidFill>
                </a:rPr>
                <a:t>信息</a:t>
              </a:r>
              <a:r>
                <a:rPr lang="zh-CN" altLang="en-US" sz="2000" dirty="0" smtClean="0">
                  <a:solidFill>
                    <a:srgbClr val="FF0000"/>
                  </a:solidFill>
                </a:rPr>
                <a:t>对抗</a:t>
              </a:r>
              <a:endParaRPr lang="en-US" altLang="zh-CN" sz="2000" dirty="0" smtClean="0">
                <a:solidFill>
                  <a:srgbClr val="FF0000"/>
                </a:solidFill>
              </a:endParaRPr>
            </a:p>
            <a:p>
              <a:pPr algn="ctr" fontAlgn="base">
                <a:spcAft>
                  <a:spcPct val="0"/>
                </a:spcAft>
                <a:defRPr/>
              </a:pPr>
              <a:r>
                <a:rPr lang="zh-CN" altLang="en-US" sz="2000" dirty="0" smtClean="0">
                  <a:solidFill>
                    <a:srgbClr val="FF0000"/>
                  </a:solidFill>
                </a:rPr>
                <a:t>时期</a:t>
              </a:r>
              <a:endParaRPr lang="zh-CN" altLang="en-US" sz="2000" dirty="0">
                <a:solidFill>
                  <a:schemeClr val="tx1">
                    <a:lumMod val="85000"/>
                    <a:lumOff val="15000"/>
                  </a:schemeClr>
                </a:solidFill>
                <a:latin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anim calcmode="lin" valueType="num">
                                      <p:cBhvr>
                                        <p:cTn id="9" dur="500" fill="hold"/>
                                        <p:tgtEl>
                                          <p:spTgt spid="6"/>
                                        </p:tgtEl>
                                        <p:attrNameLst>
                                          <p:attrName>ppt_w</p:attrName>
                                        </p:attrNameLst>
                                      </p:cBhvr>
                                      <p:tavLst>
                                        <p:tav tm="0">
                                          <p:val>
                                            <p:fltVal val="0"/>
                                          </p:val>
                                        </p:tav>
                                        <p:tav tm="100000">
                                          <p:val>
                                            <p:strVal val="#ppt_w"/>
                                          </p:val>
                                        </p:tav>
                                      </p:tavLst>
                                    </p:anim>
                                    <p:anim calcmode="lin" valueType="num">
                                      <p:cBhvr>
                                        <p:cTn id="10" dur="500" fill="hold"/>
                                        <p:tgtEl>
                                          <p:spTgt spid="6"/>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3"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strips(upRight)">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12"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strips(downLeft)">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strips(upRight)">
                                      <p:cBhvr>
                                        <p:cTn id="2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pPr fontAlgn="base">
              <a:spcAft>
                <a:spcPct val="0"/>
              </a:spcAft>
              <a:defRPr/>
            </a:pPr>
            <a:r>
              <a:rPr lang="zh-CN" altLang="en-US" sz="2800" dirty="0"/>
              <a:t>从信息对抗的发展过程来看，可以大致分为三个时期</a:t>
            </a:r>
            <a:r>
              <a:rPr lang="zh-CN" altLang="en-US" sz="2800" dirty="0" smtClean="0"/>
              <a:t>：</a:t>
            </a:r>
            <a:endParaRPr lang="en-US" altLang="zh-CN" sz="2800" dirty="0" smtClean="0"/>
          </a:p>
          <a:p>
            <a:pPr fontAlgn="base">
              <a:spcAft>
                <a:spcPct val="0"/>
              </a:spcAft>
              <a:defRPr/>
            </a:pP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1]</a:t>
            </a:r>
            <a:r>
              <a:rPr lang="en-US" altLang="zh-CN" sz="2800" dirty="0" smtClean="0">
                <a:solidFill>
                  <a:srgbClr val="000000"/>
                </a:solidFill>
              </a:rPr>
              <a:t> </a:t>
            </a:r>
            <a:r>
              <a:rPr lang="zh-CN" altLang="en-US" sz="2800" dirty="0" smtClean="0"/>
              <a:t>对抗时期，</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2]</a:t>
            </a:r>
            <a:r>
              <a:rPr lang="en-US" altLang="zh-CN" sz="2800" dirty="0" smtClean="0">
                <a:solidFill>
                  <a:srgbClr val="000000"/>
                </a:solidFill>
              </a:rPr>
              <a:t> </a:t>
            </a:r>
            <a:r>
              <a:rPr lang="zh-CN" altLang="en-US" sz="2800" dirty="0" smtClean="0"/>
              <a:t>对抗时期，</a:t>
            </a:r>
            <a:r>
              <a:rPr lang="zh-CN" altLang="en-US" sz="2800" dirty="0" smtClean="0">
                <a:solidFill>
                  <a:srgbClr val="639EF4"/>
                </a:solidFill>
              </a:rPr>
              <a:t> </a:t>
            </a:r>
            <a:r>
              <a:rPr lang="en-US" altLang="zh-CN" sz="2800" dirty="0" smtClean="0">
                <a:solidFill>
                  <a:srgbClr val="639EF4"/>
                </a:solidFill>
              </a:rPr>
              <a:t>[</a:t>
            </a:r>
            <a:r>
              <a:rPr lang="zh-CN" altLang="en-US" sz="2800" dirty="0" smtClean="0">
                <a:solidFill>
                  <a:srgbClr val="639EF4"/>
                </a:solidFill>
              </a:rPr>
              <a:t>填空</a:t>
            </a:r>
            <a:r>
              <a:rPr lang="en-US" altLang="zh-CN" sz="2800" dirty="0" smtClean="0">
                <a:solidFill>
                  <a:srgbClr val="639EF4"/>
                </a:solidFill>
              </a:rPr>
              <a:t>3]</a:t>
            </a:r>
            <a:r>
              <a:rPr lang="en-US" altLang="zh-CN" sz="2800" dirty="0" smtClean="0">
                <a:solidFill>
                  <a:srgbClr val="000000"/>
                </a:solidFill>
              </a:rPr>
              <a:t> </a:t>
            </a:r>
            <a:r>
              <a:rPr lang="zh-CN" altLang="en-US" sz="2800" dirty="0" smtClean="0"/>
              <a:t>对抗时期。</a:t>
            </a:r>
            <a:endParaRPr lang="en-US" altLang="zh-CN" sz="2800" dirty="0"/>
          </a:p>
        </p:txBody>
      </p:sp>
      <p:sp>
        <p:nvSpPr>
          <p:cNvPr id="4" name="圆角矩形 3"/>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9" name="组合 8"/>
          <p:cNvGrpSpPr/>
          <p:nvPr>
            <p:custDataLst>
              <p:tags r:id="rId4"/>
            </p:custDataLst>
          </p:nvPr>
        </p:nvGrpSpPr>
        <p:grpSpPr>
          <a:xfrm>
            <a:off x="0" y="0"/>
            <a:ext cx="12192000" cy="635000"/>
            <a:chOff x="0" y="0"/>
            <a:chExt cx="12192000" cy="635000"/>
          </a:xfrm>
        </p:grpSpPr>
        <p:sp>
          <p:nvSpPr>
            <p:cNvPr id="5"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3</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a:xfrm>
            <a:off x="669881" y="633706"/>
            <a:ext cx="10852237" cy="648000"/>
          </a:xfrm>
        </p:spPr>
        <p:txBody>
          <a:bodyPr vert="horz" lIns="92075" tIns="46038" rIns="92075" bIns="46038" rtlCol="0" anchor="ctr" anchorCtr="0">
            <a:noAutofit/>
          </a:bodyPr>
          <a:lstStyle/>
          <a:p>
            <a:pPr algn="ctr" fontAlgn="base">
              <a:spcAft>
                <a:spcPct val="0"/>
              </a:spcAft>
              <a:defRPr/>
            </a:pPr>
            <a:r>
              <a:rPr lang="en-US" altLang="zh-CN" sz="3600" spc="0" dirty="0">
                <a:solidFill>
                  <a:schemeClr val="tx2"/>
                </a:solidFill>
                <a:effectLst>
                  <a:outerShdw blurRad="38100" dist="38100" dir="2700000">
                    <a:srgbClr val="000000"/>
                  </a:outerShdw>
                </a:effectLst>
              </a:rPr>
              <a:t>1.1.1 </a:t>
            </a:r>
            <a:r>
              <a:rPr lang="zh-CN" altLang="en-US" sz="3600" spc="0" dirty="0">
                <a:solidFill>
                  <a:schemeClr val="tx2"/>
                </a:solidFill>
                <a:effectLst>
                  <a:outerShdw blurRad="38100" dist="38100" dir="2700000">
                    <a:srgbClr val="000000"/>
                  </a:outerShdw>
                </a:effectLst>
              </a:rPr>
              <a:t>古代信息对抗</a:t>
            </a:r>
            <a:r>
              <a:rPr lang="zh-CN" altLang="en-US" sz="3600" spc="0" dirty="0" smtClean="0">
                <a:solidFill>
                  <a:schemeClr val="tx2"/>
                </a:solidFill>
                <a:effectLst>
                  <a:outerShdw blurRad="38100" dist="38100" dir="2700000">
                    <a:srgbClr val="000000"/>
                  </a:outerShdw>
                </a:effectLst>
              </a:rPr>
              <a:t>时期</a:t>
            </a:r>
            <a:r>
              <a:rPr lang="en-US" altLang="zh-CN" sz="3600" spc="0" dirty="0" smtClean="0">
                <a:solidFill>
                  <a:schemeClr val="tx2"/>
                </a:solidFill>
                <a:effectLst>
                  <a:outerShdw blurRad="38100" dist="38100" dir="2700000">
                    <a:srgbClr val="000000"/>
                  </a:outerShdw>
                </a:effectLst>
              </a:rPr>
              <a:t>(1)</a:t>
            </a:r>
            <a:r>
              <a:rPr lang="zh-CN" altLang="en-US" sz="3600" spc="0" dirty="0" smtClean="0">
                <a:solidFill>
                  <a:schemeClr val="tx2"/>
                </a:solidFill>
                <a:effectLst>
                  <a:outerShdw blurRad="38100" dist="38100" dir="2700000">
                    <a:srgbClr val="000000"/>
                  </a:outerShdw>
                </a:effectLst>
              </a:rPr>
              <a:t> </a:t>
            </a:r>
            <a:endParaRPr lang="zh-CN" altLang="en-US" sz="3600" spc="0" dirty="0">
              <a:solidFill>
                <a:schemeClr val="tx2"/>
              </a:solidFill>
              <a:effectLst>
                <a:outerShdw blurRad="38100" dist="38100" dir="2700000">
                  <a:srgbClr val="000000"/>
                </a:outerShdw>
              </a:effectLst>
            </a:endParaRPr>
          </a:p>
        </p:txBody>
      </p:sp>
      <p:sp>
        <p:nvSpPr>
          <p:cNvPr id="10243" name="文本占位符 11266"/>
          <p:cNvSpPr>
            <a:spLocks noGrp="1"/>
          </p:cNvSpPr>
          <p:nvPr>
            <p:ph idx="1"/>
          </p:nvPr>
        </p:nvSpPr>
        <p:spPr>
          <a:xfrm>
            <a:off x="1815353" y="1981200"/>
            <a:ext cx="8727141" cy="4419600"/>
          </a:xfrm>
        </p:spPr>
        <p:txBody>
          <a:bodyPr vert="horz" wrap="square" lIns="91440" tIns="45720" rIns="91440" bIns="45720" rtlCol="0" anchor="t">
            <a:noAutofit/>
          </a:bodyPr>
          <a:lstStyle/>
          <a:p>
            <a:pPr eaLnBrk="1" hangingPunct="1">
              <a:lnSpc>
                <a:spcPct val="90000"/>
              </a:lnSpc>
              <a:buNone/>
            </a:pPr>
            <a:r>
              <a:rPr lang="en-US" altLang="zh-CN" sz="2400" dirty="0"/>
              <a:t>      </a:t>
            </a:r>
            <a:r>
              <a:rPr lang="en-US" altLang="zh-CN" sz="2400" dirty="0" smtClean="0"/>
              <a:t> </a:t>
            </a:r>
            <a:r>
              <a:rPr lang="zh-CN" altLang="en-US" sz="2400" dirty="0" smtClean="0"/>
              <a:t>一直延续到无线电通信在军队中正式应用时为止。</a:t>
            </a:r>
            <a:endParaRPr lang="en-US" altLang="zh-CN" sz="2400" dirty="0" smtClean="0"/>
          </a:p>
          <a:p>
            <a:pPr eaLnBrk="1" hangingPunct="1">
              <a:lnSpc>
                <a:spcPct val="90000"/>
              </a:lnSpc>
              <a:buNone/>
            </a:pPr>
            <a:r>
              <a:rPr lang="zh-CN" altLang="en-US" sz="2400" dirty="0" smtClean="0">
                <a:solidFill>
                  <a:srgbClr val="0F73EE"/>
                </a:solidFill>
              </a:rPr>
              <a:t>获取敌人行动信息：</a:t>
            </a:r>
            <a:r>
              <a:rPr lang="zh-CN" altLang="en-US" sz="2400" dirty="0" smtClean="0"/>
              <a:t>探子、细作</a:t>
            </a:r>
            <a:r>
              <a:rPr lang="en-US" altLang="zh-CN" sz="2400" dirty="0" smtClean="0"/>
              <a:t>…..</a:t>
            </a:r>
            <a:endParaRPr lang="en-US" altLang="zh-CN" sz="2400" dirty="0" smtClean="0"/>
          </a:p>
          <a:p>
            <a:pPr eaLnBrk="1" hangingPunct="1">
              <a:lnSpc>
                <a:spcPct val="90000"/>
              </a:lnSpc>
              <a:buNone/>
            </a:pPr>
            <a:r>
              <a:rPr lang="zh-CN" altLang="en-US" sz="2400" dirty="0" smtClean="0">
                <a:solidFill>
                  <a:srgbClr val="0F73EE"/>
                </a:solidFill>
              </a:rPr>
              <a:t>传递信息：</a:t>
            </a:r>
            <a:r>
              <a:rPr lang="zh-CN" altLang="en-US" sz="2400" dirty="0" smtClean="0"/>
              <a:t>烽火、鼓、号角、信使、信号旗、驿站</a:t>
            </a:r>
            <a:r>
              <a:rPr lang="en-US" altLang="zh-CN" sz="2400" dirty="0" smtClean="0"/>
              <a:t>……</a:t>
            </a:r>
            <a:endParaRPr lang="en-US" altLang="zh-CN" sz="2400" dirty="0" smtClean="0"/>
          </a:p>
          <a:p>
            <a:pPr eaLnBrk="1" hangingPunct="1">
              <a:lnSpc>
                <a:spcPct val="90000"/>
              </a:lnSpc>
              <a:buNone/>
            </a:pPr>
            <a:endParaRPr lang="en-US" altLang="zh-CN" sz="2400" dirty="0" smtClean="0"/>
          </a:p>
          <a:p>
            <a:pPr eaLnBrk="1" hangingPunct="1">
              <a:lnSpc>
                <a:spcPct val="90000"/>
              </a:lnSpc>
              <a:buNone/>
            </a:pPr>
            <a:r>
              <a:rPr lang="zh-CN" altLang="en-US" sz="2400" dirty="0" smtClean="0">
                <a:solidFill>
                  <a:srgbClr val="0F73EE"/>
                </a:solidFill>
              </a:rPr>
              <a:t>信息处理：</a:t>
            </a:r>
            <a:r>
              <a:rPr lang="zh-CN" altLang="en-US" sz="2400" dirty="0" smtClean="0"/>
              <a:t>主要靠指挥人员的大脑。</a:t>
            </a:r>
            <a:endParaRPr lang="en-US" altLang="zh-CN" sz="2400" dirty="0" smtClean="0"/>
          </a:p>
          <a:p>
            <a:pPr eaLnBrk="1" hangingPunct="1">
              <a:lnSpc>
                <a:spcPct val="90000"/>
              </a:lnSpc>
              <a:buNone/>
            </a:pPr>
            <a:r>
              <a:rPr lang="zh-CN" altLang="en-US" sz="2400" dirty="0" smtClean="0">
                <a:solidFill>
                  <a:srgbClr val="0F73EE"/>
                </a:solidFill>
              </a:rPr>
              <a:t>信息的获取、传输与处理：</a:t>
            </a:r>
            <a:r>
              <a:rPr lang="zh-CN" altLang="en-US" sz="2400" dirty="0" smtClean="0"/>
              <a:t>主要靠人的感觉器官、人工操作。</a:t>
            </a:r>
            <a:endParaRPr lang="en-US" altLang="zh-CN" sz="2400" dirty="0" smtClean="0"/>
          </a:p>
          <a:p>
            <a:pPr eaLnBrk="1" hangingPunct="1">
              <a:lnSpc>
                <a:spcPct val="90000"/>
              </a:lnSpc>
              <a:buNone/>
            </a:pPr>
            <a:endParaRPr lang="en-US" altLang="zh-CN" sz="2400" dirty="0"/>
          </a:p>
          <a:p>
            <a:pPr eaLnBrk="1" hangingPunct="1">
              <a:lnSpc>
                <a:spcPct val="90000"/>
              </a:lnSpc>
              <a:buNone/>
            </a:pPr>
            <a:r>
              <a:rPr lang="zh-CN" altLang="en-US" sz="2400" dirty="0" smtClean="0">
                <a:solidFill>
                  <a:srgbClr val="0F73EE"/>
                </a:solidFill>
              </a:rPr>
              <a:t>相关历史故事：</a:t>
            </a:r>
            <a:r>
              <a:rPr lang="zh-CN" altLang="en-US" sz="2400" dirty="0" smtClean="0"/>
              <a:t>三国演义、四面楚歌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Effect transition="in" filter="wipe(left)">
                                      <p:cBhvr>
                                        <p:cTn id="7" dur="500"/>
                                        <p:tgtEl>
                                          <p:spTgt spid="1024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wipe(left)">
                                      <p:cBhvr>
                                        <p:cTn id="12" dur="500"/>
                                        <p:tgtEl>
                                          <p:spTgt spid="102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animEffect transition="in" filter="wipe(left)">
                                      <p:cBhvr>
                                        <p:cTn id="17" dur="500"/>
                                        <p:tgtEl>
                                          <p:spTgt spid="1024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3">
                                            <p:txEl>
                                              <p:pRg st="5" end="5"/>
                                            </p:txEl>
                                          </p:spTgt>
                                        </p:tgtEl>
                                        <p:attrNameLst>
                                          <p:attrName>style.visibility</p:attrName>
                                        </p:attrNameLst>
                                      </p:cBhvr>
                                      <p:to>
                                        <p:strVal val="visible"/>
                                      </p:to>
                                    </p:set>
                                    <p:animEffect transition="in" filter="wipe(left)">
                                      <p:cBhvr>
                                        <p:cTn id="22" dur="500"/>
                                        <p:tgtEl>
                                          <p:spTgt spid="1024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animEffect transition="in" filter="wipe(left)">
                                      <p:cBhvr>
                                        <p:cTn id="27" dur="5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1265"/>
          <p:cNvSpPr>
            <a:spLocks noGrp="1"/>
          </p:cNvSpPr>
          <p:nvPr>
            <p:ph type="title"/>
          </p:nvPr>
        </p:nvSpPr>
        <p:spPr>
          <a:xfrm>
            <a:off x="669881" y="633706"/>
            <a:ext cx="10852237" cy="648000"/>
          </a:xfrm>
        </p:spPr>
        <p:txBody>
          <a:bodyPr vert="horz" lIns="92075" tIns="46038" rIns="92075" bIns="46038" rtlCol="0" anchor="ctr" anchorCtr="0">
            <a:noAutofit/>
          </a:bodyPr>
          <a:lstStyle/>
          <a:p>
            <a:pPr algn="ctr" fontAlgn="base">
              <a:spcAft>
                <a:spcPct val="0"/>
              </a:spcAft>
              <a:defRPr/>
            </a:pPr>
            <a:r>
              <a:rPr lang="en-US" altLang="zh-CN" sz="3600" spc="0" dirty="0">
                <a:solidFill>
                  <a:schemeClr val="tx2"/>
                </a:solidFill>
                <a:effectLst>
                  <a:outerShdw blurRad="38100" dist="38100" dir="2700000">
                    <a:srgbClr val="000000"/>
                  </a:outerShdw>
                </a:effectLst>
              </a:rPr>
              <a:t>1.1.1 </a:t>
            </a:r>
            <a:r>
              <a:rPr lang="zh-CN" altLang="en-US" sz="3600" spc="0" dirty="0">
                <a:solidFill>
                  <a:schemeClr val="tx2"/>
                </a:solidFill>
                <a:effectLst>
                  <a:outerShdw blurRad="38100" dist="38100" dir="2700000">
                    <a:srgbClr val="000000"/>
                  </a:outerShdw>
                </a:effectLst>
              </a:rPr>
              <a:t>古代信息对抗</a:t>
            </a:r>
            <a:r>
              <a:rPr lang="zh-CN" altLang="en-US" sz="3600" spc="0" dirty="0" smtClean="0">
                <a:solidFill>
                  <a:schemeClr val="tx2"/>
                </a:solidFill>
                <a:effectLst>
                  <a:outerShdw blurRad="38100" dist="38100" dir="2700000">
                    <a:srgbClr val="000000"/>
                  </a:outerShdw>
                </a:effectLst>
              </a:rPr>
              <a:t>时期（</a:t>
            </a:r>
            <a:r>
              <a:rPr lang="en-US" altLang="zh-CN" sz="3600" spc="0" dirty="0" smtClean="0">
                <a:solidFill>
                  <a:schemeClr val="tx2"/>
                </a:solidFill>
                <a:effectLst>
                  <a:outerShdw blurRad="38100" dist="38100" dir="2700000">
                    <a:srgbClr val="000000"/>
                  </a:outerShdw>
                </a:effectLst>
              </a:rPr>
              <a:t>2</a:t>
            </a:r>
            <a:r>
              <a:rPr lang="zh-CN" altLang="en-US" sz="3600" spc="0" dirty="0" smtClean="0">
                <a:solidFill>
                  <a:schemeClr val="tx2"/>
                </a:solidFill>
                <a:effectLst>
                  <a:outerShdw blurRad="38100" dist="38100" dir="2700000">
                    <a:srgbClr val="000000"/>
                  </a:outerShdw>
                </a:effectLst>
              </a:rPr>
              <a:t>） </a:t>
            </a:r>
            <a:endParaRPr lang="zh-CN" altLang="en-US" sz="3600" spc="0" dirty="0">
              <a:solidFill>
                <a:schemeClr val="tx2"/>
              </a:solidFill>
              <a:effectLst>
                <a:outerShdw blurRad="38100" dist="38100" dir="2700000">
                  <a:srgbClr val="000000"/>
                </a:outerShdw>
              </a:effectLst>
            </a:endParaRPr>
          </a:p>
        </p:txBody>
      </p:sp>
      <p:sp>
        <p:nvSpPr>
          <p:cNvPr id="10243" name="文本占位符 11266"/>
          <p:cNvSpPr>
            <a:spLocks noGrp="1"/>
          </p:cNvSpPr>
          <p:nvPr>
            <p:ph idx="1"/>
          </p:nvPr>
        </p:nvSpPr>
        <p:spPr>
          <a:xfrm>
            <a:off x="1815353" y="1981200"/>
            <a:ext cx="8727141" cy="4419600"/>
          </a:xfrm>
        </p:spPr>
        <p:txBody>
          <a:bodyPr vert="horz" wrap="square" lIns="91440" tIns="45720" rIns="91440" bIns="45720" rtlCol="0" anchor="t">
            <a:noAutofit/>
          </a:bodyPr>
          <a:lstStyle/>
          <a:p>
            <a:pPr eaLnBrk="1" hangingPunct="1">
              <a:lnSpc>
                <a:spcPct val="90000"/>
              </a:lnSpc>
              <a:buNone/>
            </a:pPr>
            <a:r>
              <a:rPr lang="en-US" altLang="zh-CN" sz="2400" dirty="0"/>
              <a:t>         </a:t>
            </a:r>
            <a:r>
              <a:rPr lang="zh-CN" altLang="en-US" sz="2400" dirty="0" smtClean="0"/>
              <a:t>由于</a:t>
            </a:r>
            <a:r>
              <a:rPr lang="zh-CN" altLang="en-US" sz="2400" dirty="0"/>
              <a:t>古代战争中</a:t>
            </a:r>
            <a:r>
              <a:rPr lang="zh-CN" altLang="en-US" sz="2400" dirty="0">
                <a:solidFill>
                  <a:schemeClr val="folHlink"/>
                </a:solidFill>
              </a:rPr>
              <a:t>信息的获取主要靠人的感觉器官的直接作用</a:t>
            </a:r>
            <a:r>
              <a:rPr lang="zh-CN" altLang="en-US" sz="2400" dirty="0"/>
              <a:t>，作战双方控制信息的能力有限，</a:t>
            </a:r>
            <a:r>
              <a:rPr lang="zh-CN" altLang="en-US" sz="2400" dirty="0">
                <a:solidFill>
                  <a:schemeClr val="folHlink"/>
                </a:solidFill>
              </a:rPr>
              <a:t>信息作战的主要形式是指挥员之间的斗智行为</a:t>
            </a:r>
            <a:r>
              <a:rPr lang="zh-CN" altLang="en-US" sz="2400" dirty="0" smtClean="0"/>
              <a:t>。</a:t>
            </a:r>
            <a:endParaRPr lang="en-US" altLang="zh-CN" sz="2400" dirty="0" smtClean="0"/>
          </a:p>
          <a:p>
            <a:pPr eaLnBrk="1" hangingPunct="1">
              <a:lnSpc>
                <a:spcPct val="90000"/>
              </a:lnSpc>
              <a:buNone/>
            </a:pPr>
            <a:r>
              <a:rPr lang="en-US" altLang="zh-CN" sz="2400" dirty="0"/>
              <a:t> </a:t>
            </a:r>
            <a:r>
              <a:rPr lang="en-US" altLang="zh-CN" sz="2400" dirty="0" smtClean="0"/>
              <a:t>        </a:t>
            </a:r>
            <a:r>
              <a:rPr lang="zh-CN" altLang="en-US" sz="2400" dirty="0" smtClean="0"/>
              <a:t>古代</a:t>
            </a:r>
            <a:r>
              <a:rPr lang="zh-CN" altLang="en-US" sz="2400" dirty="0"/>
              <a:t>战争通常讲究斗智斗勇，斗智是双方指挥员之间的智力与指挥艺术的较量。哪一位指挥员有较高的聪明才智，掌握的信息多，而且能够综合应用，他就能够在战争回合中取得胜利。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a:xfrm>
            <a:off x="669882" y="648000"/>
            <a:ext cx="10852237" cy="648000"/>
          </a:xfrm>
        </p:spPr>
        <p:txBody>
          <a:bodyPr vert="horz" lIns="92075" tIns="46038" rIns="92075" bIns="46038" rtlCol="0" anchor="ctr" anchorCtr="0">
            <a:noAutofit/>
          </a:bodyPr>
          <a:lstStyle/>
          <a:p>
            <a:pPr algn="ctr" fontAlgn="base">
              <a:spcAft>
                <a:spcPct val="0"/>
              </a:spcAft>
              <a:defRPr/>
            </a:pPr>
            <a:r>
              <a:rPr lang="en-US" altLang="zh-CN" sz="4000" b="0" spc="0" dirty="0">
                <a:solidFill>
                  <a:schemeClr val="tx2"/>
                </a:solidFill>
                <a:effectLst>
                  <a:outerShdw blurRad="38100" dist="38100" dir="2700000">
                    <a:srgbClr val="000000"/>
                  </a:outerShdw>
                </a:effectLst>
              </a:rPr>
              <a:t>1.1.2</a:t>
            </a:r>
            <a:r>
              <a:rPr lang="zh-CN" altLang="en-US" sz="4000" b="0" spc="0" dirty="0">
                <a:solidFill>
                  <a:schemeClr val="tx2"/>
                </a:solidFill>
                <a:effectLst>
                  <a:outerShdw blurRad="38100" dist="38100" dir="2700000">
                    <a:srgbClr val="000000"/>
                  </a:outerShdw>
                </a:effectLst>
              </a:rPr>
              <a:t>电子对抗时期 </a:t>
            </a:r>
            <a:endParaRPr lang="zh-CN" altLang="en-US" sz="4000" b="0" spc="0" dirty="0">
              <a:solidFill>
                <a:schemeClr val="tx2"/>
              </a:solidFill>
              <a:effectLst>
                <a:outerShdw blurRad="38100" dist="38100" dir="2700000">
                  <a:srgbClr val="000000"/>
                </a:outerShdw>
              </a:effectLst>
            </a:endParaRPr>
          </a:p>
        </p:txBody>
      </p:sp>
      <p:sp>
        <p:nvSpPr>
          <p:cNvPr id="11267" name="文本占位符 12290"/>
          <p:cNvSpPr>
            <a:spLocks noGrp="1"/>
          </p:cNvSpPr>
          <p:nvPr>
            <p:ph idx="1"/>
          </p:nvPr>
        </p:nvSpPr>
        <p:spPr>
          <a:xfrm>
            <a:off x="1183341" y="1808280"/>
            <a:ext cx="9923929" cy="5041355"/>
          </a:xfrm>
        </p:spPr>
        <p:txBody>
          <a:bodyPr vert="horz" wrap="square" lIns="91440" tIns="45720" rIns="91440" bIns="45720" rtlCol="0" anchor="t">
            <a:noAutofit/>
          </a:bodyPr>
          <a:lstStyle/>
          <a:p>
            <a:pPr eaLnBrk="1" hangingPunct="1">
              <a:buNone/>
            </a:pPr>
            <a:r>
              <a:rPr lang="en-US" altLang="zh-CN" sz="2400" dirty="0"/>
              <a:t>         </a:t>
            </a:r>
            <a:r>
              <a:rPr lang="zh-CN" altLang="en-US" sz="2400" dirty="0" smtClean="0">
                <a:solidFill>
                  <a:srgbClr val="FF6600"/>
                </a:solidFill>
              </a:rPr>
              <a:t>电子</a:t>
            </a:r>
            <a:r>
              <a:rPr lang="zh-CN" altLang="en-US" sz="2400" dirty="0">
                <a:solidFill>
                  <a:srgbClr val="FF6600"/>
                </a:solidFill>
              </a:rPr>
              <a:t>信息对抗</a:t>
            </a:r>
            <a:r>
              <a:rPr lang="zh-CN" altLang="en-US" sz="2400" dirty="0"/>
              <a:t>是指敌对双方在</a:t>
            </a:r>
            <a:r>
              <a:rPr lang="zh-CN" altLang="en-US" sz="2400" dirty="0">
                <a:solidFill>
                  <a:schemeClr val="folHlink"/>
                </a:solidFill>
              </a:rPr>
              <a:t>电磁空间</a:t>
            </a:r>
            <a:r>
              <a:rPr lang="zh-CN" altLang="en-US" sz="2400" dirty="0"/>
              <a:t>中，围绕对</a:t>
            </a:r>
            <a:r>
              <a:rPr lang="zh-CN" altLang="en-US" sz="2400" dirty="0">
                <a:solidFill>
                  <a:schemeClr val="folHlink"/>
                </a:solidFill>
              </a:rPr>
              <a:t>电磁频谱的控制权与使用权</a:t>
            </a:r>
            <a:r>
              <a:rPr lang="zh-CN" altLang="en-US" sz="2400" dirty="0"/>
              <a:t>展开的斗争，这种斗争常被人们称为“</a:t>
            </a:r>
            <a:r>
              <a:rPr lang="zh-CN" altLang="en-US" sz="2400" dirty="0">
                <a:solidFill>
                  <a:schemeClr val="folHlink"/>
                </a:solidFill>
              </a:rPr>
              <a:t>电子战</a:t>
            </a:r>
            <a:r>
              <a:rPr lang="zh-CN" altLang="en-US" sz="2400" dirty="0"/>
              <a:t>”。电子战的样式与内容是随着用于军事的各种电子系统与设备（如无线通信、导航、雷达、敌我识别、计算机、制导武器等）的功能与技术的提高而发展与变化的。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2291" name="文本占位符 13314"/>
          <p:cNvSpPr>
            <a:spLocks noGrp="1"/>
          </p:cNvSpPr>
          <p:nvPr>
            <p:ph idx="1"/>
          </p:nvPr>
        </p:nvSpPr>
        <p:spPr>
          <a:xfrm>
            <a:off x="844695" y="2075930"/>
            <a:ext cx="10531518" cy="1944742"/>
          </a:xfrm>
        </p:spPr>
        <p:txBody>
          <a:bodyPr vert="horz" wrap="square" lIns="91440" tIns="45720" rIns="91440" bIns="45720" rtlCol="0" anchor="t">
            <a:noAutofit/>
          </a:bodyPr>
          <a:lstStyle/>
          <a:p>
            <a:pPr eaLnBrk="1" hangingPunct="1">
              <a:buNone/>
            </a:pPr>
            <a:r>
              <a:rPr lang="en-US" altLang="zh-CN" sz="2400" dirty="0">
                <a:solidFill>
                  <a:srgbClr val="FF6600"/>
                </a:solidFill>
              </a:rPr>
              <a:t>         </a:t>
            </a:r>
            <a:r>
              <a:rPr lang="zh-CN" altLang="en-US" sz="2400" dirty="0" smtClean="0">
                <a:solidFill>
                  <a:srgbClr val="FF6600"/>
                </a:solidFill>
              </a:rPr>
              <a:t>电子</a:t>
            </a:r>
            <a:r>
              <a:rPr lang="zh-CN" altLang="en-US" sz="2400" dirty="0">
                <a:solidFill>
                  <a:srgbClr val="FF6600"/>
                </a:solidFill>
              </a:rPr>
              <a:t>信息对抗</a:t>
            </a:r>
            <a:r>
              <a:rPr lang="zh-CN" altLang="en-US" sz="2400" dirty="0"/>
              <a:t>先后经历了</a:t>
            </a:r>
            <a:r>
              <a:rPr lang="zh-CN" altLang="en-US" sz="2400" dirty="0">
                <a:solidFill>
                  <a:schemeClr val="folHlink"/>
                </a:solidFill>
              </a:rPr>
              <a:t>无线电通信对抗、导航对抗、雷达对抗、武器制导对抗、电子毁伤</a:t>
            </a:r>
            <a:r>
              <a:rPr lang="zh-CN" altLang="en-US" sz="2400" dirty="0"/>
              <a:t>和</a:t>
            </a:r>
            <a:r>
              <a:rPr lang="zh-CN" altLang="en-US" sz="2400" dirty="0">
                <a:solidFill>
                  <a:schemeClr val="folHlink"/>
                </a:solidFill>
              </a:rPr>
              <a:t>综合电子战</a:t>
            </a:r>
            <a:r>
              <a:rPr lang="zh-CN" altLang="en-US" sz="2400" dirty="0"/>
              <a:t>等技术发展阶段，这些技术与手段的发展不是淘汰式的，而是增强式的和领域扩展式的。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电子信息对抗是指敌对双方在 </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中，围绕对</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 </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a:t>
            </a:r>
            <a:r>
              <a:rPr lang="zh-CN" altLang="en-US"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填空</a:t>
            </a:r>
            <a:r>
              <a:rPr lang="en-US" altLang="zh-CN" sz="2600" dirty="0" smtClean="0">
                <a:solidFill>
                  <a:srgbClr val="639EF4"/>
                </a:solidFill>
                <a:latin typeface="微软雅黑" panose="020B0503020204020204" pitchFamily="34" charset="-122"/>
                <a:ea typeface="微软雅黑" panose="020B0503020204020204" pitchFamily="34" charset="-122"/>
                <a:sym typeface="微软雅黑" panose="020B0503020204020204" pitchFamily="34" charset="-122"/>
              </a:rPr>
              <a:t>2]</a:t>
            </a:r>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的控制权与使用权展开的斗争，这种斗争常被人们称为“电子战”。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669881" y="553534"/>
            <a:ext cx="10852237" cy="648000"/>
          </a:xfrm>
        </p:spPr>
        <p:txBody>
          <a:bodyPr vert="horz" lIns="92075" tIns="46038" rIns="92075" bIns="46038" rtlCol="0" anchor="ctr" anchorCtr="0">
            <a:noAutofit/>
          </a:bodyPr>
          <a:lstStyle/>
          <a:p>
            <a:pPr algn="ctr" fontAlgn="base">
              <a:spcAft>
                <a:spcPct val="0"/>
              </a:spcAft>
              <a:defRPr/>
            </a:pPr>
            <a:r>
              <a:rPr lang="en-US" altLang="zh-CN" sz="3600" spc="0" dirty="0">
                <a:solidFill>
                  <a:schemeClr val="tx2"/>
                </a:solidFill>
                <a:effectLst>
                  <a:outerShdw blurRad="38100" dist="38100" dir="2700000">
                    <a:srgbClr val="000000"/>
                  </a:outerShdw>
                </a:effectLst>
              </a:rPr>
              <a:t>1</a:t>
            </a:r>
            <a:r>
              <a:rPr lang="zh-CN" altLang="en-US" sz="3600" spc="0" dirty="0">
                <a:solidFill>
                  <a:schemeClr val="tx2"/>
                </a:solidFill>
                <a:effectLst>
                  <a:outerShdw blurRad="38100" dist="38100" dir="2700000">
                    <a:srgbClr val="000000"/>
                  </a:outerShdw>
                </a:effectLst>
              </a:rPr>
              <a:t>、初期电子对抗</a:t>
            </a:r>
            <a:r>
              <a:rPr lang="zh-CN" altLang="en-US" sz="4400" b="0" spc="0" dirty="0">
                <a:solidFill>
                  <a:schemeClr val="tx2"/>
                </a:solidFill>
                <a:effectLst>
                  <a:outerShdw blurRad="38100" dist="38100" dir="2700000">
                    <a:srgbClr val="000000"/>
                  </a:outerShdw>
                </a:effectLst>
              </a:rPr>
              <a:t> </a:t>
            </a:r>
            <a:endParaRPr lang="zh-CN" altLang="en-US" sz="4400" b="0" spc="0" dirty="0">
              <a:solidFill>
                <a:schemeClr val="tx2"/>
              </a:solidFill>
              <a:effectLst>
                <a:outerShdw blurRad="38100" dist="38100" dir="2700000">
                  <a:srgbClr val="000000"/>
                </a:outerShdw>
              </a:effectLst>
            </a:endParaRPr>
          </a:p>
        </p:txBody>
      </p:sp>
      <p:sp>
        <p:nvSpPr>
          <p:cNvPr id="13315" name="文本占位符 14338"/>
          <p:cNvSpPr>
            <a:spLocks noGrp="1"/>
          </p:cNvSpPr>
          <p:nvPr>
            <p:ph idx="1"/>
          </p:nvPr>
        </p:nvSpPr>
        <p:spPr>
          <a:xfrm>
            <a:off x="1613988" y="2583260"/>
            <a:ext cx="9332259" cy="3285281"/>
          </a:xfrm>
        </p:spPr>
        <p:txBody>
          <a:bodyPr vert="horz" wrap="square" lIns="91440" tIns="45720" rIns="91440" bIns="45720" rtlCol="0" anchor="t">
            <a:noAutofit/>
          </a:bodyPr>
          <a:lstStyle/>
          <a:p>
            <a:pPr marL="0" indent="0" eaLnBrk="1" hangingPunct="1">
              <a:buNone/>
            </a:pPr>
            <a:r>
              <a:rPr lang="en-US" altLang="zh-CN" sz="2400" dirty="0" smtClean="0">
                <a:solidFill>
                  <a:schemeClr val="folHlink"/>
                </a:solidFill>
              </a:rPr>
              <a:t>       1905</a:t>
            </a:r>
            <a:r>
              <a:rPr lang="zh-CN" altLang="en-US" sz="2400" dirty="0">
                <a:solidFill>
                  <a:schemeClr val="folHlink"/>
                </a:solidFill>
              </a:rPr>
              <a:t>年</a:t>
            </a:r>
            <a:r>
              <a:rPr lang="en-US" altLang="zh-CN" sz="2400" dirty="0">
                <a:solidFill>
                  <a:schemeClr val="folHlink"/>
                </a:solidFill>
              </a:rPr>
              <a:t>5</a:t>
            </a:r>
            <a:r>
              <a:rPr lang="zh-CN" altLang="en-US" sz="2400" dirty="0">
                <a:solidFill>
                  <a:schemeClr val="folHlink"/>
                </a:solidFill>
              </a:rPr>
              <a:t>月</a:t>
            </a:r>
            <a:r>
              <a:rPr lang="en-US" altLang="zh-CN" sz="2400" dirty="0">
                <a:solidFill>
                  <a:schemeClr val="folHlink"/>
                </a:solidFill>
              </a:rPr>
              <a:t>27</a:t>
            </a:r>
            <a:r>
              <a:rPr lang="zh-CN" altLang="en-US" sz="2400" dirty="0">
                <a:solidFill>
                  <a:schemeClr val="folHlink"/>
                </a:solidFill>
              </a:rPr>
              <a:t>日</a:t>
            </a:r>
            <a:r>
              <a:rPr lang="zh-CN" altLang="en-US" sz="2400" b="1" dirty="0">
                <a:solidFill>
                  <a:schemeClr val="accent5">
                    <a:lumMod val="75000"/>
                  </a:schemeClr>
                </a:solidFill>
              </a:rPr>
              <a:t>日本海大海战 </a:t>
            </a:r>
            <a:r>
              <a:rPr lang="zh-CN" altLang="en-US" sz="2400" dirty="0"/>
              <a:t>，俄军舰队全军覆没，共有</a:t>
            </a:r>
            <a:r>
              <a:rPr lang="en-US" altLang="zh-CN" sz="2400" dirty="0"/>
              <a:t>19</a:t>
            </a:r>
            <a:r>
              <a:rPr lang="zh-CN" altLang="en-US" sz="2400" dirty="0"/>
              <a:t>艘军舰被击沉，</a:t>
            </a:r>
            <a:r>
              <a:rPr lang="en-US" altLang="zh-CN" sz="2400" dirty="0"/>
              <a:t>7</a:t>
            </a:r>
            <a:r>
              <a:rPr lang="zh-CN" altLang="en-US" sz="2400" dirty="0"/>
              <a:t>艘被俘获，伤亡</a:t>
            </a:r>
            <a:r>
              <a:rPr lang="en-US" altLang="zh-CN" sz="2400" dirty="0"/>
              <a:t>11000</a:t>
            </a:r>
            <a:r>
              <a:rPr lang="zh-CN" altLang="en-US" sz="2400" dirty="0"/>
              <a:t>人。而日军损失很小。日军取得这样大的胜利，主要因为他们在两军无线通讯对抗中，取得了控制信息的优势。 </a:t>
            </a:r>
            <a:r>
              <a:rPr lang="en-US" altLang="zh-CN" sz="2400" dirty="0">
                <a:solidFill>
                  <a:schemeClr val="hlink"/>
                </a:solidFill>
              </a:rPr>
              <a:t>(</a:t>
            </a:r>
            <a:r>
              <a:rPr lang="zh-CN" altLang="en-US" sz="2400" dirty="0">
                <a:solidFill>
                  <a:schemeClr val="hlink"/>
                </a:solidFill>
              </a:rPr>
              <a:t>干扰</a:t>
            </a:r>
            <a:r>
              <a:rPr lang="en-US" altLang="zh-CN" sz="2400" dirty="0">
                <a:solidFill>
                  <a:schemeClr val="hlink"/>
                </a:solidFill>
              </a:rPr>
              <a:t>+</a:t>
            </a:r>
            <a:r>
              <a:rPr lang="zh-CN" altLang="en-US" sz="2400" dirty="0">
                <a:solidFill>
                  <a:schemeClr val="hlink"/>
                </a:solidFill>
              </a:rPr>
              <a:t>窃听！</a:t>
            </a:r>
            <a:r>
              <a:rPr lang="en-US" altLang="zh-CN" sz="2400" dirty="0" smtClean="0">
                <a:solidFill>
                  <a:schemeClr val="hlink"/>
                </a:solidFill>
              </a:rPr>
              <a:t>)</a:t>
            </a:r>
            <a:endParaRPr lang="en-US" altLang="zh-CN" sz="2400" dirty="0" smtClean="0">
              <a:solidFill>
                <a:schemeClr val="hlink"/>
              </a:solidFill>
            </a:endParaRPr>
          </a:p>
          <a:p>
            <a:pPr marL="0" indent="0" eaLnBrk="1" hangingPunct="1">
              <a:buNone/>
            </a:pPr>
            <a:r>
              <a:rPr lang="en-US" altLang="zh-CN" sz="2400" dirty="0">
                <a:solidFill>
                  <a:schemeClr val="hlink"/>
                </a:solidFill>
              </a:rPr>
              <a:t> </a:t>
            </a:r>
            <a:r>
              <a:rPr lang="en-US" altLang="zh-CN" sz="2400" dirty="0" smtClean="0">
                <a:solidFill>
                  <a:schemeClr val="hlink"/>
                </a:solidFill>
              </a:rPr>
              <a:t>      </a:t>
            </a:r>
            <a:r>
              <a:rPr lang="zh-CN" altLang="en-US" sz="2400" dirty="0" smtClean="0"/>
              <a:t>这</a:t>
            </a:r>
            <a:r>
              <a:rPr lang="zh-CN" altLang="en-US" sz="2400" dirty="0"/>
              <a:t>是人类历史上</a:t>
            </a:r>
            <a:r>
              <a:rPr lang="zh-CN" altLang="en-US" sz="2400" dirty="0">
                <a:solidFill>
                  <a:schemeClr val="folHlink"/>
                </a:solidFill>
              </a:rPr>
              <a:t>第一次</a:t>
            </a:r>
            <a:r>
              <a:rPr lang="zh-CN" altLang="en-US" sz="2400" dirty="0"/>
              <a:t>以</a:t>
            </a:r>
            <a:r>
              <a:rPr lang="zh-CN" altLang="en-US" sz="2400" dirty="0">
                <a:solidFill>
                  <a:schemeClr val="folHlink"/>
                </a:solidFill>
              </a:rPr>
              <a:t>电子对抗</a:t>
            </a:r>
            <a:r>
              <a:rPr lang="zh-CN" altLang="en-US" sz="2400" dirty="0"/>
              <a:t>的形式进行</a:t>
            </a:r>
            <a:r>
              <a:rPr lang="zh-CN" altLang="en-US" sz="2400" dirty="0">
                <a:solidFill>
                  <a:schemeClr val="folHlink"/>
                </a:solidFill>
              </a:rPr>
              <a:t>战场大规模信息战</a:t>
            </a:r>
            <a:r>
              <a:rPr lang="zh-CN" altLang="en-US" sz="2400" dirty="0"/>
              <a:t> 。</a:t>
            </a:r>
            <a:endParaRPr lang="zh-CN" altLang="en-US" sz="2400" dirty="0"/>
          </a:p>
        </p:txBody>
      </p:sp>
      <p:grpSp>
        <p:nvGrpSpPr>
          <p:cNvPr id="4" name="组合 3"/>
          <p:cNvGrpSpPr/>
          <p:nvPr/>
        </p:nvGrpSpPr>
        <p:grpSpPr>
          <a:xfrm>
            <a:off x="4427318" y="1496871"/>
            <a:ext cx="3337362" cy="791052"/>
            <a:chOff x="824072" y="1564267"/>
            <a:chExt cx="3337362" cy="791052"/>
          </a:xfrm>
        </p:grpSpPr>
        <p:sp>
          <p:nvSpPr>
            <p:cNvPr id="5" name="矩形: 圆角 9"/>
            <p:cNvSpPr/>
            <p:nvPr/>
          </p:nvSpPr>
          <p:spPr>
            <a:xfrm>
              <a:off x="824072" y="1740416"/>
              <a:ext cx="333736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701522" y="1828091"/>
              <a:ext cx="2339102" cy="480131"/>
            </a:xfrm>
            <a:prstGeom prst="rect">
              <a:avLst/>
            </a:prstGeom>
          </p:spPr>
          <p:txBody>
            <a:bodyPr wrap="none">
              <a:spAutoFit/>
            </a:bodyPr>
            <a:lstStyle/>
            <a:p>
              <a:pPr>
                <a:lnSpc>
                  <a:spcPct val="90000"/>
                </a:lnSpc>
              </a:pPr>
              <a:r>
                <a:rPr lang="zh-CN" altLang="en-US" sz="2800" dirty="0" smtClean="0">
                  <a:solidFill>
                    <a:schemeClr val="bg1"/>
                  </a:solidFill>
                  <a:latin typeface="+mj-ea"/>
                  <a:ea typeface="+mj-ea"/>
                </a:rPr>
                <a:t>日本海大海战</a:t>
              </a:r>
              <a:endParaRPr lang="zh-CN" altLang="en-US" sz="2800" dirty="0">
                <a:solidFill>
                  <a:schemeClr val="bg1"/>
                </a:solidFill>
                <a:latin typeface="+mj-ea"/>
                <a:ea typeface="+mj-ea"/>
              </a:endParaRPr>
            </a:p>
          </p:txBody>
        </p:sp>
        <p:pic>
          <p:nvPicPr>
            <p:cNvPr id="7" name="图片 6"/>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4339" name="文本占位符 15362"/>
          <p:cNvSpPr>
            <a:spLocks noGrp="1"/>
          </p:cNvSpPr>
          <p:nvPr>
            <p:ph idx="1"/>
          </p:nvPr>
        </p:nvSpPr>
        <p:spPr>
          <a:xfrm>
            <a:off x="1047830" y="1639837"/>
            <a:ext cx="10491177" cy="2859141"/>
          </a:xfrm>
        </p:spPr>
        <p:txBody>
          <a:bodyPr vert="horz" wrap="square" lIns="91440" tIns="45720" rIns="91440" bIns="45720" rtlCol="0" anchor="t">
            <a:noAutofit/>
          </a:bodyPr>
          <a:lstStyle/>
          <a:p>
            <a:pPr marL="0" indent="0" eaLnBrk="1" hangingPunct="1">
              <a:buNone/>
            </a:pPr>
            <a:r>
              <a:rPr lang="zh-CN" altLang="en-US" sz="2400" dirty="0" smtClean="0"/>
              <a:t>       到</a:t>
            </a:r>
            <a:r>
              <a:rPr lang="zh-CN" altLang="en-US" sz="2400" dirty="0"/>
              <a:t>了</a:t>
            </a:r>
            <a:r>
              <a:rPr lang="zh-CN" altLang="en-US" sz="2400" dirty="0">
                <a:solidFill>
                  <a:schemeClr val="folHlink"/>
                </a:solidFill>
              </a:rPr>
              <a:t>第一次世界大战</a:t>
            </a:r>
            <a:r>
              <a:rPr lang="zh-CN" altLang="en-US" sz="2400" dirty="0"/>
              <a:t>，</a:t>
            </a:r>
            <a:r>
              <a:rPr lang="en-US" altLang="zh-CN" sz="2400" dirty="0"/>
              <a:t>1916</a:t>
            </a:r>
            <a:r>
              <a:rPr lang="zh-CN" altLang="en-US" sz="2400" dirty="0"/>
              <a:t>年</a:t>
            </a:r>
            <a:r>
              <a:rPr lang="en-US" altLang="zh-CN" sz="2400" dirty="0"/>
              <a:t>5</a:t>
            </a:r>
            <a:r>
              <a:rPr lang="zh-CN" altLang="en-US" sz="2400" dirty="0"/>
              <a:t>月底，英德海军在</a:t>
            </a:r>
            <a:r>
              <a:rPr lang="zh-CN" altLang="en-US" sz="2400" dirty="0">
                <a:solidFill>
                  <a:schemeClr val="accent5">
                    <a:lumMod val="75000"/>
                  </a:schemeClr>
                </a:solidFill>
              </a:rPr>
              <a:t>日德兰大海战</a:t>
            </a:r>
            <a:r>
              <a:rPr lang="zh-CN" altLang="en-US" sz="2400" dirty="0"/>
              <a:t>中，德军强大的公海舰队以</a:t>
            </a:r>
            <a:r>
              <a:rPr lang="zh-CN" altLang="en-US" sz="2400" dirty="0">
                <a:solidFill>
                  <a:srgbClr val="0F73EE"/>
                </a:solidFill>
              </a:rPr>
              <a:t>无线电静默</a:t>
            </a:r>
            <a:r>
              <a:rPr lang="zh-CN" altLang="en-US" sz="2400" dirty="0"/>
              <a:t>方式隐蔽尾随在一小型舰队的后面，并让该小型舰队频繁发报故意暴露自己的位置，引诱英军主力舰队出航。 </a:t>
            </a:r>
            <a:endParaRPr lang="zh-CN" altLang="en-US" sz="24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830" y="3300896"/>
            <a:ext cx="6194007" cy="2907187"/>
          </a:xfrm>
          <a:prstGeom prst="rect">
            <a:avLst/>
          </a:prstGeom>
        </p:spPr>
      </p:pic>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12376" y="3300896"/>
            <a:ext cx="5109744" cy="2899030"/>
          </a:xfrm>
          <a:prstGeom prst="rect">
            <a:avLst/>
          </a:prstGeom>
        </p:spPr>
      </p:pic>
      <p:grpSp>
        <p:nvGrpSpPr>
          <p:cNvPr id="6" name="组合 5"/>
          <p:cNvGrpSpPr/>
          <p:nvPr/>
        </p:nvGrpSpPr>
        <p:grpSpPr>
          <a:xfrm>
            <a:off x="4332738" y="432000"/>
            <a:ext cx="3337362" cy="791052"/>
            <a:chOff x="824072" y="1564267"/>
            <a:chExt cx="3337362" cy="791052"/>
          </a:xfrm>
        </p:grpSpPr>
        <p:sp>
          <p:nvSpPr>
            <p:cNvPr id="7" name="矩形: 圆角 9"/>
            <p:cNvSpPr/>
            <p:nvPr/>
          </p:nvSpPr>
          <p:spPr>
            <a:xfrm>
              <a:off x="824072" y="1740416"/>
              <a:ext cx="333736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1701522" y="1828091"/>
              <a:ext cx="2339102" cy="480131"/>
            </a:xfrm>
            <a:prstGeom prst="rect">
              <a:avLst/>
            </a:prstGeom>
          </p:spPr>
          <p:txBody>
            <a:bodyPr wrap="none">
              <a:spAutoFit/>
            </a:bodyPr>
            <a:lstStyle/>
            <a:p>
              <a:pPr>
                <a:lnSpc>
                  <a:spcPct val="90000"/>
                </a:lnSpc>
              </a:pPr>
              <a:r>
                <a:rPr lang="zh-CN" altLang="en-US" sz="2800" dirty="0">
                  <a:solidFill>
                    <a:schemeClr val="bg1"/>
                  </a:solidFill>
                  <a:latin typeface="+mj-ea"/>
                  <a:ea typeface="+mj-ea"/>
                </a:rPr>
                <a:t>日德兰大</a:t>
              </a:r>
              <a:r>
                <a:rPr lang="zh-CN" altLang="en-US" sz="2800" dirty="0" smtClean="0">
                  <a:solidFill>
                    <a:schemeClr val="bg1"/>
                  </a:solidFill>
                  <a:latin typeface="+mj-ea"/>
                  <a:ea typeface="+mj-ea"/>
                </a:rPr>
                <a:t>海战</a:t>
              </a:r>
              <a:endParaRPr lang="zh-CN" altLang="en-US" sz="2800" dirty="0">
                <a:solidFill>
                  <a:schemeClr val="bg1"/>
                </a:solidFill>
                <a:latin typeface="+mj-ea"/>
                <a:ea typeface="+mj-ea"/>
              </a:endParaRPr>
            </a:p>
          </p:txBody>
        </p:sp>
        <p:pic>
          <p:nvPicPr>
            <p:cNvPr id="9" name="图片 8"/>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
        <p:nvSpPr>
          <p:cNvPr id="4" name="矩形 3"/>
          <p:cNvSpPr/>
          <p:nvPr/>
        </p:nvSpPr>
        <p:spPr>
          <a:xfrm>
            <a:off x="2763078" y="6199926"/>
            <a:ext cx="1569660" cy="369332"/>
          </a:xfrm>
          <a:prstGeom prst="rect">
            <a:avLst/>
          </a:prstGeom>
        </p:spPr>
        <p:txBody>
          <a:bodyPr wrap="none">
            <a:spAutoFit/>
          </a:bodyPr>
          <a:lstStyle/>
          <a:p>
            <a:r>
              <a:rPr lang="zh-CN" altLang="en-US" dirty="0">
                <a:solidFill>
                  <a:srgbClr val="555555"/>
                </a:solidFill>
                <a:latin typeface="宋体" panose="02010600030101010101" pitchFamily="2" charset="-122"/>
                <a:ea typeface="宋体" panose="02010600030101010101" pitchFamily="2" charset="-122"/>
              </a:rPr>
              <a:t>英国皇家海军</a:t>
            </a:r>
            <a:endParaRPr lang="zh-CN" altLang="en-US" dirty="0"/>
          </a:p>
        </p:txBody>
      </p:sp>
      <p:sp>
        <p:nvSpPr>
          <p:cNvPr id="5" name="矩形 4"/>
          <p:cNvSpPr/>
          <p:nvPr/>
        </p:nvSpPr>
        <p:spPr>
          <a:xfrm>
            <a:off x="8562994" y="6208083"/>
            <a:ext cx="1107996" cy="369332"/>
          </a:xfrm>
          <a:prstGeom prst="rect">
            <a:avLst/>
          </a:prstGeom>
        </p:spPr>
        <p:txBody>
          <a:bodyPr wrap="none">
            <a:spAutoFit/>
          </a:bodyPr>
          <a:lstStyle/>
          <a:p>
            <a:r>
              <a:rPr lang="zh-CN" altLang="en-US" dirty="0">
                <a:solidFill>
                  <a:srgbClr val="555555"/>
                </a:solidFill>
                <a:latin typeface="宋体" panose="02010600030101010101" pitchFamily="2" charset="-122"/>
                <a:ea typeface="宋体" panose="02010600030101010101" pitchFamily="2" charset="-122"/>
              </a:rPr>
              <a:t>德国海军</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5363" name="文本占位符 16386"/>
          <p:cNvSpPr>
            <a:spLocks noGrp="1"/>
          </p:cNvSpPr>
          <p:nvPr>
            <p:ph idx="1"/>
          </p:nvPr>
        </p:nvSpPr>
        <p:spPr>
          <a:xfrm>
            <a:off x="669882" y="863505"/>
            <a:ext cx="6642204" cy="3931024"/>
          </a:xfrm>
        </p:spPr>
        <p:txBody>
          <a:bodyPr vert="horz" wrap="square" lIns="91440" tIns="45720" rIns="91440" bIns="45720" rtlCol="0" anchor="t">
            <a:noAutofit/>
          </a:bodyPr>
          <a:lstStyle/>
          <a:p>
            <a:pPr eaLnBrk="1" hangingPunct="1">
              <a:buNone/>
            </a:pPr>
            <a:r>
              <a:rPr lang="en-US" altLang="zh-CN" sz="2400" dirty="0"/>
              <a:t>          </a:t>
            </a:r>
            <a:r>
              <a:rPr lang="zh-CN" altLang="en-US" sz="2400" dirty="0" smtClean="0"/>
              <a:t>这</a:t>
            </a:r>
            <a:r>
              <a:rPr lang="zh-CN" altLang="en-US" sz="2400" dirty="0"/>
              <a:t>一招果然使英军海军司令</a:t>
            </a:r>
            <a:r>
              <a:rPr lang="zh-CN" altLang="en-US" sz="2400" i="1" dirty="0"/>
              <a:t>杰力克</a:t>
            </a:r>
            <a:r>
              <a:rPr lang="zh-CN" altLang="en-US" sz="2400" dirty="0"/>
              <a:t>上当，结果英军遭到较大损失，英军损失</a:t>
            </a:r>
            <a:r>
              <a:rPr lang="en-US" altLang="zh-CN" sz="2400" dirty="0"/>
              <a:t>14</a:t>
            </a:r>
            <a:r>
              <a:rPr lang="zh-CN" altLang="en-US" sz="2400" dirty="0"/>
              <a:t>艘军舰，战死</a:t>
            </a:r>
            <a:r>
              <a:rPr lang="en-US" altLang="zh-CN" sz="2400" dirty="0"/>
              <a:t>6000</a:t>
            </a:r>
            <a:r>
              <a:rPr lang="zh-CN" altLang="en-US" sz="2400" dirty="0"/>
              <a:t>余人，德军舰队损失也不小。集中体现了这种新的电子对抗的形式。这是一次近代战争史上人类利用</a:t>
            </a:r>
            <a:r>
              <a:rPr lang="zh-CN" altLang="en-US" sz="2400" dirty="0">
                <a:solidFill>
                  <a:schemeClr val="folHlink"/>
                </a:solidFill>
              </a:rPr>
              <a:t>电子欺骗</a:t>
            </a:r>
            <a:r>
              <a:rPr lang="zh-CN" altLang="en-US" sz="2400" dirty="0"/>
              <a:t>取得战争的胜利的电子战的战例。 </a:t>
            </a:r>
            <a:endParaRPr lang="zh-CN" altLang="en-US" sz="2400" dirty="0"/>
          </a:p>
          <a:p>
            <a:pPr eaLnBrk="1" hangingPunct="1">
              <a:buNone/>
            </a:pPr>
            <a:r>
              <a:rPr lang="zh-CN" altLang="en-US" sz="2400" dirty="0"/>
              <a:t>          </a:t>
            </a:r>
            <a:r>
              <a:rPr lang="zh-CN" altLang="en-US" sz="2400" dirty="0" smtClean="0"/>
              <a:t>这</a:t>
            </a:r>
            <a:r>
              <a:rPr lang="zh-CN" altLang="en-US" sz="2400" dirty="0"/>
              <a:t>一时期的电子对抗中，是</a:t>
            </a:r>
            <a:r>
              <a:rPr lang="zh-CN" altLang="en-US" sz="2400" dirty="0">
                <a:solidFill>
                  <a:schemeClr val="folHlink"/>
                </a:solidFill>
              </a:rPr>
              <a:t>以获取情报为主要目的</a:t>
            </a:r>
            <a:r>
              <a:rPr lang="zh-CN" altLang="en-US" sz="2400" dirty="0"/>
              <a:t>，干扰是次要的，因此，可以把这一阶段的电子对抗看作是一种原始的和简单的通信对抗。 </a:t>
            </a:r>
            <a:endParaRPr lang="zh-CN" altLang="en-US" sz="2400" dirty="0"/>
          </a:p>
        </p:txBody>
      </p:sp>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b="8889"/>
          <a:stretch>
            <a:fillRect/>
          </a:stretch>
        </p:blipFill>
        <p:spPr>
          <a:xfrm>
            <a:off x="7475580" y="659757"/>
            <a:ext cx="4314352" cy="5469038"/>
          </a:xfrm>
          <a:prstGeom prst="rect">
            <a:avLst/>
          </a:prstGeom>
        </p:spPr>
      </p:pic>
      <p:sp>
        <p:nvSpPr>
          <p:cNvPr id="3" name="矩形 2"/>
          <p:cNvSpPr/>
          <p:nvPr/>
        </p:nvSpPr>
        <p:spPr>
          <a:xfrm>
            <a:off x="8911226" y="6171886"/>
            <a:ext cx="1800493" cy="369332"/>
          </a:xfrm>
          <a:prstGeom prst="rect">
            <a:avLst/>
          </a:prstGeom>
        </p:spPr>
        <p:txBody>
          <a:bodyPr wrap="none">
            <a:spAutoFit/>
          </a:bodyPr>
          <a:lstStyle/>
          <a:p>
            <a:r>
              <a:rPr lang="zh-CN" altLang="en-US" dirty="0"/>
              <a:t>海军司令</a:t>
            </a:r>
            <a:r>
              <a:rPr lang="zh-CN" altLang="en-US" i="1" dirty="0"/>
              <a:t>杰力克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smtClean="0"/>
              <a:t>以下哪次战役是人类</a:t>
            </a:r>
            <a:r>
              <a:rPr lang="zh-CN" altLang="en-US" sz="2800" dirty="0"/>
              <a:t>历史上</a:t>
            </a:r>
            <a:r>
              <a:rPr lang="zh-CN" altLang="en-US" sz="2800" dirty="0">
                <a:solidFill>
                  <a:schemeClr val="folHlink"/>
                </a:solidFill>
              </a:rPr>
              <a:t>第一次</a:t>
            </a:r>
            <a:r>
              <a:rPr lang="zh-CN" altLang="en-US" sz="2800" dirty="0"/>
              <a:t>以</a:t>
            </a:r>
            <a:r>
              <a:rPr lang="zh-CN" altLang="en-US" sz="2800" dirty="0">
                <a:solidFill>
                  <a:schemeClr val="folHlink"/>
                </a:solidFill>
              </a:rPr>
              <a:t>电子对抗</a:t>
            </a:r>
            <a:r>
              <a:rPr lang="zh-CN" altLang="en-US" sz="2800" dirty="0"/>
              <a:t>的形式进行</a:t>
            </a:r>
            <a:r>
              <a:rPr lang="zh-CN" altLang="en-US" sz="2800" dirty="0">
                <a:solidFill>
                  <a:schemeClr val="folHlink"/>
                </a:solidFill>
              </a:rPr>
              <a:t>战场大规模信息战</a:t>
            </a:r>
            <a:r>
              <a:rPr lang="zh-CN" altLang="en-US" sz="2800" dirty="0"/>
              <a:t> 。</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1905</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年的日本海大海战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1905</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年的日德兰大海战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1916</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年</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的日本海大海战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5"/>
            </p:custDataLst>
          </p:nvPr>
        </p:nvSpPr>
        <p:spPr>
          <a:xfrm>
            <a:off x="2438400" y="5380503"/>
            <a:ext cx="8534400" cy="642938"/>
          </a:xfrm>
          <a:prstGeom prst="rect">
            <a:avLst/>
          </a:prstGeom>
          <a:noFill/>
        </p:spPr>
        <p:txBody>
          <a:bodyPr vert="horz" rtlCol="0" anchor="ctr" anchorCtr="0">
            <a:noAutofit/>
          </a:bodyPr>
          <a:lstStyle/>
          <a:p>
            <a:r>
              <a:rPr lang="en-US" altLang="zh-CN"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1916</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年的日德兰大</a:t>
            </a:r>
            <a:r>
              <a:rPr lang="zh-CN" altLang="en-US" sz="2600" dirty="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6"/>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7"/>
            </p:custDataLst>
          </p:nvPr>
        </p:nvSpPr>
        <p:spPr>
          <a:xfrm>
            <a:off x="1571625" y="370760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圆角矩形 13"/>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1" hidden="1"/>
          <p:cNvSpPr/>
          <p:nvPr>
            <p:custDataLst>
              <p:tags r:id="rId11"/>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23" name="文本框 22" hidden="1"/>
          <p:cNvSpPr txBox="1"/>
          <p:nvPr>
            <p:custDataLst>
              <p:tags r:id="rId12"/>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文本框 23" hidden="1"/>
          <p:cNvSpPr txBox="1"/>
          <p:nvPr>
            <p:custDataLst>
              <p:tags r:id="rId13"/>
            </p:custDataLst>
          </p:nvPr>
        </p:nvSpPr>
        <p:spPr>
          <a:xfrm>
            <a:off x="12827000" y="1270000"/>
            <a:ext cx="3332480" cy="1905000"/>
          </a:xfrm>
          <a:prstGeom prst="rect">
            <a:avLst/>
          </a:prstGeom>
          <a:noFill/>
        </p:spPr>
        <p:txBody>
          <a:bodyPr vert="horz" rtlCol="0" anchor="t" anchorCtr="0">
            <a:spAutoFit/>
          </a:bodyPr>
          <a:lstStyle/>
          <a:p>
            <a:r>
              <a:rPr lang="zh-CN" altLang="en-US" sz="20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此处添加答案解析</a:t>
            </a:r>
            <a:endParaRPr lang="zh-CN" altLang="en-US" sz="20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2" name="组合 21" hidden="1"/>
          <p:cNvGrpSpPr/>
          <p:nvPr>
            <p:custDataLst>
              <p:tags r:id="rId14"/>
            </p:custDataLst>
          </p:nvPr>
        </p:nvGrpSpPr>
        <p:grpSpPr>
          <a:xfrm>
            <a:off x="12585700" y="0"/>
            <a:ext cx="3815080" cy="647700"/>
            <a:chOff x="12585700" y="0"/>
            <a:chExt cx="3815080" cy="647700"/>
          </a:xfrm>
        </p:grpSpPr>
        <p:sp>
          <p:nvSpPr>
            <p:cNvPr id="3" name="RemarkBack" hidden="1"/>
            <p:cNvSpPr/>
            <p:nvPr>
              <p:custDataLst>
                <p:tags r:id="rId15"/>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hidden="1"/>
            <p:cNvSpPr/>
            <p:nvPr>
              <p:custDataLst>
                <p:tags r:id="rId16"/>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hidden="1"/>
            <p:cNvSpPr txBox="1"/>
            <p:nvPr>
              <p:custDataLst>
                <p:tags r:id="rId17"/>
              </p:custDataLst>
            </p:nvPr>
          </p:nvSpPr>
          <p:spPr>
            <a:xfrm>
              <a:off x="12827000" y="0"/>
              <a:ext cx="1905000" cy="635000"/>
            </a:xfrm>
            <a:prstGeom prst="rect">
              <a:avLst/>
            </a:prstGeom>
            <a:noFill/>
          </p:spPr>
          <p:txBody>
            <a:bodyPr vert="horz" wrap="none" rtlCol="0" anchor="ctr" anchorCtr="0">
              <a:noAutofit/>
            </a:bodyPr>
            <a:lstStyle/>
            <a:p>
              <a:r>
                <a:rPr lang="zh-CN" altLang="en-US"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19" name="组合 18"/>
          <p:cNvGrpSpPr/>
          <p:nvPr>
            <p:custDataLst>
              <p:tags r:id="rId18"/>
            </p:custDataLst>
          </p:nvPr>
        </p:nvGrpSpPr>
        <p:grpSpPr>
          <a:xfrm>
            <a:off x="0" y="0"/>
            <a:ext cx="12192000" cy="635000"/>
            <a:chOff x="0" y="0"/>
            <a:chExt cx="12192000" cy="635000"/>
          </a:xfrm>
        </p:grpSpPr>
        <p:sp>
          <p:nvSpPr>
            <p:cNvPr id="15" name="TitleBackground"/>
            <p:cNvSpPr/>
            <p:nvPr>
              <p:custDataLst>
                <p:tags r:id="rId19"/>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20"/>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22"/>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23"/>
            </p:custDataLst>
          </p:nvPr>
        </p:nvPicPr>
        <p:blipFill>
          <a:blip r:embed="rId24">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smtClean="0"/>
              <a:t>以下哪次战役是</a:t>
            </a:r>
            <a:r>
              <a:rPr lang="zh-CN" altLang="en-US" sz="2800" dirty="0"/>
              <a:t>一次近代战争史上人类利用</a:t>
            </a:r>
            <a:r>
              <a:rPr lang="zh-CN" altLang="en-US" sz="2800" dirty="0">
                <a:solidFill>
                  <a:schemeClr val="folHlink"/>
                </a:solidFill>
              </a:rPr>
              <a:t>电子欺骗</a:t>
            </a:r>
            <a:r>
              <a:rPr lang="zh-CN" altLang="en-US" sz="2800" dirty="0"/>
              <a:t>取得战争的胜利的电子战的战例。 </a:t>
            </a:r>
            <a:endParaRPr lang="zh-CN" altLang="en-US" sz="2800" dirty="0"/>
          </a:p>
        </p:txBody>
      </p:sp>
      <p:sp>
        <p:nvSpPr>
          <p:cNvPr id="4" name="文本框 3"/>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日本海大海战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文本框 4"/>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日德兰大海战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4"/>
            </p:custDataLst>
          </p:nvPr>
        </p:nvSpPr>
        <p:spPr>
          <a:xfrm>
            <a:off x="2438400" y="4500563"/>
            <a:ext cx="8534400" cy="642938"/>
          </a:xfrm>
          <a:prstGeom prst="rect">
            <a:avLst/>
          </a:prstGeom>
          <a:noFill/>
        </p:spPr>
        <p:txBody>
          <a:bodyPr vert="horz" rtlCol="0" anchor="ctr" anchorCtr="0">
            <a:noAutofit/>
          </a:bodyPr>
          <a:lstStyle/>
          <a:p>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5"/>
            </p:custDataLst>
          </p:nvPr>
        </p:nvSpPr>
        <p:spPr>
          <a:xfrm>
            <a:off x="2438400" y="5357813"/>
            <a:ext cx="8534400" cy="642938"/>
          </a:xfrm>
          <a:prstGeom prst="rect">
            <a:avLst/>
          </a:prstGeom>
          <a:noFill/>
        </p:spPr>
        <p:txBody>
          <a:bodyPr vert="horz" rtlCol="0" anchor="ctr" anchorCtr="0">
            <a:noAutofit/>
          </a:bodyPr>
          <a:lstStyle/>
          <a:p>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椭圆 7"/>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椭圆 8"/>
          <p:cNvSpPr>
            <a:spLocks noChangeAspect="1"/>
          </p:cNvSpPr>
          <p:nvPr>
            <p:custDataLst>
              <p:tags r:id="rId7"/>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圆角矩形 11"/>
          <p:cNvSpPr/>
          <p:nvPr>
            <p:custDataLst>
              <p:tags r:id="rId8"/>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7" name="组合 16"/>
          <p:cNvGrpSpPr/>
          <p:nvPr>
            <p:custDataLst>
              <p:tags r:id="rId9"/>
            </p:custDataLst>
          </p:nvPr>
        </p:nvGrpSpPr>
        <p:grpSpPr>
          <a:xfrm>
            <a:off x="0" y="0"/>
            <a:ext cx="12192000" cy="635000"/>
            <a:chOff x="0" y="0"/>
            <a:chExt cx="12192000" cy="635000"/>
          </a:xfrm>
        </p:grpSpPr>
        <p:sp>
          <p:nvSpPr>
            <p:cNvPr id="13"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TipText"/>
            <p:cNvSpPr txBox="1"/>
            <p:nvPr>
              <p:custDataLst>
                <p:tags r:id="rId13"/>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p:nvPr>
        </p:nvSpPr>
        <p:spPr>
          <a:xfrm>
            <a:off x="790904" y="606812"/>
            <a:ext cx="10852237" cy="648000"/>
          </a:xfrm>
        </p:spPr>
        <p:txBody>
          <a:bodyPr vert="horz" lIns="92075" tIns="46038" rIns="92075" bIns="46038" rtlCol="0" anchor="ctr" anchorCtr="0">
            <a:noAutofit/>
          </a:bodyPr>
          <a:lstStyle/>
          <a:p>
            <a:pPr algn="ctr" fontAlgn="base">
              <a:spcAft>
                <a:spcPct val="0"/>
              </a:spcAft>
              <a:defRPr/>
            </a:pPr>
            <a:r>
              <a:rPr lang="en-US" altLang="zh-CN" sz="3600" spc="0" dirty="0">
                <a:solidFill>
                  <a:schemeClr val="tx2"/>
                </a:solidFill>
                <a:effectLst>
                  <a:outerShdw blurRad="38100" dist="38100" dir="2700000">
                    <a:srgbClr val="000000"/>
                  </a:outerShdw>
                </a:effectLst>
              </a:rPr>
              <a:t>2</a:t>
            </a:r>
            <a:r>
              <a:rPr lang="zh-CN" altLang="en-US" sz="3600" spc="0" dirty="0">
                <a:solidFill>
                  <a:schemeClr val="tx2"/>
                </a:solidFill>
                <a:effectLst>
                  <a:outerShdw blurRad="38100" dist="38100" dir="2700000">
                    <a:srgbClr val="000000"/>
                  </a:outerShdw>
                </a:effectLst>
              </a:rPr>
              <a:t>、二战中电子对抗发挥重要作用</a:t>
            </a:r>
            <a:r>
              <a:rPr lang="zh-CN" altLang="en-US" sz="4400" b="0" spc="0" dirty="0">
                <a:solidFill>
                  <a:schemeClr val="tx2"/>
                </a:solidFill>
                <a:effectLst>
                  <a:outerShdw blurRad="38100" dist="38100" dir="2700000">
                    <a:srgbClr val="000000"/>
                  </a:outerShdw>
                </a:effectLst>
              </a:rPr>
              <a:t> </a:t>
            </a:r>
            <a:endParaRPr lang="zh-CN" altLang="en-US" sz="4400" b="0" spc="0" dirty="0">
              <a:solidFill>
                <a:schemeClr val="tx2"/>
              </a:solidFill>
              <a:effectLst>
                <a:outerShdw blurRad="38100" dist="38100" dir="2700000">
                  <a:srgbClr val="000000"/>
                </a:outerShdw>
              </a:effectLst>
            </a:endParaRPr>
          </a:p>
        </p:txBody>
      </p:sp>
      <p:sp>
        <p:nvSpPr>
          <p:cNvPr id="16387" name="文本占位符 17410"/>
          <p:cNvSpPr>
            <a:spLocks noGrp="1"/>
          </p:cNvSpPr>
          <p:nvPr>
            <p:ph idx="1"/>
          </p:nvPr>
        </p:nvSpPr>
        <p:spPr>
          <a:xfrm>
            <a:off x="790903" y="1645624"/>
            <a:ext cx="10852237" cy="3114635"/>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电子对抗</a:t>
            </a:r>
            <a:r>
              <a:rPr lang="zh-CN" altLang="en-US" sz="2400" dirty="0">
                <a:latin typeface="宋体" panose="02010600030101010101" pitchFamily="2" charset="-122"/>
              </a:rPr>
              <a:t>的作用在第一次世界大战中发挥的作用，引起了当时世界各军事强国的高度重视，许多国家研究了无线电导航、探测与测距等技术、研制成功了相应的导航系统和雷达系统。在</a:t>
            </a:r>
            <a:r>
              <a:rPr lang="zh-CN" altLang="en-US" sz="2400" dirty="0">
                <a:solidFill>
                  <a:schemeClr val="folHlink"/>
                </a:solidFill>
                <a:latin typeface="宋体" panose="02010600030101010101" pitchFamily="2" charset="-122"/>
              </a:rPr>
              <a:t>第二次世界大战</a:t>
            </a:r>
            <a:r>
              <a:rPr lang="zh-CN" altLang="en-US" sz="2400" dirty="0">
                <a:latin typeface="宋体" panose="02010600030101010101" pitchFamily="2" charset="-122"/>
              </a:rPr>
              <a:t>中，这些技术得到了广泛的应用，形成了</a:t>
            </a:r>
            <a:r>
              <a:rPr lang="zh-CN" altLang="en-US" sz="2400" dirty="0">
                <a:solidFill>
                  <a:schemeClr val="folHlink"/>
                </a:solidFill>
                <a:latin typeface="宋体" panose="02010600030101010101" pitchFamily="2" charset="-122"/>
              </a:rPr>
              <a:t>电子导航对抗</a:t>
            </a:r>
            <a:r>
              <a:rPr lang="zh-CN" altLang="en-US" sz="2400" dirty="0">
                <a:latin typeface="宋体" panose="02010600030101010101" pitchFamily="2" charset="-122"/>
              </a:rPr>
              <a:t>、</a:t>
            </a:r>
            <a:r>
              <a:rPr lang="zh-CN" altLang="en-US" sz="2400" dirty="0">
                <a:solidFill>
                  <a:schemeClr val="folHlink"/>
                </a:solidFill>
                <a:latin typeface="宋体" panose="02010600030101010101" pitchFamily="2" charset="-122"/>
              </a:rPr>
              <a:t>雷达对抗</a:t>
            </a:r>
            <a:r>
              <a:rPr lang="zh-CN" altLang="en-US" sz="2400" dirty="0">
                <a:latin typeface="宋体" panose="02010600030101010101" pitchFamily="2" charset="-122"/>
              </a:rPr>
              <a:t>等新的电子对抗形式。</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17411" name="文本占位符 18434"/>
          <p:cNvSpPr>
            <a:spLocks noGrp="1"/>
          </p:cNvSpPr>
          <p:nvPr>
            <p:ph idx="1"/>
          </p:nvPr>
        </p:nvSpPr>
        <p:spPr>
          <a:xfrm>
            <a:off x="1358153" y="1860176"/>
            <a:ext cx="9493623" cy="4150659"/>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到</a:t>
            </a:r>
            <a:r>
              <a:rPr lang="zh-CN" altLang="en-US" sz="2400" dirty="0">
                <a:latin typeface="宋体" panose="02010600030101010101" pitchFamily="2" charset="-122"/>
              </a:rPr>
              <a:t>了第二次世界大战后期，各种电子对抗手段得到了综合应用，使电子对抗水平达到很高的程度，在战争中发挥了极其重要的作用，这一作用充分体现在著名的</a:t>
            </a:r>
            <a:r>
              <a:rPr lang="zh-CN" altLang="en-US" sz="2400" dirty="0">
                <a:solidFill>
                  <a:schemeClr val="folHlink"/>
                </a:solidFill>
                <a:latin typeface="宋体" panose="02010600030101010101" pitchFamily="2" charset="-122"/>
              </a:rPr>
              <a:t>诺曼底战役</a:t>
            </a:r>
            <a:r>
              <a:rPr lang="zh-CN" altLang="en-US" sz="2400" dirty="0">
                <a:latin typeface="宋体" panose="02010600030101010101" pitchFamily="2" charset="-122"/>
              </a:rPr>
              <a:t>中。</a:t>
            </a:r>
            <a:endParaRPr lang="zh-CN" altLang="en-US" sz="2400" dirty="0">
              <a:latin typeface="宋体" panose="02010600030101010101" pitchFamily="2" charset="-122"/>
            </a:endParaRPr>
          </a:p>
          <a:p>
            <a:pPr eaLnBrk="1" hangingPunct="1">
              <a:lnSpc>
                <a:spcPct val="90000"/>
              </a:lnSpc>
              <a:buNone/>
            </a:pPr>
            <a:r>
              <a:rPr lang="zh-CN" altLang="en-US" sz="2400" dirty="0">
                <a:latin typeface="宋体" panose="02010600030101010101" pitchFamily="2" charset="-122"/>
              </a:rPr>
              <a:t>     </a:t>
            </a:r>
            <a:endParaRPr lang="zh-CN" altLang="en-US" sz="2400" dirty="0"/>
          </a:p>
        </p:txBody>
      </p:sp>
      <p:sp>
        <p:nvSpPr>
          <p:cNvPr id="17412" name="矩形 18436"/>
          <p:cNvSpPr>
            <a:spLocks noChangeAspect="1"/>
          </p:cNvSpPr>
          <p:nvPr/>
        </p:nvSpPr>
        <p:spPr>
          <a:xfrm>
            <a:off x="5943600" y="3276600"/>
            <a:ext cx="304800" cy="304800"/>
          </a:xfrm>
          <a:prstGeom prst="rect">
            <a:avLst/>
          </a:prstGeom>
          <a:noFill/>
          <a:ln w="9525">
            <a:noFill/>
          </a:ln>
        </p:spPr>
        <p:txBody>
          <a:bodyPr/>
          <a:lstStyle/>
          <a:p>
            <a:endParaRPr lang="zh-CN" altLang="en-US" dirty="0">
              <a:latin typeface="Times New Roman" panose="02020603050405020304" pitchFamily="18" charset="0"/>
            </a:endParaRPr>
          </a:p>
        </p:txBody>
      </p:sp>
      <p:grpSp>
        <p:nvGrpSpPr>
          <p:cNvPr id="5" name="组合 4"/>
          <p:cNvGrpSpPr/>
          <p:nvPr/>
        </p:nvGrpSpPr>
        <p:grpSpPr>
          <a:xfrm>
            <a:off x="4332738" y="432000"/>
            <a:ext cx="3337362" cy="791052"/>
            <a:chOff x="824072" y="1564267"/>
            <a:chExt cx="3337362" cy="791052"/>
          </a:xfrm>
        </p:grpSpPr>
        <p:sp>
          <p:nvSpPr>
            <p:cNvPr id="6" name="矩形: 圆角 9"/>
            <p:cNvSpPr/>
            <p:nvPr/>
          </p:nvSpPr>
          <p:spPr>
            <a:xfrm>
              <a:off x="824072" y="1740416"/>
              <a:ext cx="3337362" cy="614363"/>
            </a:xfrm>
            <a:prstGeom prst="roundRect">
              <a:avLst/>
            </a:prstGeom>
            <a:solidFill>
              <a:srgbClr val="0F73EE"/>
            </a:solidFill>
            <a:ln>
              <a:solidFill>
                <a:srgbClr val="FBA70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782547" y="1828091"/>
              <a:ext cx="1980029" cy="480131"/>
            </a:xfrm>
            <a:prstGeom prst="rect">
              <a:avLst/>
            </a:prstGeom>
          </p:spPr>
          <p:txBody>
            <a:bodyPr wrap="none">
              <a:spAutoFit/>
            </a:bodyPr>
            <a:lstStyle/>
            <a:p>
              <a:pPr>
                <a:lnSpc>
                  <a:spcPct val="90000"/>
                </a:lnSpc>
              </a:pPr>
              <a:r>
                <a:rPr lang="zh-CN" altLang="en-US" sz="2800" dirty="0">
                  <a:solidFill>
                    <a:schemeClr val="bg1"/>
                  </a:solidFill>
                  <a:latin typeface="宋体" panose="02010600030101010101" pitchFamily="2" charset="-122"/>
                </a:rPr>
                <a:t>诺曼底战役</a:t>
              </a:r>
              <a:endParaRPr lang="zh-CN" altLang="en-US" sz="2800" dirty="0">
                <a:solidFill>
                  <a:schemeClr val="bg1"/>
                </a:solidFill>
                <a:latin typeface="+mj-ea"/>
                <a:ea typeface="+mj-ea"/>
              </a:endParaRPr>
            </a:p>
          </p:txBody>
        </p:sp>
        <p:pic>
          <p:nvPicPr>
            <p:cNvPr id="8" name="图片 7"/>
            <p:cNvPicPr>
              <a:picLocks noChangeAspect="1"/>
            </p:cNvPicPr>
            <p:nvPr/>
          </p:nvPicPr>
          <p:blipFill>
            <a:blip r:embed="rId1" cstate="print">
              <a:lum bright="70000" contrast="-70000"/>
              <a:extLst>
                <a:ext uri="{28A0092B-C50C-407E-A947-70E740481C1C}">
                  <a14:useLocalDpi xmlns:a14="http://schemas.microsoft.com/office/drawing/2010/main" val="0"/>
                </a:ext>
              </a:extLst>
            </a:blip>
            <a:stretch>
              <a:fillRect/>
            </a:stretch>
          </p:blipFill>
          <p:spPr>
            <a:xfrm>
              <a:off x="887146" y="1564267"/>
              <a:ext cx="751303" cy="79105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119809"/>
          <p:cNvSpPr>
            <a:spLocks noGrp="1"/>
          </p:cNvSpPr>
          <p:nvPr>
            <p:ph type="title"/>
          </p:nvPr>
        </p:nvSpPr>
        <p:spPr>
          <a:xfrm>
            <a:off x="669882" y="633413"/>
            <a:ext cx="10852237" cy="648000"/>
          </a:xfrm>
        </p:spPr>
        <p:txBody>
          <a:bodyPr vert="horz" lIns="92075" tIns="46038" rIns="92075" bIns="46038" rtlCol="0" anchor="ctr" anchorCtr="0">
            <a:noAutofit/>
          </a:bodyPr>
          <a:lstStyle/>
          <a:p>
            <a:pPr algn="ctr" fontAlgn="base">
              <a:spcAft>
                <a:spcPct val="0"/>
              </a:spcAft>
              <a:defRPr/>
            </a:pPr>
            <a:endParaRPr sz="4400" b="0" spc="0" dirty="0">
              <a:solidFill>
                <a:schemeClr val="tx2"/>
              </a:solidFill>
              <a:effectLst>
                <a:outerShdw blurRad="38100" dist="38100" dir="2700000">
                  <a:srgbClr val="000000"/>
                </a:outerShdw>
              </a:effectLst>
            </a:endParaRPr>
          </a:p>
        </p:txBody>
      </p:sp>
      <p:sp>
        <p:nvSpPr>
          <p:cNvPr id="18435" name="文本占位符 119810"/>
          <p:cNvSpPr>
            <a:spLocks noGrp="1"/>
          </p:cNvSpPr>
          <p:nvPr>
            <p:ph idx="1"/>
          </p:nvPr>
        </p:nvSpPr>
        <p:spPr/>
        <p:txBody>
          <a:bodyPr vert="horz" wrap="square" lIns="91440" tIns="45720" rIns="91440" bIns="45720" rtlCol="0" anchor="t">
            <a:noAutofit/>
          </a:bodyPr>
          <a:lstStyle/>
          <a:p>
            <a:pPr eaLnBrk="1" hangingPunct="1"/>
            <a:endParaRPr lang="zh-CN" altLang="zh-CN" dirty="0"/>
          </a:p>
        </p:txBody>
      </p:sp>
      <p:pic>
        <p:nvPicPr>
          <p:cNvPr id="18436" name="图片 119811" descr="85929419_1"/>
          <p:cNvPicPr>
            <a:picLocks noChangeAspect="1"/>
          </p:cNvPicPr>
          <p:nvPr/>
        </p:nvPicPr>
        <p:blipFill>
          <a:blip r:embed="rId1"/>
          <a:stretch>
            <a:fillRect/>
          </a:stretch>
        </p:blipFill>
        <p:spPr>
          <a:xfrm>
            <a:off x="1113865" y="633413"/>
            <a:ext cx="9964270" cy="59499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图片 120835" descr="85929419_2"/>
          <p:cNvPicPr>
            <a:picLocks noChangeAspect="1"/>
          </p:cNvPicPr>
          <p:nvPr/>
        </p:nvPicPr>
        <p:blipFill>
          <a:blip r:embed="rId1"/>
          <a:stretch>
            <a:fillRect/>
          </a:stretch>
        </p:blipFill>
        <p:spPr>
          <a:xfrm>
            <a:off x="1919289" y="260351"/>
            <a:ext cx="5172075" cy="3781425"/>
          </a:xfrm>
          <a:prstGeom prst="rect">
            <a:avLst/>
          </a:prstGeom>
          <a:noFill/>
          <a:ln w="9525">
            <a:noFill/>
          </a:ln>
        </p:spPr>
      </p:pic>
      <p:pic>
        <p:nvPicPr>
          <p:cNvPr id="19459" name="图片 120836"/>
          <p:cNvPicPr>
            <a:picLocks noChangeAspect="1"/>
          </p:cNvPicPr>
          <p:nvPr/>
        </p:nvPicPr>
        <p:blipFill>
          <a:blip r:embed="rId2"/>
          <a:srcRect l="28966" t="32291" r="30626" b="20465"/>
          <a:stretch>
            <a:fillRect/>
          </a:stretch>
        </p:blipFill>
        <p:spPr>
          <a:xfrm>
            <a:off x="5016500" y="2997200"/>
            <a:ext cx="5257800" cy="3455988"/>
          </a:xfrm>
          <a:prstGeom prst="rect">
            <a:avLst/>
          </a:prstGeom>
          <a:noFill/>
          <a:ln w="9525">
            <a:noFill/>
          </a:ln>
        </p:spPr>
      </p:pic>
      <p:sp>
        <p:nvSpPr>
          <p:cNvPr id="19460" name="矩形 120838"/>
          <p:cNvSpPr/>
          <p:nvPr/>
        </p:nvSpPr>
        <p:spPr>
          <a:xfrm>
            <a:off x="3339622" y="4141086"/>
            <a:ext cx="1165704" cy="369332"/>
          </a:xfrm>
          <a:prstGeom prst="rect">
            <a:avLst/>
          </a:prstGeom>
          <a:noFill/>
          <a:ln w="9525">
            <a:noFill/>
          </a:ln>
        </p:spPr>
        <p:txBody>
          <a:bodyPr wrap="none" anchor="ctr">
            <a:spAutoFit/>
          </a:bodyPr>
          <a:lstStyle/>
          <a:p>
            <a:r>
              <a:rPr lang="zh-CN" altLang="en-US" dirty="0">
                <a:latin typeface="Times New Roman" panose="02020603050405020304" pitchFamily="18" charset="0"/>
              </a:rPr>
              <a:t>巴顿将军 </a:t>
            </a:r>
            <a:endParaRPr lang="zh-CN" altLang="en-US" dirty="0">
              <a:latin typeface="Times New Roman" panose="02020603050405020304" pitchFamily="18" charset="0"/>
            </a:endParaRPr>
          </a:p>
        </p:txBody>
      </p:sp>
      <p:sp>
        <p:nvSpPr>
          <p:cNvPr id="19461" name="矩形 120839"/>
          <p:cNvSpPr/>
          <p:nvPr/>
        </p:nvSpPr>
        <p:spPr>
          <a:xfrm>
            <a:off x="7175501" y="2556947"/>
            <a:ext cx="1627369" cy="369332"/>
          </a:xfrm>
          <a:prstGeom prst="rect">
            <a:avLst/>
          </a:prstGeom>
          <a:noFill/>
          <a:ln w="9525">
            <a:noFill/>
          </a:ln>
        </p:spPr>
        <p:txBody>
          <a:bodyPr wrap="none" anchor="ctr">
            <a:spAutoFit/>
          </a:bodyPr>
          <a:lstStyle/>
          <a:p>
            <a:r>
              <a:rPr lang="zh-CN" altLang="en-US" dirty="0">
                <a:latin typeface="Times New Roman" panose="02020603050405020304" pitchFamily="18" charset="0"/>
              </a:rPr>
              <a:t>假造的滑翔机 </a:t>
            </a:r>
            <a:endParaRPr lang="zh-CN" altLang="en-US" dirty="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sz="2400" dirty="0" smtClean="0">
                <a:latin typeface="宋体" panose="02010600030101010101" pitchFamily="2" charset="-122"/>
              </a:rPr>
              <a:t>    盟军</a:t>
            </a:r>
            <a:r>
              <a:rPr lang="zh-CN" altLang="en-US" sz="2400" dirty="0">
                <a:latin typeface="宋体" panose="02010600030101010101" pitchFamily="2" charset="-122"/>
              </a:rPr>
              <a:t>仅以损失六艘战舰的战绩在诺曼底顺利登陆。整个战役盟军损失如此小，主要应归功于战前和战争过程中盟军对德军进行了强有力的信息战，通过</a:t>
            </a:r>
            <a:r>
              <a:rPr lang="zh-CN" altLang="en-US" sz="2400" dirty="0">
                <a:solidFill>
                  <a:schemeClr val="folHlink"/>
                </a:solidFill>
                <a:latin typeface="宋体" panose="02010600030101010101" pitchFamily="2" charset="-122"/>
              </a:rPr>
              <a:t>信息欺骗、电子欺骗、电子干扰</a:t>
            </a:r>
            <a:r>
              <a:rPr lang="zh-CN" altLang="en-US" sz="2400" dirty="0">
                <a:latin typeface="宋体" panose="02010600030101010101" pitchFamily="2" charset="-122"/>
              </a:rPr>
              <a:t>等手段使德军得不到真实信息，致使德军指挥官决断错误，最后导致失败。</a:t>
            </a:r>
            <a:r>
              <a:rPr lang="zh-CN" altLang="en-US" sz="2400" dirty="0"/>
              <a:t> </a:t>
            </a:r>
            <a:endParaRPr lang="zh-CN" altLang="en-US" sz="2400"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a:xfrm>
            <a:off x="2133600" y="457200"/>
            <a:ext cx="7772400" cy="838200"/>
          </a:xfrm>
        </p:spPr>
        <p:txBody>
          <a:bodyPr vert="horz" lIns="92075" tIns="46038" rIns="92075" bIns="46038" rtlCol="0" anchor="ctr" anchorCtr="0">
            <a:noAutofit/>
          </a:bodyPr>
          <a:lstStyle/>
          <a:p>
            <a:pPr algn="ctr" fontAlgn="base">
              <a:spcAft>
                <a:spcPct val="0"/>
              </a:spcAft>
              <a:defRPr/>
            </a:pPr>
            <a:r>
              <a:rPr lang="en-US" altLang="zh-CN" sz="3600" spc="0">
                <a:solidFill>
                  <a:schemeClr val="tx2"/>
                </a:solidFill>
                <a:effectLst>
                  <a:outerShdw blurRad="38100" dist="38100" dir="2700000">
                    <a:srgbClr val="000000"/>
                  </a:outerShdw>
                </a:effectLst>
              </a:rPr>
              <a:t>3</a:t>
            </a:r>
            <a:r>
              <a:rPr lang="zh-CN" altLang="en-US" sz="3600" spc="0">
                <a:solidFill>
                  <a:schemeClr val="tx2"/>
                </a:solidFill>
                <a:effectLst>
                  <a:outerShdw blurRad="38100" dist="38100" dir="2700000">
                    <a:srgbClr val="000000"/>
                  </a:outerShdw>
                </a:effectLst>
                <a:latin typeface="宋体" panose="02010600030101010101" pitchFamily="2" charset="-122"/>
              </a:rPr>
              <a:t>、越南战争扩大电子对抗新领域</a:t>
            </a:r>
            <a:r>
              <a:rPr lang="zh-CN" altLang="en-US" sz="4400" b="0" spc="0">
                <a:solidFill>
                  <a:schemeClr val="tx2"/>
                </a:solidFill>
                <a:effectLst>
                  <a:outerShdw blurRad="38100" dist="38100" dir="2700000">
                    <a:srgbClr val="000000"/>
                  </a:outerShdw>
                </a:effectLst>
              </a:rPr>
              <a:t> </a:t>
            </a:r>
            <a:endParaRPr lang="zh-CN" altLang="en-US" sz="4400" b="0" spc="0">
              <a:solidFill>
                <a:schemeClr val="tx2"/>
              </a:solidFill>
              <a:effectLst>
                <a:outerShdw blurRad="38100" dist="38100" dir="2700000">
                  <a:srgbClr val="000000"/>
                </a:outerShdw>
              </a:effectLst>
            </a:endParaRPr>
          </a:p>
        </p:txBody>
      </p:sp>
      <p:sp>
        <p:nvSpPr>
          <p:cNvPr id="20483" name="文本占位符 19458"/>
          <p:cNvSpPr>
            <a:spLocks noGrp="1"/>
          </p:cNvSpPr>
          <p:nvPr>
            <p:ph idx="1"/>
          </p:nvPr>
        </p:nvSpPr>
        <p:spPr>
          <a:xfrm>
            <a:off x="1358153" y="1524000"/>
            <a:ext cx="9372599" cy="4953000"/>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zh-CN" altLang="en-US" sz="2400" dirty="0">
                <a:latin typeface="宋体" panose="02010600030101010101" pitchFamily="2" charset="-122"/>
              </a:rPr>
              <a:t>越南战争中，在美军空袭和北越反空袭的过程中，双方都使用了新式武器和新的电子对抗手段，</a:t>
            </a:r>
            <a:r>
              <a:rPr lang="zh-CN" altLang="en-US" sz="2400" dirty="0">
                <a:solidFill>
                  <a:schemeClr val="folHlink"/>
                </a:solidFill>
                <a:latin typeface="宋体" panose="02010600030101010101" pitchFamily="2" charset="-122"/>
              </a:rPr>
              <a:t>精确制导导弹或炸弹</a:t>
            </a:r>
            <a:r>
              <a:rPr lang="zh-CN" altLang="en-US" sz="2400" dirty="0">
                <a:latin typeface="宋体" panose="02010600030101010101" pitchFamily="2" charset="-122"/>
              </a:rPr>
              <a:t>是这些</a:t>
            </a:r>
            <a:r>
              <a:rPr lang="zh-CN" altLang="en-US" sz="2400" dirty="0">
                <a:solidFill>
                  <a:schemeClr val="folHlink"/>
                </a:solidFill>
                <a:latin typeface="宋体" panose="02010600030101010101" pitchFamily="2" charset="-122"/>
              </a:rPr>
              <a:t>新式武器</a:t>
            </a:r>
            <a:r>
              <a:rPr lang="zh-CN" altLang="en-US" sz="2400" dirty="0">
                <a:latin typeface="宋体" panose="02010600030101010101" pitchFamily="2" charset="-122"/>
              </a:rPr>
              <a:t>中最突出的作战兵器，围绕如何对抗这些新式武器，使电子对抗水平上了一个新台阶。</a:t>
            </a:r>
            <a:endParaRPr lang="zh-CN" altLang="en-US" sz="2400" dirty="0">
              <a:latin typeface="宋体" panose="02010600030101010101" pitchFamily="2" charset="-122"/>
            </a:endParaRPr>
          </a:p>
          <a:p>
            <a:pPr eaLnBrk="1" hangingPunct="1">
              <a:lnSpc>
                <a:spcPct val="90000"/>
              </a:lnSpc>
              <a:buNone/>
            </a:pPr>
            <a:endParaRPr lang="zh-CN" altLang="en-US" sz="2400" dirty="0">
              <a:latin typeface="宋体" panose="02010600030101010101" pitchFamily="2" charset="-122"/>
            </a:endParaRPr>
          </a:p>
          <a:p>
            <a:pPr eaLnBrk="1" hangingPunct="1">
              <a:lnSpc>
                <a:spcPct val="90000"/>
              </a:lnSpc>
              <a:buNone/>
            </a:pPr>
            <a:r>
              <a:rPr lang="zh-CN" altLang="en-US" sz="2400" dirty="0">
                <a:latin typeface="宋体" panose="02010600030101010101" pitchFamily="2" charset="-122"/>
              </a:rPr>
              <a:t>     </a:t>
            </a:r>
            <a:r>
              <a:rPr lang="zh-CN" altLang="en-US" sz="2400" dirty="0" smtClean="0">
                <a:latin typeface="宋体" panose="02010600030101010101" pitchFamily="2" charset="-122"/>
              </a:rPr>
              <a:t>越南</a:t>
            </a:r>
            <a:r>
              <a:rPr lang="zh-CN" altLang="en-US" sz="2400" dirty="0">
                <a:latin typeface="宋体" panose="02010600030101010101" pitchFamily="2" charset="-122"/>
              </a:rPr>
              <a:t>战争的一个更显著的特色是开拓了更多的电子对抗新领域，其中最重要的是</a:t>
            </a:r>
            <a:r>
              <a:rPr lang="zh-CN" altLang="en-US" sz="2400" dirty="0">
                <a:solidFill>
                  <a:schemeClr val="tx1"/>
                </a:solidFill>
              </a:rPr>
              <a:t>展开</a:t>
            </a:r>
            <a:r>
              <a:rPr lang="zh-CN" altLang="en-US" sz="2400" dirty="0">
                <a:latin typeface="宋体" panose="02010600030101010101" pitchFamily="2" charset="-122"/>
              </a:rPr>
              <a:t>了</a:t>
            </a:r>
            <a:r>
              <a:rPr lang="zh-CN" altLang="en-US" sz="2400" dirty="0">
                <a:solidFill>
                  <a:schemeClr val="folHlink"/>
                </a:solidFill>
                <a:latin typeface="宋体" panose="02010600030101010101" pitchFamily="2" charset="-122"/>
              </a:rPr>
              <a:t>光电领域内的对抗</a:t>
            </a:r>
            <a:r>
              <a:rPr lang="zh-CN" altLang="en-US" sz="2400" dirty="0">
                <a:latin typeface="宋体" panose="02010600030101010101" pitchFamily="2" charset="-122"/>
              </a:rPr>
              <a:t>和</a:t>
            </a:r>
            <a:r>
              <a:rPr lang="zh-CN" altLang="en-US" sz="2400" dirty="0">
                <a:solidFill>
                  <a:schemeClr val="folHlink"/>
                </a:solidFill>
                <a:latin typeface="宋体" panose="02010600030101010101" pitchFamily="2" charset="-122"/>
              </a:rPr>
              <a:t>反辐射导弹</a:t>
            </a:r>
            <a:r>
              <a:rPr lang="zh-CN" altLang="en-US" sz="2400" dirty="0">
                <a:latin typeface="宋体" panose="02010600030101010101" pitchFamily="2" charset="-122"/>
              </a:rPr>
              <a:t>开始应用于实战。</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0481"/>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21507" name="文本占位符 20482"/>
          <p:cNvSpPr>
            <a:spLocks noGrp="1"/>
          </p:cNvSpPr>
          <p:nvPr>
            <p:ph idx="1"/>
          </p:nvPr>
        </p:nvSpPr>
        <p:spPr>
          <a:xfrm>
            <a:off x="1680882" y="2057400"/>
            <a:ext cx="8834718" cy="4038600"/>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zh-CN" altLang="en-US" sz="2400" dirty="0" smtClean="0">
                <a:latin typeface="宋体" panose="02010600030101010101" pitchFamily="2" charset="-122"/>
              </a:rPr>
              <a:t>从此以后</a:t>
            </a:r>
            <a:r>
              <a:rPr lang="zh-CN" altLang="en-US" sz="2400" dirty="0">
                <a:latin typeface="宋体" panose="02010600030101010101" pitchFamily="2" charset="-122"/>
              </a:rPr>
              <a:t>，各重要国家的军队都十分重视</a:t>
            </a:r>
            <a:r>
              <a:rPr lang="zh-CN" altLang="en-US" sz="2400" dirty="0">
                <a:solidFill>
                  <a:schemeClr val="folHlink"/>
                </a:solidFill>
                <a:latin typeface="宋体" panose="02010600030101010101" pitchFamily="2" charset="-122"/>
              </a:rPr>
              <a:t>光电对抗技术</a:t>
            </a:r>
            <a:r>
              <a:rPr lang="zh-CN" altLang="en-US" sz="2400" dirty="0">
                <a:latin typeface="宋体" panose="02010600030101010101" pitchFamily="2" charset="-122"/>
              </a:rPr>
              <a:t>的研究与应用，光电对抗系统成为高价值作战平台（如飞机、军舰、坦克等）必须装备的设备与系统。光电对抗领域也就成为电子对抗的最重要领域之一。</a:t>
            </a:r>
            <a:r>
              <a:rPr lang="zh-CN" altLang="en-US" sz="2400" dirty="0"/>
              <a:t> </a:t>
            </a:r>
            <a:endParaRPr lang="zh-CN" altLang="en-US" sz="2400" dirty="0"/>
          </a:p>
          <a:p>
            <a:pPr eaLnBrk="1" hangingPunct="1">
              <a:lnSpc>
                <a:spcPct val="90000"/>
              </a:lnSpc>
              <a:buNone/>
            </a:pPr>
            <a:r>
              <a:rPr lang="zh-CN" altLang="en-US" sz="2400" dirty="0">
                <a:latin typeface="宋体" panose="02010600030101010101" pitchFamily="2" charset="-122"/>
              </a:rPr>
              <a:t>     </a:t>
            </a:r>
            <a:r>
              <a:rPr lang="zh-CN" altLang="en-US" sz="2400" dirty="0" smtClean="0">
                <a:solidFill>
                  <a:schemeClr val="folHlink"/>
                </a:solidFill>
                <a:latin typeface="宋体" panose="02010600030101010101" pitchFamily="2" charset="-122"/>
              </a:rPr>
              <a:t>反</a:t>
            </a:r>
            <a:r>
              <a:rPr lang="zh-CN" altLang="en-US" sz="2400" dirty="0">
                <a:solidFill>
                  <a:schemeClr val="folHlink"/>
                </a:solidFill>
                <a:latin typeface="宋体" panose="02010600030101010101" pitchFamily="2" charset="-122"/>
              </a:rPr>
              <a:t>辐射导弹</a:t>
            </a:r>
            <a:r>
              <a:rPr lang="zh-CN" altLang="en-US" sz="2400" dirty="0">
                <a:latin typeface="宋体" panose="02010600030101010101" pitchFamily="2" charset="-122"/>
              </a:rPr>
              <a:t>的出现表明电子对抗已经由“软杀伤”发展到“软、硬杀伤结合”的阶段，反辐射导弹成为一种重要的电子对抗武器。对反辐射导弹及其对抗技术的研究从此成为电子对抗领域的一项重要内容。</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16737"/>
          <p:cNvSpPr>
            <a:spLocks noGrp="1"/>
          </p:cNvSpPr>
          <p:nvPr>
            <p:ph type="title"/>
          </p:nvPr>
        </p:nvSpPr>
        <p:spPr>
          <a:xfrm>
            <a:off x="2209800" y="313390"/>
            <a:ext cx="7772400" cy="1143000"/>
          </a:xfrm>
        </p:spPr>
        <p:txBody>
          <a:bodyPr vert="horz" lIns="92075" tIns="46038" rIns="92075" bIns="46038" rtlCol="0" anchor="ctr" anchorCtr="0">
            <a:noAutofit/>
          </a:bodyPr>
          <a:lstStyle/>
          <a:p>
            <a:pPr algn="ctr" fontAlgn="base">
              <a:spcAft>
                <a:spcPct val="0"/>
              </a:spcAft>
              <a:defRPr/>
            </a:pPr>
            <a:r>
              <a:rPr lang="zh-CN" altLang="en-US" sz="4400" b="0" spc="0">
                <a:solidFill>
                  <a:schemeClr val="tx2"/>
                </a:solidFill>
                <a:effectLst>
                  <a:outerShdw blurRad="38100" dist="38100" dir="2700000">
                    <a:srgbClr val="000000"/>
                  </a:outerShdw>
                </a:effectLst>
              </a:rPr>
              <a:t>反辐射导弹</a:t>
            </a:r>
            <a:endParaRPr lang="zh-CN" altLang="en-US" sz="4400" b="0" spc="0">
              <a:solidFill>
                <a:schemeClr val="tx2"/>
              </a:solidFill>
              <a:effectLst>
                <a:outerShdw blurRad="38100" dist="38100" dir="2700000">
                  <a:srgbClr val="000000"/>
                </a:outerShdw>
              </a:effectLst>
            </a:endParaRPr>
          </a:p>
        </p:txBody>
      </p:sp>
      <p:sp>
        <p:nvSpPr>
          <p:cNvPr id="22531" name="文本占位符 116738"/>
          <p:cNvSpPr>
            <a:spLocks noGrp="1"/>
          </p:cNvSpPr>
          <p:nvPr>
            <p:ph idx="1"/>
          </p:nvPr>
        </p:nvSpPr>
        <p:spPr>
          <a:xfrm>
            <a:off x="1143000" y="1518955"/>
            <a:ext cx="9937376" cy="4021231"/>
          </a:xfrm>
        </p:spPr>
        <p:txBody>
          <a:bodyPr vert="horz" wrap="square" lIns="91440" tIns="45720" rIns="91440" bIns="45720" rtlCol="0" anchor="t">
            <a:noAutofit/>
          </a:bodyPr>
          <a:lstStyle/>
          <a:p>
            <a:pPr eaLnBrk="1" hangingPunct="1">
              <a:lnSpc>
                <a:spcPct val="100000"/>
              </a:lnSpc>
              <a:buNone/>
            </a:pPr>
            <a:r>
              <a:rPr lang="zh-CN" altLang="en-US" sz="2400" dirty="0"/>
              <a:t>         </a:t>
            </a:r>
            <a:r>
              <a:rPr lang="zh-CN" altLang="en-US" sz="2400" dirty="0" smtClean="0"/>
              <a:t>反</a:t>
            </a:r>
            <a:r>
              <a:rPr lang="zh-CN" altLang="en-US" sz="2400" dirty="0"/>
              <a:t>辐射导弹是</a:t>
            </a:r>
            <a:r>
              <a:rPr lang="zh-CN" altLang="en-US" sz="2400" dirty="0">
                <a:solidFill>
                  <a:srgbClr val="FFC000"/>
                </a:solidFill>
              </a:rPr>
              <a:t>利用敌方雷达辐射的电磁波</a:t>
            </a:r>
            <a:r>
              <a:rPr lang="zh-CN" altLang="en-US" sz="2400" dirty="0"/>
              <a:t>发现、跟踪并摧毁目标的一种导弹，属于空地导弹范畴，也叫</a:t>
            </a:r>
            <a:r>
              <a:rPr lang="zh-CN" altLang="en-US" sz="2400" dirty="0">
                <a:solidFill>
                  <a:srgbClr val="FF0000"/>
                </a:solidFill>
              </a:rPr>
              <a:t>反雷达导弹</a:t>
            </a:r>
            <a:r>
              <a:rPr lang="zh-CN" altLang="en-US" sz="2400" dirty="0"/>
              <a:t>。这种导弹最早是美国在越南战争时期开始使用的，当时地面炮兵部队刚刚展开，雷达一开机就被美国的飞机发现了，而且很快就发射一种称为百舌鸟的反辐射导弹对地面雷达进行攻击，命中精度非常高。开始搞不清楚是什么先进武器，后来发现它专门攻击处于开机状态的雷达，所以就采取一些对抗措施，比如经常转移阵地，雷达时开时停等，这种办法很有效，使百舌鸟导弹的命中精度大为降低。美国海军反辐射导弹已发展了三代，第三代是</a:t>
            </a:r>
            <a:r>
              <a:rPr lang="zh-CN" altLang="en-US" sz="2400" dirty="0">
                <a:solidFill>
                  <a:srgbClr val="FFC000"/>
                </a:solidFill>
              </a:rPr>
              <a:t>哈姆</a:t>
            </a:r>
            <a:r>
              <a:rPr lang="zh-CN" altLang="en-US" sz="2400" dirty="0"/>
              <a:t>和</a:t>
            </a:r>
            <a:r>
              <a:rPr lang="zh-CN" altLang="en-US" sz="2400" dirty="0">
                <a:solidFill>
                  <a:srgbClr val="FFC000"/>
                </a:solidFill>
              </a:rPr>
              <a:t>默红</a:t>
            </a:r>
            <a:r>
              <a:rPr lang="zh-CN" altLang="en-US"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43753" y="556933"/>
            <a:ext cx="11389659" cy="6048375"/>
          </a:xfrm>
        </p:spPr>
        <p:txBody>
          <a:bodyPr vert="horz" wrap="square" lIns="91440" tIns="45720" rIns="91440" bIns="45720" rtlCol="0" anchor="t">
            <a:noAutofit/>
          </a:bodyPr>
          <a:lstStyle/>
          <a:p>
            <a:pPr algn="just" eaLnBrk="1" hangingPunct="1">
              <a:buNone/>
            </a:pPr>
            <a:r>
              <a:rPr lang="zh-CN" altLang="en-US" sz="2000" dirty="0"/>
              <a:t>          </a:t>
            </a:r>
            <a:r>
              <a:rPr lang="zh-CN" altLang="en-US" sz="2000" dirty="0" smtClean="0"/>
              <a:t>哈</a:t>
            </a:r>
            <a:r>
              <a:rPr lang="zh-CN" altLang="en-US" sz="2000" dirty="0"/>
              <a:t>姆导弹在现代战争中应用较多，默虹导弹海湾战争中首次使用。哈姆导弹</a:t>
            </a:r>
            <a:r>
              <a:rPr lang="en-US" altLang="zh-CN" sz="2000" dirty="0"/>
              <a:t>1983</a:t>
            </a:r>
            <a:r>
              <a:rPr lang="zh-CN" altLang="en-US" sz="2000" dirty="0"/>
              <a:t>年开始装备使用，弹长</a:t>
            </a:r>
            <a:r>
              <a:rPr lang="en-US" altLang="zh-CN" sz="2000" dirty="0"/>
              <a:t>4.17</a:t>
            </a:r>
            <a:r>
              <a:rPr lang="zh-CN" altLang="en-US" sz="2000" dirty="0"/>
              <a:t>米，弹径</a:t>
            </a:r>
            <a:r>
              <a:rPr lang="en-US" altLang="zh-CN" sz="2000" dirty="0"/>
              <a:t>254</a:t>
            </a:r>
            <a:r>
              <a:rPr lang="zh-CN" altLang="en-US" sz="2000" dirty="0"/>
              <a:t>厘米，发射重量</a:t>
            </a:r>
            <a:r>
              <a:rPr lang="en-US" altLang="zh-CN" sz="2000" dirty="0"/>
              <a:t>361</a:t>
            </a:r>
            <a:r>
              <a:rPr lang="zh-CN" altLang="en-US" sz="2000" dirty="0"/>
              <a:t>公斤，飞行速度</a:t>
            </a:r>
            <a:r>
              <a:rPr lang="en-US" altLang="zh-CN" sz="2000" dirty="0"/>
              <a:t>2-3.6</a:t>
            </a:r>
            <a:r>
              <a:rPr lang="zh-CN" altLang="en-US" sz="2000" dirty="0"/>
              <a:t>马赫，射程</a:t>
            </a:r>
            <a:r>
              <a:rPr lang="en-US" altLang="zh-CN" sz="2000" dirty="0"/>
              <a:t>20-25</a:t>
            </a:r>
            <a:r>
              <a:rPr lang="zh-CN" altLang="en-US" sz="2000" dirty="0"/>
              <a:t>公里，战斗部重</a:t>
            </a:r>
            <a:r>
              <a:rPr lang="en-US" altLang="zh-CN" sz="2000" dirty="0"/>
              <a:t>66</a:t>
            </a:r>
            <a:r>
              <a:rPr lang="zh-CN" altLang="en-US" sz="2000" dirty="0"/>
              <a:t>公斤。哈姆导弹采用了一些先进的制导技术：如引导头的跟踪频段能覆盖</a:t>
            </a:r>
            <a:r>
              <a:rPr lang="en-US" altLang="zh-CN" sz="2000" dirty="0"/>
              <a:t>1-25</a:t>
            </a:r>
            <a:r>
              <a:rPr lang="zh-CN" altLang="en-US" sz="2000" dirty="0"/>
              <a:t>千兆赫，可跟踪任何舰载雷达；采用了专门用于抗目标雷达关机的捷式惯性基准装置，并加装了记忆装置和软件程控，对目标频率和位置具有记忆功能，一旦发现目标，即便雷达关机，停止辐射，仍可利用软件程控击中目标；采用了隐身技术，具有高速突防能力，一般很难对其进行拦截。这些新技术的应用，使导弹具有很宽的频率覆盖范围，能覆盖和识别所有已知的辐射源频率，并能选择其中的一个进行攻击。命中精度在实战中达</a:t>
            </a:r>
            <a:r>
              <a:rPr lang="en-US" altLang="zh-CN" sz="2000" dirty="0"/>
              <a:t>100%</a:t>
            </a:r>
            <a:r>
              <a:rPr lang="zh-CN" altLang="en-US" sz="2000" dirty="0"/>
              <a:t>。哈姆导弹在</a:t>
            </a:r>
            <a:r>
              <a:rPr lang="en-US" altLang="zh-CN" sz="2000" dirty="0"/>
              <a:t>80</a:t>
            </a:r>
            <a:r>
              <a:rPr lang="zh-CN" altLang="en-US" sz="2000" dirty="0"/>
              <a:t>年代以来的历次局部战争中发挥过重要作用。在美利</a:t>
            </a:r>
            <a:r>
              <a:rPr lang="zh-CN" altLang="en-US" sz="1200" dirty="0"/>
              <a:t>（利比亚）</a:t>
            </a:r>
            <a:r>
              <a:rPr lang="zh-CN" altLang="en-US" sz="2000" dirty="0"/>
              <a:t>冲突中，</a:t>
            </a:r>
            <a:r>
              <a:rPr lang="en-US" altLang="zh-CN" sz="2000" dirty="0"/>
              <a:t>1986</a:t>
            </a:r>
            <a:r>
              <a:rPr lang="zh-CN" altLang="en-US" sz="2000" dirty="0"/>
              <a:t>年</a:t>
            </a:r>
            <a:r>
              <a:rPr lang="en-US" altLang="zh-CN" sz="2000" dirty="0"/>
              <a:t>4</a:t>
            </a:r>
            <a:r>
              <a:rPr lang="zh-CN" altLang="en-US" sz="2000" dirty="0"/>
              <a:t>月</a:t>
            </a:r>
            <a:r>
              <a:rPr lang="en-US" altLang="zh-CN" sz="2000" dirty="0"/>
              <a:t>15</a:t>
            </a:r>
            <a:r>
              <a:rPr lang="zh-CN" altLang="en-US" sz="2000" dirty="0"/>
              <a:t>日凌晨，</a:t>
            </a:r>
            <a:r>
              <a:rPr lang="en-US" altLang="zh-CN" sz="2000" dirty="0"/>
              <a:t>18</a:t>
            </a:r>
            <a:r>
              <a:rPr lang="zh-CN" altLang="en-US" sz="2000" dirty="0"/>
              <a:t>架</a:t>
            </a:r>
            <a:r>
              <a:rPr lang="en-US" altLang="zh-CN" sz="2000" dirty="0"/>
              <a:t>A-7</a:t>
            </a:r>
            <a:r>
              <a:rPr lang="zh-CN" altLang="en-US" sz="2000" dirty="0"/>
              <a:t>攻击机和</a:t>
            </a:r>
            <a:r>
              <a:rPr lang="en-US" altLang="zh-CN" sz="2000" dirty="0"/>
              <a:t>F</a:t>
            </a:r>
            <a:r>
              <a:rPr lang="zh-CN" altLang="en-US" sz="2000" dirty="0"/>
              <a:t>战斗</a:t>
            </a:r>
            <a:r>
              <a:rPr lang="en-US" altLang="zh-CN" sz="2000" dirty="0"/>
              <a:t>/</a:t>
            </a:r>
            <a:r>
              <a:rPr lang="zh-CN" altLang="en-US" sz="2000" dirty="0"/>
              <a:t>攻击机从</a:t>
            </a:r>
            <a:r>
              <a:rPr lang="en-US" altLang="zh-CN" sz="2000" dirty="0"/>
              <a:t>3</a:t>
            </a:r>
            <a:r>
              <a:rPr lang="zh-CN" altLang="en-US" sz="2000" dirty="0"/>
              <a:t>艘航空母舰上起飞，以</a:t>
            </a:r>
            <a:r>
              <a:rPr lang="en-US" altLang="zh-CN" sz="2000" dirty="0"/>
              <a:t>60</a:t>
            </a:r>
            <a:r>
              <a:rPr lang="zh-CN" altLang="en-US" sz="2000" dirty="0"/>
              <a:t>米高度在敌雷达盲区内超低空飞行。进入反辐射导弹的有效射程之后，突然爬升到</a:t>
            </a:r>
            <a:r>
              <a:rPr lang="en-US" altLang="zh-CN" sz="2000" dirty="0"/>
              <a:t>150</a:t>
            </a:r>
            <a:r>
              <a:rPr lang="zh-CN" altLang="en-US" sz="2000" dirty="0"/>
              <a:t>米高度，摄取敌雷达波束和工作频谱，一经锁定后便立即发射导弹。在这次作战行动中，美国海军航母舰载机共发射</a:t>
            </a:r>
            <a:r>
              <a:rPr lang="en-US" altLang="zh-CN" sz="2000" dirty="0"/>
              <a:t>340</a:t>
            </a:r>
            <a:r>
              <a:rPr lang="zh-CN" altLang="en-US" sz="2000" dirty="0"/>
              <a:t>枚反辐射导弹</a:t>
            </a:r>
            <a:r>
              <a:rPr lang="en-US" altLang="zh-CN" sz="2000" dirty="0"/>
              <a:t>(</a:t>
            </a:r>
            <a:r>
              <a:rPr lang="zh-CN" altLang="en-US" sz="2000" dirty="0"/>
              <a:t>其中哈姆导弹</a:t>
            </a:r>
            <a:r>
              <a:rPr lang="en-US" altLang="zh-CN" sz="2000" dirty="0"/>
              <a:t>30</a:t>
            </a:r>
            <a:r>
              <a:rPr lang="zh-CN" altLang="en-US" sz="2000" dirty="0"/>
              <a:t>枚</a:t>
            </a:r>
            <a:r>
              <a:rPr lang="en-US" altLang="zh-CN" sz="2000" dirty="0"/>
              <a:t>)</a:t>
            </a:r>
            <a:r>
              <a:rPr lang="zh-CN" altLang="en-US" sz="2000" dirty="0"/>
              <a:t>，摧毁利</a:t>
            </a:r>
            <a:r>
              <a:rPr lang="en-US" altLang="zh-CN" sz="2000" dirty="0"/>
              <a:t>6</a:t>
            </a:r>
            <a:r>
              <a:rPr lang="zh-CN" altLang="en-US" sz="2000" dirty="0"/>
              <a:t>个地面雷达站和若干个机场观通站和指挥塔台，为后续梯队的外科手术式攻击扫清了障碍。在海湾战争中，这种导弹的作用更为明显，伊拉克境内的预警雷达和导弹、火炮的制导雷达基本是用它摧毁的。</a:t>
            </a:r>
            <a:endParaRPr lang="zh-CN" altLang="en-US" sz="2000" dirty="0"/>
          </a:p>
          <a:p>
            <a:pPr eaLnBrk="1" hangingPunct="1"/>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solidFill>
                  <a:schemeClr val="folHlink"/>
                </a:solidFill>
                <a:latin typeface="宋体" panose="02010600030101010101" pitchFamily="2" charset="-122"/>
              </a:rPr>
              <a:t>反辐射导弹</a:t>
            </a:r>
            <a:r>
              <a:rPr lang="zh-CN" altLang="en-US" sz="2800" dirty="0">
                <a:latin typeface="宋体" panose="02010600030101010101" pitchFamily="2" charset="-122"/>
              </a:rPr>
              <a:t>的出现表明电子对抗已经由</a:t>
            </a:r>
            <a:r>
              <a:rPr lang="zh-CN" altLang="en-US" sz="2800" dirty="0" smtClean="0">
                <a:latin typeface="宋体" panose="02010600030101010101" pitchFamily="2" charset="-122"/>
              </a:rPr>
              <a:t>“</a:t>
            </a:r>
            <a:r>
              <a:rPr lang="zh-CN" altLang="en-US" sz="2800" dirty="0" smtClean="0">
                <a:solidFill>
                  <a:srgbClr val="639EF4"/>
                </a:solidFill>
                <a:latin typeface="宋体" panose="02010600030101010101" pitchFamily="2" charset="-122"/>
              </a:rPr>
              <a:t> </a:t>
            </a:r>
            <a:r>
              <a:rPr lang="en-US" altLang="zh-CN" sz="2800" dirty="0" smtClean="0">
                <a:solidFill>
                  <a:srgbClr val="639EF4"/>
                </a:solidFill>
                <a:latin typeface="宋体" panose="02010600030101010101" pitchFamily="2" charset="-122"/>
              </a:rPr>
              <a:t>[</a:t>
            </a:r>
            <a:r>
              <a:rPr lang="zh-CN" altLang="en-US" sz="2800" dirty="0" smtClean="0">
                <a:solidFill>
                  <a:srgbClr val="639EF4"/>
                </a:solidFill>
                <a:latin typeface="宋体" panose="02010600030101010101" pitchFamily="2" charset="-122"/>
              </a:rPr>
              <a:t>填空</a:t>
            </a:r>
            <a:r>
              <a:rPr lang="en-US" altLang="zh-CN" sz="2800" dirty="0" smtClean="0">
                <a:solidFill>
                  <a:srgbClr val="639EF4"/>
                </a:solidFill>
                <a:latin typeface="宋体" panose="02010600030101010101" pitchFamily="2" charset="-122"/>
              </a:rPr>
              <a:t>1]</a:t>
            </a:r>
            <a:r>
              <a:rPr lang="en-US" altLang="zh-CN" sz="2800" dirty="0" smtClean="0">
                <a:solidFill>
                  <a:srgbClr val="000000"/>
                </a:solidFill>
                <a:latin typeface="宋体" panose="02010600030101010101" pitchFamily="2" charset="-122"/>
              </a:rPr>
              <a:t> </a:t>
            </a:r>
            <a:r>
              <a:rPr lang="zh-CN" altLang="en-US" sz="2800" dirty="0" smtClean="0">
                <a:latin typeface="宋体" panose="02010600030101010101" pitchFamily="2" charset="-122"/>
              </a:rPr>
              <a:t>”</a:t>
            </a:r>
            <a:r>
              <a:rPr lang="zh-CN" altLang="en-US" sz="2800" dirty="0">
                <a:latin typeface="宋体" panose="02010600030101010101" pitchFamily="2" charset="-122"/>
              </a:rPr>
              <a:t>发展到</a:t>
            </a:r>
            <a:r>
              <a:rPr lang="zh-CN" altLang="en-US" sz="2800" dirty="0" smtClean="0">
                <a:latin typeface="宋体" panose="02010600030101010101" pitchFamily="2" charset="-122"/>
              </a:rPr>
              <a:t>“</a:t>
            </a:r>
            <a:r>
              <a:rPr lang="zh-CN" altLang="en-US" sz="2800" dirty="0" smtClean="0">
                <a:solidFill>
                  <a:srgbClr val="639EF4"/>
                </a:solidFill>
                <a:latin typeface="宋体" panose="02010600030101010101" pitchFamily="2" charset="-122"/>
              </a:rPr>
              <a:t> </a:t>
            </a:r>
            <a:r>
              <a:rPr lang="en-US" altLang="zh-CN" sz="2800" dirty="0" smtClean="0">
                <a:solidFill>
                  <a:srgbClr val="639EF4"/>
                </a:solidFill>
                <a:latin typeface="宋体" panose="02010600030101010101" pitchFamily="2" charset="-122"/>
              </a:rPr>
              <a:t>[</a:t>
            </a:r>
            <a:r>
              <a:rPr lang="zh-CN" altLang="en-US" sz="2800" dirty="0" smtClean="0">
                <a:solidFill>
                  <a:srgbClr val="639EF4"/>
                </a:solidFill>
                <a:latin typeface="宋体" panose="02010600030101010101" pitchFamily="2" charset="-122"/>
              </a:rPr>
              <a:t>填空</a:t>
            </a:r>
            <a:r>
              <a:rPr lang="en-US" altLang="zh-CN" sz="2800" dirty="0" smtClean="0">
                <a:solidFill>
                  <a:srgbClr val="639EF4"/>
                </a:solidFill>
                <a:latin typeface="宋体" panose="02010600030101010101" pitchFamily="2" charset="-122"/>
              </a:rPr>
              <a:t>2]</a:t>
            </a:r>
            <a:r>
              <a:rPr lang="en-US" altLang="zh-CN" sz="2800" dirty="0" smtClean="0">
                <a:solidFill>
                  <a:srgbClr val="000000"/>
                </a:solidFill>
                <a:latin typeface="宋体" panose="02010600030101010101" pitchFamily="2" charset="-122"/>
              </a:rPr>
              <a:t> </a:t>
            </a:r>
            <a:r>
              <a:rPr lang="zh-CN" altLang="en-US" sz="2800" dirty="0" smtClean="0">
                <a:latin typeface="宋体" panose="02010600030101010101" pitchFamily="2" charset="-122"/>
              </a:rPr>
              <a:t>”</a:t>
            </a:r>
            <a:r>
              <a:rPr lang="zh-CN" altLang="en-US" sz="2800" dirty="0">
                <a:latin typeface="宋体" panose="02010600030101010101" pitchFamily="2" charset="-122"/>
              </a:rPr>
              <a:t>的阶段</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圆角矩形 5"/>
          <p:cNvSpPr/>
          <p:nvPr>
            <p:custDataLst>
              <p:tags r:id="rId2"/>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作答</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p:nvPr>
            <p:custDataLst>
              <p:tags r:id="rId3"/>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正常使用填空题需</a:t>
            </a:r>
            <a:r>
              <a:rPr lang="en-US" altLang="zh-CN"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600" smtClean="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以上版本雨课堂</a:t>
            </a:r>
            <a:endParaRPr lang="zh-CN" altLang="en-US" sz="16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填空题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TipText"/>
            <p:cNvSpPr txBox="1"/>
            <p:nvPr>
              <p:custDataLst>
                <p:tags r:id="rId8"/>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p:nvPr>
        </p:nvSpPr>
        <p:spPr>
          <a:xfrm>
            <a:off x="669882" y="526129"/>
            <a:ext cx="10852237" cy="648000"/>
          </a:xfrm>
        </p:spPr>
        <p:txBody>
          <a:bodyPr vert="horz" lIns="92075" tIns="46038" rIns="92075" bIns="46038" rtlCol="0" anchor="ctr" anchorCtr="0">
            <a:noAutofit/>
          </a:bodyPr>
          <a:lstStyle/>
          <a:p>
            <a:pPr algn="ctr" fontAlgn="base">
              <a:spcAft>
                <a:spcPct val="0"/>
              </a:spcAft>
              <a:defRPr/>
            </a:pPr>
            <a:r>
              <a:rPr lang="en-US" altLang="zh-CN" sz="3600" b="0" spc="0" dirty="0">
                <a:solidFill>
                  <a:schemeClr val="tx2"/>
                </a:solidFill>
                <a:effectLst>
                  <a:outerShdw blurRad="38100" dist="38100" dir="2700000">
                    <a:srgbClr val="000000"/>
                  </a:outerShdw>
                </a:effectLst>
              </a:rPr>
              <a:t>1.1.3  </a:t>
            </a:r>
            <a:r>
              <a:rPr lang="zh-CN" altLang="en-US" sz="3600" b="0" spc="0" dirty="0">
                <a:solidFill>
                  <a:schemeClr val="tx2"/>
                </a:solidFill>
                <a:effectLst>
                  <a:outerShdw blurRad="38100" dist="38100" dir="2700000">
                    <a:srgbClr val="000000"/>
                  </a:outerShdw>
                </a:effectLst>
                <a:latin typeface="宋体" panose="02010600030101010101" pitchFamily="2" charset="-122"/>
              </a:rPr>
              <a:t>综合信息对抗时期</a:t>
            </a:r>
            <a:r>
              <a:rPr lang="zh-CN" altLang="en-US" sz="4400" b="0" spc="0" dirty="0">
                <a:solidFill>
                  <a:schemeClr val="tx2"/>
                </a:solidFill>
                <a:effectLst>
                  <a:outerShdw blurRad="38100" dist="38100" dir="2700000">
                    <a:srgbClr val="000000"/>
                  </a:outerShdw>
                </a:effectLst>
              </a:rPr>
              <a:t> </a:t>
            </a:r>
            <a:endParaRPr lang="zh-CN" altLang="en-US" sz="4400" b="0" spc="0" dirty="0">
              <a:solidFill>
                <a:schemeClr val="tx2"/>
              </a:solidFill>
              <a:effectLst>
                <a:outerShdw blurRad="38100" dist="38100" dir="2700000">
                  <a:srgbClr val="000000"/>
                </a:outerShdw>
              </a:effectLst>
            </a:endParaRPr>
          </a:p>
        </p:txBody>
      </p:sp>
      <p:sp>
        <p:nvSpPr>
          <p:cNvPr id="24579" name="文本占位符 21506"/>
          <p:cNvSpPr>
            <a:spLocks noGrp="1"/>
          </p:cNvSpPr>
          <p:nvPr>
            <p:ph idx="1"/>
          </p:nvPr>
        </p:nvSpPr>
        <p:spPr>
          <a:xfrm>
            <a:off x="669882" y="1968353"/>
            <a:ext cx="10852237" cy="3060847"/>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进入</a:t>
            </a:r>
            <a:r>
              <a:rPr lang="zh-CN" altLang="en-US" sz="2400" dirty="0">
                <a:latin typeface="宋体" panose="02010600030101010101" pitchFamily="2" charset="-122"/>
              </a:rPr>
              <a:t>二十世纪八十年代后，</a:t>
            </a:r>
            <a:r>
              <a:rPr lang="zh-CN" altLang="en-US" sz="2400" dirty="0">
                <a:solidFill>
                  <a:schemeClr val="folHlink"/>
                </a:solidFill>
                <a:latin typeface="宋体" panose="02010600030101010101" pitchFamily="2" charset="-122"/>
              </a:rPr>
              <a:t>计算机技术、网络技术</a:t>
            </a:r>
            <a:r>
              <a:rPr lang="zh-CN" altLang="en-US" sz="2400" dirty="0">
                <a:latin typeface="宋体" panose="02010600030101010101" pitchFamily="2" charset="-122"/>
              </a:rPr>
              <a:t>和</a:t>
            </a:r>
            <a:r>
              <a:rPr lang="zh-CN" altLang="en-US" sz="2400" dirty="0">
                <a:solidFill>
                  <a:schemeClr val="folHlink"/>
                </a:solidFill>
                <a:latin typeface="宋体" panose="02010600030101010101" pitchFamily="2" charset="-122"/>
              </a:rPr>
              <a:t>信息处理技术</a:t>
            </a:r>
            <a:r>
              <a:rPr lang="zh-CN" altLang="en-US" sz="2400" dirty="0">
                <a:latin typeface="宋体" panose="02010600030101010101" pitchFamily="2" charset="-122"/>
              </a:rPr>
              <a:t>获得了迅速发展，人类社会快速进入信息化时代。尤其八十年代末期后，计算机与网络设备进一步微型化、性能与可靠性又有很大提高。进入九十年代后，</a:t>
            </a:r>
            <a:r>
              <a:rPr lang="en-US" altLang="zh-CN" sz="2400" dirty="0"/>
              <a:t>Internet</a:t>
            </a:r>
            <a:r>
              <a:rPr lang="zh-CN" altLang="en-US" sz="2400" dirty="0">
                <a:latin typeface="宋体" panose="02010600030101010101" pitchFamily="2" charset="-122"/>
              </a:rPr>
              <a:t>走向了全世界。</a:t>
            </a:r>
            <a:endParaRPr lang="zh-CN" altLang="en-US" sz="2400" dirty="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标题 117761"/>
          <p:cNvSpPr>
            <a:spLocks noGrp="1"/>
          </p:cNvSpPr>
          <p:nvPr>
            <p:ph type="title"/>
          </p:nvPr>
        </p:nvSpPr>
        <p:spPr>
          <a:xfrm>
            <a:off x="669882" y="648000"/>
            <a:ext cx="10852237" cy="648000"/>
          </a:xfrm>
        </p:spPr>
        <p:txBody>
          <a:bodyPr vert="horz" lIns="92075" tIns="46038" rIns="92075" bIns="46038" rtlCol="0" anchor="ctr" anchorCtr="0">
            <a:noAutofit/>
          </a:bodyPr>
          <a:lstStyle/>
          <a:p>
            <a:pPr algn="ctr" fontAlgn="base">
              <a:spcAft>
                <a:spcPct val="0"/>
              </a:spcAft>
              <a:defRPr/>
            </a:pPr>
            <a:r>
              <a:rPr lang="en-US" altLang="zh-CN" sz="4400" b="0" spc="0" dirty="0">
                <a:solidFill>
                  <a:schemeClr val="tx2"/>
                </a:solidFill>
                <a:effectLst>
                  <a:outerShdw blurRad="38100" dist="38100" dir="2700000">
                    <a:srgbClr val="000000"/>
                  </a:outerShdw>
                </a:effectLst>
              </a:rPr>
              <a:t>C</a:t>
            </a:r>
            <a:r>
              <a:rPr lang="en-US" altLang="zh-CN" sz="4400" b="0" spc="0" baseline="30000" dirty="0">
                <a:solidFill>
                  <a:schemeClr val="tx2"/>
                </a:solidFill>
                <a:effectLst>
                  <a:outerShdw blurRad="38100" dist="38100" dir="2700000">
                    <a:srgbClr val="000000"/>
                  </a:outerShdw>
                </a:effectLst>
              </a:rPr>
              <a:t>3</a:t>
            </a:r>
            <a:r>
              <a:rPr lang="en-US" altLang="zh-CN" sz="4400" b="0" spc="0" dirty="0">
                <a:solidFill>
                  <a:schemeClr val="tx2"/>
                </a:solidFill>
                <a:effectLst>
                  <a:outerShdw blurRad="38100" dist="38100" dir="2700000">
                    <a:srgbClr val="000000"/>
                  </a:outerShdw>
                </a:effectLst>
              </a:rPr>
              <a:t>I</a:t>
            </a:r>
            <a:endParaRPr lang="en-US" altLang="zh-CN" sz="4400" b="0" spc="0" dirty="0">
              <a:solidFill>
                <a:schemeClr val="tx2"/>
              </a:solidFill>
              <a:effectLst>
                <a:outerShdw blurRad="38100" dist="38100" dir="2700000">
                  <a:srgbClr val="000000"/>
                </a:outerShdw>
              </a:effectLst>
            </a:endParaRPr>
          </a:p>
        </p:txBody>
      </p:sp>
      <p:sp>
        <p:nvSpPr>
          <p:cNvPr id="26627" name="文本占位符 117762"/>
          <p:cNvSpPr>
            <a:spLocks noGrp="1"/>
          </p:cNvSpPr>
          <p:nvPr>
            <p:ph idx="1"/>
          </p:nvPr>
        </p:nvSpPr>
        <p:spPr>
          <a:xfrm>
            <a:off x="669882" y="1564941"/>
            <a:ext cx="10852237" cy="5041355"/>
          </a:xfrm>
        </p:spPr>
        <p:txBody>
          <a:bodyPr vert="horz" wrap="square" lIns="91440" tIns="45720" rIns="91440" bIns="45720" rtlCol="0" anchor="t">
            <a:noAutofit/>
          </a:bodyPr>
          <a:lstStyle/>
          <a:p>
            <a:pPr eaLnBrk="1" hangingPunct="1">
              <a:buNone/>
            </a:pPr>
            <a:r>
              <a:rPr lang="en-US" altLang="zh-CN" sz="2800" dirty="0"/>
              <a:t>          “C</a:t>
            </a:r>
            <a:r>
              <a:rPr lang="en-US" altLang="zh-CN" sz="2800" baseline="30000" dirty="0"/>
              <a:t>3</a:t>
            </a:r>
            <a:r>
              <a:rPr lang="en-US" altLang="zh-CN" sz="2800" dirty="0"/>
              <a:t>I</a:t>
            </a:r>
            <a:r>
              <a:rPr lang="zh-CN" altLang="en-US" sz="2800" dirty="0"/>
              <a:t>（</a:t>
            </a:r>
            <a:r>
              <a:rPr lang="en-US" altLang="zh-CN" sz="2800" dirty="0"/>
              <a:t>Communication</a:t>
            </a:r>
            <a:r>
              <a:rPr lang="zh-CN" altLang="en-US" sz="2800" dirty="0"/>
              <a:t>，</a:t>
            </a:r>
            <a:r>
              <a:rPr lang="en-US" altLang="zh-CN" sz="2800" dirty="0"/>
              <a:t>Command</a:t>
            </a:r>
            <a:r>
              <a:rPr lang="zh-CN" altLang="en-US" sz="2800" dirty="0"/>
              <a:t>，</a:t>
            </a:r>
            <a:r>
              <a:rPr lang="en-US" altLang="zh-CN" sz="2800" dirty="0"/>
              <a:t>Control and Intelligence systems</a:t>
            </a:r>
            <a:r>
              <a:rPr lang="zh-CN" altLang="en-US" sz="2800" dirty="0"/>
              <a:t>）”系统就是指挥自动化技术系统，是用电子计算机将指挥、控制、通信和情报各分系统紧密联在一起的综合系统。因为指挥（</a:t>
            </a:r>
            <a:r>
              <a:rPr lang="en-US" altLang="zh-CN" sz="2800" dirty="0"/>
              <a:t>command</a:t>
            </a:r>
            <a:r>
              <a:rPr lang="zh-CN" altLang="en-US" sz="2800" dirty="0"/>
              <a:t>）、控制（</a:t>
            </a:r>
            <a:r>
              <a:rPr lang="en-US" altLang="zh-CN" sz="2800" dirty="0"/>
              <a:t>control</a:t>
            </a:r>
            <a:r>
              <a:rPr lang="zh-CN" altLang="en-US" sz="2800" dirty="0"/>
              <a:t>）、通信（</a:t>
            </a:r>
            <a:r>
              <a:rPr lang="en-US" altLang="zh-CN" sz="2800" dirty="0"/>
              <a:t>communication</a:t>
            </a:r>
            <a:r>
              <a:rPr lang="zh-CN" altLang="en-US" sz="2800" dirty="0"/>
              <a:t>）的英文第一个字母都是</a:t>
            </a:r>
            <a:r>
              <a:rPr lang="en-US" altLang="zh-CN" sz="2800" dirty="0"/>
              <a:t>C</a:t>
            </a:r>
            <a:r>
              <a:rPr lang="zh-CN" altLang="en-US" sz="2800" dirty="0"/>
              <a:t>和情报（</a:t>
            </a:r>
            <a:r>
              <a:rPr lang="en-US" altLang="zh-CN" sz="2800" dirty="0"/>
              <a:t>intelligence</a:t>
            </a:r>
            <a:r>
              <a:rPr lang="zh-CN" altLang="en-US" sz="2800" dirty="0"/>
              <a:t>）的第一个英文字母是</a:t>
            </a:r>
            <a:r>
              <a:rPr lang="en-US" altLang="zh-CN" sz="2800" dirty="0"/>
              <a:t>I</a:t>
            </a:r>
            <a:r>
              <a:rPr lang="zh-CN" altLang="en-US" sz="2800" dirty="0"/>
              <a:t>，所以西方国家又把它简称为“</a:t>
            </a:r>
            <a:r>
              <a:rPr lang="en-US" altLang="zh-CN" sz="2800" dirty="0"/>
              <a:t>C</a:t>
            </a:r>
            <a:r>
              <a:rPr lang="en-US" altLang="zh-CN" sz="2800" baseline="30000" dirty="0"/>
              <a:t>3</a:t>
            </a:r>
            <a:r>
              <a:rPr lang="en-US" altLang="zh-CN" sz="2800" dirty="0"/>
              <a:t>I”</a:t>
            </a:r>
            <a:r>
              <a:rPr lang="zh-CN" altLang="en-US" sz="2800" dirty="0"/>
              <a:t>系统。 </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占位符 23554"/>
          <p:cNvSpPr>
            <a:spLocks noGrp="1"/>
          </p:cNvSpPr>
          <p:nvPr>
            <p:ph idx="1"/>
          </p:nvPr>
        </p:nvSpPr>
        <p:spPr>
          <a:xfrm>
            <a:off x="1008529" y="3179387"/>
            <a:ext cx="10233212" cy="3100388"/>
          </a:xfrm>
        </p:spPr>
        <p:txBody>
          <a:bodyPr vert="horz" wrap="square" lIns="91440" tIns="45720" rIns="91440" bIns="45720" rtlCol="0" anchor="t">
            <a:noAutofit/>
          </a:bodyPr>
          <a:lstStyle/>
          <a:p>
            <a:pPr eaLnBrk="1" hangingPunct="1">
              <a:buNone/>
            </a:pPr>
            <a:r>
              <a:rPr lang="en-US" altLang="zh-CN" sz="2400" dirty="0">
                <a:latin typeface="宋体" panose="02010600030101010101" pitchFamily="2" charset="-122"/>
              </a:rPr>
              <a:t>     </a:t>
            </a:r>
            <a:r>
              <a:rPr lang="zh-CN" altLang="en-US" sz="2400" dirty="0" smtClean="0">
                <a:latin typeface="宋体" panose="02010600030101010101" pitchFamily="2" charset="-122"/>
              </a:rPr>
              <a:t>在</a:t>
            </a:r>
            <a:r>
              <a:rPr lang="en-US" altLang="zh-CN" sz="2400" dirty="0"/>
              <a:t>Internet</a:t>
            </a:r>
            <a:r>
              <a:rPr lang="zh-CN" altLang="en-US" sz="2400" dirty="0">
                <a:latin typeface="宋体" panose="02010600030101010101" pitchFamily="2" charset="-122"/>
              </a:rPr>
              <a:t>向商业化发展的同时，网络技术也在向战役与战术领域发展，</a:t>
            </a:r>
            <a:r>
              <a:rPr lang="en-US" altLang="zh-CN" sz="2400" dirty="0" smtClean="0">
                <a:solidFill>
                  <a:schemeClr val="folHlink"/>
                </a:solidFill>
              </a:rPr>
              <a:t>C</a:t>
            </a:r>
            <a:r>
              <a:rPr lang="en-US" altLang="zh-CN" sz="2400" baseline="30000" dirty="0" smtClean="0">
                <a:solidFill>
                  <a:schemeClr val="folHlink"/>
                </a:solidFill>
              </a:rPr>
              <a:t>3</a:t>
            </a:r>
            <a:r>
              <a:rPr lang="en-US" altLang="zh-CN" sz="2400" dirty="0" smtClean="0">
                <a:solidFill>
                  <a:schemeClr val="folHlink"/>
                </a:solidFill>
              </a:rPr>
              <a:t>I</a:t>
            </a:r>
            <a:r>
              <a:rPr lang="zh-CN" altLang="en-US" sz="2400" dirty="0">
                <a:latin typeface="宋体" panose="02010600030101010101" pitchFamily="2" charset="-122"/>
              </a:rPr>
              <a:t>也随着向战场一级发展，向战斗指挥员、士兵个人，向武器平台方向发展。</a:t>
            </a:r>
            <a:endParaRPr lang="zh-CN" altLang="en-US" sz="2400" dirty="0">
              <a:latin typeface="宋体" panose="02010600030101010101" pitchFamily="2" charset="-122"/>
            </a:endParaRPr>
          </a:p>
          <a:p>
            <a:pPr eaLnBrk="1" hangingPunct="1">
              <a:buNone/>
            </a:pPr>
            <a:r>
              <a:rPr lang="zh-CN" altLang="en-US" sz="2400" dirty="0">
                <a:latin typeface="宋体" panose="02010600030101010101" pitchFamily="2" charset="-122"/>
              </a:rPr>
              <a:t>     </a:t>
            </a:r>
            <a:r>
              <a:rPr lang="zh-CN" altLang="en-US" sz="2400" dirty="0" smtClean="0">
                <a:latin typeface="宋体" panose="02010600030101010101" pitchFamily="2" charset="-122"/>
              </a:rPr>
              <a:t>信息</a:t>
            </a:r>
            <a:r>
              <a:rPr lang="zh-CN" altLang="en-US" sz="2400" dirty="0">
                <a:latin typeface="宋体" panose="02010600030101010101" pitchFamily="2" charset="-122"/>
              </a:rPr>
              <a:t>战已经从电子对抗发展成为整个</a:t>
            </a:r>
            <a:r>
              <a:rPr lang="en-US" altLang="zh-CN" sz="2400" dirty="0" smtClean="0"/>
              <a:t>C</a:t>
            </a:r>
            <a:r>
              <a:rPr lang="en-US" altLang="zh-CN" sz="2400" baseline="30000" dirty="0" smtClean="0"/>
              <a:t>3</a:t>
            </a:r>
            <a:r>
              <a:rPr lang="en-US" altLang="zh-CN" sz="2400" dirty="0" smtClean="0"/>
              <a:t>I</a:t>
            </a:r>
            <a:r>
              <a:rPr lang="zh-CN" altLang="en-US" sz="2400" dirty="0">
                <a:latin typeface="宋体" panose="02010600030101010101" pitchFamily="2" charset="-122"/>
              </a:rPr>
              <a:t>系统之间的对抗，信息战的主战场也从</a:t>
            </a:r>
            <a:r>
              <a:rPr lang="zh-CN" altLang="en-US" sz="2400" dirty="0">
                <a:solidFill>
                  <a:schemeClr val="folHlink"/>
                </a:solidFill>
                <a:latin typeface="宋体" panose="02010600030101010101" pitchFamily="2" charset="-122"/>
              </a:rPr>
              <a:t>纯电磁空间</a:t>
            </a:r>
            <a:r>
              <a:rPr lang="zh-CN" altLang="en-US" sz="2400" dirty="0">
                <a:latin typeface="宋体" panose="02010600030101010101" pitchFamily="2" charset="-122"/>
              </a:rPr>
              <a:t>发展到</a:t>
            </a:r>
            <a:r>
              <a:rPr lang="zh-CN" altLang="en-US" sz="2400" dirty="0">
                <a:solidFill>
                  <a:schemeClr val="folHlink"/>
                </a:solidFill>
                <a:latin typeface="宋体" panose="02010600030101010101" pitchFamily="2" charset="-122"/>
              </a:rPr>
              <a:t>光谱空间</a:t>
            </a:r>
            <a:r>
              <a:rPr lang="zh-CN" altLang="en-US" sz="2400" dirty="0">
                <a:latin typeface="宋体" panose="02010600030101010101" pitchFamily="2" charset="-122"/>
              </a:rPr>
              <a:t>和</a:t>
            </a:r>
            <a:r>
              <a:rPr lang="zh-CN" altLang="en-US" sz="2400" dirty="0">
                <a:solidFill>
                  <a:schemeClr val="folHlink"/>
                </a:solidFill>
                <a:latin typeface="宋体" panose="02010600030101010101" pitchFamily="2" charset="-122"/>
              </a:rPr>
              <a:t>计算机网络空间</a:t>
            </a:r>
            <a:r>
              <a:rPr lang="zh-CN" altLang="en-US" sz="2400" dirty="0">
                <a:latin typeface="宋体" panose="02010600030101010101" pitchFamily="2" charset="-122"/>
              </a:rPr>
              <a:t>，形成光、电和计算机多种手段、多种样式的</a:t>
            </a:r>
            <a:r>
              <a:rPr lang="zh-CN" altLang="en-US" sz="2400" dirty="0">
                <a:solidFill>
                  <a:schemeClr val="folHlink"/>
                </a:solidFill>
                <a:latin typeface="宋体" panose="02010600030101010101" pitchFamily="2" charset="-122"/>
              </a:rPr>
              <a:t>综合信息对抗</a:t>
            </a:r>
            <a:r>
              <a:rPr lang="zh-CN" altLang="en-US" sz="2400" dirty="0">
                <a:latin typeface="宋体" panose="02010600030101010101" pitchFamily="2" charset="-122"/>
              </a:rPr>
              <a:t>。</a:t>
            </a:r>
            <a:r>
              <a:rPr lang="zh-CN" altLang="en-US" sz="2400" dirty="0"/>
              <a:t> </a:t>
            </a:r>
            <a:endParaRPr lang="zh-CN" altLang="en-US" sz="2400" dirty="0"/>
          </a:p>
        </p:txBody>
      </p:sp>
      <p:sp>
        <p:nvSpPr>
          <p:cNvPr id="4" name="圆角矩形标注 23556"/>
          <p:cNvSpPr/>
          <p:nvPr/>
        </p:nvSpPr>
        <p:spPr>
          <a:xfrm>
            <a:off x="3000376" y="1869142"/>
            <a:ext cx="6767513" cy="1060538"/>
          </a:xfrm>
          <a:prstGeom prst="wedgeRoundRectCallout">
            <a:avLst>
              <a:gd name="adj1" fmla="val -48300"/>
              <a:gd name="adj2" fmla="val 125976"/>
              <a:gd name="adj3" fmla="val 16667"/>
            </a:avLst>
          </a:prstGeom>
          <a:solidFill>
            <a:schemeClr val="accent2">
              <a:alpha val="81960"/>
            </a:schemeClr>
          </a:solidFill>
          <a:ln w="9525" cap="flat" cmpd="sng">
            <a:solidFill>
              <a:schemeClr val="tx1"/>
            </a:solidFill>
            <a:prstDash val="solid"/>
            <a:miter/>
            <a:headEnd type="none" w="med" len="med"/>
            <a:tailEnd type="none" w="med" len="med"/>
          </a:ln>
        </p:spPr>
        <p:txBody>
          <a:bodyPr/>
          <a:lstStyle/>
          <a:p>
            <a:r>
              <a:rPr lang="en-US" altLang="zh-CN" sz="2800" dirty="0">
                <a:solidFill>
                  <a:schemeClr val="hlink"/>
                </a:solidFill>
                <a:latin typeface="Times New Roman" panose="02020603050405020304" pitchFamily="18" charset="0"/>
              </a:rPr>
              <a:t>C</a:t>
            </a:r>
            <a:r>
              <a:rPr lang="en-US" altLang="zh-CN" sz="2800" dirty="0">
                <a:solidFill>
                  <a:schemeClr val="folHlink"/>
                </a:solidFill>
                <a:latin typeface="Times New Roman" panose="02020603050405020304" pitchFamily="18" charset="0"/>
              </a:rPr>
              <a:t>ommand</a:t>
            </a:r>
            <a:r>
              <a:rPr lang="zh-CN" altLang="en-US" sz="2800" dirty="0">
                <a:solidFill>
                  <a:schemeClr val="folHlink"/>
                </a:solidFill>
                <a:latin typeface="Times New Roman" panose="02020603050405020304" pitchFamily="18" charset="0"/>
              </a:rPr>
              <a:t>指挥</a:t>
            </a:r>
            <a:r>
              <a:rPr lang="en-US" altLang="zh-CN" sz="2800" dirty="0">
                <a:solidFill>
                  <a:schemeClr val="folHlink"/>
                </a:solidFill>
                <a:latin typeface="Times New Roman" panose="02020603050405020304" pitchFamily="18" charset="0"/>
              </a:rPr>
              <a:t>,</a:t>
            </a:r>
            <a:r>
              <a:rPr lang="en-US" altLang="zh-CN" sz="2800" dirty="0">
                <a:solidFill>
                  <a:schemeClr val="hlink"/>
                </a:solidFill>
                <a:latin typeface="Times New Roman" panose="02020603050405020304" pitchFamily="18" charset="0"/>
              </a:rPr>
              <a:t>C</a:t>
            </a:r>
            <a:r>
              <a:rPr lang="en-US" altLang="zh-CN" sz="2800" dirty="0">
                <a:solidFill>
                  <a:schemeClr val="folHlink"/>
                </a:solidFill>
                <a:latin typeface="Times New Roman" panose="02020603050405020304" pitchFamily="18" charset="0"/>
              </a:rPr>
              <a:t>ontrol</a:t>
            </a:r>
            <a:r>
              <a:rPr lang="zh-CN" altLang="en-US" sz="2800" dirty="0">
                <a:solidFill>
                  <a:schemeClr val="folHlink"/>
                </a:solidFill>
                <a:latin typeface="Times New Roman" panose="02020603050405020304" pitchFamily="18" charset="0"/>
              </a:rPr>
              <a:t>控制</a:t>
            </a:r>
            <a:r>
              <a:rPr lang="en-US" altLang="zh-CN" sz="2800" dirty="0">
                <a:solidFill>
                  <a:schemeClr val="folHlink"/>
                </a:solidFill>
                <a:latin typeface="Times New Roman" panose="02020603050405020304" pitchFamily="18" charset="0"/>
              </a:rPr>
              <a:t>,</a:t>
            </a:r>
            <a:endParaRPr lang="en-US" altLang="zh-CN" sz="2800" dirty="0">
              <a:solidFill>
                <a:schemeClr val="folHlink"/>
              </a:solidFill>
              <a:latin typeface="Times New Roman" panose="02020603050405020304" pitchFamily="18" charset="0"/>
            </a:endParaRPr>
          </a:p>
          <a:p>
            <a:r>
              <a:rPr lang="en-US" altLang="zh-CN" sz="2800" dirty="0">
                <a:solidFill>
                  <a:schemeClr val="hlink"/>
                </a:solidFill>
                <a:latin typeface="Times New Roman" panose="02020603050405020304" pitchFamily="18" charset="0"/>
              </a:rPr>
              <a:t>C</a:t>
            </a:r>
            <a:r>
              <a:rPr lang="en-US" altLang="zh-CN" sz="2800" dirty="0">
                <a:solidFill>
                  <a:schemeClr val="folHlink"/>
                </a:solidFill>
                <a:latin typeface="Times New Roman" panose="02020603050405020304" pitchFamily="18" charset="0"/>
              </a:rPr>
              <a:t>ommunication</a:t>
            </a:r>
            <a:r>
              <a:rPr lang="zh-CN" altLang="en-US" sz="2800" dirty="0" smtClean="0">
                <a:solidFill>
                  <a:schemeClr val="folHlink"/>
                </a:solidFill>
                <a:latin typeface="Times New Roman" panose="02020603050405020304" pitchFamily="18" charset="0"/>
              </a:rPr>
              <a:t>通信，</a:t>
            </a:r>
            <a:r>
              <a:rPr lang="en-US" altLang="zh-CN" sz="2800" dirty="0">
                <a:solidFill>
                  <a:schemeClr val="hlink"/>
                </a:solidFill>
                <a:latin typeface="Times New Roman" panose="02020603050405020304" pitchFamily="18" charset="0"/>
              </a:rPr>
              <a:t>I</a:t>
            </a:r>
            <a:r>
              <a:rPr lang="en-US" altLang="zh-CN" sz="2800" dirty="0">
                <a:solidFill>
                  <a:schemeClr val="folHlink"/>
                </a:solidFill>
                <a:latin typeface="Times New Roman" panose="02020603050405020304" pitchFamily="18" charset="0"/>
              </a:rPr>
              <a:t>ntelligence</a:t>
            </a:r>
            <a:r>
              <a:rPr lang="zh-CN" altLang="en-US" sz="2800" dirty="0">
                <a:solidFill>
                  <a:schemeClr val="folHlink"/>
                </a:solidFill>
                <a:latin typeface="Times New Roman" panose="02020603050405020304" pitchFamily="18" charset="0"/>
              </a:rPr>
              <a:t>情报</a:t>
            </a:r>
            <a:endParaRPr lang="zh-CN" altLang="en-US" sz="2800" dirty="0">
              <a:solidFill>
                <a:schemeClr val="folHlink"/>
              </a:solidFill>
              <a:latin typeface="Times New Roman" panose="02020603050405020304" pitchFamily="18" charset="0"/>
            </a:endParaRPr>
          </a:p>
        </p:txBody>
      </p:sp>
      <p:sp>
        <p:nvSpPr>
          <p:cNvPr id="5" name="标题 117761"/>
          <p:cNvSpPr>
            <a:spLocks noGrp="1"/>
          </p:cNvSpPr>
          <p:nvPr>
            <p:ph type="title"/>
          </p:nvPr>
        </p:nvSpPr>
        <p:spPr>
          <a:xfrm>
            <a:off x="669882" y="648000"/>
            <a:ext cx="10852237" cy="648000"/>
          </a:xfrm>
        </p:spPr>
        <p:txBody>
          <a:bodyPr vert="horz" lIns="92075" tIns="46038" rIns="92075" bIns="46038" rtlCol="0" anchor="ctr" anchorCtr="0">
            <a:noAutofit/>
          </a:bodyPr>
          <a:lstStyle/>
          <a:p>
            <a:pPr algn="ctr" fontAlgn="base">
              <a:spcAft>
                <a:spcPct val="0"/>
              </a:spcAft>
              <a:defRPr/>
            </a:pPr>
            <a:r>
              <a:rPr lang="en-US" altLang="zh-CN" sz="4400" b="0" spc="0" dirty="0">
                <a:solidFill>
                  <a:schemeClr val="tx2"/>
                </a:solidFill>
                <a:effectLst>
                  <a:outerShdw blurRad="38100" dist="38100" dir="2700000">
                    <a:srgbClr val="000000"/>
                  </a:outerShdw>
                </a:effectLst>
              </a:rPr>
              <a:t>C</a:t>
            </a:r>
            <a:r>
              <a:rPr lang="en-US" altLang="zh-CN" sz="4400" b="0" spc="0" baseline="30000" dirty="0">
                <a:solidFill>
                  <a:schemeClr val="tx2"/>
                </a:solidFill>
                <a:effectLst>
                  <a:outerShdw blurRad="38100" dist="38100" dir="2700000">
                    <a:srgbClr val="000000"/>
                  </a:outerShdw>
                </a:effectLst>
              </a:rPr>
              <a:t>3</a:t>
            </a:r>
            <a:r>
              <a:rPr lang="en-US" altLang="zh-CN" sz="4400" b="0" spc="0" dirty="0">
                <a:solidFill>
                  <a:schemeClr val="tx2"/>
                </a:solidFill>
                <a:effectLst>
                  <a:outerShdw blurRad="38100" dist="38100" dir="2700000">
                    <a:srgbClr val="000000"/>
                  </a:outerShdw>
                </a:effectLst>
              </a:rPr>
              <a:t>I</a:t>
            </a:r>
            <a:endParaRPr lang="en-US" altLang="zh-CN" sz="4400" b="0" spc="0" dirty="0">
              <a:solidFill>
                <a:schemeClr val="tx2"/>
              </a:solidFill>
              <a:effectLst>
                <a:outerShdw blurRad="38100" dist="38100" dir="2700000">
                  <a:srgbClr val="000000"/>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18785"/>
          <p:cNvSpPr>
            <a:spLocks noGrp="1"/>
          </p:cNvSpPr>
          <p:nvPr>
            <p:ph type="title"/>
          </p:nvPr>
        </p:nvSpPr>
        <p:spPr>
          <a:xfrm>
            <a:off x="1008529" y="516776"/>
            <a:ext cx="10004611" cy="2080185"/>
          </a:xfrm>
          <a:solidFill>
            <a:schemeClr val="bg1"/>
          </a:solidFill>
          <a:ln>
            <a:solidFill>
              <a:schemeClr val="bg1"/>
            </a:solidFill>
            <a:miter/>
          </a:ln>
        </p:spPr>
        <p:txBody>
          <a:bodyPr vert="horz" lIns="92075" tIns="46038" rIns="92075" bIns="46038" rtlCol="0" anchor="ctr" anchorCtr="0">
            <a:noAutofit/>
          </a:bodyPr>
          <a:lstStyle/>
          <a:p>
            <a:pPr algn="ctr" fontAlgn="base">
              <a:spcAft>
                <a:spcPct val="0"/>
              </a:spcAft>
              <a:defRPr/>
            </a:pPr>
            <a:r>
              <a:rPr lang="en-US" altLang="zh-CN" sz="4000" b="0" spc="0" dirty="0" smtClean="0">
                <a:solidFill>
                  <a:schemeClr val="tx2"/>
                </a:solidFill>
                <a:effectLst>
                  <a:outerShdw blurRad="38100" dist="38100" dir="2700000">
                    <a:srgbClr val="000000"/>
                  </a:outerShdw>
                </a:effectLst>
              </a:rPr>
              <a:t>C</a:t>
            </a:r>
            <a:r>
              <a:rPr lang="en-US" altLang="zh-CN" sz="4000" b="0" spc="0" baseline="30000" dirty="0" smtClean="0">
                <a:solidFill>
                  <a:schemeClr val="tx2"/>
                </a:solidFill>
                <a:effectLst>
                  <a:outerShdw blurRad="38100" dist="38100" dir="2700000">
                    <a:srgbClr val="000000"/>
                  </a:outerShdw>
                </a:effectLst>
              </a:rPr>
              <a:t>4</a:t>
            </a:r>
            <a:r>
              <a:rPr lang="en-US" altLang="zh-CN" sz="4000" b="0" spc="0" dirty="0" smtClean="0">
                <a:solidFill>
                  <a:schemeClr val="tx2"/>
                </a:solidFill>
                <a:effectLst>
                  <a:outerShdw blurRad="38100" dist="38100" dir="2700000">
                    <a:srgbClr val="000000"/>
                  </a:outerShdw>
                </a:effectLst>
              </a:rPr>
              <a:t>ISR</a:t>
            </a:r>
            <a:br>
              <a:rPr lang="en-US" altLang="zh-CN" sz="4000" b="0" spc="0" dirty="0" smtClean="0">
                <a:solidFill>
                  <a:schemeClr val="tx2"/>
                </a:solidFill>
                <a:effectLst>
                  <a:outerShdw blurRad="38100" dist="38100" dir="2700000">
                    <a:srgbClr val="000000"/>
                  </a:outerShdw>
                </a:effectLst>
              </a:rPr>
            </a:br>
            <a:r>
              <a:rPr lang="en-US" altLang="zh-CN" sz="3200" b="0" spc="0" dirty="0" smtClean="0">
                <a:solidFill>
                  <a:schemeClr val="tx2"/>
                </a:solidFill>
                <a:effectLst>
                  <a:outerShdw blurRad="38100" dist="38100" dir="2700000">
                    <a:srgbClr val="000000"/>
                  </a:outerShdw>
                </a:effectLst>
              </a:rPr>
              <a:t>  </a:t>
            </a:r>
            <a:r>
              <a:rPr lang="en-US" altLang="zh-CN" sz="2800" b="0" spc="0" dirty="0">
                <a:solidFill>
                  <a:schemeClr val="folHlink"/>
                </a:solidFill>
                <a:effectLst>
                  <a:outerShdw blurRad="38100" dist="38100" dir="2700000">
                    <a:srgbClr val="000000"/>
                  </a:outerShdw>
                </a:effectLst>
              </a:rPr>
              <a:t>C</a:t>
            </a:r>
            <a:r>
              <a:rPr lang="en-US" altLang="zh-CN" sz="2800" b="0" spc="0" dirty="0">
                <a:solidFill>
                  <a:srgbClr val="99FF99"/>
                </a:solidFill>
                <a:effectLst>
                  <a:outerShdw blurRad="38100" dist="38100" dir="2700000">
                    <a:srgbClr val="000000"/>
                  </a:outerShdw>
                </a:effectLst>
              </a:rPr>
              <a:t>ommand, </a:t>
            </a:r>
            <a:r>
              <a:rPr lang="en-US" altLang="zh-CN" sz="2800" b="0" spc="0" dirty="0">
                <a:solidFill>
                  <a:schemeClr val="folHlink"/>
                </a:solidFill>
                <a:effectLst>
                  <a:outerShdw blurRad="38100" dist="38100" dir="2700000">
                    <a:srgbClr val="000000"/>
                  </a:outerShdw>
                </a:effectLst>
              </a:rPr>
              <a:t>C</a:t>
            </a:r>
            <a:r>
              <a:rPr lang="en-US" altLang="zh-CN" sz="2800" b="0" spc="0" dirty="0">
                <a:solidFill>
                  <a:srgbClr val="99FF99"/>
                </a:solidFill>
                <a:effectLst>
                  <a:outerShdw blurRad="38100" dist="38100" dir="2700000">
                    <a:srgbClr val="000000"/>
                  </a:outerShdw>
                </a:effectLst>
              </a:rPr>
              <a:t>ontrol, </a:t>
            </a:r>
            <a:r>
              <a:rPr lang="en-US" altLang="zh-CN" sz="2800" b="0" spc="0" dirty="0">
                <a:solidFill>
                  <a:schemeClr val="folHlink"/>
                </a:solidFill>
                <a:effectLst>
                  <a:outerShdw blurRad="38100" dist="38100" dir="2700000">
                    <a:srgbClr val="000000"/>
                  </a:outerShdw>
                </a:effectLst>
              </a:rPr>
              <a:t>C</a:t>
            </a:r>
            <a:r>
              <a:rPr lang="en-US" altLang="zh-CN" sz="2800" b="0" spc="0" dirty="0">
                <a:solidFill>
                  <a:srgbClr val="99FF99"/>
                </a:solidFill>
                <a:effectLst>
                  <a:outerShdw blurRad="38100" dist="38100" dir="2700000">
                    <a:srgbClr val="000000"/>
                  </a:outerShdw>
                </a:effectLst>
              </a:rPr>
              <a:t>ommunications, </a:t>
            </a:r>
            <a:r>
              <a:rPr lang="en-US" altLang="zh-CN" sz="2800" b="0" spc="0" dirty="0">
                <a:solidFill>
                  <a:schemeClr val="folHlink"/>
                </a:solidFill>
                <a:effectLst>
                  <a:outerShdw blurRad="38100" dist="38100" dir="2700000">
                    <a:srgbClr val="000000"/>
                  </a:outerShdw>
                </a:effectLst>
              </a:rPr>
              <a:t>C</a:t>
            </a:r>
            <a:r>
              <a:rPr lang="en-US" altLang="zh-CN" sz="2800" b="0" spc="0" dirty="0">
                <a:solidFill>
                  <a:srgbClr val="99FF99"/>
                </a:solidFill>
                <a:effectLst>
                  <a:outerShdw blurRad="38100" dist="38100" dir="2700000">
                    <a:srgbClr val="000000"/>
                  </a:outerShdw>
                </a:effectLst>
              </a:rPr>
              <a:t>omputers, </a:t>
            </a:r>
            <a:r>
              <a:rPr lang="en-US" altLang="zh-CN" sz="2800" b="0" spc="0" dirty="0">
                <a:solidFill>
                  <a:schemeClr val="folHlink"/>
                </a:solidFill>
                <a:effectLst>
                  <a:outerShdw blurRad="38100" dist="38100" dir="2700000">
                    <a:srgbClr val="000000"/>
                  </a:outerShdw>
                </a:effectLst>
              </a:rPr>
              <a:t>I</a:t>
            </a:r>
            <a:r>
              <a:rPr lang="en-US" altLang="zh-CN" sz="2800" b="0" spc="0" dirty="0">
                <a:solidFill>
                  <a:srgbClr val="99FF99"/>
                </a:solidFill>
                <a:effectLst>
                  <a:outerShdw blurRad="38100" dist="38100" dir="2700000">
                    <a:srgbClr val="000000"/>
                  </a:outerShdw>
                </a:effectLst>
              </a:rPr>
              <a:t>ntelligence, </a:t>
            </a:r>
            <a:r>
              <a:rPr lang="en-US" altLang="zh-CN" sz="2800" b="0" spc="0" dirty="0">
                <a:solidFill>
                  <a:schemeClr val="folHlink"/>
                </a:solidFill>
                <a:effectLst>
                  <a:outerShdw blurRad="38100" dist="38100" dir="2700000">
                    <a:srgbClr val="000000"/>
                  </a:outerShdw>
                </a:effectLst>
              </a:rPr>
              <a:t>S</a:t>
            </a:r>
            <a:r>
              <a:rPr lang="en-US" altLang="zh-CN" sz="2800" b="0" spc="0" dirty="0">
                <a:solidFill>
                  <a:srgbClr val="99FF99"/>
                </a:solidFill>
                <a:effectLst>
                  <a:outerShdw blurRad="38100" dist="38100" dir="2700000">
                    <a:srgbClr val="000000"/>
                  </a:outerShdw>
                </a:effectLst>
              </a:rPr>
              <a:t>urveillance and </a:t>
            </a:r>
            <a:r>
              <a:rPr lang="en-US" altLang="zh-CN" sz="2800" b="0" spc="0" dirty="0">
                <a:solidFill>
                  <a:schemeClr val="folHlink"/>
                </a:solidFill>
                <a:effectLst>
                  <a:outerShdw blurRad="38100" dist="38100" dir="2700000">
                    <a:srgbClr val="000000"/>
                  </a:outerShdw>
                </a:effectLst>
              </a:rPr>
              <a:t>R</a:t>
            </a:r>
            <a:r>
              <a:rPr lang="en-US" altLang="zh-CN" sz="2800" b="0" spc="0" dirty="0">
                <a:solidFill>
                  <a:srgbClr val="99FF99"/>
                </a:solidFill>
                <a:effectLst>
                  <a:outerShdw blurRad="38100" dist="38100" dir="2700000">
                    <a:srgbClr val="000000"/>
                  </a:outerShdw>
                </a:effectLst>
              </a:rPr>
              <a:t>econnaissance </a:t>
            </a:r>
            <a:br>
              <a:rPr lang="en-US" altLang="zh-CN" sz="2800" b="0" spc="0" dirty="0" smtClean="0">
                <a:solidFill>
                  <a:srgbClr val="99FF99"/>
                </a:solidFill>
                <a:effectLst>
                  <a:outerShdw blurRad="38100" dist="38100" dir="2700000">
                    <a:srgbClr val="000000"/>
                  </a:outerShdw>
                </a:effectLst>
              </a:rPr>
            </a:br>
            <a:r>
              <a:rPr lang="zh-CN" altLang="en-US" sz="2800" b="0" spc="0" dirty="0" smtClean="0">
                <a:solidFill>
                  <a:srgbClr val="FF6600"/>
                </a:solidFill>
                <a:effectLst>
                  <a:outerShdw blurRad="38100" dist="38100" dir="2700000">
                    <a:srgbClr val="000000"/>
                  </a:outerShdw>
                </a:effectLst>
              </a:rPr>
              <a:t>指挥</a:t>
            </a:r>
            <a:r>
              <a:rPr lang="zh-CN" altLang="en-US" sz="2800" b="0" spc="0" dirty="0">
                <a:solidFill>
                  <a:srgbClr val="FF6600"/>
                </a:solidFill>
                <a:effectLst>
                  <a:outerShdw blurRad="38100" dist="38100" dir="2700000">
                    <a:srgbClr val="000000"/>
                  </a:outerShdw>
                </a:effectLst>
              </a:rPr>
              <a:t>、控制、通信、计算机</a:t>
            </a:r>
            <a:r>
              <a:rPr lang="zh-CN" altLang="en-US" sz="2800" b="0" spc="0" dirty="0">
                <a:solidFill>
                  <a:srgbClr val="99FF99"/>
                </a:solidFill>
                <a:effectLst>
                  <a:outerShdw blurRad="38100" dist="38100" dir="2700000">
                    <a:srgbClr val="000000"/>
                  </a:outerShdw>
                </a:effectLst>
              </a:rPr>
              <a:t>、情报、</a:t>
            </a:r>
            <a:r>
              <a:rPr lang="zh-CN" altLang="en-US" sz="2800" b="0" spc="0" dirty="0">
                <a:solidFill>
                  <a:schemeClr val="folHlink"/>
                </a:solidFill>
                <a:effectLst>
                  <a:outerShdw blurRad="38100" dist="38100" dir="2700000">
                    <a:srgbClr val="000000"/>
                  </a:outerShdw>
                </a:effectLst>
              </a:rPr>
              <a:t>监视与侦察</a:t>
            </a:r>
            <a:endParaRPr lang="zh-CN" altLang="en-US" sz="3200" b="0" spc="0" dirty="0">
              <a:solidFill>
                <a:schemeClr val="folHlink"/>
              </a:solidFill>
              <a:effectLst>
                <a:outerShdw blurRad="38100" dist="38100" dir="2700000">
                  <a:srgbClr val="000000"/>
                </a:outerShdw>
              </a:effectLst>
            </a:endParaRPr>
          </a:p>
        </p:txBody>
      </p:sp>
      <p:sp>
        <p:nvSpPr>
          <p:cNvPr id="27651" name="文本占位符 118786"/>
          <p:cNvSpPr>
            <a:spLocks noGrp="1"/>
          </p:cNvSpPr>
          <p:nvPr>
            <p:ph idx="1"/>
          </p:nvPr>
        </p:nvSpPr>
        <p:spPr>
          <a:xfrm>
            <a:off x="726140" y="2596961"/>
            <a:ext cx="10569388" cy="4059332"/>
          </a:xfrm>
        </p:spPr>
        <p:txBody>
          <a:bodyPr vert="horz" wrap="square" lIns="91440" tIns="45720" rIns="91440" bIns="45720" rtlCol="0" anchor="t">
            <a:noAutofit/>
          </a:bodyPr>
          <a:lstStyle/>
          <a:p>
            <a:pPr algn="just" eaLnBrk="1" hangingPunct="1">
              <a:lnSpc>
                <a:spcPct val="90000"/>
              </a:lnSpc>
              <a:buNone/>
            </a:pPr>
            <a:r>
              <a:rPr lang="en-US" altLang="zh-CN" sz="2400" dirty="0"/>
              <a:t>          </a:t>
            </a:r>
            <a:r>
              <a:rPr lang="zh-CN" altLang="en-US" sz="2400" dirty="0" smtClean="0"/>
              <a:t>为了</a:t>
            </a:r>
            <a:r>
              <a:rPr lang="zh-CN" altLang="en-US" sz="2400" dirty="0"/>
              <a:t>适应现代战争的需要，</a:t>
            </a:r>
            <a:r>
              <a:rPr lang="en-US" altLang="zh-CN" sz="2400" dirty="0"/>
              <a:t>20</a:t>
            </a:r>
            <a:r>
              <a:rPr lang="zh-CN" altLang="en-US" sz="2400" dirty="0"/>
              <a:t>世纪</a:t>
            </a:r>
            <a:r>
              <a:rPr lang="en-US" altLang="zh-CN" sz="2400" dirty="0"/>
              <a:t>50</a:t>
            </a:r>
            <a:r>
              <a:rPr lang="zh-CN" altLang="en-US" sz="2400" dirty="0"/>
              <a:t>年代以来，一些国家相继建立了指挥、控制、通信和情报系统（</a:t>
            </a:r>
            <a:r>
              <a:rPr lang="en-US" altLang="zh-CN" sz="2400" dirty="0"/>
              <a:t>C</a:t>
            </a:r>
            <a:r>
              <a:rPr lang="en-US" altLang="zh-CN" sz="2400" baseline="30000" dirty="0"/>
              <a:t>3</a:t>
            </a:r>
            <a:r>
              <a:rPr lang="en-US" altLang="zh-CN" sz="2400" dirty="0"/>
              <a:t>I</a:t>
            </a:r>
            <a:r>
              <a:rPr lang="zh-CN" altLang="en-US" sz="2400" dirty="0"/>
              <a:t>系统）（有的国家在</a:t>
            </a:r>
            <a:r>
              <a:rPr lang="en-US" altLang="zh-CN" sz="2400" dirty="0"/>
              <a:t>C</a:t>
            </a:r>
            <a:r>
              <a:rPr lang="en-US" altLang="zh-CN" sz="2400" baseline="30000" dirty="0"/>
              <a:t>3</a:t>
            </a:r>
            <a:r>
              <a:rPr lang="en-US" altLang="zh-CN" sz="2400" dirty="0"/>
              <a:t>I</a:t>
            </a:r>
            <a:r>
              <a:rPr lang="zh-CN" altLang="en-US" sz="2400" dirty="0"/>
              <a:t>系统中更加强调计算机技术，将</a:t>
            </a:r>
            <a:r>
              <a:rPr lang="en-US" altLang="zh-CN" sz="2400" dirty="0">
                <a:solidFill>
                  <a:srgbClr val="FF0000"/>
                </a:solidFill>
              </a:rPr>
              <a:t>C</a:t>
            </a:r>
            <a:r>
              <a:rPr lang="en-US" altLang="zh-CN" sz="2400" baseline="30000" dirty="0">
                <a:solidFill>
                  <a:srgbClr val="FF0000"/>
                </a:solidFill>
              </a:rPr>
              <a:t>3</a:t>
            </a:r>
            <a:r>
              <a:rPr lang="en-US" altLang="zh-CN" sz="2400" dirty="0">
                <a:solidFill>
                  <a:srgbClr val="FF0000"/>
                </a:solidFill>
              </a:rPr>
              <a:t>I</a:t>
            </a:r>
            <a:r>
              <a:rPr lang="zh-CN" altLang="en-US" sz="2400" dirty="0"/>
              <a:t>归纳为</a:t>
            </a:r>
            <a:r>
              <a:rPr lang="en-US" altLang="zh-CN" sz="2400" dirty="0">
                <a:solidFill>
                  <a:srgbClr val="FF0000"/>
                </a:solidFill>
              </a:rPr>
              <a:t>C</a:t>
            </a:r>
            <a:r>
              <a:rPr lang="en-US" altLang="zh-CN" sz="2400" baseline="30000" dirty="0">
                <a:solidFill>
                  <a:srgbClr val="FF0000"/>
                </a:solidFill>
              </a:rPr>
              <a:t>4</a:t>
            </a:r>
            <a:r>
              <a:rPr lang="en-US" altLang="zh-CN" sz="2400" dirty="0">
                <a:solidFill>
                  <a:srgbClr val="FF0000"/>
                </a:solidFill>
              </a:rPr>
              <a:t>I</a:t>
            </a:r>
            <a:r>
              <a:rPr lang="zh-CN" altLang="en-US" sz="2400" dirty="0"/>
              <a:t>；有的又将监视、侦察囊括其内，称为</a:t>
            </a:r>
            <a:r>
              <a:rPr lang="en-US" altLang="zh-CN" sz="2400" dirty="0">
                <a:solidFill>
                  <a:srgbClr val="FF0000"/>
                </a:solidFill>
              </a:rPr>
              <a:t>C</a:t>
            </a:r>
            <a:r>
              <a:rPr lang="en-US" altLang="zh-CN" sz="2400" baseline="30000" dirty="0">
                <a:solidFill>
                  <a:srgbClr val="FF0000"/>
                </a:solidFill>
              </a:rPr>
              <a:t>4</a:t>
            </a:r>
            <a:r>
              <a:rPr lang="en-US" altLang="zh-CN" sz="2400" dirty="0">
                <a:solidFill>
                  <a:srgbClr val="FF0000"/>
                </a:solidFill>
              </a:rPr>
              <a:t>ISR</a:t>
            </a:r>
            <a:r>
              <a:rPr lang="zh-CN" altLang="en-US" sz="2400" dirty="0"/>
              <a:t>），并且日益向高度自动化、灵活可靠、反应迅速、生存能力强和保密性好等方向发展。</a:t>
            </a:r>
            <a:r>
              <a:rPr lang="en-US" altLang="zh-CN" sz="2400" dirty="0"/>
              <a:t>C</a:t>
            </a:r>
            <a:r>
              <a:rPr lang="en-US" altLang="zh-CN" sz="2400" baseline="30000" dirty="0"/>
              <a:t>3</a:t>
            </a:r>
            <a:r>
              <a:rPr lang="en-US" altLang="zh-CN" sz="2400" dirty="0"/>
              <a:t>I</a:t>
            </a:r>
            <a:r>
              <a:rPr lang="zh-CN" altLang="en-US" sz="2400" dirty="0"/>
              <a:t>系统是以现代系统论、控制论和信息论为理论基础建立起来的，以电磁、光电武器装备为主体、以计算机为核心，以信息感测、识别、传递、处理为手段，将各级指挥员、战斗员连成有机整体，使其能共同遂行作战指挥、控制、通信及侦察任务的系统。</a:t>
            </a:r>
            <a:r>
              <a:rPr lang="en-US" altLang="zh-CN" sz="2400" dirty="0"/>
              <a:t>C</a:t>
            </a:r>
            <a:r>
              <a:rPr lang="en-US" altLang="zh-CN" sz="2400" baseline="30000" dirty="0"/>
              <a:t>3</a:t>
            </a:r>
            <a:r>
              <a:rPr lang="en-US" altLang="zh-CN" sz="2400" dirty="0"/>
              <a:t>I</a:t>
            </a:r>
            <a:r>
              <a:rPr lang="zh-CN" altLang="en-US" sz="2400" dirty="0"/>
              <a:t>系统技术包括互通技术、软件工程技术、高灵敏度雷达技术、信号和图像处理技术、数据汇集技术等。</a:t>
            </a:r>
            <a:r>
              <a:rPr lang="en-US" altLang="zh-CN" sz="2400" dirty="0"/>
              <a:t>C</a:t>
            </a:r>
            <a:r>
              <a:rPr lang="en-US" altLang="zh-CN" sz="2400" baseline="30000" dirty="0"/>
              <a:t>3</a:t>
            </a:r>
            <a:r>
              <a:rPr lang="en-US" altLang="zh-CN" sz="2400" dirty="0"/>
              <a:t>I</a:t>
            </a:r>
            <a:r>
              <a:rPr lang="zh-CN" altLang="en-US" sz="2400" dirty="0"/>
              <a:t>系统利用这些技术不仅能收集处理和传送情报，支援兵力的调动、部署和协同，实施作战指挥，而且能把各种武器连成一体，使其发挥</a:t>
            </a:r>
            <a:r>
              <a:rPr lang="en-US" altLang="zh-CN" sz="2400" dirty="0"/>
              <a:t>1+1&gt;2</a:t>
            </a:r>
            <a:r>
              <a:rPr lang="zh-CN" altLang="en-US" sz="2400" dirty="0"/>
              <a:t>的最大效能和威力</a:t>
            </a:r>
            <a:r>
              <a:rPr lang="zh-CN" altLang="en-US" sz="2400" dirty="0" smtClean="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en-US" altLang="zh-CN" sz="2600" dirty="0" smtClean="0">
                <a:latin typeface="微软雅黑" panose="020B0503020204020204" pitchFamily="34" charset="-122"/>
                <a:ea typeface="微软雅黑" panose="020B0503020204020204" pitchFamily="34" charset="-122"/>
                <a:sym typeface="微软雅黑" panose="020B0503020204020204" pitchFamily="34" charset="-122"/>
              </a:rPr>
              <a:t>C</a:t>
            </a:r>
            <a:r>
              <a:rPr lang="en-US" altLang="zh-CN" sz="2600" baseline="30000" dirty="0" smtClean="0">
                <a:latin typeface="微软雅黑" panose="020B0503020204020204" pitchFamily="34" charset="-122"/>
                <a:ea typeface="微软雅黑" panose="020B0503020204020204" pitchFamily="34" charset="-122"/>
                <a:sym typeface="微软雅黑" panose="020B0503020204020204" pitchFamily="34" charset="-122"/>
              </a:rPr>
              <a:t>3</a:t>
            </a:r>
            <a:r>
              <a:rPr lang="en-US" altLang="zh-CN" sz="2600" dirty="0" smtClean="0">
                <a:latin typeface="微软雅黑" panose="020B0503020204020204" pitchFamily="34" charset="-122"/>
                <a:ea typeface="微软雅黑" panose="020B0503020204020204" pitchFamily="34" charset="-122"/>
                <a:sym typeface="微软雅黑" panose="020B0503020204020204" pitchFamily="34" charset="-122"/>
              </a:rPr>
              <a:t>I</a:t>
            </a:r>
            <a:r>
              <a:rPr lang="zh-CN" altLang="en-US" sz="2600" dirty="0" smtClean="0">
                <a:latin typeface="微软雅黑" panose="020B0503020204020204" pitchFamily="34" charset="-122"/>
                <a:ea typeface="微软雅黑" panose="020B0503020204020204" pitchFamily="34" charset="-122"/>
                <a:sym typeface="微软雅黑" panose="020B0503020204020204" pitchFamily="34" charset="-122"/>
              </a:rPr>
              <a:t>包括了哪几项？</a:t>
            </a:r>
            <a:endParaRPr lang="zh-CN" altLang="en-US" sz="26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文本框 5"/>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400" dirty="0" smtClean="0">
                <a:effectLst>
                  <a:outerShdw blurRad="38100" dist="38100" dir="2700000">
                    <a:srgbClr val="000000"/>
                  </a:outerShdw>
                </a:effectLst>
              </a:rPr>
              <a:t>指挥</a:t>
            </a:r>
            <a:endParaRPr lang="zh-CN" altLang="en-US" sz="26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3"/>
            </p:custDataLst>
          </p:nvPr>
        </p:nvSpPr>
        <p:spPr>
          <a:xfrm>
            <a:off x="2438400" y="3275920"/>
            <a:ext cx="8534400" cy="642938"/>
          </a:xfrm>
          <a:prstGeom prst="rect">
            <a:avLst/>
          </a:prstGeom>
          <a:noFill/>
        </p:spPr>
        <p:txBody>
          <a:bodyPr vert="horz" rtlCol="0" anchor="ctr" anchorCtr="0">
            <a:noAutofit/>
          </a:bodyPr>
          <a:lstStyle/>
          <a:p>
            <a:r>
              <a:rPr lang="zh-CN" altLang="en-US" sz="2800" dirty="0" smtClean="0">
                <a:effectLst>
                  <a:outerShdw blurRad="38100" dist="38100" dir="2700000">
                    <a:srgbClr val="000000"/>
                  </a:outerShdw>
                </a:effectLst>
              </a:rPr>
              <a:t>控制</a:t>
            </a:r>
            <a:endParaRPr lang="zh-CN" altLang="en-US" sz="3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4"/>
            </p:custDataLst>
          </p:nvPr>
        </p:nvSpPr>
        <p:spPr>
          <a:xfrm>
            <a:off x="2438400" y="3765777"/>
            <a:ext cx="8534400" cy="642938"/>
          </a:xfrm>
          <a:prstGeom prst="rect">
            <a:avLst/>
          </a:prstGeom>
          <a:noFill/>
        </p:spPr>
        <p:txBody>
          <a:bodyPr vert="horz" rtlCol="0" anchor="ctr" anchorCtr="0">
            <a:noAutofit/>
          </a:bodyPr>
          <a:lstStyle/>
          <a:p>
            <a:r>
              <a:rPr lang="zh-CN" altLang="en-US" sz="2400" dirty="0" smtClean="0">
                <a:effectLst>
                  <a:outerShdw blurRad="38100" dist="38100" dir="2700000">
                    <a:srgbClr val="000000"/>
                  </a:outerShdw>
                </a:effectLst>
              </a:rPr>
              <a:t>通信</a:t>
            </a:r>
            <a:endParaRPr lang="zh-CN" altLang="en-US" sz="2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文本框 8"/>
          <p:cNvSpPr txBox="1"/>
          <p:nvPr>
            <p:custDataLst>
              <p:tags r:id="rId5"/>
            </p:custDataLst>
          </p:nvPr>
        </p:nvSpPr>
        <p:spPr>
          <a:xfrm>
            <a:off x="2438400" y="4255634"/>
            <a:ext cx="8534400" cy="642938"/>
          </a:xfrm>
          <a:prstGeom prst="rect">
            <a:avLst/>
          </a:prstGeom>
          <a:noFill/>
        </p:spPr>
        <p:txBody>
          <a:bodyPr vert="horz" rtlCol="0" anchor="ctr" anchorCtr="0">
            <a:noAutofit/>
          </a:bodyPr>
          <a:lstStyle/>
          <a:p>
            <a:r>
              <a:rPr lang="zh-CN" altLang="en-US" sz="2800" dirty="0" smtClean="0">
                <a:effectLst>
                  <a:outerShdw blurRad="38100" dist="38100" dir="2700000">
                    <a:srgbClr val="000000"/>
                  </a:outerShdw>
                </a:effectLst>
              </a:rPr>
              <a:t>计算机</a:t>
            </a:r>
            <a:endParaRPr lang="zh-CN" altLang="en-US" sz="3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矩形 9"/>
          <p:cNvSpPr>
            <a:spLocks noChangeAspect="1"/>
          </p:cNvSpPr>
          <p:nvPr>
            <p:custDataLst>
              <p:tags r:id="rId6"/>
            </p:custDataLst>
          </p:nvPr>
        </p:nvSpPr>
        <p:spPr>
          <a:xfrm>
            <a:off x="1571625" y="2850356"/>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矩形 10"/>
          <p:cNvSpPr>
            <a:spLocks noChangeAspect="1"/>
          </p:cNvSpPr>
          <p:nvPr>
            <p:custDataLst>
              <p:tags r:id="rId7"/>
            </p:custDataLst>
          </p:nvPr>
        </p:nvSpPr>
        <p:spPr>
          <a:xfrm>
            <a:off x="1571625" y="3340214"/>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矩形 11"/>
          <p:cNvSpPr>
            <a:spLocks noChangeAspect="1"/>
          </p:cNvSpPr>
          <p:nvPr>
            <p:custDataLst>
              <p:tags r:id="rId8"/>
            </p:custDataLst>
          </p:nvPr>
        </p:nvSpPr>
        <p:spPr>
          <a:xfrm>
            <a:off x="1571625" y="3830071"/>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矩形 12"/>
          <p:cNvSpPr>
            <a:spLocks noChangeAspect="1"/>
          </p:cNvSpPr>
          <p:nvPr>
            <p:custDataLst>
              <p:tags r:id="rId9"/>
            </p:custDataLst>
          </p:nvPr>
        </p:nvSpPr>
        <p:spPr>
          <a:xfrm>
            <a:off x="1571625" y="4319928"/>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圆角矩形 13"/>
          <p:cNvSpPr/>
          <p:nvPr>
            <p:custDataLst>
              <p:tags r:id="rId10"/>
            </p:custDataLst>
          </p:nvPr>
        </p:nvSpPr>
        <p:spPr>
          <a:xfrm>
            <a:off x="8915400" y="6215064"/>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文本框 20"/>
          <p:cNvSpPr txBox="1"/>
          <p:nvPr>
            <p:custDataLst>
              <p:tags r:id="rId11"/>
            </p:custDataLst>
          </p:nvPr>
        </p:nvSpPr>
        <p:spPr>
          <a:xfrm>
            <a:off x="2438400" y="4745492"/>
            <a:ext cx="8534400" cy="642938"/>
          </a:xfrm>
          <a:prstGeom prst="rect">
            <a:avLst/>
          </a:prstGeom>
          <a:noFill/>
        </p:spPr>
        <p:txBody>
          <a:bodyPr vert="horz" rtlCol="0" anchor="ctr" anchorCtr="0">
            <a:noAutofit/>
          </a:bodyPr>
          <a:lstStyle/>
          <a:p>
            <a:r>
              <a:rPr lang="zh-CN" altLang="en-US" sz="2400" dirty="0" smtClean="0">
                <a:effectLst>
                  <a:outerShdw blurRad="38100" dist="38100" dir="2700000">
                    <a:srgbClr val="000000"/>
                  </a:outerShdw>
                </a:effectLst>
              </a:rPr>
              <a:t>情报</a:t>
            </a:r>
            <a:endParaRPr lang="zh-CN" altLang="en-US" sz="2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2" name="矩形 21"/>
          <p:cNvSpPr>
            <a:spLocks noChangeAspect="1"/>
          </p:cNvSpPr>
          <p:nvPr>
            <p:custDataLst>
              <p:tags r:id="rId12"/>
            </p:custDataLst>
          </p:nvPr>
        </p:nvSpPr>
        <p:spPr>
          <a:xfrm>
            <a:off x="1571625" y="4809785"/>
            <a:ext cx="514350" cy="514350"/>
          </a:xfrm>
          <a:prstGeom prst="rect">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E</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4" name="文本框 23"/>
          <p:cNvSpPr txBox="1"/>
          <p:nvPr>
            <p:custDataLst>
              <p:tags r:id="rId13"/>
            </p:custDataLst>
          </p:nvPr>
        </p:nvSpPr>
        <p:spPr>
          <a:xfrm>
            <a:off x="2438400" y="5235349"/>
            <a:ext cx="8534400" cy="642938"/>
          </a:xfrm>
          <a:prstGeom prst="rect">
            <a:avLst/>
          </a:prstGeom>
          <a:noFill/>
        </p:spPr>
        <p:txBody>
          <a:bodyPr vert="horz" rtlCol="0" anchor="ctr" anchorCtr="0">
            <a:noAutofit/>
          </a:bodyPr>
          <a:lstStyle/>
          <a:p>
            <a:r>
              <a:rPr lang="zh-CN" altLang="en-US" sz="2800" dirty="0" smtClean="0">
                <a:effectLst>
                  <a:outerShdw blurRad="38100" dist="38100" dir="2700000">
                    <a:srgbClr val="000000"/>
                  </a:outerShdw>
                </a:effectLst>
              </a:rPr>
              <a:t>监视</a:t>
            </a:r>
            <a:endParaRPr lang="zh-CN" altLang="en-US" sz="32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a:spLocks noChangeAspect="1"/>
          </p:cNvSpPr>
          <p:nvPr>
            <p:custDataLst>
              <p:tags r:id="rId14"/>
            </p:custDataLst>
          </p:nvPr>
        </p:nvSpPr>
        <p:spPr>
          <a:xfrm>
            <a:off x="1571625" y="5299643"/>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6" name="文本框 25"/>
          <p:cNvSpPr txBox="1"/>
          <p:nvPr>
            <p:custDataLst>
              <p:tags r:id="rId15"/>
            </p:custDataLst>
          </p:nvPr>
        </p:nvSpPr>
        <p:spPr>
          <a:xfrm>
            <a:off x="2438400" y="5725206"/>
            <a:ext cx="8534400" cy="642938"/>
          </a:xfrm>
          <a:prstGeom prst="rect">
            <a:avLst/>
          </a:prstGeom>
          <a:noFill/>
        </p:spPr>
        <p:txBody>
          <a:bodyPr vert="horz" rtlCol="0" anchor="ctr" anchorCtr="0">
            <a:noAutofit/>
          </a:bodyPr>
          <a:lstStyle/>
          <a:p>
            <a:r>
              <a:rPr lang="zh-CN" altLang="en-US" sz="2400" dirty="0" smtClean="0">
                <a:effectLst>
                  <a:outerShdw blurRad="38100" dist="38100" dir="2700000">
                    <a:srgbClr val="000000"/>
                  </a:outerShdw>
                </a:effectLst>
              </a:rPr>
              <a:t>侦察</a:t>
            </a:r>
            <a:endParaRPr lang="zh-CN" altLang="en-US" sz="26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矩形 26"/>
          <p:cNvSpPr>
            <a:spLocks noChangeAspect="1"/>
          </p:cNvSpPr>
          <p:nvPr>
            <p:custDataLst>
              <p:tags r:id="rId16"/>
            </p:custDataLst>
          </p:nvPr>
        </p:nvSpPr>
        <p:spPr>
          <a:xfrm>
            <a:off x="1571625" y="5789500"/>
            <a:ext cx="514350" cy="514350"/>
          </a:xfrm>
          <a:prstGeom prst="rect">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smtClean="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G</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7"/>
            </p:custDataLst>
          </p:nvPr>
        </p:nvGrpSpPr>
        <p:grpSpPr>
          <a:xfrm>
            <a:off x="0" y="0"/>
            <a:ext cx="12192000" cy="635000"/>
            <a:chOff x="0" y="0"/>
            <a:chExt cx="12192000" cy="635000"/>
          </a:xfrm>
        </p:grpSpPr>
        <p:sp>
          <p:nvSpPr>
            <p:cNvPr id="15" name="TitleBackground"/>
            <p:cNvSpPr/>
            <p:nvPr>
              <p:custDataLst>
                <p:tags r:id="rId18"/>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ColorBlock"/>
            <p:cNvSpPr/>
            <p:nvPr>
              <p:custDataLst>
                <p:tags r:id="rId19"/>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TypeText"/>
            <p:cNvSpPr txBox="1"/>
            <p:nvPr>
              <p:custDataLst>
                <p:tags r:id="rId20"/>
              </p:custDataLst>
            </p:nvPr>
          </p:nvSpPr>
          <p:spPr>
            <a:xfrm>
              <a:off x="254000" y="0"/>
              <a:ext cx="1905000" cy="635000"/>
            </a:xfrm>
            <a:prstGeom prst="rect">
              <a:avLst/>
            </a:prstGeom>
            <a:noFill/>
          </p:spPr>
          <p:txBody>
            <a:bodyPr vert="horz" wrap="none" rtlCol="0" anchor="ctr" anchorCtr="0">
              <a:noAutofit/>
            </a:bodyPr>
            <a:lstStyle/>
            <a:p>
              <a:r>
                <a:rPr lang="zh-CN" altLang="en-US" sz="2600" smtClean="0">
                  <a:latin typeface="微软雅黑" panose="020B0503020204020204" pitchFamily="34" charset="-122"/>
                  <a:ea typeface="微软雅黑" panose="020B0503020204020204" pitchFamily="34" charset="-122"/>
                  <a:sym typeface="微软雅黑" panose="020B0503020204020204" pitchFamily="34" charset="-122"/>
                </a:rPr>
                <a:t>多选题</a:t>
              </a:r>
              <a:endParaRPr lang="zh-CN" altLang="en-US" sz="260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txBox="1"/>
            <p:nvPr>
              <p:custDataLst>
                <p:tags r:id="rId21"/>
              </p:custDataLst>
            </p:nvPr>
          </p:nvSpPr>
          <p:spPr>
            <a:xfrm>
              <a:off x="1427480"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smtClean="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22"/>
            </p:custDataLst>
          </p:nvPr>
        </p:nvPicPr>
        <p:blipFill>
          <a:blip r:embed="rId2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4"/>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22529"/>
          <p:cNvSpPr>
            <a:spLocks noGrp="1"/>
          </p:cNvSpPr>
          <p:nvPr>
            <p:ph type="title"/>
          </p:nvPr>
        </p:nvSpPr>
        <p:spPr/>
        <p:txBody>
          <a:bodyPr vert="horz" wrap="square" lIns="92075" tIns="46038" rIns="92075" bIns="46038" numCol="1" rtlCol="0" anchor="ctr" anchorCtr="0" compatLnSpc="1">
            <a:noAutofit/>
          </a:bodyPr>
          <a:lstStyle/>
          <a:p>
            <a:pPr eaLnBrk="1" hangingPunct="1"/>
            <a:r>
              <a:rPr lang="en-US" altLang="zh-CN" dirty="0"/>
              <a:t> </a:t>
            </a:r>
            <a:endParaRPr lang="en-US" altLang="zh-CN" dirty="0"/>
          </a:p>
        </p:txBody>
      </p:sp>
      <p:sp>
        <p:nvSpPr>
          <p:cNvPr id="28675" name="文本占位符 22530"/>
          <p:cNvSpPr>
            <a:spLocks noGrp="1"/>
          </p:cNvSpPr>
          <p:nvPr>
            <p:ph idx="1"/>
          </p:nvPr>
        </p:nvSpPr>
        <p:spPr>
          <a:xfrm>
            <a:off x="1761564" y="2223154"/>
            <a:ext cx="8659907" cy="4114800"/>
          </a:xfrm>
        </p:spPr>
        <p:txBody>
          <a:bodyPr vert="horz" wrap="square" lIns="91440" tIns="45720" rIns="91440" bIns="45720" rtlCol="0" anchor="t">
            <a:noAutofit/>
          </a:bodyPr>
          <a:lstStyle/>
          <a:p>
            <a:pPr eaLnBrk="1" hangingPunct="1">
              <a:lnSpc>
                <a:spcPct val="90000"/>
              </a:lnSpc>
              <a:buNone/>
            </a:pPr>
            <a:r>
              <a:rPr lang="en-US" altLang="zh-CN" sz="2400" dirty="0">
                <a:latin typeface="宋体" panose="02010600030101010101" pitchFamily="2" charset="-122"/>
              </a:rPr>
              <a:t>     </a:t>
            </a:r>
            <a:r>
              <a:rPr lang="en-US" altLang="zh-CN" sz="2400" dirty="0" smtClean="0">
                <a:latin typeface="宋体" panose="02010600030101010101" pitchFamily="2" charset="-122"/>
              </a:rPr>
              <a:t>2003</a:t>
            </a:r>
            <a:r>
              <a:rPr lang="zh-CN" altLang="en-US" sz="2400" dirty="0">
                <a:latin typeface="宋体" panose="02010600030101010101" pitchFamily="2" charset="-122"/>
              </a:rPr>
              <a:t>年伊拉克战争也有值得一看的亮点是发生</a:t>
            </a:r>
            <a:r>
              <a:rPr lang="en-US" altLang="zh-CN" sz="2400" dirty="0">
                <a:solidFill>
                  <a:schemeClr val="folHlink"/>
                </a:solidFill>
              </a:rPr>
              <a:t>GPS</a:t>
            </a:r>
            <a:r>
              <a:rPr lang="zh-CN" altLang="en-US" sz="2400" dirty="0">
                <a:solidFill>
                  <a:schemeClr val="folHlink"/>
                </a:solidFill>
                <a:latin typeface="宋体" panose="02010600030101010101" pitchFamily="2" charset="-122"/>
              </a:rPr>
              <a:t>对抗</a:t>
            </a:r>
            <a:r>
              <a:rPr lang="zh-CN" altLang="en-US" sz="2400" dirty="0">
                <a:latin typeface="宋体" panose="02010600030101010101" pitchFamily="2" charset="-122"/>
              </a:rPr>
              <a:t>的精彩一幕。伊拉克利用从俄罗斯引进的</a:t>
            </a:r>
            <a:r>
              <a:rPr lang="en-US" altLang="zh-CN" sz="2400" dirty="0"/>
              <a:t>GPS</a:t>
            </a:r>
            <a:r>
              <a:rPr lang="zh-CN" altLang="en-US" sz="2400" dirty="0">
                <a:latin typeface="宋体" panose="02010600030101010101" pitchFamily="2" charset="-122"/>
              </a:rPr>
              <a:t>干扰设备，引偏了许多美军的巡航导弹与</a:t>
            </a:r>
            <a:r>
              <a:rPr lang="en-US" altLang="zh-CN" sz="2400" dirty="0"/>
              <a:t>GPS</a:t>
            </a:r>
            <a:r>
              <a:rPr lang="zh-CN" altLang="en-US" sz="2400" dirty="0">
                <a:latin typeface="宋体" panose="02010600030101010101" pitchFamily="2" charset="-122"/>
              </a:rPr>
              <a:t>制导武器。但美军很快利用</a:t>
            </a:r>
            <a:r>
              <a:rPr lang="zh-CN" altLang="en-US" sz="2400" dirty="0">
                <a:solidFill>
                  <a:schemeClr val="accent5">
                    <a:lumMod val="75000"/>
                  </a:schemeClr>
                </a:solidFill>
                <a:latin typeface="宋体" panose="02010600030101010101" pitchFamily="2" charset="-122"/>
              </a:rPr>
              <a:t>反辐射导弹</a:t>
            </a:r>
            <a:r>
              <a:rPr lang="zh-CN" altLang="en-US" sz="2400" dirty="0">
                <a:latin typeface="宋体" panose="02010600030101010101" pitchFamily="2" charset="-122"/>
              </a:rPr>
              <a:t>毁坏了这些干扰设备，使伊拉克很快失去了对抗能力。但不管伊拉克</a:t>
            </a:r>
            <a:r>
              <a:rPr lang="en-US" altLang="zh-CN" sz="2400" dirty="0"/>
              <a:t>GPS</a:t>
            </a:r>
            <a:r>
              <a:rPr lang="zh-CN" altLang="en-US" sz="2400" dirty="0">
                <a:latin typeface="宋体" panose="02010600030101010101" pitchFamily="2" charset="-122"/>
              </a:rPr>
              <a:t>干扰在这次战争中发挥了多大作用，但</a:t>
            </a:r>
            <a:r>
              <a:rPr lang="en-US" altLang="zh-CN" sz="2400" dirty="0"/>
              <a:t>GPS</a:t>
            </a:r>
            <a:r>
              <a:rPr lang="zh-CN" altLang="en-US" sz="2400" dirty="0">
                <a:latin typeface="宋体" panose="02010600030101010101" pitchFamily="2" charset="-122"/>
              </a:rPr>
              <a:t>对抗开辟了电子对抗又一新的领域却是不争的事实。</a:t>
            </a:r>
            <a:r>
              <a:rPr lang="zh-CN" altLang="en-US" sz="2400" dirty="0"/>
              <a:t>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2011" y="2683823"/>
            <a:ext cx="1757548" cy="1472541"/>
          </a:xfrm>
        </p:spPr>
        <p:txBody>
          <a:bodyPr/>
          <a:lstStyle/>
          <a:p>
            <a:pPr marL="0" indent="0">
              <a:buNone/>
            </a:pPr>
            <a:r>
              <a:rPr lang="en-US" altLang="zh-CN" sz="3200" dirty="0" smtClean="0"/>
              <a:t>1.1 End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RAINPROBLEM" val="ProblemBody"/>
</p:tagLst>
</file>

<file path=ppt/tags/tag7.xml><?xml version="1.0" encoding="utf-8"?>
<p:tagLst xmlns:p="http://schemas.openxmlformats.org/presentationml/2006/main">
  <p:tag name="RAINPROBLEM" val="ProblemSubmit"/>
  <p:tag name="RAINPROBLEMTYPE" val="FillBlank"/>
</p:tagLst>
</file>

<file path=ppt/tags/tag8.xml><?xml version="1.0" encoding="utf-8"?>
<p:tagLst xmlns:p="http://schemas.openxmlformats.org/presentationml/2006/main">
  <p:tag name="PRODUCTVERSIONTIP3" val="PRODUCTVERSIONTIP3"/>
</p:tagLst>
</file>

<file path=ppt/tags/tag9.xml><?xml version="1.0" encoding="utf-8"?>
<p:tagLst xmlns:p="http://schemas.openxmlformats.org/presentationml/2006/main">
  <p:tag name="RAINPROBLEMTYPE" val="ProblemTypeMarker"/>
</p:tagLst>
</file>

<file path=ppt/tags/tag10.xml><?xml version="1.0" encoding="utf-8"?>
<p:tagLst xmlns:p="http://schemas.openxmlformats.org/presentationml/2006/main">
  <p:tag name="RAINPROBLEMTYPE" val="ProblemTypeMarker"/>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 val="ProblemSetting"/>
  <p:tag name="RAINPROBLEMTYPE" val="FillBlank"/>
</p:tagLst>
</file>

<file path=ppt/tags/tag15.xml><?xml version="1.0" encoding="utf-8"?>
<p:tagLst xmlns:p="http://schemas.openxmlformats.org/presentationml/2006/main">
  <p:tag name="RAINPROBLEM" val="FillBlank"/>
  <p:tag name="PROBLEMBLANKKEYWORD" val="填空"/>
  <p:tag name="PROBLEMSCORE" val="3.0"/>
  <p:tag name="PROBLEMBLANK" val="[{&quot;num&quot;:1,&quot;caseSensitive&quot;:false,&quot;fuzzyMatch&quot;:false,&quot;Score&quot;:1.0,&quot;answers&quot;:[&quot;古代信息&quot;]},{&quot;num&quot;:2,&quot;caseSensitive&quot;:false,&quot;fuzzyMatch&quot;:false,&quot;Score&quot;:1.0,&quot;answers&quot;:[&quot;电子&quot;]},{&quot;num&quot;:3,&quot;caseSensitive&quot;:false,&quot;fuzzyMatch&quot;:false,&quot;Score&quot;:1.0,&quot;answers&quot;:[&quot;综合信息&quot;]}]"/>
</p:tagLst>
</file>

<file path=ppt/tags/tag16.xml><?xml version="1.0" encoding="utf-8"?>
<p:tagLst xmlns:p="http://schemas.openxmlformats.org/presentationml/2006/main">
  <p:tag name="RAINPROBLEM" val="ProblemBody"/>
</p:tagLst>
</file>

<file path=ppt/tags/tag17.xml><?xml version="1.0" encoding="utf-8"?>
<p:tagLst xmlns:p="http://schemas.openxmlformats.org/presentationml/2006/main">
  <p:tag name="RAINPROBLEM" val="ProblemSubmit"/>
  <p:tag name="RAINPROBLEMTYPE" val="FillBlank"/>
</p:tagLst>
</file>

<file path=ppt/tags/tag18.xml><?xml version="1.0" encoding="utf-8"?>
<p:tagLst xmlns:p="http://schemas.openxmlformats.org/presentationml/2006/main">
  <p:tag name="PRODUCTVERSIONTIP3" val="PRODUCTVERSIONTIP3"/>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TYPE" val="ProblemTypeMarker"/>
</p:tagLst>
</file>

<file path=ppt/tags/tag23.xml><?xml version="1.0" encoding="utf-8"?>
<p:tagLst xmlns:p="http://schemas.openxmlformats.org/presentationml/2006/main">
  <p:tag name="RAINPROBLEMTYPE" val="ProblemTypeMarker"/>
</p:tagLst>
</file>

<file path=ppt/tags/tag24.xml><?xml version="1.0" encoding="utf-8"?>
<p:tagLst xmlns:p="http://schemas.openxmlformats.org/presentationml/2006/main">
  <p:tag name="RAINPROBLEM" val="ProblemSetting"/>
  <p:tag name="RAINPROBLEMTYPE" val="FillBlank"/>
</p:tagLst>
</file>

<file path=ppt/tags/tag25.xml><?xml version="1.0" encoding="utf-8"?>
<p:tagLst xmlns:p="http://schemas.openxmlformats.org/presentationml/2006/main">
  <p:tag name="RAINPROBLEM" val="FillBlank"/>
  <p:tag name="PROBLEMBLANKKEYWORD" val="填空"/>
  <p:tag name="PROBLEMSCORE" val="2.0"/>
  <p:tag name="PROBLEMBLANK" val="[{&quot;num&quot;:1,&quot;caseSensitive&quot;:false,&quot;fuzzyMatch&quot;:false,&quot;Score&quot;:1.0,&quot;answers&quot;:[&quot;电磁空间&quot;]},{&quot;num&quot;:2,&quot;caseSensitive&quot;:false,&quot;fuzzyMatch&quot;:false,&quot;Score&quot;:1.0,&quot;answers&quot;:[&quot;电磁频谱&quot;]}]"/>
</p:tagLst>
</file>

<file path=ppt/tags/tag26.xml><?xml version="1.0" encoding="utf-8"?>
<p:tagLst xmlns:p="http://schemas.openxmlformats.org/presentationml/2006/main">
  <p:tag name="RAINPROBLEM" val="ProblemBody"/>
</p:tagLst>
</file>

<file path=ppt/tags/tag27.xml><?xml version="1.0" encoding="utf-8"?>
<p:tagLst xmlns:p="http://schemas.openxmlformats.org/presentationml/2006/main">
  <p:tag name="RAINPROBLEM" val="ProblemItem"/>
</p:tagLst>
</file>

<file path=ppt/tags/tag28.xml><?xml version="1.0" encoding="utf-8"?>
<p:tagLst xmlns:p="http://schemas.openxmlformats.org/presentationml/2006/main">
  <p:tag name="RAINPROBLEM" val="ProblemItem"/>
</p:tagLst>
</file>

<file path=ppt/tags/tag29.xml><?xml version="1.0" encoding="utf-8"?>
<p:tagLst xmlns:p="http://schemas.openxmlformats.org/presentationml/2006/main">
  <p:tag name="RAINPROBLEM" val="ProblemItem"/>
</p:tagLst>
</file>

<file path=ppt/tags/tag30.xml><?xml version="1.0" encoding="utf-8"?>
<p:tagLst xmlns:p="http://schemas.openxmlformats.org/presentationml/2006/main">
  <p:tag name="RAINPROBLEM" val="ProblemItem"/>
</p:tagLst>
</file>

<file path=ppt/tags/tag31.xml><?xml version="1.0" encoding="utf-8"?>
<p:tagLst xmlns:p="http://schemas.openxmlformats.org/presentationml/2006/main">
  <p:tag name="RAINPROBLEM" val="ProblemBullet"/>
  <p:tag name="RAINPROBLEMTYPE" val="MultipleChoice"/>
  <p:tag name="RAINBULLET" val="Correct"/>
</p:tagLst>
</file>

<file path=ppt/tags/tag32.xml><?xml version="1.0" encoding="utf-8"?>
<p:tagLst xmlns:p="http://schemas.openxmlformats.org/presentationml/2006/main">
  <p:tag name="RAINPROBLEM" val="ProblemBullet"/>
  <p:tag name="RAINPROBLEMTYPE" val="MultipleChoice"/>
  <p:tag name="RAINBULLET" val="Wrong"/>
</p:tagLst>
</file>

<file path=ppt/tags/tag33.xml><?xml version="1.0" encoding="utf-8"?>
<p:tagLst xmlns:p="http://schemas.openxmlformats.org/presentationml/2006/main">
  <p:tag name="RAINPROBLEM" val="ProblemBullet"/>
  <p:tag name="RAINPROBLEMTYPE" val="MultipleChoice"/>
  <p:tag name="RAINBULLET" val="Wrong"/>
</p:tagLst>
</file>

<file path=ppt/tags/tag34.xml><?xml version="1.0" encoding="utf-8"?>
<p:tagLst xmlns:p="http://schemas.openxmlformats.org/presentationml/2006/main">
  <p:tag name="RAINPROBLEM" val="ProblemBullet"/>
  <p:tag name="RAINPROBLEMTYPE" val="MultipleChoice"/>
  <p:tag name="RAINBULLET" val="Wrong"/>
</p:tagLst>
</file>

<file path=ppt/tags/tag35.xml><?xml version="1.0" encoding="utf-8"?>
<p:tagLst xmlns:p="http://schemas.openxmlformats.org/presentationml/2006/main">
  <p:tag name="RAINPROBLEM" val="ProblemSubmit"/>
  <p:tag name="RAINPROBLEMTYPE" val="MultipleChoice"/>
</p:tagLst>
</file>

<file path=ppt/tags/tag36.xml><?xml version="1.0" encoding="utf-8"?>
<p:tagLst xmlns:p="http://schemas.openxmlformats.org/presentationml/2006/main">
  <p:tag name="RAINPROBLEM" val="ProblemRemarkBoard"/>
</p:tagLst>
</file>

<file path=ppt/tags/tag37.xml><?xml version="1.0" encoding="utf-8"?>
<p:tagLst xmlns:p="http://schemas.openxmlformats.org/presentationml/2006/main">
  <p:tag name="PROBLEMREMARKTITLE" val="ProblemRemarkBoardTip"/>
</p:tagLst>
</file>

<file path=ppt/tags/tag38.xml><?xml version="1.0" encoding="utf-8"?>
<p:tagLst xmlns:p="http://schemas.openxmlformats.org/presentationml/2006/main">
  <p:tag name="RAINPROBLEM" val="ProblemRemark"/>
</p:tagLst>
</file>

<file path=ppt/tags/tag39.xml><?xml version="1.0" encoding="utf-8"?>
<p:tagLst xmlns:p="http://schemas.openxmlformats.org/presentationml/2006/main">
  <p:tag name="PROBLEMREMARKTITLE" val="ProblemRemarkBoardTitle"/>
</p:tagLst>
</file>

<file path=ppt/tags/tag40.xml><?xml version="1.0" encoding="utf-8"?>
<p:tagLst xmlns:p="http://schemas.openxmlformats.org/presentationml/2006/main">
  <p:tag name="PROBLEMREMARKTITLE" val="ProblemRemarkBoardTitle"/>
</p:tagLst>
</file>

<file path=ppt/tags/tag41.xml><?xml version="1.0" encoding="utf-8"?>
<p:tagLst xmlns:p="http://schemas.openxmlformats.org/presentationml/2006/main">
  <p:tag name="PROBLEMREMARKTITLE" val="ProblemRemarkBoardTitle"/>
</p:tagLst>
</file>

<file path=ppt/tags/tag42.xml><?xml version="1.0" encoding="utf-8"?>
<p:tagLst xmlns:p="http://schemas.openxmlformats.org/presentationml/2006/main">
  <p:tag name="PROBLEMREMARKTITLE" val="ProblemRemarkBoardTitle"/>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 val="ProblemSetting"/>
  <p:tag name="RAINPROBLEMTYPE" val="MultipleChoice"/>
</p:tagLst>
</file>

<file path=ppt/tags/tag49.xml><?xml version="1.0" encoding="utf-8"?>
<p:tagLst xmlns:p="http://schemas.openxmlformats.org/presentationml/2006/main">
  <p:tag name="RAINPROBLEM" val="MultipleChoice"/>
  <p:tag name="PROBLEMSCORE" val="1.0"/>
  <p:tag name="PROBLEMHASREMARK" val="False"/>
</p:tagLst>
</file>

<file path=ppt/tags/tag50.xml><?xml version="1.0" encoding="utf-8"?>
<p:tagLst xmlns:p="http://schemas.openxmlformats.org/presentationml/2006/main">
  <p:tag name="RAINPROBLEM" val="ProblemBody"/>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Bullet"/>
  <p:tag name="RAINPROBLEMTYPE" val="MultipleChoice"/>
  <p:tag name="RAINBULLET" val="Wrong"/>
</p:tagLst>
</file>

<file path=ppt/tags/tag56.xml><?xml version="1.0" encoding="utf-8"?>
<p:tagLst xmlns:p="http://schemas.openxmlformats.org/presentationml/2006/main">
  <p:tag name="RAINPROBLEM" val="ProblemBullet"/>
  <p:tag name="RAINPROBLEMTYPE" val="MultipleChoice"/>
  <p:tag name="RAINBULLET" val="Correct"/>
</p:tagLst>
</file>

<file path=ppt/tags/tag57.xml><?xml version="1.0" encoding="utf-8"?>
<p:tagLst xmlns:p="http://schemas.openxmlformats.org/presentationml/2006/main">
  <p:tag name="RAINPROBLEM" val="ProblemSubmit"/>
  <p:tag name="RAINPROBLEMTYPE" val="MultipleChoice"/>
</p:tagLst>
</file>

<file path=ppt/tags/tag58.xml><?xml version="1.0" encoding="utf-8"?>
<p:tagLst xmlns:p="http://schemas.openxmlformats.org/presentationml/2006/main">
  <p:tag name="RAINPROBLEMTYPE" val="ProblemTypeMarker"/>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TYPE" val="ProblemTypeMarker"/>
</p:tagLst>
</file>

<file path=ppt/tags/tag63.xml><?xml version="1.0" encoding="utf-8"?>
<p:tagLst xmlns:p="http://schemas.openxmlformats.org/presentationml/2006/main">
  <p:tag name="RAINPROBLEM" val="ProblemSetting"/>
  <p:tag name="RAINPROBLEMTYPE" val="MultipleChoice"/>
</p:tagLst>
</file>

<file path=ppt/tags/tag64.xml><?xml version="1.0" encoding="utf-8"?>
<p:tagLst xmlns:p="http://schemas.openxmlformats.org/presentationml/2006/main">
  <p:tag name="RAINPROBLEM" val="MultipleChoice"/>
  <p:tag name="PROBLEMSCORE" val="1.0"/>
</p:tagLst>
</file>

<file path=ppt/tags/tag65.xml><?xml version="1.0" encoding="utf-8"?>
<p:tagLst xmlns:p="http://schemas.openxmlformats.org/presentationml/2006/main">
  <p:tag name="RAINPROBLEM" val="ProblemBody"/>
</p:tagLst>
</file>

<file path=ppt/tags/tag66.xml><?xml version="1.0" encoding="utf-8"?>
<p:tagLst xmlns:p="http://schemas.openxmlformats.org/presentationml/2006/main">
  <p:tag name="RAINPROBLEM" val="ProblemSubmit"/>
  <p:tag name="RAINPROBLEMTYPE" val="FillBlank"/>
</p:tagLst>
</file>

<file path=ppt/tags/tag67.xml><?xml version="1.0" encoding="utf-8"?>
<p:tagLst xmlns:p="http://schemas.openxmlformats.org/presentationml/2006/main">
  <p:tag name="PRODUCTVERSIONTIP3" val="PRODUCTVERSIONTIP3"/>
</p:tagLst>
</file>

<file path=ppt/tags/tag68.xml><?xml version="1.0" encoding="utf-8"?>
<p:tagLst xmlns:p="http://schemas.openxmlformats.org/presentationml/2006/main">
  <p:tag name="RAINPROBLEMTYPE" val="ProblemTypeMarker"/>
</p:tagLst>
</file>

<file path=ppt/tags/tag69.xml><?xml version="1.0" encoding="utf-8"?>
<p:tagLst xmlns:p="http://schemas.openxmlformats.org/presentationml/2006/main">
  <p:tag name="RAINPROBLEMTYPE" val="ProblemTypeMarker"/>
</p:tagLst>
</file>

<file path=ppt/tags/tag70.xml><?xml version="1.0" encoding="utf-8"?>
<p:tagLst xmlns:p="http://schemas.openxmlformats.org/presentationml/2006/main">
  <p:tag name="RAINPROBLEMTYPE" val="ProblemTypeMarker"/>
</p:tagLst>
</file>

<file path=ppt/tags/tag71.xml><?xml version="1.0" encoding="utf-8"?>
<p:tagLst xmlns:p="http://schemas.openxmlformats.org/presentationml/2006/main">
  <p:tag name="RAINPROBLEMTYPE" val="ProblemTypeMarker"/>
</p:tagLst>
</file>

<file path=ppt/tags/tag72.xml><?xml version="1.0" encoding="utf-8"?>
<p:tagLst xmlns:p="http://schemas.openxmlformats.org/presentationml/2006/main">
  <p:tag name="RAINPROBLEMTYPE" val="ProblemTypeMarker"/>
</p:tagLst>
</file>

<file path=ppt/tags/tag73.xml><?xml version="1.0" encoding="utf-8"?>
<p:tagLst xmlns:p="http://schemas.openxmlformats.org/presentationml/2006/main">
  <p:tag name="RAINPROBLEM" val="ProblemSetting"/>
  <p:tag name="RAINPROBLEMTYPE" val="FillBlank"/>
</p:tagLst>
</file>

<file path=ppt/tags/tag74.xml><?xml version="1.0" encoding="utf-8"?>
<p:tagLst xmlns:p="http://schemas.openxmlformats.org/presentationml/2006/main">
  <p:tag name="RAINPROBLEM" val="FillBlank"/>
  <p:tag name="PROBLEMBLANKKEYWORD" val="填空"/>
  <p:tag name="PROBLEMSCORE" val="2.0"/>
  <p:tag name="PROBLEMBLANK" val="[{&quot;num&quot;:1,&quot;caseSensitive&quot;:false,&quot;fuzzyMatch&quot;:false,&quot;Score&quot;:1.0,&quot;answers&quot;:[&quot;软杀伤&quot;]},{&quot;num&quot;:2,&quot;caseSensitive&quot;:false,&quot;fuzzyMatch&quot;:false,&quot;Score&quot;:1.0,&quot;answers&quot;:[&quot;软、硬杀伤结合&quot;]}]"/>
</p:tagLst>
</file>

<file path=ppt/tags/tag75.xml><?xml version="1.0" encoding="utf-8"?>
<p:tagLst xmlns:p="http://schemas.openxmlformats.org/presentationml/2006/main">
  <p:tag name="RAINPROBLEM" val="ProblemBody"/>
</p:tagLst>
</file>

<file path=ppt/tags/tag76.xml><?xml version="1.0" encoding="utf-8"?>
<p:tagLst xmlns:p="http://schemas.openxmlformats.org/presentationml/2006/main">
  <p:tag name="RAINPROBLEM" val="ProblemItem"/>
</p:tagLst>
</file>

<file path=ppt/tags/tag77.xml><?xml version="1.0" encoding="utf-8"?>
<p:tagLst xmlns:p="http://schemas.openxmlformats.org/presentationml/2006/main">
  <p:tag name="RAINPROBLEM" val="ProblemItem"/>
</p:tagLst>
</file>

<file path=ppt/tags/tag78.xml><?xml version="1.0" encoding="utf-8"?>
<p:tagLst xmlns:p="http://schemas.openxmlformats.org/presentationml/2006/main">
  <p:tag name="RAINPROBLEM" val="ProblemItem"/>
</p:tagLst>
</file>

<file path=ppt/tags/tag79.xml><?xml version="1.0" encoding="utf-8"?>
<p:tagLst xmlns:p="http://schemas.openxmlformats.org/presentationml/2006/main">
  <p:tag name="RAINPROBLEM" val="ProblemItem"/>
</p:tagLst>
</file>

<file path=ppt/tags/tag80.xml><?xml version="1.0" encoding="utf-8"?>
<p:tagLst xmlns:p="http://schemas.openxmlformats.org/presentationml/2006/main">
  <p:tag name="RAINPROBLEM" val="ProblemBullet"/>
  <p:tag name="RAINPROBLEMTYPE" val="MultipleChoiceMA"/>
  <p:tag name="RAINBULLET" val="Correct"/>
</p:tagLst>
</file>

<file path=ppt/tags/tag81.xml><?xml version="1.0" encoding="utf-8"?>
<p:tagLst xmlns:p="http://schemas.openxmlformats.org/presentationml/2006/main">
  <p:tag name="RAINPROBLEM" val="ProblemBullet"/>
  <p:tag name="RAINPROBLEMTYPE" val="MultipleChoiceMA"/>
  <p:tag name="RAINBULLET" val="Correct"/>
</p:tagLst>
</file>

<file path=ppt/tags/tag82.xml><?xml version="1.0" encoding="utf-8"?>
<p:tagLst xmlns:p="http://schemas.openxmlformats.org/presentationml/2006/main">
  <p:tag name="RAINPROBLEM" val="ProblemBullet"/>
  <p:tag name="RAINPROBLEMTYPE" val="MultipleChoiceMA"/>
  <p:tag name="RAINBULLET" val="Correct"/>
</p:tagLst>
</file>

<file path=ppt/tags/tag83.xml><?xml version="1.0" encoding="utf-8"?>
<p:tagLst xmlns:p="http://schemas.openxmlformats.org/presentationml/2006/main">
  <p:tag name="RAINPROBLEM" val="ProblemBullet"/>
  <p:tag name="RAINPROBLEMTYPE" val="MultipleChoiceMA"/>
  <p:tag name="RAINBULLET" val="Wrong"/>
</p:tagLst>
</file>

<file path=ppt/tags/tag84.xml><?xml version="1.0" encoding="utf-8"?>
<p:tagLst xmlns:p="http://schemas.openxmlformats.org/presentationml/2006/main">
  <p:tag name="RAINPROBLEM" val="ProblemSubmit"/>
  <p:tag name="RAINPROBLEMTYPE" val="MultipleChoiceMA"/>
</p:tagLst>
</file>

<file path=ppt/tags/tag85.xml><?xml version="1.0" encoding="utf-8"?>
<p:tagLst xmlns:p="http://schemas.openxmlformats.org/presentationml/2006/main">
  <p:tag name="RAINPROBLEM" val="ProblemItem"/>
</p:tagLst>
</file>

<file path=ppt/tags/tag86.xml><?xml version="1.0" encoding="utf-8"?>
<p:tagLst xmlns:p="http://schemas.openxmlformats.org/presentationml/2006/main">
  <p:tag name="RAINPROBLEM" val="ProblemBullet"/>
  <p:tag name="RAINPROBLEMTYPE" val="MultipleChoiceMA"/>
  <p:tag name="RAINBULLET" val="Correct"/>
</p:tagLst>
</file>

<file path=ppt/tags/tag87.xml><?xml version="1.0" encoding="utf-8"?>
<p:tagLst xmlns:p="http://schemas.openxmlformats.org/presentationml/2006/main">
  <p:tag name="RAINPROBLEM" val="ProblemItem"/>
</p:tagLst>
</file>

<file path=ppt/tags/tag88.xml><?xml version="1.0" encoding="utf-8"?>
<p:tagLst xmlns:p="http://schemas.openxmlformats.org/presentationml/2006/main">
  <p:tag name="RAINPROBLEM" val="ProblemBullet"/>
  <p:tag name="RAINPROBLEMTYPE" val="MultipleChoiceMA"/>
  <p:tag name="RAINBULLET" val="Wrong"/>
</p:tagLst>
</file>

<file path=ppt/tags/tag89.xml><?xml version="1.0" encoding="utf-8"?>
<p:tagLst xmlns:p="http://schemas.openxmlformats.org/presentationml/2006/main">
  <p:tag name="RAINPROBLEM" val="ProblemItem"/>
</p:tagLst>
</file>

<file path=ppt/tags/tag90.xml><?xml version="1.0" encoding="utf-8"?>
<p:tagLst xmlns:p="http://schemas.openxmlformats.org/presentationml/2006/main">
  <p:tag name="RAINPROBLEM" val="ProblemBullet"/>
  <p:tag name="RAINPROBLEMTYPE" val="MultipleChoiceMA"/>
  <p:tag name="RAINBULLET" val="Wrong"/>
</p:tagLst>
</file>

<file path=ppt/tags/tag91.xml><?xml version="1.0" encoding="utf-8"?>
<p:tagLst xmlns:p="http://schemas.openxmlformats.org/presentationml/2006/main">
  <p:tag name="RAINPROBLEMTYPE" val="ProblemTypeMarker"/>
</p:tagLst>
</file>

<file path=ppt/tags/tag92.xml><?xml version="1.0" encoding="utf-8"?>
<p:tagLst xmlns:p="http://schemas.openxmlformats.org/presentationml/2006/main">
  <p:tag name="RAINPROBLEMTYPE" val="ProblemTypeMarker"/>
</p:tagLst>
</file>

<file path=ppt/tags/tag93.xml><?xml version="1.0" encoding="utf-8"?>
<p:tagLst xmlns:p="http://schemas.openxmlformats.org/presentationml/2006/main">
  <p:tag name="RAINPROBLEMTYPE" val="ProblemTypeMarker"/>
</p:tagLst>
</file>

<file path=ppt/tags/tag94.xml><?xml version="1.0" encoding="utf-8"?>
<p:tagLst xmlns:p="http://schemas.openxmlformats.org/presentationml/2006/main">
  <p:tag name="RAINPROBLEMTYPE" val="ProblemTypeMarker"/>
</p:tagLst>
</file>

<file path=ppt/tags/tag95.xml><?xml version="1.0" encoding="utf-8"?>
<p:tagLst xmlns:p="http://schemas.openxmlformats.org/presentationml/2006/main">
  <p:tag name="RAINPROBLEMTYPE" val="ProblemTypeMarker"/>
</p:tagLst>
</file>

<file path=ppt/tags/tag96.xml><?xml version="1.0" encoding="utf-8"?>
<p:tagLst xmlns:p="http://schemas.openxmlformats.org/presentationml/2006/main">
  <p:tag name="RAINPROBLEM" val="ProblemSetting"/>
  <p:tag name="RAINPROBLEMTYPE" val="MultipleChoiceMA"/>
</p:tagLst>
</file>

<file path=ppt/tags/tag97.xml><?xml version="1.0" encoding="utf-8"?>
<p:tagLst xmlns:p="http://schemas.openxmlformats.org/presentationml/2006/main">
  <p:tag name="RAINPROBLEM" val="MultipleChoiceMA"/>
  <p:tag name="PROBLEMSCORE" val="1.0"/>
  <p:tag name="PROBLEMSCORE_HALF" val="0.0"/>
</p:tagLst>
</file>

<file path=ppt/tags/tag98.xml><?xml version="1.0" encoding="utf-8"?>
<p:tagLst xmlns:p="http://schemas.openxmlformats.org/presentationml/2006/main">
  <p:tag name="KSO_WPP_MARK_KEY" val="86c36ee6-7526-4659-9c74-164a0f798361"/>
  <p:tag name="COMMONDATA" val="eyJoZGlkIjoiYzZkMThhYWRiYjM3OTRjZGI1YzMwN2JkMGM1MzU4Nj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思源黑体 CN Heavy"/>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Times New Roman"/>
        <a:ea typeface="思源黑体 CN Normal"/>
        <a:cs typeface=""/>
      </a:majorFont>
      <a:minorFont>
        <a:latin typeface="Times New Roman"/>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5639</Words>
  <Application>WPS 演示</Application>
  <PresentationFormat>宽屏</PresentationFormat>
  <Paragraphs>291</Paragraphs>
  <Slides>37</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37</vt:i4>
      </vt:variant>
    </vt:vector>
  </HeadingPairs>
  <TitlesOfParts>
    <vt:vector size="51" baseType="lpstr">
      <vt:lpstr>Arial</vt:lpstr>
      <vt:lpstr>宋体</vt:lpstr>
      <vt:lpstr>Wingdings</vt:lpstr>
      <vt:lpstr>黑体</vt:lpstr>
      <vt:lpstr>隶书</vt:lpstr>
      <vt:lpstr>Times New Roman</vt:lpstr>
      <vt:lpstr>华文行楷</vt:lpstr>
      <vt:lpstr>思源黑体 CN Heavy</vt:lpstr>
      <vt:lpstr>微软雅黑</vt:lpstr>
      <vt:lpstr>思源黑体 CN Normal</vt:lpstr>
      <vt:lpstr>Arial Unicode MS</vt:lpstr>
      <vt:lpstr>等线</vt:lpstr>
      <vt:lpstr>Office 主题​​</vt:lpstr>
      <vt:lpstr>1_Office 主题​​</vt:lpstr>
      <vt:lpstr>《信息对抗技术》 电子讲稿</vt:lpstr>
      <vt:lpstr>《网络信息对抗》（第2版）肖军模 ， 机械工业出版社，北京，2011.5 。</vt:lpstr>
      <vt:lpstr>PowerPoint 演示文稿</vt:lpstr>
      <vt:lpstr>本书内容安排</vt:lpstr>
      <vt:lpstr>第1章  概述 </vt:lpstr>
      <vt:lpstr>特洛伊木马——战争经过</vt:lpstr>
      <vt:lpstr>1.1 信息对抗的产生与发展 </vt:lpstr>
      <vt:lpstr> </vt:lpstr>
      <vt:lpstr>PowerPoint 演示文稿</vt:lpstr>
      <vt:lpstr>PowerPoint 演示文稿</vt:lpstr>
      <vt:lpstr>1.1.1 古代信息对抗时期(1) </vt:lpstr>
      <vt:lpstr>1.1.1 古代信息对抗时期（2） </vt:lpstr>
      <vt:lpstr>1.1.2电子对抗时期 </vt:lpstr>
      <vt:lpstr> </vt:lpstr>
      <vt:lpstr>PowerPoint 演示文稿</vt:lpstr>
      <vt:lpstr>1、初期电子对抗 </vt:lpstr>
      <vt:lpstr> </vt:lpstr>
      <vt:lpstr> </vt:lpstr>
      <vt:lpstr>PowerPoint 演示文稿</vt:lpstr>
      <vt:lpstr>PowerPoint 演示文稿</vt:lpstr>
      <vt:lpstr>2、二战中电子对抗发挥重要作用 </vt:lpstr>
      <vt:lpstr> </vt:lpstr>
      <vt:lpstr>PowerPoint 演示文稿</vt:lpstr>
      <vt:lpstr>PowerPoint 演示文稿</vt:lpstr>
      <vt:lpstr>PowerPoint 演示文稿</vt:lpstr>
      <vt:lpstr>3、越南战争扩大电子对抗新领域 </vt:lpstr>
      <vt:lpstr> </vt:lpstr>
      <vt:lpstr>反辐射导弹</vt:lpstr>
      <vt:lpstr>PowerPoint 演示文稿</vt:lpstr>
      <vt:lpstr>PowerPoint 演示文稿</vt:lpstr>
      <vt:lpstr>1.1.3  综合信息对抗时期 </vt:lpstr>
      <vt:lpstr>C3I</vt:lpstr>
      <vt:lpstr>C3I</vt:lpstr>
      <vt:lpstr>C4ISR   Command, Control, Communications, Computers, Intelligence, Surveillance and Reconnaissance  指挥、控制、通信、计算机、情报、监视与侦察</vt:lpstr>
      <vt:lpstr>PowerPoint 演示文稿</vt:lpstr>
      <vt:lpstr>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Li安全</cp:lastModifiedBy>
  <cp:revision>174</cp:revision>
  <dcterms:created xsi:type="dcterms:W3CDTF">2019-09-27T01:23:00Z</dcterms:created>
  <dcterms:modified xsi:type="dcterms:W3CDTF">2026-03-10T13:41:01Z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D70F1B8BFDFD4106BC9FE20BA55A9BA0</vt:lpwstr>
  </property>
</Properties>
</file>