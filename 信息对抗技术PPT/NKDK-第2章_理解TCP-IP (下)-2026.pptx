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6"/>
  </p:handoutMasterIdLst>
  <p:sldIdLst>
    <p:sldId id="288" r:id="rId3"/>
    <p:sldId id="258" r:id="rId4"/>
    <p:sldId id="333" r:id="rId6"/>
    <p:sldId id="334"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73" r:id="rId25"/>
    <p:sldId id="353" r:id="rId26"/>
    <p:sldId id="354" r:id="rId27"/>
    <p:sldId id="355" r:id="rId28"/>
    <p:sldId id="356" r:id="rId29"/>
    <p:sldId id="375"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E4F0F9"/>
    <a:srgbClr val="CCFFFF"/>
    <a:srgbClr val="000000"/>
    <a:srgbClr val="CCFFCC"/>
    <a:srgbClr val="CCECFF"/>
    <a:srgbClr val="FFFFFF"/>
    <a:srgbClr val="C5EEF3"/>
    <a:srgbClr val="E3C9F7"/>
    <a:srgbClr val="1F4E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87" d="100"/>
          <a:sy n="87" d="100"/>
        </p:scale>
        <p:origin x="408" y="84"/>
      </p:cViewPr>
      <p:guideLst>
        <p:guide orient="horz" pos="2160"/>
        <p:guide pos="3931"/>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gs" Target="tags/tag6.xml"/><Relationship Id="rId5" Type="http://schemas.openxmlformats.org/officeDocument/2006/relationships/notesMaster" Target="notesMasters/notesMaster1.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这一章将首先回顾</a:t>
            </a:r>
            <a:r>
              <a:rPr lang="en-US" altLang="zh-CN" dirty="0" smtClean="0">
                <a:solidFill>
                  <a:schemeClr val="folHlink"/>
                </a:solidFill>
              </a:rPr>
              <a:t>TCP/IP</a:t>
            </a:r>
            <a:r>
              <a:rPr lang="zh-CN" altLang="en-US" dirty="0" smtClean="0">
                <a:solidFill>
                  <a:schemeClr val="folHlink"/>
                </a:solidFill>
              </a:rPr>
              <a:t>体系结构</a:t>
            </a:r>
            <a:r>
              <a:rPr lang="zh-CN" altLang="en-US" dirty="0" smtClean="0"/>
              <a:t>。参与系统中</a:t>
            </a:r>
            <a:r>
              <a:rPr lang="en-US" altLang="zh-CN" dirty="0" smtClean="0"/>
              <a:t>TCP/IP</a:t>
            </a:r>
            <a:r>
              <a:rPr lang="zh-CN" altLang="en-US" dirty="0" smtClean="0"/>
              <a:t>协议配置和有关网络访问的某些</a:t>
            </a:r>
            <a:r>
              <a:rPr lang="zh-CN" altLang="en-US" dirty="0" smtClean="0">
                <a:solidFill>
                  <a:schemeClr val="folHlink"/>
                </a:solidFill>
              </a:rPr>
              <a:t>重要文件</a:t>
            </a:r>
            <a:r>
              <a:rPr lang="zh-CN" altLang="en-US" dirty="0" smtClean="0"/>
              <a:t>，因为它们本身的重要性以及对系统的安全具有重要的影响，在这一章将做较为详细的探讨。最后将简单介绍</a:t>
            </a:r>
            <a:r>
              <a:rPr lang="en-US" altLang="zh-CN" dirty="0" smtClean="0"/>
              <a:t>TCP/IP</a:t>
            </a:r>
            <a:r>
              <a:rPr lang="zh-CN" altLang="en-US" dirty="0" smtClean="0"/>
              <a:t>的一些</a:t>
            </a:r>
            <a:r>
              <a:rPr lang="zh-CN" altLang="en-US" dirty="0" smtClean="0">
                <a:solidFill>
                  <a:schemeClr val="folHlink"/>
                </a:solidFill>
              </a:rPr>
              <a:t>守护程序及协议</a:t>
            </a:r>
            <a:r>
              <a:rPr lang="zh-CN" altLang="en-US" dirty="0" smtClean="0"/>
              <a:t>。 </a:t>
            </a:r>
            <a:endParaRPr lang="zh-CN" altLang="en-US" dirty="0" smtClean="0"/>
          </a:p>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
        <p:nvSpPr>
          <p:cNvPr id="2" name="标题 1"/>
          <p:cNvSpPr>
            <a:spLocks noGrp="1"/>
          </p:cNvSpPr>
          <p:nvPr>
            <p:ph type="title"/>
          </p:nvPr>
        </p:nvSpPr>
        <p:spPr>
          <a:xfrm>
            <a:off x="838200" y="365125"/>
            <a:ext cx="10515600" cy="711200"/>
          </a:xfrm>
          <a:prstGeom prst="rect">
            <a:avLst/>
          </a:prstGeom>
        </p:spPr>
        <p:txBody>
          <a:bodyPr/>
          <a:lstStyle>
            <a:lvl1pPr>
              <a:defRPr sz="4000">
                <a:latin typeface="Times New Roman" panose="02020603050405020304" charset="0"/>
              </a:defRPr>
            </a:lvl1pPr>
          </a:lstStyle>
          <a:p>
            <a:r>
              <a:rPr lang="zh-CN" altLang="en-US"/>
              <a:t>单击此处编辑母版标题样式</a:t>
            </a:r>
            <a:endParaRPr lang="zh-CN" altLang="en-US"/>
          </a:p>
        </p:txBody>
      </p:sp>
      <p:sp>
        <p:nvSpPr>
          <p:cNvPr id="6" name="文本框 5"/>
          <p:cNvSpPr txBox="1"/>
          <p:nvPr userDrawn="1"/>
        </p:nvSpPr>
        <p:spPr>
          <a:xfrm>
            <a:off x="867410" y="1336040"/>
            <a:ext cx="10478135" cy="460375"/>
          </a:xfrm>
          <a:prstGeom prst="rect">
            <a:avLst/>
          </a:prstGeom>
          <a:noFill/>
        </p:spPr>
        <p:txBody>
          <a:bodyPr wrap="square" rtlCol="0">
            <a:spAutoFit/>
          </a:bodyPr>
          <a:lstStyle/>
          <a:p>
            <a:r>
              <a:rPr lang="en-US" altLang="zh-CN" sz="2400">
                <a:latin typeface="Times New Roman" panose="02020603050405020304" charset="0"/>
                <a:cs typeface="Times New Roman" panose="02020603050405020304" charset="0"/>
              </a:rPr>
              <a:t>aaa</a:t>
            </a:r>
            <a:endParaRPr lang="en-US" altLang="zh-CN" sz="2400">
              <a:latin typeface="Times New Roman" panose="02020603050405020304" charset="0"/>
              <a:cs typeface="Times New Roman" panose="0202060305040502030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
        <p:nvSpPr>
          <p:cNvPr id="2" name="标题 1"/>
          <p:cNvSpPr>
            <a:spLocks noGrp="1"/>
          </p:cNvSpPr>
          <p:nvPr>
            <p:ph type="title"/>
            <p:custDataLst>
              <p:tags r:id="rId3"/>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1296000"/>
            <a:ext cx="10852237" cy="5041355"/>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24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0" marR="0" lvl="2"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24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0" marR="0" lvl="3"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24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0" marR="0" lvl="4"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24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    第二级</a:t>
            </a:r>
            <a:endParaRPr dirty="0">
              <a:sym typeface="+mn-ea"/>
            </a:endParaRPr>
          </a:p>
          <a:p>
            <a:pPr lvl="2"/>
            <a:r>
              <a:rPr dirty="0">
                <a:sym typeface="+mn-ea"/>
              </a:rPr>
              <a:t>        第三级</a:t>
            </a:r>
            <a:endParaRPr dirty="0">
              <a:sym typeface="+mn-ea"/>
            </a:endParaRPr>
          </a:p>
          <a:p>
            <a:pPr lvl="3"/>
            <a:r>
              <a:rPr dirty="0">
                <a:sym typeface="+mn-ea"/>
              </a:rPr>
              <a:t>            第四级</a:t>
            </a:r>
            <a:endParaRPr dirty="0">
              <a:sym typeface="+mn-ea"/>
            </a:endParaRPr>
          </a:p>
          <a:p>
            <a:pPr lvl="4"/>
            <a:r>
              <a:rPr dirty="0">
                <a:sym typeface="+mn-ea"/>
              </a:rPr>
              <a:t>               第五级</a:t>
            </a:r>
            <a:endParaRPr dirty="0">
              <a:sym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solidFill>
          <a:schemeClr val="bg1"/>
        </a:solidFill>
        <a:effectLst/>
      </p:bgPr>
    </p:bg>
    <p:spTree>
      <p:nvGrpSpPr>
        <p:cNvPr id="1" name=""/>
        <p:cNvGrpSpPr/>
        <p:nvPr/>
      </p:nvGrpSpPr>
      <p:grpSpPr>
        <a:xfrm>
          <a:off x="0" y="0"/>
          <a:ext cx="0" cy="0"/>
          <a:chOff x="0" y="0"/>
          <a:chExt cx="0" cy="0"/>
        </a:xfrm>
      </p:grpSpPr>
      <p:sp>
        <p:nvSpPr>
          <p:cNvPr id="4101" name="标题 4100"/>
          <p:cNvSpPr>
            <a:spLocks noGrp="1"/>
          </p:cNvSpPr>
          <p:nvPr>
            <p:ph type="ctrTitle" sz="quarter"/>
          </p:nvPr>
        </p:nvSpPr>
        <p:spPr>
          <a:xfrm>
            <a:off x="1725084" y="762000"/>
            <a:ext cx="10363200" cy="1143000"/>
          </a:xfrm>
          <a:prstGeom prst="rect">
            <a:avLst/>
          </a:prstGeom>
          <a:noFill/>
          <a:ln w="9525">
            <a:noFill/>
          </a:ln>
        </p:spPr>
        <p:txBody>
          <a:bodyPr lIns="92075" tIns="46038" rIns="92075" bIns="46038" anchor="b"/>
          <a:lstStyle>
            <a:lvl1pPr lvl="0">
              <a:defRPr/>
            </a:lvl1pPr>
          </a:lstStyle>
          <a:p>
            <a:pPr lvl="0" fontAlgn="base"/>
            <a:r>
              <a:rPr lang="zh-CN" altLang="en-US" strike="noStrike" noProof="1"/>
              <a:t>单击此处编辑母版标题样式</a:t>
            </a:r>
            <a:endParaRPr lang="zh-CN" altLang="en-US" strike="noStrike" noProof="1"/>
          </a:p>
        </p:txBody>
      </p:sp>
      <p:sp>
        <p:nvSpPr>
          <p:cNvPr id="4102" name="副标题 4101"/>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defRPr/>
            </a:lvl1pPr>
            <a:lvl2pPr marL="457200" lvl="1" indent="0" algn="ctr">
              <a:defRPr/>
            </a:lvl2pPr>
            <a:lvl3pPr marL="914400" lvl="2" indent="0" algn="ctr">
              <a:defRPr/>
            </a:lvl3pPr>
            <a:lvl4pPr marL="1371600" lvl="3" indent="0" algn="ctr">
              <a:defRPr/>
            </a:lvl4pPr>
            <a:lvl5pPr marL="1828800" lvl="4" indent="0" algn="ctr">
              <a:defRPr/>
            </a:lvl5pPr>
          </a:lstStyle>
          <a:p>
            <a:pPr lvl="0" fontAlgn="base"/>
            <a:r>
              <a:rPr lang="zh-CN" altLang="en-US" strike="noStrike" noProof="1"/>
              <a:t>单击此处编辑母版副标题样式</a:t>
            </a:r>
            <a:endParaRPr lang="zh-CN" altLang="en-US" strike="noStrike" noProof="1"/>
          </a:p>
        </p:txBody>
      </p:sp>
      <p:sp>
        <p:nvSpPr>
          <p:cNvPr id="4103" name="日期占位符 4102"/>
          <p:cNvSpPr>
            <a:spLocks noGrp="1"/>
          </p:cNvSpPr>
          <p:nvPr>
            <p:ph type="dt" sz="quarter" idx="2"/>
          </p:nvPr>
        </p:nvSpPr>
        <p:spPr>
          <a:xfrm>
            <a:off x="914400" y="6248400"/>
            <a:ext cx="2540000" cy="457200"/>
          </a:xfrm>
          <a:prstGeom prst="rect">
            <a:avLst/>
          </a:prstGeom>
          <a:noFill/>
          <a:ln w="9525">
            <a:noFill/>
          </a:ln>
        </p:spPr>
        <p:txBody>
          <a:bodyPr lIns="92075" tIns="46038" rIns="92075" bIns="46038" anchor="ctr"/>
          <a:lstStyle>
            <a:lvl1pPr>
              <a:defRPr sz="1400"/>
            </a:lvl1pPr>
          </a:lstStyle>
          <a:p>
            <a:pPr fontAlgn="base"/>
            <a:endParaRPr lang="zh-CN" altLang="en-US" strike="noStrike" noProof="1">
              <a:latin typeface="Times New Roman" panose="02020603050405020304" charset="0"/>
            </a:endParaRPr>
          </a:p>
        </p:txBody>
      </p:sp>
      <p:sp>
        <p:nvSpPr>
          <p:cNvPr id="4104" name="页脚占位符 4103"/>
          <p:cNvSpPr>
            <a:spLocks noGrp="1"/>
          </p:cNvSpPr>
          <p:nvPr>
            <p:ph type="ftr" sz="quarter" idx="3"/>
          </p:nvPr>
        </p:nvSpPr>
        <p:spPr>
          <a:xfrm>
            <a:off x="4165600" y="6248400"/>
            <a:ext cx="3860800" cy="457200"/>
          </a:xfrm>
          <a:prstGeom prst="rect">
            <a:avLst/>
          </a:prstGeom>
          <a:noFill/>
          <a:ln w="9525">
            <a:noFill/>
          </a:ln>
        </p:spPr>
        <p:txBody>
          <a:bodyPr lIns="92075" tIns="46038" rIns="92075" bIns="46038" anchor="ctr"/>
          <a:lstStyle>
            <a:lvl1pPr algn="ctr">
              <a:defRPr sz="1400"/>
            </a:lvl1pPr>
          </a:lstStyle>
          <a:p>
            <a:pPr fontAlgn="base"/>
            <a:endParaRPr lang="zh-CN" altLang="en-US" strike="noStrike" noProof="1">
              <a:latin typeface="Times New Roman" panose="02020603050405020304" charset="0"/>
            </a:endParaRPr>
          </a:p>
        </p:txBody>
      </p:sp>
      <p:sp>
        <p:nvSpPr>
          <p:cNvPr id="4105" name="灯片编号占位符 4104"/>
          <p:cNvSpPr>
            <a:spLocks noGrp="1"/>
          </p:cNvSpPr>
          <p:nvPr>
            <p:ph type="sldNum" sz="quarter" idx="4"/>
          </p:nvPr>
        </p:nvSpPr>
        <p:spPr>
          <a:xfrm>
            <a:off x="8737600" y="6248400"/>
            <a:ext cx="2540000" cy="457200"/>
          </a:xfrm>
          <a:prstGeom prst="rect">
            <a:avLst/>
          </a:prstGeom>
          <a:noFill/>
          <a:ln w="9525">
            <a:noFill/>
          </a:ln>
        </p:spPr>
        <p:txBody>
          <a:bodyPr lIns="92075" tIns="46038" rIns="92075" bIns="46038" anchor="ctr"/>
          <a:lstStyle>
            <a:lvl1pPr algn="r">
              <a:defRPr sz="1400"/>
            </a:lvl1pPr>
          </a:lstStyle>
          <a:p>
            <a:pPr fontAlgn="base"/>
            <a:fld id="{9A0DB2DC-4C9A-4742-B13C-FB6460FD3503}" type="slidenum">
              <a:rPr lang="zh-CN" altLang="en-US" strike="noStrike" noProof="1" dirty="0">
                <a:latin typeface="Times New Roman" panose="02020603050405020304" charset="0"/>
                <a:ea typeface="黑体" panose="02010609060101010101" pitchFamily="2" charset="-122"/>
                <a:cs typeface="+mn-cs"/>
              </a:rPr>
            </a:fld>
            <a:endParaRPr lang="zh-CN" altLang="en-US" strike="noStrike" noProof="1">
              <a:latin typeface="Times New Roman" panose="02020603050405020304" charset="0"/>
            </a:endParaRPr>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88065"/>
          <p:cNvSpPr>
            <a:spLocks noGrp="1"/>
          </p:cNvSpPr>
          <p:nvPr>
            <p:ph type="ctrTitle" sz="quarter"/>
          </p:nvPr>
        </p:nvSpPr>
        <p:spPr>
          <a:xfrm>
            <a:off x="2711450" y="1894172"/>
            <a:ext cx="6783388" cy="1154113"/>
          </a:xfrm>
        </p:spPr>
        <p:txBody>
          <a:bodyPr lIns="92075" tIns="46038" rIns="92075" bIns="46038" anchor="b"/>
          <a:lstStyle/>
          <a:p>
            <a:pPr algn="ctr" fontAlgn="base">
              <a:buSzPct val="100000"/>
            </a:pPr>
            <a:r>
              <a:rPr lang="en-US" altLang="zh-CN" sz="5400" noProof="1">
                <a:latin typeface="Times New Roman" panose="02020603050405020304" charset="0"/>
                <a:ea typeface="黑体" panose="02010609060101010101" pitchFamily="2" charset="-122"/>
              </a:rPr>
              <a:t>《</a:t>
            </a:r>
            <a:r>
              <a:rPr lang="zh-CN" altLang="en-US" sz="5400" noProof="1">
                <a:latin typeface="Times New Roman" panose="02020603050405020304" charset="0"/>
                <a:ea typeface="黑体" panose="02010609060101010101" pitchFamily="2" charset="-122"/>
              </a:rPr>
              <a:t>信息对抗技术</a:t>
            </a:r>
            <a:r>
              <a:rPr lang="en-US" altLang="zh-CN" sz="5400" noProof="1">
                <a:latin typeface="Times New Roman" panose="02020603050405020304" charset="0"/>
                <a:ea typeface="黑体" panose="02010609060101010101" pitchFamily="2" charset="-122"/>
              </a:rPr>
              <a:t>》</a:t>
            </a:r>
            <a:br>
              <a:rPr lang="en-US" altLang="zh-CN" sz="5400" dirty="0">
                <a:latin typeface="Times New Roman" panose="02020603050405020304" charset="0"/>
                <a:ea typeface="黑体" panose="02010609060101010101" pitchFamily="2" charset="-122"/>
              </a:rPr>
            </a:br>
            <a:r>
              <a:rPr lang="zh-CN" altLang="en-US" sz="4000" noProof="1">
                <a:latin typeface="Times New Roman" panose="02020603050405020304" charset="0"/>
                <a:ea typeface="隶书" panose="02010509060101010101" pitchFamily="49" charset="-122"/>
              </a:rPr>
              <a:t>电子讲稿</a:t>
            </a:r>
            <a:endParaRPr lang="zh-CN" altLang="en-US" sz="4000" noProof="1">
              <a:latin typeface="Times New Roman" panose="02020603050405020304" charset="0"/>
              <a:ea typeface="隶书" panose="02010509060101010101" pitchFamily="49" charset="-122"/>
            </a:endParaRPr>
          </a:p>
        </p:txBody>
      </p:sp>
      <p:sp>
        <p:nvSpPr>
          <p:cNvPr id="3074" name="副标题 88066"/>
          <p:cNvSpPr>
            <a:spLocks noGrp="1"/>
          </p:cNvSpPr>
          <p:nvPr>
            <p:ph type="subTitle" sz="quarter" idx="1"/>
          </p:nvPr>
        </p:nvSpPr>
        <p:spPr/>
        <p:txBody>
          <a:bodyPr lIns="92075" tIns="46038" rIns="92075" bIns="46038" anchor="ctr"/>
          <a:lstStyle/>
          <a:p>
            <a:endParaRPr lang="en-US" altLang="zh-CN" kern="1200" baseline="0" dirty="0">
              <a:latin typeface="+mn-lt"/>
              <a:ea typeface="+mn-ea"/>
              <a:cs typeface="+mn-cs"/>
            </a:endParaRPr>
          </a:p>
          <a:p>
            <a:endParaRPr lang="en-US" altLang="zh-CN" kern="1200" baseline="0" dirty="0">
              <a:latin typeface="+mn-lt"/>
              <a:ea typeface="+mn-ea"/>
              <a:cs typeface="+mn-cs"/>
            </a:endParaRPr>
          </a:p>
        </p:txBody>
      </p:sp>
      <p:sp>
        <p:nvSpPr>
          <p:cNvPr id="3075" name="文本框 88067"/>
          <p:cNvSpPr txBox="1"/>
          <p:nvPr/>
        </p:nvSpPr>
        <p:spPr>
          <a:xfrm>
            <a:off x="4544854" y="4190430"/>
            <a:ext cx="3116580" cy="1383665"/>
          </a:xfrm>
          <a:prstGeom prst="rect">
            <a:avLst/>
          </a:prstGeom>
          <a:noFill/>
          <a:ln w="9525">
            <a:noFill/>
          </a:ln>
        </p:spPr>
        <p:txBody>
          <a:bodyPr wrap="none" anchor="t">
            <a:spAutoFit/>
          </a:bodyPr>
          <a:lstStyle/>
          <a:p>
            <a:pPr algn="ctr"/>
            <a:r>
              <a:rPr lang="zh-CN" altLang="en-US" sz="2800" dirty="0">
                <a:latin typeface="Times New Roman" panose="02020603050405020304" charset="0"/>
                <a:ea typeface="华文行楷" panose="02010800040101010101" pitchFamily="2" charset="-122"/>
              </a:rPr>
              <a:t>李朝晖</a:t>
            </a:r>
            <a:endParaRPr lang="zh-CN" altLang="en-US" sz="2800" dirty="0">
              <a:latin typeface="Times New Roman" panose="02020603050405020304" charset="0"/>
              <a:ea typeface="华文行楷" panose="02010800040101010101" pitchFamily="2" charset="-122"/>
            </a:endParaRPr>
          </a:p>
          <a:p>
            <a:pPr algn="ctr"/>
            <a:r>
              <a:rPr lang="zh-CN" altLang="en-US" sz="2800" dirty="0">
                <a:latin typeface="Times New Roman" panose="02020603050405020304" charset="0"/>
                <a:ea typeface="华文行楷" panose="02010800040101010101" pitchFamily="2" charset="-122"/>
              </a:rPr>
              <a:t>南开大学 </a:t>
            </a:r>
            <a:r>
              <a:rPr lang="zh-CN" altLang="en-US" sz="2800" dirty="0">
                <a:latin typeface="Times New Roman" panose="02020603050405020304" charset="0"/>
                <a:ea typeface="华文行楷" panose="02010800040101010101" pitchFamily="2" charset="-122"/>
                <a:sym typeface="+mn-ea"/>
              </a:rPr>
              <a:t>密</a:t>
            </a:r>
            <a:r>
              <a:rPr lang="zh-CN" altLang="en-US" sz="2800" dirty="0">
                <a:latin typeface="Times New Roman" panose="02020603050405020304" charset="0"/>
                <a:ea typeface="华文行楷" panose="02010800040101010101" pitchFamily="2" charset="-122"/>
              </a:rPr>
              <a:t>网学院</a:t>
            </a:r>
            <a:endParaRPr lang="zh-CN" altLang="en-US" sz="2800" dirty="0">
              <a:latin typeface="Times New Roman" panose="02020603050405020304" charset="0"/>
              <a:ea typeface="华文行楷" panose="02010800040101010101" pitchFamily="2" charset="-122"/>
            </a:endParaRPr>
          </a:p>
          <a:p>
            <a:pPr algn="ctr"/>
            <a:r>
              <a:rPr lang="en-US" altLang="zh-CN" sz="2800" dirty="0" smtClean="0">
                <a:latin typeface="Times New Roman" panose="02020603050405020304" charset="0"/>
                <a:ea typeface="宋体" panose="02010600030101010101" pitchFamily="2" charset="-122"/>
              </a:rPr>
              <a:t>2026</a:t>
            </a:r>
            <a:endParaRPr lang="en-US" altLang="zh-CN" sz="2800" dirty="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7"/>
          <p:cNvSpPr txBox="1"/>
          <p:nvPr/>
        </p:nvSpPr>
        <p:spPr>
          <a:xfrm>
            <a:off x="1626920" y="3434063"/>
            <a:ext cx="3286584" cy="1405000"/>
          </a:xfrm>
          <a:prstGeom prst="rect">
            <a:avLst/>
          </a:prstGeom>
          <a:noFill/>
        </p:spPr>
        <p:txBody>
          <a:bodyPr wrap="square">
            <a:spAutoFit/>
          </a:bodyPr>
          <a:lstStyle/>
          <a:p>
            <a:pPr marR="0" algn="ctr" defTabSz="1217930" fontAlgn="auto">
              <a:buClrTx/>
              <a:buSzTx/>
              <a:buFont typeface="Arial" panose="020B0604020202020204" pitchFamily="34" charset="0"/>
              <a:defRPr/>
            </a:pPr>
            <a:r>
              <a:rPr kumimoji="0" lang="zh-CN" altLang="en-US"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第</a:t>
            </a:r>
            <a:r>
              <a:rPr kumimoji="0" lang="en-US" altLang="zh-CN"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2</a:t>
            </a:r>
            <a:r>
              <a:rPr kumimoji="0" lang="zh-CN" altLang="en-US"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rPr>
              <a:t>章  </a:t>
            </a:r>
            <a:endParaRPr kumimoji="0" lang="en-US" altLang="zh-CN" sz="4265" kern="1200" cap="none" spc="0" normalizeH="0" baseline="0" noProof="1" smtClean="0">
              <a:solidFill>
                <a:srgbClr val="002060"/>
              </a:solidFill>
              <a:latin typeface="思源黑体 CN Heavy" panose="020B0A00000000000000" pitchFamily="34" charset="-122"/>
              <a:ea typeface="思源黑体 CN Heavy" panose="020B0A00000000000000" pitchFamily="34" charset="-122"/>
              <a:cs typeface="+mn-ea"/>
              <a:sym typeface="+mn-ea"/>
            </a:endParaRPr>
          </a:p>
          <a:p>
            <a:pPr marR="0" defTabSz="1217930" fontAlgn="auto">
              <a:buClrTx/>
              <a:buSzTx/>
              <a:buFont typeface="Arial" panose="020B0604020202020204" pitchFamily="34" charset="0"/>
              <a:defRPr/>
            </a:pPr>
            <a:r>
              <a:rPr lang="zh-CN" altLang="en-US" sz="4265" noProof="1" smtClean="0">
                <a:solidFill>
                  <a:srgbClr val="002060"/>
                </a:solidFill>
                <a:latin typeface="思源黑体 CN Heavy" panose="020B0A00000000000000" pitchFamily="34" charset="-122"/>
                <a:ea typeface="思源黑体 CN Heavy" panose="020B0A00000000000000" pitchFamily="34" charset="-122"/>
                <a:cs typeface="+mn-ea"/>
              </a:rPr>
              <a:t>理解</a:t>
            </a:r>
            <a:r>
              <a:rPr lang="en-US" altLang="zh-CN" sz="4265" noProof="1" smtClean="0">
                <a:solidFill>
                  <a:srgbClr val="002060"/>
                </a:solidFill>
                <a:latin typeface="思源黑体 CN Heavy" panose="020B0A00000000000000" pitchFamily="34" charset="-122"/>
                <a:ea typeface="思源黑体 CN Heavy" panose="020B0A00000000000000" pitchFamily="34" charset="-122"/>
                <a:cs typeface="+mn-ea"/>
              </a:rPr>
              <a:t>TCP/IP</a:t>
            </a:r>
            <a:endParaRPr lang="zh-CN" altLang="en-US" sz="4265" noProof="1">
              <a:solidFill>
                <a:srgbClr val="002060"/>
              </a:solidFill>
              <a:latin typeface="思源黑体 CN Heavy" panose="020B0A00000000000000" pitchFamily="34" charset="-122"/>
              <a:ea typeface="思源黑体 CN Heavy" panose="020B0A00000000000000" pitchFamily="34" charset="-122"/>
              <a:cs typeface="+mn-ea"/>
              <a:sym typeface="+mn-ea"/>
            </a:endParaRPr>
          </a:p>
        </p:txBody>
      </p:sp>
      <p:grpSp>
        <p:nvGrpSpPr>
          <p:cNvPr id="20" name="组合 19"/>
          <p:cNvGrpSpPr/>
          <p:nvPr/>
        </p:nvGrpSpPr>
        <p:grpSpPr>
          <a:xfrm>
            <a:off x="2576451" y="1645590"/>
            <a:ext cx="1622688" cy="1622688"/>
            <a:chOff x="882649" y="2219325"/>
            <a:chExt cx="2070101" cy="2070101"/>
          </a:xfrm>
        </p:grpSpPr>
        <p:sp>
          <p:nvSpPr>
            <p:cNvPr id="21" name="椭圆 20"/>
            <p:cNvSpPr/>
            <p:nvPr/>
          </p:nvSpPr>
          <p:spPr>
            <a:xfrm>
              <a:off x="1019174" y="2355850"/>
              <a:ext cx="1797050" cy="1797050"/>
            </a:xfrm>
            <a:prstGeom prst="ellipse">
              <a:avLst/>
            </a:prstGeom>
            <a:noFill/>
            <a:ln>
              <a:solidFill>
                <a:srgbClr val="0F73E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smtClean="0">
                  <a:solidFill>
                    <a:schemeClr val="accent5">
                      <a:lumMod val="50000"/>
                    </a:schemeClr>
                  </a:solidFill>
                  <a:effectLst/>
                  <a:latin typeface="+mj-lt"/>
                  <a:ea typeface="微软雅黑 Light" panose="020B0502040204020203" pitchFamily="34" charset="-122"/>
                  <a:cs typeface="+mn-ea"/>
                  <a:sym typeface="+mn-lt"/>
                </a:rPr>
                <a:t>02</a:t>
              </a:r>
              <a:endParaRPr lang="en-US" sz="4000" b="1" dirty="0">
                <a:solidFill>
                  <a:schemeClr val="accent5">
                    <a:lumMod val="50000"/>
                  </a:schemeClr>
                </a:solidFill>
                <a:effectLst/>
                <a:latin typeface="+mj-lt"/>
                <a:cs typeface="+mn-ea"/>
                <a:sym typeface="+mn-lt"/>
              </a:endParaRPr>
            </a:p>
          </p:txBody>
        </p:sp>
        <p:sp>
          <p:nvSpPr>
            <p:cNvPr id="22" name="空心弧 21"/>
            <p:cNvSpPr/>
            <p:nvPr/>
          </p:nvSpPr>
          <p:spPr>
            <a:xfrm rot="7613872">
              <a:off x="882649" y="2219325"/>
              <a:ext cx="2070101" cy="2070101"/>
            </a:xfrm>
            <a:prstGeom prst="blockArc">
              <a:avLst>
                <a:gd name="adj1" fmla="val 10800000"/>
                <a:gd name="adj2" fmla="val 3959450"/>
                <a:gd name="adj3" fmla="val 6684"/>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mn-ea"/>
                <a:sym typeface="+mn-lt"/>
              </a:endParaRPr>
            </a:p>
          </p:txBody>
        </p:sp>
      </p:grpSp>
      <p:grpSp>
        <p:nvGrpSpPr>
          <p:cNvPr id="38" name="组合 37"/>
          <p:cNvGrpSpPr/>
          <p:nvPr/>
        </p:nvGrpSpPr>
        <p:grpSpPr>
          <a:xfrm>
            <a:off x="5562189" y="1170848"/>
            <a:ext cx="4963698" cy="617070"/>
            <a:chOff x="5493750" y="892151"/>
            <a:chExt cx="4963698" cy="617070"/>
          </a:xfrm>
        </p:grpSpPr>
        <p:sp>
          <p:nvSpPr>
            <p:cNvPr id="23" name="矩形: 圆角 22"/>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12"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7" name="矩形: 圆角 36"/>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chemeClr val="tx1">
                      <a:lumMod val="85000"/>
                      <a:lumOff val="15000"/>
                    </a:schemeClr>
                  </a:solidFill>
                  <a:ea typeface="+mj-ea"/>
                  <a:cs typeface="+mn-ea"/>
                  <a:sym typeface="+mn-lt"/>
                </a:rPr>
                <a:t>2.1</a:t>
              </a:r>
              <a:r>
                <a:rPr lang="en-US" altLang="zh-CN" sz="2400" dirty="0" smtClean="0">
                  <a:solidFill>
                    <a:schemeClr val="tx1">
                      <a:lumMod val="85000"/>
                      <a:lumOff val="15000"/>
                    </a:schemeClr>
                  </a:solidFill>
                  <a:latin typeface="+mj-ea"/>
                  <a:ea typeface="+mj-ea"/>
                  <a:cs typeface="+mn-ea"/>
                  <a:sym typeface="+mn-lt"/>
                </a:rPr>
                <a:t> </a:t>
              </a:r>
              <a:r>
                <a:rPr lang="en-US" altLang="zh-CN" sz="2400" noProof="1">
                  <a:solidFill>
                    <a:schemeClr val="tx1">
                      <a:lumMod val="85000"/>
                      <a:lumOff val="15000"/>
                    </a:schemeClr>
                  </a:solidFill>
                  <a:ea typeface="+mj-ea"/>
                  <a:cs typeface="+mn-ea"/>
                </a:rPr>
                <a:t>TCP/IP</a:t>
              </a:r>
              <a:r>
                <a:rPr lang="zh-CN" altLang="en-US" sz="2400" noProof="1">
                  <a:solidFill>
                    <a:schemeClr val="tx1">
                      <a:lumMod val="85000"/>
                      <a:lumOff val="15000"/>
                    </a:schemeClr>
                  </a:solidFill>
                  <a:ea typeface="+mj-ea"/>
                  <a:cs typeface="+mn-ea"/>
                </a:rPr>
                <a:t>参考</a:t>
              </a:r>
              <a:r>
                <a:rPr lang="zh-CN" altLang="en-US" sz="2400" noProof="1">
                  <a:solidFill>
                    <a:schemeClr val="tx1">
                      <a:lumMod val="85000"/>
                      <a:lumOff val="15000"/>
                    </a:schemeClr>
                  </a:solidFill>
                  <a:latin typeface="+mj-ea"/>
                  <a:ea typeface="+mj-ea"/>
                  <a:cs typeface="+mn-ea"/>
                </a:rPr>
                <a:t>模型简介 </a:t>
              </a:r>
              <a:endParaRPr lang="zh-CN" altLang="en-US" sz="2400" dirty="0">
                <a:solidFill>
                  <a:schemeClr val="tx1">
                    <a:lumMod val="85000"/>
                    <a:lumOff val="15000"/>
                  </a:schemeClr>
                </a:solidFill>
                <a:latin typeface="+mj-ea"/>
                <a:ea typeface="+mj-ea"/>
                <a:cs typeface="+mn-ea"/>
                <a:sym typeface="+mn-lt"/>
              </a:endParaRPr>
            </a:p>
          </p:txBody>
        </p:sp>
      </p:grpSp>
      <p:grpSp>
        <p:nvGrpSpPr>
          <p:cNvPr id="67" name="组合 66"/>
          <p:cNvGrpSpPr/>
          <p:nvPr/>
        </p:nvGrpSpPr>
        <p:grpSpPr>
          <a:xfrm>
            <a:off x="5562189" y="2036857"/>
            <a:ext cx="4963698" cy="617070"/>
            <a:chOff x="5493750" y="892151"/>
            <a:chExt cx="4963698" cy="617070"/>
          </a:xfrm>
        </p:grpSpPr>
        <p:sp>
          <p:nvSpPr>
            <p:cNvPr id="68" name="矩形: 圆角 67"/>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69"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0" name="矩形: 圆角 69"/>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chemeClr val="tx1">
                      <a:lumMod val="85000"/>
                      <a:lumOff val="15000"/>
                    </a:schemeClr>
                  </a:solidFill>
                  <a:ea typeface="+mj-ea"/>
                  <a:cs typeface="+mn-ea"/>
                  <a:sym typeface="+mn-lt"/>
                </a:rPr>
                <a:t>2.2 </a:t>
              </a:r>
              <a:r>
                <a:rPr lang="zh-CN" altLang="en-US" sz="2400" noProof="1" smtClean="0">
                  <a:solidFill>
                    <a:schemeClr val="tx1">
                      <a:lumMod val="85000"/>
                      <a:lumOff val="15000"/>
                    </a:schemeClr>
                  </a:solidFill>
                  <a:latin typeface="+mj-ea"/>
                  <a:ea typeface="+mj-ea"/>
                  <a:cs typeface="+mn-ea"/>
                </a:rPr>
                <a:t>部分</a:t>
              </a:r>
              <a:r>
                <a:rPr lang="en-US" altLang="zh-CN" sz="2400" noProof="1">
                  <a:solidFill>
                    <a:schemeClr val="tx1">
                      <a:lumMod val="85000"/>
                      <a:lumOff val="15000"/>
                    </a:schemeClr>
                  </a:solidFill>
                  <a:ea typeface="+mj-ea"/>
                  <a:cs typeface="+mn-ea"/>
                </a:rPr>
                <a:t>TCP/IP</a:t>
              </a:r>
              <a:r>
                <a:rPr lang="zh-CN" altLang="en-US" sz="2400" noProof="1">
                  <a:solidFill>
                    <a:schemeClr val="tx1">
                      <a:lumMod val="85000"/>
                      <a:lumOff val="15000"/>
                    </a:schemeClr>
                  </a:solidFill>
                  <a:ea typeface="+mj-ea"/>
                  <a:cs typeface="+mn-ea"/>
                </a:rPr>
                <a:t>协议</a:t>
              </a:r>
              <a:r>
                <a:rPr lang="zh-CN" altLang="en-US" sz="2400" noProof="1" smtClean="0">
                  <a:solidFill>
                    <a:schemeClr val="tx1">
                      <a:lumMod val="85000"/>
                      <a:lumOff val="15000"/>
                    </a:schemeClr>
                  </a:solidFill>
                  <a:latin typeface="+mj-ea"/>
                  <a:ea typeface="+mj-ea"/>
                  <a:cs typeface="+mn-ea"/>
                </a:rPr>
                <a:t>简介</a:t>
              </a:r>
              <a:endParaRPr lang="zh-CN" altLang="en-US" sz="2400" dirty="0">
                <a:solidFill>
                  <a:schemeClr val="tx1">
                    <a:lumMod val="85000"/>
                    <a:lumOff val="15000"/>
                  </a:schemeClr>
                </a:solidFill>
                <a:latin typeface="+mj-ea"/>
                <a:ea typeface="+mj-ea"/>
                <a:cs typeface="+mn-ea"/>
                <a:sym typeface="+mn-lt"/>
              </a:endParaRPr>
            </a:p>
          </p:txBody>
        </p:sp>
      </p:grpSp>
      <p:grpSp>
        <p:nvGrpSpPr>
          <p:cNvPr id="71" name="组合 70"/>
          <p:cNvGrpSpPr/>
          <p:nvPr/>
        </p:nvGrpSpPr>
        <p:grpSpPr>
          <a:xfrm>
            <a:off x="5562189" y="2902866"/>
            <a:ext cx="4963698" cy="617070"/>
            <a:chOff x="5493750" y="892151"/>
            <a:chExt cx="4963698" cy="617070"/>
          </a:xfrm>
        </p:grpSpPr>
        <p:sp>
          <p:nvSpPr>
            <p:cNvPr id="72" name="矩形: 圆角 71"/>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73"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4" name="矩形: 圆角 73"/>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smtClean="0">
                  <a:solidFill>
                    <a:schemeClr val="tx1">
                      <a:lumMod val="85000"/>
                      <a:lumOff val="15000"/>
                    </a:schemeClr>
                  </a:solidFill>
                  <a:ea typeface="+mj-ea"/>
                  <a:cs typeface="+mn-ea"/>
                  <a:sym typeface="+mn-lt"/>
                </a:rPr>
                <a:t>2.3 </a:t>
              </a:r>
              <a:r>
                <a:rPr lang="zh-CN" altLang="en-US" sz="2400" noProof="1" smtClean="0">
                  <a:solidFill>
                    <a:schemeClr val="tx1">
                      <a:lumMod val="85000"/>
                      <a:lumOff val="15000"/>
                    </a:schemeClr>
                  </a:solidFill>
                  <a:ea typeface="+mj-ea"/>
                  <a:cs typeface="+mn-ea"/>
                </a:rPr>
                <a:t>网络</a:t>
              </a:r>
              <a:r>
                <a:rPr lang="zh-CN" altLang="en-US" sz="2400" noProof="1">
                  <a:solidFill>
                    <a:schemeClr val="tx1">
                      <a:lumMod val="85000"/>
                      <a:lumOff val="15000"/>
                    </a:schemeClr>
                  </a:solidFill>
                  <a:ea typeface="+mj-ea"/>
                  <a:cs typeface="+mn-ea"/>
                </a:rPr>
                <a:t>配置和网络访问文件 </a:t>
              </a:r>
              <a:endParaRPr lang="zh-CN" altLang="en-US" sz="2400" dirty="0">
                <a:solidFill>
                  <a:schemeClr val="tx1">
                    <a:lumMod val="85000"/>
                    <a:lumOff val="15000"/>
                  </a:schemeClr>
                </a:solidFill>
                <a:ea typeface="+mj-ea"/>
                <a:cs typeface="+mn-ea"/>
                <a:sym typeface="+mn-lt"/>
              </a:endParaRPr>
            </a:p>
          </p:txBody>
        </p:sp>
      </p:grpSp>
      <p:grpSp>
        <p:nvGrpSpPr>
          <p:cNvPr id="75" name="组合 74"/>
          <p:cNvGrpSpPr/>
          <p:nvPr/>
        </p:nvGrpSpPr>
        <p:grpSpPr>
          <a:xfrm>
            <a:off x="5562189" y="3768875"/>
            <a:ext cx="4963698" cy="617070"/>
            <a:chOff x="5493750" y="892151"/>
            <a:chExt cx="4963698" cy="617070"/>
          </a:xfrm>
        </p:grpSpPr>
        <p:sp>
          <p:nvSpPr>
            <p:cNvPr id="76" name="矩形: 圆角 75"/>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77"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8" name="矩形: 圆角 77"/>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90000"/>
                </a:lnSpc>
                <a:buClr>
                  <a:schemeClr val="accent2"/>
                </a:buClr>
              </a:pPr>
              <a:r>
                <a:rPr lang="en-US" altLang="zh-CN" sz="2400" dirty="0">
                  <a:solidFill>
                    <a:schemeClr val="tx1">
                      <a:lumMod val="85000"/>
                      <a:lumOff val="15000"/>
                    </a:schemeClr>
                  </a:solidFill>
                  <a:ea typeface="+mj-ea"/>
                  <a:cs typeface="+mn-ea"/>
                  <a:sym typeface="+mn-lt"/>
                </a:rPr>
                <a:t>2.4 </a:t>
              </a:r>
              <a:r>
                <a:rPr lang="en-US" altLang="zh-CN" sz="2400" dirty="0" smtClean="0">
                  <a:solidFill>
                    <a:schemeClr val="tx1">
                      <a:lumMod val="85000"/>
                      <a:lumOff val="15000"/>
                    </a:schemeClr>
                  </a:solidFill>
                  <a:ea typeface="+mj-ea"/>
                  <a:cs typeface="+mn-ea"/>
                </a:rPr>
                <a:t>TCP/IP</a:t>
              </a:r>
              <a:r>
                <a:rPr lang="zh-CN" altLang="en-US" sz="2400" dirty="0">
                  <a:solidFill>
                    <a:schemeClr val="tx1">
                      <a:lumMod val="85000"/>
                      <a:lumOff val="15000"/>
                    </a:schemeClr>
                  </a:solidFill>
                  <a:ea typeface="+mj-ea"/>
                  <a:cs typeface="+mn-ea"/>
                </a:rPr>
                <a:t>守护</a:t>
              </a:r>
              <a:r>
                <a:rPr lang="zh-CN" altLang="en-US" sz="2400" dirty="0" smtClean="0">
                  <a:solidFill>
                    <a:schemeClr val="tx1">
                      <a:lumMod val="85000"/>
                      <a:lumOff val="15000"/>
                    </a:schemeClr>
                  </a:solidFill>
                  <a:ea typeface="+mj-ea"/>
                  <a:cs typeface="+mn-ea"/>
                </a:rPr>
                <a:t>程序</a:t>
              </a:r>
              <a:endParaRPr lang="zh-CN" altLang="en-US" sz="2400" dirty="0">
                <a:solidFill>
                  <a:schemeClr val="tx1">
                    <a:lumMod val="85000"/>
                    <a:lumOff val="15000"/>
                  </a:schemeClr>
                </a:solidFill>
                <a:latin typeface="+mj-ea"/>
                <a:ea typeface="+mj-ea"/>
                <a:cs typeface="+mn-ea"/>
                <a:sym typeface="+mn-lt"/>
              </a:endParaRPr>
            </a:p>
          </p:txBody>
        </p:sp>
      </p:grpSp>
      <p:grpSp>
        <p:nvGrpSpPr>
          <p:cNvPr id="24" name="组合 23"/>
          <p:cNvGrpSpPr/>
          <p:nvPr/>
        </p:nvGrpSpPr>
        <p:grpSpPr>
          <a:xfrm>
            <a:off x="5554873" y="4634884"/>
            <a:ext cx="4963698" cy="617070"/>
            <a:chOff x="5493750" y="892151"/>
            <a:chExt cx="4963698" cy="617070"/>
          </a:xfrm>
        </p:grpSpPr>
        <p:sp>
          <p:nvSpPr>
            <p:cNvPr id="25" name="矩形: 圆角 75"/>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mn-ea"/>
                <a:sym typeface="+mn-lt"/>
              </a:endParaRPr>
            </a:p>
          </p:txBody>
        </p:sp>
        <p:sp>
          <p:nvSpPr>
            <p:cNvPr id="26"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27" name="矩形: 圆角 77"/>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90000"/>
                </a:lnSpc>
                <a:buClr>
                  <a:schemeClr val="accent2"/>
                </a:buClr>
              </a:pPr>
              <a:endParaRPr lang="en-US" altLang="zh-CN" sz="2400" dirty="0" smtClean="0">
                <a:solidFill>
                  <a:schemeClr val="tx1">
                    <a:lumMod val="85000"/>
                    <a:lumOff val="15000"/>
                  </a:schemeClr>
                </a:solidFill>
                <a:ea typeface="+mj-ea"/>
                <a:cs typeface="+mn-ea"/>
              </a:endParaRPr>
            </a:p>
            <a:p>
              <a:pPr algn="just">
                <a:lnSpc>
                  <a:spcPct val="90000"/>
                </a:lnSpc>
                <a:buClr>
                  <a:schemeClr val="accent2"/>
                </a:buClr>
              </a:pPr>
              <a:r>
                <a:rPr lang="en-US" altLang="zh-CN" sz="2400" dirty="0" smtClean="0">
                  <a:solidFill>
                    <a:schemeClr val="tx1">
                      <a:lumMod val="85000"/>
                      <a:lumOff val="15000"/>
                    </a:schemeClr>
                  </a:solidFill>
                  <a:ea typeface="+mj-ea"/>
                  <a:cs typeface="+mn-ea"/>
                </a:rPr>
                <a:t>2.5 TCP/IP</a:t>
              </a:r>
              <a:r>
                <a:rPr lang="zh-CN" altLang="en-US" sz="2400" dirty="0">
                  <a:solidFill>
                    <a:schemeClr val="tx1">
                      <a:lumMod val="85000"/>
                      <a:lumOff val="15000"/>
                    </a:schemeClr>
                  </a:solidFill>
                  <a:ea typeface="+mj-ea"/>
                  <a:cs typeface="+mn-ea"/>
                </a:rPr>
                <a:t>实用命令</a:t>
              </a:r>
              <a:endParaRPr lang="zh-CN" altLang="en-US" sz="2400" dirty="0">
                <a:solidFill>
                  <a:schemeClr val="tx1">
                    <a:lumMod val="85000"/>
                    <a:lumOff val="15000"/>
                  </a:schemeClr>
                </a:solidFill>
                <a:ea typeface="+mj-ea"/>
                <a:cs typeface="+mn-ea"/>
              </a:endParaRPr>
            </a:p>
            <a:p>
              <a:endParaRPr lang="zh-CN" altLang="en-US" sz="2400" dirty="0">
                <a:solidFill>
                  <a:schemeClr val="tx1">
                    <a:lumMod val="85000"/>
                    <a:lumOff val="15000"/>
                  </a:schemeClr>
                </a:solidFill>
                <a:latin typeface="+mj-ea"/>
                <a:ea typeface="+mj-ea"/>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750" fill="hold"/>
                                        <p:tgtEl>
                                          <p:spTgt spid="20"/>
                                        </p:tgtEl>
                                        <p:attrNameLst>
                                          <p:attrName>ppt_w</p:attrName>
                                        </p:attrNameLst>
                                      </p:cBhvr>
                                      <p:tavLst>
                                        <p:tav tm="0">
                                          <p:val>
                                            <p:fltVal val="0"/>
                                          </p:val>
                                        </p:tav>
                                        <p:tav tm="100000">
                                          <p:val>
                                            <p:strVal val="#ppt_w"/>
                                          </p:val>
                                        </p:tav>
                                      </p:tavLst>
                                    </p:anim>
                                    <p:anim calcmode="lin" valueType="num">
                                      <p:cBhvr>
                                        <p:cTn id="8" dur="750" fill="hold"/>
                                        <p:tgtEl>
                                          <p:spTgt spid="20"/>
                                        </p:tgtEl>
                                        <p:attrNameLst>
                                          <p:attrName>ppt_h</p:attrName>
                                        </p:attrNameLst>
                                      </p:cBhvr>
                                      <p:tavLst>
                                        <p:tav tm="0">
                                          <p:val>
                                            <p:fltVal val="0"/>
                                          </p:val>
                                        </p:tav>
                                        <p:tav tm="100000">
                                          <p:val>
                                            <p:strVal val="#ppt_h"/>
                                          </p:val>
                                        </p:tav>
                                      </p:tavLst>
                                    </p:anim>
                                    <p:animEffect transition="in" filter="fade">
                                      <p:cBhvr>
                                        <p:cTn id="9" dur="750"/>
                                        <p:tgtEl>
                                          <p:spTgt spid="20"/>
                                        </p:tgtEl>
                                      </p:cBhvr>
                                    </p:animEffect>
                                  </p:childTnLst>
                                </p:cTn>
                              </p:par>
                              <p:par>
                                <p:cTn id="10" presetID="22" presetClass="entr" presetSubtype="8" fill="hold" grpId="0" nodeType="withEffect">
                                  <p:stCondLst>
                                    <p:cond delay="30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7" presetClass="entr" presetSubtype="8"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p:cTn id="16" dur="500" fill="hold"/>
                                        <p:tgtEl>
                                          <p:spTgt spid="38"/>
                                        </p:tgtEl>
                                        <p:attrNameLst>
                                          <p:attrName>ppt_x</p:attrName>
                                        </p:attrNameLst>
                                      </p:cBhvr>
                                      <p:tavLst>
                                        <p:tav tm="0">
                                          <p:val>
                                            <p:strVal val="#ppt_x-#ppt_w/2"/>
                                          </p:val>
                                        </p:tav>
                                        <p:tav tm="100000">
                                          <p:val>
                                            <p:strVal val="#ppt_x"/>
                                          </p:val>
                                        </p:tav>
                                      </p:tavLst>
                                    </p:anim>
                                    <p:anim calcmode="lin" valueType="num">
                                      <p:cBhvr>
                                        <p:cTn id="17" dur="500" fill="hold"/>
                                        <p:tgtEl>
                                          <p:spTgt spid="38"/>
                                        </p:tgtEl>
                                        <p:attrNameLst>
                                          <p:attrName>ppt_y</p:attrName>
                                        </p:attrNameLst>
                                      </p:cBhvr>
                                      <p:tavLst>
                                        <p:tav tm="0">
                                          <p:val>
                                            <p:strVal val="#ppt_y"/>
                                          </p:val>
                                        </p:tav>
                                        <p:tav tm="100000">
                                          <p:val>
                                            <p:strVal val="#ppt_y"/>
                                          </p:val>
                                        </p:tav>
                                      </p:tavLst>
                                    </p:anim>
                                    <p:anim calcmode="lin" valueType="num">
                                      <p:cBhvr>
                                        <p:cTn id="18" dur="500" fill="hold"/>
                                        <p:tgtEl>
                                          <p:spTgt spid="38"/>
                                        </p:tgtEl>
                                        <p:attrNameLst>
                                          <p:attrName>ppt_w</p:attrName>
                                        </p:attrNameLst>
                                      </p:cBhvr>
                                      <p:tavLst>
                                        <p:tav tm="0">
                                          <p:val>
                                            <p:fltVal val="0"/>
                                          </p:val>
                                        </p:tav>
                                        <p:tav tm="100000">
                                          <p:val>
                                            <p:strVal val="#ppt_w"/>
                                          </p:val>
                                        </p:tav>
                                      </p:tavLst>
                                    </p:anim>
                                    <p:anim calcmode="lin" valueType="num">
                                      <p:cBhvr>
                                        <p:cTn id="19" dur="500" fill="hold"/>
                                        <p:tgtEl>
                                          <p:spTgt spid="38"/>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8"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p:cTn id="23" dur="500" fill="hold"/>
                                        <p:tgtEl>
                                          <p:spTgt spid="67"/>
                                        </p:tgtEl>
                                        <p:attrNameLst>
                                          <p:attrName>ppt_x</p:attrName>
                                        </p:attrNameLst>
                                      </p:cBhvr>
                                      <p:tavLst>
                                        <p:tav tm="0">
                                          <p:val>
                                            <p:strVal val="#ppt_x-#ppt_w/2"/>
                                          </p:val>
                                        </p:tav>
                                        <p:tav tm="100000">
                                          <p:val>
                                            <p:strVal val="#ppt_x"/>
                                          </p:val>
                                        </p:tav>
                                      </p:tavLst>
                                    </p:anim>
                                    <p:anim calcmode="lin" valueType="num">
                                      <p:cBhvr>
                                        <p:cTn id="24" dur="500" fill="hold"/>
                                        <p:tgtEl>
                                          <p:spTgt spid="67"/>
                                        </p:tgtEl>
                                        <p:attrNameLst>
                                          <p:attrName>ppt_y</p:attrName>
                                        </p:attrNameLst>
                                      </p:cBhvr>
                                      <p:tavLst>
                                        <p:tav tm="0">
                                          <p:val>
                                            <p:strVal val="#ppt_y"/>
                                          </p:val>
                                        </p:tav>
                                        <p:tav tm="100000">
                                          <p:val>
                                            <p:strVal val="#ppt_y"/>
                                          </p:val>
                                        </p:tav>
                                      </p:tavLst>
                                    </p:anim>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strVal val="#ppt_h"/>
                                          </p:val>
                                        </p:tav>
                                        <p:tav tm="100000">
                                          <p:val>
                                            <p:strVal val="#ppt_h"/>
                                          </p:val>
                                        </p:tav>
                                      </p:tavLst>
                                    </p:anim>
                                  </p:childTnLst>
                                </p:cTn>
                              </p:par>
                            </p:childTnLst>
                          </p:cTn>
                        </p:par>
                        <p:par>
                          <p:cTn id="27" fill="hold">
                            <p:stCondLst>
                              <p:cond delay="2000"/>
                            </p:stCondLst>
                            <p:childTnLst>
                              <p:par>
                                <p:cTn id="28" presetID="17" presetClass="entr" presetSubtype="8" fill="hold" nodeType="afterEffect">
                                  <p:stCondLst>
                                    <p:cond delay="0"/>
                                  </p:stCondLst>
                                  <p:childTnLst>
                                    <p:set>
                                      <p:cBhvr>
                                        <p:cTn id="29" dur="1" fill="hold">
                                          <p:stCondLst>
                                            <p:cond delay="0"/>
                                          </p:stCondLst>
                                        </p:cTn>
                                        <p:tgtEl>
                                          <p:spTgt spid="71"/>
                                        </p:tgtEl>
                                        <p:attrNameLst>
                                          <p:attrName>style.visibility</p:attrName>
                                        </p:attrNameLst>
                                      </p:cBhvr>
                                      <p:to>
                                        <p:strVal val="visible"/>
                                      </p:to>
                                    </p:set>
                                    <p:anim calcmode="lin" valueType="num">
                                      <p:cBhvr>
                                        <p:cTn id="30" dur="500" fill="hold"/>
                                        <p:tgtEl>
                                          <p:spTgt spid="71"/>
                                        </p:tgtEl>
                                        <p:attrNameLst>
                                          <p:attrName>ppt_x</p:attrName>
                                        </p:attrNameLst>
                                      </p:cBhvr>
                                      <p:tavLst>
                                        <p:tav tm="0">
                                          <p:val>
                                            <p:strVal val="#ppt_x-#ppt_w/2"/>
                                          </p:val>
                                        </p:tav>
                                        <p:tav tm="100000">
                                          <p:val>
                                            <p:strVal val="#ppt_x"/>
                                          </p:val>
                                        </p:tav>
                                      </p:tavLst>
                                    </p:anim>
                                    <p:anim calcmode="lin" valueType="num">
                                      <p:cBhvr>
                                        <p:cTn id="31" dur="500" fill="hold"/>
                                        <p:tgtEl>
                                          <p:spTgt spid="71"/>
                                        </p:tgtEl>
                                        <p:attrNameLst>
                                          <p:attrName>ppt_y</p:attrName>
                                        </p:attrNameLst>
                                      </p:cBhvr>
                                      <p:tavLst>
                                        <p:tav tm="0">
                                          <p:val>
                                            <p:strVal val="#ppt_y"/>
                                          </p:val>
                                        </p:tav>
                                        <p:tav tm="100000">
                                          <p:val>
                                            <p:strVal val="#ppt_y"/>
                                          </p:val>
                                        </p:tav>
                                      </p:tavLst>
                                    </p:anim>
                                    <p:anim calcmode="lin" valueType="num">
                                      <p:cBhvr>
                                        <p:cTn id="32" dur="500" fill="hold"/>
                                        <p:tgtEl>
                                          <p:spTgt spid="71"/>
                                        </p:tgtEl>
                                        <p:attrNameLst>
                                          <p:attrName>ppt_w</p:attrName>
                                        </p:attrNameLst>
                                      </p:cBhvr>
                                      <p:tavLst>
                                        <p:tav tm="0">
                                          <p:val>
                                            <p:fltVal val="0"/>
                                          </p:val>
                                        </p:tav>
                                        <p:tav tm="100000">
                                          <p:val>
                                            <p:strVal val="#ppt_w"/>
                                          </p:val>
                                        </p:tav>
                                      </p:tavLst>
                                    </p:anim>
                                    <p:anim calcmode="lin" valueType="num">
                                      <p:cBhvr>
                                        <p:cTn id="33" dur="500" fill="hold"/>
                                        <p:tgtEl>
                                          <p:spTgt spid="71"/>
                                        </p:tgtEl>
                                        <p:attrNameLst>
                                          <p:attrName>ppt_h</p:attrName>
                                        </p:attrNameLst>
                                      </p:cBhvr>
                                      <p:tavLst>
                                        <p:tav tm="0">
                                          <p:val>
                                            <p:strVal val="#ppt_h"/>
                                          </p:val>
                                        </p:tav>
                                        <p:tav tm="100000">
                                          <p:val>
                                            <p:strVal val="#ppt_h"/>
                                          </p:val>
                                        </p:tav>
                                      </p:tavLst>
                                    </p:anim>
                                  </p:childTnLst>
                                </p:cTn>
                              </p:par>
                            </p:childTnLst>
                          </p:cTn>
                        </p:par>
                        <p:par>
                          <p:cTn id="34" fill="hold">
                            <p:stCondLst>
                              <p:cond delay="2500"/>
                            </p:stCondLst>
                            <p:childTnLst>
                              <p:par>
                                <p:cTn id="35" presetID="17" presetClass="entr" presetSubtype="8" fill="hold" nodeType="afterEffect">
                                  <p:stCondLst>
                                    <p:cond delay="0"/>
                                  </p:stCondLst>
                                  <p:childTnLst>
                                    <p:set>
                                      <p:cBhvr>
                                        <p:cTn id="36" dur="1" fill="hold">
                                          <p:stCondLst>
                                            <p:cond delay="0"/>
                                          </p:stCondLst>
                                        </p:cTn>
                                        <p:tgtEl>
                                          <p:spTgt spid="75"/>
                                        </p:tgtEl>
                                        <p:attrNameLst>
                                          <p:attrName>style.visibility</p:attrName>
                                        </p:attrNameLst>
                                      </p:cBhvr>
                                      <p:to>
                                        <p:strVal val="visible"/>
                                      </p:to>
                                    </p:set>
                                    <p:anim calcmode="lin" valueType="num">
                                      <p:cBhvr>
                                        <p:cTn id="37" dur="500" fill="hold"/>
                                        <p:tgtEl>
                                          <p:spTgt spid="75"/>
                                        </p:tgtEl>
                                        <p:attrNameLst>
                                          <p:attrName>ppt_x</p:attrName>
                                        </p:attrNameLst>
                                      </p:cBhvr>
                                      <p:tavLst>
                                        <p:tav tm="0">
                                          <p:val>
                                            <p:strVal val="#ppt_x-#ppt_w/2"/>
                                          </p:val>
                                        </p:tav>
                                        <p:tav tm="100000">
                                          <p:val>
                                            <p:strVal val="#ppt_x"/>
                                          </p:val>
                                        </p:tav>
                                      </p:tavLst>
                                    </p:anim>
                                    <p:anim calcmode="lin" valueType="num">
                                      <p:cBhvr>
                                        <p:cTn id="38" dur="500" fill="hold"/>
                                        <p:tgtEl>
                                          <p:spTgt spid="75"/>
                                        </p:tgtEl>
                                        <p:attrNameLst>
                                          <p:attrName>ppt_y</p:attrName>
                                        </p:attrNameLst>
                                      </p:cBhvr>
                                      <p:tavLst>
                                        <p:tav tm="0">
                                          <p:val>
                                            <p:strVal val="#ppt_y"/>
                                          </p:val>
                                        </p:tav>
                                        <p:tav tm="100000">
                                          <p:val>
                                            <p:strVal val="#ppt_y"/>
                                          </p:val>
                                        </p:tav>
                                      </p:tavLst>
                                    </p:anim>
                                    <p:anim calcmode="lin" valueType="num">
                                      <p:cBhvr>
                                        <p:cTn id="39" dur="500" fill="hold"/>
                                        <p:tgtEl>
                                          <p:spTgt spid="75"/>
                                        </p:tgtEl>
                                        <p:attrNameLst>
                                          <p:attrName>ppt_w</p:attrName>
                                        </p:attrNameLst>
                                      </p:cBhvr>
                                      <p:tavLst>
                                        <p:tav tm="0">
                                          <p:val>
                                            <p:fltVal val="0"/>
                                          </p:val>
                                        </p:tav>
                                        <p:tav tm="100000">
                                          <p:val>
                                            <p:strVal val="#ppt_w"/>
                                          </p:val>
                                        </p:tav>
                                      </p:tavLst>
                                    </p:anim>
                                    <p:anim calcmode="lin" valueType="num">
                                      <p:cBhvr>
                                        <p:cTn id="40" dur="500" fill="hold"/>
                                        <p:tgtEl>
                                          <p:spTgt spid="75"/>
                                        </p:tgtEl>
                                        <p:attrNameLst>
                                          <p:attrName>ppt_h</p:attrName>
                                        </p:attrNameLst>
                                      </p:cBhvr>
                                      <p:tavLst>
                                        <p:tav tm="0">
                                          <p:val>
                                            <p:strVal val="#ppt_h"/>
                                          </p:val>
                                        </p:tav>
                                        <p:tav tm="100000">
                                          <p:val>
                                            <p:strVal val="#ppt_h"/>
                                          </p:val>
                                        </p:tav>
                                      </p:tavLst>
                                    </p:anim>
                                  </p:childTnLst>
                                </p:cTn>
                              </p:par>
                            </p:childTnLst>
                          </p:cTn>
                        </p:par>
                        <p:par>
                          <p:cTn id="41" fill="hold">
                            <p:stCondLst>
                              <p:cond delay="3000"/>
                            </p:stCondLst>
                            <p:childTnLst>
                              <p:par>
                                <p:cTn id="42" presetID="17" presetClass="entr" presetSubtype="8" fill="hold"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ppt_x</p:attrName>
                                        </p:attrNameLst>
                                      </p:cBhvr>
                                      <p:tavLst>
                                        <p:tav tm="0">
                                          <p:val>
                                            <p:strVal val="#ppt_x-#ppt_w/2"/>
                                          </p:val>
                                        </p:tav>
                                        <p:tav tm="100000">
                                          <p:val>
                                            <p:strVal val="#ppt_x"/>
                                          </p:val>
                                        </p:tav>
                                      </p:tavLst>
                                    </p:anim>
                                    <p:anim calcmode="lin" valueType="num">
                                      <p:cBhvr>
                                        <p:cTn id="45" dur="500" fill="hold"/>
                                        <p:tgtEl>
                                          <p:spTgt spid="24"/>
                                        </p:tgtEl>
                                        <p:attrNameLst>
                                          <p:attrName>ppt_y</p:attrName>
                                        </p:attrNameLst>
                                      </p:cBhvr>
                                      <p:tavLst>
                                        <p:tav tm="0">
                                          <p:val>
                                            <p:strVal val="#ppt_y"/>
                                          </p:val>
                                        </p:tav>
                                        <p:tav tm="100000">
                                          <p:val>
                                            <p:strVal val="#ppt_y"/>
                                          </p:val>
                                        </p:tav>
                                      </p:tavLst>
                                    </p:anim>
                                    <p:anim calcmode="lin" valueType="num">
                                      <p:cBhvr>
                                        <p:cTn id="46" dur="500" fill="hold"/>
                                        <p:tgtEl>
                                          <p:spTgt spid="24"/>
                                        </p:tgtEl>
                                        <p:attrNameLst>
                                          <p:attrName>ppt_w</p:attrName>
                                        </p:attrNameLst>
                                      </p:cBhvr>
                                      <p:tavLst>
                                        <p:tav tm="0">
                                          <p:val>
                                            <p:fltVal val="0"/>
                                          </p:val>
                                        </p:tav>
                                        <p:tav tm="100000">
                                          <p:val>
                                            <p:strVal val="#ppt_w"/>
                                          </p:val>
                                        </p:tav>
                                      </p:tavLst>
                                    </p:anim>
                                    <p:anim calcmode="lin" valueType="num">
                                      <p:cBhvr>
                                        <p:cTn id="47" dur="500" fill="hold"/>
                                        <p:tgtEl>
                                          <p:spTgt spid="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占位符 48130"/>
          <p:cNvSpPr>
            <a:spLocks noGrp="1"/>
          </p:cNvSpPr>
          <p:nvPr>
            <p:ph idx="1"/>
          </p:nvPr>
        </p:nvSpPr>
        <p:spPr>
          <a:xfrm>
            <a:off x="950976" y="2732579"/>
            <a:ext cx="10290048" cy="2156554"/>
          </a:xfrm>
        </p:spPr>
        <p:txBody>
          <a:bodyPr anchor="t"/>
          <a:lstStyle/>
          <a:p>
            <a:pPr algn="just"/>
            <a:r>
              <a:rPr lang="en-US" altLang="zh-CN" dirty="0">
                <a:latin typeface="宋体" panose="02010600030101010101" pitchFamily="2" charset="-122"/>
              </a:rPr>
              <a:t>    </a:t>
            </a:r>
            <a:r>
              <a:rPr lang="zh-CN" altLang="en-US" dirty="0" smtClean="0">
                <a:latin typeface="宋体" panose="02010600030101010101" pitchFamily="2" charset="-122"/>
              </a:rPr>
              <a:t>有</a:t>
            </a:r>
            <a:r>
              <a:rPr lang="zh-CN" altLang="en-US" dirty="0">
                <a:latin typeface="宋体" panose="02010600030101010101" pitchFamily="2" charset="-122"/>
              </a:rPr>
              <a:t>许多文件参与系统中</a:t>
            </a:r>
            <a:r>
              <a:rPr lang="en-US" altLang="zh-CN" dirty="0"/>
              <a:t>TCP/IP</a:t>
            </a:r>
            <a:r>
              <a:rPr lang="zh-CN" altLang="en-US" dirty="0">
                <a:latin typeface="宋体" panose="02010600030101010101" pitchFamily="2" charset="-122"/>
              </a:rPr>
              <a:t>的配置和控制。研究这些文件的格式及其所控制的服务，对于理解它们自身存在的安全漏洞以及将来发现系统中可能存在的隐藏安全隐患，都是极为重要的。</a:t>
            </a:r>
            <a:r>
              <a:rPr lang="zh-CN" altLang="en-US" dirty="0"/>
              <a:t> </a:t>
            </a:r>
            <a:endParaRPr lang="zh-CN" altLang="en-US" dirty="0"/>
          </a:p>
        </p:txBody>
      </p:sp>
      <p:grpSp>
        <p:nvGrpSpPr>
          <p:cNvPr id="5" name="组合 4"/>
          <p:cNvGrpSpPr/>
          <p:nvPr/>
        </p:nvGrpSpPr>
        <p:grpSpPr>
          <a:xfrm>
            <a:off x="2656050" y="214209"/>
            <a:ext cx="7243854" cy="1109044"/>
            <a:chOff x="3279913" y="488294"/>
            <a:chExt cx="6806750" cy="1109044"/>
          </a:xfrm>
        </p:grpSpPr>
        <p:grpSp>
          <p:nvGrpSpPr>
            <p:cNvPr id="6" name="组合 5"/>
            <p:cNvGrpSpPr/>
            <p:nvPr/>
          </p:nvGrpSpPr>
          <p:grpSpPr>
            <a:xfrm>
              <a:off x="3279913" y="909457"/>
              <a:ext cx="6806750" cy="687881"/>
              <a:chOff x="3279913" y="909457"/>
              <a:chExt cx="6806750" cy="687881"/>
            </a:xfrm>
          </p:grpSpPr>
          <p:sp>
            <p:nvSpPr>
              <p:cNvPr id="160"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1" name="文本框 160"/>
              <p:cNvSpPr txBox="1"/>
              <p:nvPr/>
            </p:nvSpPr>
            <p:spPr>
              <a:xfrm>
                <a:off x="4648956" y="1032190"/>
                <a:ext cx="5437707" cy="535531"/>
              </a:xfrm>
              <a:prstGeom prst="rect">
                <a:avLst/>
              </a:prstGeom>
              <a:noFill/>
            </p:spPr>
            <p:txBody>
              <a:bodyPr wrap="none" rtlCol="0" anchor="t">
                <a:spAutoFit/>
              </a:bodyPr>
              <a:lstStyle/>
              <a:p>
                <a:pPr fontAlgn="base">
                  <a:lnSpc>
                    <a:spcPct val="90000"/>
                  </a:lnSpc>
                  <a:spcBef>
                    <a:spcPts val="1000"/>
                  </a:spcBef>
                  <a:spcAft>
                    <a:spcPct val="0"/>
                  </a:spcAft>
                  <a:defRPr/>
                </a:pPr>
                <a:r>
                  <a:rPr lang="en-US" altLang="zh-CN"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2.3 </a:t>
                </a:r>
                <a:r>
                  <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网络配置和网络访问</a:t>
                </a:r>
                <a:r>
                  <a:rPr lang="zh-CN" altLang="en-US" sz="32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文件</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7"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8"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8"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grpSp>
        <p:nvGrpSpPr>
          <p:cNvPr id="162" name="组合 161"/>
          <p:cNvGrpSpPr/>
          <p:nvPr/>
        </p:nvGrpSpPr>
        <p:grpSpPr>
          <a:xfrm>
            <a:off x="3984103" y="1632390"/>
            <a:ext cx="4223794" cy="791052"/>
            <a:chOff x="824072" y="1564267"/>
            <a:chExt cx="4223794" cy="791052"/>
          </a:xfrm>
        </p:grpSpPr>
        <p:sp>
          <p:nvSpPr>
            <p:cNvPr id="163" name="矩形: 圆角 28"/>
            <p:cNvSpPr/>
            <p:nvPr/>
          </p:nvSpPr>
          <p:spPr>
            <a:xfrm>
              <a:off x="824072" y="1740416"/>
              <a:ext cx="422379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矩形 163"/>
            <p:cNvSpPr/>
            <p:nvPr/>
          </p:nvSpPr>
          <p:spPr>
            <a:xfrm>
              <a:off x="1701522" y="1828091"/>
              <a:ext cx="3283271" cy="480131"/>
            </a:xfrm>
            <a:prstGeom prst="rect">
              <a:avLst/>
            </a:prstGeom>
          </p:spPr>
          <p:txBody>
            <a:bodyPr wrap="none">
              <a:spAutoFit/>
            </a:bodyPr>
            <a:lstStyle/>
            <a:p>
              <a:pPr>
                <a:lnSpc>
                  <a:spcPct val="90000"/>
                </a:lnSpc>
              </a:pPr>
              <a:r>
                <a:rPr lang="en-US" altLang="zh-CN" sz="2800" dirty="0">
                  <a:solidFill>
                    <a:schemeClr val="bg1"/>
                  </a:solidFill>
                  <a:latin typeface="+mj-ea"/>
                </a:rPr>
                <a:t>2.3.1 </a:t>
              </a:r>
              <a:r>
                <a:rPr lang="zh-CN" altLang="en-US" sz="2800" dirty="0">
                  <a:solidFill>
                    <a:schemeClr val="bg1"/>
                  </a:solidFill>
                  <a:latin typeface="+mj-ea"/>
                </a:rPr>
                <a:t>网络配置文件 </a:t>
              </a:r>
              <a:endParaRPr lang="zh-CN" altLang="en-US" sz="2800" dirty="0">
                <a:solidFill>
                  <a:schemeClr val="bg1"/>
                </a:solidFill>
                <a:latin typeface="+mj-ea"/>
                <a:ea typeface="+mj-ea"/>
              </a:endParaRPr>
            </a:p>
          </p:txBody>
        </p:sp>
        <p:pic>
          <p:nvPicPr>
            <p:cNvPr id="165" name="图片 164"/>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p:cTn id="8" dur="650" fill="hold"/>
                                        <p:tgtEl>
                                          <p:spTgt spid="5"/>
                                        </p:tgtEl>
                                        <p:attrNameLst>
                                          <p:attrName>ppt_x</p:attrName>
                                        </p:attrNameLst>
                                      </p:cBhvr>
                                      <p:tavLst>
                                        <p:tav tm="0">
                                          <p:val>
                                            <p:strVal val="#ppt_x"/>
                                          </p:val>
                                        </p:tav>
                                        <p:tav tm="100000">
                                          <p:val>
                                            <p:strVal val="#ppt_x"/>
                                          </p:val>
                                        </p:tav>
                                      </p:tavLst>
                                    </p:anim>
                                    <p:anim calcmode="lin" valueType="num">
                                      <p:cBhvr>
                                        <p:cTn id="9" dur="6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1241393" y="3254189"/>
            <a:ext cx="6174950" cy="484094"/>
          </a:xfrm>
          <a:prstGeom prst="roundRect">
            <a:avLst/>
          </a:prstGeom>
          <a:solidFill>
            <a:srgbClr val="FFFFFF">
              <a:alpha val="6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178" name="文本占位符 49154"/>
          <p:cNvSpPr>
            <a:spLocks noGrp="1"/>
          </p:cNvSpPr>
          <p:nvPr>
            <p:ph idx="1"/>
          </p:nvPr>
        </p:nvSpPr>
        <p:spPr>
          <a:xfrm>
            <a:off x="1316140" y="2014509"/>
            <a:ext cx="10102993" cy="4161481"/>
          </a:xfrm>
        </p:spPr>
        <p:txBody>
          <a:bodyPr anchor="t"/>
          <a:lstStyle/>
          <a:p>
            <a:r>
              <a:rPr lang="en-US" altLang="zh-CN" b="1" dirty="0"/>
              <a:t>/</a:t>
            </a:r>
            <a:r>
              <a:rPr lang="en-US" altLang="zh-CN" b="1" dirty="0" err="1"/>
              <a:t>etc</a:t>
            </a:r>
            <a:r>
              <a:rPr lang="en-US" altLang="zh-CN" b="1" dirty="0"/>
              <a:t>/hosts</a:t>
            </a:r>
            <a:r>
              <a:rPr lang="zh-CN" altLang="en-US" dirty="0">
                <a:latin typeface="宋体" panose="02010600030101010101" pitchFamily="2" charset="-122"/>
              </a:rPr>
              <a:t>文件提供了一种简单的从主机名到</a:t>
            </a:r>
            <a:r>
              <a:rPr lang="en-US" altLang="zh-CN" dirty="0"/>
              <a:t>IP</a:t>
            </a:r>
            <a:r>
              <a:rPr lang="zh-CN" altLang="en-US" dirty="0">
                <a:latin typeface="宋体" panose="02010600030101010101" pitchFamily="2" charset="-122"/>
              </a:rPr>
              <a:t>地址的转换。</a:t>
            </a:r>
            <a:r>
              <a:rPr lang="zh-CN" altLang="en-US" dirty="0"/>
              <a:t> </a:t>
            </a:r>
            <a:endParaRPr lang="zh-CN" altLang="en-US" dirty="0"/>
          </a:p>
          <a:p>
            <a:pPr algn="just"/>
            <a:r>
              <a:rPr lang="en-US" altLang="zh-CN" dirty="0"/>
              <a:t>/etc/hosts</a:t>
            </a:r>
            <a:r>
              <a:rPr lang="zh-CN" altLang="en-US" dirty="0"/>
              <a:t>文件的格式是：</a:t>
            </a:r>
            <a:endParaRPr lang="zh-CN" altLang="en-US" dirty="0"/>
          </a:p>
          <a:p>
            <a:pPr algn="just"/>
            <a:r>
              <a:rPr lang="en-US" altLang="zh-CN" dirty="0">
                <a:solidFill>
                  <a:schemeClr val="folHlink"/>
                </a:solidFill>
              </a:rPr>
              <a:t>Address     FQDN     Alias      #Comment</a:t>
            </a:r>
            <a:endParaRPr lang="en-US" altLang="zh-CN" dirty="0">
              <a:solidFill>
                <a:schemeClr val="folHlink"/>
              </a:solidFill>
            </a:endParaRPr>
          </a:p>
          <a:p>
            <a:r>
              <a:rPr lang="zh-CN" altLang="en-US" dirty="0">
                <a:latin typeface="宋体" panose="02010600030101010101" pitchFamily="2" charset="-122"/>
              </a:rPr>
              <a:t>它们分别</a:t>
            </a:r>
            <a:r>
              <a:rPr lang="zh-CN" altLang="en-US" dirty="0" smtClean="0">
                <a:latin typeface="宋体" panose="02010600030101010101" pitchFamily="2" charset="-122"/>
              </a:rPr>
              <a:t>是</a:t>
            </a:r>
            <a:r>
              <a:rPr lang="en-US" altLang="zh-CN" dirty="0" smtClean="0">
                <a:latin typeface="宋体" panose="02010600030101010101" pitchFamily="2" charset="-122"/>
              </a:rPr>
              <a:t>IP</a:t>
            </a:r>
            <a:r>
              <a:rPr lang="zh-CN" altLang="en-US" dirty="0" smtClean="0">
                <a:latin typeface="宋体" panose="02010600030101010101" pitchFamily="2" charset="-122"/>
              </a:rPr>
              <a:t>地址、规范</a:t>
            </a:r>
            <a:r>
              <a:rPr lang="zh-CN" altLang="en-US" dirty="0">
                <a:latin typeface="宋体" panose="02010600030101010101" pitchFamily="2" charset="-122"/>
              </a:rPr>
              <a:t>的域名、别名和注释。</a:t>
            </a:r>
            <a:r>
              <a:rPr lang="zh-CN" altLang="en-US" dirty="0"/>
              <a:t>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703945"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/hosts</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931835" y="4760259"/>
            <a:ext cx="5858930" cy="484094"/>
          </a:xfrm>
          <a:prstGeom prst="roundRect">
            <a:avLst/>
          </a:prstGeom>
          <a:solidFill>
            <a:srgbClr val="FFFFFF">
              <a:alpha val="58824"/>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202" name="文本占位符 50178"/>
          <p:cNvSpPr>
            <a:spLocks noGrp="1"/>
          </p:cNvSpPr>
          <p:nvPr>
            <p:ph idx="1"/>
          </p:nvPr>
        </p:nvSpPr>
        <p:spPr>
          <a:xfrm>
            <a:off x="1057475" y="1664128"/>
            <a:ext cx="10057829" cy="4071647"/>
          </a:xfrm>
        </p:spPr>
        <p:txBody>
          <a:bodyPr anchor="t"/>
          <a:lstStyle/>
          <a:p>
            <a:pPr algn="just"/>
            <a:r>
              <a:rPr lang="en-US" altLang="zh-CN" sz="2800" dirty="0"/>
              <a:t>       </a:t>
            </a:r>
            <a:r>
              <a:rPr lang="zh-CN" altLang="en-US" sz="2800" dirty="0" smtClean="0"/>
              <a:t>主机</a:t>
            </a:r>
            <a:r>
              <a:rPr lang="zh-CN" altLang="en-US" sz="2800" dirty="0"/>
              <a:t>在局域网中通信时，</a:t>
            </a:r>
            <a:r>
              <a:rPr lang="en-US" altLang="zh-CN" sz="2800" dirty="0"/>
              <a:t>TCP/IP</a:t>
            </a:r>
            <a:r>
              <a:rPr lang="zh-CN" altLang="en-US" sz="2800" dirty="0"/>
              <a:t>必须将主机的</a:t>
            </a:r>
            <a:r>
              <a:rPr lang="en-US" altLang="zh-CN" sz="2800" dirty="0"/>
              <a:t>IP</a:t>
            </a:r>
            <a:r>
              <a:rPr lang="zh-CN" altLang="en-US" sz="2800" dirty="0"/>
              <a:t>地址转换为以太网地址，即主机的网卡地址（也称为</a:t>
            </a:r>
            <a:r>
              <a:rPr lang="en-US" altLang="zh-CN" sz="2800" dirty="0"/>
              <a:t>MAC</a:t>
            </a:r>
            <a:r>
              <a:rPr lang="zh-CN" altLang="en-US" sz="2800" dirty="0"/>
              <a:t>地址）。这项工作可以由</a:t>
            </a:r>
            <a:r>
              <a:rPr lang="zh-CN" altLang="en-US" sz="2800" b="1" dirty="0"/>
              <a:t>地址解析协议</a:t>
            </a:r>
            <a:r>
              <a:rPr lang="en-US" altLang="zh-CN" sz="2800" b="1" dirty="0"/>
              <a:t>ARP</a:t>
            </a:r>
            <a:r>
              <a:rPr lang="zh-CN" altLang="en-US" sz="2800" dirty="0"/>
              <a:t>完成；也可以通过查寻在</a:t>
            </a:r>
            <a:r>
              <a:rPr lang="en-US" altLang="zh-CN" sz="2800" dirty="0"/>
              <a:t>/etc/ethers</a:t>
            </a:r>
            <a:r>
              <a:rPr lang="zh-CN" altLang="en-US" sz="2800" dirty="0"/>
              <a:t>文件中所有主机的以太网地址列表实现。</a:t>
            </a:r>
            <a:endParaRPr lang="zh-CN" altLang="en-US" sz="2800" dirty="0"/>
          </a:p>
          <a:p>
            <a:pPr algn="just"/>
            <a:r>
              <a:rPr lang="en-US" altLang="zh-CN" sz="2800" dirty="0"/>
              <a:t>/etc/ethers</a:t>
            </a:r>
            <a:r>
              <a:rPr lang="zh-CN" altLang="en-US" sz="2800" dirty="0"/>
              <a:t>文件的格式是：</a:t>
            </a:r>
            <a:endParaRPr lang="zh-CN" altLang="en-US" sz="2800" dirty="0"/>
          </a:p>
          <a:p>
            <a:r>
              <a:rPr lang="en-US" altLang="zh-CN" sz="2800" dirty="0">
                <a:solidFill>
                  <a:schemeClr val="folHlink"/>
                </a:solidFill>
              </a:rPr>
              <a:t>Ethernet  Address        Hostname</a:t>
            </a:r>
            <a:r>
              <a:rPr lang="en-US" altLang="zh-CN" sz="2800" dirty="0"/>
              <a:t> </a:t>
            </a:r>
            <a:endParaRPr lang="en-US" altLang="zh-CN" sz="2800"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888996"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/ethers</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1057475" y="3402106"/>
            <a:ext cx="5383666" cy="484094"/>
          </a:xfrm>
          <a:prstGeom prst="roundRect">
            <a:avLst/>
          </a:prstGeom>
          <a:solidFill>
            <a:srgbClr val="FFFFFF">
              <a:alpha val="58824"/>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226" name="文本占位符 51202"/>
          <p:cNvSpPr>
            <a:spLocks noGrp="1"/>
          </p:cNvSpPr>
          <p:nvPr>
            <p:ph idx="1"/>
          </p:nvPr>
        </p:nvSpPr>
        <p:spPr>
          <a:xfrm>
            <a:off x="1217251" y="1687879"/>
            <a:ext cx="9898053" cy="3632260"/>
          </a:xfrm>
        </p:spPr>
        <p:txBody>
          <a:bodyPr anchor="t"/>
          <a:lstStyle/>
          <a:p>
            <a:pPr algn="just"/>
            <a:r>
              <a:rPr lang="en-US" altLang="zh-CN" dirty="0"/>
              <a:t>       </a:t>
            </a:r>
            <a:r>
              <a:rPr lang="zh-CN" altLang="en-US" dirty="0" smtClean="0"/>
              <a:t>该</a:t>
            </a:r>
            <a:r>
              <a:rPr lang="zh-CN" altLang="en-US" dirty="0"/>
              <a:t>文件提供一个</a:t>
            </a:r>
            <a:r>
              <a:rPr lang="en-US" altLang="zh-CN" dirty="0"/>
              <a:t>Internet</a:t>
            </a:r>
            <a:r>
              <a:rPr lang="zh-CN" altLang="en-US" dirty="0"/>
              <a:t>上网络的名字及其</a:t>
            </a:r>
            <a:r>
              <a:rPr lang="en-US" altLang="zh-CN" dirty="0"/>
              <a:t>IP</a:t>
            </a:r>
            <a:r>
              <a:rPr lang="zh-CN" altLang="en-US" dirty="0"/>
              <a:t>地址。文件中的每一行都提供一个特定网络的信息。</a:t>
            </a:r>
            <a:endParaRPr lang="zh-CN" altLang="en-US" dirty="0"/>
          </a:p>
          <a:p>
            <a:pPr algn="just"/>
            <a:r>
              <a:rPr lang="en-US" altLang="zh-CN" dirty="0"/>
              <a:t>/etc/networks</a:t>
            </a:r>
            <a:r>
              <a:rPr lang="zh-CN" altLang="en-US" dirty="0"/>
              <a:t>文件的格式是：</a:t>
            </a:r>
            <a:endParaRPr lang="zh-CN" altLang="en-US" dirty="0"/>
          </a:p>
          <a:p>
            <a:pPr algn="just"/>
            <a:r>
              <a:rPr lang="en-US" altLang="zh-CN" dirty="0">
                <a:solidFill>
                  <a:schemeClr val="folHlink"/>
                </a:solidFill>
              </a:rPr>
              <a:t>Network Name         IP Address</a:t>
            </a:r>
            <a:endParaRPr lang="en-US" altLang="zh-CN" dirty="0">
              <a:solidFill>
                <a:schemeClr val="folHlink"/>
              </a:solidFill>
            </a:endParaRPr>
          </a:p>
          <a:p>
            <a:r>
              <a:rPr lang="zh-CN" altLang="en-US" dirty="0">
                <a:latin typeface="宋体" panose="02010600030101010101" pitchFamily="2" charset="-122"/>
              </a:rPr>
              <a:t>它们分别是网络名字和</a:t>
            </a:r>
            <a:r>
              <a:rPr lang="en-US" altLang="zh-CN" dirty="0"/>
              <a:t>IP</a:t>
            </a:r>
            <a:r>
              <a:rPr lang="zh-CN" altLang="en-US" dirty="0">
                <a:latin typeface="宋体" panose="02010600030101010101" pitchFamily="2" charset="-122"/>
              </a:rPr>
              <a:t>地址。</a:t>
            </a:r>
            <a:r>
              <a:rPr lang="zh-CN" altLang="en-US" dirty="0"/>
              <a:t>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540777"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/networks</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 </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占位符 52226"/>
          <p:cNvSpPr>
            <a:spLocks noGrp="1"/>
          </p:cNvSpPr>
          <p:nvPr>
            <p:ph idx="1"/>
          </p:nvPr>
        </p:nvSpPr>
        <p:spPr>
          <a:xfrm>
            <a:off x="1217251" y="1747259"/>
            <a:ext cx="9874302" cy="2729735"/>
          </a:xfrm>
        </p:spPr>
        <p:txBody>
          <a:bodyPr anchor="t"/>
          <a:lstStyle/>
          <a:p>
            <a:r>
              <a:rPr lang="en-US" altLang="zh-CN" dirty="0">
                <a:latin typeface="宋体" panose="02010600030101010101" pitchFamily="2" charset="-122"/>
              </a:rPr>
              <a:t>    </a:t>
            </a:r>
            <a:r>
              <a:rPr lang="zh-CN" altLang="en-US" dirty="0" smtClean="0">
                <a:latin typeface="宋体" panose="02010600030101010101" pitchFamily="2" charset="-122"/>
              </a:rPr>
              <a:t>该</a:t>
            </a:r>
            <a:r>
              <a:rPr lang="zh-CN" altLang="en-US" dirty="0">
                <a:latin typeface="宋体" panose="02010600030101010101" pitchFamily="2" charset="-122"/>
              </a:rPr>
              <a:t>文件是由</a:t>
            </a:r>
            <a:r>
              <a:rPr lang="en-US" altLang="zh-CN" b="1" dirty="0"/>
              <a:t>DDN</a:t>
            </a:r>
            <a:r>
              <a:rPr lang="en-US" altLang="zh-CN" dirty="0"/>
              <a:t>(Defense Data Network)</a:t>
            </a:r>
            <a:r>
              <a:rPr lang="zh-CN" altLang="en-US" dirty="0">
                <a:latin typeface="宋体" panose="02010600030101010101" pitchFamily="2" charset="-122"/>
              </a:rPr>
              <a:t>的</a:t>
            </a:r>
            <a:r>
              <a:rPr lang="en-US" altLang="zh-CN" b="1" dirty="0"/>
              <a:t>NIC</a:t>
            </a:r>
            <a:r>
              <a:rPr lang="en-US" altLang="zh-CN" dirty="0"/>
              <a:t>(Network Information Center)</a:t>
            </a:r>
            <a:r>
              <a:rPr lang="zh-CN" altLang="en-US" dirty="0">
                <a:latin typeface="宋体" panose="02010600030101010101" pitchFamily="2" charset="-122"/>
              </a:rPr>
              <a:t>提供的已知</a:t>
            </a:r>
            <a:r>
              <a:rPr lang="en-US" altLang="zh-CN" dirty="0"/>
              <a:t>Internet</a:t>
            </a:r>
            <a:r>
              <a:rPr lang="zh-CN" altLang="en-US" dirty="0">
                <a:latin typeface="宋体" panose="02010600030101010101" pitchFamily="2" charset="-122"/>
              </a:rPr>
              <a:t>协议列表，它不能被修改。</a:t>
            </a:r>
            <a:r>
              <a:rPr lang="en-US" altLang="zh-CN" dirty="0"/>
              <a:t>/</a:t>
            </a:r>
            <a:r>
              <a:rPr lang="en-US" altLang="zh-CN" dirty="0" err="1"/>
              <a:t>etc</a:t>
            </a:r>
            <a:r>
              <a:rPr lang="en-US" altLang="zh-CN" dirty="0"/>
              <a:t>/protocols</a:t>
            </a:r>
            <a:r>
              <a:rPr lang="zh-CN" altLang="en-US" dirty="0">
                <a:latin typeface="宋体" panose="02010600030101010101" pitchFamily="2" charset="-122"/>
              </a:rPr>
              <a:t>文件的每一行都包括协议名、协议号、协议的别名和注释。</a:t>
            </a:r>
            <a:r>
              <a:rPr lang="zh-CN" altLang="en-US" dirty="0"/>
              <a:t>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436582" cy="523220"/>
            </a:xfrm>
            <a:prstGeom prst="rect">
              <a:avLst/>
            </a:prstGeom>
          </p:spPr>
          <p:txBody>
            <a:bodyPr wrap="none">
              <a:spAutoFit/>
            </a:bodyPr>
            <a:lstStyle/>
            <a:p>
              <a:pPr fontAlgn="base">
                <a:spcAft>
                  <a:spcPct val="0"/>
                </a:spcAft>
                <a:defRPr/>
              </a:pPr>
              <a:r>
                <a:rPr lang="en-US" altLang="zh-CN"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/protocols</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1057474" y="4316506"/>
            <a:ext cx="10090137" cy="484094"/>
          </a:xfrm>
          <a:prstGeom prst="roundRect">
            <a:avLst/>
          </a:prstGeom>
          <a:solidFill>
            <a:srgbClr val="FFFFFF">
              <a:alpha val="58824"/>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74" name="文本占位符 53250"/>
          <p:cNvSpPr>
            <a:spLocks noGrp="1"/>
          </p:cNvSpPr>
          <p:nvPr>
            <p:ph idx="1"/>
          </p:nvPr>
        </p:nvSpPr>
        <p:spPr>
          <a:xfrm>
            <a:off x="1267968" y="1680353"/>
            <a:ext cx="9729216" cy="3865418"/>
          </a:xfrm>
        </p:spPr>
        <p:txBody>
          <a:bodyPr anchor="t"/>
          <a:lstStyle/>
          <a:p>
            <a:pPr algn="just"/>
            <a:r>
              <a:rPr lang="en-US" altLang="zh-CN" dirty="0"/>
              <a:t>/</a:t>
            </a:r>
            <a:r>
              <a:rPr lang="en-US" altLang="zh-CN" dirty="0" err="1"/>
              <a:t>etc</a:t>
            </a:r>
            <a:r>
              <a:rPr lang="en-US" altLang="zh-CN" dirty="0"/>
              <a:t>/services</a:t>
            </a:r>
            <a:r>
              <a:rPr lang="zh-CN" altLang="en-US" dirty="0">
                <a:latin typeface="宋体" panose="02010600030101010101" pitchFamily="2" charset="-122"/>
              </a:rPr>
              <a:t>文件根据</a:t>
            </a:r>
            <a:r>
              <a:rPr lang="en-US" altLang="zh-CN" dirty="0"/>
              <a:t>/</a:t>
            </a:r>
            <a:r>
              <a:rPr lang="en-US" altLang="zh-CN" dirty="0" err="1"/>
              <a:t>etc</a:t>
            </a:r>
            <a:r>
              <a:rPr lang="en-US" altLang="zh-CN" dirty="0"/>
              <a:t>/protocols</a:t>
            </a:r>
            <a:r>
              <a:rPr lang="zh-CN" altLang="en-US" dirty="0">
                <a:latin typeface="宋体" panose="02010600030101010101" pitchFamily="2" charset="-122"/>
              </a:rPr>
              <a:t>文件的信息，提供了主机可以使用的服务列表。如果某项服务无法使用，或者用户不想提供对某项服务的支持，就可以在这个文件中使用注释符号“</a:t>
            </a:r>
            <a:r>
              <a:rPr lang="en-US" altLang="zh-CN" dirty="0"/>
              <a:t>#</a:t>
            </a:r>
            <a:r>
              <a:rPr lang="en-US" altLang="zh-CN" dirty="0">
                <a:latin typeface="宋体" panose="02010600030101010101" pitchFamily="2" charset="-122"/>
              </a:rPr>
              <a:t>”</a:t>
            </a:r>
            <a:r>
              <a:rPr lang="zh-CN" altLang="en-US" dirty="0">
                <a:latin typeface="宋体" panose="02010600030101010101" pitchFamily="2" charset="-122"/>
              </a:rPr>
              <a:t>把相应的行注释掉即可。</a:t>
            </a:r>
            <a:r>
              <a:rPr lang="zh-CN" altLang="en-US" dirty="0"/>
              <a:t> </a:t>
            </a:r>
            <a:endParaRPr lang="zh-CN" altLang="en-US" dirty="0"/>
          </a:p>
          <a:p>
            <a:pPr algn="just"/>
            <a:r>
              <a:rPr lang="en-US" altLang="zh-CN" dirty="0"/>
              <a:t>/etc/services</a:t>
            </a:r>
            <a:r>
              <a:rPr lang="zh-CN" altLang="en-US" dirty="0"/>
              <a:t>文件的格式是：</a:t>
            </a:r>
            <a:endParaRPr lang="zh-CN" altLang="en-US" dirty="0"/>
          </a:p>
          <a:p>
            <a:r>
              <a:rPr lang="en-US" altLang="zh-CN" dirty="0">
                <a:solidFill>
                  <a:schemeClr val="folHlink"/>
                </a:solidFill>
              </a:rPr>
              <a:t>Official Service Name       Port Number   Protocol Name        Alias</a:t>
            </a:r>
            <a:r>
              <a:rPr lang="en-US" altLang="zh-CN" dirty="0"/>
              <a:t> </a:t>
            </a:r>
            <a:endParaRPr lang="en-US" altLang="zh-CN"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205558"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/services</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307644"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5</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占位符 54274"/>
          <p:cNvSpPr>
            <a:spLocks noGrp="1"/>
          </p:cNvSpPr>
          <p:nvPr>
            <p:ph idx="1"/>
          </p:nvPr>
        </p:nvSpPr>
        <p:spPr>
          <a:xfrm>
            <a:off x="1229126" y="1664126"/>
            <a:ext cx="9874303" cy="2599106"/>
          </a:xfrm>
        </p:spPr>
        <p:txBody>
          <a:bodyPr anchor="t"/>
          <a:lstStyle/>
          <a:p>
            <a:r>
              <a:rPr lang="en-US" altLang="zh-CN" dirty="0">
                <a:latin typeface="宋体" panose="02010600030101010101" pitchFamily="2" charset="-122"/>
              </a:rPr>
              <a:t>    </a:t>
            </a:r>
            <a:r>
              <a:rPr lang="zh-CN" altLang="en-US" dirty="0" smtClean="0">
                <a:latin typeface="宋体" panose="02010600030101010101" pitchFamily="2" charset="-122"/>
              </a:rPr>
              <a:t>该</a:t>
            </a:r>
            <a:r>
              <a:rPr lang="zh-CN" altLang="en-US" dirty="0">
                <a:latin typeface="宋体" panose="02010600030101010101" pitchFamily="2" charset="-122"/>
              </a:rPr>
              <a:t>文件用来为</a:t>
            </a:r>
            <a:r>
              <a:rPr lang="en-US" altLang="zh-CN" dirty="0" err="1"/>
              <a:t>inetd</a:t>
            </a:r>
            <a:r>
              <a:rPr lang="zh-CN" altLang="en-US" dirty="0">
                <a:latin typeface="宋体" panose="02010600030101010101" pitchFamily="2" charset="-122"/>
              </a:rPr>
              <a:t>守护程序提供信息</a:t>
            </a:r>
            <a:r>
              <a:rPr lang="zh-CN" altLang="en-US" dirty="0" smtClean="0">
                <a:latin typeface="宋体" panose="02010600030101010101" pitchFamily="2" charset="-122"/>
              </a:rPr>
              <a:t>。</a:t>
            </a:r>
            <a:r>
              <a:rPr lang="en-US" altLang="zh-CN" dirty="0" err="1"/>
              <a:t>i</a:t>
            </a:r>
            <a:r>
              <a:rPr lang="en-US" altLang="zh-CN" dirty="0" err="1" smtClean="0"/>
              <a:t>netd</a:t>
            </a:r>
            <a:r>
              <a:rPr lang="zh-CN" altLang="en-US" dirty="0">
                <a:latin typeface="宋体" panose="02010600030101010101" pitchFamily="2" charset="-122"/>
              </a:rPr>
              <a:t>是</a:t>
            </a:r>
            <a:r>
              <a:rPr lang="en-US" altLang="zh-CN" dirty="0"/>
              <a:t>Internet</a:t>
            </a:r>
            <a:r>
              <a:rPr lang="zh-CN" altLang="en-US" dirty="0">
                <a:latin typeface="宋体" panose="02010600030101010101" pitchFamily="2" charset="-122"/>
              </a:rPr>
              <a:t>超级服务器，它监听</a:t>
            </a:r>
            <a:r>
              <a:rPr lang="en-US" altLang="zh-CN" dirty="0"/>
              <a:t>TCP/IP</a:t>
            </a:r>
            <a:r>
              <a:rPr lang="zh-CN" altLang="en-US" dirty="0">
                <a:latin typeface="宋体" panose="02010600030101010101" pitchFamily="2" charset="-122"/>
              </a:rPr>
              <a:t>的一个特定的端口，并且在这个端口上有连接请求时启动相应的服务进程。只是在需要时才启动服务进程（守护程序）的服务方式，可以节省系统资源。</a:t>
            </a:r>
            <a:r>
              <a:rPr lang="zh-CN" altLang="en-US" dirty="0"/>
              <a:t> </a:t>
            </a:r>
            <a:endParaRPr lang="zh-CN" altLang="en-US"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589829"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inetd.conf</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6</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文本占位符 55298"/>
          <p:cNvSpPr>
            <a:spLocks noGrp="1"/>
          </p:cNvSpPr>
          <p:nvPr>
            <p:ph idx="1"/>
          </p:nvPr>
        </p:nvSpPr>
        <p:spPr>
          <a:xfrm>
            <a:off x="1187533" y="1414751"/>
            <a:ext cx="9856520" cy="2884114"/>
          </a:xfrm>
        </p:spPr>
        <p:txBody>
          <a:bodyPr anchor="t"/>
          <a:lstStyle/>
          <a:p>
            <a:r>
              <a:rPr lang="en-US" altLang="zh-CN" dirty="0"/>
              <a:t>       </a:t>
            </a:r>
            <a:r>
              <a:rPr lang="en-US" altLang="zh-CN" dirty="0" smtClean="0"/>
              <a:t>/</a:t>
            </a:r>
            <a:r>
              <a:rPr lang="en-US" altLang="zh-CN" dirty="0" err="1"/>
              <a:t>etc</a:t>
            </a:r>
            <a:r>
              <a:rPr lang="en-US" altLang="zh-CN" dirty="0"/>
              <a:t>/</a:t>
            </a:r>
            <a:r>
              <a:rPr lang="en-US" altLang="zh-CN" dirty="0" err="1"/>
              <a:t>hosts.equiv</a:t>
            </a:r>
            <a:r>
              <a:rPr lang="zh-CN" altLang="en-US" dirty="0">
                <a:latin typeface="宋体" panose="02010600030101010101" pitchFamily="2" charset="-122"/>
              </a:rPr>
              <a:t>文件和</a:t>
            </a:r>
            <a:r>
              <a:rPr lang="en-US" altLang="zh-CN" dirty="0"/>
              <a:t>.</a:t>
            </a:r>
            <a:r>
              <a:rPr lang="en-US" altLang="zh-CN" dirty="0" err="1"/>
              <a:t>rhosts</a:t>
            </a:r>
            <a:r>
              <a:rPr lang="zh-CN" altLang="en-US" dirty="0">
                <a:latin typeface="宋体" panose="02010600030101010101" pitchFamily="2" charset="-122"/>
              </a:rPr>
              <a:t>文件分别用来提供主机间的等价和用户之间的等价，因此这两个文件不仅规定了网络上主机间的访问控制，而且对系统的安全具有非常重要的影响。</a:t>
            </a:r>
            <a:r>
              <a:rPr lang="zh-CN" altLang="en-US" dirty="0"/>
              <a:t> </a:t>
            </a:r>
            <a:endParaRPr lang="zh-CN" altLang="en-US" dirty="0"/>
          </a:p>
        </p:txBody>
      </p:sp>
      <p:grpSp>
        <p:nvGrpSpPr>
          <p:cNvPr id="4" name="组合 3"/>
          <p:cNvGrpSpPr/>
          <p:nvPr/>
        </p:nvGrpSpPr>
        <p:grpSpPr>
          <a:xfrm>
            <a:off x="4015639" y="379398"/>
            <a:ext cx="4160722" cy="791052"/>
            <a:chOff x="824071" y="1564267"/>
            <a:chExt cx="4160722" cy="791052"/>
          </a:xfrm>
        </p:grpSpPr>
        <p:sp>
          <p:nvSpPr>
            <p:cNvPr id="5" name="矩形: 圆角 28"/>
            <p:cNvSpPr/>
            <p:nvPr/>
          </p:nvSpPr>
          <p:spPr>
            <a:xfrm>
              <a:off x="824071" y="1740416"/>
              <a:ext cx="416072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283271" cy="480131"/>
            </a:xfrm>
            <a:prstGeom prst="rect">
              <a:avLst/>
            </a:prstGeom>
          </p:spPr>
          <p:txBody>
            <a:bodyPr wrap="none">
              <a:spAutoFit/>
            </a:bodyPr>
            <a:lstStyle/>
            <a:p>
              <a:pPr>
                <a:lnSpc>
                  <a:spcPct val="90000"/>
                </a:lnSpc>
              </a:pPr>
              <a:r>
                <a:rPr lang="en-US" altLang="zh-CN" sz="2800" dirty="0">
                  <a:solidFill>
                    <a:schemeClr val="bg1"/>
                  </a:solidFill>
                  <a:latin typeface="+mj-ea"/>
                </a:rPr>
                <a:t>2.3.2 </a:t>
              </a:r>
              <a:r>
                <a:rPr lang="zh-CN" altLang="en-US" sz="2800" dirty="0">
                  <a:solidFill>
                    <a:schemeClr val="bg1"/>
                  </a:solidFill>
                  <a:latin typeface="+mj-ea"/>
                </a:rPr>
                <a:t>网络访问文件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占位符 56322"/>
          <p:cNvSpPr>
            <a:spLocks noGrp="1"/>
          </p:cNvSpPr>
          <p:nvPr>
            <p:ph idx="1"/>
          </p:nvPr>
        </p:nvSpPr>
        <p:spPr>
          <a:xfrm>
            <a:off x="1217251" y="1723512"/>
            <a:ext cx="9826801" cy="2610982"/>
          </a:xfrm>
        </p:spPr>
        <p:txBody>
          <a:bodyPr anchor="t"/>
          <a:lstStyle/>
          <a:p>
            <a:r>
              <a:rPr lang="en-US" altLang="zh-CN" dirty="0"/>
              <a:t>       </a:t>
            </a:r>
            <a:r>
              <a:rPr lang="en-US" altLang="zh-CN" dirty="0" smtClean="0"/>
              <a:t>/</a:t>
            </a:r>
            <a:r>
              <a:rPr lang="en-US" altLang="zh-CN" dirty="0" err="1"/>
              <a:t>etc</a:t>
            </a:r>
            <a:r>
              <a:rPr lang="en-US" altLang="zh-CN" dirty="0"/>
              <a:t>/</a:t>
            </a:r>
            <a:r>
              <a:rPr lang="en-US" altLang="zh-CN" dirty="0" err="1"/>
              <a:t>hosts.equiv</a:t>
            </a:r>
            <a:r>
              <a:rPr lang="zh-CN" altLang="en-US" dirty="0">
                <a:latin typeface="宋体" panose="02010600030101010101" pitchFamily="2" charset="-122"/>
              </a:rPr>
              <a:t>文件包含一个</a:t>
            </a:r>
            <a:r>
              <a:rPr lang="zh-CN" altLang="en-US" dirty="0">
                <a:solidFill>
                  <a:srgbClr val="00B0F0"/>
                </a:solidFill>
              </a:rPr>
              <a:t>可信任主机的列表</a:t>
            </a:r>
            <a:r>
              <a:rPr lang="zh-CN" altLang="en-US" dirty="0">
                <a:latin typeface="宋体" panose="02010600030101010101" pitchFamily="2" charset="-122"/>
              </a:rPr>
              <a:t>。系统管理员通过对</a:t>
            </a:r>
            <a:r>
              <a:rPr lang="en-US" altLang="zh-CN" dirty="0"/>
              <a:t>/</a:t>
            </a:r>
            <a:r>
              <a:rPr lang="en-US" altLang="zh-CN" dirty="0" err="1"/>
              <a:t>etc</a:t>
            </a:r>
            <a:r>
              <a:rPr lang="en-US" altLang="zh-CN" dirty="0"/>
              <a:t>/</a:t>
            </a:r>
            <a:r>
              <a:rPr lang="en-US" altLang="zh-CN" dirty="0" err="1"/>
              <a:t>hosts.equiv</a:t>
            </a:r>
            <a:r>
              <a:rPr lang="zh-CN" altLang="en-US" dirty="0">
                <a:latin typeface="宋体" panose="02010600030101010101" pitchFamily="2" charset="-122"/>
              </a:rPr>
              <a:t>文件的配置，规定了</a:t>
            </a:r>
            <a:r>
              <a:rPr lang="zh-CN" altLang="en-US" b="1" dirty="0">
                <a:latin typeface="宋体" panose="02010600030101010101" pitchFamily="2" charset="-122"/>
              </a:rPr>
              <a:t>主机间的等价</a:t>
            </a:r>
            <a:r>
              <a:rPr lang="zh-CN" altLang="en-US" dirty="0">
                <a:latin typeface="宋体" panose="02010600030101010101" pitchFamily="2" charset="-122"/>
              </a:rPr>
              <a:t>（</a:t>
            </a:r>
            <a:r>
              <a:rPr lang="en-US" altLang="zh-CN" dirty="0"/>
              <a:t>Host Equivalence</a:t>
            </a:r>
            <a:r>
              <a:rPr lang="zh-CN" altLang="en-US" dirty="0">
                <a:latin typeface="宋体" panose="02010600030101010101" pitchFamily="2" charset="-122"/>
              </a:rPr>
              <a:t>）或者</a:t>
            </a:r>
            <a:r>
              <a:rPr lang="zh-CN" altLang="en-US" b="1" dirty="0">
                <a:latin typeface="宋体" panose="02010600030101010101" pitchFamily="2" charset="-122"/>
              </a:rPr>
              <a:t>可信任的主机访问</a:t>
            </a:r>
            <a:r>
              <a:rPr lang="zh-CN" altLang="en-US" dirty="0">
                <a:latin typeface="宋体" panose="02010600030101010101" pitchFamily="2" charset="-122"/>
              </a:rPr>
              <a:t>（</a:t>
            </a:r>
            <a:r>
              <a:rPr lang="en-US" altLang="zh-CN" dirty="0"/>
              <a:t>Trusted Host Access</a:t>
            </a:r>
            <a:r>
              <a:rPr lang="zh-CN" altLang="en-US" dirty="0">
                <a:latin typeface="宋体" panose="02010600030101010101" pitchFamily="2" charset="-122"/>
              </a:rPr>
              <a:t>），文件中每一行都包含一个可信任的主机，而且每行只有一个主机名字。</a:t>
            </a:r>
            <a:r>
              <a:rPr lang="zh-CN" altLang="en-US" dirty="0"/>
              <a:t>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844194"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etc</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hosts.equiv</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57345"/>
          <p:cNvSpPr>
            <a:spLocks noGrp="1"/>
          </p:cNvSpPr>
          <p:nvPr>
            <p:ph type="title"/>
          </p:nvPr>
        </p:nvSpPr>
        <p:spPr>
          <a:xfrm>
            <a:off x="2286000" y="304800"/>
            <a:ext cx="7772400" cy="609600"/>
          </a:xfrm>
        </p:spPr>
        <p:txBody>
          <a:bodyPr vert="horz" lIns="92075" tIns="46038" rIns="92075" bIns="46038" rtlCol="0" anchor="ctr" anchorCtr="0">
            <a:noAutofit/>
          </a:bodyPr>
          <a:lstStyle/>
          <a:p>
            <a:pPr fontAlgn="base"/>
            <a:r>
              <a:rPr lang="en-US" altLang="zh-CN" strike="noStrike" noProof="1"/>
              <a:t> </a:t>
            </a:r>
            <a:endParaRPr lang="en-US" altLang="zh-CN" strike="noStrike" noProof="1"/>
          </a:p>
        </p:txBody>
      </p:sp>
      <p:sp>
        <p:nvSpPr>
          <p:cNvPr id="58370" name="文本占位符 57346"/>
          <p:cNvSpPr>
            <a:spLocks noGrp="1"/>
          </p:cNvSpPr>
          <p:nvPr>
            <p:ph idx="1"/>
          </p:nvPr>
        </p:nvSpPr>
        <p:spPr>
          <a:xfrm>
            <a:off x="1277112" y="1606180"/>
            <a:ext cx="9790176" cy="4212729"/>
          </a:xfrm>
        </p:spPr>
        <p:txBody>
          <a:bodyPr anchor="t"/>
          <a:lstStyle/>
          <a:p>
            <a:r>
              <a:rPr lang="en-US" altLang="zh-CN" dirty="0">
                <a:latin typeface="宋体" panose="02010600030101010101" pitchFamily="2" charset="-122"/>
              </a:rPr>
              <a:t>    </a:t>
            </a:r>
            <a:r>
              <a:rPr lang="zh-CN" altLang="en-US" dirty="0" smtClean="0">
                <a:latin typeface="宋体" panose="02010600030101010101" pitchFamily="2" charset="-122"/>
              </a:rPr>
              <a:t>在</a:t>
            </a:r>
            <a:r>
              <a:rPr lang="zh-CN" altLang="en-US" dirty="0">
                <a:latin typeface="宋体" panose="02010600030101010101" pitchFamily="2" charset="-122"/>
              </a:rPr>
              <a:t>该文件中任何指定名字的机器（都是可信任的）上的所有用户，都可以不必使用密码就能够访问本地机器上的对等帐号。但是应该注意：这种情况不适用于根用户，即根用户不能通过使用</a:t>
            </a:r>
            <a:r>
              <a:rPr lang="en-US" altLang="zh-CN" dirty="0"/>
              <a:t>/</a:t>
            </a:r>
            <a:r>
              <a:rPr lang="en-US" altLang="zh-CN" dirty="0" err="1"/>
              <a:t>etc</a:t>
            </a:r>
            <a:r>
              <a:rPr lang="en-US" altLang="zh-CN" dirty="0"/>
              <a:t>/</a:t>
            </a:r>
            <a:r>
              <a:rPr lang="en-US" altLang="zh-CN" dirty="0" err="1"/>
              <a:t>hosts.equiv</a:t>
            </a:r>
            <a:r>
              <a:rPr lang="zh-CN" altLang="en-US" dirty="0">
                <a:latin typeface="宋体" panose="02010600030101010101" pitchFamily="2" charset="-122"/>
              </a:rPr>
              <a:t>文件而获得远程主机的信任。</a:t>
            </a:r>
            <a:r>
              <a:rPr lang="zh-CN" altLang="en-US" dirty="0"/>
              <a:t> </a:t>
            </a:r>
            <a:endParaRPr lang="zh-CN" altLang="en-US" dirty="0"/>
          </a:p>
          <a:p>
            <a:r>
              <a:rPr lang="zh-CN" altLang="en-US" dirty="0">
                <a:latin typeface="宋体" panose="02010600030101010101" pitchFamily="2" charset="-122"/>
              </a:rPr>
              <a:t>    </a:t>
            </a:r>
            <a:r>
              <a:rPr lang="zh-CN" altLang="en-US" dirty="0" smtClean="0">
                <a:latin typeface="宋体" panose="02010600030101010101" pitchFamily="2" charset="-122"/>
              </a:rPr>
              <a:t>这个</a:t>
            </a:r>
            <a:r>
              <a:rPr lang="zh-CN" altLang="en-US" dirty="0">
                <a:latin typeface="宋体" panose="02010600030101010101" pitchFamily="2" charset="-122"/>
              </a:rPr>
              <a:t>文件被一些以</a:t>
            </a:r>
            <a:r>
              <a:rPr lang="en-US" altLang="zh-CN" dirty="0"/>
              <a:t>r</a:t>
            </a:r>
            <a:r>
              <a:rPr lang="zh-CN" altLang="en-US" dirty="0">
                <a:latin typeface="宋体" panose="02010600030101010101" pitchFamily="2" charset="-122"/>
              </a:rPr>
              <a:t>开头的命令使用，如</a:t>
            </a:r>
            <a:r>
              <a:rPr lang="en-US" altLang="zh-CN" dirty="0"/>
              <a:t>rlogin</a:t>
            </a:r>
            <a:r>
              <a:rPr lang="zh-CN" altLang="en-US" dirty="0">
                <a:latin typeface="宋体" panose="02010600030101010101" pitchFamily="2" charset="-122"/>
              </a:rPr>
              <a:t>、</a:t>
            </a:r>
            <a:r>
              <a:rPr lang="en-US" altLang="zh-CN" dirty="0" err="1"/>
              <a:t>rcp</a:t>
            </a:r>
            <a:r>
              <a:rPr lang="zh-CN" altLang="en-US" dirty="0">
                <a:latin typeface="宋体" panose="02010600030101010101" pitchFamily="2" charset="-122"/>
              </a:rPr>
              <a:t>、</a:t>
            </a:r>
            <a:r>
              <a:rPr lang="en-US" altLang="zh-CN" dirty="0" err="1"/>
              <a:t>rcmd</a:t>
            </a:r>
            <a:r>
              <a:rPr lang="zh-CN" altLang="en-US" dirty="0">
                <a:latin typeface="宋体" panose="02010600030101010101" pitchFamily="2" charset="-122"/>
              </a:rPr>
              <a:t>和</a:t>
            </a:r>
            <a:r>
              <a:rPr lang="en-US" altLang="zh-CN" dirty="0" err="1"/>
              <a:t>rsh</a:t>
            </a:r>
            <a:r>
              <a:rPr lang="zh-CN" altLang="en-US" dirty="0">
                <a:latin typeface="宋体" panose="02010600030101010101" pitchFamily="2" charset="-122"/>
              </a:rPr>
              <a:t>等命令，这些命令主要用于本地主机和远程主机之间建立远程连接、进行远程拷贝和在远端主机上执行命令等。</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9394"/>
          <p:cNvSpPr>
            <a:spLocks noGrp="1"/>
          </p:cNvSpPr>
          <p:nvPr>
            <p:ph idx="1"/>
          </p:nvPr>
        </p:nvSpPr>
        <p:spPr>
          <a:xfrm>
            <a:off x="1267968" y="1707270"/>
            <a:ext cx="9826752" cy="4400550"/>
          </a:xfrm>
        </p:spPr>
        <p:txBody>
          <a:bodyPr anchor="t"/>
          <a:lstStyle/>
          <a:p>
            <a:pPr>
              <a:lnSpc>
                <a:spcPct val="90000"/>
              </a:lnSpc>
            </a:pPr>
            <a:r>
              <a:rPr lang="en-US" altLang="zh-CN" sz="2800" dirty="0"/>
              <a:t>       </a:t>
            </a:r>
            <a:r>
              <a:rPr lang="en-US" altLang="zh-CN" sz="2800" dirty="0" smtClean="0"/>
              <a:t>.</a:t>
            </a:r>
            <a:r>
              <a:rPr lang="en-US" altLang="zh-CN" sz="2800" dirty="0" err="1"/>
              <a:t>rhosts</a:t>
            </a:r>
            <a:r>
              <a:rPr lang="zh-CN" altLang="en-US" sz="2800" dirty="0">
                <a:latin typeface="宋体" panose="02010600030101010101" pitchFamily="2" charset="-122"/>
              </a:rPr>
              <a:t>文件在用户的</a:t>
            </a:r>
            <a:r>
              <a:rPr lang="en-US" altLang="zh-CN" sz="2800" dirty="0"/>
              <a:t>HOME</a:t>
            </a:r>
            <a:r>
              <a:rPr lang="zh-CN" altLang="en-US" sz="2800" dirty="0">
                <a:latin typeface="宋体" panose="02010600030101010101" pitchFamily="2" charset="-122"/>
              </a:rPr>
              <a:t>目录中使用，它与</a:t>
            </a:r>
            <a:r>
              <a:rPr lang="en-US" altLang="zh-CN" sz="2800" dirty="0"/>
              <a:t>/</a:t>
            </a:r>
            <a:r>
              <a:rPr lang="en-US" altLang="zh-CN" sz="2800" dirty="0" err="1"/>
              <a:t>etc</a:t>
            </a:r>
            <a:r>
              <a:rPr lang="en-US" altLang="zh-CN" sz="2800" dirty="0"/>
              <a:t>/</a:t>
            </a:r>
            <a:r>
              <a:rPr lang="en-US" altLang="zh-CN" sz="2800" dirty="0" err="1"/>
              <a:t>hosts.equiv</a:t>
            </a:r>
            <a:r>
              <a:rPr lang="zh-CN" altLang="en-US" sz="2800" dirty="0">
                <a:latin typeface="宋体" panose="02010600030101010101" pitchFamily="2" charset="-122"/>
              </a:rPr>
              <a:t>文件完成类似的功能。这两个文件格式相同，但是有一些重要的区别：</a:t>
            </a:r>
            <a:endParaRPr lang="zh-CN" altLang="en-US" sz="2800" dirty="0">
              <a:latin typeface="宋体" panose="02010600030101010101" pitchFamily="2" charset="-122"/>
            </a:endParaRPr>
          </a:p>
          <a:p>
            <a:pPr marL="457200" indent="-457200">
              <a:lnSpc>
                <a:spcPct val="90000"/>
              </a:lnSpc>
              <a:buFont typeface="Wingdings" panose="05000000000000000000" pitchFamily="2" charset="2"/>
              <a:buChar char="ü"/>
            </a:pPr>
            <a:r>
              <a:rPr lang="zh-CN" altLang="en-US" sz="2800" dirty="0">
                <a:solidFill>
                  <a:schemeClr val="folHlink"/>
                </a:solidFill>
                <a:latin typeface="宋体" panose="02010600030101010101" pitchFamily="2" charset="-122"/>
              </a:rPr>
              <a:t>一</a:t>
            </a:r>
            <a:r>
              <a:rPr lang="zh-CN" altLang="en-US" sz="2800" dirty="0">
                <a:latin typeface="宋体" panose="02010600030101010101" pitchFamily="2" charset="-122"/>
              </a:rPr>
              <a:t>是</a:t>
            </a:r>
            <a:r>
              <a:rPr lang="en-US" altLang="zh-CN" sz="2800" dirty="0"/>
              <a:t>/</a:t>
            </a:r>
            <a:r>
              <a:rPr lang="en-US" altLang="zh-CN" sz="2800" dirty="0" err="1"/>
              <a:t>etc</a:t>
            </a:r>
            <a:r>
              <a:rPr lang="en-US" altLang="zh-CN" sz="2800" dirty="0"/>
              <a:t>/</a:t>
            </a:r>
            <a:r>
              <a:rPr lang="en-US" altLang="zh-CN" sz="2800" dirty="0" err="1"/>
              <a:t>hosts.equiv</a:t>
            </a:r>
            <a:r>
              <a:rPr lang="zh-CN" altLang="en-US" sz="2800" dirty="0">
                <a:latin typeface="宋体" panose="02010600030101010101" pitchFamily="2" charset="-122"/>
              </a:rPr>
              <a:t>文件提供主机之间的等价性，而</a:t>
            </a:r>
            <a:r>
              <a:rPr lang="en-US" altLang="zh-CN" sz="2800" dirty="0"/>
              <a:t>.</a:t>
            </a:r>
            <a:r>
              <a:rPr lang="en-US" altLang="zh-CN" sz="2800" dirty="0" err="1"/>
              <a:t>rhosts</a:t>
            </a:r>
            <a:r>
              <a:rPr lang="zh-CN" altLang="en-US" sz="2800" dirty="0">
                <a:latin typeface="宋体" panose="02010600030101010101" pitchFamily="2" charset="-122"/>
              </a:rPr>
              <a:t>文件提供用户之间的等价性；</a:t>
            </a:r>
            <a:endParaRPr lang="zh-CN" altLang="en-US" sz="2800" dirty="0">
              <a:latin typeface="宋体" panose="02010600030101010101" pitchFamily="2" charset="-122"/>
            </a:endParaRPr>
          </a:p>
          <a:p>
            <a:pPr marL="457200" indent="-457200">
              <a:lnSpc>
                <a:spcPct val="90000"/>
              </a:lnSpc>
              <a:buFont typeface="Wingdings" panose="05000000000000000000" pitchFamily="2" charset="2"/>
              <a:buChar char="ü"/>
            </a:pPr>
            <a:r>
              <a:rPr lang="zh-CN" altLang="en-US" sz="2800" dirty="0">
                <a:solidFill>
                  <a:schemeClr val="folHlink"/>
                </a:solidFill>
                <a:latin typeface="宋体" panose="02010600030101010101" pitchFamily="2" charset="-122"/>
              </a:rPr>
              <a:t>二</a:t>
            </a:r>
            <a:r>
              <a:rPr lang="zh-CN" altLang="en-US" sz="2800" dirty="0">
                <a:latin typeface="宋体" panose="02010600030101010101" pitchFamily="2" charset="-122"/>
              </a:rPr>
              <a:t>是</a:t>
            </a:r>
            <a:r>
              <a:rPr lang="en-US" altLang="zh-CN" sz="2800" dirty="0"/>
              <a:t>/</a:t>
            </a:r>
            <a:r>
              <a:rPr lang="en-US" altLang="zh-CN" sz="2800" dirty="0" err="1"/>
              <a:t>etc</a:t>
            </a:r>
            <a:r>
              <a:rPr lang="en-US" altLang="zh-CN" sz="2800" dirty="0"/>
              <a:t>/</a:t>
            </a:r>
            <a:r>
              <a:rPr lang="en-US" altLang="zh-CN" sz="2800" dirty="0" err="1"/>
              <a:t>hosts.equiv</a:t>
            </a:r>
            <a:r>
              <a:rPr lang="zh-CN" altLang="en-US" sz="2800" dirty="0">
                <a:latin typeface="宋体" panose="02010600030101010101" pitchFamily="2" charset="-122"/>
              </a:rPr>
              <a:t>文件不能用于根用户，根用户只能使用</a:t>
            </a:r>
            <a:r>
              <a:rPr lang="en-US" altLang="zh-CN" sz="2800" dirty="0"/>
              <a:t>.</a:t>
            </a:r>
            <a:r>
              <a:rPr lang="en-US" altLang="zh-CN" sz="2800" dirty="0" err="1"/>
              <a:t>rhosts</a:t>
            </a:r>
            <a:r>
              <a:rPr lang="zh-CN" altLang="en-US" sz="2800" dirty="0">
                <a:latin typeface="宋体" panose="02010600030101010101" pitchFamily="2" charset="-122"/>
              </a:rPr>
              <a:t>文件。</a:t>
            </a:r>
            <a:endParaRPr lang="zh-CN" altLang="en-US" sz="2800" dirty="0">
              <a:latin typeface="宋体" panose="02010600030101010101" pitchFamily="2" charset="-122"/>
            </a:endParaRPr>
          </a:p>
          <a:p>
            <a:pPr>
              <a:lnSpc>
                <a:spcPct val="90000"/>
              </a:lnSpc>
            </a:pPr>
            <a:r>
              <a:rPr lang="zh-CN" altLang="en-US" sz="2800" dirty="0">
                <a:latin typeface="宋体" panose="02010600030101010101" pitchFamily="2" charset="-122"/>
              </a:rPr>
              <a:t>    </a:t>
            </a:r>
            <a:r>
              <a:rPr lang="zh-CN" altLang="en-US" sz="2800" dirty="0" smtClean="0">
                <a:latin typeface="宋体" panose="02010600030101010101" pitchFamily="2" charset="-122"/>
              </a:rPr>
              <a:t>当</a:t>
            </a:r>
            <a:r>
              <a:rPr lang="zh-CN" altLang="en-US" sz="2800" dirty="0">
                <a:latin typeface="宋体" panose="02010600030101010101" pitchFamily="2" charset="-122"/>
              </a:rPr>
              <a:t>检查等价性时，</a:t>
            </a:r>
            <a:r>
              <a:rPr lang="en-US" altLang="zh-CN" sz="2800" dirty="0"/>
              <a:t>.</a:t>
            </a:r>
            <a:r>
              <a:rPr lang="en-US" altLang="zh-CN" sz="2800" dirty="0" err="1"/>
              <a:t>rhosts</a:t>
            </a:r>
            <a:r>
              <a:rPr lang="zh-CN" altLang="en-US" sz="2800" dirty="0">
                <a:latin typeface="宋体" panose="02010600030101010101" pitchFamily="2" charset="-122"/>
              </a:rPr>
              <a:t>文件会附加</a:t>
            </a:r>
            <a:r>
              <a:rPr lang="en-US" altLang="zh-CN" sz="2800" dirty="0"/>
              <a:t>/</a:t>
            </a:r>
            <a:r>
              <a:rPr lang="en-US" altLang="zh-CN" sz="2800" dirty="0" err="1"/>
              <a:t>etc</a:t>
            </a:r>
            <a:r>
              <a:rPr lang="en-US" altLang="zh-CN" sz="2800" dirty="0"/>
              <a:t>/</a:t>
            </a:r>
            <a:r>
              <a:rPr lang="en-US" altLang="zh-CN" sz="2800" dirty="0" err="1"/>
              <a:t>hosts.equiv</a:t>
            </a:r>
            <a:r>
              <a:rPr lang="zh-CN" altLang="en-US" sz="2800" dirty="0">
                <a:latin typeface="宋体" panose="02010600030101010101" pitchFamily="2" charset="-122"/>
              </a:rPr>
              <a:t>文件中的信息</a:t>
            </a:r>
            <a:r>
              <a:rPr lang="zh-CN" altLang="en-US" sz="2800" dirty="0"/>
              <a:t> 。</a:t>
            </a:r>
            <a:endParaRPr lang="zh-CN" altLang="en-US" sz="2800"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172069"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rhosts</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文件</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p:txBody>
          <a:bodyPr vert="horz" lIns="92075" tIns="46038" rIns="92075" bIns="46038" rtlCol="0" anchor="ctr" anchorCtr="0">
            <a:noAutofit/>
          </a:bodyPr>
          <a:lstStyle/>
          <a:p>
            <a:pPr fontAlgn="base"/>
            <a:r>
              <a:rPr lang="en-US" altLang="zh-CN" strike="noStrike" noProof="1"/>
              <a:t> </a:t>
            </a:r>
            <a:endParaRPr lang="en-US" altLang="zh-CN" strike="noStrike" noProof="1"/>
          </a:p>
        </p:txBody>
      </p:sp>
      <p:sp>
        <p:nvSpPr>
          <p:cNvPr id="2" name="文本占位符 60418"/>
          <p:cNvSpPr>
            <a:spLocks noGrp="1"/>
          </p:cNvSpPr>
          <p:nvPr>
            <p:ph idx="1"/>
          </p:nvPr>
        </p:nvSpPr>
        <p:spPr>
          <a:xfrm>
            <a:off x="1140031" y="1296000"/>
            <a:ext cx="9939647" cy="5041355"/>
          </a:xfrm>
        </p:spPr>
        <p:txBody>
          <a:bodyPr anchor="t"/>
          <a:lstStyle/>
          <a:p>
            <a:pPr algn="just"/>
            <a:r>
              <a:rPr lang="en-US" altLang="zh-CN" sz="2800" b="1" dirty="0">
                <a:latin typeface="宋体" panose="02010600030101010101" pitchFamily="2" charset="-122"/>
              </a:rPr>
              <a:t>    </a:t>
            </a:r>
            <a:r>
              <a:rPr lang="zh-CN" altLang="en-US" sz="2800" b="1" dirty="0" smtClean="0">
                <a:solidFill>
                  <a:schemeClr val="folHlink"/>
                </a:solidFill>
                <a:latin typeface="宋体" panose="02010600030101010101" pitchFamily="2" charset="-122"/>
              </a:rPr>
              <a:t>用户</a:t>
            </a:r>
            <a:r>
              <a:rPr lang="zh-CN" altLang="en-US" sz="2800" b="1" dirty="0">
                <a:solidFill>
                  <a:schemeClr val="folHlink"/>
                </a:solidFill>
                <a:latin typeface="宋体" panose="02010600030101010101" pitchFamily="2" charset="-122"/>
              </a:rPr>
              <a:t>等价</a:t>
            </a:r>
            <a:r>
              <a:rPr lang="zh-CN" altLang="en-US" sz="2800" dirty="0">
                <a:latin typeface="宋体" panose="02010600030101010101" pitchFamily="2" charset="-122"/>
              </a:rPr>
              <a:t>（</a:t>
            </a:r>
            <a:r>
              <a:rPr lang="en-US" altLang="zh-CN" sz="2800" dirty="0"/>
              <a:t>User Equivalence</a:t>
            </a:r>
            <a:r>
              <a:rPr lang="zh-CN" altLang="en-US" sz="2800" dirty="0">
                <a:latin typeface="宋体" panose="02010600030101010101" pitchFamily="2" charset="-122"/>
              </a:rPr>
              <a:t>）是等价用户可以被网络中所有的机器识别的一种机制，这将使网络管理员的工作更加容易。在使用或者想要使用</a:t>
            </a:r>
            <a:r>
              <a:rPr lang="en-US" altLang="zh-CN" sz="2800" dirty="0"/>
              <a:t>NFS</a:t>
            </a:r>
            <a:r>
              <a:rPr lang="zh-CN" altLang="en-US" sz="2800" dirty="0">
                <a:latin typeface="宋体" panose="02010600030101010101" pitchFamily="2" charset="-122"/>
              </a:rPr>
              <a:t>环境的地方这种机制是绝对必要的。</a:t>
            </a:r>
            <a:r>
              <a:rPr lang="zh-CN" altLang="en-US" sz="2800" dirty="0"/>
              <a:t> </a:t>
            </a:r>
            <a:endParaRPr lang="zh-CN" altLang="en-US" sz="2800" dirty="0"/>
          </a:p>
          <a:p>
            <a:pPr algn="just"/>
            <a:r>
              <a:rPr lang="zh-CN" altLang="en-US" sz="2800" dirty="0">
                <a:latin typeface="宋体" panose="02010600030101010101" pitchFamily="2" charset="-122"/>
              </a:rPr>
              <a:t>    </a:t>
            </a:r>
            <a:r>
              <a:rPr lang="zh-CN" altLang="en-US" sz="2800" dirty="0" smtClean="0">
                <a:latin typeface="宋体" panose="02010600030101010101" pitchFamily="2" charset="-122"/>
              </a:rPr>
              <a:t>为了</a:t>
            </a:r>
            <a:r>
              <a:rPr lang="zh-CN" altLang="en-US" sz="2800" dirty="0">
                <a:latin typeface="宋体" panose="02010600030101010101" pitchFamily="2" charset="-122"/>
              </a:rPr>
              <a:t>配置用户等价性，用户在他的主目录下创建一个名字</a:t>
            </a:r>
            <a:r>
              <a:rPr lang="en-US" altLang="zh-CN" sz="2800" dirty="0"/>
              <a:t>.</a:t>
            </a:r>
            <a:r>
              <a:rPr lang="en-US" altLang="zh-CN" sz="2800" dirty="0" err="1"/>
              <a:t>rhosts</a:t>
            </a:r>
            <a:r>
              <a:rPr lang="zh-CN" altLang="en-US" sz="2800" dirty="0">
                <a:latin typeface="宋体" panose="02010600030101010101" pitchFamily="2" charset="-122"/>
              </a:rPr>
              <a:t>的文件，这个文件只有文件的所有者才有权利修改。</a:t>
            </a:r>
            <a:r>
              <a:rPr lang="zh-CN" altLang="en-US" sz="2800" dirty="0"/>
              <a:t>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1442"/>
          <p:cNvSpPr>
            <a:spLocks noGrp="1"/>
          </p:cNvSpPr>
          <p:nvPr>
            <p:ph idx="1"/>
          </p:nvPr>
        </p:nvSpPr>
        <p:spPr>
          <a:xfrm>
            <a:off x="889338" y="1687313"/>
            <a:ext cx="10852237" cy="3958752"/>
          </a:xfrm>
        </p:spPr>
        <p:txBody>
          <a:bodyPr anchor="t"/>
          <a:lstStyle/>
          <a:p>
            <a:r>
              <a:rPr lang="en-US" altLang="zh-CN" sz="2800" b="1" dirty="0">
                <a:latin typeface="宋体" panose="02010600030101010101" pitchFamily="2" charset="-122"/>
              </a:rPr>
              <a:t>    </a:t>
            </a:r>
            <a:r>
              <a:rPr lang="zh-CN" altLang="en-US" sz="2800" b="1" dirty="0" smtClean="0">
                <a:solidFill>
                  <a:schemeClr val="folHlink"/>
                </a:solidFill>
                <a:latin typeface="宋体" panose="02010600030101010101" pitchFamily="2" charset="-122"/>
              </a:rPr>
              <a:t>守护</a:t>
            </a:r>
            <a:r>
              <a:rPr lang="zh-CN" altLang="en-US" sz="2800" b="1" dirty="0">
                <a:solidFill>
                  <a:schemeClr val="folHlink"/>
                </a:solidFill>
                <a:latin typeface="宋体" panose="02010600030101010101" pitchFamily="2" charset="-122"/>
              </a:rPr>
              <a:t>程序</a:t>
            </a:r>
            <a:r>
              <a:rPr lang="zh-CN" altLang="en-US" sz="2800" b="1" dirty="0">
                <a:latin typeface="宋体" panose="02010600030101010101" pitchFamily="2" charset="-122"/>
              </a:rPr>
              <a:t>（</a:t>
            </a:r>
            <a:r>
              <a:rPr lang="en-US" altLang="zh-CN" sz="2800" b="1" dirty="0"/>
              <a:t>Daemon</a:t>
            </a:r>
            <a:r>
              <a:rPr lang="zh-CN" altLang="en-US" sz="2800" b="1" dirty="0">
                <a:latin typeface="宋体" panose="02010600030101010101" pitchFamily="2" charset="-122"/>
              </a:rPr>
              <a:t>）</a:t>
            </a:r>
            <a:r>
              <a:rPr lang="zh-CN" altLang="en-US" sz="2800" dirty="0">
                <a:latin typeface="宋体" panose="02010600030101010101" pitchFamily="2" charset="-122"/>
              </a:rPr>
              <a:t>是指不需要用户参与执行的、不断侦听其他进程并为用户提供各种级别服务的程序。守护程序接收用户的请求加以处理，还能够响应各种事件和条件。守护程序通常是被动的，它们只是在需要时被调用，以便提供服务。通过使用守护程序，不仅能够减轻系统负载，有效地利用系统资源，而且还能够减少用户等待时间和操作完成时间。</a:t>
            </a:r>
            <a:r>
              <a:rPr lang="zh-CN" altLang="en-US" sz="2800" dirty="0"/>
              <a:t> </a:t>
            </a:r>
            <a:endParaRPr lang="zh-CN" altLang="en-US" sz="2800" dirty="0"/>
          </a:p>
        </p:txBody>
      </p:sp>
      <p:grpSp>
        <p:nvGrpSpPr>
          <p:cNvPr id="4" name="组合 3"/>
          <p:cNvGrpSpPr/>
          <p:nvPr/>
        </p:nvGrpSpPr>
        <p:grpSpPr>
          <a:xfrm>
            <a:off x="2705160" y="302366"/>
            <a:ext cx="6635578" cy="1109044"/>
            <a:chOff x="3279913" y="488294"/>
            <a:chExt cx="6635578" cy="1109044"/>
          </a:xfrm>
        </p:grpSpPr>
        <p:grpSp>
          <p:nvGrpSpPr>
            <p:cNvPr id="5" name="组合 4"/>
            <p:cNvGrpSpPr/>
            <p:nvPr/>
          </p:nvGrpSpPr>
          <p:grpSpPr>
            <a:xfrm>
              <a:off x="3279913" y="909457"/>
              <a:ext cx="6635578" cy="687881"/>
              <a:chOff x="3279913" y="909457"/>
              <a:chExt cx="6635578" cy="687881"/>
            </a:xfrm>
          </p:grpSpPr>
          <p:sp>
            <p:nvSpPr>
              <p:cNvPr id="159" name="矩形: 圆角 9"/>
              <p:cNvSpPr/>
              <p:nvPr/>
            </p:nvSpPr>
            <p:spPr>
              <a:xfrm>
                <a:off x="3279913" y="909457"/>
                <a:ext cx="663557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60" name="文本框 159"/>
              <p:cNvSpPr txBox="1"/>
              <p:nvPr/>
            </p:nvSpPr>
            <p:spPr>
              <a:xfrm>
                <a:off x="4648956" y="1032190"/>
                <a:ext cx="393409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2.4 TCP/IP</a:t>
                </a:r>
                <a:r>
                  <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守护</a:t>
                </a:r>
                <a:r>
                  <a:rPr lang="zh-CN" altLang="en-US" sz="32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程序</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4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p:cTn id="8" dur="650" fill="hold"/>
                                        <p:tgtEl>
                                          <p:spTgt spid="4"/>
                                        </p:tgtEl>
                                        <p:attrNameLst>
                                          <p:attrName>ppt_x</p:attrName>
                                        </p:attrNameLst>
                                      </p:cBhvr>
                                      <p:tavLst>
                                        <p:tav tm="0">
                                          <p:val>
                                            <p:strVal val="#ppt_x"/>
                                          </p:val>
                                        </p:tav>
                                        <p:tav tm="100000">
                                          <p:val>
                                            <p:strVal val="#ppt_x"/>
                                          </p:val>
                                        </p:tav>
                                      </p:tavLst>
                                    </p:anim>
                                    <p:anim calcmode="lin" valueType="num">
                                      <p:cBhvr>
                                        <p:cTn id="9" dur="6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2466"/>
          <p:cNvSpPr>
            <a:spLocks noGrp="1"/>
          </p:cNvSpPr>
          <p:nvPr>
            <p:ph idx="1"/>
          </p:nvPr>
        </p:nvSpPr>
        <p:spPr>
          <a:xfrm>
            <a:off x="1218659" y="2365411"/>
            <a:ext cx="9813518" cy="3019968"/>
          </a:xfrm>
        </p:spPr>
        <p:txBody>
          <a:bodyPr anchor="t"/>
          <a:lstStyle/>
          <a:p>
            <a:r>
              <a:rPr lang="en-US" altLang="zh-CN" dirty="0"/>
              <a:t>       </a:t>
            </a:r>
            <a:r>
              <a:rPr lang="en-US" altLang="zh-CN" dirty="0" err="1" smtClean="0"/>
              <a:t>inetd</a:t>
            </a:r>
            <a:r>
              <a:rPr lang="zh-CN" altLang="en-US" dirty="0">
                <a:latin typeface="宋体" panose="02010600030101010101" pitchFamily="2" charset="-122"/>
              </a:rPr>
              <a:t>是一个很特殊的守护程序，又称为超级服务程序，这是因为</a:t>
            </a:r>
            <a:r>
              <a:rPr lang="en-US" altLang="zh-CN" dirty="0" err="1" smtClean="0"/>
              <a:t>inetd</a:t>
            </a:r>
            <a:r>
              <a:rPr lang="zh-CN" altLang="en-US" dirty="0">
                <a:latin typeface="宋体" panose="02010600030101010101" pitchFamily="2" charset="-122"/>
              </a:rPr>
              <a:t>是运行于</a:t>
            </a:r>
            <a:r>
              <a:rPr lang="en-US" altLang="zh-CN" dirty="0"/>
              <a:t>UNIX</a:t>
            </a:r>
            <a:r>
              <a:rPr lang="zh-CN" altLang="en-US" dirty="0">
                <a:latin typeface="宋体" panose="02010600030101010101" pitchFamily="2" charset="-122"/>
              </a:rPr>
              <a:t>上的主要的守护程序。</a:t>
            </a:r>
            <a:r>
              <a:rPr lang="en-US" altLang="zh-CN" dirty="0" err="1" smtClean="0"/>
              <a:t>inetd</a:t>
            </a:r>
            <a:r>
              <a:rPr lang="zh-CN" altLang="en-US" dirty="0">
                <a:latin typeface="宋体" panose="02010600030101010101" pitchFamily="2" charset="-122"/>
              </a:rPr>
              <a:t>监听多个</a:t>
            </a:r>
            <a:r>
              <a:rPr lang="en-US" altLang="zh-CN" dirty="0"/>
              <a:t>TCP/IP</a:t>
            </a:r>
            <a:r>
              <a:rPr lang="zh-CN" altLang="en-US" dirty="0">
                <a:latin typeface="宋体" panose="02010600030101010101" pitchFamily="2" charset="-122"/>
              </a:rPr>
              <a:t>端口的连接请求。当它接收到这样的一个请求后，会对这个请求进行分析，即发出请求的机器想要什么服务，它就会派生一个相应的服务程序。</a:t>
            </a:r>
            <a:r>
              <a:rPr lang="zh-CN" altLang="en-US" dirty="0"/>
              <a:t> </a:t>
            </a:r>
            <a:endParaRPr lang="zh-CN" altLang="en-US" dirty="0"/>
          </a:p>
        </p:txBody>
      </p:sp>
      <p:grpSp>
        <p:nvGrpSpPr>
          <p:cNvPr id="4" name="组合 3"/>
          <p:cNvGrpSpPr/>
          <p:nvPr/>
        </p:nvGrpSpPr>
        <p:grpSpPr>
          <a:xfrm>
            <a:off x="3289927" y="471732"/>
            <a:ext cx="5612145" cy="791052"/>
            <a:chOff x="824071" y="1564267"/>
            <a:chExt cx="5612145" cy="791052"/>
          </a:xfrm>
        </p:grpSpPr>
        <p:sp>
          <p:nvSpPr>
            <p:cNvPr id="5" name="矩形: 圆角 28"/>
            <p:cNvSpPr/>
            <p:nvPr/>
          </p:nvSpPr>
          <p:spPr>
            <a:xfrm>
              <a:off x="824071" y="1740416"/>
              <a:ext cx="5506313"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734694" cy="480131"/>
            </a:xfrm>
            <a:prstGeom prst="rect">
              <a:avLst/>
            </a:prstGeom>
          </p:spPr>
          <p:txBody>
            <a:bodyPr wrap="none">
              <a:spAutoFit/>
            </a:bodyPr>
            <a:lstStyle/>
            <a:p>
              <a:pPr>
                <a:lnSpc>
                  <a:spcPct val="90000"/>
                </a:lnSpc>
              </a:pPr>
              <a:r>
                <a:rPr lang="en-US" altLang="zh-CN" sz="2800" dirty="0" smtClean="0">
                  <a:solidFill>
                    <a:schemeClr val="bg1"/>
                  </a:solidFill>
                  <a:latin typeface="+mj-ea"/>
                </a:rPr>
                <a:t>2.4.1 </a:t>
              </a:r>
              <a:r>
                <a:rPr lang="zh-CN" altLang="en-US" sz="2800" dirty="0" smtClean="0">
                  <a:solidFill>
                    <a:schemeClr val="bg1"/>
                  </a:solidFill>
                  <a:latin typeface="+mj-ea"/>
                </a:rPr>
                <a:t>典型的</a:t>
              </a:r>
              <a:r>
                <a:rPr lang="en-US" altLang="zh-CN" sz="2800" dirty="0" smtClean="0">
                  <a:solidFill>
                    <a:schemeClr val="bg1"/>
                  </a:solidFill>
                  <a:latin typeface="+mj-ea"/>
                </a:rPr>
                <a:t>TCP/IP</a:t>
              </a:r>
              <a:r>
                <a:rPr lang="zh-CN" altLang="en-US" sz="2800" dirty="0" smtClean="0">
                  <a:solidFill>
                    <a:schemeClr val="bg1"/>
                  </a:solidFill>
                  <a:latin typeface="+mj-ea"/>
                </a:rPr>
                <a:t>守护程序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grpSp>
        <p:nvGrpSpPr>
          <p:cNvPr id="8" name="组合 7"/>
          <p:cNvGrpSpPr/>
          <p:nvPr/>
        </p:nvGrpSpPr>
        <p:grpSpPr>
          <a:xfrm>
            <a:off x="1058883" y="1274642"/>
            <a:ext cx="7294100" cy="840284"/>
            <a:chOff x="3135993" y="1051060"/>
            <a:chExt cx="7294100" cy="840284"/>
          </a:xfrm>
        </p:grpSpPr>
        <p:sp>
          <p:nvSpPr>
            <p:cNvPr id="9"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 name="矩形 9"/>
            <p:cNvSpPr/>
            <p:nvPr/>
          </p:nvSpPr>
          <p:spPr>
            <a:xfrm>
              <a:off x="3972879" y="1333399"/>
              <a:ext cx="2652329" cy="523220"/>
            </a:xfrm>
            <a:prstGeom prst="rect">
              <a:avLst/>
            </a:prstGeom>
          </p:spPr>
          <p:txBody>
            <a:bodyPr wrap="none">
              <a:spAutoFit/>
            </a:bodyPr>
            <a:lstStyle/>
            <a:p>
              <a:pPr fontAlgn="base">
                <a:spcAft>
                  <a:spcPct val="0"/>
                </a:spcAft>
                <a:defRPr/>
              </a:pPr>
              <a:r>
                <a:rPr lang="en-US" altLang="zh-CN" sz="2800" dirty="0" err="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inetd</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守护程序 </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1" name="矩形 10"/>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12" name="直接连接符 11"/>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ppt_w/2"/>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63489"/>
          <p:cNvSpPr>
            <a:spLocks noGrp="1"/>
          </p:cNvSpPr>
          <p:nvPr>
            <p:ph type="title"/>
          </p:nvPr>
        </p:nvSpPr>
        <p:spPr/>
        <p:txBody>
          <a:bodyPr vert="horz" lIns="92075" tIns="46038" rIns="92075" bIns="46038" rtlCol="0" anchor="ctr" anchorCtr="0">
            <a:noAutofit/>
          </a:bodyPr>
          <a:lstStyle/>
          <a:p>
            <a:pPr fontAlgn="base"/>
            <a:r>
              <a:rPr lang="en-US" altLang="zh-CN" strike="noStrike" noProof="1"/>
              <a:t> </a:t>
            </a:r>
            <a:endParaRPr lang="en-US" altLang="zh-CN" strike="noStrike" noProof="1"/>
          </a:p>
        </p:txBody>
      </p:sp>
      <p:sp>
        <p:nvSpPr>
          <p:cNvPr id="2" name="文本占位符 63490"/>
          <p:cNvSpPr>
            <a:spLocks noGrp="1"/>
          </p:cNvSpPr>
          <p:nvPr>
            <p:ph idx="1"/>
          </p:nvPr>
        </p:nvSpPr>
        <p:spPr>
          <a:xfrm>
            <a:off x="1164336" y="1828801"/>
            <a:ext cx="9863328" cy="3738282"/>
          </a:xfrm>
        </p:spPr>
        <p:txBody>
          <a:bodyPr anchor="t"/>
          <a:lstStyle/>
          <a:p>
            <a:r>
              <a:rPr lang="en-US" altLang="zh-CN" dirty="0">
                <a:latin typeface="宋体" panose="02010600030101010101" pitchFamily="2" charset="-122"/>
              </a:rPr>
              <a:t>    </a:t>
            </a:r>
            <a:r>
              <a:rPr lang="zh-CN" altLang="en-US" dirty="0">
                <a:latin typeface="宋体" panose="02010600030101010101" pitchFamily="2" charset="-122"/>
              </a:rPr>
              <a:t>通过使用超级服务器</a:t>
            </a:r>
            <a:r>
              <a:rPr lang="en-US" altLang="zh-CN" dirty="0" err="1">
                <a:latin typeface="宋体" panose="02010600030101010101" pitchFamily="2" charset="-122"/>
              </a:rPr>
              <a:t>inetd</a:t>
            </a:r>
            <a:r>
              <a:rPr lang="zh-CN" altLang="en-US" dirty="0">
                <a:latin typeface="宋体" panose="02010600030101010101" pitchFamily="2" charset="-122"/>
              </a:rPr>
              <a:t>，其它服务进程就可以只在需要时才派生，从而节省了系统资源。当连接终止时，派生的服务进程也就终止运行。通过</a:t>
            </a:r>
            <a:r>
              <a:rPr lang="en-US" altLang="zh-CN" dirty="0" err="1" smtClean="0">
                <a:latin typeface="宋体" panose="02010600030101010101" pitchFamily="2" charset="-122"/>
              </a:rPr>
              <a:t>inetd</a:t>
            </a:r>
            <a:r>
              <a:rPr lang="zh-CN" altLang="en-US" dirty="0">
                <a:latin typeface="宋体" panose="02010600030101010101" pitchFamily="2" charset="-122"/>
              </a:rPr>
              <a:t>启动的服务程序有</a:t>
            </a:r>
            <a:r>
              <a:rPr lang="en-US" altLang="zh-CN" dirty="0" err="1">
                <a:latin typeface="宋体" panose="02010600030101010101" pitchFamily="2" charset="-122"/>
              </a:rPr>
              <a:t>fingerd</a:t>
            </a:r>
            <a:r>
              <a:rPr lang="zh-CN" altLang="en-US" dirty="0">
                <a:latin typeface="宋体" panose="02010600030101010101" pitchFamily="2" charset="-122"/>
              </a:rPr>
              <a:t>、</a:t>
            </a:r>
            <a:r>
              <a:rPr lang="en-US" altLang="zh-CN" dirty="0" err="1">
                <a:latin typeface="宋体" panose="02010600030101010101" pitchFamily="2" charset="-122"/>
              </a:rPr>
              <a:t>ftpd</a:t>
            </a:r>
            <a:r>
              <a:rPr lang="zh-CN" altLang="en-US" dirty="0">
                <a:latin typeface="宋体" panose="02010600030101010101" pitchFamily="2" charset="-122"/>
              </a:rPr>
              <a:t>、</a:t>
            </a:r>
            <a:r>
              <a:rPr lang="en-US" altLang="zh-CN" dirty="0" err="1">
                <a:latin typeface="宋体" panose="02010600030101010101" pitchFamily="2" charset="-122"/>
              </a:rPr>
              <a:t>rlogind</a:t>
            </a:r>
            <a:r>
              <a:rPr lang="zh-CN" altLang="en-US" dirty="0">
                <a:latin typeface="宋体" panose="02010600030101010101" pitchFamily="2" charset="-122"/>
              </a:rPr>
              <a:t>等。但是，</a:t>
            </a:r>
            <a:r>
              <a:rPr lang="en-US" altLang="zh-CN" dirty="0" err="1">
                <a:latin typeface="宋体" panose="02010600030101010101" pitchFamily="2" charset="-122"/>
              </a:rPr>
              <a:t>inetd</a:t>
            </a:r>
            <a:r>
              <a:rPr lang="zh-CN" altLang="en-US" dirty="0">
                <a:latin typeface="宋体" panose="02010600030101010101" pitchFamily="2" charset="-122"/>
              </a:rPr>
              <a:t>不能用</a:t>
            </a:r>
            <a:r>
              <a:rPr lang="en-US" altLang="zh-CN" dirty="0">
                <a:latin typeface="宋体" panose="02010600030101010101" pitchFamily="2" charset="-122"/>
              </a:rPr>
              <a:t>named</a:t>
            </a:r>
            <a:r>
              <a:rPr lang="zh-CN" altLang="en-US" dirty="0">
                <a:latin typeface="宋体" panose="02010600030101010101" pitchFamily="2" charset="-122"/>
              </a:rPr>
              <a:t>、</a:t>
            </a:r>
            <a:r>
              <a:rPr lang="en-US" altLang="zh-CN" dirty="0">
                <a:latin typeface="宋体" panose="02010600030101010101" pitchFamily="2" charset="-122"/>
              </a:rPr>
              <a:t>routed</a:t>
            </a:r>
            <a:r>
              <a:rPr lang="zh-CN" altLang="en-US" dirty="0">
                <a:latin typeface="宋体" panose="02010600030101010101" pitchFamily="2" charset="-122"/>
              </a:rPr>
              <a:t>、</a:t>
            </a:r>
            <a:r>
              <a:rPr lang="en-US" altLang="zh-CN" dirty="0" err="1">
                <a:latin typeface="宋体" panose="02010600030101010101" pitchFamily="2" charset="-122"/>
              </a:rPr>
              <a:t>rwhod</a:t>
            </a:r>
            <a:r>
              <a:rPr lang="zh-CN" altLang="en-US" dirty="0">
                <a:latin typeface="宋体" panose="02010600030101010101" pitchFamily="2" charset="-122"/>
              </a:rPr>
              <a:t>、</a:t>
            </a:r>
            <a:r>
              <a:rPr lang="en-US" altLang="zh-CN" dirty="0" err="1">
                <a:latin typeface="宋体" panose="02010600030101010101" pitchFamily="2" charset="-122"/>
              </a:rPr>
              <a:t>sendmail</a:t>
            </a:r>
            <a:r>
              <a:rPr lang="zh-CN" altLang="en-US" dirty="0">
                <a:latin typeface="宋体" panose="02010600030101010101" pitchFamily="2" charset="-122"/>
              </a:rPr>
              <a:t>或任何</a:t>
            </a:r>
            <a:r>
              <a:rPr lang="en-US" altLang="zh-CN" dirty="0">
                <a:latin typeface="宋体" panose="02010600030101010101" pitchFamily="2" charset="-122"/>
              </a:rPr>
              <a:t>RFS</a:t>
            </a:r>
            <a:r>
              <a:rPr lang="zh-CN" altLang="en-US" dirty="0">
                <a:latin typeface="宋体" panose="02010600030101010101" pitchFamily="2" charset="-122"/>
              </a:rPr>
              <a:t>、</a:t>
            </a:r>
            <a:r>
              <a:rPr lang="en-US" altLang="zh-CN" dirty="0">
                <a:latin typeface="宋体" panose="02010600030101010101" pitchFamily="2" charset="-122"/>
              </a:rPr>
              <a:t>NFS</a:t>
            </a:r>
            <a:r>
              <a:rPr lang="zh-CN" altLang="en-US" dirty="0">
                <a:latin typeface="宋体" panose="02010600030101010101" pitchFamily="2" charset="-122"/>
              </a:rPr>
              <a:t>服务程序。</a:t>
            </a:r>
            <a:endParaRPr lang="zh-CN" altLang="en-US" dirty="0">
              <a:latin typeface="宋体" panose="02010600030101010101" pitchFamily="2" charset="-122"/>
            </a:endParaRPr>
          </a:p>
          <a:p>
            <a:r>
              <a:rPr lang="zh-CN" altLang="en-US" dirty="0">
                <a:latin typeface="宋体" panose="02010600030101010101" pitchFamily="2" charset="-122"/>
              </a:rPr>
              <a:t>    一般地，</a:t>
            </a:r>
            <a:r>
              <a:rPr lang="en-US" altLang="zh-CN" dirty="0" err="1" smtClean="0">
                <a:latin typeface="宋体" panose="02010600030101010101" pitchFamily="2" charset="-122"/>
              </a:rPr>
              <a:t>inetd</a:t>
            </a:r>
            <a:r>
              <a:rPr lang="zh-CN" altLang="en-US" dirty="0">
                <a:latin typeface="宋体" panose="02010600030101010101" pitchFamily="2" charset="-122"/>
              </a:rPr>
              <a:t>在系统引导时启动，并一直驻留到主机或专门的操作终止它为止。  </a:t>
            </a:r>
            <a:endParaRPr lang="zh-CN" altLang="en-US"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4514"/>
          <p:cNvSpPr>
            <a:spLocks noGrp="1"/>
          </p:cNvSpPr>
          <p:nvPr>
            <p:ph idx="1"/>
          </p:nvPr>
        </p:nvSpPr>
        <p:spPr>
          <a:xfrm>
            <a:off x="1057475" y="1735383"/>
            <a:ext cx="10140956" cy="4071647"/>
          </a:xfrm>
        </p:spPr>
        <p:txBody>
          <a:bodyPr anchor="t"/>
          <a:lstStyle/>
          <a:p>
            <a:r>
              <a:rPr lang="en-US" altLang="zh-CN" sz="2800" dirty="0"/>
              <a:t>       </a:t>
            </a:r>
            <a:r>
              <a:rPr lang="en-US" altLang="zh-CN" sz="2800" dirty="0" err="1" smtClean="0"/>
              <a:t>rarpd</a:t>
            </a:r>
            <a:r>
              <a:rPr lang="zh-CN" altLang="en-US" sz="2800" dirty="0">
                <a:latin typeface="宋体" panose="02010600030101010101" pitchFamily="2" charset="-122"/>
              </a:rPr>
              <a:t>响应</a:t>
            </a:r>
            <a:r>
              <a:rPr lang="en-US" altLang="zh-CN" sz="2800" dirty="0"/>
              <a:t>RARP</a:t>
            </a:r>
            <a:r>
              <a:rPr lang="zh-CN" altLang="en-US" sz="2800" dirty="0">
                <a:latin typeface="宋体" panose="02010600030101010101" pitchFamily="2" charset="-122"/>
              </a:rPr>
              <a:t>协议的请求。对于只知道自己物理地址的主机，如无盘工作站，在引导阶段使用</a:t>
            </a:r>
            <a:r>
              <a:rPr lang="en-US" altLang="zh-CN" sz="2800" dirty="0"/>
              <a:t>RARP</a:t>
            </a:r>
            <a:r>
              <a:rPr lang="zh-CN" altLang="en-US" sz="2800" dirty="0">
                <a:latin typeface="宋体" panose="02010600030101010101" pitchFamily="2" charset="-122"/>
              </a:rPr>
              <a:t>协议的请求报文，在以太网内以广播方式发送它的</a:t>
            </a:r>
            <a:r>
              <a:rPr lang="en-US" altLang="zh-CN" sz="2800" dirty="0"/>
              <a:t>48</a:t>
            </a:r>
            <a:r>
              <a:rPr lang="zh-CN" altLang="en-US" sz="2800" dirty="0">
                <a:latin typeface="宋体" panose="02010600030101010101" pitchFamily="2" charset="-122"/>
              </a:rPr>
              <a:t>位的以太网地址（物理地址，即</a:t>
            </a:r>
            <a:r>
              <a:rPr lang="en-US" altLang="zh-CN" sz="2800" dirty="0"/>
              <a:t>MAC</a:t>
            </a:r>
            <a:r>
              <a:rPr lang="zh-CN" altLang="en-US" sz="2800" dirty="0">
                <a:latin typeface="宋体" panose="02010600030101010101" pitchFamily="2" charset="-122"/>
              </a:rPr>
              <a:t>地址）。对于这个</a:t>
            </a:r>
            <a:r>
              <a:rPr lang="en-US" altLang="zh-CN" sz="2800" dirty="0"/>
              <a:t>RARP</a:t>
            </a:r>
            <a:r>
              <a:rPr lang="zh-CN" altLang="en-US" sz="2800" dirty="0">
                <a:latin typeface="宋体" panose="02010600030101010101" pitchFamily="2" charset="-122"/>
              </a:rPr>
              <a:t>请求报文，运行</a:t>
            </a:r>
            <a:r>
              <a:rPr lang="en-US" altLang="zh-CN" sz="2800" dirty="0" err="1"/>
              <a:t>rarpd</a:t>
            </a:r>
            <a:r>
              <a:rPr lang="zh-CN" altLang="en-US" sz="2800" dirty="0">
                <a:latin typeface="宋体" panose="02010600030101010101" pitchFamily="2" charset="-122"/>
              </a:rPr>
              <a:t>的系统必须在</a:t>
            </a:r>
            <a:r>
              <a:rPr lang="en-US" altLang="zh-CN" sz="2800" dirty="0"/>
              <a:t>/</a:t>
            </a:r>
            <a:r>
              <a:rPr lang="en-US" altLang="zh-CN" sz="2800" dirty="0" err="1"/>
              <a:t>etc</a:t>
            </a:r>
            <a:r>
              <a:rPr lang="en-US" altLang="zh-CN" sz="2800" dirty="0"/>
              <a:t>/hosts</a:t>
            </a:r>
            <a:r>
              <a:rPr lang="zh-CN" altLang="en-US" sz="2800" dirty="0">
                <a:latin typeface="宋体" panose="02010600030101010101" pitchFamily="2" charset="-122"/>
              </a:rPr>
              <a:t>文件中有引导机器的名字到</a:t>
            </a:r>
            <a:r>
              <a:rPr lang="en-US" altLang="zh-CN" sz="2800" dirty="0"/>
              <a:t>IP</a:t>
            </a:r>
            <a:r>
              <a:rPr lang="zh-CN" altLang="en-US" sz="2800" dirty="0">
                <a:latin typeface="宋体" panose="02010600030101010101" pitchFamily="2" charset="-122"/>
              </a:rPr>
              <a:t>地址的条目，或者有</a:t>
            </a:r>
            <a:r>
              <a:rPr lang="en-US" altLang="zh-CN" sz="2800" dirty="0"/>
              <a:t>DNS</a:t>
            </a:r>
            <a:r>
              <a:rPr lang="zh-CN" altLang="en-US" sz="2800" dirty="0">
                <a:latin typeface="宋体" panose="02010600030101010101" pitchFamily="2" charset="-122"/>
              </a:rPr>
              <a:t>服务器，而且在</a:t>
            </a:r>
            <a:r>
              <a:rPr lang="en-US" altLang="zh-CN" sz="2800" dirty="0"/>
              <a:t>/</a:t>
            </a:r>
            <a:r>
              <a:rPr lang="en-US" altLang="zh-CN" sz="2800" dirty="0" err="1"/>
              <a:t>etc</a:t>
            </a:r>
            <a:r>
              <a:rPr lang="en-US" altLang="zh-CN" sz="2800" dirty="0"/>
              <a:t>/ethers</a:t>
            </a:r>
            <a:r>
              <a:rPr lang="zh-CN" altLang="en-US" sz="2800" dirty="0">
                <a:latin typeface="宋体" panose="02010600030101010101" pitchFamily="2" charset="-122"/>
              </a:rPr>
              <a:t>文件中有该机器的名字到其以太网地址的条目。</a:t>
            </a:r>
            <a:r>
              <a:rPr lang="zh-CN" altLang="en-US" sz="2800" dirty="0"/>
              <a:t> </a:t>
            </a:r>
            <a:endParaRPr lang="zh-CN" altLang="en-US" sz="2800"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621697" cy="523220"/>
            </a:xfrm>
            <a:prstGeom prst="rect">
              <a:avLst/>
            </a:prstGeom>
          </p:spPr>
          <p:txBody>
            <a:bodyPr wrap="none">
              <a:spAutoFit/>
            </a:bodyPr>
            <a:lstStyle/>
            <a:p>
              <a:pPr fontAlgn="base">
                <a:spcAft>
                  <a:spcPct val="0"/>
                </a:spcAft>
                <a:defRPr/>
              </a:pPr>
              <a:r>
                <a:rPr lang="en-US" altLang="zh-CN"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RARP</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守护程序</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rarpd</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5538"/>
          <p:cNvSpPr>
            <a:spLocks noGrp="1"/>
          </p:cNvSpPr>
          <p:nvPr>
            <p:ph idx="1"/>
          </p:nvPr>
        </p:nvSpPr>
        <p:spPr>
          <a:xfrm>
            <a:off x="1259350" y="1877902"/>
            <a:ext cx="9725325" cy="2171595"/>
          </a:xfrm>
        </p:spPr>
        <p:txBody>
          <a:bodyPr anchor="t"/>
          <a:lstStyle/>
          <a:p>
            <a:r>
              <a:rPr lang="en-US" altLang="zh-CN" dirty="0"/>
              <a:t>       </a:t>
            </a:r>
            <a:r>
              <a:rPr lang="en-US" altLang="zh-CN" dirty="0" err="1" smtClean="0"/>
              <a:t>lpd</a:t>
            </a:r>
            <a:r>
              <a:rPr lang="zh-CN" altLang="en-US" dirty="0">
                <a:latin typeface="宋体" panose="02010600030101010101" pitchFamily="2" charset="-122"/>
              </a:rPr>
              <a:t>也称为打印缓冲处理程序，它在系统引导时执行。</a:t>
            </a:r>
            <a:r>
              <a:rPr lang="en-US" altLang="zh-CN" dirty="0" err="1"/>
              <a:t>lpd</a:t>
            </a:r>
            <a:r>
              <a:rPr lang="zh-CN" altLang="en-US" dirty="0">
                <a:latin typeface="宋体" panose="02010600030101010101" pitchFamily="2" charset="-122"/>
              </a:rPr>
              <a:t>在一个特定的</a:t>
            </a:r>
            <a:r>
              <a:rPr lang="en-US" altLang="zh-CN" dirty="0"/>
              <a:t>TCP/IP</a:t>
            </a:r>
            <a:r>
              <a:rPr lang="zh-CN" altLang="en-US" dirty="0">
                <a:latin typeface="宋体" panose="02010600030101010101" pitchFamily="2" charset="-122"/>
              </a:rPr>
              <a:t>端口接收外界发送来的打印任务，并且把这些打印任务在本地或者远程系统中排队。</a:t>
            </a:r>
            <a:r>
              <a:rPr lang="zh-CN" altLang="en-US" dirty="0"/>
              <a:t> </a:t>
            </a:r>
            <a:endParaRPr lang="zh-CN" altLang="en-US"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006225"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行式打印机守护程序</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lpd</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6562"/>
          <p:cNvSpPr>
            <a:spLocks noGrp="1"/>
          </p:cNvSpPr>
          <p:nvPr>
            <p:ph idx="1"/>
          </p:nvPr>
        </p:nvSpPr>
        <p:spPr>
          <a:xfrm>
            <a:off x="1217251" y="1782881"/>
            <a:ext cx="9755549" cy="3145371"/>
          </a:xfrm>
        </p:spPr>
        <p:txBody>
          <a:bodyPr anchor="t"/>
          <a:lstStyle/>
          <a:p>
            <a:r>
              <a:rPr lang="en-US" altLang="zh-CN" dirty="0"/>
              <a:t>       </a:t>
            </a:r>
            <a:r>
              <a:rPr lang="en-US" altLang="zh-CN" dirty="0" err="1" smtClean="0"/>
              <a:t>syslogd</a:t>
            </a:r>
            <a:r>
              <a:rPr lang="zh-CN" altLang="en-US" dirty="0">
                <a:latin typeface="宋体" panose="02010600030101010101" pitchFamily="2" charset="-122"/>
              </a:rPr>
              <a:t>负责在其配置文件</a:t>
            </a:r>
            <a:r>
              <a:rPr lang="en-US" altLang="zh-CN" dirty="0"/>
              <a:t>/</a:t>
            </a:r>
            <a:r>
              <a:rPr lang="en-US" altLang="zh-CN" dirty="0" err="1"/>
              <a:t>etc</a:t>
            </a:r>
            <a:r>
              <a:rPr lang="en-US" altLang="zh-CN" dirty="0"/>
              <a:t>/</a:t>
            </a:r>
            <a:r>
              <a:rPr lang="en-US" altLang="zh-CN" dirty="0" err="1"/>
              <a:t>syslog.conf</a:t>
            </a:r>
            <a:r>
              <a:rPr lang="zh-CN" altLang="en-US" dirty="0">
                <a:latin typeface="宋体" panose="02010600030101010101" pitchFamily="2" charset="-122"/>
              </a:rPr>
              <a:t>所描述的一系列文件中，记录各种系统消息，每个消息在文件中保存为一行，可以含有各种信息。</a:t>
            </a:r>
            <a:r>
              <a:rPr lang="en-US" altLang="zh-CN" dirty="0" err="1"/>
              <a:t>syslogd</a:t>
            </a:r>
            <a:r>
              <a:rPr lang="zh-CN" altLang="en-US" dirty="0">
                <a:latin typeface="宋体" panose="02010600030101010101" pitchFamily="2" charset="-122"/>
              </a:rPr>
              <a:t>接收发送给它的信息，并把消息保存到它的日志文件中。发送给</a:t>
            </a:r>
            <a:r>
              <a:rPr lang="en-US" altLang="zh-CN" dirty="0" err="1"/>
              <a:t>syslogd</a:t>
            </a:r>
            <a:r>
              <a:rPr lang="zh-CN" altLang="en-US" dirty="0">
                <a:latin typeface="宋体" panose="02010600030101010101" pitchFamily="2" charset="-122"/>
              </a:rPr>
              <a:t>的信息包括通知性、错误性、状态性和调试性消息，每个消息都有与其相关的重要性级别。</a:t>
            </a:r>
            <a:r>
              <a:rPr lang="zh-CN" altLang="en-US" dirty="0"/>
              <a:t>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435958"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系统记录守护程序</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syslogd</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7586"/>
          <p:cNvSpPr>
            <a:spLocks noGrp="1"/>
          </p:cNvSpPr>
          <p:nvPr>
            <p:ph idx="1"/>
          </p:nvPr>
        </p:nvSpPr>
        <p:spPr>
          <a:xfrm>
            <a:off x="1205377" y="1794762"/>
            <a:ext cx="9838676" cy="2967242"/>
          </a:xfrm>
        </p:spPr>
        <p:txBody>
          <a:bodyPr anchor="t"/>
          <a:lstStyle/>
          <a:p>
            <a:r>
              <a:rPr lang="en-US" altLang="zh-CN" dirty="0"/>
              <a:t>       </a:t>
            </a:r>
            <a:r>
              <a:rPr lang="en-US" altLang="zh-CN" dirty="0" smtClean="0"/>
              <a:t>routed</a:t>
            </a:r>
            <a:r>
              <a:rPr lang="zh-CN" altLang="en-US" dirty="0">
                <a:latin typeface="宋体" panose="02010600030101010101" pitchFamily="2" charset="-122"/>
              </a:rPr>
              <a:t>在系统引导时被激活，负责管理</a:t>
            </a:r>
            <a:r>
              <a:rPr lang="en-US" altLang="zh-CN" dirty="0"/>
              <a:t>Internet</a:t>
            </a:r>
            <a:r>
              <a:rPr lang="zh-CN" altLang="en-US" dirty="0">
                <a:latin typeface="宋体" panose="02010600030101010101" pitchFamily="2" charset="-122"/>
              </a:rPr>
              <a:t>路由表。</a:t>
            </a:r>
            <a:r>
              <a:rPr lang="en-US" altLang="zh-CN" dirty="0"/>
              <a:t>routed</a:t>
            </a:r>
            <a:r>
              <a:rPr lang="zh-CN" altLang="en-US" dirty="0">
                <a:latin typeface="宋体" panose="02010600030101010101" pitchFamily="2" charset="-122"/>
              </a:rPr>
              <a:t>使用</a:t>
            </a:r>
            <a:r>
              <a:rPr lang="en-US" altLang="zh-CN" b="1" dirty="0"/>
              <a:t>RIP</a:t>
            </a:r>
            <a:r>
              <a:rPr lang="zh-CN" altLang="en-US" b="1" dirty="0">
                <a:latin typeface="宋体" panose="02010600030101010101" pitchFamily="2" charset="-122"/>
              </a:rPr>
              <a:t>协议</a:t>
            </a:r>
            <a:r>
              <a:rPr lang="zh-CN" altLang="en-US" dirty="0">
                <a:latin typeface="宋体" panose="02010600030101010101" pitchFamily="2" charset="-122"/>
              </a:rPr>
              <a:t>（</a:t>
            </a:r>
            <a:r>
              <a:rPr lang="en-US" altLang="zh-CN" dirty="0">
                <a:solidFill>
                  <a:srgbClr val="FF0000"/>
                </a:solidFill>
              </a:rPr>
              <a:t>R</a:t>
            </a:r>
            <a:r>
              <a:rPr lang="en-US" altLang="zh-CN" dirty="0"/>
              <a:t>outing </a:t>
            </a:r>
            <a:r>
              <a:rPr lang="en-US" altLang="zh-CN" dirty="0">
                <a:solidFill>
                  <a:srgbClr val="FF0000"/>
                </a:solidFill>
              </a:rPr>
              <a:t>I</a:t>
            </a:r>
            <a:r>
              <a:rPr lang="en-US" altLang="zh-CN" dirty="0"/>
              <a:t>nformation </a:t>
            </a:r>
            <a:r>
              <a:rPr lang="en-US" altLang="zh-CN" dirty="0">
                <a:solidFill>
                  <a:srgbClr val="FF0000"/>
                </a:solidFill>
              </a:rPr>
              <a:t>P</a:t>
            </a:r>
            <a:r>
              <a:rPr lang="en-US" altLang="zh-CN" dirty="0"/>
              <a:t>rotocol</a:t>
            </a:r>
            <a:r>
              <a:rPr lang="zh-CN" altLang="en-US" dirty="0">
                <a:latin typeface="宋体" panose="02010600030101010101" pitchFamily="2" charset="-122"/>
              </a:rPr>
              <a:t>）来维护当前的核心路由表条目。正常情况下，</a:t>
            </a:r>
            <a:r>
              <a:rPr lang="en-US" altLang="zh-CN" dirty="0"/>
              <a:t>routed</a:t>
            </a:r>
            <a:r>
              <a:rPr lang="zh-CN" altLang="en-US" dirty="0">
                <a:latin typeface="宋体" panose="02010600030101010101" pitchFamily="2" charset="-122"/>
              </a:rPr>
              <a:t>监听</a:t>
            </a:r>
            <a:r>
              <a:rPr lang="en-US" altLang="zh-CN" dirty="0"/>
              <a:t>UDP</a:t>
            </a:r>
            <a:r>
              <a:rPr lang="zh-CN" altLang="en-US" dirty="0">
                <a:latin typeface="宋体" panose="02010600030101010101" pitchFamily="2" charset="-122"/>
              </a:rPr>
              <a:t>的端口</a:t>
            </a:r>
            <a:r>
              <a:rPr lang="en-US" altLang="zh-CN" dirty="0"/>
              <a:t>520</a:t>
            </a:r>
            <a:r>
              <a:rPr lang="zh-CN" altLang="en-US" dirty="0">
                <a:latin typeface="宋体" panose="02010600030101010101" pitchFamily="2" charset="-122"/>
              </a:rPr>
              <a:t>，为路由选择包提供路由服务。如果主机是一个网际路由器，</a:t>
            </a:r>
            <a:r>
              <a:rPr lang="en-US" altLang="zh-CN" dirty="0"/>
              <a:t>routed</a:t>
            </a:r>
            <a:r>
              <a:rPr lang="zh-CN" altLang="en-US" dirty="0">
                <a:latin typeface="宋体" panose="02010600030101010101" pitchFamily="2" charset="-122"/>
              </a:rPr>
              <a:t>会定期复制和发送它的路由表给与它直接相连的主机和网络。主机的路由表可以使用</a:t>
            </a:r>
            <a:r>
              <a:rPr lang="en-US" altLang="zh-CN" dirty="0" err="1"/>
              <a:t>netstat</a:t>
            </a:r>
            <a:r>
              <a:rPr lang="zh-CN" altLang="en-US" dirty="0">
                <a:latin typeface="宋体" panose="02010600030101010101" pitchFamily="2" charset="-122"/>
              </a:rPr>
              <a:t>命令打印出来。</a:t>
            </a:r>
            <a:r>
              <a:rPr lang="zh-CN" altLang="en-US" dirty="0"/>
              <a:t> </a:t>
            </a:r>
            <a:endParaRPr lang="zh-CN" altLang="en-US" dirty="0"/>
          </a:p>
        </p:txBody>
      </p:sp>
      <p:grpSp>
        <p:nvGrpSpPr>
          <p:cNvPr id="4" name="组合 3"/>
          <p:cNvGrpSpPr/>
          <p:nvPr/>
        </p:nvGrpSpPr>
        <p:grpSpPr>
          <a:xfrm>
            <a:off x="104560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649397"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路由守护程序</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routed </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5</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160703" y="810174"/>
            <a:ext cx="6288901" cy="523220"/>
          </a:xfrm>
          <a:prstGeom prst="rect">
            <a:avLst/>
          </a:prstGeom>
          <a:noFill/>
        </p:spPr>
        <p:txBody>
          <a:bodyPr wrap="none" rtlCol="0" anchor="t">
            <a:spAutoFit/>
          </a:bodyPr>
          <a:lstStyle/>
          <a:p>
            <a:r>
              <a:rPr lang="zh-CN" altLang="en-US" sz="2800" dirty="0">
                <a:latin typeface="宋体" panose="02010600030101010101" pitchFamily="2" charset="-122"/>
              </a:rPr>
              <a:t>大多数系统能够处理动态和静态路由</a:t>
            </a:r>
            <a:r>
              <a:rPr lang="zh-CN" altLang="en-US" sz="2800" dirty="0" smtClean="0">
                <a:latin typeface="宋体" panose="02010600030101010101" pitchFamily="2" charset="-122"/>
              </a:rPr>
              <a:t>。</a:t>
            </a:r>
            <a:endParaRPr lang="zh-CN" altLang="en-US" sz="2800" dirty="0">
              <a:latin typeface="宋体" panose="02010600030101010101" pitchFamily="2" charset="-122"/>
            </a:endParaRPr>
          </a:p>
        </p:txBody>
      </p:sp>
      <p:grpSp>
        <p:nvGrpSpPr>
          <p:cNvPr id="4" name="组合 3"/>
          <p:cNvGrpSpPr/>
          <p:nvPr/>
        </p:nvGrpSpPr>
        <p:grpSpPr>
          <a:xfrm>
            <a:off x="2026250" y="1798729"/>
            <a:ext cx="3897228" cy="4271600"/>
            <a:chOff x="1419126" y="2735782"/>
            <a:chExt cx="3318781" cy="3637587"/>
          </a:xfrm>
        </p:grpSpPr>
        <p:grpSp>
          <p:nvGrpSpPr>
            <p:cNvPr id="5" name="组合 4"/>
            <p:cNvGrpSpPr/>
            <p:nvPr/>
          </p:nvGrpSpPr>
          <p:grpSpPr>
            <a:xfrm>
              <a:off x="1419126" y="2735782"/>
              <a:ext cx="3318781" cy="3637587"/>
              <a:chOff x="1980913" y="3125907"/>
              <a:chExt cx="3318781" cy="3637587"/>
            </a:xfrm>
          </p:grpSpPr>
          <p:sp>
            <p:nvSpPr>
              <p:cNvPr id="7" name="椭圆 6"/>
              <p:cNvSpPr/>
              <p:nvPr/>
            </p:nvSpPr>
            <p:spPr>
              <a:xfrm>
                <a:off x="1980913" y="3125907"/>
                <a:ext cx="3318781" cy="3318781"/>
              </a:xfrm>
              <a:prstGeom prst="ellipse">
                <a:avLst/>
              </a:prstGeom>
              <a:solidFill>
                <a:schemeClr val="bg1">
                  <a:lumMod val="95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85000"/>
                      <a:lumOff val="15000"/>
                    </a:schemeClr>
                  </a:solidFill>
                </a:endParaRPr>
              </a:p>
            </p:txBody>
          </p:sp>
          <p:pic>
            <p:nvPicPr>
              <p:cNvPr id="8" name="图片 7"/>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6" name="矩形 5"/>
            <p:cNvSpPr/>
            <p:nvPr/>
          </p:nvSpPr>
          <p:spPr>
            <a:xfrm>
              <a:off x="1811220" y="3258587"/>
              <a:ext cx="2529055" cy="1965711"/>
            </a:xfrm>
            <a:prstGeom prst="rect">
              <a:avLst/>
            </a:prstGeom>
          </p:spPr>
          <p:txBody>
            <a:bodyPr wrap="square">
              <a:spAutoFit/>
            </a:bodyPr>
            <a:lstStyle/>
            <a:p>
              <a:pPr algn="just" fontAlgn="base">
                <a:spcAft>
                  <a:spcPct val="0"/>
                </a:spcAft>
                <a:defRPr/>
              </a:pPr>
              <a:r>
                <a:rPr lang="zh-CN" altLang="en-US" sz="2400" dirty="0">
                  <a:solidFill>
                    <a:srgbClr val="00B0F0"/>
                  </a:solidFill>
                  <a:latin typeface="宋体" panose="02010600030101010101" pitchFamily="2" charset="-122"/>
                </a:rPr>
                <a:t>动态路由</a:t>
              </a:r>
              <a:r>
                <a:rPr lang="zh-CN" altLang="en-US" sz="2400" dirty="0">
                  <a:latin typeface="宋体" panose="02010600030101010101" pitchFamily="2" charset="-122"/>
                </a:rPr>
                <a:t>由</a:t>
              </a:r>
              <a:r>
                <a:rPr lang="en-US" altLang="zh-CN" sz="2400" dirty="0"/>
                <a:t>routed</a:t>
              </a:r>
              <a:r>
                <a:rPr lang="zh-CN" altLang="en-US" sz="2400" dirty="0">
                  <a:latin typeface="宋体" panose="02010600030101010101" pitchFamily="2" charset="-122"/>
                </a:rPr>
                <a:t>守护程序处理。当路由改变时，</a:t>
              </a:r>
              <a:r>
                <a:rPr lang="en-US" altLang="zh-CN" sz="2400" dirty="0"/>
                <a:t>routed</a:t>
              </a:r>
              <a:r>
                <a:rPr lang="zh-CN" altLang="en-US" sz="2400" dirty="0">
                  <a:latin typeface="宋体" panose="02010600030101010101" pitchFamily="2" charset="-122"/>
                </a:rPr>
                <a:t>守护程序更改这个路由表，并且根据需要通知其他主机</a:t>
              </a:r>
              <a:r>
                <a:rPr lang="zh-CN" altLang="en-US" sz="2400" dirty="0" smtClean="0">
                  <a:latin typeface="宋体" panose="02010600030101010101" pitchFamily="2" charset="-122"/>
                </a:rPr>
                <a:t>。</a:t>
              </a:r>
              <a:endParaRPr lang="zh-CN" altLang="en-US" sz="2400" dirty="0">
                <a:solidFill>
                  <a:schemeClr val="tx1">
                    <a:lumMod val="85000"/>
                    <a:lumOff val="15000"/>
                  </a:schemeClr>
                </a:solidFill>
                <a:latin typeface="+mn-ea"/>
              </a:endParaRPr>
            </a:p>
          </p:txBody>
        </p:sp>
      </p:grpSp>
      <p:grpSp>
        <p:nvGrpSpPr>
          <p:cNvPr id="9" name="组合 8"/>
          <p:cNvGrpSpPr/>
          <p:nvPr/>
        </p:nvGrpSpPr>
        <p:grpSpPr>
          <a:xfrm>
            <a:off x="6846973" y="1823388"/>
            <a:ext cx="3897228" cy="4271600"/>
            <a:chOff x="1419126" y="2735782"/>
            <a:chExt cx="3318781" cy="3637587"/>
          </a:xfrm>
        </p:grpSpPr>
        <p:grpSp>
          <p:nvGrpSpPr>
            <p:cNvPr id="10" name="组合 9"/>
            <p:cNvGrpSpPr/>
            <p:nvPr/>
          </p:nvGrpSpPr>
          <p:grpSpPr>
            <a:xfrm>
              <a:off x="1419126" y="2735782"/>
              <a:ext cx="3318781" cy="3637587"/>
              <a:chOff x="1980913" y="3125907"/>
              <a:chExt cx="3318781" cy="3637587"/>
            </a:xfrm>
          </p:grpSpPr>
          <p:sp>
            <p:nvSpPr>
              <p:cNvPr id="12" name="椭圆 11"/>
              <p:cNvSpPr/>
              <p:nvPr/>
            </p:nvSpPr>
            <p:spPr>
              <a:xfrm>
                <a:off x="1980913" y="3125907"/>
                <a:ext cx="3318781" cy="3318781"/>
              </a:xfrm>
              <a:prstGeom prst="ellipse">
                <a:avLst/>
              </a:prstGeom>
              <a:solidFill>
                <a:schemeClr val="accent5">
                  <a:lumMod val="40000"/>
                  <a:lumOff val="6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85000"/>
                      <a:lumOff val="15000"/>
                    </a:schemeClr>
                  </a:solidFill>
                </a:endParaRPr>
              </a:p>
            </p:txBody>
          </p:sp>
          <p:pic>
            <p:nvPicPr>
              <p:cNvPr id="13" name="图片 12"/>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11" name="矩形 10"/>
            <p:cNvSpPr/>
            <p:nvPr/>
          </p:nvSpPr>
          <p:spPr>
            <a:xfrm>
              <a:off x="1811768" y="3709358"/>
              <a:ext cx="2527959" cy="1022170"/>
            </a:xfrm>
            <a:prstGeom prst="rect">
              <a:avLst/>
            </a:prstGeom>
          </p:spPr>
          <p:txBody>
            <a:bodyPr wrap="square">
              <a:spAutoFit/>
            </a:bodyPr>
            <a:lstStyle/>
            <a:p>
              <a:r>
                <a:rPr lang="zh-CN" altLang="en-US" sz="2400" dirty="0">
                  <a:solidFill>
                    <a:srgbClr val="00B0F0"/>
                  </a:solidFill>
                  <a:latin typeface="宋体" panose="02010600030101010101" pitchFamily="2" charset="-122"/>
                </a:rPr>
                <a:t>静态路由</a:t>
              </a:r>
              <a:r>
                <a:rPr lang="zh-CN" altLang="en-US" sz="2400" dirty="0">
                  <a:latin typeface="宋体" panose="02010600030101010101" pitchFamily="2" charset="-122"/>
                </a:rPr>
                <a:t>一般由</a:t>
              </a:r>
              <a:r>
                <a:rPr lang="en-US" altLang="zh-CN" sz="2400" dirty="0"/>
                <a:t>route</a:t>
              </a:r>
              <a:r>
                <a:rPr lang="zh-CN" altLang="en-US" sz="2400" dirty="0">
                  <a:latin typeface="宋体" panose="02010600030101010101" pitchFamily="2" charset="-122"/>
                </a:rPr>
                <a:t>命令手工操作，通常不用</a:t>
              </a:r>
              <a:r>
                <a:rPr lang="en-US" altLang="zh-CN" sz="2400" dirty="0"/>
                <a:t>routed</a:t>
              </a:r>
              <a:r>
                <a:rPr lang="zh-CN" altLang="en-US" sz="2400" dirty="0">
                  <a:latin typeface="宋体" panose="02010600030101010101" pitchFamily="2" charset="-122"/>
                </a:rPr>
                <a:t>守护程序。</a:t>
              </a:r>
              <a:r>
                <a:rPr lang="zh-CN" altLang="en-US" sz="2400" dirty="0"/>
                <a:t> </a:t>
              </a:r>
              <a:endParaRPr lang="zh-CN" altLang="en-US" sz="2400" dirty="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upRight)">
                                      <p:cBhvr>
                                        <p:cTn id="11" dur="500"/>
                                        <p:tgtEl>
                                          <p:spTgt spid="4"/>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trips(down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69634"/>
          <p:cNvSpPr>
            <a:spLocks noGrp="1"/>
          </p:cNvSpPr>
          <p:nvPr>
            <p:ph idx="1"/>
          </p:nvPr>
        </p:nvSpPr>
        <p:spPr>
          <a:xfrm>
            <a:off x="1259350" y="1901650"/>
            <a:ext cx="9760951" cy="3121621"/>
          </a:xfrm>
        </p:spPr>
        <p:txBody>
          <a:bodyPr anchor="t"/>
          <a:lstStyle/>
          <a:p>
            <a:r>
              <a:rPr lang="en-US" altLang="zh-CN" dirty="0"/>
              <a:t>       </a:t>
            </a:r>
            <a:r>
              <a:rPr lang="en-US" altLang="zh-CN" dirty="0" smtClean="0"/>
              <a:t>named</a:t>
            </a:r>
            <a:r>
              <a:rPr lang="zh-CN" altLang="en-US" dirty="0">
                <a:latin typeface="宋体" panose="02010600030101010101" pitchFamily="2" charset="-122"/>
              </a:rPr>
              <a:t>是</a:t>
            </a:r>
            <a:r>
              <a:rPr lang="en-US" altLang="zh-CN" dirty="0"/>
              <a:t>Internet</a:t>
            </a:r>
            <a:r>
              <a:rPr lang="zh-CN" altLang="en-US" dirty="0">
                <a:latin typeface="宋体" panose="02010600030101010101" pitchFamily="2" charset="-122"/>
              </a:rPr>
              <a:t>域名服务器，它是另一种提供主机名到</a:t>
            </a:r>
            <a:r>
              <a:rPr lang="en-US" altLang="zh-CN" dirty="0"/>
              <a:t>IP</a:t>
            </a:r>
            <a:r>
              <a:rPr lang="zh-CN" altLang="en-US" dirty="0">
                <a:latin typeface="宋体" panose="02010600030101010101" pitchFamily="2" charset="-122"/>
              </a:rPr>
              <a:t>地址转换的机制。这个守护程序能够根据网络管理员的需要承担各种角色，包括主要的、次要的、高速缓存以及作为从属的角色。如果不使用</a:t>
            </a:r>
            <a:r>
              <a:rPr lang="en-US" altLang="zh-CN" dirty="0"/>
              <a:t>/</a:t>
            </a:r>
            <a:r>
              <a:rPr lang="en-US" altLang="zh-CN" dirty="0" err="1"/>
              <a:t>etc</a:t>
            </a:r>
            <a:r>
              <a:rPr lang="en-US" altLang="zh-CN" dirty="0"/>
              <a:t>/hosts</a:t>
            </a:r>
            <a:r>
              <a:rPr lang="zh-CN" altLang="en-US" dirty="0">
                <a:latin typeface="宋体" panose="02010600030101010101" pitchFamily="2" charset="-122"/>
              </a:rPr>
              <a:t>文件而是系统配置了域名服务器</a:t>
            </a:r>
            <a:r>
              <a:rPr lang="en-US" altLang="zh-CN" dirty="0"/>
              <a:t>DNS</a:t>
            </a:r>
            <a:r>
              <a:rPr lang="zh-CN" altLang="en-US" dirty="0">
                <a:latin typeface="宋体" panose="02010600030101010101" pitchFamily="2" charset="-122"/>
              </a:rPr>
              <a:t>的话，主机就会向</a:t>
            </a:r>
            <a:r>
              <a:rPr lang="en-US" altLang="zh-CN" dirty="0"/>
              <a:t>DNS</a:t>
            </a:r>
            <a:r>
              <a:rPr lang="zh-CN" altLang="en-US" dirty="0">
                <a:latin typeface="宋体" panose="02010600030101010101" pitchFamily="2" charset="-122"/>
              </a:rPr>
              <a:t>发出请求以获得其</a:t>
            </a:r>
            <a:r>
              <a:rPr lang="en-US" altLang="zh-CN" dirty="0"/>
              <a:t>IP</a:t>
            </a:r>
            <a:r>
              <a:rPr lang="zh-CN" altLang="en-US" dirty="0">
                <a:latin typeface="宋体" panose="02010600030101010101" pitchFamily="2" charset="-122"/>
              </a:rPr>
              <a:t>地址。</a:t>
            </a:r>
            <a:r>
              <a:rPr lang="zh-CN" altLang="en-US" dirty="0"/>
              <a:t> </a:t>
            </a:r>
            <a:endParaRPr lang="zh-CN" altLang="en-US" dirty="0"/>
          </a:p>
        </p:txBody>
      </p:sp>
      <p:grpSp>
        <p:nvGrpSpPr>
          <p:cNvPr id="4" name="组合 3"/>
          <p:cNvGrpSpPr/>
          <p:nvPr/>
        </p:nvGrpSpPr>
        <p:grpSpPr>
          <a:xfrm>
            <a:off x="1057474"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315605" cy="523220"/>
            </a:xfrm>
            <a:prstGeom prst="rect">
              <a:avLst/>
            </a:prstGeom>
          </p:spPr>
          <p:txBody>
            <a:bodyPr wrap="none">
              <a:spAutoFit/>
            </a:bodyPr>
            <a:lstStyle/>
            <a:p>
              <a:pPr fontAlgn="base">
                <a:spcAft>
                  <a:spcPct val="0"/>
                </a:spcAft>
                <a:defRPr/>
              </a:pP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域名服务守护程序</a:t>
              </a: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named</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6</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70658"/>
          <p:cNvSpPr>
            <a:spLocks noGrp="1"/>
          </p:cNvSpPr>
          <p:nvPr>
            <p:ph idx="1"/>
          </p:nvPr>
        </p:nvSpPr>
        <p:spPr>
          <a:xfrm>
            <a:off x="1217251" y="1866020"/>
            <a:ext cx="9838676" cy="2480353"/>
          </a:xfrm>
        </p:spPr>
        <p:txBody>
          <a:bodyPr anchor="t"/>
          <a:lstStyle/>
          <a:p>
            <a:r>
              <a:rPr lang="en-US" altLang="zh-CN" dirty="0"/>
              <a:t>       </a:t>
            </a:r>
            <a:r>
              <a:rPr lang="en-US" altLang="zh-CN" dirty="0" err="1" smtClean="0"/>
              <a:t>snmpd</a:t>
            </a:r>
            <a:r>
              <a:rPr lang="zh-CN" altLang="en-US" dirty="0">
                <a:latin typeface="宋体" panose="02010600030101010101" pitchFamily="2" charset="-122"/>
              </a:rPr>
              <a:t>守护程序是简单网络管理协议</a:t>
            </a:r>
            <a:r>
              <a:rPr lang="en-US" altLang="zh-CN" dirty="0"/>
              <a:t>SNMP</a:t>
            </a:r>
            <a:r>
              <a:rPr lang="zh-CN" altLang="en-US" dirty="0">
                <a:latin typeface="宋体" panose="02010600030101010101" pitchFamily="2" charset="-122"/>
              </a:rPr>
              <a:t>的一个实现，该守护程序能够从其他系统的代理</a:t>
            </a:r>
            <a:r>
              <a:rPr lang="en-US" altLang="zh-CN" dirty="0"/>
              <a:t>SNMP</a:t>
            </a:r>
            <a:r>
              <a:rPr lang="zh-CN" altLang="en-US" dirty="0">
                <a:latin typeface="宋体" panose="02010600030101010101" pitchFamily="2" charset="-122"/>
              </a:rPr>
              <a:t>接收信息，而不需要在每一个系统上安装</a:t>
            </a:r>
            <a:r>
              <a:rPr lang="en-US" altLang="zh-CN" dirty="0"/>
              <a:t>SNMP</a:t>
            </a:r>
            <a:r>
              <a:rPr lang="zh-CN" altLang="en-US" dirty="0">
                <a:latin typeface="宋体" panose="02010600030101010101" pitchFamily="2" charset="-122"/>
              </a:rPr>
              <a:t>管理软件。</a:t>
            </a:r>
            <a:r>
              <a:rPr lang="zh-CN" altLang="en-US" dirty="0"/>
              <a:t>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929281"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SNMP</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守护程序</a:t>
              </a: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snmpd</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7</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71682"/>
          <p:cNvSpPr>
            <a:spLocks noGrp="1"/>
          </p:cNvSpPr>
          <p:nvPr>
            <p:ph idx="1"/>
          </p:nvPr>
        </p:nvSpPr>
        <p:spPr>
          <a:xfrm>
            <a:off x="1124712" y="1520762"/>
            <a:ext cx="9921240" cy="4767262"/>
          </a:xfrm>
        </p:spPr>
        <p:txBody>
          <a:bodyPr anchor="t"/>
          <a:lstStyle/>
          <a:p>
            <a:pPr algn="just"/>
            <a:r>
              <a:rPr lang="en-US" altLang="zh-CN" dirty="0"/>
              <a:t>       </a:t>
            </a:r>
            <a:r>
              <a:rPr lang="zh-CN" altLang="en-US" dirty="0" smtClean="0"/>
              <a:t>每个</a:t>
            </a:r>
            <a:r>
              <a:rPr lang="zh-CN" altLang="en-US" dirty="0"/>
              <a:t>应用程序（如</a:t>
            </a:r>
            <a:r>
              <a:rPr lang="en-US" altLang="zh-CN" dirty="0"/>
              <a:t>FTP</a:t>
            </a:r>
            <a:r>
              <a:rPr lang="zh-CN" altLang="en-US" dirty="0"/>
              <a:t>、</a:t>
            </a:r>
            <a:r>
              <a:rPr lang="en-US" altLang="zh-CN" dirty="0"/>
              <a:t>TELNET</a:t>
            </a:r>
            <a:r>
              <a:rPr lang="zh-CN" altLang="en-US" dirty="0"/>
              <a:t>等）被赋予一个唯一的地址，该地址称为端口。指定的应用程序与特定的端口连接。当任何连接请求到达该端口时，对应的应用程序便被</a:t>
            </a:r>
            <a:r>
              <a:rPr lang="en-US" altLang="zh-CN" smtClean="0"/>
              <a:t>inetd</a:t>
            </a:r>
            <a:r>
              <a:rPr lang="zh-CN" altLang="en-US" dirty="0"/>
              <a:t>启动。</a:t>
            </a:r>
            <a:endParaRPr lang="zh-CN" altLang="en-US" dirty="0"/>
          </a:p>
          <a:p>
            <a:r>
              <a:rPr lang="zh-CN" altLang="en-US" dirty="0">
                <a:latin typeface="宋体" panose="02010600030101010101" pitchFamily="2" charset="-122"/>
              </a:rPr>
              <a:t>    </a:t>
            </a:r>
            <a:r>
              <a:rPr lang="zh-CN" altLang="en-US" dirty="0" smtClean="0">
                <a:latin typeface="宋体" panose="02010600030101010101" pitchFamily="2" charset="-122"/>
              </a:rPr>
              <a:t>一般</a:t>
            </a:r>
            <a:r>
              <a:rPr lang="zh-CN" altLang="en-US" dirty="0">
                <a:latin typeface="宋体" panose="02010600030101010101" pitchFamily="2" charset="-122"/>
              </a:rPr>
              <a:t>的</a:t>
            </a:r>
            <a:r>
              <a:rPr lang="en-US" altLang="zh-CN" dirty="0"/>
              <a:t>Internet</a:t>
            </a:r>
            <a:r>
              <a:rPr lang="zh-CN" altLang="en-US" dirty="0">
                <a:latin typeface="宋体" panose="02010600030101010101" pitchFamily="2" charset="-122"/>
              </a:rPr>
              <a:t>服务器上有数千个端口。尽管系统管理员可以把服务</a:t>
            </a:r>
            <a:r>
              <a:rPr lang="zh-CN" altLang="en-US" b="1" dirty="0">
                <a:latin typeface="宋体" panose="02010600030101010101" pitchFamily="2" charset="-122"/>
              </a:rPr>
              <a:t>绑定（</a:t>
            </a:r>
            <a:r>
              <a:rPr lang="en-US" altLang="zh-CN" b="1" dirty="0"/>
              <a:t>Bind</a:t>
            </a:r>
            <a:r>
              <a:rPr lang="zh-CN" altLang="en-US" b="1" dirty="0">
                <a:latin typeface="宋体" panose="02010600030101010101" pitchFamily="2" charset="-122"/>
              </a:rPr>
              <a:t>）</a:t>
            </a:r>
            <a:r>
              <a:rPr lang="zh-CN" altLang="en-US" dirty="0">
                <a:latin typeface="宋体" panose="02010600030101010101" pitchFamily="2" charset="-122"/>
              </a:rPr>
              <a:t>到他选定的端口上，但服务一般都被绑定到指定的</a:t>
            </a:r>
            <a:r>
              <a:rPr lang="zh-CN" altLang="en-US" b="1" dirty="0">
                <a:latin typeface="宋体" panose="02010600030101010101" pitchFamily="2" charset="-122"/>
              </a:rPr>
              <a:t>众所周知</a:t>
            </a:r>
            <a:r>
              <a:rPr lang="zh-CN" altLang="en-US" dirty="0">
                <a:latin typeface="宋体" panose="02010600030101010101" pitchFamily="2" charset="-122"/>
              </a:rPr>
              <a:t>（</a:t>
            </a:r>
            <a:r>
              <a:rPr lang="en-US" altLang="zh-CN" dirty="0"/>
              <a:t>well-known</a:t>
            </a:r>
            <a:r>
              <a:rPr lang="zh-CN" altLang="en-US" dirty="0">
                <a:latin typeface="宋体" panose="02010600030101010101" pitchFamily="2" charset="-122"/>
              </a:rPr>
              <a:t>）的端口上。</a:t>
            </a:r>
            <a:r>
              <a:rPr lang="zh-CN" altLang="en-US" dirty="0"/>
              <a:t> </a:t>
            </a:r>
            <a:endParaRPr lang="zh-CN" altLang="en-US" dirty="0"/>
          </a:p>
        </p:txBody>
      </p:sp>
      <p:grpSp>
        <p:nvGrpSpPr>
          <p:cNvPr id="4" name="组合 3"/>
          <p:cNvGrpSpPr/>
          <p:nvPr/>
        </p:nvGrpSpPr>
        <p:grpSpPr>
          <a:xfrm>
            <a:off x="4720876" y="476934"/>
            <a:ext cx="2728912" cy="791052"/>
            <a:chOff x="824072" y="1564267"/>
            <a:chExt cx="2728912" cy="791052"/>
          </a:xfrm>
        </p:grpSpPr>
        <p:sp>
          <p:nvSpPr>
            <p:cNvPr id="5" name="矩形: 圆角 28"/>
            <p:cNvSpPr/>
            <p:nvPr/>
          </p:nvSpPr>
          <p:spPr>
            <a:xfrm>
              <a:off x="824072" y="1740416"/>
              <a:ext cx="272891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1846980" cy="480131"/>
            </a:xfrm>
            <a:prstGeom prst="rect">
              <a:avLst/>
            </a:prstGeom>
          </p:spPr>
          <p:txBody>
            <a:bodyPr wrap="none">
              <a:spAutoFit/>
            </a:bodyPr>
            <a:lstStyle/>
            <a:p>
              <a:pPr>
                <a:lnSpc>
                  <a:spcPct val="90000"/>
                </a:lnSpc>
              </a:pPr>
              <a:r>
                <a:rPr lang="en-US" altLang="zh-CN" sz="2800" dirty="0">
                  <a:solidFill>
                    <a:schemeClr val="bg1"/>
                  </a:solidFill>
                  <a:latin typeface="+mj-ea"/>
                </a:rPr>
                <a:t>2.4.2 </a:t>
              </a:r>
              <a:r>
                <a:rPr lang="zh-CN" altLang="en-US" sz="2800" dirty="0">
                  <a:solidFill>
                    <a:schemeClr val="bg1"/>
                  </a:solidFill>
                  <a:latin typeface="+mj-ea"/>
                </a:rPr>
                <a:t>端口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title"/>
          </p:nvPr>
        </p:nvSpPr>
        <p:spPr>
          <a:xfrm>
            <a:off x="1906160" y="510819"/>
            <a:ext cx="8376582" cy="648000"/>
          </a:xfrm>
        </p:spPr>
        <p:txBody>
          <a:bodyPr vert="horz" lIns="92075" tIns="46038" rIns="92075" bIns="46038" rtlCol="0" anchor="ctr" anchorCtr="0">
            <a:noAutofit/>
          </a:bodyPr>
          <a:lstStyle/>
          <a:p>
            <a:pPr fontAlgn="base"/>
            <a:r>
              <a:rPr lang="zh-CN" altLang="en-US" sz="3200" dirty="0">
                <a:latin typeface="宋体" panose="02010600030101010101" pitchFamily="2" charset="-122"/>
              </a:rPr>
              <a:t>表</a:t>
            </a:r>
            <a:r>
              <a:rPr lang="en-US" altLang="zh-CN" sz="3200" dirty="0"/>
              <a:t>2-3  </a:t>
            </a:r>
            <a:r>
              <a:rPr lang="zh-CN" altLang="en-US" sz="3200" dirty="0">
                <a:latin typeface="宋体" panose="02010600030101010101" pitchFamily="2" charset="-122"/>
              </a:rPr>
              <a:t>各应用程序或服务对应的固定端口</a:t>
            </a:r>
            <a:r>
              <a:rPr lang="zh-CN" altLang="en-US" strike="noStrike" noProof="1"/>
              <a:t> </a:t>
            </a:r>
            <a:endParaRPr lang="zh-CN" altLang="en-US" strike="noStrike" noProof="1"/>
          </a:p>
        </p:txBody>
      </p:sp>
      <p:grpSp>
        <p:nvGrpSpPr>
          <p:cNvPr id="2" name="组合 72763"/>
          <p:cNvGrpSpPr/>
          <p:nvPr/>
        </p:nvGrpSpPr>
        <p:grpSpPr>
          <a:xfrm>
            <a:off x="3311563" y="1384330"/>
            <a:ext cx="5565775" cy="4864100"/>
            <a:chOff x="-3" y="-3"/>
            <a:chExt cx="2020" cy="3633"/>
          </a:xfrm>
          <a:solidFill>
            <a:srgbClr val="CCFFFF">
              <a:alpha val="16863"/>
            </a:srgbClr>
          </a:solidFill>
        </p:grpSpPr>
        <p:grpSp>
          <p:nvGrpSpPr>
            <p:cNvPr id="72707" name="组合 72761"/>
            <p:cNvGrpSpPr/>
            <p:nvPr/>
          </p:nvGrpSpPr>
          <p:grpSpPr>
            <a:xfrm>
              <a:off x="0" y="0"/>
              <a:ext cx="2014" cy="3627"/>
              <a:chOff x="0" y="0"/>
              <a:chExt cx="2014" cy="3627"/>
            </a:xfrm>
            <a:grpFill/>
          </p:grpSpPr>
          <p:grpSp>
            <p:nvGrpSpPr>
              <p:cNvPr id="72708" name="组合 72726"/>
              <p:cNvGrpSpPr/>
              <p:nvPr/>
            </p:nvGrpSpPr>
            <p:grpSpPr>
              <a:xfrm>
                <a:off x="0" y="0"/>
                <a:ext cx="1118" cy="403"/>
                <a:chOff x="0" y="0"/>
                <a:chExt cx="1118" cy="403"/>
              </a:xfrm>
              <a:grpFill/>
            </p:grpSpPr>
            <p:sp>
              <p:nvSpPr>
                <p:cNvPr id="72709" name="矩形 72707"/>
                <p:cNvSpPr/>
                <p:nvPr/>
              </p:nvSpPr>
              <p:spPr>
                <a:xfrm>
                  <a:off x="43" y="0"/>
                  <a:ext cx="1032" cy="403"/>
                </a:xfrm>
                <a:prstGeom prst="rect">
                  <a:avLst/>
                </a:prstGeom>
                <a:grpFill/>
                <a:ln w="9525">
                  <a:noFill/>
                </a:ln>
              </p:spPr>
              <p:txBody>
                <a:bodyPr anchor="t"/>
                <a:lstStyle/>
                <a:p>
                  <a:pPr algn="ctr"/>
                  <a:r>
                    <a:rPr lang="zh-CN" altLang="en-US" dirty="0"/>
                    <a:t>应用程序或服务</a:t>
                  </a:r>
                  <a:endParaRPr lang="zh-CN" altLang="en-US" dirty="0"/>
                </a:p>
              </p:txBody>
            </p:sp>
            <p:sp>
              <p:nvSpPr>
                <p:cNvPr id="72710" name="矩形 72725"/>
                <p:cNvSpPr/>
                <p:nvPr/>
              </p:nvSpPr>
              <p:spPr>
                <a:xfrm>
                  <a:off x="0" y="0"/>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11" name="组合 72728"/>
              <p:cNvGrpSpPr/>
              <p:nvPr/>
            </p:nvGrpSpPr>
            <p:grpSpPr>
              <a:xfrm>
                <a:off x="1118" y="0"/>
                <a:ext cx="896" cy="403"/>
                <a:chOff x="1118" y="0"/>
                <a:chExt cx="896" cy="403"/>
              </a:xfrm>
              <a:grpFill/>
            </p:grpSpPr>
            <p:sp>
              <p:nvSpPr>
                <p:cNvPr id="72712" name="矩形 72708"/>
                <p:cNvSpPr/>
                <p:nvPr/>
              </p:nvSpPr>
              <p:spPr>
                <a:xfrm>
                  <a:off x="1161" y="0"/>
                  <a:ext cx="810" cy="403"/>
                </a:xfrm>
                <a:prstGeom prst="rect">
                  <a:avLst/>
                </a:prstGeom>
                <a:grpFill/>
                <a:ln w="9525">
                  <a:noFill/>
                </a:ln>
              </p:spPr>
              <p:txBody>
                <a:bodyPr anchor="t"/>
                <a:lstStyle/>
                <a:p>
                  <a:pPr algn="ctr"/>
                  <a:r>
                    <a:rPr lang="zh-CN" altLang="en-US" dirty="0"/>
                    <a:t>端口</a:t>
                  </a:r>
                  <a:endParaRPr lang="zh-CN" altLang="en-US" dirty="0"/>
                </a:p>
              </p:txBody>
            </p:sp>
            <p:sp>
              <p:nvSpPr>
                <p:cNvPr id="72713" name="矩形 72727"/>
                <p:cNvSpPr/>
                <p:nvPr/>
              </p:nvSpPr>
              <p:spPr>
                <a:xfrm>
                  <a:off x="1118" y="0"/>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14" name="组合 72730"/>
              <p:cNvGrpSpPr/>
              <p:nvPr/>
            </p:nvGrpSpPr>
            <p:grpSpPr>
              <a:xfrm>
                <a:off x="0" y="403"/>
                <a:ext cx="1118" cy="403"/>
                <a:chOff x="0" y="403"/>
                <a:chExt cx="1118" cy="403"/>
              </a:xfrm>
              <a:grpFill/>
            </p:grpSpPr>
            <p:sp>
              <p:nvSpPr>
                <p:cNvPr id="72715" name="矩形 72709"/>
                <p:cNvSpPr/>
                <p:nvPr/>
              </p:nvSpPr>
              <p:spPr>
                <a:xfrm>
                  <a:off x="43" y="403"/>
                  <a:ext cx="1032" cy="403"/>
                </a:xfrm>
                <a:prstGeom prst="rect">
                  <a:avLst/>
                </a:prstGeom>
                <a:grpFill/>
                <a:ln w="9525">
                  <a:noFill/>
                </a:ln>
              </p:spPr>
              <p:txBody>
                <a:bodyPr anchor="t"/>
                <a:lstStyle/>
                <a:p>
                  <a:pPr algn="ctr"/>
                  <a:r>
                    <a:rPr lang="en-US" altLang="zh-CN"/>
                    <a:t>FTP</a:t>
                  </a:r>
                  <a:endParaRPr lang="en-US" altLang="zh-CN"/>
                </a:p>
              </p:txBody>
            </p:sp>
            <p:sp>
              <p:nvSpPr>
                <p:cNvPr id="72716" name="矩形 72729"/>
                <p:cNvSpPr/>
                <p:nvPr/>
              </p:nvSpPr>
              <p:spPr>
                <a:xfrm>
                  <a:off x="0" y="403"/>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17" name="组合 72732"/>
              <p:cNvGrpSpPr/>
              <p:nvPr/>
            </p:nvGrpSpPr>
            <p:grpSpPr>
              <a:xfrm>
                <a:off x="1118" y="403"/>
                <a:ext cx="896" cy="403"/>
                <a:chOff x="1118" y="403"/>
                <a:chExt cx="896" cy="403"/>
              </a:xfrm>
              <a:grpFill/>
            </p:grpSpPr>
            <p:sp>
              <p:nvSpPr>
                <p:cNvPr id="72718" name="矩形 72710"/>
                <p:cNvSpPr/>
                <p:nvPr/>
              </p:nvSpPr>
              <p:spPr>
                <a:xfrm>
                  <a:off x="1161" y="403"/>
                  <a:ext cx="810" cy="403"/>
                </a:xfrm>
                <a:prstGeom prst="rect">
                  <a:avLst/>
                </a:prstGeom>
                <a:grpFill/>
                <a:ln w="9525">
                  <a:noFill/>
                </a:ln>
              </p:spPr>
              <p:txBody>
                <a:bodyPr anchor="t"/>
                <a:lstStyle/>
                <a:p>
                  <a:pPr algn="ctr"/>
                  <a:r>
                    <a:rPr lang="en-US" altLang="zh-CN" dirty="0"/>
                    <a:t>20</a:t>
                  </a:r>
                  <a:r>
                    <a:rPr lang="zh-CN" altLang="en-US" dirty="0"/>
                    <a:t>，</a:t>
                  </a:r>
                  <a:r>
                    <a:rPr lang="en-US" altLang="zh-CN"/>
                    <a:t>21</a:t>
                  </a:r>
                  <a:endParaRPr lang="en-US" altLang="zh-CN"/>
                </a:p>
              </p:txBody>
            </p:sp>
            <p:sp>
              <p:nvSpPr>
                <p:cNvPr id="72719" name="矩形 72731"/>
                <p:cNvSpPr/>
                <p:nvPr/>
              </p:nvSpPr>
              <p:spPr>
                <a:xfrm>
                  <a:off x="1118" y="403"/>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20" name="组合 72734"/>
              <p:cNvGrpSpPr/>
              <p:nvPr/>
            </p:nvGrpSpPr>
            <p:grpSpPr>
              <a:xfrm>
                <a:off x="0" y="806"/>
                <a:ext cx="1118" cy="403"/>
                <a:chOff x="0" y="806"/>
                <a:chExt cx="1118" cy="403"/>
              </a:xfrm>
              <a:grpFill/>
            </p:grpSpPr>
            <p:sp>
              <p:nvSpPr>
                <p:cNvPr id="72721" name="矩形 72711"/>
                <p:cNvSpPr/>
                <p:nvPr/>
              </p:nvSpPr>
              <p:spPr>
                <a:xfrm>
                  <a:off x="43" y="806"/>
                  <a:ext cx="1032" cy="403"/>
                </a:xfrm>
                <a:prstGeom prst="rect">
                  <a:avLst/>
                </a:prstGeom>
                <a:grpFill/>
                <a:ln w="9525">
                  <a:noFill/>
                </a:ln>
              </p:spPr>
              <p:txBody>
                <a:bodyPr anchor="t"/>
                <a:lstStyle/>
                <a:p>
                  <a:pPr algn="ctr"/>
                  <a:r>
                    <a:rPr lang="en-US" altLang="zh-CN"/>
                    <a:t>TELNET</a:t>
                  </a:r>
                  <a:endParaRPr lang="en-US" altLang="zh-CN"/>
                </a:p>
              </p:txBody>
            </p:sp>
            <p:sp>
              <p:nvSpPr>
                <p:cNvPr id="72722" name="矩形 72733"/>
                <p:cNvSpPr/>
                <p:nvPr/>
              </p:nvSpPr>
              <p:spPr>
                <a:xfrm>
                  <a:off x="0" y="806"/>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23" name="组合 72736"/>
              <p:cNvGrpSpPr/>
              <p:nvPr/>
            </p:nvGrpSpPr>
            <p:grpSpPr>
              <a:xfrm>
                <a:off x="1118" y="806"/>
                <a:ext cx="896" cy="403"/>
                <a:chOff x="1118" y="806"/>
                <a:chExt cx="896" cy="403"/>
              </a:xfrm>
              <a:grpFill/>
            </p:grpSpPr>
            <p:sp>
              <p:nvSpPr>
                <p:cNvPr id="72724" name="矩形 72712"/>
                <p:cNvSpPr/>
                <p:nvPr/>
              </p:nvSpPr>
              <p:spPr>
                <a:xfrm>
                  <a:off x="1161" y="806"/>
                  <a:ext cx="810" cy="403"/>
                </a:xfrm>
                <a:prstGeom prst="rect">
                  <a:avLst/>
                </a:prstGeom>
                <a:grpFill/>
                <a:ln w="9525">
                  <a:noFill/>
                </a:ln>
              </p:spPr>
              <p:txBody>
                <a:bodyPr anchor="t"/>
                <a:lstStyle/>
                <a:p>
                  <a:pPr algn="ctr"/>
                  <a:r>
                    <a:rPr lang="en-US" altLang="zh-CN"/>
                    <a:t>23</a:t>
                  </a:r>
                  <a:endParaRPr lang="en-US" altLang="zh-CN"/>
                </a:p>
              </p:txBody>
            </p:sp>
            <p:sp>
              <p:nvSpPr>
                <p:cNvPr id="72725" name="矩形 72735"/>
                <p:cNvSpPr/>
                <p:nvPr/>
              </p:nvSpPr>
              <p:spPr>
                <a:xfrm>
                  <a:off x="1118" y="806"/>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26" name="组合 72738"/>
              <p:cNvGrpSpPr/>
              <p:nvPr/>
            </p:nvGrpSpPr>
            <p:grpSpPr>
              <a:xfrm>
                <a:off x="0" y="1209"/>
                <a:ext cx="1118" cy="403"/>
                <a:chOff x="0" y="1209"/>
                <a:chExt cx="1118" cy="403"/>
              </a:xfrm>
              <a:grpFill/>
            </p:grpSpPr>
            <p:sp>
              <p:nvSpPr>
                <p:cNvPr id="72727" name="矩形 72713"/>
                <p:cNvSpPr/>
                <p:nvPr/>
              </p:nvSpPr>
              <p:spPr>
                <a:xfrm>
                  <a:off x="43" y="1209"/>
                  <a:ext cx="1032" cy="403"/>
                </a:xfrm>
                <a:prstGeom prst="rect">
                  <a:avLst/>
                </a:prstGeom>
                <a:grpFill/>
                <a:ln w="9525">
                  <a:noFill/>
                </a:ln>
              </p:spPr>
              <p:txBody>
                <a:bodyPr anchor="t"/>
                <a:lstStyle/>
                <a:p>
                  <a:pPr algn="ctr"/>
                  <a:r>
                    <a:rPr lang="en-US" altLang="zh-CN"/>
                    <a:t>SMTP</a:t>
                  </a:r>
                  <a:endParaRPr lang="en-US" altLang="zh-CN"/>
                </a:p>
              </p:txBody>
            </p:sp>
            <p:sp>
              <p:nvSpPr>
                <p:cNvPr id="72728" name="矩形 72737"/>
                <p:cNvSpPr/>
                <p:nvPr/>
              </p:nvSpPr>
              <p:spPr>
                <a:xfrm>
                  <a:off x="0" y="1209"/>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29" name="组合 72740"/>
              <p:cNvGrpSpPr/>
              <p:nvPr/>
            </p:nvGrpSpPr>
            <p:grpSpPr>
              <a:xfrm>
                <a:off x="1118" y="1209"/>
                <a:ext cx="896" cy="403"/>
                <a:chOff x="1118" y="1209"/>
                <a:chExt cx="896" cy="403"/>
              </a:xfrm>
              <a:grpFill/>
            </p:grpSpPr>
            <p:sp>
              <p:nvSpPr>
                <p:cNvPr id="72730" name="矩形 72714"/>
                <p:cNvSpPr/>
                <p:nvPr/>
              </p:nvSpPr>
              <p:spPr>
                <a:xfrm>
                  <a:off x="1161" y="1209"/>
                  <a:ext cx="810" cy="403"/>
                </a:xfrm>
                <a:prstGeom prst="rect">
                  <a:avLst/>
                </a:prstGeom>
                <a:grpFill/>
                <a:ln w="9525">
                  <a:noFill/>
                </a:ln>
              </p:spPr>
              <p:txBody>
                <a:bodyPr anchor="t"/>
                <a:lstStyle/>
                <a:p>
                  <a:pPr algn="ctr"/>
                  <a:r>
                    <a:rPr lang="en-US" altLang="zh-CN"/>
                    <a:t>25</a:t>
                  </a:r>
                  <a:endParaRPr lang="en-US" altLang="zh-CN"/>
                </a:p>
              </p:txBody>
            </p:sp>
            <p:sp>
              <p:nvSpPr>
                <p:cNvPr id="72731" name="矩形 72739"/>
                <p:cNvSpPr/>
                <p:nvPr/>
              </p:nvSpPr>
              <p:spPr>
                <a:xfrm>
                  <a:off x="1118" y="1209"/>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32" name="组合 72742"/>
              <p:cNvGrpSpPr/>
              <p:nvPr/>
            </p:nvGrpSpPr>
            <p:grpSpPr>
              <a:xfrm>
                <a:off x="0" y="1612"/>
                <a:ext cx="1118" cy="403"/>
                <a:chOff x="0" y="1612"/>
                <a:chExt cx="1118" cy="403"/>
              </a:xfrm>
              <a:grpFill/>
            </p:grpSpPr>
            <p:sp>
              <p:nvSpPr>
                <p:cNvPr id="72733" name="矩形 72715"/>
                <p:cNvSpPr/>
                <p:nvPr/>
              </p:nvSpPr>
              <p:spPr>
                <a:xfrm>
                  <a:off x="43" y="1612"/>
                  <a:ext cx="1032" cy="403"/>
                </a:xfrm>
                <a:prstGeom prst="rect">
                  <a:avLst/>
                </a:prstGeom>
                <a:grpFill/>
                <a:ln w="9525">
                  <a:noFill/>
                </a:ln>
              </p:spPr>
              <p:txBody>
                <a:bodyPr anchor="t"/>
                <a:lstStyle/>
                <a:p>
                  <a:pPr algn="ctr"/>
                  <a:r>
                    <a:rPr lang="en-US" altLang="zh-CN"/>
                    <a:t>GOPHER</a:t>
                  </a:r>
                  <a:endParaRPr lang="en-US" altLang="zh-CN"/>
                </a:p>
              </p:txBody>
            </p:sp>
            <p:sp>
              <p:nvSpPr>
                <p:cNvPr id="72734" name="矩形 72741"/>
                <p:cNvSpPr/>
                <p:nvPr/>
              </p:nvSpPr>
              <p:spPr>
                <a:xfrm>
                  <a:off x="0" y="1612"/>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35" name="组合 72744"/>
              <p:cNvGrpSpPr/>
              <p:nvPr/>
            </p:nvGrpSpPr>
            <p:grpSpPr>
              <a:xfrm>
                <a:off x="1118" y="1612"/>
                <a:ext cx="896" cy="403"/>
                <a:chOff x="1118" y="1612"/>
                <a:chExt cx="896" cy="403"/>
              </a:xfrm>
              <a:grpFill/>
            </p:grpSpPr>
            <p:sp>
              <p:nvSpPr>
                <p:cNvPr id="72736" name="矩形 72716"/>
                <p:cNvSpPr/>
                <p:nvPr/>
              </p:nvSpPr>
              <p:spPr>
                <a:xfrm>
                  <a:off x="1161" y="1612"/>
                  <a:ext cx="810" cy="403"/>
                </a:xfrm>
                <a:prstGeom prst="rect">
                  <a:avLst/>
                </a:prstGeom>
                <a:grpFill/>
                <a:ln w="9525">
                  <a:noFill/>
                </a:ln>
              </p:spPr>
              <p:txBody>
                <a:bodyPr anchor="t"/>
                <a:lstStyle/>
                <a:p>
                  <a:pPr algn="ctr"/>
                  <a:r>
                    <a:rPr lang="en-US" altLang="zh-CN"/>
                    <a:t>70</a:t>
                  </a:r>
                  <a:endParaRPr lang="en-US" altLang="zh-CN"/>
                </a:p>
              </p:txBody>
            </p:sp>
            <p:sp>
              <p:nvSpPr>
                <p:cNvPr id="72737" name="矩形 72743"/>
                <p:cNvSpPr/>
                <p:nvPr/>
              </p:nvSpPr>
              <p:spPr>
                <a:xfrm>
                  <a:off x="1118" y="1612"/>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38" name="组合 72746"/>
              <p:cNvGrpSpPr/>
              <p:nvPr/>
            </p:nvGrpSpPr>
            <p:grpSpPr>
              <a:xfrm>
                <a:off x="0" y="2015"/>
                <a:ext cx="1118" cy="403"/>
                <a:chOff x="0" y="2015"/>
                <a:chExt cx="1118" cy="403"/>
              </a:xfrm>
              <a:grpFill/>
            </p:grpSpPr>
            <p:sp>
              <p:nvSpPr>
                <p:cNvPr id="72739" name="矩形 72717"/>
                <p:cNvSpPr/>
                <p:nvPr/>
              </p:nvSpPr>
              <p:spPr>
                <a:xfrm>
                  <a:off x="43" y="2015"/>
                  <a:ext cx="1032" cy="403"/>
                </a:xfrm>
                <a:prstGeom prst="rect">
                  <a:avLst/>
                </a:prstGeom>
                <a:grpFill/>
                <a:ln w="9525">
                  <a:noFill/>
                </a:ln>
              </p:spPr>
              <p:txBody>
                <a:bodyPr anchor="t"/>
                <a:lstStyle/>
                <a:p>
                  <a:pPr algn="ctr"/>
                  <a:r>
                    <a:rPr lang="en-US" altLang="zh-CN"/>
                    <a:t>FINGER</a:t>
                  </a:r>
                  <a:endParaRPr lang="en-US" altLang="zh-CN"/>
                </a:p>
              </p:txBody>
            </p:sp>
            <p:sp>
              <p:nvSpPr>
                <p:cNvPr id="72740" name="矩形 72745"/>
                <p:cNvSpPr/>
                <p:nvPr/>
              </p:nvSpPr>
              <p:spPr>
                <a:xfrm>
                  <a:off x="0" y="2015"/>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41" name="组合 72748"/>
              <p:cNvGrpSpPr/>
              <p:nvPr/>
            </p:nvGrpSpPr>
            <p:grpSpPr>
              <a:xfrm>
                <a:off x="1118" y="2015"/>
                <a:ext cx="896" cy="403"/>
                <a:chOff x="1118" y="2015"/>
                <a:chExt cx="896" cy="403"/>
              </a:xfrm>
              <a:grpFill/>
            </p:grpSpPr>
            <p:sp>
              <p:nvSpPr>
                <p:cNvPr id="72742" name="矩形 72718"/>
                <p:cNvSpPr/>
                <p:nvPr/>
              </p:nvSpPr>
              <p:spPr>
                <a:xfrm>
                  <a:off x="1161" y="2015"/>
                  <a:ext cx="810" cy="403"/>
                </a:xfrm>
                <a:prstGeom prst="rect">
                  <a:avLst/>
                </a:prstGeom>
                <a:grpFill/>
                <a:ln w="9525">
                  <a:noFill/>
                </a:ln>
              </p:spPr>
              <p:txBody>
                <a:bodyPr anchor="t"/>
                <a:lstStyle/>
                <a:p>
                  <a:pPr algn="ctr"/>
                  <a:r>
                    <a:rPr lang="en-US" altLang="zh-CN"/>
                    <a:t>79</a:t>
                  </a:r>
                  <a:endParaRPr lang="en-US" altLang="zh-CN"/>
                </a:p>
              </p:txBody>
            </p:sp>
            <p:sp>
              <p:nvSpPr>
                <p:cNvPr id="72743" name="矩形 72747"/>
                <p:cNvSpPr/>
                <p:nvPr/>
              </p:nvSpPr>
              <p:spPr>
                <a:xfrm>
                  <a:off x="1118" y="2015"/>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44" name="组合 72750"/>
              <p:cNvGrpSpPr/>
              <p:nvPr/>
            </p:nvGrpSpPr>
            <p:grpSpPr>
              <a:xfrm>
                <a:off x="0" y="2418"/>
                <a:ext cx="1118" cy="403"/>
                <a:chOff x="0" y="2418"/>
                <a:chExt cx="1118" cy="403"/>
              </a:xfrm>
              <a:grpFill/>
            </p:grpSpPr>
            <p:sp>
              <p:nvSpPr>
                <p:cNvPr id="72745" name="矩形 72719"/>
                <p:cNvSpPr/>
                <p:nvPr/>
              </p:nvSpPr>
              <p:spPr>
                <a:xfrm>
                  <a:off x="43" y="2418"/>
                  <a:ext cx="1032" cy="403"/>
                </a:xfrm>
                <a:prstGeom prst="rect">
                  <a:avLst/>
                </a:prstGeom>
                <a:grpFill/>
                <a:ln w="9525">
                  <a:noFill/>
                </a:ln>
              </p:spPr>
              <p:txBody>
                <a:bodyPr anchor="t"/>
                <a:lstStyle/>
                <a:p>
                  <a:pPr algn="ctr"/>
                  <a:r>
                    <a:rPr lang="en-US" altLang="zh-CN"/>
                    <a:t>HTTP</a:t>
                  </a:r>
                  <a:endParaRPr lang="en-US" altLang="zh-CN"/>
                </a:p>
              </p:txBody>
            </p:sp>
            <p:sp>
              <p:nvSpPr>
                <p:cNvPr id="72746" name="矩形 72749"/>
                <p:cNvSpPr/>
                <p:nvPr/>
              </p:nvSpPr>
              <p:spPr>
                <a:xfrm>
                  <a:off x="0" y="2418"/>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47" name="组合 72752"/>
              <p:cNvGrpSpPr/>
              <p:nvPr/>
            </p:nvGrpSpPr>
            <p:grpSpPr>
              <a:xfrm>
                <a:off x="1118" y="2418"/>
                <a:ext cx="896" cy="403"/>
                <a:chOff x="1118" y="2418"/>
                <a:chExt cx="896" cy="403"/>
              </a:xfrm>
              <a:grpFill/>
            </p:grpSpPr>
            <p:sp>
              <p:nvSpPr>
                <p:cNvPr id="72748" name="矩形 72720"/>
                <p:cNvSpPr/>
                <p:nvPr/>
              </p:nvSpPr>
              <p:spPr>
                <a:xfrm>
                  <a:off x="1161" y="2418"/>
                  <a:ext cx="810" cy="403"/>
                </a:xfrm>
                <a:prstGeom prst="rect">
                  <a:avLst/>
                </a:prstGeom>
                <a:grpFill/>
                <a:ln w="9525">
                  <a:noFill/>
                </a:ln>
              </p:spPr>
              <p:txBody>
                <a:bodyPr anchor="t"/>
                <a:lstStyle/>
                <a:p>
                  <a:pPr algn="ctr"/>
                  <a:r>
                    <a:rPr lang="en-US" altLang="zh-CN"/>
                    <a:t>80</a:t>
                  </a:r>
                  <a:endParaRPr lang="en-US" altLang="zh-CN"/>
                </a:p>
              </p:txBody>
            </p:sp>
            <p:sp>
              <p:nvSpPr>
                <p:cNvPr id="72749" name="矩形 72751"/>
                <p:cNvSpPr/>
                <p:nvPr/>
              </p:nvSpPr>
              <p:spPr>
                <a:xfrm>
                  <a:off x="1118" y="2418"/>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50" name="组合 72754"/>
              <p:cNvGrpSpPr/>
              <p:nvPr/>
            </p:nvGrpSpPr>
            <p:grpSpPr>
              <a:xfrm>
                <a:off x="0" y="2821"/>
                <a:ext cx="1118" cy="403"/>
                <a:chOff x="0" y="2821"/>
                <a:chExt cx="1118" cy="403"/>
              </a:xfrm>
              <a:grpFill/>
            </p:grpSpPr>
            <p:sp>
              <p:nvSpPr>
                <p:cNvPr id="72751" name="矩形 72721"/>
                <p:cNvSpPr/>
                <p:nvPr/>
              </p:nvSpPr>
              <p:spPr>
                <a:xfrm>
                  <a:off x="43" y="2821"/>
                  <a:ext cx="1032" cy="403"/>
                </a:xfrm>
                <a:prstGeom prst="rect">
                  <a:avLst/>
                </a:prstGeom>
                <a:grpFill/>
                <a:ln w="9525">
                  <a:noFill/>
                </a:ln>
              </p:spPr>
              <p:txBody>
                <a:bodyPr anchor="t"/>
                <a:lstStyle/>
                <a:p>
                  <a:pPr algn="ctr"/>
                  <a:r>
                    <a:rPr lang="en-US" altLang="zh-CN"/>
                    <a:t>NNTP</a:t>
                  </a:r>
                  <a:endParaRPr lang="en-US" altLang="zh-CN"/>
                </a:p>
              </p:txBody>
            </p:sp>
            <p:sp>
              <p:nvSpPr>
                <p:cNvPr id="72752" name="矩形 72753"/>
                <p:cNvSpPr/>
                <p:nvPr/>
              </p:nvSpPr>
              <p:spPr>
                <a:xfrm>
                  <a:off x="0" y="2821"/>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53" name="组合 72756"/>
              <p:cNvGrpSpPr/>
              <p:nvPr/>
            </p:nvGrpSpPr>
            <p:grpSpPr>
              <a:xfrm>
                <a:off x="1118" y="2821"/>
                <a:ext cx="896" cy="403"/>
                <a:chOff x="1118" y="2821"/>
                <a:chExt cx="896" cy="403"/>
              </a:xfrm>
              <a:grpFill/>
            </p:grpSpPr>
            <p:sp>
              <p:nvSpPr>
                <p:cNvPr id="72754" name="矩形 72722"/>
                <p:cNvSpPr/>
                <p:nvPr/>
              </p:nvSpPr>
              <p:spPr>
                <a:xfrm>
                  <a:off x="1161" y="2821"/>
                  <a:ext cx="810" cy="403"/>
                </a:xfrm>
                <a:prstGeom prst="rect">
                  <a:avLst/>
                </a:prstGeom>
                <a:grpFill/>
                <a:ln w="9525">
                  <a:noFill/>
                </a:ln>
              </p:spPr>
              <p:txBody>
                <a:bodyPr anchor="t"/>
                <a:lstStyle/>
                <a:p>
                  <a:pPr algn="ctr"/>
                  <a:r>
                    <a:rPr lang="en-US" altLang="zh-CN"/>
                    <a:t>119</a:t>
                  </a:r>
                  <a:endParaRPr lang="en-US" altLang="zh-CN"/>
                </a:p>
              </p:txBody>
            </p:sp>
            <p:sp>
              <p:nvSpPr>
                <p:cNvPr id="72755" name="矩形 72755"/>
                <p:cNvSpPr/>
                <p:nvPr/>
              </p:nvSpPr>
              <p:spPr>
                <a:xfrm>
                  <a:off x="1118" y="2821"/>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56" name="组合 72758"/>
              <p:cNvGrpSpPr/>
              <p:nvPr/>
            </p:nvGrpSpPr>
            <p:grpSpPr>
              <a:xfrm>
                <a:off x="0" y="3224"/>
                <a:ext cx="1118" cy="403"/>
                <a:chOff x="0" y="3224"/>
                <a:chExt cx="1118" cy="403"/>
              </a:xfrm>
              <a:grpFill/>
            </p:grpSpPr>
            <p:sp>
              <p:nvSpPr>
                <p:cNvPr id="72757" name="矩形 72723"/>
                <p:cNvSpPr/>
                <p:nvPr/>
              </p:nvSpPr>
              <p:spPr>
                <a:xfrm>
                  <a:off x="43" y="3224"/>
                  <a:ext cx="1032" cy="403"/>
                </a:xfrm>
                <a:prstGeom prst="rect">
                  <a:avLst/>
                </a:prstGeom>
                <a:grpFill/>
                <a:ln w="9525">
                  <a:noFill/>
                </a:ln>
              </p:spPr>
              <p:txBody>
                <a:bodyPr anchor="t"/>
                <a:lstStyle/>
                <a:p>
                  <a:pPr algn="ctr"/>
                  <a:r>
                    <a:rPr lang="en-US" altLang="zh-CN"/>
                    <a:t>UDP</a:t>
                  </a:r>
                  <a:endParaRPr lang="en-US" altLang="zh-CN"/>
                </a:p>
              </p:txBody>
            </p:sp>
            <p:sp>
              <p:nvSpPr>
                <p:cNvPr id="72758" name="矩形 72757"/>
                <p:cNvSpPr/>
                <p:nvPr/>
              </p:nvSpPr>
              <p:spPr>
                <a:xfrm>
                  <a:off x="0" y="3224"/>
                  <a:ext cx="1118"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nvGrpSpPr>
              <p:cNvPr id="72759" name="组合 72760"/>
              <p:cNvGrpSpPr/>
              <p:nvPr/>
            </p:nvGrpSpPr>
            <p:grpSpPr>
              <a:xfrm>
                <a:off x="1118" y="3224"/>
                <a:ext cx="896" cy="403"/>
                <a:chOff x="1118" y="3224"/>
                <a:chExt cx="896" cy="403"/>
              </a:xfrm>
              <a:grpFill/>
            </p:grpSpPr>
            <p:sp>
              <p:nvSpPr>
                <p:cNvPr id="72760" name="矩形 72724"/>
                <p:cNvSpPr/>
                <p:nvPr/>
              </p:nvSpPr>
              <p:spPr>
                <a:xfrm>
                  <a:off x="1161" y="3224"/>
                  <a:ext cx="810" cy="403"/>
                </a:xfrm>
                <a:prstGeom prst="rect">
                  <a:avLst/>
                </a:prstGeom>
                <a:grpFill/>
                <a:ln w="9525">
                  <a:noFill/>
                </a:ln>
              </p:spPr>
              <p:txBody>
                <a:bodyPr anchor="t"/>
                <a:lstStyle/>
                <a:p>
                  <a:pPr algn="ctr"/>
                  <a:r>
                    <a:rPr lang="en-US" altLang="zh-CN"/>
                    <a:t>520</a:t>
                  </a:r>
                  <a:endParaRPr lang="en-US" altLang="zh-CN"/>
                </a:p>
              </p:txBody>
            </p:sp>
            <p:sp>
              <p:nvSpPr>
                <p:cNvPr id="72761" name="矩形 72759"/>
                <p:cNvSpPr/>
                <p:nvPr/>
              </p:nvSpPr>
              <p:spPr>
                <a:xfrm>
                  <a:off x="1118" y="3224"/>
                  <a:ext cx="896" cy="403"/>
                </a:xfrm>
                <a:prstGeom prst="rect">
                  <a:avLst/>
                </a:prstGeom>
                <a:grpFill/>
                <a:ln w="7" cap="flat" cmpd="sng">
                  <a:solidFill>
                    <a:srgbClr val="A0A0A0"/>
                  </a:solidFill>
                  <a:prstDash val="solid"/>
                  <a:miter/>
                  <a:headEnd type="none" w="med" len="med"/>
                  <a:tailEnd type="none" w="med" len="med"/>
                </a:ln>
              </p:spPr>
              <p:txBody>
                <a:bodyPr anchor="t"/>
                <a:lstStyle/>
                <a:p>
                  <a:endParaRPr lang="zh-CN" altLang="en-US"/>
                </a:p>
              </p:txBody>
            </p:sp>
          </p:grpSp>
        </p:grpSp>
        <p:sp>
          <p:nvSpPr>
            <p:cNvPr id="72762" name="矩形 72762"/>
            <p:cNvSpPr/>
            <p:nvPr/>
          </p:nvSpPr>
          <p:spPr>
            <a:xfrm>
              <a:off x="-3" y="-3"/>
              <a:ext cx="2020" cy="3633"/>
            </a:xfrm>
            <a:prstGeom prst="rect">
              <a:avLst/>
            </a:prstGeom>
            <a:grpFill/>
            <a:ln w="9525" cap="flat" cmpd="sng">
              <a:solidFill>
                <a:srgbClr val="A0A0A0"/>
              </a:solidFill>
              <a:prstDash val="solid"/>
              <a:miter/>
              <a:headEnd type="none" w="med" len="med"/>
              <a:tailEnd type="none" w="med" len="med"/>
            </a:ln>
          </p:spPr>
          <p:txBody>
            <a:bodyPr anchor="t"/>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404219" y="1720398"/>
            <a:ext cx="9134527" cy="455155"/>
            <a:chOff x="2355125" y="2284640"/>
            <a:chExt cx="9134527" cy="1341632"/>
          </a:xfrm>
        </p:grpSpPr>
        <p:sp>
          <p:nvSpPr>
            <p:cNvPr id="14" name="矩形: 圆角 13"/>
            <p:cNvSpPr/>
            <p:nvPr/>
          </p:nvSpPr>
          <p:spPr>
            <a:xfrm>
              <a:off x="2355125" y="2284640"/>
              <a:ext cx="9040398" cy="1341632"/>
            </a:xfrm>
            <a:prstGeom prst="roundRect">
              <a:avLst>
                <a:gd name="adj" fmla="val 7983"/>
              </a:avLst>
            </a:prstGeom>
            <a:solidFill>
              <a:schemeClr val="bg1">
                <a:alpha val="5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5" name="矩形 14"/>
            <p:cNvSpPr/>
            <p:nvPr/>
          </p:nvSpPr>
          <p:spPr>
            <a:xfrm>
              <a:off x="2379466" y="2349389"/>
              <a:ext cx="9110186" cy="424732"/>
            </a:xfrm>
            <a:prstGeom prst="rect">
              <a:avLst/>
            </a:prstGeom>
          </p:spPr>
          <p:txBody>
            <a:bodyPr wrap="none">
              <a:spAutoFit/>
            </a:bodyPr>
            <a:lstStyle/>
            <a:p>
              <a:pPr algn="just">
                <a:lnSpc>
                  <a:spcPct val="90000"/>
                </a:lnSpc>
                <a:buClr>
                  <a:schemeClr val="accent2"/>
                </a:buClr>
                <a:buNone/>
              </a:pPr>
              <a:r>
                <a:rPr lang="zh-CN" altLang="en-US" sz="2400" dirty="0">
                  <a:latin typeface="宋体" panose="02010600030101010101" pitchFamily="2" charset="-122"/>
                </a:rPr>
                <a:t>这些实用命令也可以称为实用工具或者实用程序，它们分外三类：</a:t>
              </a:r>
              <a:endParaRPr lang="zh-CN" altLang="en-US" sz="2400" dirty="0">
                <a:latin typeface="宋体" panose="02010600030101010101" pitchFamily="2" charset="-122"/>
              </a:endParaRPr>
            </a:p>
          </p:txBody>
        </p:sp>
      </p:grpSp>
      <p:grpSp>
        <p:nvGrpSpPr>
          <p:cNvPr id="19" name="组合 18"/>
          <p:cNvGrpSpPr/>
          <p:nvPr/>
        </p:nvGrpSpPr>
        <p:grpSpPr>
          <a:xfrm>
            <a:off x="957517" y="2809230"/>
            <a:ext cx="3076601" cy="2181343"/>
            <a:chOff x="1076853" y="5080315"/>
            <a:chExt cx="5054600" cy="2654149"/>
          </a:xfrm>
        </p:grpSpPr>
        <p:cxnSp>
          <p:nvCxnSpPr>
            <p:cNvPr id="20" name="直接连接符 19"/>
            <p:cNvCxnSpPr/>
            <p:nvPr/>
          </p:nvCxnSpPr>
          <p:spPr>
            <a:xfrm>
              <a:off x="1076853" y="5080315"/>
              <a:ext cx="5054600"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1076853" y="5228959"/>
              <a:ext cx="5054600" cy="2505505"/>
            </a:xfrm>
            <a:prstGeom prst="roundRect">
              <a:avLst>
                <a:gd name="adj" fmla="val 6312"/>
              </a:avLst>
            </a:prstGeom>
            <a:solidFill>
              <a:srgbClr val="00B0F0">
                <a:alpha val="14902"/>
              </a:srgbClr>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grpSp>
      <p:sp>
        <p:nvSpPr>
          <p:cNvPr id="22" name="矩形 21"/>
          <p:cNvSpPr/>
          <p:nvPr/>
        </p:nvSpPr>
        <p:spPr>
          <a:xfrm>
            <a:off x="1251433" y="3095010"/>
            <a:ext cx="2714256" cy="1532727"/>
          </a:xfrm>
          <a:prstGeom prst="rect">
            <a:avLst/>
          </a:prstGeom>
        </p:spPr>
        <p:txBody>
          <a:bodyPr wrap="square">
            <a:spAutoFit/>
          </a:bodyPr>
          <a:lstStyle/>
          <a:p>
            <a:pPr fontAlgn="base">
              <a:lnSpc>
                <a:spcPct val="130000"/>
              </a:lnSpc>
              <a:spcAft>
                <a:spcPct val="0"/>
              </a:spcAft>
              <a:defRPr/>
            </a:pPr>
            <a:r>
              <a:rPr lang="zh-CN" altLang="en-US" sz="2400" dirty="0" smtClean="0">
                <a:latin typeface="宋体" panose="02010600030101010101" pitchFamily="2" charset="-122"/>
              </a:rPr>
              <a:t>用于</a:t>
            </a:r>
            <a:r>
              <a:rPr lang="zh-CN" altLang="en-US" sz="2400" dirty="0">
                <a:latin typeface="宋体" panose="02010600030101010101" pitchFamily="2" charset="-122"/>
              </a:rPr>
              <a:t>在网络的各个层次管理</a:t>
            </a:r>
            <a:r>
              <a:rPr lang="en-US" altLang="zh-CN" sz="2400" dirty="0"/>
              <a:t>TCP/IP</a:t>
            </a:r>
            <a:r>
              <a:rPr lang="zh-CN" altLang="en-US" sz="2400" dirty="0">
                <a:latin typeface="宋体" panose="02010600030101010101" pitchFamily="2" charset="-122"/>
              </a:rPr>
              <a:t>网络的命令</a:t>
            </a:r>
            <a:r>
              <a:rPr lang="zh-CN" altLang="en-US" sz="2400" dirty="0" smtClean="0">
                <a:latin typeface="宋体" panose="02010600030101010101" pitchFamily="2" charset="-122"/>
              </a:rPr>
              <a:t>；</a:t>
            </a:r>
            <a:endParaRPr lang="zh-CN" altLang="en-US" sz="2400" dirty="0">
              <a:latin typeface="+mn-ea"/>
            </a:endParaRPr>
          </a:p>
        </p:txBody>
      </p:sp>
      <p:sp>
        <p:nvSpPr>
          <p:cNvPr id="11" name="矩形 10"/>
          <p:cNvSpPr/>
          <p:nvPr/>
        </p:nvSpPr>
        <p:spPr>
          <a:xfrm>
            <a:off x="1923820" y="2347565"/>
            <a:ext cx="1423788" cy="461665"/>
          </a:xfrm>
          <a:prstGeom prst="rect">
            <a:avLst/>
          </a:prstGeom>
        </p:spPr>
        <p:txBody>
          <a:bodyPr wrap="none">
            <a:spAutoFit/>
          </a:bodyPr>
          <a:lstStyle/>
          <a:p>
            <a:r>
              <a:rPr lang="zh-CN" altLang="en-US" sz="2400" dirty="0">
                <a:latin typeface="宋体" panose="02010600030101010101" pitchFamily="2" charset="-122"/>
              </a:rPr>
              <a:t>第</a:t>
            </a:r>
            <a:r>
              <a:rPr lang="zh-CN" altLang="en-US" sz="2400" dirty="0" smtClean="0">
                <a:latin typeface="宋体" panose="02010600030101010101" pitchFamily="2" charset="-122"/>
              </a:rPr>
              <a:t>一类</a:t>
            </a:r>
            <a:r>
              <a:rPr lang="zh-CN" altLang="en-US" sz="2400" b="1" dirty="0" smtClean="0">
                <a:solidFill>
                  <a:schemeClr val="tx1">
                    <a:lumMod val="85000"/>
                    <a:lumOff val="15000"/>
                  </a:schemeClr>
                </a:solidFill>
                <a:latin typeface="+mn-ea"/>
                <a:sym typeface="+mn-ea"/>
              </a:rPr>
              <a:t>：</a:t>
            </a:r>
            <a:endParaRPr lang="zh-CN" altLang="en-US" sz="2400" b="1" dirty="0">
              <a:solidFill>
                <a:schemeClr val="tx1">
                  <a:lumMod val="85000"/>
                  <a:lumOff val="15000"/>
                </a:schemeClr>
              </a:solidFill>
            </a:endParaRPr>
          </a:p>
        </p:txBody>
      </p:sp>
      <p:grpSp>
        <p:nvGrpSpPr>
          <p:cNvPr id="24" name="组合 23"/>
          <p:cNvGrpSpPr/>
          <p:nvPr/>
        </p:nvGrpSpPr>
        <p:grpSpPr>
          <a:xfrm>
            <a:off x="4661692" y="2809230"/>
            <a:ext cx="3007046" cy="2181343"/>
            <a:chOff x="1076853" y="5080315"/>
            <a:chExt cx="5054600" cy="2654149"/>
          </a:xfrm>
        </p:grpSpPr>
        <p:cxnSp>
          <p:nvCxnSpPr>
            <p:cNvPr id="25" name="直接连接符 24"/>
            <p:cNvCxnSpPr/>
            <p:nvPr/>
          </p:nvCxnSpPr>
          <p:spPr>
            <a:xfrm>
              <a:off x="1076853" y="5080315"/>
              <a:ext cx="5054600"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26" name="矩形: 圆角 25"/>
            <p:cNvSpPr/>
            <p:nvPr/>
          </p:nvSpPr>
          <p:spPr>
            <a:xfrm>
              <a:off x="1076853" y="5228959"/>
              <a:ext cx="5054600" cy="2505505"/>
            </a:xfrm>
            <a:prstGeom prst="roundRect">
              <a:avLst>
                <a:gd name="adj" fmla="val 6312"/>
              </a:avLst>
            </a:prstGeom>
            <a:solidFill>
              <a:srgbClr val="00B0F0">
                <a:alpha val="14902"/>
              </a:srgbClr>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grpSp>
      <p:sp>
        <p:nvSpPr>
          <p:cNvPr id="27" name="矩形 26"/>
          <p:cNvSpPr/>
          <p:nvPr/>
        </p:nvSpPr>
        <p:spPr>
          <a:xfrm>
            <a:off x="4901682" y="3168628"/>
            <a:ext cx="2604158" cy="757130"/>
          </a:xfrm>
          <a:prstGeom prst="rect">
            <a:avLst/>
          </a:prstGeom>
        </p:spPr>
        <p:txBody>
          <a:bodyPr wrap="square">
            <a:spAutoFit/>
          </a:bodyPr>
          <a:lstStyle/>
          <a:p>
            <a:pPr algn="just">
              <a:lnSpc>
                <a:spcPct val="90000"/>
              </a:lnSpc>
              <a:buClr>
                <a:schemeClr val="accent2"/>
              </a:buClr>
            </a:pPr>
            <a:r>
              <a:rPr lang="zh-CN" altLang="en-US" sz="2400" dirty="0" smtClean="0">
                <a:latin typeface="宋体" panose="02010600030101010101" pitchFamily="2" charset="-122"/>
              </a:rPr>
              <a:t>相当于</a:t>
            </a:r>
            <a:r>
              <a:rPr lang="zh-CN" altLang="en-US" sz="2400" dirty="0">
                <a:latin typeface="宋体" panose="02010600030101010101" pitchFamily="2" charset="-122"/>
              </a:rPr>
              <a:t>实用程序的用户命令；</a:t>
            </a:r>
            <a:endParaRPr lang="zh-CN" altLang="en-US" sz="2400" dirty="0">
              <a:latin typeface="宋体" panose="02010600030101010101" pitchFamily="2" charset="-122"/>
            </a:endParaRPr>
          </a:p>
        </p:txBody>
      </p:sp>
      <p:sp>
        <p:nvSpPr>
          <p:cNvPr id="28" name="矩形 27"/>
          <p:cNvSpPr/>
          <p:nvPr/>
        </p:nvSpPr>
        <p:spPr>
          <a:xfrm>
            <a:off x="5491867" y="2347565"/>
            <a:ext cx="1423788" cy="461665"/>
          </a:xfrm>
          <a:prstGeom prst="rect">
            <a:avLst/>
          </a:prstGeom>
        </p:spPr>
        <p:txBody>
          <a:bodyPr wrap="none">
            <a:spAutoFit/>
          </a:bodyPr>
          <a:lstStyle/>
          <a:p>
            <a:r>
              <a:rPr lang="zh-CN" altLang="en-US" sz="2400" dirty="0">
                <a:latin typeface="宋体" panose="02010600030101010101" pitchFamily="2" charset="-122"/>
              </a:rPr>
              <a:t>第二</a:t>
            </a:r>
            <a:r>
              <a:rPr lang="zh-CN" altLang="en-US" sz="2400" dirty="0" smtClean="0">
                <a:latin typeface="宋体" panose="02010600030101010101" pitchFamily="2" charset="-122"/>
              </a:rPr>
              <a:t>类</a:t>
            </a:r>
            <a:r>
              <a:rPr lang="zh-CN" altLang="en-US" sz="2400" b="1" dirty="0" smtClean="0">
                <a:solidFill>
                  <a:schemeClr val="tx1">
                    <a:lumMod val="85000"/>
                    <a:lumOff val="15000"/>
                  </a:schemeClr>
                </a:solidFill>
                <a:latin typeface="+mn-ea"/>
                <a:sym typeface="+mn-ea"/>
              </a:rPr>
              <a:t>：</a:t>
            </a:r>
            <a:endParaRPr lang="zh-CN" altLang="en-US" sz="2400" b="1" dirty="0">
              <a:solidFill>
                <a:schemeClr val="tx1">
                  <a:lumMod val="85000"/>
                  <a:lumOff val="15000"/>
                </a:schemeClr>
              </a:solidFill>
            </a:endParaRPr>
          </a:p>
        </p:txBody>
      </p:sp>
      <p:grpSp>
        <p:nvGrpSpPr>
          <p:cNvPr id="29" name="组合 28"/>
          <p:cNvGrpSpPr/>
          <p:nvPr/>
        </p:nvGrpSpPr>
        <p:grpSpPr>
          <a:xfrm>
            <a:off x="8296312" y="2809230"/>
            <a:ext cx="3019388" cy="2181343"/>
            <a:chOff x="1076853" y="5080315"/>
            <a:chExt cx="5054600" cy="2654149"/>
          </a:xfrm>
        </p:grpSpPr>
        <p:cxnSp>
          <p:nvCxnSpPr>
            <p:cNvPr id="30" name="直接连接符 29"/>
            <p:cNvCxnSpPr/>
            <p:nvPr/>
          </p:nvCxnSpPr>
          <p:spPr>
            <a:xfrm>
              <a:off x="1076853" y="5080315"/>
              <a:ext cx="5054600"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31" name="矩形: 圆角 30"/>
            <p:cNvSpPr/>
            <p:nvPr/>
          </p:nvSpPr>
          <p:spPr>
            <a:xfrm>
              <a:off x="1076853" y="5228959"/>
              <a:ext cx="5054600" cy="2505505"/>
            </a:xfrm>
            <a:prstGeom prst="roundRect">
              <a:avLst>
                <a:gd name="adj" fmla="val 6312"/>
              </a:avLst>
            </a:prstGeom>
            <a:solidFill>
              <a:srgbClr val="00B0F0">
                <a:alpha val="14902"/>
              </a:srgbClr>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grpSp>
      <p:sp>
        <p:nvSpPr>
          <p:cNvPr id="32" name="矩形 31"/>
          <p:cNvSpPr/>
          <p:nvPr/>
        </p:nvSpPr>
        <p:spPr>
          <a:xfrm>
            <a:off x="8492108" y="3130195"/>
            <a:ext cx="2620391" cy="1643527"/>
          </a:xfrm>
          <a:prstGeom prst="rect">
            <a:avLst/>
          </a:prstGeom>
        </p:spPr>
        <p:txBody>
          <a:bodyPr wrap="square">
            <a:spAutoFit/>
          </a:bodyPr>
          <a:lstStyle/>
          <a:p>
            <a:pPr>
              <a:lnSpc>
                <a:spcPct val="90000"/>
              </a:lnSpc>
              <a:buClr>
                <a:schemeClr val="accent2"/>
              </a:buClr>
            </a:pPr>
            <a:r>
              <a:rPr lang="zh-CN" altLang="en-US" sz="2400" dirty="0" smtClean="0">
                <a:latin typeface="宋体" panose="02010600030101010101" pitchFamily="2" charset="-122"/>
              </a:rPr>
              <a:t>通过</a:t>
            </a:r>
            <a:r>
              <a:rPr lang="zh-CN" altLang="en-US" sz="2400" dirty="0">
                <a:latin typeface="宋体" panose="02010600030101010101" pitchFamily="2" charset="-122"/>
              </a:rPr>
              <a:t>使用一个或多个</a:t>
            </a:r>
            <a:r>
              <a:rPr lang="en-US" altLang="zh-CN" sz="2400" dirty="0"/>
              <a:t>TCP/IP</a:t>
            </a:r>
            <a:r>
              <a:rPr lang="zh-CN" altLang="en-US" sz="2400" dirty="0">
                <a:latin typeface="宋体" panose="02010600030101010101" pitchFamily="2" charset="-122"/>
              </a:rPr>
              <a:t>提供的服务所实现的第三方应用程序，</a:t>
            </a:r>
            <a:r>
              <a:rPr lang="zh-CN" altLang="en-US" sz="1600" dirty="0" smtClean="0">
                <a:latin typeface="宋体" panose="02010600030101010101" pitchFamily="2" charset="-122"/>
              </a:rPr>
              <a:t>例如</a:t>
            </a:r>
            <a:r>
              <a:rPr lang="en-US" altLang="zh-CN" sz="1600" dirty="0" smtClean="0"/>
              <a:t>Client/Server</a:t>
            </a:r>
            <a:r>
              <a:rPr lang="zh-CN" altLang="en-US" sz="1600" dirty="0">
                <a:latin typeface="宋体" panose="02010600030101010101" pitchFamily="2" charset="-122"/>
              </a:rPr>
              <a:t>数据库。</a:t>
            </a:r>
            <a:endParaRPr lang="zh-CN" altLang="en-US" sz="2400" dirty="0">
              <a:latin typeface="宋体" panose="02010600030101010101" pitchFamily="2" charset="-122"/>
            </a:endParaRPr>
          </a:p>
        </p:txBody>
      </p:sp>
      <p:sp>
        <p:nvSpPr>
          <p:cNvPr id="33" name="矩形 32"/>
          <p:cNvSpPr/>
          <p:nvPr/>
        </p:nvSpPr>
        <p:spPr>
          <a:xfrm>
            <a:off x="9241300" y="2359307"/>
            <a:ext cx="1423788" cy="461665"/>
          </a:xfrm>
          <a:prstGeom prst="rect">
            <a:avLst/>
          </a:prstGeom>
        </p:spPr>
        <p:txBody>
          <a:bodyPr wrap="none">
            <a:spAutoFit/>
          </a:bodyPr>
          <a:lstStyle/>
          <a:p>
            <a:r>
              <a:rPr lang="zh-CN" altLang="en-US" sz="2400" dirty="0">
                <a:latin typeface="宋体" panose="02010600030101010101" pitchFamily="2" charset="-122"/>
              </a:rPr>
              <a:t>第三</a:t>
            </a:r>
            <a:r>
              <a:rPr lang="zh-CN" altLang="en-US" sz="2400" dirty="0" smtClean="0">
                <a:latin typeface="宋体" panose="02010600030101010101" pitchFamily="2" charset="-122"/>
              </a:rPr>
              <a:t>类</a:t>
            </a:r>
            <a:r>
              <a:rPr lang="zh-CN" altLang="en-US" sz="2400" b="1" dirty="0" smtClean="0">
                <a:solidFill>
                  <a:schemeClr val="tx1">
                    <a:lumMod val="85000"/>
                    <a:lumOff val="15000"/>
                  </a:schemeClr>
                </a:solidFill>
                <a:latin typeface="+mn-ea"/>
                <a:sym typeface="+mn-ea"/>
              </a:rPr>
              <a:t>：</a:t>
            </a:r>
            <a:endParaRPr lang="zh-CN" altLang="en-US" sz="2400" b="1" dirty="0">
              <a:solidFill>
                <a:schemeClr val="tx1">
                  <a:lumMod val="85000"/>
                  <a:lumOff val="15000"/>
                </a:schemeClr>
              </a:solidFill>
            </a:endParaRPr>
          </a:p>
        </p:txBody>
      </p:sp>
      <p:grpSp>
        <p:nvGrpSpPr>
          <p:cNvPr id="34" name="组合 33"/>
          <p:cNvGrpSpPr/>
          <p:nvPr/>
        </p:nvGrpSpPr>
        <p:grpSpPr>
          <a:xfrm>
            <a:off x="3239636" y="296703"/>
            <a:ext cx="5252472" cy="1087791"/>
            <a:chOff x="3459237" y="488294"/>
            <a:chExt cx="6240048" cy="1087791"/>
          </a:xfrm>
        </p:grpSpPr>
        <p:grpSp>
          <p:nvGrpSpPr>
            <p:cNvPr id="35" name="组合 34"/>
            <p:cNvGrpSpPr/>
            <p:nvPr/>
          </p:nvGrpSpPr>
          <p:grpSpPr>
            <a:xfrm>
              <a:off x="4269846" y="881324"/>
              <a:ext cx="5429439" cy="687881"/>
              <a:chOff x="4269846" y="881324"/>
              <a:chExt cx="5429439" cy="687881"/>
            </a:xfrm>
          </p:grpSpPr>
          <p:sp>
            <p:nvSpPr>
              <p:cNvPr id="189" name="矩形: 圆角 9"/>
              <p:cNvSpPr/>
              <p:nvPr/>
            </p:nvSpPr>
            <p:spPr>
              <a:xfrm>
                <a:off x="4269846" y="881324"/>
                <a:ext cx="5429439"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190" name="文本框 189"/>
              <p:cNvSpPr txBox="1"/>
              <p:nvPr/>
            </p:nvSpPr>
            <p:spPr>
              <a:xfrm>
                <a:off x="4648956" y="1032190"/>
                <a:ext cx="3934090"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2.5 </a:t>
                </a:r>
                <a:r>
                  <a:rPr lang="en-US" altLang="zh-CN"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TCP/IP</a:t>
                </a:r>
                <a:r>
                  <a:rPr lang="zh-CN" altLang="en-US" sz="32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实用</a:t>
                </a:r>
                <a:r>
                  <a:rPr lang="zh-CN" altLang="en-US" sz="3200" noProof="1"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36"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37"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8"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9"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0"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1"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2"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3"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4"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5"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6"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77"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8"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9"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0"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1"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2"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3"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4"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5"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6"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7"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8"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grpSp>
        <p:nvGrpSpPr>
          <p:cNvPr id="191" name="组合 190"/>
          <p:cNvGrpSpPr/>
          <p:nvPr/>
        </p:nvGrpSpPr>
        <p:grpSpPr>
          <a:xfrm>
            <a:off x="1452283" y="5189373"/>
            <a:ext cx="9660216" cy="1341632"/>
            <a:chOff x="2051398" y="2284640"/>
            <a:chExt cx="9660216" cy="1341632"/>
          </a:xfrm>
        </p:grpSpPr>
        <p:sp>
          <p:nvSpPr>
            <p:cNvPr id="192" name="矩形: 圆角 13"/>
            <p:cNvSpPr/>
            <p:nvPr/>
          </p:nvSpPr>
          <p:spPr>
            <a:xfrm>
              <a:off x="2051398" y="2284640"/>
              <a:ext cx="9660216" cy="1341632"/>
            </a:xfrm>
            <a:prstGeom prst="roundRect">
              <a:avLst>
                <a:gd name="adj" fmla="val 7983"/>
              </a:avLst>
            </a:prstGeom>
            <a:solidFill>
              <a:schemeClr val="bg1">
                <a:alpha val="50000"/>
              </a:schemeClr>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193" name="矩形 192"/>
            <p:cNvSpPr/>
            <p:nvPr/>
          </p:nvSpPr>
          <p:spPr>
            <a:xfrm>
              <a:off x="2239657" y="2533238"/>
              <a:ext cx="9377151" cy="757130"/>
            </a:xfrm>
            <a:prstGeom prst="rect">
              <a:avLst/>
            </a:prstGeom>
          </p:spPr>
          <p:txBody>
            <a:bodyPr wrap="square">
              <a:spAutoFit/>
            </a:bodyPr>
            <a:lstStyle/>
            <a:p>
              <a:pPr algn="just">
                <a:lnSpc>
                  <a:spcPct val="90000"/>
                </a:lnSpc>
                <a:buClr>
                  <a:schemeClr val="accent2"/>
                </a:buClr>
                <a:buNone/>
              </a:pPr>
              <a:r>
                <a:rPr lang="zh-CN" altLang="en-US" sz="2400" dirty="0">
                  <a:latin typeface="宋体" panose="02010600030101010101" pitchFamily="2" charset="-122"/>
                </a:rPr>
                <a:t>利用这些命令可以了解许多与网络安全有关的信息，黑客们也经常利用这些命令收集网络信息，以便对网络进行攻击。</a:t>
              </a:r>
              <a:r>
                <a:rPr lang="zh-CN" altLang="en-US" sz="2400" dirty="0"/>
                <a:t> </a:t>
              </a:r>
              <a:endParaRPr lang="zh-CN" altLang="en-US" sz="2400" dirty="0">
                <a:solidFill>
                  <a:srgbClr val="FFFF00"/>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650"/>
                                        <p:tgtEl>
                                          <p:spTgt spid="34"/>
                                        </p:tgtEl>
                                      </p:cBhvr>
                                    </p:animEffect>
                                    <p:anim calcmode="lin" valueType="num">
                                      <p:cBhvr>
                                        <p:cTn id="8" dur="650" fill="hold"/>
                                        <p:tgtEl>
                                          <p:spTgt spid="34"/>
                                        </p:tgtEl>
                                        <p:attrNameLst>
                                          <p:attrName>ppt_x</p:attrName>
                                        </p:attrNameLst>
                                      </p:cBhvr>
                                      <p:tavLst>
                                        <p:tav tm="0">
                                          <p:val>
                                            <p:strVal val="#ppt_x"/>
                                          </p:val>
                                        </p:tav>
                                        <p:tav tm="100000">
                                          <p:val>
                                            <p:strVal val="#ppt_x"/>
                                          </p:val>
                                        </p:tav>
                                      </p:tavLst>
                                    </p:anim>
                                    <p:anim calcmode="lin" valueType="num">
                                      <p:cBhvr>
                                        <p:cTn id="9" dur="650" fill="hold"/>
                                        <p:tgtEl>
                                          <p:spTgt spid="34"/>
                                        </p:tgtEl>
                                        <p:attrNameLst>
                                          <p:attrName>ppt_y</p:attrName>
                                        </p:attrNameLst>
                                      </p:cBhvr>
                                      <p:tavLst>
                                        <p:tav tm="0">
                                          <p:val>
                                            <p:strVal val="#ppt_y-.1"/>
                                          </p:val>
                                        </p:tav>
                                        <p:tav tm="100000">
                                          <p:val>
                                            <p:strVal val="#ppt_y"/>
                                          </p:val>
                                        </p:tav>
                                      </p:tavLst>
                                    </p:anim>
                                  </p:childTnLst>
                                </p:cTn>
                              </p:par>
                              <p:par>
                                <p:cTn id="10" presetID="22" presetClass="entr" presetSubtype="8"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par>
                          <p:cTn id="19" fill="hold">
                            <p:stCondLst>
                              <p:cond delay="1500"/>
                            </p:stCondLst>
                            <p:childTnLst>
                              <p:par>
                                <p:cTn id="20" presetID="17" presetClass="entr" presetSubtype="1"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p:cTn id="22" dur="500" fill="hold"/>
                                        <p:tgtEl>
                                          <p:spTgt spid="19"/>
                                        </p:tgtEl>
                                        <p:attrNameLst>
                                          <p:attrName>ppt_x</p:attrName>
                                        </p:attrNameLst>
                                      </p:cBhvr>
                                      <p:tavLst>
                                        <p:tav tm="0">
                                          <p:val>
                                            <p:strVal val="#ppt_x"/>
                                          </p:val>
                                        </p:tav>
                                        <p:tav tm="100000">
                                          <p:val>
                                            <p:strVal val="#ppt_x"/>
                                          </p:val>
                                        </p:tav>
                                      </p:tavLst>
                                    </p:anim>
                                    <p:anim calcmode="lin" valueType="num">
                                      <p:cBhvr>
                                        <p:cTn id="23" dur="500" fill="hold"/>
                                        <p:tgtEl>
                                          <p:spTgt spid="19"/>
                                        </p:tgtEl>
                                        <p:attrNameLst>
                                          <p:attrName>ppt_y</p:attrName>
                                        </p:attrNameLst>
                                      </p:cBhvr>
                                      <p:tavLst>
                                        <p:tav tm="0">
                                          <p:val>
                                            <p:strVal val="#ppt_y-#ppt_h/2"/>
                                          </p:val>
                                        </p:tav>
                                        <p:tav tm="100000">
                                          <p:val>
                                            <p:strVal val="#ppt_y"/>
                                          </p:val>
                                        </p:tav>
                                      </p:tavLst>
                                    </p:anim>
                                    <p:anim calcmode="lin" valueType="num">
                                      <p:cBhvr>
                                        <p:cTn id="24" dur="500" fill="hold"/>
                                        <p:tgtEl>
                                          <p:spTgt spid="19"/>
                                        </p:tgtEl>
                                        <p:attrNameLst>
                                          <p:attrName>ppt_w</p:attrName>
                                        </p:attrNameLst>
                                      </p:cBhvr>
                                      <p:tavLst>
                                        <p:tav tm="0">
                                          <p:val>
                                            <p:strVal val="#ppt_w"/>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childTnLst>
                                </p:cTn>
                              </p:par>
                              <p:par>
                                <p:cTn id="26" presetID="22" presetClass="entr" presetSubtype="4"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down)">
                                      <p:cBhvr>
                                        <p:cTn id="28" dur="650"/>
                                        <p:tgtEl>
                                          <p:spTgt spid="22"/>
                                        </p:tgtEl>
                                      </p:cBhvr>
                                    </p:animEffect>
                                  </p:childTnLst>
                                </p:cTn>
                              </p:par>
                            </p:childTnLst>
                          </p:cTn>
                        </p:par>
                        <p:par>
                          <p:cTn id="29" fill="hold">
                            <p:stCondLst>
                              <p:cond delay="2000"/>
                            </p:stCondLst>
                            <p:childTnLst>
                              <p:par>
                                <p:cTn id="30" presetID="53" presetClass="entr" presetSubtype="16"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childTnLst>
                          </p:cTn>
                        </p:par>
                        <p:par>
                          <p:cTn id="35" fill="hold">
                            <p:stCondLst>
                              <p:cond delay="2500"/>
                            </p:stCondLst>
                            <p:childTnLst>
                              <p:par>
                                <p:cTn id="36" presetID="17" presetClass="entr" presetSubtype="1" fill="hold"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ppt_x</p:attrName>
                                        </p:attrNameLst>
                                      </p:cBhvr>
                                      <p:tavLst>
                                        <p:tav tm="0">
                                          <p:val>
                                            <p:strVal val="#ppt_x"/>
                                          </p:val>
                                        </p:tav>
                                        <p:tav tm="100000">
                                          <p:val>
                                            <p:strVal val="#ppt_x"/>
                                          </p:val>
                                        </p:tav>
                                      </p:tavLst>
                                    </p:anim>
                                    <p:anim calcmode="lin" valueType="num">
                                      <p:cBhvr>
                                        <p:cTn id="39" dur="500" fill="hold"/>
                                        <p:tgtEl>
                                          <p:spTgt spid="24"/>
                                        </p:tgtEl>
                                        <p:attrNameLst>
                                          <p:attrName>ppt_y</p:attrName>
                                        </p:attrNameLst>
                                      </p:cBhvr>
                                      <p:tavLst>
                                        <p:tav tm="0">
                                          <p:val>
                                            <p:strVal val="#ppt_y-#ppt_h/2"/>
                                          </p:val>
                                        </p:tav>
                                        <p:tav tm="100000">
                                          <p:val>
                                            <p:strVal val="#ppt_y"/>
                                          </p:val>
                                        </p:tav>
                                      </p:tavLst>
                                    </p:anim>
                                    <p:anim calcmode="lin" valueType="num">
                                      <p:cBhvr>
                                        <p:cTn id="40" dur="500" fill="hold"/>
                                        <p:tgtEl>
                                          <p:spTgt spid="24"/>
                                        </p:tgtEl>
                                        <p:attrNameLst>
                                          <p:attrName>ppt_w</p:attrName>
                                        </p:attrNameLst>
                                      </p:cBhvr>
                                      <p:tavLst>
                                        <p:tav tm="0">
                                          <p:val>
                                            <p:strVal val="#ppt_w"/>
                                          </p:val>
                                        </p:tav>
                                        <p:tav tm="100000">
                                          <p:val>
                                            <p:strVal val="#ppt_w"/>
                                          </p:val>
                                        </p:tav>
                                      </p:tavLst>
                                    </p:anim>
                                    <p:anim calcmode="lin" valueType="num">
                                      <p:cBhvr>
                                        <p:cTn id="41" dur="500" fill="hold"/>
                                        <p:tgtEl>
                                          <p:spTgt spid="24"/>
                                        </p:tgtEl>
                                        <p:attrNameLst>
                                          <p:attrName>ppt_h</p:attrName>
                                        </p:attrNameLst>
                                      </p:cBhvr>
                                      <p:tavLst>
                                        <p:tav tm="0">
                                          <p:val>
                                            <p:fltVal val="0"/>
                                          </p:val>
                                        </p:tav>
                                        <p:tav tm="100000">
                                          <p:val>
                                            <p:strVal val="#ppt_h"/>
                                          </p:val>
                                        </p:tav>
                                      </p:tavLst>
                                    </p:anim>
                                  </p:childTnLst>
                                </p:cTn>
                              </p:par>
                              <p:par>
                                <p:cTn id="42" presetID="22" presetClass="entr" presetSubtype="4"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down)">
                                      <p:cBhvr>
                                        <p:cTn id="44" dur="650"/>
                                        <p:tgtEl>
                                          <p:spTgt spid="27"/>
                                        </p:tgtEl>
                                      </p:cBhvr>
                                    </p:animEffect>
                                  </p:childTnLst>
                                </p:cTn>
                              </p:par>
                            </p:childTnLst>
                          </p:cTn>
                        </p:par>
                        <p:par>
                          <p:cTn id="45" fill="hold">
                            <p:stCondLst>
                              <p:cond delay="3000"/>
                            </p:stCondLst>
                            <p:childTnLst>
                              <p:par>
                                <p:cTn id="46" presetID="53" presetClass="entr" presetSubtype="16"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p:cTn id="48" dur="500" fill="hold"/>
                                        <p:tgtEl>
                                          <p:spTgt spid="33"/>
                                        </p:tgtEl>
                                        <p:attrNameLst>
                                          <p:attrName>ppt_w</p:attrName>
                                        </p:attrNameLst>
                                      </p:cBhvr>
                                      <p:tavLst>
                                        <p:tav tm="0">
                                          <p:val>
                                            <p:fltVal val="0"/>
                                          </p:val>
                                        </p:tav>
                                        <p:tav tm="100000">
                                          <p:val>
                                            <p:strVal val="#ppt_w"/>
                                          </p:val>
                                        </p:tav>
                                      </p:tavLst>
                                    </p:anim>
                                    <p:anim calcmode="lin" valueType="num">
                                      <p:cBhvr>
                                        <p:cTn id="49" dur="500" fill="hold"/>
                                        <p:tgtEl>
                                          <p:spTgt spid="33"/>
                                        </p:tgtEl>
                                        <p:attrNameLst>
                                          <p:attrName>ppt_h</p:attrName>
                                        </p:attrNameLst>
                                      </p:cBhvr>
                                      <p:tavLst>
                                        <p:tav tm="0">
                                          <p:val>
                                            <p:fltVal val="0"/>
                                          </p:val>
                                        </p:tav>
                                        <p:tav tm="100000">
                                          <p:val>
                                            <p:strVal val="#ppt_h"/>
                                          </p:val>
                                        </p:tav>
                                      </p:tavLst>
                                    </p:anim>
                                    <p:animEffect transition="in" filter="fade">
                                      <p:cBhvr>
                                        <p:cTn id="50" dur="500"/>
                                        <p:tgtEl>
                                          <p:spTgt spid="33"/>
                                        </p:tgtEl>
                                      </p:cBhvr>
                                    </p:animEffect>
                                  </p:childTnLst>
                                </p:cTn>
                              </p:par>
                            </p:childTnLst>
                          </p:cTn>
                        </p:par>
                        <p:par>
                          <p:cTn id="51" fill="hold">
                            <p:stCondLst>
                              <p:cond delay="3500"/>
                            </p:stCondLst>
                            <p:childTnLst>
                              <p:par>
                                <p:cTn id="52" presetID="17" presetClass="entr" presetSubtype="1" fill="hold" nodeType="afterEffect">
                                  <p:stCondLst>
                                    <p:cond delay="0"/>
                                  </p:stCondLst>
                                  <p:childTnLst>
                                    <p:set>
                                      <p:cBhvr>
                                        <p:cTn id="53" dur="1" fill="hold">
                                          <p:stCondLst>
                                            <p:cond delay="0"/>
                                          </p:stCondLst>
                                        </p:cTn>
                                        <p:tgtEl>
                                          <p:spTgt spid="29"/>
                                        </p:tgtEl>
                                        <p:attrNameLst>
                                          <p:attrName>style.visibility</p:attrName>
                                        </p:attrNameLst>
                                      </p:cBhvr>
                                      <p:to>
                                        <p:strVal val="visible"/>
                                      </p:to>
                                    </p:set>
                                    <p:anim calcmode="lin" valueType="num">
                                      <p:cBhvr>
                                        <p:cTn id="54" dur="500" fill="hold"/>
                                        <p:tgtEl>
                                          <p:spTgt spid="29"/>
                                        </p:tgtEl>
                                        <p:attrNameLst>
                                          <p:attrName>ppt_x</p:attrName>
                                        </p:attrNameLst>
                                      </p:cBhvr>
                                      <p:tavLst>
                                        <p:tav tm="0">
                                          <p:val>
                                            <p:strVal val="#ppt_x"/>
                                          </p:val>
                                        </p:tav>
                                        <p:tav tm="100000">
                                          <p:val>
                                            <p:strVal val="#ppt_x"/>
                                          </p:val>
                                        </p:tav>
                                      </p:tavLst>
                                    </p:anim>
                                    <p:anim calcmode="lin" valueType="num">
                                      <p:cBhvr>
                                        <p:cTn id="55" dur="500" fill="hold"/>
                                        <p:tgtEl>
                                          <p:spTgt spid="29"/>
                                        </p:tgtEl>
                                        <p:attrNameLst>
                                          <p:attrName>ppt_y</p:attrName>
                                        </p:attrNameLst>
                                      </p:cBhvr>
                                      <p:tavLst>
                                        <p:tav tm="0">
                                          <p:val>
                                            <p:strVal val="#ppt_y-#ppt_h/2"/>
                                          </p:val>
                                        </p:tav>
                                        <p:tav tm="100000">
                                          <p:val>
                                            <p:strVal val="#ppt_y"/>
                                          </p:val>
                                        </p:tav>
                                      </p:tavLst>
                                    </p:anim>
                                    <p:anim calcmode="lin" valueType="num">
                                      <p:cBhvr>
                                        <p:cTn id="56" dur="500" fill="hold"/>
                                        <p:tgtEl>
                                          <p:spTgt spid="29"/>
                                        </p:tgtEl>
                                        <p:attrNameLst>
                                          <p:attrName>ppt_w</p:attrName>
                                        </p:attrNameLst>
                                      </p:cBhvr>
                                      <p:tavLst>
                                        <p:tav tm="0">
                                          <p:val>
                                            <p:strVal val="#ppt_w"/>
                                          </p:val>
                                        </p:tav>
                                        <p:tav tm="100000">
                                          <p:val>
                                            <p:strVal val="#ppt_w"/>
                                          </p:val>
                                        </p:tav>
                                      </p:tavLst>
                                    </p:anim>
                                    <p:anim calcmode="lin" valueType="num">
                                      <p:cBhvr>
                                        <p:cTn id="57" dur="500" fill="hold"/>
                                        <p:tgtEl>
                                          <p:spTgt spid="29"/>
                                        </p:tgtEl>
                                        <p:attrNameLst>
                                          <p:attrName>ppt_h</p:attrName>
                                        </p:attrNameLst>
                                      </p:cBhvr>
                                      <p:tavLst>
                                        <p:tav tm="0">
                                          <p:val>
                                            <p:fltVal val="0"/>
                                          </p:val>
                                        </p:tav>
                                        <p:tav tm="100000">
                                          <p:val>
                                            <p:strVal val="#ppt_h"/>
                                          </p:val>
                                        </p:tav>
                                      </p:tavLst>
                                    </p:anim>
                                  </p:childTnLst>
                                </p:cTn>
                              </p:par>
                              <p:par>
                                <p:cTn id="58" presetID="22" presetClass="entr" presetSubtype="4"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down)">
                                      <p:cBhvr>
                                        <p:cTn id="60" dur="650"/>
                                        <p:tgtEl>
                                          <p:spTgt spid="32"/>
                                        </p:tgtEl>
                                      </p:cBhvr>
                                    </p:animEffect>
                                  </p:childTnLst>
                                </p:cTn>
                              </p:par>
                            </p:childTnLst>
                          </p:cTn>
                        </p:par>
                        <p:par>
                          <p:cTn id="61" fill="hold">
                            <p:stCondLst>
                              <p:cond delay="4000"/>
                            </p:stCondLst>
                            <p:childTnLst>
                              <p:par>
                                <p:cTn id="62" presetID="22" presetClass="entr" presetSubtype="8" fill="hold" nodeType="afterEffect">
                                  <p:stCondLst>
                                    <p:cond delay="0"/>
                                  </p:stCondLst>
                                  <p:childTnLst>
                                    <p:set>
                                      <p:cBhvr>
                                        <p:cTn id="63" dur="1" fill="hold">
                                          <p:stCondLst>
                                            <p:cond delay="0"/>
                                          </p:stCondLst>
                                        </p:cTn>
                                        <p:tgtEl>
                                          <p:spTgt spid="191"/>
                                        </p:tgtEl>
                                        <p:attrNameLst>
                                          <p:attrName>style.visibility</p:attrName>
                                        </p:attrNameLst>
                                      </p:cBhvr>
                                      <p:to>
                                        <p:strVal val="visible"/>
                                      </p:to>
                                    </p:set>
                                    <p:animEffect transition="in" filter="wipe(left)">
                                      <p:cBhvr>
                                        <p:cTn id="64"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1" grpId="0"/>
      <p:bldP spid="27" grpId="0"/>
      <p:bldP spid="28" grpId="0"/>
      <p:bldP spid="32" grpId="0"/>
      <p:bldP spid="3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文本占位符 73730"/>
          <p:cNvSpPr>
            <a:spLocks noGrp="1"/>
          </p:cNvSpPr>
          <p:nvPr>
            <p:ph idx="1"/>
          </p:nvPr>
        </p:nvSpPr>
        <p:spPr>
          <a:xfrm>
            <a:off x="1231196" y="2652450"/>
            <a:ext cx="9678390" cy="2369828"/>
          </a:xfrm>
        </p:spPr>
        <p:txBody>
          <a:bodyPr anchor="t"/>
          <a:lstStyle/>
          <a:p>
            <a:pPr algn="just"/>
            <a:r>
              <a:rPr lang="en-US" altLang="zh-CN" dirty="0"/>
              <a:t>       </a:t>
            </a:r>
            <a:r>
              <a:rPr lang="en-US" altLang="zh-CN" dirty="0" smtClean="0"/>
              <a:t>ping</a:t>
            </a:r>
            <a:r>
              <a:rPr lang="zh-CN" altLang="en-US" dirty="0">
                <a:latin typeface="宋体" panose="02010600030101010101" pitchFamily="2" charset="-122"/>
              </a:rPr>
              <a:t>命令用来从一个主机向另一台主机发送</a:t>
            </a:r>
            <a:r>
              <a:rPr lang="en-US" altLang="zh-CN" dirty="0"/>
              <a:t>ICMP</a:t>
            </a:r>
            <a:r>
              <a:rPr lang="zh-CN" altLang="en-US" dirty="0">
                <a:latin typeface="宋体" panose="02010600030101010101" pitchFamily="2" charset="-122"/>
              </a:rPr>
              <a:t>数据报，它使用</a:t>
            </a:r>
            <a:r>
              <a:rPr lang="en-US" altLang="zh-CN" dirty="0"/>
              <a:t>ICMP_ECHO_REQUEST</a:t>
            </a:r>
            <a:r>
              <a:rPr lang="zh-CN" altLang="en-US" dirty="0">
                <a:latin typeface="宋体" panose="02010600030101010101" pitchFamily="2" charset="-122"/>
              </a:rPr>
              <a:t>命令传送数据报，并对每个发送的数据报都期望得到一个</a:t>
            </a:r>
            <a:r>
              <a:rPr lang="en-US" altLang="zh-CN" dirty="0"/>
              <a:t>ICMP_ECHO_REPLY</a:t>
            </a:r>
            <a:r>
              <a:rPr lang="zh-CN" altLang="en-US" dirty="0">
                <a:latin typeface="宋体" panose="02010600030101010101" pitchFamily="2" charset="-122"/>
              </a:rPr>
              <a:t>响应。</a:t>
            </a:r>
            <a:r>
              <a:rPr lang="en-US" altLang="zh-CN" dirty="0"/>
              <a:t>ping</a:t>
            </a:r>
            <a:r>
              <a:rPr lang="zh-CN" altLang="en-US" dirty="0">
                <a:latin typeface="宋体" panose="02010600030101010101" pitchFamily="2" charset="-122"/>
              </a:rPr>
              <a:t>命令被用于网络测试和管理，它有多种选择项，通过使用这些不同的选择项来帮助确定连接中的各种问题。</a:t>
            </a:r>
            <a:r>
              <a:rPr lang="zh-CN" altLang="en-US" dirty="0"/>
              <a:t> </a:t>
            </a:r>
            <a:endParaRPr lang="zh-CN" altLang="en-US" dirty="0"/>
          </a:p>
        </p:txBody>
      </p:sp>
      <p:grpSp>
        <p:nvGrpSpPr>
          <p:cNvPr id="4" name="组合 3"/>
          <p:cNvGrpSpPr/>
          <p:nvPr/>
        </p:nvGrpSpPr>
        <p:grpSpPr>
          <a:xfrm>
            <a:off x="4055714" y="403782"/>
            <a:ext cx="4080572" cy="791052"/>
            <a:chOff x="824071" y="1564267"/>
            <a:chExt cx="4080572" cy="791052"/>
          </a:xfrm>
        </p:grpSpPr>
        <p:sp>
          <p:nvSpPr>
            <p:cNvPr id="5" name="矩形: 圆角 28"/>
            <p:cNvSpPr/>
            <p:nvPr/>
          </p:nvSpPr>
          <p:spPr>
            <a:xfrm>
              <a:off x="824071" y="1740416"/>
              <a:ext cx="408057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203121" cy="480131"/>
            </a:xfrm>
            <a:prstGeom prst="rect">
              <a:avLst/>
            </a:prstGeom>
          </p:spPr>
          <p:txBody>
            <a:bodyPr wrap="none">
              <a:spAutoFit/>
            </a:bodyPr>
            <a:lstStyle/>
            <a:p>
              <a:pPr>
                <a:lnSpc>
                  <a:spcPct val="90000"/>
                </a:lnSpc>
              </a:pPr>
              <a:r>
                <a:rPr lang="en-US" altLang="zh-CN" sz="2800" dirty="0" smtClean="0">
                  <a:solidFill>
                    <a:schemeClr val="bg1"/>
                  </a:solidFill>
                  <a:latin typeface="+mj-ea"/>
                  <a:ea typeface="+mj-ea"/>
                </a:rPr>
                <a:t>2.5.1 </a:t>
              </a:r>
              <a:r>
                <a:rPr lang="zh-CN" altLang="en-US" sz="2800" dirty="0" smtClean="0">
                  <a:solidFill>
                    <a:schemeClr val="bg1"/>
                  </a:solidFill>
                  <a:latin typeface="+mj-ea"/>
                  <a:ea typeface="+mj-ea"/>
                </a:rPr>
                <a:t>网络管理命令</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grpSp>
        <p:nvGrpSpPr>
          <p:cNvPr id="8" name="组合 7"/>
          <p:cNvGrpSpPr/>
          <p:nvPr/>
        </p:nvGrpSpPr>
        <p:grpSpPr>
          <a:xfrm>
            <a:off x="1071420" y="1363737"/>
            <a:ext cx="7294100" cy="840284"/>
            <a:chOff x="3135993" y="1051060"/>
            <a:chExt cx="7294100" cy="840284"/>
          </a:xfrm>
        </p:grpSpPr>
        <p:sp>
          <p:nvSpPr>
            <p:cNvPr id="9"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 name="矩形 9"/>
            <p:cNvSpPr/>
            <p:nvPr/>
          </p:nvSpPr>
          <p:spPr>
            <a:xfrm>
              <a:off x="3972879" y="1333399"/>
              <a:ext cx="1792478"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ping</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 </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1" name="矩形 10"/>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12" name="直接连接符 11"/>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ppt_w/2"/>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文本占位符 74754"/>
          <p:cNvSpPr>
            <a:spLocks noGrp="1"/>
          </p:cNvSpPr>
          <p:nvPr>
            <p:ph idx="1"/>
          </p:nvPr>
        </p:nvSpPr>
        <p:spPr>
          <a:xfrm>
            <a:off x="1069350" y="1669233"/>
            <a:ext cx="10000986" cy="3603409"/>
          </a:xfrm>
        </p:spPr>
        <p:txBody>
          <a:bodyPr anchor="t"/>
          <a:lstStyle/>
          <a:p>
            <a:r>
              <a:rPr lang="en-US" altLang="zh-CN" dirty="0">
                <a:latin typeface="宋体" panose="02010600030101010101" pitchFamily="2" charset="-122"/>
              </a:rPr>
              <a:t>    </a:t>
            </a:r>
            <a:r>
              <a:rPr lang="zh-CN" altLang="en-US" dirty="0" smtClean="0">
                <a:latin typeface="宋体" panose="02010600030101010101" pitchFamily="2" charset="-122"/>
              </a:rPr>
              <a:t>使用</a:t>
            </a:r>
            <a:r>
              <a:rPr lang="en-US" altLang="zh-CN" dirty="0"/>
              <a:t>finger</a:t>
            </a:r>
            <a:r>
              <a:rPr lang="zh-CN" altLang="en-US" dirty="0">
                <a:latin typeface="宋体" panose="02010600030101010101" pitchFamily="2" charset="-122"/>
              </a:rPr>
              <a:t>命令可以显示出运行</a:t>
            </a:r>
            <a:r>
              <a:rPr lang="en-US" altLang="zh-CN" dirty="0"/>
              <a:t>FINGER</a:t>
            </a:r>
            <a:r>
              <a:rPr lang="zh-CN" altLang="en-US" dirty="0">
                <a:latin typeface="宋体" panose="02010600030101010101" pitchFamily="2" charset="-122"/>
              </a:rPr>
              <a:t>服务的某台主机上的用户信息。远程系统的不同，</a:t>
            </a:r>
            <a:r>
              <a:rPr lang="en-US" altLang="zh-CN" dirty="0"/>
              <a:t>finger </a:t>
            </a:r>
            <a:r>
              <a:rPr lang="zh-CN" altLang="en-US" dirty="0">
                <a:latin typeface="宋体" panose="02010600030101010101" pitchFamily="2" charset="-122"/>
              </a:rPr>
              <a:t>命令的输出也不相同。</a:t>
            </a:r>
            <a:r>
              <a:rPr lang="en-US" altLang="zh-CN" dirty="0"/>
              <a:t>finger</a:t>
            </a:r>
            <a:r>
              <a:rPr lang="zh-CN" altLang="en-US" dirty="0">
                <a:latin typeface="宋体" panose="02010600030101010101" pitchFamily="2" charset="-122"/>
              </a:rPr>
              <a:t>命令在缺省情况下列出当前每个用户的注册名、全名、终端写状态、空闲时间、注册时间、办公地点和电话号码。</a:t>
            </a:r>
            <a:endParaRPr lang="zh-CN" altLang="en-US" dirty="0">
              <a:latin typeface="宋体" panose="02010600030101010101" pitchFamily="2" charset="-122"/>
            </a:endParaRPr>
          </a:p>
          <a:p>
            <a:r>
              <a:rPr lang="zh-CN" altLang="en-US" dirty="0">
                <a:latin typeface="宋体" panose="02010600030101010101" pitchFamily="2" charset="-122"/>
              </a:rPr>
              <a:t>    </a:t>
            </a:r>
            <a:r>
              <a:rPr lang="zh-CN" altLang="en-US" dirty="0" smtClean="0">
                <a:latin typeface="宋体" panose="02010600030101010101" pitchFamily="2" charset="-122"/>
              </a:rPr>
              <a:t>应该</a:t>
            </a:r>
            <a:r>
              <a:rPr lang="zh-CN" altLang="en-US" dirty="0">
                <a:latin typeface="宋体" panose="02010600030101010101" pitchFamily="2" charset="-122"/>
              </a:rPr>
              <a:t>注意的是，使用</a:t>
            </a:r>
            <a:r>
              <a:rPr lang="en-US" altLang="zh-CN" dirty="0"/>
              <a:t>finger</a:t>
            </a:r>
            <a:r>
              <a:rPr lang="zh-CN" altLang="en-US" dirty="0">
                <a:latin typeface="宋体" panose="02010600030101010101" pitchFamily="2" charset="-122"/>
              </a:rPr>
              <a:t>命令可获得用户的某些重要信息，如用户名和主目录等，这对用户系统的安全构成威胁。</a:t>
            </a:r>
            <a:r>
              <a:rPr lang="zh-CN" altLang="en-US" dirty="0"/>
              <a:t> </a:t>
            </a:r>
            <a:endParaRPr lang="zh-CN" altLang="en-US"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991379"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finger</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文本占位符 75778"/>
          <p:cNvSpPr>
            <a:spLocks noGrp="1"/>
          </p:cNvSpPr>
          <p:nvPr>
            <p:ph idx="1"/>
          </p:nvPr>
        </p:nvSpPr>
        <p:spPr>
          <a:xfrm>
            <a:off x="1121665" y="1652257"/>
            <a:ext cx="9985248" cy="2682234"/>
          </a:xfrm>
        </p:spPr>
        <p:txBody>
          <a:bodyPr anchor="t"/>
          <a:lstStyle/>
          <a:p>
            <a:r>
              <a:rPr lang="en-US" altLang="zh-CN" dirty="0"/>
              <a:t>       </a:t>
            </a:r>
            <a:r>
              <a:rPr lang="en-US" altLang="zh-CN" dirty="0" err="1" smtClean="0"/>
              <a:t>traceroute</a:t>
            </a:r>
            <a:r>
              <a:rPr lang="zh-CN" altLang="en-US" dirty="0">
                <a:latin typeface="宋体" panose="02010600030101010101" pitchFamily="2" charset="-122"/>
              </a:rPr>
              <a:t>命令用于跟踪数据报到达目标机器所经过的路由。它利用</a:t>
            </a:r>
            <a:r>
              <a:rPr lang="en-US" altLang="zh-CN" dirty="0"/>
              <a:t>IP</a:t>
            </a:r>
            <a:r>
              <a:rPr lang="zh-CN" altLang="en-US" dirty="0">
                <a:latin typeface="宋体" panose="02010600030101010101" pitchFamily="2" charset="-122"/>
              </a:rPr>
              <a:t>数据报中</a:t>
            </a:r>
            <a:r>
              <a:rPr lang="zh-CN" altLang="en-US" dirty="0" smtClean="0">
                <a:latin typeface="宋体" panose="02010600030101010101" pitchFamily="2" charset="-122"/>
              </a:rPr>
              <a:t>的</a:t>
            </a:r>
            <a:r>
              <a:rPr lang="en-US" altLang="zh-CN" dirty="0" err="1" smtClean="0"/>
              <a:t>Time_To_Live</a:t>
            </a:r>
            <a:r>
              <a:rPr lang="zh-CN" altLang="en-US" dirty="0">
                <a:latin typeface="宋体" panose="02010600030101010101" pitchFamily="2" charset="-122"/>
              </a:rPr>
              <a:t>（</a:t>
            </a:r>
            <a:r>
              <a:rPr lang="en-US" altLang="zh-CN" dirty="0"/>
              <a:t>TTL</a:t>
            </a:r>
            <a:r>
              <a:rPr lang="zh-CN" altLang="en-US" dirty="0">
                <a:latin typeface="宋体" panose="02010600030101010101" pitchFamily="2" charset="-122"/>
              </a:rPr>
              <a:t>）字段，在到达目的主机前所经过的每一个网关上都发出一个</a:t>
            </a:r>
            <a:r>
              <a:rPr lang="en-US" altLang="zh-CN" dirty="0"/>
              <a:t>ICMP_TIME_EXCEEDED</a:t>
            </a:r>
            <a:r>
              <a:rPr lang="zh-CN" altLang="en-US" dirty="0">
                <a:latin typeface="宋体" panose="02010600030101010101" pitchFamily="2" charset="-122"/>
              </a:rPr>
              <a:t>响应。</a:t>
            </a:r>
            <a:r>
              <a:rPr lang="zh-CN" altLang="en-US" dirty="0"/>
              <a:t> </a:t>
            </a:r>
            <a:endParaRPr lang="zh-CN" altLang="en-US" dirty="0"/>
          </a:p>
        </p:txBody>
      </p:sp>
      <p:grpSp>
        <p:nvGrpSpPr>
          <p:cNvPr id="4" name="组合 3"/>
          <p:cNvGrpSpPr/>
          <p:nvPr/>
        </p:nvGrpSpPr>
        <p:grpSpPr>
          <a:xfrm>
            <a:off x="125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824171" cy="523220"/>
            </a:xfrm>
            <a:prstGeom prst="rect">
              <a:avLst/>
            </a:prstGeom>
          </p:spPr>
          <p:txBody>
            <a:bodyPr wrap="none">
              <a:spAutoFit/>
            </a:bodyPr>
            <a:lstStyle/>
            <a:p>
              <a:pPr fontAlgn="base">
                <a:spcAft>
                  <a:spcPct val="0"/>
                </a:spcAft>
                <a:defRPr/>
              </a:pP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traceroute</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文本占位符 76802"/>
          <p:cNvSpPr>
            <a:spLocks noGrp="1"/>
          </p:cNvSpPr>
          <p:nvPr>
            <p:ph idx="1"/>
          </p:nvPr>
        </p:nvSpPr>
        <p:spPr>
          <a:xfrm>
            <a:off x="1259350" y="1911272"/>
            <a:ext cx="9737201" cy="2753486"/>
          </a:xfrm>
        </p:spPr>
        <p:txBody>
          <a:bodyPr anchor="t"/>
          <a:lstStyle/>
          <a:p>
            <a:r>
              <a:rPr lang="en-US" altLang="zh-CN" dirty="0"/>
              <a:t>       </a:t>
            </a:r>
            <a:r>
              <a:rPr lang="en-US" altLang="zh-CN" dirty="0" err="1" smtClean="0"/>
              <a:t>netstat</a:t>
            </a:r>
            <a:r>
              <a:rPr lang="zh-CN" altLang="en-US" dirty="0">
                <a:latin typeface="宋体" panose="02010600030101010101" pitchFamily="2" charset="-122"/>
              </a:rPr>
              <a:t>命令用于显示协议的统计以及所有当前</a:t>
            </a:r>
            <a:r>
              <a:rPr lang="en-US" altLang="zh-CN" dirty="0"/>
              <a:t>TCP/IP</a:t>
            </a:r>
            <a:r>
              <a:rPr lang="zh-CN" altLang="en-US" dirty="0">
                <a:latin typeface="宋体" panose="02010600030101010101" pitchFamily="2" charset="-122"/>
              </a:rPr>
              <a:t>网络连接。例如，可以使用</a:t>
            </a:r>
            <a:r>
              <a:rPr lang="en-US" altLang="zh-CN" dirty="0" err="1"/>
              <a:t>netstat</a:t>
            </a:r>
            <a:r>
              <a:rPr lang="zh-CN" altLang="en-US" dirty="0">
                <a:latin typeface="宋体" panose="02010600030101010101" pitchFamily="2" charset="-122"/>
              </a:rPr>
              <a:t>命令打印路由选择表、连接活动、使用的流及其他信息。</a:t>
            </a:r>
            <a:r>
              <a:rPr lang="en-US" altLang="zh-CN" dirty="0" err="1"/>
              <a:t>netstat</a:t>
            </a:r>
            <a:r>
              <a:rPr lang="zh-CN" altLang="en-US" dirty="0">
                <a:latin typeface="宋体" panose="02010600030101010101" pitchFamily="2" charset="-122"/>
              </a:rPr>
              <a:t>命令使用用户容易理解的符号格式打印信息。</a:t>
            </a:r>
            <a:r>
              <a:rPr lang="zh-CN" altLang="en-US" dirty="0"/>
              <a:t> </a:t>
            </a:r>
            <a:endParaRPr lang="zh-CN" altLang="en-US" dirty="0"/>
          </a:p>
        </p:txBody>
      </p:sp>
      <p:grpSp>
        <p:nvGrpSpPr>
          <p:cNvPr id="4" name="组合 3"/>
          <p:cNvGrpSpPr/>
          <p:nvPr/>
        </p:nvGrpSpPr>
        <p:grpSpPr>
          <a:xfrm>
            <a:off x="1069349"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2201885" cy="523220"/>
            </a:xfrm>
            <a:prstGeom prst="rect">
              <a:avLst/>
            </a:prstGeom>
          </p:spPr>
          <p:txBody>
            <a:bodyPr wrap="none">
              <a:spAutoFit/>
            </a:bodyPr>
            <a:lstStyle/>
            <a:p>
              <a:pPr fontAlgn="base">
                <a:spcAft>
                  <a:spcPct val="0"/>
                </a:spcAft>
                <a:defRPr/>
              </a:pP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netstat</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占位符 77826"/>
          <p:cNvSpPr>
            <a:spLocks noGrp="1"/>
          </p:cNvSpPr>
          <p:nvPr>
            <p:ph idx="1"/>
          </p:nvPr>
        </p:nvSpPr>
        <p:spPr>
          <a:xfrm>
            <a:off x="1229126" y="1911272"/>
            <a:ext cx="9791175" cy="2634732"/>
          </a:xfrm>
        </p:spPr>
        <p:txBody>
          <a:bodyPr anchor="t"/>
          <a:lstStyle/>
          <a:p>
            <a:r>
              <a:rPr lang="en-US" altLang="zh-CN" dirty="0"/>
              <a:t>       </a:t>
            </a:r>
            <a:r>
              <a:rPr lang="en-US" altLang="zh-CN" dirty="0" err="1" smtClean="0"/>
              <a:t>arp</a:t>
            </a:r>
            <a:r>
              <a:rPr lang="zh-CN" altLang="en-US" dirty="0">
                <a:latin typeface="宋体" panose="02010600030101010101" pitchFamily="2" charset="-122"/>
              </a:rPr>
              <a:t>命令显示并修改</a:t>
            </a:r>
            <a:r>
              <a:rPr lang="en-US" altLang="zh-CN" dirty="0"/>
              <a:t>internet</a:t>
            </a:r>
            <a:r>
              <a:rPr lang="zh-CN" altLang="en-US" dirty="0">
                <a:latin typeface="宋体" panose="02010600030101010101" pitchFamily="2" charset="-122"/>
              </a:rPr>
              <a:t>到以太网的地址转换表，这个地址转换表是由</a:t>
            </a:r>
            <a:r>
              <a:rPr lang="en-US" altLang="zh-CN" dirty="0"/>
              <a:t>ARP</a:t>
            </a:r>
            <a:r>
              <a:rPr lang="zh-CN" altLang="en-US" dirty="0">
                <a:latin typeface="宋体" panose="02010600030101010101" pitchFamily="2" charset="-122"/>
              </a:rPr>
              <a:t>协议来维护的。当只有一个主机作为参数时，</a:t>
            </a:r>
            <a:r>
              <a:rPr lang="en-US" altLang="zh-CN" dirty="0" err="1"/>
              <a:t>arp</a:t>
            </a:r>
            <a:r>
              <a:rPr lang="zh-CN" altLang="en-US" dirty="0">
                <a:latin typeface="宋体" panose="02010600030101010101" pitchFamily="2" charset="-122"/>
              </a:rPr>
              <a:t>命令显示这个主机的当前</a:t>
            </a:r>
            <a:r>
              <a:rPr lang="en-US" altLang="zh-CN" dirty="0"/>
              <a:t>ARP</a:t>
            </a:r>
            <a:r>
              <a:rPr lang="zh-CN" altLang="en-US" dirty="0">
                <a:latin typeface="宋体" panose="02010600030101010101" pitchFamily="2" charset="-122"/>
              </a:rPr>
              <a:t>条目。</a:t>
            </a:r>
            <a:r>
              <a:rPr lang="zh-CN" altLang="en-US" dirty="0"/>
              <a:t> </a:t>
            </a:r>
            <a:endParaRPr lang="zh-CN" altLang="en-US"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523174" cy="523220"/>
            </a:xfrm>
            <a:prstGeom prst="rect">
              <a:avLst/>
            </a:prstGeom>
          </p:spPr>
          <p:txBody>
            <a:bodyPr wrap="none">
              <a:spAutoFit/>
            </a:bodyPr>
            <a:lstStyle/>
            <a:p>
              <a:pPr fontAlgn="base">
                <a:spcAft>
                  <a:spcPct val="0"/>
                </a:spcAft>
                <a:defRPr/>
              </a:pPr>
              <a:r>
                <a:rPr lang="en-US" altLang="zh-CN" sz="2800" dirty="0" err="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arp</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5</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文本占位符 78850"/>
          <p:cNvSpPr>
            <a:spLocks noGrp="1"/>
          </p:cNvSpPr>
          <p:nvPr>
            <p:ph idx="1"/>
          </p:nvPr>
        </p:nvSpPr>
        <p:spPr>
          <a:xfrm>
            <a:off x="1259350" y="1901649"/>
            <a:ext cx="9760951" cy="2076592"/>
          </a:xfrm>
        </p:spPr>
        <p:txBody>
          <a:bodyPr anchor="t"/>
          <a:lstStyle/>
          <a:p>
            <a:r>
              <a:rPr lang="en-US" altLang="zh-CN" dirty="0">
                <a:latin typeface="宋体" panose="02010600030101010101" pitchFamily="2" charset="-122"/>
              </a:rPr>
              <a:t>    </a:t>
            </a:r>
            <a:r>
              <a:rPr lang="zh-CN" altLang="en-US" dirty="0" smtClean="0">
                <a:latin typeface="宋体" panose="02010600030101010101" pitchFamily="2" charset="-122"/>
              </a:rPr>
              <a:t>使用</a:t>
            </a:r>
            <a:r>
              <a:rPr lang="en-US" altLang="zh-CN" dirty="0"/>
              <a:t>route</a:t>
            </a:r>
            <a:r>
              <a:rPr lang="zh-CN" altLang="en-US" dirty="0">
                <a:latin typeface="宋体" panose="02010600030101010101" pitchFamily="2" charset="-122"/>
              </a:rPr>
              <a:t>命令可以用来管理网络的路由表</a:t>
            </a:r>
            <a:r>
              <a:rPr lang="zh-CN" altLang="en-US" dirty="0" smtClean="0">
                <a:latin typeface="宋体" panose="02010600030101010101" pitchFamily="2" charset="-122"/>
              </a:rPr>
              <a:t>。</a:t>
            </a:r>
            <a:r>
              <a:rPr lang="zh-CN" altLang="en-US" dirty="0" smtClean="0"/>
              <a:t> </a:t>
            </a:r>
            <a:endParaRPr lang="zh-CN" altLang="en-US"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895712"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route</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6</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文本占位符 79874"/>
          <p:cNvSpPr>
            <a:spLocks noGrp="1"/>
          </p:cNvSpPr>
          <p:nvPr>
            <p:ph idx="1"/>
          </p:nvPr>
        </p:nvSpPr>
        <p:spPr>
          <a:xfrm>
            <a:off x="1024128" y="1698337"/>
            <a:ext cx="10497991" cy="3373536"/>
          </a:xfrm>
        </p:spPr>
        <p:txBody>
          <a:bodyPr anchor="t"/>
          <a:lstStyle/>
          <a:p>
            <a:r>
              <a:rPr lang="en-US" altLang="zh-CN" dirty="0">
                <a:latin typeface="宋体" panose="02010600030101010101" pitchFamily="2" charset="-122"/>
              </a:rPr>
              <a:t>    </a:t>
            </a:r>
            <a:r>
              <a:rPr lang="zh-CN" altLang="en-US" dirty="0" smtClean="0">
                <a:latin typeface="宋体" panose="02010600030101010101" pitchFamily="2" charset="-122"/>
              </a:rPr>
              <a:t>网络管理</a:t>
            </a:r>
            <a:r>
              <a:rPr lang="zh-CN" altLang="en-US" dirty="0">
                <a:latin typeface="宋体" panose="02010600030101010101" pitchFamily="2" charset="-122"/>
              </a:rPr>
              <a:t>员可以使用网络管理工具来管理系统和网络，用户也可以借助许多命令来获取信息和完成任务。尽管用户也可以使用网络管理工具，但实际工作还是要借助于下面将要介绍的一些重要命令完成。</a:t>
            </a:r>
            <a:r>
              <a:rPr lang="zh-CN" altLang="en-US" dirty="0"/>
              <a:t> </a:t>
            </a:r>
            <a:endParaRPr lang="zh-CN" altLang="en-US" dirty="0"/>
          </a:p>
        </p:txBody>
      </p:sp>
      <p:grpSp>
        <p:nvGrpSpPr>
          <p:cNvPr id="4" name="组合 3"/>
          <p:cNvGrpSpPr/>
          <p:nvPr/>
        </p:nvGrpSpPr>
        <p:grpSpPr>
          <a:xfrm>
            <a:off x="4322574" y="504948"/>
            <a:ext cx="3546851" cy="791052"/>
            <a:chOff x="824071" y="1564267"/>
            <a:chExt cx="3546851" cy="791052"/>
          </a:xfrm>
        </p:grpSpPr>
        <p:sp>
          <p:nvSpPr>
            <p:cNvPr id="5" name="矩形: 圆角 28"/>
            <p:cNvSpPr/>
            <p:nvPr/>
          </p:nvSpPr>
          <p:spPr>
            <a:xfrm>
              <a:off x="824071" y="1740416"/>
              <a:ext cx="354685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565126" cy="480131"/>
            </a:xfrm>
            <a:prstGeom prst="rect">
              <a:avLst/>
            </a:prstGeom>
          </p:spPr>
          <p:txBody>
            <a:bodyPr wrap="none">
              <a:spAutoFit/>
            </a:bodyPr>
            <a:lstStyle/>
            <a:p>
              <a:pPr>
                <a:lnSpc>
                  <a:spcPct val="90000"/>
                </a:lnSpc>
              </a:pPr>
              <a:r>
                <a:rPr lang="en-US" altLang="zh-CN" sz="2800" dirty="0">
                  <a:solidFill>
                    <a:schemeClr val="bg1"/>
                  </a:solidFill>
                  <a:latin typeface="+mj-ea"/>
                </a:rPr>
                <a:t>2.5.2 </a:t>
              </a:r>
              <a:r>
                <a:rPr lang="zh-CN" altLang="en-US" sz="2800" dirty="0">
                  <a:solidFill>
                    <a:schemeClr val="bg1"/>
                  </a:solidFill>
                  <a:latin typeface="+mj-ea"/>
                </a:rPr>
                <a:t>用户命令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文本占位符 80898"/>
          <p:cNvSpPr>
            <a:spLocks noGrp="1"/>
          </p:cNvSpPr>
          <p:nvPr>
            <p:ph idx="1"/>
          </p:nvPr>
        </p:nvSpPr>
        <p:spPr>
          <a:xfrm>
            <a:off x="1081225" y="1676001"/>
            <a:ext cx="10034079" cy="4297278"/>
          </a:xfrm>
        </p:spPr>
        <p:txBody>
          <a:bodyPr anchor="t"/>
          <a:lstStyle/>
          <a:p>
            <a:pPr fontAlgn="base">
              <a:lnSpc>
                <a:spcPct val="100000"/>
              </a:lnSpc>
              <a:spcBef>
                <a:spcPct val="0"/>
              </a:spcBef>
            </a:pPr>
            <a:r>
              <a:rPr lang="zh-CN" altLang="en-US" sz="2800" b="1" spc="200" dirty="0">
                <a:solidFill>
                  <a:schemeClr val="tx1"/>
                </a:solidFill>
                <a:latin typeface="+mj-lt"/>
                <a:ea typeface="+mj-ea"/>
                <a:cs typeface="+mj-cs"/>
              </a:rPr>
              <a:t>（</a:t>
            </a:r>
            <a:r>
              <a:rPr lang="en-US" altLang="zh-CN" sz="2800" b="1" spc="200" dirty="0">
                <a:solidFill>
                  <a:schemeClr val="tx1"/>
                </a:solidFill>
                <a:latin typeface="+mj-lt"/>
                <a:ea typeface="+mj-ea"/>
                <a:cs typeface="+mj-cs"/>
              </a:rPr>
              <a:t>1</a:t>
            </a:r>
            <a:r>
              <a:rPr lang="zh-CN" altLang="en-US" sz="2800" b="1" spc="200" dirty="0">
                <a:solidFill>
                  <a:schemeClr val="tx1"/>
                </a:solidFill>
                <a:latin typeface="+mj-lt"/>
                <a:ea typeface="+mj-ea"/>
                <a:cs typeface="+mj-cs"/>
              </a:rPr>
              <a:t>）</a:t>
            </a:r>
            <a:r>
              <a:rPr lang="en-US" altLang="zh-CN" sz="2800" b="1" spc="200" dirty="0">
                <a:solidFill>
                  <a:schemeClr val="tx1"/>
                </a:solidFill>
                <a:latin typeface="+mj-lt"/>
                <a:ea typeface="+mj-ea"/>
                <a:cs typeface="+mj-cs"/>
              </a:rPr>
              <a:t>rlogin</a:t>
            </a:r>
            <a:r>
              <a:rPr lang="zh-CN" altLang="en-US" sz="2800" b="1" spc="200" dirty="0">
                <a:solidFill>
                  <a:schemeClr val="tx1"/>
                </a:solidFill>
                <a:latin typeface="+mj-lt"/>
                <a:ea typeface="+mj-ea"/>
                <a:cs typeface="+mj-cs"/>
              </a:rPr>
              <a:t>命令</a:t>
            </a:r>
            <a:endParaRPr lang="zh-CN" altLang="en-US" sz="2800" b="1" spc="200" dirty="0">
              <a:solidFill>
                <a:schemeClr val="tx1"/>
              </a:solidFill>
              <a:latin typeface="+mj-lt"/>
              <a:ea typeface="+mj-ea"/>
              <a:cs typeface="+mj-cs"/>
            </a:endParaRPr>
          </a:p>
          <a:p>
            <a:pPr algn="just"/>
            <a:r>
              <a:rPr lang="zh-CN" altLang="en-US" dirty="0"/>
              <a:t>       </a:t>
            </a:r>
            <a:r>
              <a:rPr lang="en-US" altLang="zh-CN" dirty="0" smtClean="0"/>
              <a:t>rlogin</a:t>
            </a:r>
            <a:r>
              <a:rPr lang="zh-CN" altLang="en-US" dirty="0">
                <a:latin typeface="宋体" panose="02010600030101010101" pitchFamily="2" charset="-122"/>
              </a:rPr>
              <a:t>命令用于建立本地主机和远端主机的远程会话连接，远端主机必须运行</a:t>
            </a:r>
            <a:r>
              <a:rPr lang="en-US" altLang="zh-CN" dirty="0" err="1"/>
              <a:t>rlogind</a:t>
            </a:r>
            <a:r>
              <a:rPr lang="zh-CN" altLang="en-US" dirty="0">
                <a:latin typeface="宋体" panose="02010600030101010101" pitchFamily="2" charset="-122"/>
              </a:rPr>
              <a:t>守护程序。一般情况下，远程终端和本地终端的类型是相同的，除非修改用户的</a:t>
            </a:r>
            <a:r>
              <a:rPr lang="en-US" altLang="zh-CN" dirty="0"/>
              <a:t>shell</a:t>
            </a:r>
            <a:r>
              <a:rPr lang="zh-CN" altLang="en-US" dirty="0">
                <a:latin typeface="宋体" panose="02010600030101010101" pitchFamily="2" charset="-122"/>
              </a:rPr>
              <a:t>启动文件。所有的字符回送都由远程终端完成，</a:t>
            </a:r>
            <a:r>
              <a:rPr lang="en-US" altLang="zh-CN" dirty="0"/>
              <a:t>rlogin</a:t>
            </a:r>
            <a:r>
              <a:rPr lang="zh-CN" altLang="en-US" dirty="0">
                <a:latin typeface="宋体" panose="02010600030101010101" pitchFamily="2" charset="-122"/>
              </a:rPr>
              <a:t>的使用对用户是透明的。终止远程连接可以通过退出远程主机完成；也可以通过使用终止字符“</a:t>
            </a:r>
            <a:r>
              <a:rPr lang="en-US" altLang="zh-CN" dirty="0"/>
              <a:t>~</a:t>
            </a:r>
            <a:r>
              <a:rPr lang="en-US" altLang="zh-CN" dirty="0">
                <a:latin typeface="宋体" panose="02010600030101010101" pitchFamily="2" charset="-122"/>
              </a:rPr>
              <a:t>”</a:t>
            </a:r>
            <a:r>
              <a:rPr lang="zh-CN" altLang="en-US" dirty="0">
                <a:latin typeface="宋体" panose="02010600030101010101" pitchFamily="2" charset="-122"/>
              </a:rPr>
              <a:t>实现。</a:t>
            </a:r>
            <a:r>
              <a:rPr lang="zh-CN" altLang="en-US" dirty="0"/>
              <a:t> </a:t>
            </a:r>
            <a:endParaRPr lang="zh-CN" altLang="en-US" dirty="0"/>
          </a:p>
        </p:txBody>
      </p:sp>
      <p:grpSp>
        <p:nvGrpSpPr>
          <p:cNvPr id="4" name="组合 3"/>
          <p:cNvGrpSpPr/>
          <p:nvPr/>
        </p:nvGrpSpPr>
        <p:grpSpPr>
          <a:xfrm>
            <a:off x="108122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069524"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r</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81921"/>
          <p:cNvSpPr>
            <a:spLocks noGrp="1"/>
          </p:cNvSpPr>
          <p:nvPr>
            <p:ph type="title"/>
          </p:nvPr>
        </p:nvSpPr>
        <p:spPr>
          <a:xfrm>
            <a:off x="1073640" y="1287014"/>
            <a:ext cx="6170305" cy="648000"/>
          </a:xfrm>
        </p:spPr>
        <p:txBody>
          <a:bodyPr vert="horz" lIns="92075" tIns="46038" rIns="92075" bIns="46038" rtlCol="0" anchor="ctr" anchorCtr="0">
            <a:noAutofit/>
          </a:bodyPr>
          <a:lstStyle/>
          <a:p>
            <a:pPr fontAlgn="base"/>
            <a:r>
              <a:rPr lang="zh-CN" altLang="en-US" sz="2800" b="1" strike="noStrike" noProof="1"/>
              <a:t>（</a:t>
            </a:r>
            <a:r>
              <a:rPr lang="en-US" altLang="zh-CN" sz="2800" b="1" strike="noStrike" noProof="1"/>
              <a:t>2</a:t>
            </a:r>
            <a:r>
              <a:rPr lang="zh-CN" altLang="en-US" sz="2800" b="1" strike="noStrike" noProof="1"/>
              <a:t>）</a:t>
            </a:r>
            <a:r>
              <a:rPr lang="en-US" altLang="zh-CN" sz="2800" b="1" strike="noStrike" noProof="1"/>
              <a:t>rcp</a:t>
            </a:r>
            <a:r>
              <a:rPr lang="zh-CN" altLang="en-US" sz="2800" b="1" strike="noStrike" noProof="1"/>
              <a:t>命令</a:t>
            </a:r>
            <a:endParaRPr lang="zh-CN" altLang="en-US" sz="2800" strike="noStrike" noProof="1"/>
          </a:p>
        </p:txBody>
      </p:sp>
      <p:sp>
        <p:nvSpPr>
          <p:cNvPr id="82946" name="文本占位符 81922"/>
          <p:cNvSpPr>
            <a:spLocks noGrp="1"/>
          </p:cNvSpPr>
          <p:nvPr>
            <p:ph idx="1"/>
          </p:nvPr>
        </p:nvSpPr>
        <p:spPr>
          <a:xfrm>
            <a:off x="1048513" y="2151015"/>
            <a:ext cx="10082784" cy="2325978"/>
          </a:xfrm>
        </p:spPr>
        <p:txBody>
          <a:bodyPr anchor="t"/>
          <a:lstStyle/>
          <a:p>
            <a:pPr algn="just"/>
            <a:r>
              <a:rPr lang="en-US" altLang="zh-CN" dirty="0"/>
              <a:t>       </a:t>
            </a:r>
            <a:r>
              <a:rPr lang="en-US" altLang="zh-CN" dirty="0" err="1" smtClean="0"/>
              <a:t>rcp</a:t>
            </a:r>
            <a:r>
              <a:rPr lang="zh-CN" altLang="en-US" dirty="0">
                <a:latin typeface="宋体" panose="02010600030101010101" pitchFamily="2" charset="-122"/>
              </a:rPr>
              <a:t>是远程拷贝命令，即使用</a:t>
            </a:r>
            <a:r>
              <a:rPr lang="en-US" altLang="zh-CN" dirty="0" err="1"/>
              <a:t>rcp</a:t>
            </a:r>
            <a:r>
              <a:rPr lang="zh-CN" altLang="en-US" dirty="0">
                <a:latin typeface="宋体" panose="02010600030101010101" pitchFamily="2" charset="-122"/>
              </a:rPr>
              <a:t>命令，用户可以实现从一个主机到另一个主机的文件拷贝。当然，另一个主机上必须运行</a:t>
            </a:r>
            <a:r>
              <a:rPr lang="en-US" altLang="zh-CN" dirty="0"/>
              <a:t>RCP</a:t>
            </a:r>
            <a:r>
              <a:rPr lang="zh-CN" altLang="en-US" dirty="0">
                <a:latin typeface="宋体" panose="02010600030101010101" pitchFamily="2" charset="-122"/>
              </a:rPr>
              <a:t>服务</a:t>
            </a:r>
            <a:r>
              <a:rPr lang="zh-CN" altLang="en-US" dirty="0" smtClean="0">
                <a:latin typeface="宋体" panose="02010600030101010101" pitchFamily="2" charset="-122"/>
              </a:rPr>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82945"/>
          <p:cNvSpPr>
            <a:spLocks noGrp="1"/>
          </p:cNvSpPr>
          <p:nvPr>
            <p:ph type="title"/>
          </p:nvPr>
        </p:nvSpPr>
        <p:spPr>
          <a:xfrm>
            <a:off x="1085515" y="930750"/>
            <a:ext cx="7607220" cy="648000"/>
          </a:xfrm>
        </p:spPr>
        <p:txBody>
          <a:bodyPr vert="horz" lIns="92075" tIns="46038" rIns="92075" bIns="46038" rtlCol="0" anchor="ctr" anchorCtr="0">
            <a:noAutofit/>
          </a:bodyPr>
          <a:lstStyle/>
          <a:p>
            <a:pPr fontAlgn="base"/>
            <a:r>
              <a:rPr lang="zh-CN" altLang="en-US" sz="2800" dirty="0">
                <a:latin typeface="宋体" panose="02010600030101010101" pitchFamily="2" charset="-122"/>
              </a:rPr>
              <a:t>（</a:t>
            </a:r>
            <a:r>
              <a:rPr lang="en-US" altLang="zh-CN" sz="2800" dirty="0"/>
              <a:t>3</a:t>
            </a:r>
            <a:r>
              <a:rPr lang="zh-CN" altLang="en-US" sz="2800" dirty="0">
                <a:latin typeface="宋体" panose="02010600030101010101" pitchFamily="2" charset="-122"/>
              </a:rPr>
              <a:t>）</a:t>
            </a:r>
            <a:r>
              <a:rPr lang="en-US" altLang="zh-CN" sz="2800" dirty="0" err="1"/>
              <a:t>rsh</a:t>
            </a:r>
            <a:r>
              <a:rPr lang="zh-CN" altLang="en-US" sz="2800" dirty="0">
                <a:latin typeface="宋体" panose="02010600030101010101" pitchFamily="2" charset="-122"/>
              </a:rPr>
              <a:t>和</a:t>
            </a:r>
            <a:r>
              <a:rPr lang="zh-CN" altLang="en-US" sz="2800" dirty="0"/>
              <a:t> </a:t>
            </a:r>
            <a:r>
              <a:rPr lang="en-US" altLang="zh-CN" sz="2800" dirty="0" err="1"/>
              <a:t>rexec</a:t>
            </a:r>
            <a:r>
              <a:rPr lang="zh-CN" altLang="en-US" sz="2800" dirty="0">
                <a:latin typeface="宋体" panose="02010600030101010101" pitchFamily="2" charset="-122"/>
              </a:rPr>
              <a:t>命令</a:t>
            </a:r>
            <a:r>
              <a:rPr lang="zh-CN" altLang="en-US" sz="2800" strike="noStrike" noProof="1"/>
              <a:t> </a:t>
            </a:r>
            <a:endParaRPr lang="zh-CN" altLang="en-US" sz="2800" strike="noStrike" noProof="1"/>
          </a:p>
        </p:txBody>
      </p:sp>
      <p:sp>
        <p:nvSpPr>
          <p:cNvPr id="83970" name="文本占位符 82946"/>
          <p:cNvSpPr>
            <a:spLocks noGrp="1"/>
          </p:cNvSpPr>
          <p:nvPr>
            <p:ph idx="1"/>
          </p:nvPr>
        </p:nvSpPr>
        <p:spPr>
          <a:xfrm>
            <a:off x="1068779" y="1830376"/>
            <a:ext cx="10082151" cy="3751013"/>
          </a:xfrm>
        </p:spPr>
        <p:txBody>
          <a:bodyPr anchor="t"/>
          <a:lstStyle/>
          <a:p>
            <a:pPr algn="just"/>
            <a:r>
              <a:rPr lang="en-US" altLang="zh-CN" dirty="0">
                <a:latin typeface="宋体" panose="02010600030101010101" pitchFamily="2" charset="-122"/>
              </a:rPr>
              <a:t>    </a:t>
            </a:r>
            <a:r>
              <a:rPr lang="zh-CN" altLang="en-US" dirty="0">
                <a:latin typeface="宋体" panose="02010600030101010101" pitchFamily="2" charset="-122"/>
              </a:rPr>
              <a:t>这两条命令的功能基本相同，即在远程主机上执行命令。</a:t>
            </a:r>
            <a:r>
              <a:rPr lang="en-US" altLang="zh-CN" dirty="0" err="1">
                <a:latin typeface="宋体" panose="02010600030101010101" pitchFamily="2" charset="-122"/>
              </a:rPr>
              <a:t>rsh</a:t>
            </a:r>
            <a:r>
              <a:rPr lang="zh-CN" altLang="en-US" dirty="0">
                <a:latin typeface="宋体" panose="02010600030101010101" pitchFamily="2" charset="-122"/>
              </a:rPr>
              <a:t>是在本地主机和远程主机之间建立连接，并能够在远程主机上执行指定的命令，当然，远程主机上必须运行</a:t>
            </a:r>
            <a:r>
              <a:rPr lang="en-US" altLang="zh-CN" dirty="0">
                <a:latin typeface="宋体" panose="02010600030101010101" pitchFamily="2" charset="-122"/>
              </a:rPr>
              <a:t>RSH</a:t>
            </a:r>
            <a:r>
              <a:rPr lang="zh-CN" altLang="en-US" dirty="0">
                <a:latin typeface="宋体" panose="02010600030101010101" pitchFamily="2" charset="-122"/>
              </a:rPr>
              <a:t>服务。</a:t>
            </a:r>
            <a:r>
              <a:rPr lang="en-US" altLang="zh-CN" dirty="0" err="1">
                <a:latin typeface="宋体" panose="02010600030101010101" pitchFamily="2" charset="-122"/>
              </a:rPr>
              <a:t>rsh</a:t>
            </a:r>
            <a:r>
              <a:rPr lang="zh-CN" altLang="en-US" dirty="0">
                <a:latin typeface="宋体" panose="02010600030101010101" pitchFamily="2" charset="-122"/>
              </a:rPr>
              <a:t>把本地主机的标准输入拷贝给远程命令，再把远程命令的标准输出拷贝给本地主机的标准输出。如果远程命令有错误，</a:t>
            </a:r>
            <a:r>
              <a:rPr lang="en-US" altLang="zh-CN" dirty="0" err="1">
                <a:latin typeface="宋体" panose="02010600030101010101" pitchFamily="2" charset="-122"/>
              </a:rPr>
              <a:t>rsh</a:t>
            </a:r>
            <a:r>
              <a:rPr lang="zh-CN" altLang="en-US" dirty="0">
                <a:latin typeface="宋体" panose="02010600030101010101" pitchFamily="2" charset="-122"/>
              </a:rPr>
              <a:t>也会把远程命令的标准错误输出拷贝给本地主机的标准错误输出。中断、退出和终止信号会传送给远程命令，远程命令终止时，</a:t>
            </a:r>
            <a:r>
              <a:rPr lang="en-US" altLang="zh-CN" dirty="0" err="1">
                <a:latin typeface="宋体" panose="02010600030101010101" pitchFamily="2" charset="-122"/>
              </a:rPr>
              <a:t>rsh</a:t>
            </a:r>
            <a:r>
              <a:rPr lang="zh-CN" altLang="en-US" dirty="0">
                <a:latin typeface="宋体" panose="02010600030101010101" pitchFamily="2" charset="-122"/>
              </a:rPr>
              <a:t>命令也会终止。 </a:t>
            </a:r>
            <a:endParaRPr lang="zh-CN" altLang="en-US"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83969"/>
          <p:cNvSpPr>
            <a:spLocks noGrp="1"/>
          </p:cNvSpPr>
          <p:nvPr>
            <p:ph type="title"/>
          </p:nvPr>
        </p:nvSpPr>
        <p:spPr/>
        <p:txBody>
          <a:bodyPr vert="horz" lIns="92075" tIns="46038" rIns="92075" bIns="46038" rtlCol="0" anchor="ctr" anchorCtr="0">
            <a:noAutofit/>
          </a:bodyPr>
          <a:lstStyle/>
          <a:p>
            <a:pPr fontAlgn="base"/>
            <a:r>
              <a:rPr lang="en-US" altLang="zh-CN" strike="noStrike" noProof="1"/>
              <a:t> </a:t>
            </a:r>
            <a:endParaRPr lang="en-US" altLang="zh-CN" strike="noStrike" noProof="1"/>
          </a:p>
        </p:txBody>
      </p:sp>
      <p:sp>
        <p:nvSpPr>
          <p:cNvPr id="84994" name="文本占位符 83970"/>
          <p:cNvSpPr>
            <a:spLocks noGrp="1"/>
          </p:cNvSpPr>
          <p:nvPr>
            <p:ph idx="1"/>
          </p:nvPr>
        </p:nvSpPr>
        <p:spPr>
          <a:xfrm>
            <a:off x="1233054" y="1984770"/>
            <a:ext cx="9725891" cy="3632260"/>
          </a:xfrm>
        </p:spPr>
        <p:txBody>
          <a:bodyPr anchor="t"/>
          <a:lstStyle/>
          <a:p>
            <a:r>
              <a:rPr lang="en-US" altLang="zh-CN" dirty="0"/>
              <a:t>       </a:t>
            </a:r>
            <a:r>
              <a:rPr lang="en-US" altLang="zh-CN" dirty="0" err="1" smtClean="0"/>
              <a:t>rexec</a:t>
            </a:r>
            <a:r>
              <a:rPr lang="zh-CN" altLang="en-US" dirty="0">
                <a:latin typeface="宋体" panose="02010600030101010101" pitchFamily="2" charset="-122"/>
              </a:rPr>
              <a:t>命令与</a:t>
            </a:r>
            <a:r>
              <a:rPr lang="en-US" altLang="zh-CN" dirty="0" err="1"/>
              <a:t>rsh</a:t>
            </a:r>
            <a:r>
              <a:rPr lang="zh-CN" altLang="en-US" dirty="0">
                <a:latin typeface="宋体" panose="02010600030101010101" pitchFamily="2" charset="-122"/>
              </a:rPr>
              <a:t>命令几乎完全相同。使用</a:t>
            </a:r>
            <a:r>
              <a:rPr lang="en-US" altLang="zh-CN" dirty="0" err="1"/>
              <a:t>rexec</a:t>
            </a:r>
            <a:r>
              <a:rPr lang="zh-CN" altLang="en-US" dirty="0">
                <a:latin typeface="宋体" panose="02010600030101010101" pitchFamily="2" charset="-122"/>
              </a:rPr>
              <a:t>可以在运行</a:t>
            </a:r>
            <a:r>
              <a:rPr lang="en-US" altLang="zh-CN" dirty="0"/>
              <a:t>REXEC</a:t>
            </a:r>
            <a:r>
              <a:rPr lang="zh-CN" altLang="en-US" dirty="0">
                <a:latin typeface="宋体" panose="02010600030101010101" pitchFamily="2" charset="-122"/>
              </a:rPr>
              <a:t>服务的远程主机上执行命令，同</a:t>
            </a:r>
            <a:r>
              <a:rPr lang="en-US" altLang="zh-CN" dirty="0" err="1"/>
              <a:t>rsh</a:t>
            </a:r>
            <a:r>
              <a:rPr lang="zh-CN" altLang="en-US" dirty="0">
                <a:latin typeface="宋体" panose="02010600030101010101" pitchFamily="2" charset="-122"/>
              </a:rPr>
              <a:t>命令不同的是，</a:t>
            </a:r>
            <a:r>
              <a:rPr lang="en-US" altLang="zh-CN" dirty="0" err="1"/>
              <a:t>rexec</a:t>
            </a:r>
            <a:r>
              <a:rPr lang="zh-CN" altLang="en-US" dirty="0">
                <a:latin typeface="宋体" panose="02010600030101010101" pitchFamily="2" charset="-122"/>
              </a:rPr>
              <a:t>在执行用户指定的命令之前，首先要对在远程主机上的用户名进行认证。</a:t>
            </a:r>
            <a:r>
              <a:rPr lang="en-US" altLang="zh-CN" dirty="0" err="1"/>
              <a:t>rexec</a:t>
            </a:r>
            <a:r>
              <a:rPr lang="zh-CN" altLang="en-US" dirty="0">
                <a:latin typeface="宋体" panose="02010600030101010101" pitchFamily="2" charset="-122"/>
              </a:rPr>
              <a:t>命令的格式和选项同</a:t>
            </a:r>
            <a:r>
              <a:rPr lang="en-US" altLang="zh-CN" dirty="0" err="1"/>
              <a:t>rsh</a:t>
            </a:r>
            <a:r>
              <a:rPr lang="zh-CN" altLang="en-US" dirty="0">
                <a:latin typeface="宋体" panose="02010600030101010101" pitchFamily="2" charset="-122"/>
              </a:rPr>
              <a:t>命令的完全一样，只是</a:t>
            </a:r>
            <a:r>
              <a:rPr lang="en-US" altLang="zh-CN" dirty="0" err="1"/>
              <a:t>rexec</a:t>
            </a:r>
            <a:r>
              <a:rPr lang="zh-CN" altLang="en-US" dirty="0">
                <a:latin typeface="宋体" panose="02010600030101010101" pitchFamily="2" charset="-122"/>
              </a:rPr>
              <a:t>命令的</a:t>
            </a:r>
            <a:r>
              <a:rPr lang="en-US" altLang="zh-CN" dirty="0"/>
              <a:t>-n</a:t>
            </a:r>
            <a:r>
              <a:rPr lang="zh-CN" altLang="en-US" dirty="0">
                <a:latin typeface="宋体" panose="02010600030101010101" pitchFamily="2" charset="-122"/>
              </a:rPr>
              <a:t>选项是将</a:t>
            </a:r>
            <a:r>
              <a:rPr lang="en-US" altLang="zh-CN" dirty="0"/>
              <a:t>REXEC</a:t>
            </a:r>
            <a:r>
              <a:rPr lang="zh-CN" altLang="en-US" dirty="0">
                <a:latin typeface="宋体" panose="02010600030101010101" pitchFamily="2" charset="-122"/>
              </a:rPr>
              <a:t>的输入重新定向到</a:t>
            </a:r>
            <a:r>
              <a:rPr lang="en-US" altLang="zh-CN" dirty="0"/>
              <a:t>NULL</a:t>
            </a:r>
            <a:r>
              <a:rPr lang="zh-CN" altLang="en-US" dirty="0">
                <a:latin typeface="宋体" panose="02010600030101010101" pitchFamily="2" charset="-122"/>
              </a:rPr>
              <a:t>中。</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文本占位符 84994"/>
          <p:cNvSpPr>
            <a:spLocks noGrp="1"/>
          </p:cNvSpPr>
          <p:nvPr>
            <p:ph idx="1"/>
          </p:nvPr>
        </p:nvSpPr>
        <p:spPr>
          <a:xfrm>
            <a:off x="1069350" y="1803518"/>
            <a:ext cx="10045954" cy="2587231"/>
          </a:xfrm>
        </p:spPr>
        <p:txBody>
          <a:bodyPr anchor="t"/>
          <a:lstStyle/>
          <a:p>
            <a:r>
              <a:rPr lang="en-US" altLang="zh-CN" dirty="0"/>
              <a:t>       </a:t>
            </a:r>
            <a:r>
              <a:rPr lang="en-US" altLang="zh-CN" dirty="0" smtClean="0"/>
              <a:t>ftp</a:t>
            </a:r>
            <a:r>
              <a:rPr lang="zh-CN" altLang="en-US" dirty="0">
                <a:latin typeface="宋体" panose="02010600030101010101" pitchFamily="2" charset="-122"/>
              </a:rPr>
              <a:t>命令使用</a:t>
            </a:r>
            <a:r>
              <a:rPr lang="en-US" altLang="zh-CN" dirty="0"/>
              <a:t>FTP</a:t>
            </a:r>
            <a:r>
              <a:rPr lang="zh-CN" altLang="en-US" dirty="0">
                <a:latin typeface="宋体" panose="02010600030101010101" pitchFamily="2" charset="-122"/>
              </a:rPr>
              <a:t>协议采用命令行方式与目标系统的</a:t>
            </a:r>
            <a:r>
              <a:rPr lang="en-US" altLang="zh-CN" dirty="0"/>
              <a:t>ftp</a:t>
            </a:r>
            <a:r>
              <a:rPr lang="zh-CN" altLang="en-US" dirty="0">
                <a:latin typeface="宋体" panose="02010600030101010101" pitchFamily="2" charset="-122"/>
              </a:rPr>
              <a:t>服务器建立连接，并且完成本地系统和目标系统之间的文件传输。如果在目标系统已经建立账户，只需注册</a:t>
            </a:r>
            <a:r>
              <a:rPr lang="en-US" altLang="zh-CN" dirty="0"/>
              <a:t>ftp</a:t>
            </a:r>
            <a:r>
              <a:rPr lang="zh-CN" altLang="en-US" dirty="0">
                <a:latin typeface="宋体" panose="02010600030101010101" pitchFamily="2" charset="-122"/>
              </a:rPr>
              <a:t>就可以访问目标系统；或者，如果目标系统</a:t>
            </a:r>
            <a:r>
              <a:rPr lang="en-US" altLang="zh-CN" dirty="0"/>
              <a:t>ftp</a:t>
            </a:r>
            <a:r>
              <a:rPr lang="zh-CN" altLang="en-US" dirty="0">
                <a:latin typeface="宋体" panose="02010600030101010101" pitchFamily="2" charset="-122"/>
              </a:rPr>
              <a:t>服务器的配置允许匿名</a:t>
            </a:r>
            <a:r>
              <a:rPr lang="en-US" altLang="zh-CN" dirty="0"/>
              <a:t>ftp</a:t>
            </a:r>
            <a:r>
              <a:rPr lang="zh-CN" altLang="en-US" dirty="0">
                <a:latin typeface="宋体" panose="02010600030101010101" pitchFamily="2" charset="-122"/>
              </a:rPr>
              <a:t>访问，就可以通过匿名</a:t>
            </a:r>
            <a:r>
              <a:rPr lang="en-US" altLang="zh-CN" dirty="0"/>
              <a:t>ftp</a:t>
            </a:r>
            <a:r>
              <a:rPr lang="zh-CN" altLang="en-US" dirty="0">
                <a:latin typeface="宋体" panose="02010600030101010101" pitchFamily="2" charset="-122"/>
              </a:rPr>
              <a:t>访问目标系统。</a:t>
            </a:r>
            <a:r>
              <a:rPr lang="zh-CN" altLang="en-US" dirty="0"/>
              <a:t> </a:t>
            </a:r>
            <a:endParaRPr lang="zh-CN" altLang="en-US" dirty="0"/>
          </a:p>
        </p:txBody>
      </p:sp>
      <p:grpSp>
        <p:nvGrpSpPr>
          <p:cNvPr id="4" name="组合 3"/>
          <p:cNvGrpSpPr/>
          <p:nvPr/>
        </p:nvGrpSpPr>
        <p:grpSpPr>
          <a:xfrm>
            <a:off x="1069350"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441420"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ftp</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文本占位符 86018"/>
          <p:cNvSpPr>
            <a:spLocks noGrp="1"/>
          </p:cNvSpPr>
          <p:nvPr>
            <p:ph idx="1"/>
          </p:nvPr>
        </p:nvSpPr>
        <p:spPr>
          <a:xfrm>
            <a:off x="1057475" y="1911272"/>
            <a:ext cx="10057829" cy="2487740"/>
          </a:xfrm>
        </p:spPr>
        <p:txBody>
          <a:bodyPr anchor="t"/>
          <a:lstStyle/>
          <a:p>
            <a:r>
              <a:rPr lang="en-US" altLang="zh-CN" dirty="0"/>
              <a:t>    </a:t>
            </a:r>
            <a:r>
              <a:rPr lang="en-US" altLang="zh-CN" dirty="0" smtClean="0"/>
              <a:t>   telnet</a:t>
            </a:r>
            <a:r>
              <a:rPr lang="zh-CN" altLang="en-US" dirty="0"/>
              <a:t>命令使用</a:t>
            </a:r>
            <a:r>
              <a:rPr lang="en-US" altLang="zh-CN" dirty="0"/>
              <a:t>TELNET</a:t>
            </a:r>
            <a:r>
              <a:rPr lang="zh-CN" altLang="en-US" dirty="0"/>
              <a:t>协议建立从一个用户到远程主机</a:t>
            </a:r>
            <a:r>
              <a:rPr lang="en-US" altLang="zh-CN" dirty="0" err="1"/>
              <a:t>telnetd</a:t>
            </a:r>
            <a:r>
              <a:rPr lang="zh-CN" altLang="en-US" dirty="0"/>
              <a:t>服务程序的连接。与</a:t>
            </a:r>
            <a:r>
              <a:rPr lang="en-US" altLang="zh-CN" dirty="0"/>
              <a:t>rlogin</a:t>
            </a:r>
            <a:r>
              <a:rPr lang="zh-CN" altLang="en-US" dirty="0"/>
              <a:t>命令不同，</a:t>
            </a:r>
            <a:r>
              <a:rPr lang="en-US" altLang="zh-CN" dirty="0"/>
              <a:t>telnet</a:t>
            </a:r>
            <a:r>
              <a:rPr lang="zh-CN" altLang="en-US" dirty="0"/>
              <a:t>不需要用户在远程主机上有账号和配置主机等价性。创建</a:t>
            </a:r>
            <a:r>
              <a:rPr lang="en-US" altLang="zh-CN" dirty="0"/>
              <a:t>telnet</a:t>
            </a:r>
            <a:r>
              <a:rPr lang="zh-CN" altLang="en-US" dirty="0"/>
              <a:t>连接时，用户既可以输入主机名，也可以不输入主机名。如果输入主机名，就会建立一个到远程主机的连接。当连接建立后，用户要输入注册名和口令以访问远程系统。 </a:t>
            </a:r>
            <a:endParaRPr lang="zh-CN" altLang="en-US" dirty="0"/>
          </a:p>
        </p:txBody>
      </p:sp>
      <p:grpSp>
        <p:nvGrpSpPr>
          <p:cNvPr id="4" name="组合 3"/>
          <p:cNvGrpSpPr/>
          <p:nvPr/>
        </p:nvGrpSpPr>
        <p:grpSpPr>
          <a:xfrm>
            <a:off x="1057475" y="637786"/>
            <a:ext cx="7294100" cy="840284"/>
            <a:chOff x="3135993" y="1051060"/>
            <a:chExt cx="7294100" cy="840284"/>
          </a:xfrm>
        </p:grpSpPr>
        <p:sp>
          <p:nvSpPr>
            <p:cNvPr id="5" name="矩形: 圆角 6"/>
            <p:cNvSpPr/>
            <p:nvPr/>
          </p:nvSpPr>
          <p:spPr>
            <a:xfrm>
              <a:off x="3839426" y="1280937"/>
              <a:ext cx="6590667"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995098" cy="523220"/>
            </a:xfrm>
            <a:prstGeom prst="rect">
              <a:avLst/>
            </a:prstGeom>
          </p:spPr>
          <p:txBody>
            <a:bodyPr wrap="none">
              <a:spAutoFit/>
            </a:bodyPr>
            <a:lstStyle/>
            <a:p>
              <a:pPr fontAlgn="base">
                <a:spcAft>
                  <a:spcPct val="0"/>
                </a:spcAft>
                <a:defRPr/>
              </a:pPr>
              <a:r>
                <a:rPr lang="en-US" altLang="zh-CN"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telnet</a:t>
              </a:r>
              <a:r>
                <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命令</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smtClean="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87041"/>
          <p:cNvSpPr>
            <a:spLocks noGrp="1"/>
          </p:cNvSpPr>
          <p:nvPr>
            <p:ph type="title"/>
          </p:nvPr>
        </p:nvSpPr>
        <p:spPr>
          <a:xfrm>
            <a:off x="1143000" y="916092"/>
            <a:ext cx="2433917" cy="648000"/>
          </a:xfrm>
          <a:solidFill>
            <a:srgbClr val="E4F0F9">
              <a:alpha val="16863"/>
            </a:srgbClr>
          </a:solidFill>
        </p:spPr>
        <p:txBody>
          <a:bodyPr vert="horz" lIns="92075" tIns="46038" rIns="92075" bIns="46038" rtlCol="0" anchor="ctr" anchorCtr="0">
            <a:noAutofit/>
          </a:bodyPr>
          <a:lstStyle/>
          <a:p>
            <a:pPr fontAlgn="base"/>
            <a:r>
              <a:rPr lang="zh-CN" altLang="en-US" strike="noStrike" noProof="1"/>
              <a:t>本章小结</a:t>
            </a:r>
            <a:endParaRPr lang="zh-CN" altLang="en-US" strike="noStrike" noProof="1"/>
          </a:p>
        </p:txBody>
      </p:sp>
      <p:sp>
        <p:nvSpPr>
          <p:cNvPr id="88066" name="文本占位符 87042"/>
          <p:cNvSpPr>
            <a:spLocks noGrp="1"/>
          </p:cNvSpPr>
          <p:nvPr>
            <p:ph idx="1"/>
          </p:nvPr>
        </p:nvSpPr>
        <p:spPr>
          <a:xfrm>
            <a:off x="1143001" y="1780093"/>
            <a:ext cx="9977718" cy="3222214"/>
          </a:xfrm>
        </p:spPr>
        <p:txBody>
          <a:bodyPr anchor="t"/>
          <a:lstStyle/>
          <a:p>
            <a:r>
              <a:rPr lang="en-US" altLang="zh-CN" dirty="0"/>
              <a:t>       </a:t>
            </a:r>
            <a:r>
              <a:rPr lang="en-US" altLang="zh-CN" dirty="0" smtClean="0"/>
              <a:t>TCP/IP</a:t>
            </a:r>
            <a:r>
              <a:rPr lang="zh-CN" altLang="en-US" dirty="0"/>
              <a:t>协议是当前网络的最基本的协议体系结构，网络安全和网络攻防都是在这种网络空间下实施或进行的。因此，研究网络对抗技术必须深入了解</a:t>
            </a:r>
            <a:r>
              <a:rPr lang="en-US" altLang="zh-CN" dirty="0"/>
              <a:t>TCP/IP</a:t>
            </a:r>
            <a:r>
              <a:rPr lang="zh-CN" altLang="en-US" dirty="0"/>
              <a:t>协议体系的能力与缺陷。</a:t>
            </a:r>
            <a:endParaRPr lang="zh-CN" altLang="en-US" dirty="0"/>
          </a:p>
          <a:p>
            <a:r>
              <a:rPr lang="zh-CN" altLang="en-US" dirty="0"/>
              <a:t>       </a:t>
            </a:r>
            <a:r>
              <a:rPr lang="zh-CN" altLang="en-US" dirty="0" smtClean="0"/>
              <a:t>应该</a:t>
            </a:r>
            <a:r>
              <a:rPr lang="zh-CN" altLang="en-US" dirty="0"/>
              <a:t>认真研究每一种网络协议、服务和命令的作用和支持机制，因为许多网络攻防技术都利用它们。</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31647" y="1806989"/>
            <a:ext cx="4561024" cy="1823718"/>
          </a:xfrm>
        </p:spPr>
        <p:txBody>
          <a:bodyPr/>
          <a:lstStyle/>
          <a:p>
            <a:pPr algn="ctr"/>
            <a:r>
              <a:rPr lang="zh-CN" altLang="en-US" sz="8800" dirty="0">
                <a:solidFill>
                  <a:schemeClr val="bg2">
                    <a:lumMod val="90000"/>
                  </a:schemeClr>
                </a:solidFill>
              </a:rPr>
              <a:t>第二章</a:t>
            </a:r>
            <a:r>
              <a:rPr lang="en-US" altLang="zh-CN" sz="8800" dirty="0" smtClean="0"/>
              <a:t>End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ISLIDE.VECTOR" val="28b0fd0e-7ece-4f48-881a-83c93b08799b"/>
</p:tagLst>
</file>

<file path=ppt/tags/tag4.xml><?xml version="1.0" encoding="utf-8"?>
<p:tagLst xmlns:p="http://schemas.openxmlformats.org/presentationml/2006/main">
  <p:tag name="ISLIDE.VECTOR" val="28b0fd0e-7ece-4f48-881a-83c93b08799b"/>
</p:tagLst>
</file>

<file path=ppt/tags/tag5.xml><?xml version="1.0" encoding="utf-8"?>
<p:tagLst xmlns:p="http://schemas.openxmlformats.org/presentationml/2006/main">
  <p:tag name="ISLIDE.VECTOR" val="28b0fd0e-7ece-4f48-881a-83c93b08799b"/>
</p:tagLst>
</file>

<file path=ppt/tags/tag6.xml><?xml version="1.0" encoding="utf-8"?>
<p:tagLst xmlns:p="http://schemas.openxmlformats.org/presentationml/2006/main">
  <p:tag name="COMMONDATA" val="eyJoZGlkIjoiMzA1MzljY2Y4ZTIwNzk1OWIzMzdhZjMwODJlM2M5MWEifQ=="/>
  <p:tag name="commondata" val="eyJoZGlkIjoiODVjMzBjMjkyM2FmNTZlZjhmZmMxZWVhN2I1ZDYwZmEifQ=="/>
</p:tagLst>
</file>

<file path=ppt/theme/theme1.xml><?xml version="1.0" encoding="utf-8"?>
<a:theme xmlns:a="http://schemas.openxmlformats.org/drawingml/2006/main" name="Office 主题​​">
  <a:themeElements>
    <a:clrScheme name="红橙色">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6175</Words>
  <Application>WPS 演示</Application>
  <PresentationFormat>宽屏</PresentationFormat>
  <Paragraphs>306</Paragraphs>
  <Slides>42</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42</vt:i4>
      </vt:variant>
    </vt:vector>
  </HeadingPairs>
  <TitlesOfParts>
    <vt:vector size="56" baseType="lpstr">
      <vt:lpstr>Arial</vt:lpstr>
      <vt:lpstr>宋体</vt:lpstr>
      <vt:lpstr>Wingdings</vt:lpstr>
      <vt:lpstr>Times New Roman</vt:lpstr>
      <vt:lpstr>黑体</vt:lpstr>
      <vt:lpstr>隶书</vt:lpstr>
      <vt:lpstr>华文行楷</vt:lpstr>
      <vt:lpstr>思源黑体 CN Heavy</vt:lpstr>
      <vt:lpstr>微软雅黑 Light</vt:lpstr>
      <vt:lpstr>微软雅黑</vt:lpstr>
      <vt:lpstr>Arial Unicode MS</vt:lpstr>
      <vt:lpstr>思源黑体 CN Normal</vt:lpstr>
      <vt:lpstr>等线</vt:lpstr>
      <vt:lpstr>Office 主题​​</vt:lpstr>
      <vt:lpstr>《信息对抗技术》 电子讲稿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 </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表2-3  各应用程序或服务对应的固定端口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（2）rcp命令</vt:lpstr>
      <vt:lpstr>（3）rsh和 rexec命令 </vt:lpstr>
      <vt:lpstr> </vt:lpstr>
      <vt:lpstr>PowerPoint 演示文稿</vt:lpstr>
      <vt:lpstr>PowerPoint 演示文稿</vt:lpstr>
      <vt:lpstr>本章小结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197</cp:revision>
  <dcterms:created xsi:type="dcterms:W3CDTF">2019-09-27T01:23:00Z</dcterms:created>
  <dcterms:modified xsi:type="dcterms:W3CDTF">2026-03-24T09:53:05Z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08C5DD684A8747ADA7088E9925082396</vt:lpwstr>
  </property>
</Properties>
</file>